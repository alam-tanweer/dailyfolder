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77" r:id="rId1"/>
    <p:sldMasterId id="2147483678"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3C27BF0-B3C6-4F0B-BACD-D61DAA286B7A}">
  <a:tblStyle styleId="{A3C27BF0-B3C6-4F0B-BACD-D61DAA286B7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679" autoAdjust="0"/>
  </p:normalViewPr>
  <p:slideViewPr>
    <p:cSldViewPr snapToGrid="0">
      <p:cViewPr varScale="1">
        <p:scale>
          <a:sx n="117" d="100"/>
          <a:sy n="117" d="100"/>
        </p:scale>
        <p:origin x="114" y="73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b3d3c908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b3d3c9082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b21e7e554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b21e7e554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b561e0d4c6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gb561e0d4c6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Runnable is preferred</a:t>
            </a:r>
          </a:p>
          <a:p>
            <a:pPr marL="0" lvl="0" indent="0" algn="l" rtl="0">
              <a:spcBef>
                <a:spcPts val="0"/>
              </a:spcBef>
              <a:spcAft>
                <a:spcPts val="0"/>
              </a:spcAft>
              <a:buNone/>
            </a:pPr>
            <a:r>
              <a:rPr lang="en-US" dirty="0"/>
              <a:t>Java can implement multiple interfaces and extend only one class.</a:t>
            </a:r>
          </a:p>
          <a:p>
            <a:pPr marL="0" lvl="0" indent="0" algn="l" rtl="0">
              <a:spcBef>
                <a:spcPts val="0"/>
              </a:spcBef>
              <a:spcAft>
                <a:spcPts val="0"/>
              </a:spcAft>
              <a:buNone/>
            </a:pPr>
            <a:r>
              <a:rPr lang="en-US" dirty="0"/>
              <a:t>Using extended Thread approach lock the class, It can’t extend any other class.</a:t>
            </a:r>
          </a:p>
          <a:p>
            <a:pPr marL="0" lvl="0" indent="0" algn="l" rtl="0">
              <a:spcBef>
                <a:spcPts val="0"/>
              </a:spcBef>
              <a:spcAft>
                <a:spcPts val="0"/>
              </a:spcAft>
              <a:buNone/>
            </a:pPr>
            <a:r>
              <a:rPr lang="en-US" dirty="0"/>
              <a:t>If you have to, you need to refactor the code.</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b21e7e554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b21e7e554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show how to wait for one</a:t>
            </a:r>
          </a:p>
          <a:p>
            <a:pPr marL="0" lvl="0" indent="0" algn="l" rtl="0">
              <a:spcBef>
                <a:spcPts val="0"/>
              </a:spcBef>
              <a:spcAft>
                <a:spcPts val="0"/>
              </a:spcAft>
              <a:buNone/>
            </a:pPr>
            <a:r>
              <a:rPr lang="en-US" dirty="0"/>
              <a:t>Then create collection to create 5</a:t>
            </a:r>
          </a:p>
          <a:p>
            <a:pPr marL="0" lvl="0" indent="0" algn="l" rtl="0">
              <a:spcBef>
                <a:spcPts val="0"/>
              </a:spcBef>
              <a:spcAft>
                <a:spcPts val="0"/>
              </a:spcAft>
              <a:buNone/>
            </a:pPr>
            <a:r>
              <a:rPr lang="en-US" dirty="0"/>
              <a:t>Talk about </a:t>
            </a:r>
            <a:r>
              <a:rPr lang="en-US" dirty="0" err="1"/>
              <a:t>isAlive</a:t>
            </a:r>
            <a:r>
              <a:rPr lang="en-US" dirty="0"/>
              <a:t>(), join()</a:t>
            </a:r>
          </a:p>
          <a:p>
            <a:pPr marL="0" lvl="0" indent="0" algn="l" rtl="0">
              <a:spcBef>
                <a:spcPts val="0"/>
              </a:spcBef>
              <a:spcAft>
                <a:spcPts val="0"/>
              </a:spcAft>
              <a:buNone/>
            </a:pPr>
            <a:r>
              <a:rPr lang="en-US" dirty="0"/>
              <a:t>Create a list to hold thread.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cf9a775865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3cf9a775865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Update the previous </a:t>
            </a:r>
            <a:r>
              <a:rPr lang="en-US" dirty="0" err="1"/>
              <a:t>HelloThread</a:t>
            </a:r>
            <a:r>
              <a:rPr lang="en-US" dirty="0"/>
              <a:t> code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Now talk about how to wait till all thread starts executing.</a:t>
            </a:r>
          </a:p>
          <a:p>
            <a:pPr marL="0" lvl="0" indent="0" algn="l" rtl="0">
              <a:spcBef>
                <a:spcPts val="0"/>
              </a:spcBef>
              <a:spcAft>
                <a:spcPts val="0"/>
              </a:spcAft>
              <a:buNone/>
            </a:pPr>
            <a:r>
              <a:rPr lang="en-US" dirty="0" err="1"/>
              <a:t>CountDownLatch</a:t>
            </a:r>
            <a:r>
              <a:rPr lang="en-US" dirty="0"/>
              <a:t>()</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b21e7e554b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b21e7e554b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7958703aa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7958703aa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What do you </a:t>
            </a:r>
            <a:r>
              <a:rPr lang="en" b="1" i="1" dirty="0">
                <a:solidFill>
                  <a:srgbClr val="FF0000"/>
                </a:solidFill>
              </a:rPr>
              <a:t>see</a:t>
            </a:r>
            <a:r>
              <a:rPr lang="en" dirty="0"/>
              <a:t>?</a:t>
            </a:r>
          </a:p>
          <a:p>
            <a:pPr marL="0" lvl="0" indent="0" algn="l" rtl="0">
              <a:spcBef>
                <a:spcPts val="0"/>
              </a:spcBef>
              <a:spcAft>
                <a:spcPts val="0"/>
              </a:spcAft>
              <a:buNone/>
            </a:pPr>
            <a:r>
              <a:rPr lang="en" dirty="0"/>
              <a:t>Total count is 100,000</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7958703aae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7958703aae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What do you </a:t>
            </a:r>
            <a:r>
              <a:rPr lang="en-US" sz="1100" b="1" i="1" dirty="0">
                <a:solidFill>
                  <a:srgbClr val="FF0000"/>
                </a:solidFill>
              </a:rPr>
              <a:t>see</a:t>
            </a:r>
            <a:r>
              <a:rPr lang="en-US" sz="1100" dirty="0"/>
              <a:t>?</a:t>
            </a:r>
          </a:p>
          <a:p>
            <a:pPr marL="0" lvl="0" indent="0" algn="l" rtl="0">
              <a:spcBef>
                <a:spcPts val="0"/>
              </a:spcBef>
              <a:spcAft>
                <a:spcPts val="0"/>
              </a:spcAft>
              <a:buNone/>
            </a:pPr>
            <a:r>
              <a:rPr lang="en-US" b="1" dirty="0"/>
              <a:t>Total count is not correct. It is less.</a:t>
            </a:r>
            <a:endParaRPr b="1"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b21e7e554b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b21e7e554b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Example</a:t>
            </a:r>
          </a:p>
          <a:p>
            <a:pPr marL="0" lvl="0" indent="0" algn="l" rtl="0">
              <a:spcBef>
                <a:spcPts val="0"/>
              </a:spcBef>
              <a:spcAft>
                <a:spcPts val="0"/>
              </a:spcAft>
              <a:buNone/>
            </a:pPr>
            <a:r>
              <a:rPr lang="en-US" dirty="0"/>
              <a:t>T1 </a:t>
            </a:r>
            <a:r>
              <a:rPr lang="en-US" dirty="0">
                <a:sym typeface="Wingdings" panose="05000000000000000000" pitchFamily="2" charset="2"/>
              </a:rPr>
              <a:t> Get Current Value -- &gt;100</a:t>
            </a:r>
          </a:p>
          <a:p>
            <a:pPr marL="0" lvl="0" indent="0" algn="l" rtl="0">
              <a:spcBef>
                <a:spcPts val="0"/>
              </a:spcBef>
              <a:spcAft>
                <a:spcPts val="0"/>
              </a:spcAft>
              <a:buNone/>
            </a:pPr>
            <a:r>
              <a:rPr lang="en-US" dirty="0">
                <a:sym typeface="Wingdings" panose="05000000000000000000" pitchFamily="2" charset="2"/>
              </a:rPr>
              <a:t>T2 -&gt; Get current value  100</a:t>
            </a:r>
          </a:p>
          <a:p>
            <a:pPr marL="0" lvl="0" indent="0" algn="l" rtl="0">
              <a:spcBef>
                <a:spcPts val="0"/>
              </a:spcBef>
              <a:spcAft>
                <a:spcPts val="0"/>
              </a:spcAft>
              <a:buNone/>
            </a:pPr>
            <a:r>
              <a:rPr lang="en-US" dirty="0">
                <a:sym typeface="Wingdings" panose="05000000000000000000" pitchFamily="2" charset="2"/>
              </a:rPr>
              <a:t>T1 -&gt; update -&gt; 101</a:t>
            </a:r>
          </a:p>
          <a:p>
            <a:pPr marL="0" lvl="0" indent="0" algn="l" rtl="0">
              <a:spcBef>
                <a:spcPts val="0"/>
              </a:spcBef>
              <a:spcAft>
                <a:spcPts val="0"/>
              </a:spcAft>
              <a:buNone/>
            </a:pPr>
            <a:r>
              <a:rPr lang="en-US" dirty="0">
                <a:sym typeface="Wingdings" panose="05000000000000000000" pitchFamily="2" charset="2"/>
              </a:rPr>
              <a:t>T2 -&gt; update - 101</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ce62f00d7f_0_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ce62f00d7f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b714e58e5e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b714e58e5e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7958703aae_0_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7958703aae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7958703aae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5" name="Google Shape;415;g7958703aae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7958703aae_0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0" name="Google Shape;440;g7958703aae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3ceb8f15a69_1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6" name="Google Shape;476;g3ceb8f15a69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b21e7e554b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b21e7e554b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Do you notice anything else </a:t>
            </a:r>
            <a:r>
              <a:rPr lang="en-US" sz="1100" b="1" i="1" dirty="0">
                <a:solidFill>
                  <a:srgbClr val="FF0000"/>
                </a:solidFill>
              </a:rPr>
              <a:t>unusual </a:t>
            </a:r>
            <a:r>
              <a:rPr lang="en-US" sz="1100" dirty="0"/>
              <a:t>about the output?</a:t>
            </a:r>
          </a:p>
          <a:p>
            <a:pPr marL="0" lvl="0" indent="0" algn="l" rtl="0">
              <a:spcBef>
                <a:spcPts val="0"/>
              </a:spcBef>
              <a:spcAft>
                <a:spcPts val="0"/>
              </a:spcAft>
              <a:buNone/>
            </a:pPr>
            <a:r>
              <a:rPr lang="en-US" dirty="0"/>
              <a:t>Output is correct. But issue. Each thread complete whole loop before exiting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Counter Count3 is starting...</a:t>
            </a:r>
          </a:p>
          <a:p>
            <a:pPr marL="0" lvl="0" indent="0" algn="l" rtl="0">
              <a:spcBef>
                <a:spcPts val="0"/>
              </a:spcBef>
              <a:spcAft>
                <a:spcPts val="0"/>
              </a:spcAft>
              <a:buNone/>
            </a:pPr>
            <a:r>
              <a:rPr lang="en-US" dirty="0"/>
              <a:t>Counter Count3 is done!</a:t>
            </a:r>
          </a:p>
          <a:p>
            <a:pPr marL="0" lvl="0" indent="0" algn="l" rtl="0">
              <a:spcBef>
                <a:spcPts val="0"/>
              </a:spcBef>
              <a:spcAft>
                <a:spcPts val="0"/>
              </a:spcAft>
              <a:buNone/>
            </a:pPr>
            <a:r>
              <a:rPr lang="en-US" dirty="0"/>
              <a:t>Counter Count6 is starting...</a:t>
            </a:r>
          </a:p>
          <a:p>
            <a:pPr marL="0" lvl="0" indent="0" algn="l" rtl="0">
              <a:spcBef>
                <a:spcPts val="0"/>
              </a:spcBef>
              <a:spcAft>
                <a:spcPts val="0"/>
              </a:spcAft>
              <a:buNone/>
            </a:pPr>
            <a:r>
              <a:rPr lang="en-US" dirty="0"/>
              <a:t>Counter Count6 is done!</a:t>
            </a:r>
          </a:p>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b21e7e554b_0_1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6" name="Google Shape;496;gb21e7e554b_0_1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7958703aae_0_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2" name="Google Shape;512;g7958703aae_0_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It is better.</a:t>
            </a:r>
          </a:p>
          <a:p>
            <a:pPr marL="914400" lvl="1" indent="-330200" algn="l" rtl="0">
              <a:spcBef>
                <a:spcPts val="0"/>
              </a:spcBef>
              <a:spcAft>
                <a:spcPts val="0"/>
              </a:spcAft>
              <a:buSzPts val="1600"/>
              <a:buChar char="○"/>
            </a:pPr>
            <a:r>
              <a:rPr lang="en-US" sz="1600" dirty="0"/>
              <a:t>Does the </a:t>
            </a:r>
            <a:r>
              <a:rPr lang="en-US" sz="1600" dirty="0">
                <a:solidFill>
                  <a:srgbClr val="FF0000"/>
                </a:solidFill>
                <a:latin typeface="Courier New"/>
                <a:ea typeface="Courier New"/>
                <a:cs typeface="Courier New"/>
                <a:sym typeface="Courier New"/>
              </a:rPr>
              <a:t>COUNT</a:t>
            </a:r>
            <a:r>
              <a:rPr lang="en-US" sz="1600" dirty="0">
                <a:solidFill>
                  <a:srgbClr val="FF0000"/>
                </a:solidFill>
              </a:rPr>
              <a:t> </a:t>
            </a:r>
            <a:r>
              <a:rPr lang="en-US" sz="1600" dirty="0"/>
              <a:t>make it to </a:t>
            </a:r>
            <a:r>
              <a:rPr lang="en-US" sz="1600" dirty="0">
                <a:solidFill>
                  <a:srgbClr val="FF0000"/>
                </a:solidFill>
                <a:latin typeface="Courier New"/>
                <a:ea typeface="Courier New"/>
                <a:cs typeface="Courier New"/>
                <a:sym typeface="Courier New"/>
              </a:rPr>
              <a:t>1,000,000</a:t>
            </a:r>
            <a:r>
              <a:rPr lang="en-US" sz="1600" dirty="0"/>
              <a:t>? </a:t>
            </a:r>
            <a:r>
              <a:rPr lang="en-US" sz="1600" dirty="0">
                <a:sym typeface="Wingdings" panose="05000000000000000000" pitchFamily="2" charset="2"/>
              </a:rPr>
              <a:t> Yes</a:t>
            </a:r>
            <a:endParaRPr lang="en-US" sz="1600" dirty="0"/>
          </a:p>
          <a:p>
            <a:pPr marL="914400" lvl="1" indent="-330200" algn="l" rtl="0">
              <a:spcBef>
                <a:spcPts val="0"/>
              </a:spcBef>
              <a:spcAft>
                <a:spcPts val="0"/>
              </a:spcAft>
              <a:buSzPts val="1600"/>
              <a:buChar char="○"/>
            </a:pPr>
            <a:r>
              <a:rPr lang="en-US" sz="1600" dirty="0"/>
              <a:t>Do the threads </a:t>
            </a:r>
            <a:r>
              <a:rPr lang="en-US" sz="1600" b="1" i="1" dirty="0">
                <a:solidFill>
                  <a:srgbClr val="FF0000"/>
                </a:solidFill>
              </a:rPr>
              <a:t>run concurrently</a:t>
            </a:r>
            <a:r>
              <a:rPr lang="en-US" sz="1600" dirty="0"/>
              <a:t>? </a:t>
            </a:r>
            <a:r>
              <a:rPr lang="en-US" sz="1600" dirty="0">
                <a:sym typeface="Wingdings" panose="05000000000000000000" pitchFamily="2" charset="2"/>
              </a:rPr>
              <a:t> Yes</a:t>
            </a:r>
            <a:endParaRPr lang="en-US" sz="1600" dirty="0"/>
          </a:p>
          <a:p>
            <a:pPr marL="0" lvl="0" indent="0" algn="l" rtl="0">
              <a:spcBef>
                <a:spcPts val="0"/>
              </a:spcBef>
              <a:spcAft>
                <a:spcPts val="0"/>
              </a:spcAft>
              <a:buNone/>
            </a:pP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b21e7e554b_0_1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3" name="Google Shape;523;gb21e7e554b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3cf9a775865_0_170:notes"/>
          <p:cNvSpPr>
            <a:spLocks noGrp="1" noRot="1" noChangeAspect="1"/>
          </p:cNvSpPr>
          <p:nvPr>
            <p:ph type="sldImg" idx="2"/>
          </p:nvPr>
        </p:nvSpPr>
        <p:spPr>
          <a:xfrm>
            <a:off x="136525" y="217488"/>
            <a:ext cx="6584950" cy="37052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g3cf9a775865_0_170:notes"/>
          <p:cNvSpPr txBox="1">
            <a:spLocks noGrp="1"/>
          </p:cNvSpPr>
          <p:nvPr>
            <p:ph type="body" idx="1"/>
          </p:nvPr>
        </p:nvSpPr>
        <p:spPr>
          <a:xfrm>
            <a:off x="412750" y="4201079"/>
            <a:ext cx="5961000" cy="4485000"/>
          </a:xfrm>
          <a:prstGeom prst="rect">
            <a:avLst/>
          </a:prstGeom>
          <a:noFill/>
          <a:ln>
            <a:noFill/>
          </a:ln>
        </p:spPr>
        <p:txBody>
          <a:bodyPr spcFirstLastPara="1" wrap="square" lIns="86175" tIns="43075" rIns="86175" bIns="4307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g3cf9a775865_0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6" name="Google Shape;546;g3cf9a775865_0_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ASK Student to check and find the issue.</a:t>
            </a:r>
          </a:p>
          <a:p>
            <a:pPr marL="0" lvl="0" indent="0" algn="l" rtl="0">
              <a:spcBef>
                <a:spcPts val="0"/>
              </a:spcBef>
              <a:spcAft>
                <a:spcPts val="0"/>
              </a:spcAft>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b21e7e554b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b21e7e554b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g7958703aae_0_3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7" name="Google Shape;597;g7958703aae_0_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This slide is skippable if you are short on time.</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1e55936f0b_0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1e55936f0b_0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Calling the </a:t>
            </a:r>
            <a:r>
              <a:rPr lang="en" sz="1100" dirty="0">
                <a:solidFill>
                  <a:srgbClr val="FF0000"/>
                </a:solidFill>
                <a:latin typeface="Courier New"/>
                <a:ea typeface="Courier New"/>
                <a:cs typeface="Courier New"/>
                <a:sym typeface="Courier New"/>
              </a:rPr>
              <a:t>lock.</a:t>
            </a:r>
            <a:r>
              <a:rPr lang="en" sz="1100" dirty="0">
                <a:solidFill>
                  <a:srgbClr val="795E26"/>
                </a:solidFill>
                <a:highlight>
                  <a:srgbClr val="FFFFFF"/>
                </a:highlight>
                <a:latin typeface="Consolas"/>
                <a:ea typeface="Consolas"/>
                <a:cs typeface="Consolas"/>
                <a:sym typeface="Consolas"/>
              </a:rPr>
              <a:t>awaitUninterruptibly</a:t>
            </a:r>
            <a:r>
              <a:rPr lang="en" sz="1100" dirty="0">
                <a:solidFill>
                  <a:srgbClr val="3B3B3B"/>
                </a:solidFill>
                <a:highlight>
                  <a:srgbClr val="FFFFFF"/>
                </a:highlight>
                <a:latin typeface="Consolas"/>
                <a:ea typeface="Consolas"/>
                <a:cs typeface="Consolas"/>
                <a:sym typeface="Consolas"/>
              </a:rPr>
              <a:t>(); </a:t>
            </a:r>
            <a:r>
              <a:rPr lang="en-US" sz="1100" dirty="0"/>
              <a:t>method </a:t>
            </a:r>
            <a:r>
              <a:rPr lang="en-US" sz="1100" b="1" i="1" dirty="0">
                <a:solidFill>
                  <a:srgbClr val="FF0000"/>
                </a:solidFill>
              </a:rPr>
              <a:t>surrenders</a:t>
            </a:r>
            <a:r>
              <a:rPr lang="en-US" sz="1100" dirty="0">
                <a:solidFill>
                  <a:srgbClr val="FF0000"/>
                </a:solidFill>
              </a:rPr>
              <a:t> </a:t>
            </a:r>
            <a:r>
              <a:rPr lang="en-US" sz="1100" dirty="0"/>
              <a:t>the lock! This means that, while </a:t>
            </a:r>
            <a:r>
              <a:rPr lang="en-US" sz="1100" b="1" i="1" dirty="0">
                <a:solidFill>
                  <a:srgbClr val="FF0000"/>
                </a:solidFill>
              </a:rPr>
              <a:t>one </a:t>
            </a:r>
            <a:r>
              <a:rPr lang="en-US" sz="1100" dirty="0"/>
              <a:t>thread is waiting, </a:t>
            </a:r>
            <a:r>
              <a:rPr lang="en-US" sz="1100" b="1" i="1" dirty="0">
                <a:solidFill>
                  <a:srgbClr val="FF0000"/>
                </a:solidFill>
              </a:rPr>
              <a:t>another</a:t>
            </a:r>
            <a:r>
              <a:rPr lang="en-US" sz="1100" dirty="0">
                <a:solidFill>
                  <a:srgbClr val="FF0000"/>
                </a:solidFill>
              </a:rPr>
              <a:t> </a:t>
            </a:r>
            <a:r>
              <a:rPr lang="en-US" sz="1100" dirty="0"/>
              <a:t>thread may </a:t>
            </a:r>
            <a:r>
              <a:rPr lang="en-US" sz="1100" b="1" i="1" dirty="0">
                <a:solidFill>
                  <a:srgbClr val="FF0000"/>
                </a:solidFill>
              </a:rPr>
              <a:t>obtain the lock</a:t>
            </a:r>
            <a:r>
              <a:rPr lang="en-US" sz="1100" dirty="0"/>
              <a:t>.</a:t>
            </a:r>
          </a:p>
          <a:p>
            <a:pPr marL="0" lvl="0" indent="0" algn="l" rtl="0">
              <a:spcBef>
                <a:spcPts val="0"/>
              </a:spcBef>
              <a:spcAft>
                <a:spcPts val="0"/>
              </a:spcAft>
              <a:buNone/>
            </a:pPr>
            <a:r>
              <a:rPr lang="en-US" dirty="0"/>
              <a:t>Should be changed to</a:t>
            </a:r>
          </a:p>
          <a:p>
            <a:pPr marL="0" lvl="0" indent="0" algn="l" rtl="0">
              <a:spcBef>
                <a:spcPts val="0"/>
              </a:spcBef>
              <a:spcAft>
                <a:spcPts val="0"/>
              </a:spcAft>
              <a:buNone/>
            </a:pPr>
            <a:r>
              <a:rPr lang="en" dirty="0">
                <a:solidFill>
                  <a:srgbClr val="001080"/>
                </a:solidFill>
                <a:highlight>
                  <a:srgbClr val="FFFFFF"/>
                </a:highlight>
                <a:latin typeface="Consolas"/>
                <a:ea typeface="Consolas"/>
                <a:cs typeface="Consolas"/>
                <a:sym typeface="Consolas"/>
              </a:rPr>
              <a:t>condition</a:t>
            </a:r>
            <a:r>
              <a:rPr lang="en" dirty="0">
                <a:solidFill>
                  <a:srgbClr val="3B3B3B"/>
                </a:solidFill>
                <a:highlight>
                  <a:srgbClr val="FFFFFF"/>
                </a:highlight>
                <a:latin typeface="Consolas"/>
                <a:ea typeface="Consolas"/>
                <a:cs typeface="Consolas"/>
                <a:sym typeface="Consolas"/>
              </a:rPr>
              <a:t>.</a:t>
            </a:r>
            <a:r>
              <a:rPr lang="en" dirty="0">
                <a:solidFill>
                  <a:srgbClr val="795E26"/>
                </a:solidFill>
                <a:highlight>
                  <a:srgbClr val="FFFFFF"/>
                </a:highlight>
                <a:latin typeface="Consolas"/>
                <a:ea typeface="Consolas"/>
                <a:cs typeface="Consolas"/>
                <a:sym typeface="Consolas"/>
              </a:rPr>
              <a:t>awaitUninterruptibly</a:t>
            </a:r>
            <a:r>
              <a:rPr lang="en" dirty="0">
                <a:solidFill>
                  <a:srgbClr val="3B3B3B"/>
                </a:solidFill>
                <a:highlight>
                  <a:srgbClr val="FFFFFF"/>
                </a:highlight>
                <a:latin typeface="Consolas"/>
                <a:ea typeface="Consolas"/>
                <a:cs typeface="Consolas"/>
                <a:sym typeface="Consolas"/>
              </a:rPr>
              <a:t>();</a:t>
            </a:r>
          </a:p>
          <a:p>
            <a:pPr marL="0" lvl="0" indent="0" algn="l" rtl="0">
              <a:spcBef>
                <a:spcPts val="0"/>
              </a:spcBef>
              <a:spcAft>
                <a:spcPts val="0"/>
              </a:spcAft>
              <a:buNone/>
            </a:pPr>
            <a:endParaRPr lang="en" dirty="0">
              <a:solidFill>
                <a:srgbClr val="3B3B3B"/>
              </a:solidFill>
              <a:highlight>
                <a:srgbClr val="FFFFFF"/>
              </a:highlight>
              <a:latin typeface="Consolas"/>
              <a:sym typeface="Consolas"/>
            </a:endParaRPr>
          </a:p>
          <a:p>
            <a:pPr marL="0" lvl="0" indent="0" algn="l" rtl="0">
              <a:spcBef>
                <a:spcPts val="0"/>
              </a:spcBef>
              <a:spcAft>
                <a:spcPts val="0"/>
              </a:spcAft>
              <a:buNone/>
            </a:pPr>
            <a:r>
              <a:rPr lang="en-US" dirty="0">
                <a:solidFill>
                  <a:srgbClr val="3B3B3B"/>
                </a:solidFill>
                <a:highlight>
                  <a:srgbClr val="FFFFFF"/>
                </a:highlight>
                <a:latin typeface="Consolas"/>
                <a:sym typeface="Consolas"/>
              </a:rPr>
              <a:t>C</a:t>
            </a:r>
            <a:r>
              <a:rPr lang="en" dirty="0">
                <a:solidFill>
                  <a:srgbClr val="3B3B3B"/>
                </a:solidFill>
                <a:highlight>
                  <a:srgbClr val="FFFFFF"/>
                </a:highlight>
                <a:latin typeface="Consolas"/>
                <a:sym typeface="Consolas"/>
              </a:rPr>
              <a:t>ondition.await() can be interrupted.</a:t>
            </a:r>
          </a:p>
          <a:p>
            <a:pPr marL="0" lvl="0" indent="0" algn="l" rtl="0">
              <a:spcBef>
                <a:spcPts val="0"/>
              </a:spcBef>
              <a:spcAft>
                <a:spcPts val="0"/>
              </a:spcAft>
              <a:buNone/>
            </a:pPr>
            <a:endParaRPr lang="en" dirty="0">
              <a:solidFill>
                <a:srgbClr val="3B3B3B"/>
              </a:solidFill>
              <a:highlight>
                <a:srgbClr val="FFFFFF"/>
              </a:highlight>
              <a:latin typeface="Consolas"/>
              <a:sym typeface="Consolas"/>
            </a:endParaRPr>
          </a:p>
          <a:p>
            <a:pPr marL="0" lvl="0" indent="0" algn="l" rtl="0">
              <a:spcBef>
                <a:spcPts val="0"/>
              </a:spcBef>
              <a:spcAft>
                <a:spcPts val="0"/>
              </a:spcAft>
              <a:buNone/>
            </a:pPr>
            <a:r>
              <a:rPr lang="en" dirty="0">
                <a:solidFill>
                  <a:srgbClr val="3B3B3B"/>
                </a:solidFill>
                <a:highlight>
                  <a:srgbClr val="FFFFFF"/>
                </a:highlight>
                <a:latin typeface="Consolas"/>
                <a:sym typeface="Consolas"/>
              </a:rPr>
              <a:t>Talk about Printer Room 10 x 12 paper missing,</a:t>
            </a:r>
          </a:p>
          <a:p>
            <a:pPr marL="0" lvl="0" indent="0" algn="l" rtl="0">
              <a:spcBef>
                <a:spcPts val="0"/>
              </a:spcBef>
              <a:spcAft>
                <a:spcPts val="0"/>
              </a:spcAft>
              <a:buNone/>
            </a:pPr>
            <a:r>
              <a:rPr lang="en-US" dirty="0">
                <a:solidFill>
                  <a:srgbClr val="3B3B3B"/>
                </a:solidFill>
                <a:highlight>
                  <a:srgbClr val="FFFFFF"/>
                </a:highlight>
                <a:latin typeface="Consolas"/>
                <a:sym typeface="Consolas"/>
              </a:rPr>
              <a:t>C</a:t>
            </a:r>
            <a:r>
              <a:rPr lang="en" dirty="0">
                <a:solidFill>
                  <a:srgbClr val="3B3B3B"/>
                </a:solidFill>
                <a:highlight>
                  <a:srgbClr val="FFFFFF"/>
                </a:highlight>
                <a:latin typeface="Consolas"/>
                <a:sym typeface="Consolas"/>
              </a:rPr>
              <a:t>alls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solidFill>
                  <a:srgbClr val="001080"/>
                </a:solidFill>
                <a:highlight>
                  <a:srgbClr val="FFFFFF"/>
                </a:highlight>
                <a:latin typeface="Consolas"/>
                <a:ea typeface="Consolas"/>
                <a:cs typeface="Consolas"/>
                <a:sym typeface="Consolas"/>
              </a:rPr>
              <a:t>condition</a:t>
            </a:r>
            <a:r>
              <a:rPr lang="en" dirty="0">
                <a:solidFill>
                  <a:srgbClr val="3B3B3B"/>
                </a:solidFill>
                <a:highlight>
                  <a:srgbClr val="FFFFFF"/>
                </a:highlight>
                <a:latin typeface="Consolas"/>
                <a:ea typeface="Consolas"/>
                <a:cs typeface="Consolas"/>
                <a:sym typeface="Consolas"/>
              </a:rPr>
              <a:t>.</a:t>
            </a:r>
            <a:r>
              <a:rPr lang="en" dirty="0">
                <a:solidFill>
                  <a:srgbClr val="795E26"/>
                </a:solidFill>
                <a:highlight>
                  <a:srgbClr val="FFFFFF"/>
                </a:highlight>
                <a:latin typeface="Consolas"/>
                <a:ea typeface="Consolas"/>
                <a:cs typeface="Consolas"/>
                <a:sym typeface="Consolas"/>
              </a:rPr>
              <a:t>awaitUninterruptibly</a:t>
            </a:r>
            <a:r>
              <a:rPr lang="en" dirty="0">
                <a:solidFill>
                  <a:srgbClr val="3B3B3B"/>
                </a:solidFill>
                <a:highlight>
                  <a:srgbClr val="FFFFFF"/>
                </a:highlight>
                <a:latin typeface="Consolas"/>
                <a:ea typeface="Consolas"/>
                <a:cs typeface="Consolas"/>
                <a:sym typeface="Consolas"/>
              </a:rPr>
              <a:t>();</a:t>
            </a:r>
          </a:p>
          <a:p>
            <a:pPr marL="0" lvl="0" indent="0" algn="l" rtl="0">
              <a:spcBef>
                <a:spcPts val="0"/>
              </a:spcBef>
              <a:spcAft>
                <a:spcPts val="0"/>
              </a:spcAft>
              <a:buNone/>
            </a:pPr>
            <a:r>
              <a:rPr lang="en-US" dirty="0"/>
              <a:t>Release lock. Other in the queue can print on 8 x 10 paper.</a:t>
            </a:r>
          </a:p>
          <a:p>
            <a:pPr marL="0" lvl="0" indent="0" algn="l" rtl="0">
              <a:spcBef>
                <a:spcPts val="0"/>
              </a:spcBef>
              <a:spcAft>
                <a:spcPts val="0"/>
              </a:spcAft>
              <a:buNone/>
            </a:pPr>
            <a:r>
              <a:rPr lang="en-US" dirty="0"/>
              <a:t>Anybody else requiring 10 x 12 can wait.</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3ceb8f15a69_1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3ceb8f15a69_1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21e55936f0b_0_5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21e55936f0b_0_5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What happens is:</a:t>
            </a:r>
          </a:p>
          <a:p>
            <a:r>
              <a:rPr lang="en-US" sz="1100" b="0" i="0" u="none" strike="noStrike" cap="none" dirty="0">
                <a:solidFill>
                  <a:srgbClr val="000000"/>
                </a:solidFill>
                <a:latin typeface="Arial"/>
                <a:ea typeface="Arial"/>
                <a:cs typeface="Arial"/>
                <a:sym typeface="Arial"/>
              </a:rPr>
              <a:t>main()</a:t>
            </a:r>
            <a:r>
              <a:rPr lang="en-US" dirty="0"/>
              <a:t> creates a </a:t>
            </a:r>
            <a:r>
              <a:rPr lang="en-US" sz="1100" b="0" i="0" u="none" strike="noStrike" cap="none" dirty="0" err="1">
                <a:solidFill>
                  <a:srgbClr val="000000"/>
                </a:solidFill>
                <a:latin typeface="Arial"/>
                <a:ea typeface="Arial"/>
                <a:cs typeface="Arial"/>
                <a:sym typeface="Arial"/>
              </a:rPr>
              <a:t>ReentrantLock</a:t>
            </a:r>
            <a:r>
              <a:rPr lang="en-US" dirty="0"/>
              <a:t> and a </a:t>
            </a:r>
            <a:r>
              <a:rPr lang="en-US" sz="1100" b="0" i="0" u="none" strike="noStrike" cap="none" dirty="0">
                <a:solidFill>
                  <a:srgbClr val="000000"/>
                </a:solidFill>
                <a:latin typeface="Arial"/>
                <a:ea typeface="Arial"/>
                <a:cs typeface="Arial"/>
                <a:sym typeface="Arial"/>
              </a:rPr>
              <a:t>Condition</a:t>
            </a:r>
            <a:r>
              <a:rPr lang="en-US" dirty="0"/>
              <a:t> named </a:t>
            </a:r>
            <a:r>
              <a:rPr lang="en-US" sz="1100" b="0" i="0" u="none" strike="noStrike" cap="none" dirty="0">
                <a:solidFill>
                  <a:srgbClr val="000000"/>
                </a:solidFill>
                <a:latin typeface="Arial"/>
                <a:ea typeface="Arial"/>
                <a:cs typeface="Arial"/>
                <a:sym typeface="Arial"/>
              </a:rPr>
              <a:t>alarm</a:t>
            </a:r>
            <a:r>
              <a:rPr lang="en-US" dirty="0"/>
              <a:t>, then starts </a:t>
            </a:r>
            <a:r>
              <a:rPr lang="en-US" sz="1100" b="0" i="0" u="none" strike="noStrike" cap="none" dirty="0" err="1">
                <a:solidFill>
                  <a:srgbClr val="000000"/>
                </a:solidFill>
                <a:latin typeface="Arial"/>
                <a:ea typeface="Arial"/>
                <a:cs typeface="Arial"/>
                <a:sym typeface="Arial"/>
              </a:rPr>
              <a:t>waiter.run</a:t>
            </a:r>
            <a:r>
              <a:rPr lang="en-US" sz="1100" b="0" i="0" u="none" strike="noStrike" cap="none" dirty="0">
                <a:solidFill>
                  <a:srgbClr val="000000"/>
                </a:solidFill>
                <a:latin typeface="Arial"/>
                <a:ea typeface="Arial"/>
                <a:cs typeface="Arial"/>
                <a:sym typeface="Arial"/>
              </a:rPr>
              <a:t>()</a:t>
            </a:r>
            <a:r>
              <a:rPr lang="en-US" dirty="0"/>
              <a:t> in a background thread.</a:t>
            </a:r>
          </a:p>
          <a:p>
            <a:r>
              <a:rPr lang="en-US" dirty="0"/>
              <a:t>Inside </a:t>
            </a:r>
            <a:r>
              <a:rPr lang="en-US" sz="1100" b="0" i="0" u="none" strike="noStrike" cap="none" dirty="0">
                <a:solidFill>
                  <a:srgbClr val="000000"/>
                </a:solidFill>
                <a:latin typeface="Arial"/>
                <a:ea typeface="Arial"/>
                <a:cs typeface="Arial"/>
                <a:sym typeface="Arial"/>
              </a:rPr>
              <a:t>run()</a:t>
            </a:r>
            <a:r>
              <a:rPr lang="en-US" dirty="0"/>
              <a:t>:</a:t>
            </a:r>
          </a:p>
          <a:p>
            <a:r>
              <a:rPr lang="en-US" dirty="0"/>
              <a:t>The worker thread calls </a:t>
            </a:r>
            <a:r>
              <a:rPr lang="en-US" sz="1100" b="0" i="0" u="none" strike="noStrike" cap="none" dirty="0" err="1">
                <a:solidFill>
                  <a:srgbClr val="000000"/>
                </a:solidFill>
                <a:latin typeface="Arial"/>
                <a:ea typeface="Arial"/>
                <a:cs typeface="Arial"/>
                <a:sym typeface="Arial"/>
              </a:rPr>
              <a:t>lock.lock</a:t>
            </a:r>
            <a:r>
              <a:rPr lang="en-US" sz="1100" b="0" i="0" u="none" strike="noStrike" cap="none" dirty="0">
                <a:solidFill>
                  <a:srgbClr val="000000"/>
                </a:solidFill>
                <a:latin typeface="Arial"/>
                <a:ea typeface="Arial"/>
                <a:cs typeface="Arial"/>
                <a:sym typeface="Arial"/>
              </a:rPr>
              <a:t>()</a:t>
            </a:r>
            <a:r>
              <a:rPr lang="en-US" dirty="0"/>
              <a:t> </a:t>
            </a:r>
          </a:p>
          <a:p>
            <a:r>
              <a:rPr lang="en-US" dirty="0"/>
              <a:t>Then it calls </a:t>
            </a:r>
            <a:r>
              <a:rPr lang="en-US" sz="1100" b="0" i="0" u="none" strike="noStrike" cap="none" dirty="0" err="1">
                <a:solidFill>
                  <a:srgbClr val="000000"/>
                </a:solidFill>
                <a:latin typeface="Arial"/>
                <a:ea typeface="Arial"/>
                <a:cs typeface="Arial"/>
                <a:sym typeface="Arial"/>
              </a:rPr>
              <a:t>alarm.awaitUninterruptibly</a:t>
            </a:r>
            <a:r>
              <a:rPr lang="en-US" sz="1100" b="0" i="0" u="none" strike="noStrike" cap="none" dirty="0">
                <a:solidFill>
                  <a:srgbClr val="000000"/>
                </a:solidFill>
                <a:latin typeface="Arial"/>
                <a:ea typeface="Arial"/>
                <a:cs typeface="Arial"/>
                <a:sym typeface="Arial"/>
              </a:rPr>
              <a:t>()</a:t>
            </a:r>
            <a:r>
              <a:rPr lang="en-US" dirty="0"/>
              <a:t> </a:t>
            </a:r>
          </a:p>
          <a:p>
            <a:r>
              <a:rPr lang="en-US" dirty="0"/>
              <a:t>At that point, the thread goes into the </a:t>
            </a:r>
            <a:r>
              <a:rPr lang="en-US" b="1" dirty="0"/>
              <a:t>waiting</a:t>
            </a:r>
            <a:r>
              <a:rPr lang="en-US" dirty="0"/>
              <a:t> state and stops making progress until some other thread calls </a:t>
            </a:r>
            <a:r>
              <a:rPr lang="en-US" sz="1100" b="0" i="0" u="none" strike="noStrike" cap="none" dirty="0" err="1">
                <a:solidFill>
                  <a:srgbClr val="000000"/>
                </a:solidFill>
                <a:latin typeface="Arial"/>
                <a:ea typeface="Arial"/>
                <a:cs typeface="Arial"/>
                <a:sym typeface="Arial"/>
              </a:rPr>
              <a:t>alarm.signal</a:t>
            </a:r>
            <a:r>
              <a:rPr lang="en-US" sz="1100" b="0" i="0" u="none" strike="noStrike" cap="none" dirty="0">
                <a:solidFill>
                  <a:srgbClr val="000000"/>
                </a:solidFill>
                <a:latin typeface="Arial"/>
                <a:ea typeface="Arial"/>
                <a:cs typeface="Arial"/>
                <a:sym typeface="Arial"/>
              </a:rPr>
              <a:t>()</a:t>
            </a:r>
            <a:r>
              <a:rPr lang="en-US" dirty="0"/>
              <a:t> or </a:t>
            </a:r>
            <a:r>
              <a:rPr lang="en-US" sz="1100" b="0" i="0" u="none" strike="noStrike" cap="none" dirty="0" err="1">
                <a:solidFill>
                  <a:srgbClr val="000000"/>
                </a:solidFill>
                <a:latin typeface="Arial"/>
                <a:ea typeface="Arial"/>
                <a:cs typeface="Arial"/>
                <a:sym typeface="Arial"/>
              </a:rPr>
              <a:t>alarm.signalAll</a:t>
            </a:r>
            <a:r>
              <a:rPr lang="en-US" sz="1100" b="0" i="0" u="none" strike="noStrike" cap="none" dirty="0">
                <a:solidFill>
                  <a:srgbClr val="000000"/>
                </a:solidFill>
                <a:latin typeface="Arial"/>
                <a:ea typeface="Arial"/>
                <a:cs typeface="Arial"/>
                <a:sym typeface="Arial"/>
              </a:rPr>
              <a:t>()</a:t>
            </a:r>
            <a:r>
              <a:rPr lang="en-US" dirty="0"/>
              <a:t> while holding the same lock.</a:t>
            </a:r>
          </a:p>
          <a:p>
            <a:r>
              <a:rPr lang="en-US" dirty="0"/>
              <a:t>In this program, that never happens.</a:t>
            </a:r>
          </a:p>
          <a:p>
            <a:r>
              <a:rPr lang="en-US" dirty="0"/>
              <a:t>So the result is:</a:t>
            </a:r>
          </a:p>
          <a:p>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("Thread started!");</a:t>
            </a:r>
            <a:r>
              <a:rPr lang="en-US" dirty="0"/>
              <a:t> prints from </a:t>
            </a:r>
            <a:r>
              <a:rPr lang="en-US" sz="1100" b="0" i="0" u="none" strike="noStrike" cap="none" dirty="0">
                <a:solidFill>
                  <a:srgbClr val="000000"/>
                </a:solidFill>
                <a:latin typeface="Arial"/>
                <a:ea typeface="Arial"/>
                <a:cs typeface="Arial"/>
                <a:sym typeface="Arial"/>
              </a:rPr>
              <a:t>main</a:t>
            </a:r>
            <a:r>
              <a:rPr lang="en-US" dirty="0"/>
              <a:t> </a:t>
            </a:r>
          </a:p>
          <a:p>
            <a:r>
              <a:rPr lang="en-US" dirty="0"/>
              <a:t>the worker thread waits forever </a:t>
            </a:r>
          </a:p>
          <a:p>
            <a:r>
              <a:rPr lang="en-US" sz="1100" b="0" i="0" u="none" strike="noStrike" cap="none" dirty="0">
                <a:solidFill>
                  <a:srgbClr val="000000"/>
                </a:solidFill>
                <a:latin typeface="Arial"/>
                <a:ea typeface="Arial"/>
                <a:cs typeface="Arial"/>
                <a:sym typeface="Arial"/>
              </a:rPr>
              <a:t>"Done waiting!"</a:t>
            </a:r>
            <a:r>
              <a:rPr lang="en-US" dirty="0"/>
              <a:t> never prints </a:t>
            </a:r>
          </a:p>
          <a:p>
            <a:r>
              <a:rPr lang="en-US" dirty="0"/>
              <a:t>the program appears to </a:t>
            </a:r>
            <a:r>
              <a:rPr lang="en-US" b="1" dirty="0"/>
              <a:t>hang</a:t>
            </a:r>
            <a:r>
              <a:rPr lang="en-US" dirty="0"/>
              <a:t> </a:t>
            </a:r>
          </a:p>
          <a:p>
            <a:r>
              <a:rPr lang="en-US" dirty="0"/>
              <a:t>Why it hangs:</a:t>
            </a:r>
          </a:p>
          <a:p>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is like saying: “go to sleep until someone wakes me up” </a:t>
            </a:r>
          </a:p>
          <a:p>
            <a:r>
              <a:rPr lang="en-US" dirty="0"/>
              <a:t>but no thread ever wakes it up </a:t>
            </a:r>
          </a:p>
          <a:p>
            <a:r>
              <a:rPr lang="en-US" dirty="0"/>
              <a:t>so it waits forever </a:t>
            </a:r>
          </a:p>
          <a:p>
            <a:r>
              <a:rPr lang="en-US" dirty="0"/>
              <a:t>One important detail:</a:t>
            </a:r>
            <a:br>
              <a:rPr lang="en-US" dirty="0"/>
            </a:br>
            <a:r>
              <a:rPr lang="en-US" dirty="0"/>
              <a:t>When </a:t>
            </a:r>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is called, the thread temporarily </a:t>
            </a:r>
            <a:r>
              <a:rPr lang="en-US" b="1" dirty="0"/>
              <a:t>releases the lock</a:t>
            </a:r>
            <a:r>
              <a:rPr lang="en-US" dirty="0"/>
              <a:t> while waiting. If it did not, no other thread could acquire the lock to signal the condition. When it is signaled, it reacquires the lock before continuing. But since no signal ever comes, it never resumes.</a:t>
            </a:r>
          </a:p>
          <a:p>
            <a:r>
              <a:rPr lang="en-US" dirty="0"/>
              <a:t>So this slide’s “What happens?” answer is:</a:t>
            </a:r>
          </a:p>
          <a:p>
            <a:r>
              <a:rPr lang="en-US" b="1" dirty="0"/>
              <a:t>The thread starts, waits on the condition forever, and the program never reaches </a:t>
            </a:r>
            <a:r>
              <a:rPr lang="en-US" sz="1100" b="1" i="0" u="none" strike="noStrike" cap="none" dirty="0">
                <a:solidFill>
                  <a:srgbClr val="000000"/>
                </a:solidFill>
                <a:latin typeface="Arial"/>
                <a:ea typeface="Arial"/>
                <a:cs typeface="Arial"/>
                <a:sym typeface="Arial"/>
              </a:rPr>
              <a:t>Done waiting!</a:t>
            </a:r>
            <a:r>
              <a:rPr lang="en-US" b="1" dirty="0"/>
              <a:t> because no thread signals the condition.</a:t>
            </a:r>
            <a:endParaRPr lang="en-US" dirty="0"/>
          </a:p>
          <a:p>
            <a:r>
              <a:rPr lang="en-US" dirty="0"/>
              <a:t>You can describe it to students like this:</a:t>
            </a:r>
          </a:p>
          <a:p>
            <a:r>
              <a:rPr lang="en-US" sz="1100" b="0" i="0" u="none" strike="noStrike" cap="none" dirty="0">
                <a:solidFill>
                  <a:srgbClr val="000000"/>
                </a:solidFill>
                <a:latin typeface="Arial"/>
                <a:ea typeface="Arial"/>
                <a:cs typeface="Arial"/>
                <a:sym typeface="Arial"/>
              </a:rPr>
              <a:t>lock</a:t>
            </a:r>
            <a:r>
              <a:rPr lang="en-US" dirty="0"/>
              <a:t> protects the shared condition </a:t>
            </a:r>
          </a:p>
          <a:p>
            <a:r>
              <a:rPr lang="en-US" sz="1100" b="0" i="0" u="none" strike="noStrike" cap="none" dirty="0" err="1">
                <a:solidFill>
                  <a:srgbClr val="000000"/>
                </a:solidFill>
                <a:latin typeface="Arial"/>
                <a:ea typeface="Arial"/>
                <a:cs typeface="Arial"/>
                <a:sym typeface="Arial"/>
              </a:rPr>
              <a:t>alarm.awaitUninterruptibly</a:t>
            </a:r>
            <a:r>
              <a:rPr lang="en-US" sz="1100" b="0" i="0" u="none" strike="noStrike" cap="none" dirty="0">
                <a:solidFill>
                  <a:srgbClr val="000000"/>
                </a:solidFill>
                <a:latin typeface="Arial"/>
                <a:ea typeface="Arial"/>
                <a:cs typeface="Arial"/>
                <a:sym typeface="Arial"/>
              </a:rPr>
              <a:t>()</a:t>
            </a:r>
            <a:r>
              <a:rPr lang="en-US" dirty="0"/>
              <a:t> means “wait until the alarm goes off” </a:t>
            </a:r>
          </a:p>
          <a:p>
            <a:r>
              <a:rPr lang="en-US" dirty="0"/>
              <a:t>but nobody ever “rings the alarm” </a:t>
            </a:r>
          </a:p>
          <a:p>
            <a:r>
              <a:rPr lang="en-US" dirty="0"/>
              <a:t>therefore the waiter blocks forever </a:t>
            </a:r>
          </a:p>
          <a:p>
            <a:r>
              <a:rPr lang="en-US" dirty="0"/>
              <a:t>Expected output:</a:t>
            </a:r>
          </a:p>
          <a:p>
            <a:pPr rtl="0"/>
            <a:r>
              <a:rPr lang="en-US" sz="1100" b="0" i="0" u="none" strike="noStrike" cap="none" dirty="0">
                <a:solidFill>
                  <a:srgbClr val="000000"/>
                </a:solidFill>
                <a:latin typeface="Arial"/>
                <a:ea typeface="Arial"/>
                <a:cs typeface="Arial"/>
                <a:sym typeface="Arial"/>
              </a:rPr>
              <a:t>Thread started!</a:t>
            </a:r>
          </a:p>
          <a:p>
            <a:r>
              <a:rPr lang="en-US" dirty="0"/>
              <a:t>And then nothing else.</a:t>
            </a:r>
          </a:p>
          <a:p>
            <a:r>
              <a:rPr lang="en-US" dirty="0"/>
              <a:t>There is also a small extra issue: the </a:t>
            </a:r>
            <a:r>
              <a:rPr lang="en-US" sz="1100" b="0" i="0" u="none" strike="noStrike" cap="none" dirty="0" err="1">
                <a:solidFill>
                  <a:srgbClr val="000000"/>
                </a:solidFill>
                <a:latin typeface="Arial"/>
                <a:ea typeface="Arial"/>
                <a:cs typeface="Arial"/>
                <a:sym typeface="Arial"/>
              </a:rPr>
              <a:t>ExecutorService</a:t>
            </a:r>
            <a:r>
              <a:rPr lang="en-US" dirty="0"/>
              <a:t> is never shut down, so even apart from the waiting thread, the executor can keep the program alive. But the main reason for the hang in this example is the waiter thread blocking forever on the condition.</a:t>
            </a:r>
          </a:p>
          <a:p>
            <a:pPr marL="0" lvl="0" indent="0" algn="l" rtl="0">
              <a:spcBef>
                <a:spcPts val="0"/>
              </a:spcBef>
              <a:spcAft>
                <a:spcPts val="0"/>
              </a:spcAft>
              <a:buNone/>
            </a:pPr>
            <a:endParaRPr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21e55936f0b_0_5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21e55936f0b_0_5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highlight>
                  <a:srgbClr val="FFFF00"/>
                </a:highlight>
              </a:rPr>
              <a:t>This is done by first locking on the </a:t>
            </a:r>
            <a:r>
              <a:rPr lang="en-US" dirty="0">
                <a:solidFill>
                  <a:srgbClr val="FF0000"/>
                </a:solidFill>
                <a:highlight>
                  <a:srgbClr val="FFFF00"/>
                </a:highlight>
              </a:rPr>
              <a:t>same </a:t>
            </a:r>
            <a:r>
              <a:rPr lang="en-US" dirty="0">
                <a:solidFill>
                  <a:srgbClr val="FF0000"/>
                </a:solidFill>
                <a:highlight>
                  <a:srgbClr val="FFFF00"/>
                </a:highlight>
                <a:latin typeface="Courier New"/>
                <a:ea typeface="Courier New"/>
                <a:cs typeface="Courier New"/>
                <a:sym typeface="Courier New"/>
              </a:rPr>
              <a:t>lock</a:t>
            </a:r>
            <a:r>
              <a:rPr lang="en-US" dirty="0">
                <a:highlight>
                  <a:srgbClr val="FFFF00"/>
                </a:highlight>
              </a:rPr>
              <a: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dirty="0">
              <a:highlight>
                <a:srgbClr val="FFFF00"/>
              </a:highlight>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 dirty="0">
                <a:highlight>
                  <a:srgbClr val="FFFF00"/>
                </a:highlight>
              </a:rPr>
              <a:t>Calling </a:t>
            </a:r>
            <a:r>
              <a:rPr lang="en" dirty="0">
                <a:highlight>
                  <a:srgbClr val="FFFF00"/>
                </a:highlight>
                <a:latin typeface="Courier New"/>
                <a:ea typeface="Courier New"/>
                <a:cs typeface="Courier New"/>
                <a:sym typeface="Courier New"/>
              </a:rPr>
              <a:t>condition.signal()</a:t>
            </a:r>
            <a:r>
              <a:rPr lang="en" dirty="0">
                <a:highlight>
                  <a:srgbClr val="FFFF00"/>
                </a:highlight>
              </a:rPr>
              <a:t> </a:t>
            </a:r>
            <a:r>
              <a:rPr lang="en" b="1" i="1" dirty="0">
                <a:solidFill>
                  <a:srgbClr val="FF0000"/>
                </a:solidFill>
                <a:highlight>
                  <a:srgbClr val="FFFF00"/>
                </a:highlight>
              </a:rPr>
              <a:t>does not</a:t>
            </a:r>
            <a:r>
              <a:rPr lang="en" dirty="0">
                <a:highlight>
                  <a:srgbClr val="FFFF00"/>
                </a:highlight>
              </a:rPr>
              <a:t> surrender the lock, </a:t>
            </a:r>
            <a:endParaRPr lang="en-US" dirty="0">
              <a:highlight>
                <a:srgbClr val="FFFF00"/>
              </a:highlight>
            </a:endParaRP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21e55936f0b_0_5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1" name="Google Shape;671;g21e55936f0b_0_5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It still hangs because </a:t>
            </a:r>
            <a:r>
              <a:rPr lang="en-US" sz="1100" b="0" i="0" u="none" strike="noStrike" cap="none" dirty="0" err="1">
                <a:solidFill>
                  <a:srgbClr val="000000"/>
                </a:solidFill>
                <a:latin typeface="Arial"/>
                <a:ea typeface="Arial"/>
                <a:cs typeface="Arial"/>
                <a:sym typeface="Arial"/>
              </a:rPr>
              <a:t>alarm.signal</a:t>
            </a:r>
            <a:r>
              <a:rPr lang="en-US" sz="1100" b="0" i="0" u="none" strike="noStrike" cap="none" dirty="0">
                <a:solidFill>
                  <a:srgbClr val="000000"/>
                </a:solidFill>
                <a:latin typeface="Arial"/>
                <a:ea typeface="Arial"/>
                <a:cs typeface="Arial"/>
                <a:sym typeface="Arial"/>
              </a:rPr>
              <a:t>()</a:t>
            </a:r>
            <a:r>
              <a:rPr lang="en-US" dirty="0"/>
              <a:t> can happen before the worker thread starts waiting, and condition signals are not remembered.</a:t>
            </a:r>
          </a:p>
          <a:p>
            <a:r>
              <a:rPr lang="en-US" b="1" dirty="0"/>
              <a:t>Use </a:t>
            </a:r>
            <a:r>
              <a:rPr lang="en-US" b="1" dirty="0" err="1"/>
              <a:t>Thread.sleep</a:t>
            </a:r>
            <a:r>
              <a:rPr lang="en-US" b="1" dirty="0"/>
              <a:t>() to make it work</a:t>
            </a:r>
          </a:p>
          <a:p>
            <a:pPr marL="158750" indent="0">
              <a:buNone/>
            </a:pPr>
            <a:endParaRPr lang="en-US" dirty="0"/>
          </a:p>
          <a:p>
            <a:pPr marL="158750" indent="0">
              <a:buNone/>
            </a:pPr>
            <a:endParaRPr lang="en-US" dirty="0"/>
          </a:p>
          <a:p>
            <a:r>
              <a:rPr lang="en-US" dirty="0"/>
              <a:t>What the code is trying to do:</a:t>
            </a:r>
          </a:p>
          <a:p>
            <a:r>
              <a:rPr lang="en-US" dirty="0"/>
              <a:t>start the waiter thread </a:t>
            </a:r>
          </a:p>
          <a:p>
            <a:r>
              <a:rPr lang="en-US" dirty="0"/>
              <a:t>have the waiter call </a:t>
            </a:r>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a:t>
            </a:r>
          </a:p>
          <a:p>
            <a:r>
              <a:rPr lang="en-US" dirty="0"/>
              <a:t>then signal it with </a:t>
            </a:r>
            <a:r>
              <a:rPr lang="en-US" sz="1100" b="0" i="0" u="none" strike="noStrike" cap="none" dirty="0" err="1">
                <a:solidFill>
                  <a:srgbClr val="000000"/>
                </a:solidFill>
                <a:latin typeface="Arial"/>
                <a:ea typeface="Arial"/>
                <a:cs typeface="Arial"/>
                <a:sym typeface="Arial"/>
              </a:rPr>
              <a:t>alarm.signal</a:t>
            </a:r>
            <a:r>
              <a:rPr lang="en-US" sz="1100" b="0" i="0" u="none" strike="noStrike" cap="none" dirty="0">
                <a:solidFill>
                  <a:srgbClr val="000000"/>
                </a:solidFill>
                <a:latin typeface="Arial"/>
                <a:ea typeface="Arial"/>
                <a:cs typeface="Arial"/>
                <a:sym typeface="Arial"/>
              </a:rPr>
              <a:t>()</a:t>
            </a:r>
            <a:r>
              <a:rPr lang="en-US" dirty="0"/>
              <a:t> </a:t>
            </a:r>
          </a:p>
          <a:p>
            <a:r>
              <a:rPr lang="en-US" dirty="0"/>
              <a:t>The problem is that </a:t>
            </a:r>
            <a:r>
              <a:rPr lang="en-US" sz="1100" b="0" i="0" u="none" strike="noStrike" cap="none" dirty="0">
                <a:solidFill>
                  <a:srgbClr val="000000"/>
                </a:solidFill>
                <a:latin typeface="Arial"/>
                <a:ea typeface="Arial"/>
                <a:cs typeface="Arial"/>
                <a:sym typeface="Arial"/>
              </a:rPr>
              <a:t>signal()</a:t>
            </a:r>
            <a:r>
              <a:rPr lang="en-US" dirty="0"/>
              <a:t> only wakes up a thread that is </a:t>
            </a:r>
            <a:r>
              <a:rPr lang="en-US" b="1" dirty="0"/>
              <a:t>already waiting</a:t>
            </a:r>
            <a:r>
              <a:rPr lang="en-US" dirty="0"/>
              <a:t> on that condition.</a:t>
            </a:r>
          </a:p>
          <a:p>
            <a:r>
              <a:rPr lang="en-US" dirty="0"/>
              <a:t>Your </a:t>
            </a:r>
            <a:r>
              <a:rPr lang="en-US" sz="1100" b="0" i="0" u="none" strike="noStrike" cap="none" dirty="0">
                <a:solidFill>
                  <a:srgbClr val="000000"/>
                </a:solidFill>
                <a:latin typeface="Arial"/>
                <a:ea typeface="Arial"/>
                <a:cs typeface="Arial"/>
                <a:sym typeface="Arial"/>
              </a:rPr>
              <a:t>main()</a:t>
            </a:r>
            <a:r>
              <a:rPr lang="en-US" dirty="0"/>
              <a:t> does this very quickly:</a:t>
            </a:r>
          </a:p>
          <a:p>
            <a:pPr rtl="0"/>
            <a:r>
              <a:rPr lang="en-US" sz="1100" b="0" i="0" u="none" strike="noStrike" cap="none" dirty="0" err="1">
                <a:solidFill>
                  <a:srgbClr val="000000"/>
                </a:solidFill>
                <a:latin typeface="Arial"/>
                <a:ea typeface="Arial"/>
                <a:cs typeface="Arial"/>
                <a:sym typeface="Arial"/>
              </a:rPr>
              <a:t>service.execute</a:t>
            </a:r>
            <a:r>
              <a:rPr lang="en-US" sz="1100" b="0" i="0" u="none" strike="noStrike" cap="none" dirty="0">
                <a:solidFill>
                  <a:srgbClr val="000000"/>
                </a:solidFill>
                <a:latin typeface="Arial"/>
                <a:ea typeface="Arial"/>
                <a:cs typeface="Arial"/>
                <a:sym typeface="Arial"/>
              </a:rPr>
              <a:t>(waiter::run);</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service.shutdown</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lock.lock</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alarm.signal</a:t>
            </a:r>
            <a:r>
              <a:rPr lang="en-US" sz="1100" b="0" i="0" u="none" strike="noStrike" cap="none" dirty="0">
                <a:solidFill>
                  <a:srgbClr val="000000"/>
                </a:solidFill>
                <a:latin typeface="Arial"/>
                <a:ea typeface="Arial"/>
                <a:cs typeface="Arial"/>
                <a:sym typeface="Arial"/>
              </a:rPr>
              <a:t>();</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System.out.println</a:t>
            </a:r>
            <a:r>
              <a:rPr lang="en-US" sz="1100" b="0" i="0" u="none" strike="noStrike" cap="none" dirty="0">
                <a:solidFill>
                  <a:srgbClr val="000000"/>
                </a:solidFill>
                <a:latin typeface="Arial"/>
                <a:ea typeface="Arial"/>
                <a:cs typeface="Arial"/>
                <a:sym typeface="Arial"/>
              </a:rPr>
              <a:t>("Thread signaled!");</a:t>
            </a:r>
            <a:br>
              <a:rPr lang="en-US" sz="1100" b="0" i="0" u="none" strike="noStrike" cap="none" dirty="0">
                <a:solidFill>
                  <a:srgbClr val="000000"/>
                </a:solidFill>
                <a:latin typeface="Arial"/>
                <a:ea typeface="Arial"/>
                <a:cs typeface="Arial"/>
                <a:sym typeface="Arial"/>
              </a:rPr>
            </a:br>
            <a:r>
              <a:rPr lang="en-US" sz="1100" b="0" i="0" u="none" strike="noStrike" cap="none" dirty="0" err="1">
                <a:solidFill>
                  <a:srgbClr val="000000"/>
                </a:solidFill>
                <a:latin typeface="Arial"/>
                <a:ea typeface="Arial"/>
                <a:cs typeface="Arial"/>
                <a:sym typeface="Arial"/>
              </a:rPr>
              <a:t>lock.unlock</a:t>
            </a:r>
            <a:r>
              <a:rPr lang="en-US" sz="1100" b="0" i="0" u="none" strike="noStrike" cap="none" dirty="0">
                <a:solidFill>
                  <a:srgbClr val="000000"/>
                </a:solidFill>
                <a:latin typeface="Arial"/>
                <a:ea typeface="Arial"/>
                <a:cs typeface="Arial"/>
                <a:sym typeface="Arial"/>
              </a:rPr>
              <a:t>();</a:t>
            </a:r>
          </a:p>
          <a:p>
            <a:r>
              <a:rPr lang="en-US" dirty="0"/>
              <a:t>There is no guarantee the worker thread has reached this line yet:</a:t>
            </a:r>
          </a:p>
          <a:p>
            <a:pPr rtl="0"/>
            <a:r>
              <a:rPr lang="en-US" sz="1100" b="0" i="0" u="none" strike="noStrike" cap="none" dirty="0" err="1">
                <a:solidFill>
                  <a:srgbClr val="000000"/>
                </a:solidFill>
                <a:latin typeface="Arial"/>
                <a:ea typeface="Arial"/>
                <a:cs typeface="Arial"/>
                <a:sym typeface="Arial"/>
              </a:rPr>
              <a:t>alarm.awaitUninterruptibly</a:t>
            </a:r>
            <a:r>
              <a:rPr lang="en-US" sz="1100" b="0" i="0" u="none" strike="noStrike" cap="none" dirty="0">
                <a:solidFill>
                  <a:srgbClr val="000000"/>
                </a:solidFill>
                <a:latin typeface="Arial"/>
                <a:ea typeface="Arial"/>
                <a:cs typeface="Arial"/>
                <a:sym typeface="Arial"/>
              </a:rPr>
              <a:t>();</a:t>
            </a:r>
          </a:p>
          <a:p>
            <a:r>
              <a:rPr lang="en-US" dirty="0"/>
              <a:t>So two cases are possible.</a:t>
            </a:r>
          </a:p>
          <a:p>
            <a:r>
              <a:rPr lang="en-US" b="1" dirty="0"/>
              <a:t>Case 1: waiter reaches await first</a:t>
            </a:r>
          </a:p>
          <a:p>
            <a:r>
              <a:rPr lang="en-US" dirty="0"/>
              <a:t>Then </a:t>
            </a:r>
            <a:r>
              <a:rPr lang="en-US" sz="1100" b="0" i="0" u="none" strike="noStrike" cap="none" dirty="0">
                <a:solidFill>
                  <a:srgbClr val="000000"/>
                </a:solidFill>
                <a:latin typeface="Arial"/>
                <a:ea typeface="Arial"/>
                <a:cs typeface="Arial"/>
                <a:sym typeface="Arial"/>
              </a:rPr>
              <a:t>signal()</a:t>
            </a:r>
            <a:r>
              <a:rPr lang="en-US" dirty="0"/>
              <a:t> works:</a:t>
            </a:r>
          </a:p>
          <a:p>
            <a:r>
              <a:rPr lang="en-US" dirty="0"/>
              <a:t>waiter starts </a:t>
            </a:r>
          </a:p>
          <a:p>
            <a:r>
              <a:rPr lang="en-US" dirty="0"/>
              <a:t>waiter locks </a:t>
            </a:r>
          </a:p>
          <a:p>
            <a:r>
              <a:rPr lang="en-US" dirty="0"/>
              <a:t>waiter calls </a:t>
            </a:r>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a:t>
            </a:r>
          </a:p>
          <a:p>
            <a:r>
              <a:rPr lang="en-US" dirty="0"/>
              <a:t>main thread later calls </a:t>
            </a:r>
            <a:r>
              <a:rPr lang="en-US" sz="1100" b="0" i="0" u="none" strike="noStrike" cap="none" dirty="0">
                <a:solidFill>
                  <a:srgbClr val="000000"/>
                </a:solidFill>
                <a:latin typeface="Arial"/>
                <a:ea typeface="Arial"/>
                <a:cs typeface="Arial"/>
                <a:sym typeface="Arial"/>
              </a:rPr>
              <a:t>signal()</a:t>
            </a:r>
            <a:r>
              <a:rPr lang="en-US" dirty="0"/>
              <a:t> </a:t>
            </a:r>
          </a:p>
          <a:p>
            <a:r>
              <a:rPr lang="en-US" dirty="0"/>
              <a:t>waiter wakes up </a:t>
            </a:r>
          </a:p>
          <a:p>
            <a:r>
              <a:rPr lang="en-US" sz="1100" b="0" i="0" u="none" strike="noStrike" cap="none" dirty="0">
                <a:solidFill>
                  <a:srgbClr val="000000"/>
                </a:solidFill>
                <a:latin typeface="Arial"/>
                <a:ea typeface="Arial"/>
                <a:cs typeface="Arial"/>
                <a:sym typeface="Arial"/>
              </a:rPr>
              <a:t>"Done waiting!"</a:t>
            </a:r>
            <a:r>
              <a:rPr lang="en-US" dirty="0"/>
              <a:t> prints </a:t>
            </a:r>
          </a:p>
          <a:p>
            <a:r>
              <a:rPr lang="en-US" b="1" dirty="0"/>
              <a:t>Case 2: main signals too early</a:t>
            </a:r>
          </a:p>
          <a:p>
            <a:r>
              <a:rPr lang="en-US" dirty="0"/>
              <a:t>This is the bad case:</a:t>
            </a:r>
          </a:p>
          <a:p>
            <a:r>
              <a:rPr lang="en-US" dirty="0"/>
              <a:t>main starts worker thread </a:t>
            </a:r>
          </a:p>
          <a:p>
            <a:r>
              <a:rPr lang="en-US" dirty="0"/>
              <a:t>but worker has not yet run, or has not yet reached </a:t>
            </a:r>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a:t>
            </a:r>
          </a:p>
          <a:p>
            <a:r>
              <a:rPr lang="en-US" dirty="0"/>
              <a:t>main acquires the lock and calls </a:t>
            </a:r>
            <a:r>
              <a:rPr lang="en-US" sz="1100" b="0" i="0" u="none" strike="noStrike" cap="none" dirty="0" err="1">
                <a:solidFill>
                  <a:srgbClr val="000000"/>
                </a:solidFill>
                <a:latin typeface="Arial"/>
                <a:ea typeface="Arial"/>
                <a:cs typeface="Arial"/>
                <a:sym typeface="Arial"/>
              </a:rPr>
              <a:t>alarm.signal</a:t>
            </a:r>
            <a:r>
              <a:rPr lang="en-US" sz="1100" b="0" i="0" u="none" strike="noStrike" cap="none" dirty="0">
                <a:solidFill>
                  <a:srgbClr val="000000"/>
                </a:solidFill>
                <a:latin typeface="Arial"/>
                <a:ea typeface="Arial"/>
                <a:cs typeface="Arial"/>
                <a:sym typeface="Arial"/>
              </a:rPr>
              <a:t>()</a:t>
            </a:r>
            <a:r>
              <a:rPr lang="en-US" dirty="0"/>
              <a:t> </a:t>
            </a:r>
          </a:p>
          <a:p>
            <a:r>
              <a:rPr lang="en-US" dirty="0"/>
              <a:t>since nobody is waiting yet, the signal is </a:t>
            </a:r>
            <a:r>
              <a:rPr lang="en-US" b="1" dirty="0"/>
              <a:t>lost</a:t>
            </a:r>
            <a:r>
              <a:rPr lang="en-US" dirty="0"/>
              <a:t> </a:t>
            </a:r>
          </a:p>
          <a:p>
            <a:r>
              <a:rPr lang="en-US" dirty="0"/>
              <a:t>later the worker reaches </a:t>
            </a:r>
            <a:r>
              <a:rPr lang="en-US" sz="1100" b="0" i="0" u="none" strike="noStrike" cap="none" dirty="0" err="1">
                <a:solidFill>
                  <a:srgbClr val="000000"/>
                </a:solidFill>
                <a:latin typeface="Arial"/>
                <a:ea typeface="Arial"/>
                <a:cs typeface="Arial"/>
                <a:sym typeface="Arial"/>
              </a:rPr>
              <a:t>awaitUninterruptibly</a:t>
            </a:r>
            <a:r>
              <a:rPr lang="en-US" sz="1100" b="0" i="0" u="none" strike="noStrike" cap="none" dirty="0">
                <a:solidFill>
                  <a:srgbClr val="000000"/>
                </a:solidFill>
                <a:latin typeface="Arial"/>
                <a:ea typeface="Arial"/>
                <a:cs typeface="Arial"/>
                <a:sym typeface="Arial"/>
              </a:rPr>
              <a:t>()</a:t>
            </a:r>
            <a:r>
              <a:rPr lang="en-US" dirty="0"/>
              <a:t> </a:t>
            </a:r>
          </a:p>
          <a:p>
            <a:r>
              <a:rPr lang="en-US" dirty="0"/>
              <a:t>now it waits forever because the only signal already happened </a:t>
            </a:r>
          </a:p>
          <a:p>
            <a:r>
              <a:rPr lang="en-US" dirty="0"/>
              <a:t>That is why it still hangs sometimes, or may appear to always hang depending on scheduling.</a:t>
            </a:r>
          </a:p>
          <a:p>
            <a:r>
              <a:rPr lang="en-US" b="1" dirty="0"/>
              <a:t>Key idea</a:t>
            </a:r>
          </a:p>
          <a:p>
            <a:r>
              <a:rPr lang="en-US" dirty="0"/>
              <a:t>A </a:t>
            </a:r>
            <a:r>
              <a:rPr lang="en-US" sz="1100" b="0" i="0" u="none" strike="noStrike" cap="none" dirty="0">
                <a:solidFill>
                  <a:srgbClr val="000000"/>
                </a:solidFill>
                <a:latin typeface="Arial"/>
                <a:ea typeface="Arial"/>
                <a:cs typeface="Arial"/>
                <a:sym typeface="Arial"/>
              </a:rPr>
              <a:t>Condition</a:t>
            </a:r>
            <a:r>
              <a:rPr lang="en-US" dirty="0"/>
              <a:t> is </a:t>
            </a:r>
            <a:r>
              <a:rPr lang="en-US" b="1" dirty="0"/>
              <a:t>not</a:t>
            </a:r>
            <a:r>
              <a:rPr lang="en-US" dirty="0"/>
              <a:t> like a stored notification.</a:t>
            </a:r>
          </a:p>
          <a:p>
            <a:r>
              <a:rPr lang="en-US" sz="1100" b="0" i="0" u="none" strike="noStrike" cap="none" dirty="0">
                <a:solidFill>
                  <a:srgbClr val="000000"/>
                </a:solidFill>
                <a:latin typeface="Arial"/>
                <a:ea typeface="Arial"/>
                <a:cs typeface="Arial"/>
                <a:sym typeface="Arial"/>
              </a:rPr>
              <a:t>signal()</a:t>
            </a:r>
            <a:r>
              <a:rPr lang="en-US" dirty="0"/>
              <a:t> does </a:t>
            </a:r>
            <a:r>
              <a:rPr lang="en-US" b="1" dirty="0"/>
              <a:t>not</a:t>
            </a:r>
            <a:r>
              <a:rPr lang="en-US" dirty="0"/>
              <a:t> mean:</a:t>
            </a:r>
          </a:p>
          <a:p>
            <a:r>
              <a:rPr lang="en-US" dirty="0"/>
              <a:t>“the next thread that waits can continue” </a:t>
            </a:r>
          </a:p>
          <a:p>
            <a:r>
              <a:rPr lang="en-US" dirty="0"/>
              <a:t>It means:</a:t>
            </a:r>
          </a:p>
          <a:p>
            <a:r>
              <a:rPr lang="en-US" dirty="0"/>
              <a:t>“wake one thread that is waiting right now” </a:t>
            </a:r>
          </a:p>
          <a:p>
            <a:r>
              <a:rPr lang="en-US" dirty="0"/>
              <a:t>If no thread is waiting at that exact moment, nothing happens.</a:t>
            </a:r>
          </a:p>
          <a:p>
            <a:pPr marL="0" lvl="0" indent="0" algn="l" rtl="0">
              <a:spcBef>
                <a:spcPts val="0"/>
              </a:spcBef>
              <a:spcAft>
                <a:spcPts val="0"/>
              </a:spcAft>
              <a:buNone/>
            </a:pP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21e55936f0b_0_5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21e55936f0b_0_5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Signal pull only one thread from waiting state.</a:t>
            </a:r>
          </a:p>
          <a:p>
            <a:pPr marL="0" lvl="0" indent="0" algn="l" rtl="0">
              <a:spcBef>
                <a:spcPts val="0"/>
              </a:spcBef>
              <a:spcAft>
                <a:spcPts val="0"/>
              </a:spcAft>
              <a:buNone/>
            </a:pPr>
            <a:r>
              <a:rPr lang="en-US" dirty="0"/>
              <a:t>Need to use </a:t>
            </a:r>
            <a:r>
              <a:rPr lang="en-US" dirty="0" err="1"/>
              <a:t>SignalAll</a:t>
            </a:r>
            <a:r>
              <a:rPr lang="en-US" dirty="0"/>
              <a:t>()</a:t>
            </a: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g21e55936f0b_0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4" name="Google Shape;694;g21e55936f0b_0_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21e55936f0b_0_5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21e55936f0b_0_5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21e55936f0b_0_6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21e55936f0b_0_6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It has 3 Entities </a:t>
            </a:r>
            <a:r>
              <a:rPr lang="en-US" dirty="0">
                <a:sym typeface="Wingdings" panose="05000000000000000000" pitchFamily="2" charset="2"/>
              </a:rPr>
              <a:t> Producer Producing, Consumer Consuming, and Storage – Storing</a:t>
            </a:r>
          </a:p>
          <a:p>
            <a:endParaRPr lang="en-US" dirty="0"/>
          </a:p>
          <a:p>
            <a:r>
              <a:rPr lang="en-US" dirty="0"/>
              <a:t>Think of a </a:t>
            </a:r>
            <a:r>
              <a:rPr lang="en-US" b="1" dirty="0"/>
              <a:t>restaurant kitchen</a:t>
            </a:r>
            <a:r>
              <a:rPr lang="en-US" dirty="0"/>
              <a:t>:</a:t>
            </a:r>
          </a:p>
          <a:p>
            <a:r>
              <a:rPr lang="en-US" dirty="0"/>
              <a:t>👨‍🍳 </a:t>
            </a:r>
            <a:r>
              <a:rPr lang="en-US" b="1" dirty="0"/>
              <a:t>Chef (Producer)</a:t>
            </a:r>
            <a:r>
              <a:rPr lang="en-US" dirty="0"/>
              <a:t> → prepares food </a:t>
            </a:r>
          </a:p>
          <a:p>
            <a:r>
              <a:rPr lang="en-US" dirty="0"/>
              <a:t>🍽️ </a:t>
            </a:r>
            <a:r>
              <a:rPr lang="en-US" b="1" dirty="0"/>
              <a:t>Waiter (Consumer)</a:t>
            </a:r>
            <a:r>
              <a:rPr lang="en-US" dirty="0"/>
              <a:t> → picks up food and serves customers </a:t>
            </a:r>
          </a:p>
          <a:p>
            <a:endParaRPr lang="en-US" dirty="0"/>
          </a:p>
          <a:p>
            <a:r>
              <a:rPr lang="en-US" dirty="0"/>
              <a:t>🪟 </a:t>
            </a:r>
            <a:r>
              <a:rPr lang="en-US" b="1" dirty="0"/>
              <a:t>Pickup counter (Buffer/Queue)</a:t>
            </a:r>
            <a:r>
              <a:rPr lang="en-US" dirty="0"/>
              <a:t> → where food is placed </a:t>
            </a:r>
          </a:p>
          <a:p>
            <a:endParaRPr lang="en-US" dirty="0"/>
          </a:p>
          <a:p>
            <a:r>
              <a:rPr lang="en-US" b="1" dirty="0"/>
              <a:t>Rules:</a:t>
            </a:r>
          </a:p>
          <a:p>
            <a:r>
              <a:rPr lang="en-US" dirty="0"/>
              <a:t>If the counter is </a:t>
            </a:r>
            <a:r>
              <a:rPr lang="en-US" b="1" dirty="0"/>
              <a:t>full</a:t>
            </a:r>
            <a:r>
              <a:rPr lang="en-US" dirty="0"/>
              <a:t> → Chef must </a:t>
            </a:r>
            <a:r>
              <a:rPr lang="en-US" b="1" dirty="0"/>
              <a:t>wait</a:t>
            </a:r>
            <a:r>
              <a:rPr lang="en-US" dirty="0"/>
              <a:t> </a:t>
            </a:r>
          </a:p>
          <a:p>
            <a:r>
              <a:rPr lang="en-US" dirty="0"/>
              <a:t>If the counter is </a:t>
            </a:r>
            <a:r>
              <a:rPr lang="en-US" b="1" dirty="0"/>
              <a:t>empty</a:t>
            </a:r>
            <a:r>
              <a:rPr lang="en-US" dirty="0"/>
              <a:t> → Waiter must </a:t>
            </a:r>
            <a:r>
              <a:rPr lang="en-US" b="1" dirty="0"/>
              <a:t>wait</a:t>
            </a:r>
            <a:r>
              <a:rPr lang="en-US" dirty="0"/>
              <a:t> </a:t>
            </a:r>
          </a:p>
          <a:p>
            <a:r>
              <a:rPr lang="en-US" dirty="0"/>
              <a:t>👉 This is exactly how Producer–Consumer works.</a:t>
            </a:r>
          </a:p>
          <a:p>
            <a:pPr marL="0" lvl="0" indent="0" algn="l" rtl="0">
              <a:spcBef>
                <a:spcPts val="0"/>
              </a:spcBef>
              <a:spcAft>
                <a:spcPts val="0"/>
              </a:spcAft>
              <a:buNone/>
            </a:pPr>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21e55936f0b_0_6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5" name="Google Shape;755;g21e55936f0b_0_6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4"/>
        <p:cNvGrpSpPr/>
        <p:nvPr/>
      </p:nvGrpSpPr>
      <p:grpSpPr>
        <a:xfrm>
          <a:off x="0" y="0"/>
          <a:ext cx="0" cy="0"/>
          <a:chOff x="0" y="0"/>
          <a:chExt cx="0" cy="0"/>
        </a:xfrm>
      </p:grpSpPr>
      <p:sp>
        <p:nvSpPr>
          <p:cNvPr id="765" name="Google Shape;765;g21e55936f0b_0_6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6" name="Google Shape;766;g21e55936f0b_0_6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g21e55936f0b_0_6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21e55936f0b_0_6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If not, can you correct the behavior?</a:t>
            </a:r>
          </a:p>
          <a:p>
            <a:pPr marL="0" lvl="0" indent="0" algn="l" rtl="0">
              <a:spcBef>
                <a:spcPts val="0"/>
              </a:spcBef>
              <a:spcAft>
                <a:spcPts val="0"/>
              </a:spcAft>
              <a:buNone/>
            </a:pPr>
            <a:r>
              <a:rPr lang="en-US" dirty="0"/>
              <a:t>It appears that only one consumer is getting all the work done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waiting for work...</a:t>
            </a:r>
          </a:p>
          <a:p>
            <a:pPr marL="0" lvl="0" indent="0" algn="l" rtl="0">
              <a:spcBef>
                <a:spcPts val="0"/>
              </a:spcBef>
              <a:spcAft>
                <a:spcPts val="0"/>
              </a:spcAft>
              <a:buNone/>
            </a:pPr>
            <a:r>
              <a:rPr lang="en-US" dirty="0"/>
              <a:t>2 waiting for work...</a:t>
            </a:r>
          </a:p>
          <a:p>
            <a:pPr marL="0" lvl="0" indent="0" algn="l" rtl="0">
              <a:spcBef>
                <a:spcPts val="0"/>
              </a:spcBef>
              <a:spcAft>
                <a:spcPts val="0"/>
              </a:spcAft>
              <a:buNone/>
            </a:pPr>
            <a:r>
              <a:rPr lang="en-US" dirty="0"/>
              <a:t>Consumer : 3: Producer 0: message #9</a:t>
            </a:r>
          </a:p>
          <a:p>
            <a:pPr marL="0" lvl="0" indent="0" algn="l" rtl="0">
              <a:spcBef>
                <a:spcPts val="0"/>
              </a:spcBef>
              <a:spcAft>
                <a:spcPts val="0"/>
              </a:spcAft>
              <a:buNone/>
            </a:pPr>
            <a:r>
              <a:rPr lang="en-US" dirty="0"/>
              <a:t>Consumer : 3: Producer 0: message #10</a:t>
            </a:r>
          </a:p>
          <a:p>
            <a:pPr marL="0" lvl="0" indent="0" algn="l" rtl="0">
              <a:spcBef>
                <a:spcPts val="0"/>
              </a:spcBef>
              <a:spcAft>
                <a:spcPts val="0"/>
              </a:spcAft>
              <a:buNone/>
            </a:pPr>
            <a:r>
              <a:rPr lang="en-US" dirty="0"/>
              <a:t>Consumer : 3: Producer 0: message #11</a:t>
            </a:r>
          </a:p>
          <a:p>
            <a:pPr marL="0" lvl="0" indent="0" algn="l" rtl="0">
              <a:spcBef>
                <a:spcPts val="0"/>
              </a:spcBef>
              <a:spcAft>
                <a:spcPts val="0"/>
              </a:spcAft>
              <a:buNone/>
            </a:pPr>
            <a:r>
              <a:rPr lang="en-US" dirty="0"/>
              <a:t>3 waiting for work...</a:t>
            </a:r>
          </a:p>
          <a:p>
            <a:pPr marL="0" lvl="0" indent="0" algn="l" rtl="0">
              <a:spcBef>
                <a:spcPts val="0"/>
              </a:spcBef>
              <a:spcAft>
                <a:spcPts val="0"/>
              </a:spcAft>
              <a:buNone/>
            </a:pPr>
            <a:r>
              <a:rPr lang="en-US" dirty="0"/>
              <a:t>4 waiting for work...</a:t>
            </a:r>
          </a:p>
          <a:p>
            <a:pPr marL="0" lvl="0" indent="0" algn="l" rtl="0">
              <a:spcBef>
                <a:spcPts val="0"/>
              </a:spcBef>
              <a:spcAft>
                <a:spcPts val="0"/>
              </a:spcAft>
              <a:buNone/>
            </a:pPr>
            <a:r>
              <a:rPr lang="en-US" dirty="0"/>
              <a:t>0 waiting for work...</a:t>
            </a:r>
          </a:p>
          <a:p>
            <a:pPr marL="0" lvl="0" indent="0" algn="l" rtl="0">
              <a:spcBef>
                <a:spcPts val="0"/>
              </a:spcBef>
              <a:spcAft>
                <a:spcPts val="0"/>
              </a:spcAft>
              <a:buNone/>
            </a:pPr>
            <a:r>
              <a:rPr lang="en-US" dirty="0"/>
              <a:t>1 waiting for work...</a:t>
            </a:r>
          </a:p>
          <a:p>
            <a:pPr marL="0" lvl="0" indent="0" algn="l" rtl="0">
              <a:spcBef>
                <a:spcPts val="0"/>
              </a:spcBef>
              <a:spcAft>
                <a:spcPts val="0"/>
              </a:spcAft>
              <a:buNone/>
            </a:pPr>
            <a:r>
              <a:rPr lang="en-US" dirty="0"/>
              <a:t>2 waiting for work...</a:t>
            </a:r>
          </a:p>
          <a:p>
            <a:pPr marL="0" lvl="0" indent="0" algn="l" rtl="0">
              <a:spcBef>
                <a:spcPts val="0"/>
              </a:spcBef>
              <a:spcAft>
                <a:spcPts val="0"/>
              </a:spcAft>
              <a:buNone/>
            </a:pPr>
            <a:r>
              <a:rPr lang="en-US" dirty="0"/>
              <a:t>Consumer : 3: Producer 1: message #12</a:t>
            </a:r>
          </a:p>
          <a:p>
            <a:pPr marL="0" lvl="0" indent="0" algn="l" rtl="0">
              <a:spcBef>
                <a:spcPts val="0"/>
              </a:spcBef>
              <a:spcAft>
                <a:spcPts val="0"/>
              </a:spcAft>
              <a:buNone/>
            </a:pPr>
            <a:endParaRPr lang="en-US"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6"/>
        <p:cNvGrpSpPr/>
        <p:nvPr/>
      </p:nvGrpSpPr>
      <p:grpSpPr>
        <a:xfrm>
          <a:off x="0" y="0"/>
          <a:ext cx="0" cy="0"/>
          <a:chOff x="0" y="0"/>
          <a:chExt cx="0" cy="0"/>
        </a:xfrm>
      </p:grpSpPr>
      <p:sp>
        <p:nvSpPr>
          <p:cNvPr id="797" name="Google Shape;797;g21e55936f0b_0_6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8" name="Google Shape;798;g21e55936f0b_0_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1"/>
        <p:cNvGrpSpPr/>
        <p:nvPr/>
      </p:nvGrpSpPr>
      <p:grpSpPr>
        <a:xfrm>
          <a:off x="0" y="0"/>
          <a:ext cx="0" cy="0"/>
          <a:chOff x="0" y="0"/>
          <a:chExt cx="0" cy="0"/>
        </a:xfrm>
      </p:grpSpPr>
      <p:sp>
        <p:nvSpPr>
          <p:cNvPr id="832" name="Google Shape;832;g21e55936f0b_0_7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3" name="Google Shape;833;g21e55936f0b_0_7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g21e55936f0b_0_7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3" name="Google Shape;843;g21e55936f0b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g21e55936f0b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5" name="Google Shape;865;g21e55936f0b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21e55936f0b_0_7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21e55936f0b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21e55936f0b_0_7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5" name="Google Shape;905;g21e55936f0b_0_7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g21e55936f0b_0_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6" name="Google Shape;916;g21e55936f0b_0_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g21e55936f0b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4" name="Google Shape;944;g21e55936f0b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g21e55936f0b_0_11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1" name="Google Shape;951;g21e55936f0b_0_1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1e55936f0b_0_11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1e55936f0b_0_1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21e55936f0b_0_9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21e55936f0b_0_9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21e55936f0b_0_9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 name="Google Shape;1019;g21e55936f0b_0_9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21e55936f0b_0_97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21e55936f0b_0_9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7"/>
        <p:cNvGrpSpPr/>
        <p:nvPr/>
      </p:nvGrpSpPr>
      <p:grpSpPr>
        <a:xfrm>
          <a:off x="0" y="0"/>
          <a:ext cx="0" cy="0"/>
          <a:chOff x="0" y="0"/>
          <a:chExt cx="0" cy="0"/>
        </a:xfrm>
      </p:grpSpPr>
      <p:sp>
        <p:nvSpPr>
          <p:cNvPr id="1048" name="Google Shape;1048;g21e55936f0b_0_9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9" name="Google Shape;1049;g21e55936f0b_0_9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7"/>
        <p:cNvGrpSpPr/>
        <p:nvPr/>
      </p:nvGrpSpPr>
      <p:grpSpPr>
        <a:xfrm>
          <a:off x="0" y="0"/>
          <a:ext cx="0" cy="0"/>
          <a:chOff x="0" y="0"/>
          <a:chExt cx="0" cy="0"/>
        </a:xfrm>
      </p:grpSpPr>
      <p:sp>
        <p:nvSpPr>
          <p:cNvPr id="1068" name="Google Shape;1068;g21e55936f0b_0_10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9" name="Google Shape;1069;g21e55936f0b_0_10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g21e55936f0b_0_10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21e55936f0b_0_10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21e55936f0b_0_10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1" name="Google Shape;1111;g21e55936f0b_0_10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g21e55936f0b_0_1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9" name="Google Shape;1129;g21e55936f0b_0_1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6"/>
        <p:cNvGrpSpPr/>
        <p:nvPr/>
      </p:nvGrpSpPr>
      <p:grpSpPr>
        <a:xfrm>
          <a:off x="0" y="0"/>
          <a:ext cx="0" cy="0"/>
          <a:chOff x="0" y="0"/>
          <a:chExt cx="0" cy="0"/>
        </a:xfrm>
      </p:grpSpPr>
      <p:sp>
        <p:nvSpPr>
          <p:cNvPr id="1147" name="Google Shape;1147;g21e55936f0b_0_11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8" name="Google Shape;1148;g21e55936f0b_0_1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4"/>
        <p:cNvGrpSpPr/>
        <p:nvPr/>
      </p:nvGrpSpPr>
      <p:grpSpPr>
        <a:xfrm>
          <a:off x="0" y="0"/>
          <a:ext cx="0" cy="0"/>
          <a:chOff x="0" y="0"/>
          <a:chExt cx="0" cy="0"/>
        </a:xfrm>
      </p:grpSpPr>
      <p:sp>
        <p:nvSpPr>
          <p:cNvPr id="1165" name="Google Shape;1165;g21e55936f0b_0_11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6" name="Google Shape;1166;g21e55936f0b_0_1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There is a good chance that you will run out of time before finishing this. Make sure to save enough time for PSS.</a:t>
            </a:r>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txBody>
          <a:bodyPr/>
          <a:lstStyle/>
          <a:p>
            <a:endParaRPr lang="en-US"/>
          </a:p>
        </p:txBody>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sp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sp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21" name="Google Shape;21;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sp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3" name="Google Shape;23;p4"/>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4"/>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spAutoFit/>
          </a:bodyPr>
          <a:lstStyle>
            <a:lvl1pPr marL="457200" lvl="0" indent="-311150">
              <a:spcBef>
                <a:spcPts val="0"/>
              </a:spcBef>
              <a:spcAft>
                <a:spcPts val="0"/>
              </a:spcAft>
              <a:buClr>
                <a:srgbClr val="FFFFFF"/>
              </a:buClr>
              <a:buSzPts val="1300"/>
              <a:buChar char="●"/>
              <a:defRPr>
                <a:solidFill>
                  <a:srgbClr val="FFFFFF"/>
                </a:solidFill>
              </a:defRPr>
            </a:lvl1pPr>
            <a:lvl2pPr marL="914400" lvl="1" indent="-298450">
              <a:spcBef>
                <a:spcPts val="1600"/>
              </a:spcBef>
              <a:spcAft>
                <a:spcPts val="0"/>
              </a:spcAft>
              <a:buClr>
                <a:srgbClr val="FFFFFF"/>
              </a:buClr>
              <a:buSzPts val="1100"/>
              <a:buChar char="○"/>
              <a:defRPr>
                <a:solidFill>
                  <a:srgbClr val="FFFFFF"/>
                </a:solidFill>
              </a:defRPr>
            </a:lvl2pPr>
            <a:lvl3pPr marL="1371600" lvl="2" indent="-298450">
              <a:spcBef>
                <a:spcPts val="1600"/>
              </a:spcBef>
              <a:spcAft>
                <a:spcPts val="0"/>
              </a:spcAft>
              <a:buClr>
                <a:srgbClr val="FFFFFF"/>
              </a:buClr>
              <a:buSzPts val="1100"/>
              <a:buChar char="■"/>
              <a:defRPr>
                <a:solidFill>
                  <a:srgbClr val="FFFFFF"/>
                </a:solidFill>
              </a:defRPr>
            </a:lvl3pPr>
            <a:lvl4pPr marL="1828800" lvl="3" indent="-298450">
              <a:spcBef>
                <a:spcPts val="1600"/>
              </a:spcBef>
              <a:spcAft>
                <a:spcPts val="0"/>
              </a:spcAft>
              <a:buClr>
                <a:srgbClr val="FFFFFF"/>
              </a:buClr>
              <a:buSzPts val="1100"/>
              <a:buChar char="●"/>
              <a:defRPr>
                <a:solidFill>
                  <a:srgbClr val="FFFFFF"/>
                </a:solidFill>
              </a:defRPr>
            </a:lvl4pPr>
            <a:lvl5pPr marL="2286000" lvl="4" indent="-298450">
              <a:spcBef>
                <a:spcPts val="1600"/>
              </a:spcBef>
              <a:spcAft>
                <a:spcPts val="0"/>
              </a:spcAft>
              <a:buClr>
                <a:srgbClr val="FFFFFF"/>
              </a:buClr>
              <a:buSzPts val="1100"/>
              <a:buChar char="○"/>
              <a:defRPr>
                <a:solidFill>
                  <a:srgbClr val="FFFFFF"/>
                </a:solidFill>
              </a:defRPr>
            </a:lvl5pPr>
            <a:lvl6pPr marL="2743200" lvl="5" indent="-298450">
              <a:spcBef>
                <a:spcPts val="1600"/>
              </a:spcBef>
              <a:spcAft>
                <a:spcPts val="0"/>
              </a:spcAft>
              <a:buClr>
                <a:srgbClr val="FFFFFF"/>
              </a:buClr>
              <a:buSzPts val="1100"/>
              <a:buChar char="■"/>
              <a:defRPr>
                <a:solidFill>
                  <a:srgbClr val="FFFFFF"/>
                </a:solidFill>
              </a:defRPr>
            </a:lvl6pPr>
            <a:lvl7pPr marL="3200400" lvl="6" indent="-298450">
              <a:spcBef>
                <a:spcPts val="1600"/>
              </a:spcBef>
              <a:spcAft>
                <a:spcPts val="0"/>
              </a:spcAft>
              <a:buClr>
                <a:srgbClr val="FFFFFF"/>
              </a:buClr>
              <a:buSzPts val="1100"/>
              <a:buChar char="●"/>
              <a:defRPr>
                <a:solidFill>
                  <a:srgbClr val="FFFFFF"/>
                </a:solidFill>
              </a:defRPr>
            </a:lvl7pPr>
            <a:lvl8pPr marL="3657600" lvl="7" indent="-298450">
              <a:spcBef>
                <a:spcPts val="1600"/>
              </a:spcBef>
              <a:spcAft>
                <a:spcPts val="0"/>
              </a:spcAft>
              <a:buClr>
                <a:srgbClr val="FFFFFF"/>
              </a:buClr>
              <a:buSzPts val="1100"/>
              <a:buChar char="○"/>
              <a:defRPr>
                <a:solidFill>
                  <a:srgbClr val="FFFFFF"/>
                </a:solidFill>
              </a:defRPr>
            </a:lvl8pPr>
            <a:lvl9pPr marL="4114800" lvl="8" indent="-298450">
              <a:spcBef>
                <a:spcPts val="1600"/>
              </a:spcBef>
              <a:spcAft>
                <a:spcPts val="1600"/>
              </a:spcAft>
              <a:buClr>
                <a:srgbClr val="FFFFFF"/>
              </a:buClr>
              <a:buSzPts val="1100"/>
              <a:buChar char="■"/>
              <a:defRPr>
                <a:solidFill>
                  <a:srgbClr val="FFFFFF"/>
                </a:solidFill>
              </a:defRPr>
            </a:lvl9pPr>
          </a:lstStyle>
          <a:p>
            <a:endParaRPr/>
          </a:p>
        </p:txBody>
      </p:sp>
      <p:sp>
        <p:nvSpPr>
          <p:cNvPr id="26" name="Google Shape;26;p4"/>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0" name="Google Shape;30;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1" name="Google Shape;31;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7"/>
        <p:cNvGrpSpPr/>
        <p:nvPr/>
      </p:nvGrpSpPr>
      <p:grpSpPr>
        <a:xfrm>
          <a:off x="0" y="0"/>
          <a:ext cx="0" cy="0"/>
          <a:chOff x="0" y="0"/>
          <a:chExt cx="0" cy="0"/>
        </a:xfrm>
      </p:grpSpPr>
      <p:sp>
        <p:nvSpPr>
          <p:cNvPr id="38" name="Google Shape;38;p7"/>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40" name="Google Shape;40;p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1" name="Google Shape;41;p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42" name="Google Shape;42;p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43" name="Google Shape;43;p7"/>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44" name="Google Shape;44;p7"/>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7" name="Google Shape;47;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51" name="Google Shape;51;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52" name="Google Shape;52;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3" name="Google Shape;5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7" name="Google Shape;5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8"/>
        <p:cNvGrpSpPr/>
        <p:nvPr/>
      </p:nvGrpSpPr>
      <p:grpSpPr>
        <a:xfrm>
          <a:off x="0" y="0"/>
          <a:ext cx="0" cy="0"/>
          <a:chOff x="0" y="0"/>
          <a:chExt cx="0" cy="0"/>
        </a:xfrm>
      </p:grpSpPr>
      <p:sp>
        <p:nvSpPr>
          <p:cNvPr id="59" name="Google Shape;59;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60" name="Google Shape;60;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1600"/>
              </a:spcBef>
              <a:spcAft>
                <a:spcPts val="0"/>
              </a:spcAft>
              <a:buClr>
                <a:schemeClr val="accent2"/>
              </a:buClr>
              <a:buSzPts val="1100"/>
              <a:buChar char="○"/>
              <a:defRPr>
                <a:solidFill>
                  <a:schemeClr val="accent2"/>
                </a:solidFill>
              </a:defRPr>
            </a:lvl2pPr>
            <a:lvl3pPr marL="1371600" lvl="2" indent="-298450">
              <a:spcBef>
                <a:spcPts val="1600"/>
              </a:spcBef>
              <a:spcAft>
                <a:spcPts val="0"/>
              </a:spcAft>
              <a:buClr>
                <a:schemeClr val="accent2"/>
              </a:buClr>
              <a:buSzPts val="1100"/>
              <a:buChar char="■"/>
              <a:defRPr>
                <a:solidFill>
                  <a:schemeClr val="accent2"/>
                </a:solidFill>
              </a:defRPr>
            </a:lvl3pPr>
            <a:lvl4pPr marL="1828800" lvl="3" indent="-298450">
              <a:spcBef>
                <a:spcPts val="1600"/>
              </a:spcBef>
              <a:spcAft>
                <a:spcPts val="0"/>
              </a:spcAft>
              <a:buClr>
                <a:schemeClr val="accent2"/>
              </a:buClr>
              <a:buSzPts val="1100"/>
              <a:buChar char="●"/>
              <a:defRPr>
                <a:solidFill>
                  <a:schemeClr val="accent2"/>
                </a:solidFill>
              </a:defRPr>
            </a:lvl4pPr>
            <a:lvl5pPr marL="2286000" lvl="4" indent="-298450">
              <a:spcBef>
                <a:spcPts val="1600"/>
              </a:spcBef>
              <a:spcAft>
                <a:spcPts val="0"/>
              </a:spcAft>
              <a:buClr>
                <a:schemeClr val="accent2"/>
              </a:buClr>
              <a:buSzPts val="1100"/>
              <a:buChar char="○"/>
              <a:defRPr>
                <a:solidFill>
                  <a:schemeClr val="accent2"/>
                </a:solidFill>
              </a:defRPr>
            </a:lvl5pPr>
            <a:lvl6pPr marL="2743200" lvl="5" indent="-298450">
              <a:spcBef>
                <a:spcPts val="1600"/>
              </a:spcBef>
              <a:spcAft>
                <a:spcPts val="0"/>
              </a:spcAft>
              <a:buClr>
                <a:schemeClr val="accent2"/>
              </a:buClr>
              <a:buSzPts val="1100"/>
              <a:buChar char="■"/>
              <a:defRPr>
                <a:solidFill>
                  <a:schemeClr val="accent2"/>
                </a:solidFill>
              </a:defRPr>
            </a:lvl6pPr>
            <a:lvl7pPr marL="3200400" lvl="6" indent="-298450">
              <a:spcBef>
                <a:spcPts val="1600"/>
              </a:spcBef>
              <a:spcAft>
                <a:spcPts val="0"/>
              </a:spcAft>
              <a:buClr>
                <a:schemeClr val="accent2"/>
              </a:buClr>
              <a:buSzPts val="1100"/>
              <a:buChar char="●"/>
              <a:defRPr>
                <a:solidFill>
                  <a:schemeClr val="accent2"/>
                </a:solidFill>
              </a:defRPr>
            </a:lvl7pPr>
            <a:lvl8pPr marL="3657600" lvl="7" indent="-298450">
              <a:spcBef>
                <a:spcPts val="1600"/>
              </a:spcBef>
              <a:spcAft>
                <a:spcPts val="0"/>
              </a:spcAft>
              <a:buClr>
                <a:schemeClr val="accent2"/>
              </a:buClr>
              <a:buSzPts val="1100"/>
              <a:buChar char="○"/>
              <a:defRPr>
                <a:solidFill>
                  <a:schemeClr val="accent2"/>
                </a:solidFill>
              </a:defRPr>
            </a:lvl8pPr>
            <a:lvl9pPr marL="4114800" lvl="8" indent="-298450">
              <a:spcBef>
                <a:spcPts val="1600"/>
              </a:spcBef>
              <a:spcAft>
                <a:spcPts val="1600"/>
              </a:spcAft>
              <a:buClr>
                <a:schemeClr val="accent2"/>
              </a:buClr>
              <a:buSzPts val="1100"/>
              <a:buChar char="■"/>
              <a:defRPr>
                <a:solidFill>
                  <a:schemeClr val="accent2"/>
                </a:solidFill>
              </a:defRPr>
            </a:lvl9pPr>
          </a:lstStyle>
          <a:p>
            <a:endParaRPr/>
          </a:p>
        </p:txBody>
      </p:sp>
      <p:sp>
        <p:nvSpPr>
          <p:cNvPr id="61" name="Google Shape;6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
        <p:cNvGrpSpPr/>
        <p:nvPr/>
      </p:nvGrpSpPr>
      <p:grpSpPr>
        <a:xfrm>
          <a:off x="0" y="0"/>
          <a:ext cx="0" cy="0"/>
          <a:chOff x="0" y="0"/>
          <a:chExt cx="0" cy="0"/>
        </a:xfrm>
      </p:grpSpPr>
      <p:sp>
        <p:nvSpPr>
          <p:cNvPr id="63" name="Google Shape;63;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ctivity 1">
  <p:cSld name="AUTOLAYOUT_1_1">
    <p:bg>
      <p:bgPr>
        <a:solidFill>
          <a:srgbClr val="FFFFFF"/>
        </a:solidFill>
        <a:effectLst/>
      </p:bgPr>
    </p:bg>
    <p:spTree>
      <p:nvGrpSpPr>
        <p:cNvPr id="1" name="Shape 64"/>
        <p:cNvGrpSpPr/>
        <p:nvPr/>
      </p:nvGrpSpPr>
      <p:grpSpPr>
        <a:xfrm>
          <a:off x="0" y="0"/>
          <a:ext cx="0" cy="0"/>
          <a:chOff x="0" y="0"/>
          <a:chExt cx="0" cy="0"/>
        </a:xfrm>
      </p:grpSpPr>
      <p:sp>
        <p:nvSpPr>
          <p:cNvPr id="65" name="Google Shape;65;p13"/>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3"/>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67" name="Google Shape;67;p13"/>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68" name="Google Shape;68;p13"/>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69" name="Google Shape;69;p13"/>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13"/>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71" name="Google Shape;71;p13"/>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13"/>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73" name="Google Shape;73;p13"/>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74"/>
        <p:cNvGrpSpPr/>
        <p:nvPr/>
      </p:nvGrpSpPr>
      <p:grpSpPr>
        <a:xfrm>
          <a:off x="0" y="0"/>
          <a:ext cx="0" cy="0"/>
          <a:chOff x="0" y="0"/>
          <a:chExt cx="0" cy="0"/>
        </a:xfrm>
      </p:grpSpPr>
      <p:sp>
        <p:nvSpPr>
          <p:cNvPr id="75" name="Google Shape;75;p1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4"/>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78" name="Google Shape;78;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79"/>
        <p:cNvGrpSpPr/>
        <p:nvPr/>
      </p:nvGrpSpPr>
      <p:grpSpPr>
        <a:xfrm>
          <a:off x="0" y="0"/>
          <a:ext cx="0" cy="0"/>
          <a:chOff x="0" y="0"/>
          <a:chExt cx="0" cy="0"/>
        </a:xfrm>
      </p:grpSpPr>
      <p:sp>
        <p:nvSpPr>
          <p:cNvPr id="80" name="Google Shape;80;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82" name="Google Shape;82;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87"/>
        <p:cNvGrpSpPr/>
        <p:nvPr/>
      </p:nvGrpSpPr>
      <p:grpSpPr>
        <a:xfrm>
          <a:off x="0" y="0"/>
          <a:ext cx="0" cy="0"/>
          <a:chOff x="0" y="0"/>
          <a:chExt cx="0" cy="0"/>
        </a:xfrm>
      </p:grpSpPr>
      <p:sp>
        <p:nvSpPr>
          <p:cNvPr id="88" name="Google Shape;88;p17"/>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89" name="Google Shape;89;p17"/>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0" name="Google Shape;90;p17"/>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2"/>
              </a:buClr>
              <a:buSzPts val="1600"/>
              <a:buNone/>
              <a:defRPr sz="1600">
                <a:solidFill>
                  <a:schemeClr val="lt2"/>
                </a:solidFill>
              </a:defRPr>
            </a:lvl1pPr>
            <a:lvl2pPr lvl="1" rtl="0">
              <a:lnSpc>
                <a:spcPct val="100000"/>
              </a:lnSpc>
              <a:spcBef>
                <a:spcPts val="0"/>
              </a:spcBef>
              <a:spcAft>
                <a:spcPts val="0"/>
              </a:spcAft>
              <a:buClr>
                <a:schemeClr val="lt2"/>
              </a:buClr>
              <a:buSzPts val="1600"/>
              <a:buNone/>
              <a:defRPr sz="1600">
                <a:solidFill>
                  <a:schemeClr val="lt2"/>
                </a:solidFill>
              </a:defRPr>
            </a:lvl2pPr>
            <a:lvl3pPr lvl="2" rtl="0">
              <a:lnSpc>
                <a:spcPct val="100000"/>
              </a:lnSpc>
              <a:spcBef>
                <a:spcPts val="0"/>
              </a:spcBef>
              <a:spcAft>
                <a:spcPts val="0"/>
              </a:spcAft>
              <a:buClr>
                <a:schemeClr val="lt2"/>
              </a:buClr>
              <a:buSzPts val="1600"/>
              <a:buNone/>
              <a:defRPr sz="1600">
                <a:solidFill>
                  <a:schemeClr val="lt2"/>
                </a:solidFill>
              </a:defRPr>
            </a:lvl3pPr>
            <a:lvl4pPr lvl="3" rtl="0">
              <a:lnSpc>
                <a:spcPct val="100000"/>
              </a:lnSpc>
              <a:spcBef>
                <a:spcPts val="0"/>
              </a:spcBef>
              <a:spcAft>
                <a:spcPts val="0"/>
              </a:spcAft>
              <a:buClr>
                <a:schemeClr val="lt2"/>
              </a:buClr>
              <a:buSzPts val="1600"/>
              <a:buNone/>
              <a:defRPr sz="1600">
                <a:solidFill>
                  <a:schemeClr val="lt2"/>
                </a:solidFill>
              </a:defRPr>
            </a:lvl4pPr>
            <a:lvl5pPr lvl="4" rtl="0">
              <a:lnSpc>
                <a:spcPct val="100000"/>
              </a:lnSpc>
              <a:spcBef>
                <a:spcPts val="0"/>
              </a:spcBef>
              <a:spcAft>
                <a:spcPts val="0"/>
              </a:spcAft>
              <a:buClr>
                <a:schemeClr val="lt2"/>
              </a:buClr>
              <a:buSzPts val="1600"/>
              <a:buNone/>
              <a:defRPr sz="1600">
                <a:solidFill>
                  <a:schemeClr val="lt2"/>
                </a:solidFill>
              </a:defRPr>
            </a:lvl5pPr>
            <a:lvl6pPr lvl="5" rtl="0">
              <a:lnSpc>
                <a:spcPct val="100000"/>
              </a:lnSpc>
              <a:spcBef>
                <a:spcPts val="0"/>
              </a:spcBef>
              <a:spcAft>
                <a:spcPts val="0"/>
              </a:spcAft>
              <a:buClr>
                <a:schemeClr val="lt2"/>
              </a:buClr>
              <a:buSzPts val="1600"/>
              <a:buNone/>
              <a:defRPr sz="1600">
                <a:solidFill>
                  <a:schemeClr val="lt2"/>
                </a:solidFill>
              </a:defRPr>
            </a:lvl6pPr>
            <a:lvl7pPr lvl="6" rtl="0">
              <a:lnSpc>
                <a:spcPct val="100000"/>
              </a:lnSpc>
              <a:spcBef>
                <a:spcPts val="0"/>
              </a:spcBef>
              <a:spcAft>
                <a:spcPts val="0"/>
              </a:spcAft>
              <a:buClr>
                <a:schemeClr val="lt2"/>
              </a:buClr>
              <a:buSzPts val="1600"/>
              <a:buNone/>
              <a:defRPr sz="1600">
                <a:solidFill>
                  <a:schemeClr val="lt2"/>
                </a:solidFill>
              </a:defRPr>
            </a:lvl7pPr>
            <a:lvl8pPr lvl="7" rtl="0">
              <a:lnSpc>
                <a:spcPct val="100000"/>
              </a:lnSpc>
              <a:spcBef>
                <a:spcPts val="0"/>
              </a:spcBef>
              <a:spcAft>
                <a:spcPts val="0"/>
              </a:spcAft>
              <a:buClr>
                <a:schemeClr val="lt2"/>
              </a:buClr>
              <a:buSzPts val="1600"/>
              <a:buNone/>
              <a:defRPr sz="1600">
                <a:solidFill>
                  <a:schemeClr val="lt2"/>
                </a:solidFill>
              </a:defRPr>
            </a:lvl8pPr>
            <a:lvl9pPr lvl="8" rtl="0">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91" name="Google Shape;91;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92"/>
        <p:cNvGrpSpPr/>
        <p:nvPr/>
      </p:nvGrpSpPr>
      <p:grpSpPr>
        <a:xfrm>
          <a:off x="0" y="0"/>
          <a:ext cx="0" cy="0"/>
          <a:chOff x="0" y="0"/>
          <a:chExt cx="0" cy="0"/>
        </a:xfrm>
      </p:grpSpPr>
      <p:sp>
        <p:nvSpPr>
          <p:cNvPr id="93" name="Google Shape;93;p18"/>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94" name="Google Shape;94;p18"/>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95" name="Google Shape;95;p18"/>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6" name="Google Shape;9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7"/>
        <p:cNvGrpSpPr/>
        <p:nvPr/>
      </p:nvGrpSpPr>
      <p:grpSpPr>
        <a:xfrm>
          <a:off x="0" y="0"/>
          <a:ext cx="0" cy="0"/>
          <a:chOff x="0" y="0"/>
          <a:chExt cx="0" cy="0"/>
        </a:xfrm>
      </p:grpSpPr>
      <p:sp>
        <p:nvSpPr>
          <p:cNvPr id="98" name="Google Shape;98;p19"/>
          <p:cNvSpPr/>
          <p:nvPr/>
        </p:nvSpPr>
        <p:spPr>
          <a:xfrm>
            <a:off x="-125"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99" name="Google Shape;99;p19"/>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19"/>
          <p:cNvSpPr txBox="1">
            <a:spLocks noGrp="1"/>
          </p:cNvSpPr>
          <p:nvPr>
            <p:ph type="title"/>
          </p:nvPr>
        </p:nvSpPr>
        <p:spPr>
          <a:xfrm>
            <a:off x="311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01" name="Google Shape;101;p19"/>
          <p:cNvSpPr txBox="1">
            <a:spLocks noGrp="1"/>
          </p:cNvSpPr>
          <p:nvPr>
            <p:ph type="body" idx="1"/>
          </p:nvPr>
        </p:nvSpPr>
        <p:spPr>
          <a:xfrm>
            <a:off x="46446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02" name="Google Shape;102;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9"/>
          <p:cNvSpPr txBox="1">
            <a:spLocks noGrp="1"/>
          </p:cNvSpPr>
          <p:nvPr>
            <p:ph type="body" idx="2"/>
          </p:nvPr>
        </p:nvSpPr>
        <p:spPr>
          <a:xfrm>
            <a:off x="3154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04" name="Google Shape;104;p19"/>
          <p:cNvSpPr txBox="1">
            <a:spLocks noGrp="1"/>
          </p:cNvSpPr>
          <p:nvPr>
            <p:ph type="body" idx="3"/>
          </p:nvPr>
        </p:nvSpPr>
        <p:spPr>
          <a:xfrm>
            <a:off x="3154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5"/>
        <p:cNvGrpSpPr/>
        <p:nvPr/>
      </p:nvGrpSpPr>
      <p:grpSpPr>
        <a:xfrm>
          <a:off x="0" y="0"/>
          <a:ext cx="0" cy="0"/>
          <a:chOff x="0" y="0"/>
          <a:chExt cx="0" cy="0"/>
        </a:xfrm>
      </p:grpSpPr>
      <p:sp>
        <p:nvSpPr>
          <p:cNvPr id="106" name="Google Shape;106;p20"/>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08" name="Google Shape;108;p20"/>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09" name="Google Shape;109;p20"/>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10" name="Google Shape;110;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1"/>
        <p:cNvGrpSpPr/>
        <p:nvPr/>
      </p:nvGrpSpPr>
      <p:grpSpPr>
        <a:xfrm>
          <a:off x="0" y="0"/>
          <a:ext cx="0" cy="0"/>
          <a:chOff x="0" y="0"/>
          <a:chExt cx="0" cy="0"/>
        </a:xfrm>
      </p:grpSpPr>
      <p:sp>
        <p:nvSpPr>
          <p:cNvPr id="112" name="Google Shape;112;p21"/>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1"/>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5"/>
        <p:cNvGrpSpPr/>
        <p:nvPr/>
      </p:nvGrpSpPr>
      <p:grpSpPr>
        <a:xfrm>
          <a:off x="0" y="0"/>
          <a:ext cx="0" cy="0"/>
          <a:chOff x="0" y="0"/>
          <a:chExt cx="0" cy="0"/>
        </a:xfrm>
      </p:grpSpPr>
      <p:sp>
        <p:nvSpPr>
          <p:cNvPr id="116" name="Google Shape;116;p22"/>
          <p:cNvSpPr/>
          <p:nvPr/>
        </p:nvSpPr>
        <p:spPr>
          <a:xfrm>
            <a:off x="4840017"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2"/>
          <p:cNvSpPr/>
          <p:nvPr/>
        </p:nvSpPr>
        <p:spPr>
          <a:xfrm>
            <a:off x="4839900" y="0"/>
            <a:ext cx="4316900" cy="4887028"/>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txBody>
          <a:bodyPr/>
          <a:lstStyle/>
          <a:p>
            <a:endParaRPr lang="en-US"/>
          </a:p>
        </p:txBody>
      </p:sp>
      <p:sp>
        <p:nvSpPr>
          <p:cNvPr id="118" name="Google Shape;118;p2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9" name="Google Shape;119;p22"/>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0" name="Google Shape;120;p22"/>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21" name="Google Shape;121;p22"/>
          <p:cNvSpPr txBox="1">
            <a:spLocks noGrp="1"/>
          </p:cNvSpPr>
          <p:nvPr>
            <p:ph type="body" idx="2"/>
          </p:nvPr>
        </p:nvSpPr>
        <p:spPr>
          <a:xfrm>
            <a:off x="5192225" y="1286175"/>
            <a:ext cx="3706500" cy="26973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rgbClr val="FFFFFF"/>
              </a:buClr>
              <a:buSzPts val="1300"/>
              <a:buChar char="●"/>
              <a:defRPr>
                <a:solidFill>
                  <a:srgbClr val="FFFFFF"/>
                </a:solidFill>
              </a:defRPr>
            </a:lvl1pPr>
            <a:lvl2pPr marL="914400" lvl="1" indent="-298450" rtl="0">
              <a:spcBef>
                <a:spcPts val="1600"/>
              </a:spcBef>
              <a:spcAft>
                <a:spcPts val="0"/>
              </a:spcAft>
              <a:buClr>
                <a:srgbClr val="FFFFFF"/>
              </a:buClr>
              <a:buSzPts val="1100"/>
              <a:buChar char="○"/>
              <a:defRPr>
                <a:solidFill>
                  <a:srgbClr val="FFFFFF"/>
                </a:solidFill>
              </a:defRPr>
            </a:lvl2pPr>
            <a:lvl3pPr marL="1371600" lvl="2" indent="-298450" rtl="0">
              <a:spcBef>
                <a:spcPts val="1600"/>
              </a:spcBef>
              <a:spcAft>
                <a:spcPts val="0"/>
              </a:spcAft>
              <a:buClr>
                <a:srgbClr val="FFFFFF"/>
              </a:buClr>
              <a:buSzPts val="1100"/>
              <a:buChar char="■"/>
              <a:defRPr>
                <a:solidFill>
                  <a:srgbClr val="FFFFFF"/>
                </a:solidFill>
              </a:defRPr>
            </a:lvl3pPr>
            <a:lvl4pPr marL="1828800" lvl="3" indent="-298450" rtl="0">
              <a:spcBef>
                <a:spcPts val="1600"/>
              </a:spcBef>
              <a:spcAft>
                <a:spcPts val="0"/>
              </a:spcAft>
              <a:buClr>
                <a:srgbClr val="FFFFFF"/>
              </a:buClr>
              <a:buSzPts val="1100"/>
              <a:buChar char="●"/>
              <a:defRPr>
                <a:solidFill>
                  <a:srgbClr val="FFFFFF"/>
                </a:solidFill>
              </a:defRPr>
            </a:lvl4pPr>
            <a:lvl5pPr marL="2286000" lvl="4" indent="-298450" rtl="0">
              <a:spcBef>
                <a:spcPts val="1600"/>
              </a:spcBef>
              <a:spcAft>
                <a:spcPts val="0"/>
              </a:spcAft>
              <a:buClr>
                <a:srgbClr val="FFFFFF"/>
              </a:buClr>
              <a:buSzPts val="1100"/>
              <a:buChar char="○"/>
              <a:defRPr>
                <a:solidFill>
                  <a:srgbClr val="FFFFFF"/>
                </a:solidFill>
              </a:defRPr>
            </a:lvl5pPr>
            <a:lvl6pPr marL="2743200" lvl="5" indent="-298450" rtl="0">
              <a:spcBef>
                <a:spcPts val="1600"/>
              </a:spcBef>
              <a:spcAft>
                <a:spcPts val="0"/>
              </a:spcAft>
              <a:buClr>
                <a:srgbClr val="FFFFFF"/>
              </a:buClr>
              <a:buSzPts val="1100"/>
              <a:buChar char="■"/>
              <a:defRPr>
                <a:solidFill>
                  <a:srgbClr val="FFFFFF"/>
                </a:solidFill>
              </a:defRPr>
            </a:lvl6pPr>
            <a:lvl7pPr marL="3200400" lvl="6" indent="-298450" rtl="0">
              <a:spcBef>
                <a:spcPts val="1600"/>
              </a:spcBef>
              <a:spcAft>
                <a:spcPts val="0"/>
              </a:spcAft>
              <a:buClr>
                <a:srgbClr val="FFFFFF"/>
              </a:buClr>
              <a:buSzPts val="1100"/>
              <a:buChar char="●"/>
              <a:defRPr>
                <a:solidFill>
                  <a:srgbClr val="FFFFFF"/>
                </a:solidFill>
              </a:defRPr>
            </a:lvl7pPr>
            <a:lvl8pPr marL="3657600" lvl="7" indent="-298450" rtl="0">
              <a:spcBef>
                <a:spcPts val="1600"/>
              </a:spcBef>
              <a:spcAft>
                <a:spcPts val="0"/>
              </a:spcAft>
              <a:buClr>
                <a:srgbClr val="FFFFFF"/>
              </a:buClr>
              <a:buSzPts val="1100"/>
              <a:buChar char="○"/>
              <a:defRPr>
                <a:solidFill>
                  <a:srgbClr val="FFFFFF"/>
                </a:solidFill>
              </a:defRPr>
            </a:lvl8pPr>
            <a:lvl9pPr marL="4114800" lvl="8" indent="-298450" rtl="0">
              <a:spcBef>
                <a:spcPts val="1600"/>
              </a:spcBef>
              <a:spcAft>
                <a:spcPts val="1600"/>
              </a:spcAft>
              <a:buClr>
                <a:srgbClr val="FFFFFF"/>
              </a:buClr>
              <a:buSzPts val="1100"/>
              <a:buChar char="■"/>
              <a:defRPr>
                <a:solidFill>
                  <a:srgbClr val="FFFFFF"/>
                </a:solidFill>
              </a:defRPr>
            </a:lvl9pPr>
          </a:lstStyle>
          <a:p>
            <a:endParaRPr/>
          </a:p>
        </p:txBody>
      </p:sp>
      <p:sp>
        <p:nvSpPr>
          <p:cNvPr id="122" name="Google Shape;122;p22"/>
          <p:cNvSpPr txBox="1">
            <a:spLocks noGrp="1"/>
          </p:cNvSpPr>
          <p:nvPr>
            <p:ph type="body" idx="3"/>
          </p:nvPr>
        </p:nvSpPr>
        <p:spPr>
          <a:xfrm>
            <a:off x="5192225" y="4089650"/>
            <a:ext cx="3706500" cy="8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lvl1pPr marL="457200" lvl="0"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123"/>
        <p:cNvGrpSpPr/>
        <p:nvPr/>
      </p:nvGrpSpPr>
      <p:grpSpPr>
        <a:xfrm>
          <a:off x="0" y="0"/>
          <a:ext cx="0" cy="0"/>
          <a:chOff x="0" y="0"/>
          <a:chExt cx="0" cy="0"/>
        </a:xfrm>
      </p:grpSpPr>
      <p:sp>
        <p:nvSpPr>
          <p:cNvPr id="124" name="Google Shape;124;p23"/>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25" name="Google Shape;125;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accent1"/>
                </a:solidFill>
              </a:defRPr>
            </a:lvl1pPr>
            <a:lvl2pPr lvl="1" rtl="0">
              <a:buNone/>
              <a:defRPr>
                <a:solidFill>
                  <a:schemeClr val="accent1"/>
                </a:solidFill>
              </a:defRPr>
            </a:lvl2pPr>
            <a:lvl3pPr lvl="2" rtl="0">
              <a:buNone/>
              <a:defRPr>
                <a:solidFill>
                  <a:schemeClr val="accent1"/>
                </a:solidFill>
              </a:defRPr>
            </a:lvl3pPr>
            <a:lvl4pPr lvl="3" rtl="0">
              <a:buNone/>
              <a:defRPr>
                <a:solidFill>
                  <a:schemeClr val="accent1"/>
                </a:solidFill>
              </a:defRPr>
            </a:lvl4pPr>
            <a:lvl5pPr lvl="4" rtl="0">
              <a:buNone/>
              <a:defRPr>
                <a:solidFill>
                  <a:schemeClr val="accent1"/>
                </a:solidFill>
              </a:defRPr>
            </a:lvl5pPr>
            <a:lvl6pPr lvl="5" rtl="0">
              <a:buNone/>
              <a:defRPr>
                <a:solidFill>
                  <a:schemeClr val="accent1"/>
                </a:solidFill>
              </a:defRPr>
            </a:lvl6pPr>
            <a:lvl7pPr lvl="6" rtl="0">
              <a:buNone/>
              <a:defRPr>
                <a:solidFill>
                  <a:schemeClr val="accent1"/>
                </a:solidFill>
              </a:defRPr>
            </a:lvl7pPr>
            <a:lvl8pPr lvl="7" rtl="0">
              <a:buNone/>
              <a:defRPr>
                <a:solidFill>
                  <a:schemeClr val="accent1"/>
                </a:solidFill>
              </a:defRPr>
            </a:lvl8pPr>
            <a:lvl9pPr lvl="8" rtl="0">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6"/>
        <p:cNvGrpSpPr/>
        <p:nvPr/>
      </p:nvGrpSpPr>
      <p:grpSpPr>
        <a:xfrm>
          <a:off x="0" y="0"/>
          <a:ext cx="0" cy="0"/>
          <a:chOff x="0" y="0"/>
          <a:chExt cx="0" cy="0"/>
        </a:xfrm>
      </p:grpSpPr>
      <p:sp>
        <p:nvSpPr>
          <p:cNvPr id="127" name="Google Shape;127;p24"/>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4"/>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Clr>
                <a:schemeClr val="lt1"/>
              </a:buClr>
              <a:buSzPts val="2800"/>
              <a:buNone/>
              <a:defRPr>
                <a:solidFill>
                  <a:schemeClr val="lt1"/>
                </a:solidFill>
              </a:defRPr>
            </a:lvl2pPr>
            <a:lvl3pPr lvl="2" rtl="0">
              <a:spcBef>
                <a:spcPts val="0"/>
              </a:spcBef>
              <a:spcAft>
                <a:spcPts val="0"/>
              </a:spcAft>
              <a:buClr>
                <a:schemeClr val="lt1"/>
              </a:buClr>
              <a:buSzPts val="2800"/>
              <a:buNone/>
              <a:defRPr>
                <a:solidFill>
                  <a:schemeClr val="lt1"/>
                </a:solidFill>
              </a:defRPr>
            </a:lvl3pPr>
            <a:lvl4pPr lvl="3" rtl="0">
              <a:spcBef>
                <a:spcPts val="0"/>
              </a:spcBef>
              <a:spcAft>
                <a:spcPts val="0"/>
              </a:spcAft>
              <a:buClr>
                <a:schemeClr val="lt1"/>
              </a:buClr>
              <a:buSzPts val="2800"/>
              <a:buNone/>
              <a:defRPr>
                <a:solidFill>
                  <a:schemeClr val="lt1"/>
                </a:solidFill>
              </a:defRPr>
            </a:lvl4pPr>
            <a:lvl5pPr lvl="4" rtl="0">
              <a:spcBef>
                <a:spcPts val="0"/>
              </a:spcBef>
              <a:spcAft>
                <a:spcPts val="0"/>
              </a:spcAft>
              <a:buClr>
                <a:schemeClr val="lt1"/>
              </a:buClr>
              <a:buSzPts val="2800"/>
              <a:buNone/>
              <a:defRPr>
                <a:solidFill>
                  <a:schemeClr val="lt1"/>
                </a:solidFill>
              </a:defRPr>
            </a:lvl5pPr>
            <a:lvl6pPr lvl="5" rtl="0">
              <a:spcBef>
                <a:spcPts val="0"/>
              </a:spcBef>
              <a:spcAft>
                <a:spcPts val="0"/>
              </a:spcAft>
              <a:buClr>
                <a:schemeClr val="lt1"/>
              </a:buClr>
              <a:buSzPts val="2800"/>
              <a:buNone/>
              <a:defRPr>
                <a:solidFill>
                  <a:schemeClr val="lt1"/>
                </a:solidFill>
              </a:defRPr>
            </a:lvl6pPr>
            <a:lvl7pPr lvl="6" rtl="0">
              <a:spcBef>
                <a:spcPts val="0"/>
              </a:spcBef>
              <a:spcAft>
                <a:spcPts val="0"/>
              </a:spcAft>
              <a:buClr>
                <a:schemeClr val="lt1"/>
              </a:buClr>
              <a:buSzPts val="2800"/>
              <a:buNone/>
              <a:defRPr>
                <a:solidFill>
                  <a:schemeClr val="lt1"/>
                </a:solidFill>
              </a:defRPr>
            </a:lvl7pPr>
            <a:lvl8pPr lvl="7" rtl="0">
              <a:spcBef>
                <a:spcPts val="0"/>
              </a:spcBef>
              <a:spcAft>
                <a:spcPts val="0"/>
              </a:spcAft>
              <a:buClr>
                <a:schemeClr val="lt1"/>
              </a:buClr>
              <a:buSzPts val="2800"/>
              <a:buNone/>
              <a:defRPr>
                <a:solidFill>
                  <a:schemeClr val="lt1"/>
                </a:solidFill>
              </a:defRPr>
            </a:lvl8pPr>
            <a:lvl9pPr lvl="8" rtl="0">
              <a:spcBef>
                <a:spcPts val="0"/>
              </a:spcBef>
              <a:spcAft>
                <a:spcPts val="0"/>
              </a:spcAft>
              <a:buClr>
                <a:schemeClr val="lt1"/>
              </a:buClr>
              <a:buSzPts val="2800"/>
              <a:buNone/>
              <a:defRPr>
                <a:solidFill>
                  <a:schemeClr val="lt1"/>
                </a:solidFill>
              </a:defRPr>
            </a:lvl9pPr>
          </a:lstStyle>
          <a:p>
            <a:endParaRPr/>
          </a:p>
        </p:txBody>
      </p:sp>
      <p:sp>
        <p:nvSpPr>
          <p:cNvPr id="129" name="Google Shape;129;p24"/>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None/>
              <a:defRPr sz="1600">
                <a:solidFill>
                  <a:schemeClr val="accent2"/>
                </a:solidFill>
              </a:defRPr>
            </a:lvl1pPr>
            <a:lvl2pPr lvl="1" rtl="0">
              <a:lnSpc>
                <a:spcPct val="100000"/>
              </a:lnSpc>
              <a:spcBef>
                <a:spcPts val="0"/>
              </a:spcBef>
              <a:spcAft>
                <a:spcPts val="0"/>
              </a:spcAft>
              <a:buClr>
                <a:schemeClr val="accent2"/>
              </a:buClr>
              <a:buSzPts val="1600"/>
              <a:buNone/>
              <a:defRPr sz="1600">
                <a:solidFill>
                  <a:schemeClr val="accent2"/>
                </a:solidFill>
              </a:defRPr>
            </a:lvl2pPr>
            <a:lvl3pPr lvl="2" rtl="0">
              <a:lnSpc>
                <a:spcPct val="100000"/>
              </a:lnSpc>
              <a:spcBef>
                <a:spcPts val="0"/>
              </a:spcBef>
              <a:spcAft>
                <a:spcPts val="0"/>
              </a:spcAft>
              <a:buClr>
                <a:schemeClr val="accent2"/>
              </a:buClr>
              <a:buSzPts val="1600"/>
              <a:buNone/>
              <a:defRPr sz="1600">
                <a:solidFill>
                  <a:schemeClr val="accent2"/>
                </a:solidFill>
              </a:defRPr>
            </a:lvl3pPr>
            <a:lvl4pPr lvl="3" rtl="0">
              <a:lnSpc>
                <a:spcPct val="100000"/>
              </a:lnSpc>
              <a:spcBef>
                <a:spcPts val="0"/>
              </a:spcBef>
              <a:spcAft>
                <a:spcPts val="0"/>
              </a:spcAft>
              <a:buClr>
                <a:schemeClr val="accent2"/>
              </a:buClr>
              <a:buSzPts val="1600"/>
              <a:buNone/>
              <a:defRPr sz="1600">
                <a:solidFill>
                  <a:schemeClr val="accent2"/>
                </a:solidFill>
              </a:defRPr>
            </a:lvl4pPr>
            <a:lvl5pPr lvl="4" rtl="0">
              <a:lnSpc>
                <a:spcPct val="100000"/>
              </a:lnSpc>
              <a:spcBef>
                <a:spcPts val="0"/>
              </a:spcBef>
              <a:spcAft>
                <a:spcPts val="0"/>
              </a:spcAft>
              <a:buClr>
                <a:schemeClr val="accent2"/>
              </a:buClr>
              <a:buSzPts val="1600"/>
              <a:buNone/>
              <a:defRPr sz="1600">
                <a:solidFill>
                  <a:schemeClr val="accent2"/>
                </a:solidFill>
              </a:defRPr>
            </a:lvl5pPr>
            <a:lvl6pPr lvl="5" rtl="0">
              <a:lnSpc>
                <a:spcPct val="100000"/>
              </a:lnSpc>
              <a:spcBef>
                <a:spcPts val="0"/>
              </a:spcBef>
              <a:spcAft>
                <a:spcPts val="0"/>
              </a:spcAft>
              <a:buClr>
                <a:schemeClr val="accent2"/>
              </a:buClr>
              <a:buSzPts val="1600"/>
              <a:buNone/>
              <a:defRPr sz="1600">
                <a:solidFill>
                  <a:schemeClr val="accent2"/>
                </a:solidFill>
              </a:defRPr>
            </a:lvl6pPr>
            <a:lvl7pPr lvl="6" rtl="0">
              <a:lnSpc>
                <a:spcPct val="100000"/>
              </a:lnSpc>
              <a:spcBef>
                <a:spcPts val="0"/>
              </a:spcBef>
              <a:spcAft>
                <a:spcPts val="0"/>
              </a:spcAft>
              <a:buClr>
                <a:schemeClr val="accent2"/>
              </a:buClr>
              <a:buSzPts val="1600"/>
              <a:buNone/>
              <a:defRPr sz="1600">
                <a:solidFill>
                  <a:schemeClr val="accent2"/>
                </a:solidFill>
              </a:defRPr>
            </a:lvl7pPr>
            <a:lvl8pPr lvl="7" rtl="0">
              <a:lnSpc>
                <a:spcPct val="100000"/>
              </a:lnSpc>
              <a:spcBef>
                <a:spcPts val="0"/>
              </a:spcBef>
              <a:spcAft>
                <a:spcPts val="0"/>
              </a:spcAft>
              <a:buClr>
                <a:schemeClr val="accent2"/>
              </a:buClr>
              <a:buSzPts val="1600"/>
              <a:buNone/>
              <a:defRPr sz="1600">
                <a:solidFill>
                  <a:schemeClr val="accent2"/>
                </a:solidFill>
              </a:defRPr>
            </a:lvl8pPr>
            <a:lvl9pPr lvl="8" rtl="0">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130" name="Google Shape;130;p24"/>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31" name="Google Shape;131;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2"/>
        <p:cNvGrpSpPr/>
        <p:nvPr/>
      </p:nvGrpSpPr>
      <p:grpSpPr>
        <a:xfrm>
          <a:off x="0" y="0"/>
          <a:ext cx="0" cy="0"/>
          <a:chOff x="0" y="0"/>
          <a:chExt cx="0" cy="0"/>
        </a:xfrm>
      </p:grpSpPr>
      <p:sp>
        <p:nvSpPr>
          <p:cNvPr id="133" name="Google Shape;133;p25"/>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5"/>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135" name="Google Shape;13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136"/>
        <p:cNvGrpSpPr/>
        <p:nvPr/>
      </p:nvGrpSpPr>
      <p:grpSpPr>
        <a:xfrm>
          <a:off x="0" y="0"/>
          <a:ext cx="0" cy="0"/>
          <a:chOff x="0" y="0"/>
          <a:chExt cx="0" cy="0"/>
        </a:xfrm>
      </p:grpSpPr>
      <p:sp>
        <p:nvSpPr>
          <p:cNvPr id="137" name="Google Shape;137;p26"/>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10000"/>
              <a:buNone/>
              <a:defRPr sz="10000">
                <a:solidFill>
                  <a:schemeClr val="lt1"/>
                </a:solidFill>
              </a:defRPr>
            </a:lvl1pPr>
            <a:lvl2pPr lvl="1" rtl="0">
              <a:spcBef>
                <a:spcPts val="0"/>
              </a:spcBef>
              <a:spcAft>
                <a:spcPts val="0"/>
              </a:spcAft>
              <a:buClr>
                <a:schemeClr val="lt1"/>
              </a:buClr>
              <a:buSzPts val="10000"/>
              <a:buNone/>
              <a:defRPr sz="10000">
                <a:solidFill>
                  <a:schemeClr val="lt1"/>
                </a:solidFill>
              </a:defRPr>
            </a:lvl2pPr>
            <a:lvl3pPr lvl="2" rtl="0">
              <a:spcBef>
                <a:spcPts val="0"/>
              </a:spcBef>
              <a:spcAft>
                <a:spcPts val="0"/>
              </a:spcAft>
              <a:buClr>
                <a:schemeClr val="lt1"/>
              </a:buClr>
              <a:buSzPts val="10000"/>
              <a:buNone/>
              <a:defRPr sz="10000">
                <a:solidFill>
                  <a:schemeClr val="lt1"/>
                </a:solidFill>
              </a:defRPr>
            </a:lvl3pPr>
            <a:lvl4pPr lvl="3" rtl="0">
              <a:spcBef>
                <a:spcPts val="0"/>
              </a:spcBef>
              <a:spcAft>
                <a:spcPts val="0"/>
              </a:spcAft>
              <a:buClr>
                <a:schemeClr val="lt1"/>
              </a:buClr>
              <a:buSzPts val="10000"/>
              <a:buNone/>
              <a:defRPr sz="10000">
                <a:solidFill>
                  <a:schemeClr val="lt1"/>
                </a:solidFill>
              </a:defRPr>
            </a:lvl4pPr>
            <a:lvl5pPr lvl="4" rtl="0">
              <a:spcBef>
                <a:spcPts val="0"/>
              </a:spcBef>
              <a:spcAft>
                <a:spcPts val="0"/>
              </a:spcAft>
              <a:buClr>
                <a:schemeClr val="lt1"/>
              </a:buClr>
              <a:buSzPts val="10000"/>
              <a:buNone/>
              <a:defRPr sz="10000">
                <a:solidFill>
                  <a:schemeClr val="lt1"/>
                </a:solidFill>
              </a:defRPr>
            </a:lvl5pPr>
            <a:lvl6pPr lvl="5" rtl="0">
              <a:spcBef>
                <a:spcPts val="0"/>
              </a:spcBef>
              <a:spcAft>
                <a:spcPts val="0"/>
              </a:spcAft>
              <a:buClr>
                <a:schemeClr val="lt1"/>
              </a:buClr>
              <a:buSzPts val="10000"/>
              <a:buNone/>
              <a:defRPr sz="10000">
                <a:solidFill>
                  <a:schemeClr val="lt1"/>
                </a:solidFill>
              </a:defRPr>
            </a:lvl6pPr>
            <a:lvl7pPr lvl="6" rtl="0">
              <a:spcBef>
                <a:spcPts val="0"/>
              </a:spcBef>
              <a:spcAft>
                <a:spcPts val="0"/>
              </a:spcAft>
              <a:buClr>
                <a:schemeClr val="lt1"/>
              </a:buClr>
              <a:buSzPts val="10000"/>
              <a:buNone/>
              <a:defRPr sz="10000">
                <a:solidFill>
                  <a:schemeClr val="lt1"/>
                </a:solidFill>
              </a:defRPr>
            </a:lvl7pPr>
            <a:lvl8pPr lvl="7" rtl="0">
              <a:spcBef>
                <a:spcPts val="0"/>
              </a:spcBef>
              <a:spcAft>
                <a:spcPts val="0"/>
              </a:spcAft>
              <a:buClr>
                <a:schemeClr val="lt1"/>
              </a:buClr>
              <a:buSzPts val="10000"/>
              <a:buNone/>
              <a:defRPr sz="10000">
                <a:solidFill>
                  <a:schemeClr val="lt1"/>
                </a:solidFill>
              </a:defRPr>
            </a:lvl8pPr>
            <a:lvl9pPr lvl="8" rtl="0">
              <a:spcBef>
                <a:spcPts val="0"/>
              </a:spcBef>
              <a:spcAft>
                <a:spcPts val="0"/>
              </a:spcAft>
              <a:buClr>
                <a:schemeClr val="lt1"/>
              </a:buClr>
              <a:buSzPts val="10000"/>
              <a:buNone/>
              <a:defRPr sz="10000">
                <a:solidFill>
                  <a:schemeClr val="lt1"/>
                </a:solidFill>
              </a:defRPr>
            </a:lvl9pPr>
          </a:lstStyle>
          <a:p>
            <a:r>
              <a:t>xx%</a:t>
            </a:r>
          </a:p>
        </p:txBody>
      </p:sp>
      <p:sp>
        <p:nvSpPr>
          <p:cNvPr id="138" name="Google Shape;138;p26"/>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Clr>
                <a:schemeClr val="accent2"/>
              </a:buClr>
              <a:buSzPts val="1300"/>
              <a:buChar char="●"/>
              <a:defRPr>
                <a:solidFill>
                  <a:schemeClr val="accent2"/>
                </a:solidFill>
              </a:defRPr>
            </a:lvl1pPr>
            <a:lvl2pPr marL="914400" lvl="1" indent="-298450" rtl="0">
              <a:spcBef>
                <a:spcPts val="1600"/>
              </a:spcBef>
              <a:spcAft>
                <a:spcPts val="0"/>
              </a:spcAft>
              <a:buClr>
                <a:schemeClr val="accent2"/>
              </a:buClr>
              <a:buSzPts val="1100"/>
              <a:buChar char="○"/>
              <a:defRPr>
                <a:solidFill>
                  <a:schemeClr val="accent2"/>
                </a:solidFill>
              </a:defRPr>
            </a:lvl2pPr>
            <a:lvl3pPr marL="1371600" lvl="2" indent="-298450" rtl="0">
              <a:spcBef>
                <a:spcPts val="1600"/>
              </a:spcBef>
              <a:spcAft>
                <a:spcPts val="0"/>
              </a:spcAft>
              <a:buClr>
                <a:schemeClr val="accent2"/>
              </a:buClr>
              <a:buSzPts val="1100"/>
              <a:buChar char="■"/>
              <a:defRPr>
                <a:solidFill>
                  <a:schemeClr val="accent2"/>
                </a:solidFill>
              </a:defRPr>
            </a:lvl3pPr>
            <a:lvl4pPr marL="1828800" lvl="3" indent="-298450" rtl="0">
              <a:spcBef>
                <a:spcPts val="1600"/>
              </a:spcBef>
              <a:spcAft>
                <a:spcPts val="0"/>
              </a:spcAft>
              <a:buClr>
                <a:schemeClr val="accent2"/>
              </a:buClr>
              <a:buSzPts val="1100"/>
              <a:buChar char="●"/>
              <a:defRPr>
                <a:solidFill>
                  <a:schemeClr val="accent2"/>
                </a:solidFill>
              </a:defRPr>
            </a:lvl4pPr>
            <a:lvl5pPr marL="2286000" lvl="4" indent="-298450" rtl="0">
              <a:spcBef>
                <a:spcPts val="1600"/>
              </a:spcBef>
              <a:spcAft>
                <a:spcPts val="0"/>
              </a:spcAft>
              <a:buClr>
                <a:schemeClr val="accent2"/>
              </a:buClr>
              <a:buSzPts val="1100"/>
              <a:buChar char="○"/>
              <a:defRPr>
                <a:solidFill>
                  <a:schemeClr val="accent2"/>
                </a:solidFill>
              </a:defRPr>
            </a:lvl5pPr>
            <a:lvl6pPr marL="2743200" lvl="5" indent="-298450" rtl="0">
              <a:spcBef>
                <a:spcPts val="1600"/>
              </a:spcBef>
              <a:spcAft>
                <a:spcPts val="0"/>
              </a:spcAft>
              <a:buClr>
                <a:schemeClr val="accent2"/>
              </a:buClr>
              <a:buSzPts val="1100"/>
              <a:buChar char="■"/>
              <a:defRPr>
                <a:solidFill>
                  <a:schemeClr val="accent2"/>
                </a:solidFill>
              </a:defRPr>
            </a:lvl6pPr>
            <a:lvl7pPr marL="3200400" lvl="6" indent="-298450" rtl="0">
              <a:spcBef>
                <a:spcPts val="1600"/>
              </a:spcBef>
              <a:spcAft>
                <a:spcPts val="0"/>
              </a:spcAft>
              <a:buClr>
                <a:schemeClr val="accent2"/>
              </a:buClr>
              <a:buSzPts val="1100"/>
              <a:buChar char="●"/>
              <a:defRPr>
                <a:solidFill>
                  <a:schemeClr val="accent2"/>
                </a:solidFill>
              </a:defRPr>
            </a:lvl7pPr>
            <a:lvl8pPr marL="3657600" lvl="7" indent="-298450" rtl="0">
              <a:spcBef>
                <a:spcPts val="1600"/>
              </a:spcBef>
              <a:spcAft>
                <a:spcPts val="0"/>
              </a:spcAft>
              <a:buClr>
                <a:schemeClr val="accent2"/>
              </a:buClr>
              <a:buSzPts val="1100"/>
              <a:buChar char="○"/>
              <a:defRPr>
                <a:solidFill>
                  <a:schemeClr val="accent2"/>
                </a:solidFill>
              </a:defRPr>
            </a:lvl8pPr>
            <a:lvl9pPr marL="4114800" lvl="8" indent="-298450" rtl="0">
              <a:spcBef>
                <a:spcPts val="1600"/>
              </a:spcBef>
              <a:spcAft>
                <a:spcPts val="1600"/>
              </a:spcAft>
              <a:buClr>
                <a:schemeClr val="accent2"/>
              </a:buClr>
              <a:buSzPts val="1100"/>
              <a:buChar char="■"/>
              <a:defRPr>
                <a:solidFill>
                  <a:schemeClr val="accent2"/>
                </a:solidFill>
              </a:defRPr>
            </a:lvl9pPr>
          </a:lstStyle>
          <a:p>
            <a:endParaRPr/>
          </a:p>
        </p:txBody>
      </p:sp>
      <p:sp>
        <p:nvSpPr>
          <p:cNvPr id="139" name="Google Shape;139;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0"/>
        <p:cNvGrpSpPr/>
        <p:nvPr/>
      </p:nvGrpSpPr>
      <p:grpSpPr>
        <a:xfrm>
          <a:off x="0" y="0"/>
          <a:ext cx="0" cy="0"/>
          <a:chOff x="0" y="0"/>
          <a:chExt cx="0" cy="0"/>
        </a:xfrm>
      </p:grpSpPr>
      <p:sp>
        <p:nvSpPr>
          <p:cNvPr id="141" name="Google Shape;141;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ctivity 1">
  <p:cSld name="AUTOLAYOUT_1_1">
    <p:bg>
      <p:bgPr>
        <a:solidFill>
          <a:srgbClr val="FFFFFF"/>
        </a:solidFill>
        <a:effectLst/>
      </p:bgPr>
    </p:bg>
    <p:spTree>
      <p:nvGrpSpPr>
        <p:cNvPr id="1" name="Shape 142"/>
        <p:cNvGrpSpPr/>
        <p:nvPr/>
      </p:nvGrpSpPr>
      <p:grpSpPr>
        <a:xfrm>
          <a:off x="0" y="0"/>
          <a:ext cx="0" cy="0"/>
          <a:chOff x="0" y="0"/>
          <a:chExt cx="0" cy="0"/>
        </a:xfrm>
      </p:grpSpPr>
      <p:sp>
        <p:nvSpPr>
          <p:cNvPr id="143" name="Google Shape;143;p28"/>
          <p:cNvSpPr/>
          <p:nvPr/>
        </p:nvSpPr>
        <p:spPr>
          <a:xfrm>
            <a:off x="0" y="0"/>
            <a:ext cx="9144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8"/>
          <p:cNvSpPr txBox="1">
            <a:spLocks noGrp="1"/>
          </p:cNvSpPr>
          <p:nvPr>
            <p:ph type="body" idx="1"/>
          </p:nvPr>
        </p:nvSpPr>
        <p:spPr>
          <a:xfrm>
            <a:off x="65250" y="731625"/>
            <a:ext cx="8955900" cy="1146600"/>
          </a:xfrm>
          <a:prstGeom prst="rect">
            <a:avLst/>
          </a:prstGeom>
          <a:noFill/>
        </p:spPr>
        <p:txBody>
          <a:bodyPr spcFirstLastPara="1" wrap="square" lIns="91425" tIns="91425" rIns="91425" bIns="91425" anchor="t" anchorCtr="0">
            <a:spAutoFit/>
          </a:bodyPr>
          <a:lstStyle>
            <a:lvl1pPr marL="457200" lvl="0" indent="-330200" algn="l" rtl="0">
              <a:lnSpc>
                <a:spcPct val="115000"/>
              </a:lnSpc>
              <a:spcBef>
                <a:spcPts val="0"/>
              </a:spcBef>
              <a:spcAft>
                <a:spcPts val="0"/>
              </a:spcAft>
              <a:buClr>
                <a:schemeClr val="dk2"/>
              </a:buClr>
              <a:buSzPts val="1600"/>
              <a:buChar char="●"/>
              <a:defRPr sz="1600">
                <a:solidFill>
                  <a:schemeClr val="dk2"/>
                </a:solidFill>
              </a:defRPr>
            </a:lvl1pPr>
            <a:lvl2pPr marL="914400" lvl="1" indent="-298450" algn="l" rtl="0">
              <a:lnSpc>
                <a:spcPct val="115000"/>
              </a:lnSpc>
              <a:spcBef>
                <a:spcPts val="1600"/>
              </a:spcBef>
              <a:spcAft>
                <a:spcPts val="0"/>
              </a:spcAft>
              <a:buClr>
                <a:schemeClr val="dk2"/>
              </a:buClr>
              <a:buSzPts val="1100"/>
              <a:buChar char="○"/>
              <a:defRPr sz="1400">
                <a:solidFill>
                  <a:schemeClr val="dk2"/>
                </a:solidFill>
              </a:defRPr>
            </a:lvl2pPr>
            <a:lvl3pPr marL="1371600" lvl="2" indent="-298450" algn="l" rtl="0">
              <a:lnSpc>
                <a:spcPct val="115000"/>
              </a:lnSpc>
              <a:spcBef>
                <a:spcPts val="1600"/>
              </a:spcBef>
              <a:spcAft>
                <a:spcPts val="0"/>
              </a:spcAft>
              <a:buClr>
                <a:schemeClr val="dk2"/>
              </a:buClr>
              <a:buSzPts val="1100"/>
              <a:buChar char="■"/>
              <a:defRPr sz="1400">
                <a:solidFill>
                  <a:schemeClr val="dk2"/>
                </a:solidFill>
              </a:defRPr>
            </a:lvl3pPr>
            <a:lvl4pPr marL="1828800" lvl="3" indent="-298450" algn="l" rtl="0">
              <a:lnSpc>
                <a:spcPct val="115000"/>
              </a:lnSpc>
              <a:spcBef>
                <a:spcPts val="1600"/>
              </a:spcBef>
              <a:spcAft>
                <a:spcPts val="0"/>
              </a:spcAft>
              <a:buClr>
                <a:schemeClr val="dk2"/>
              </a:buClr>
              <a:buSzPts val="1100"/>
              <a:buChar char="●"/>
              <a:defRPr sz="1400">
                <a:solidFill>
                  <a:schemeClr val="dk2"/>
                </a:solidFill>
              </a:defRPr>
            </a:lvl4pPr>
            <a:lvl5pPr marL="2286000" lvl="4" indent="-298450" algn="l" rtl="0">
              <a:lnSpc>
                <a:spcPct val="115000"/>
              </a:lnSpc>
              <a:spcBef>
                <a:spcPts val="1600"/>
              </a:spcBef>
              <a:spcAft>
                <a:spcPts val="0"/>
              </a:spcAft>
              <a:buClr>
                <a:schemeClr val="dk2"/>
              </a:buClr>
              <a:buSzPts val="1100"/>
              <a:buChar char="○"/>
              <a:defRPr sz="1400">
                <a:solidFill>
                  <a:schemeClr val="dk2"/>
                </a:solidFill>
              </a:defRPr>
            </a:lvl5pPr>
            <a:lvl6pPr marL="2743200" lvl="5" indent="-298450" algn="l" rtl="0">
              <a:lnSpc>
                <a:spcPct val="115000"/>
              </a:lnSpc>
              <a:spcBef>
                <a:spcPts val="1600"/>
              </a:spcBef>
              <a:spcAft>
                <a:spcPts val="0"/>
              </a:spcAft>
              <a:buClr>
                <a:schemeClr val="dk2"/>
              </a:buClr>
              <a:buSzPts val="1100"/>
              <a:buChar char="■"/>
              <a:defRPr sz="1400">
                <a:solidFill>
                  <a:schemeClr val="dk2"/>
                </a:solidFill>
              </a:defRPr>
            </a:lvl6pPr>
            <a:lvl7pPr marL="3200400" lvl="6" indent="-298450" algn="l" rtl="0">
              <a:lnSpc>
                <a:spcPct val="115000"/>
              </a:lnSpc>
              <a:spcBef>
                <a:spcPts val="1600"/>
              </a:spcBef>
              <a:spcAft>
                <a:spcPts val="0"/>
              </a:spcAft>
              <a:buClr>
                <a:schemeClr val="dk2"/>
              </a:buClr>
              <a:buSzPts val="1100"/>
              <a:buChar char="●"/>
              <a:defRPr sz="1400">
                <a:solidFill>
                  <a:schemeClr val="dk2"/>
                </a:solidFill>
              </a:defRPr>
            </a:lvl7pPr>
            <a:lvl8pPr marL="3657600" lvl="7" indent="-298450" algn="l" rtl="0">
              <a:lnSpc>
                <a:spcPct val="115000"/>
              </a:lnSpc>
              <a:spcBef>
                <a:spcPts val="1600"/>
              </a:spcBef>
              <a:spcAft>
                <a:spcPts val="0"/>
              </a:spcAft>
              <a:buClr>
                <a:schemeClr val="dk2"/>
              </a:buClr>
              <a:buSzPts val="1100"/>
              <a:buChar char="○"/>
              <a:defRPr sz="1400">
                <a:solidFill>
                  <a:schemeClr val="dk2"/>
                </a:solidFill>
              </a:defRPr>
            </a:lvl8pPr>
            <a:lvl9pPr marL="4114800" lvl="8" indent="-298450" algn="l" rtl="0">
              <a:lnSpc>
                <a:spcPct val="115000"/>
              </a:lnSpc>
              <a:spcBef>
                <a:spcPts val="1600"/>
              </a:spcBef>
              <a:spcAft>
                <a:spcPts val="1600"/>
              </a:spcAft>
              <a:buClr>
                <a:schemeClr val="dk2"/>
              </a:buClr>
              <a:buSzPts val="1100"/>
              <a:buChar char="■"/>
              <a:defRPr sz="1400">
                <a:solidFill>
                  <a:schemeClr val="dk2"/>
                </a:solidFill>
              </a:defRPr>
            </a:lvl9pPr>
          </a:lstStyle>
          <a:p>
            <a:endParaRPr/>
          </a:p>
        </p:txBody>
      </p:sp>
      <p:sp>
        <p:nvSpPr>
          <p:cNvPr id="145" name="Google Shape;145;p28"/>
          <p:cNvSpPr txBox="1">
            <a:spLocks noGrp="1"/>
          </p:cNvSpPr>
          <p:nvPr>
            <p:ph type="sldNum" idx="12"/>
          </p:nvPr>
        </p:nvSpPr>
        <p:spPr>
          <a:xfrm>
            <a:off x="8472458" y="4663217"/>
            <a:ext cx="548700" cy="393600"/>
          </a:xfrm>
          <a:prstGeom prst="rect">
            <a:avLst/>
          </a:prstGeom>
          <a:noFill/>
        </p:spPr>
        <p:txBody>
          <a:bodyPr spcFirstLastPara="1" wrap="square" lIns="91425" tIns="91425" rIns="91425" bIns="91425" anchor="ctr" anchorCtr="0">
            <a:noAutofit/>
          </a:bodyPr>
          <a:lstStyle>
            <a:lvl1pPr lvl="0" algn="r" rtl="0">
              <a:lnSpc>
                <a:spcPct val="100000"/>
              </a:lnSpc>
              <a:spcAft>
                <a:spcPts val="0"/>
              </a:spcAft>
              <a:buNone/>
              <a:defRPr sz="1000">
                <a:solidFill>
                  <a:schemeClr val="dk2"/>
                </a:solidFill>
              </a:defRPr>
            </a:lvl1pPr>
            <a:lvl2pPr lvl="1" algn="r" rtl="0">
              <a:lnSpc>
                <a:spcPct val="100000"/>
              </a:lnSpc>
              <a:spcAft>
                <a:spcPts val="0"/>
              </a:spcAft>
              <a:buNone/>
              <a:defRPr sz="1000">
                <a:solidFill>
                  <a:schemeClr val="dk2"/>
                </a:solidFill>
              </a:defRPr>
            </a:lvl2pPr>
            <a:lvl3pPr lvl="2" algn="r" rtl="0">
              <a:lnSpc>
                <a:spcPct val="100000"/>
              </a:lnSpc>
              <a:spcAft>
                <a:spcPts val="0"/>
              </a:spcAft>
              <a:buNone/>
              <a:defRPr sz="1000">
                <a:solidFill>
                  <a:schemeClr val="dk2"/>
                </a:solidFill>
              </a:defRPr>
            </a:lvl3pPr>
            <a:lvl4pPr lvl="3" algn="r" rtl="0">
              <a:lnSpc>
                <a:spcPct val="100000"/>
              </a:lnSpc>
              <a:spcAft>
                <a:spcPts val="0"/>
              </a:spcAft>
              <a:buNone/>
              <a:defRPr sz="1000">
                <a:solidFill>
                  <a:schemeClr val="dk2"/>
                </a:solidFill>
              </a:defRPr>
            </a:lvl4pPr>
            <a:lvl5pPr lvl="4" algn="r" rtl="0">
              <a:lnSpc>
                <a:spcPct val="100000"/>
              </a:lnSpc>
              <a:spcAft>
                <a:spcPts val="0"/>
              </a:spcAft>
              <a:buNone/>
              <a:defRPr sz="1000">
                <a:solidFill>
                  <a:schemeClr val="dk2"/>
                </a:solidFill>
              </a:defRPr>
            </a:lvl5pPr>
            <a:lvl6pPr lvl="5" algn="r" rtl="0">
              <a:lnSpc>
                <a:spcPct val="100000"/>
              </a:lnSpc>
              <a:spcAft>
                <a:spcPts val="0"/>
              </a:spcAft>
              <a:buNone/>
              <a:defRPr sz="1000">
                <a:solidFill>
                  <a:schemeClr val="dk2"/>
                </a:solidFill>
              </a:defRPr>
            </a:lvl6pPr>
            <a:lvl7pPr lvl="6" algn="r" rtl="0">
              <a:lnSpc>
                <a:spcPct val="100000"/>
              </a:lnSpc>
              <a:spcAft>
                <a:spcPts val="0"/>
              </a:spcAft>
              <a:buNone/>
              <a:defRPr sz="1000">
                <a:solidFill>
                  <a:schemeClr val="dk2"/>
                </a:solidFill>
              </a:defRPr>
            </a:lvl7pPr>
            <a:lvl8pPr lvl="7" algn="r" rtl="0">
              <a:lnSpc>
                <a:spcPct val="100000"/>
              </a:lnSpc>
              <a:spcAft>
                <a:spcPts val="0"/>
              </a:spcAft>
              <a:buNone/>
              <a:defRPr sz="1000">
                <a:solidFill>
                  <a:schemeClr val="dk2"/>
                </a:solidFill>
              </a:defRPr>
            </a:lvl8pPr>
            <a:lvl9pPr lvl="8" algn="r" rtl="0">
              <a:lnSpc>
                <a:spcPct val="100000"/>
              </a:lnSpc>
              <a:spcAft>
                <a:spcPts val="0"/>
              </a:spcAft>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146" name="Google Shape;146;p28"/>
          <p:cNvSpPr txBox="1">
            <a:spLocks noGrp="1"/>
          </p:cNvSpPr>
          <p:nvPr>
            <p:ph type="body" idx="2"/>
          </p:nvPr>
        </p:nvSpPr>
        <p:spPr>
          <a:xfrm>
            <a:off x="4420400" y="2013125"/>
            <a:ext cx="4520700" cy="2828700"/>
          </a:xfrm>
          <a:prstGeom prst="rect">
            <a:avLst/>
          </a:prstGeom>
        </p:spPr>
        <p:txBody>
          <a:bodyPr spcFirstLastPara="1" wrap="square" lIns="91425" tIns="91425" rIns="91425" bIns="91425" anchor="t" anchorCtr="0">
            <a:sp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47" name="Google Shape;147;p28"/>
          <p:cNvSpPr/>
          <p:nvPr/>
        </p:nvSpPr>
        <p:spPr>
          <a:xfrm>
            <a:off x="1365175" y="0"/>
            <a:ext cx="7778700" cy="645600"/>
          </a:xfrm>
          <a:prstGeom prst="rect">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8"/>
          <p:cNvSpPr txBox="1">
            <a:spLocks noGrp="1"/>
          </p:cNvSpPr>
          <p:nvPr>
            <p:ph type="title"/>
          </p:nvPr>
        </p:nvSpPr>
        <p:spPr>
          <a:xfrm>
            <a:off x="1436850" y="100"/>
            <a:ext cx="7642500" cy="596700"/>
          </a:xfrm>
          <a:prstGeom prst="rect">
            <a:avLst/>
          </a:prstGeom>
          <a:noFill/>
        </p:spPr>
        <p:txBody>
          <a:bodyPr spcFirstLastPara="1" wrap="square" lIns="91425" tIns="91425" rIns="91425" bIns="91425" anchor="ctr" anchorCtr="0">
            <a:spAutoFit/>
          </a:bodyPr>
          <a:lstStyle>
            <a:lvl1pPr lvl="0" algn="l"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49" name="Google Shape;149;p28"/>
          <p:cNvSpPr/>
          <p:nvPr/>
        </p:nvSpPr>
        <p:spPr>
          <a:xfrm>
            <a:off x="0" y="0"/>
            <a:ext cx="1365300" cy="645600"/>
          </a:xfrm>
          <a:prstGeom prst="rect">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8"/>
          <p:cNvSpPr txBox="1">
            <a:spLocks noGrp="1"/>
          </p:cNvSpPr>
          <p:nvPr>
            <p:ph type="title" idx="3"/>
          </p:nvPr>
        </p:nvSpPr>
        <p:spPr>
          <a:xfrm>
            <a:off x="65250" y="100"/>
            <a:ext cx="1253700" cy="596700"/>
          </a:xfrm>
          <a:prstGeom prst="rect">
            <a:avLst/>
          </a:prstGeom>
          <a:noFill/>
        </p:spPr>
        <p:txBody>
          <a:bodyPr spcFirstLastPara="1" wrap="square" lIns="91425" tIns="91425" rIns="91425" bIns="91425" anchor="ctr" anchorCtr="0">
            <a:spAutoFit/>
          </a:bodyPr>
          <a:lstStyle>
            <a:lvl1pPr lvl="0" algn="r" rtl="0">
              <a:lnSpc>
                <a:spcPct val="100000"/>
              </a:lnSpc>
              <a:spcBef>
                <a:spcPts val="0"/>
              </a:spcBef>
              <a:spcAft>
                <a:spcPts val="0"/>
              </a:spcAft>
              <a:buClr>
                <a:srgbClr val="FFFFFF"/>
              </a:buClr>
              <a:buSzPts val="3000"/>
              <a:buNone/>
              <a:defRPr sz="3000">
                <a:solidFill>
                  <a:srgbClr val="FFFFFF"/>
                </a:solidFill>
              </a:defRPr>
            </a:lvl1pPr>
            <a:lvl2pPr lvl="1" algn="l" rtl="0">
              <a:lnSpc>
                <a:spcPct val="100000"/>
              </a:lnSpc>
              <a:spcBef>
                <a:spcPts val="0"/>
              </a:spcBef>
              <a:spcAft>
                <a:spcPts val="0"/>
              </a:spcAft>
              <a:buClr>
                <a:schemeClr val="dk1"/>
              </a:buClr>
              <a:buSzPts val="3600"/>
              <a:buNone/>
              <a:defRPr sz="3600" b="1">
                <a:solidFill>
                  <a:schemeClr val="dk1"/>
                </a:solidFill>
              </a:defRPr>
            </a:lvl2pPr>
            <a:lvl3pPr lvl="2" algn="l" rtl="0">
              <a:lnSpc>
                <a:spcPct val="100000"/>
              </a:lnSpc>
              <a:spcBef>
                <a:spcPts val="0"/>
              </a:spcBef>
              <a:spcAft>
                <a:spcPts val="0"/>
              </a:spcAft>
              <a:buClr>
                <a:schemeClr val="dk1"/>
              </a:buClr>
              <a:buSzPts val="3600"/>
              <a:buNone/>
              <a:defRPr sz="3600" b="1">
                <a:solidFill>
                  <a:schemeClr val="dk1"/>
                </a:solidFill>
              </a:defRPr>
            </a:lvl3pPr>
            <a:lvl4pPr lvl="3" algn="l" rtl="0">
              <a:lnSpc>
                <a:spcPct val="100000"/>
              </a:lnSpc>
              <a:spcBef>
                <a:spcPts val="0"/>
              </a:spcBef>
              <a:spcAft>
                <a:spcPts val="0"/>
              </a:spcAft>
              <a:buClr>
                <a:schemeClr val="dk1"/>
              </a:buClr>
              <a:buSzPts val="3600"/>
              <a:buNone/>
              <a:defRPr sz="3600" b="1">
                <a:solidFill>
                  <a:schemeClr val="dk1"/>
                </a:solidFill>
              </a:defRPr>
            </a:lvl4pPr>
            <a:lvl5pPr lvl="4" algn="l" rtl="0">
              <a:lnSpc>
                <a:spcPct val="100000"/>
              </a:lnSpc>
              <a:spcBef>
                <a:spcPts val="0"/>
              </a:spcBef>
              <a:spcAft>
                <a:spcPts val="0"/>
              </a:spcAft>
              <a:buClr>
                <a:schemeClr val="dk1"/>
              </a:buClr>
              <a:buSzPts val="3600"/>
              <a:buNone/>
              <a:defRPr sz="3600" b="1">
                <a:solidFill>
                  <a:schemeClr val="dk1"/>
                </a:solidFill>
              </a:defRPr>
            </a:lvl5pPr>
            <a:lvl6pPr lvl="5" algn="l" rtl="0">
              <a:lnSpc>
                <a:spcPct val="100000"/>
              </a:lnSpc>
              <a:spcBef>
                <a:spcPts val="0"/>
              </a:spcBef>
              <a:spcAft>
                <a:spcPts val="0"/>
              </a:spcAft>
              <a:buClr>
                <a:schemeClr val="dk1"/>
              </a:buClr>
              <a:buSzPts val="3600"/>
              <a:buNone/>
              <a:defRPr sz="3600" b="1">
                <a:solidFill>
                  <a:schemeClr val="dk1"/>
                </a:solidFill>
              </a:defRPr>
            </a:lvl6pPr>
            <a:lvl7pPr lvl="6" algn="l" rtl="0">
              <a:lnSpc>
                <a:spcPct val="100000"/>
              </a:lnSpc>
              <a:spcBef>
                <a:spcPts val="0"/>
              </a:spcBef>
              <a:spcAft>
                <a:spcPts val="0"/>
              </a:spcAft>
              <a:buClr>
                <a:schemeClr val="dk1"/>
              </a:buClr>
              <a:buSzPts val="3600"/>
              <a:buNone/>
              <a:defRPr sz="3600" b="1">
                <a:solidFill>
                  <a:schemeClr val="dk1"/>
                </a:solidFill>
              </a:defRPr>
            </a:lvl7pPr>
            <a:lvl8pPr lvl="7" algn="l" rtl="0">
              <a:lnSpc>
                <a:spcPct val="100000"/>
              </a:lnSpc>
              <a:spcBef>
                <a:spcPts val="0"/>
              </a:spcBef>
              <a:spcAft>
                <a:spcPts val="0"/>
              </a:spcAft>
              <a:buClr>
                <a:schemeClr val="dk1"/>
              </a:buClr>
              <a:buSzPts val="3600"/>
              <a:buNone/>
              <a:defRPr sz="3600" b="1">
                <a:solidFill>
                  <a:schemeClr val="dk1"/>
                </a:solidFill>
              </a:defRPr>
            </a:lvl8pPr>
            <a:lvl9pPr lvl="8" algn="l" rtl="0">
              <a:lnSpc>
                <a:spcPct val="100000"/>
              </a:lnSpc>
              <a:spcBef>
                <a:spcPts val="0"/>
              </a:spcBef>
              <a:spcAft>
                <a:spcPts val="0"/>
              </a:spcAft>
              <a:buClr>
                <a:schemeClr val="dk1"/>
              </a:buClr>
              <a:buSzPts val="3600"/>
              <a:buNone/>
              <a:defRPr sz="3600" b="1">
                <a:solidFill>
                  <a:schemeClr val="dk1"/>
                </a:solidFill>
              </a:defRPr>
            </a:lvl9pPr>
          </a:lstStyle>
          <a:p>
            <a:endParaRPr/>
          </a:p>
        </p:txBody>
      </p:sp>
      <p:sp>
        <p:nvSpPr>
          <p:cNvPr id="151" name="Google Shape;151;p28"/>
          <p:cNvSpPr txBox="1">
            <a:spLocks noGrp="1"/>
          </p:cNvSpPr>
          <p:nvPr>
            <p:ph type="body" idx="4"/>
          </p:nvPr>
        </p:nvSpPr>
        <p:spPr>
          <a:xfrm>
            <a:off x="141600" y="4156900"/>
            <a:ext cx="3023700" cy="478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lvl1pPr marL="457200" lvl="0"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1pPr>
            <a:lvl2pPr marL="914400" lvl="1"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2pPr>
            <a:lvl3pPr marL="1371600" lvl="2"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3pPr>
            <a:lvl4pPr marL="1828800" lvl="3"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4pPr>
            <a:lvl5pPr marL="2286000" lvl="4"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5pPr>
            <a:lvl6pPr marL="2743200" lvl="5"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6pPr>
            <a:lvl7pPr marL="3200400" lvl="6"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7pPr>
            <a:lvl8pPr marL="3657600" lvl="7"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8pPr>
            <a:lvl9pPr marL="4114800" lvl="8" indent="-304800" algn="l" rtl="0">
              <a:lnSpc>
                <a:spcPct val="100000"/>
              </a:lnSpc>
              <a:spcBef>
                <a:spcPts val="0"/>
              </a:spcBef>
              <a:spcAft>
                <a:spcPts val="0"/>
              </a:spcAft>
              <a:buClr>
                <a:srgbClr val="000000"/>
              </a:buClr>
              <a:buSzPts val="1200"/>
              <a:buFont typeface="Arial"/>
              <a:buChar char="■"/>
              <a:defRPr sz="1200">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52"/>
        <p:cNvGrpSpPr/>
        <p:nvPr/>
      </p:nvGrpSpPr>
      <p:grpSpPr>
        <a:xfrm>
          <a:off x="0" y="0"/>
          <a:ext cx="0" cy="0"/>
          <a:chOff x="0" y="0"/>
          <a:chExt cx="0" cy="0"/>
        </a:xfrm>
      </p:grpSpPr>
      <p:sp>
        <p:nvSpPr>
          <p:cNvPr id="153" name="Google Shape;153;p29"/>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9"/>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5" name="Google Shape;155;p29"/>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56" name="Google Shape;156;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2">
  <p:cSld name="TITLE_AND_BODY_2">
    <p:spTree>
      <p:nvGrpSpPr>
        <p:cNvPr id="1" name="Shape 157"/>
        <p:cNvGrpSpPr/>
        <p:nvPr/>
      </p:nvGrpSpPr>
      <p:grpSpPr>
        <a:xfrm>
          <a:off x="0" y="0"/>
          <a:ext cx="0" cy="0"/>
          <a:chOff x="0" y="0"/>
          <a:chExt cx="0" cy="0"/>
        </a:xfrm>
      </p:grpSpPr>
      <p:sp>
        <p:nvSpPr>
          <p:cNvPr id="158" name="Google Shape;158;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59" name="Google Shape;159;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0" name="Google Shape;160;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body 3">
  <p:cSld name="TITLE_AND_BODY_3">
    <p:spTree>
      <p:nvGrpSpPr>
        <p:cNvPr id="1" name="Shape 161"/>
        <p:cNvGrpSpPr/>
        <p:nvPr/>
      </p:nvGrpSpPr>
      <p:grpSpPr>
        <a:xfrm>
          <a:off x="0" y="0"/>
          <a:ext cx="0" cy="0"/>
          <a:chOff x="0" y="0"/>
          <a:chExt cx="0" cy="0"/>
        </a:xfrm>
      </p:grpSpPr>
      <p:sp>
        <p:nvSpPr>
          <p:cNvPr id="162" name="Google Shape;162;p31"/>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11150" rtl="0">
              <a:spcBef>
                <a:spcPts val="0"/>
              </a:spcBef>
              <a:spcAft>
                <a:spcPts val="0"/>
              </a:spcAft>
              <a:buSzPts val="1300"/>
              <a:buChar char="●"/>
              <a:defRPr/>
            </a:lvl1pPr>
            <a:lvl2pPr marL="914400" lvl="1" indent="-298450" rtl="0">
              <a:spcBef>
                <a:spcPts val="1600"/>
              </a:spcBef>
              <a:spcAft>
                <a:spcPts val="0"/>
              </a:spcAft>
              <a:buSzPts val="1100"/>
              <a:buChar char="○"/>
              <a:defRPr/>
            </a:lvl2pPr>
            <a:lvl3pPr marL="1371600" lvl="2" indent="-298450" rtl="0">
              <a:spcBef>
                <a:spcPts val="1600"/>
              </a:spcBef>
              <a:spcAft>
                <a:spcPts val="0"/>
              </a:spcAft>
              <a:buSzPts val="1100"/>
              <a:buChar char="■"/>
              <a:defRPr/>
            </a:lvl3pPr>
            <a:lvl4pPr marL="1828800" lvl="3" indent="-298450" rtl="0">
              <a:spcBef>
                <a:spcPts val="1600"/>
              </a:spcBef>
              <a:spcAft>
                <a:spcPts val="0"/>
              </a:spcAft>
              <a:buSzPts val="1100"/>
              <a:buChar char="●"/>
              <a:defRPr/>
            </a:lvl4pPr>
            <a:lvl5pPr marL="2286000" lvl="4" indent="-298450" rtl="0">
              <a:spcBef>
                <a:spcPts val="1600"/>
              </a:spcBef>
              <a:spcAft>
                <a:spcPts val="0"/>
              </a:spcAft>
              <a:buSzPts val="1100"/>
              <a:buChar char="○"/>
              <a:defRPr/>
            </a:lvl5pPr>
            <a:lvl6pPr marL="2743200" lvl="5" indent="-298450" rtl="0">
              <a:spcBef>
                <a:spcPts val="1600"/>
              </a:spcBef>
              <a:spcAft>
                <a:spcPts val="0"/>
              </a:spcAft>
              <a:buSzPts val="1100"/>
              <a:buChar char="■"/>
              <a:defRPr/>
            </a:lvl6pPr>
            <a:lvl7pPr marL="3200400" lvl="6" indent="-298450" rtl="0">
              <a:spcBef>
                <a:spcPts val="1600"/>
              </a:spcBef>
              <a:spcAft>
                <a:spcPts val="0"/>
              </a:spcAft>
              <a:buSzPts val="1100"/>
              <a:buChar char="●"/>
              <a:defRPr/>
            </a:lvl7pPr>
            <a:lvl8pPr marL="3657600" lvl="7" indent="-298450" rtl="0">
              <a:spcBef>
                <a:spcPts val="1600"/>
              </a:spcBef>
              <a:spcAft>
                <a:spcPts val="0"/>
              </a:spcAft>
              <a:buSzPts val="1100"/>
              <a:buChar char="○"/>
              <a:defRPr/>
            </a:lvl8pPr>
            <a:lvl9pPr marL="4114800" lvl="8" indent="-298450" rtl="0">
              <a:spcBef>
                <a:spcPts val="1600"/>
              </a:spcBef>
              <a:spcAft>
                <a:spcPts val="1600"/>
              </a:spcAft>
              <a:buSzPts val="1100"/>
              <a:buChar char="■"/>
              <a:defRPr/>
            </a:lvl9pPr>
          </a:lstStyle>
          <a:p>
            <a:endParaRPr/>
          </a:p>
        </p:txBody>
      </p:sp>
      <p:sp>
        <p:nvSpPr>
          <p:cNvPr id="163" name="Google Shape;163;p31"/>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1"/>
          <p:cNvSpPr txBox="1">
            <a:spLocks noGrp="1"/>
          </p:cNvSpPr>
          <p:nvPr>
            <p:ph type="title"/>
          </p:nvPr>
        </p:nvSpPr>
        <p:spPr>
          <a:xfrm>
            <a:off x="311700" y="315925"/>
            <a:ext cx="8520600" cy="8313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5" name="Google Shape;165;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theme" Target="../theme/theme2.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rt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85" name="Google Shape;85;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rtl="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rtl="0">
              <a:lnSpc>
                <a:spcPct val="115000"/>
              </a:lnSpc>
              <a:spcBef>
                <a:spcPts val="160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rtl="0">
              <a:lnSpc>
                <a:spcPct val="115000"/>
              </a:lnSpc>
              <a:spcBef>
                <a:spcPts val="1600"/>
              </a:spcBef>
              <a:spcAft>
                <a:spcPts val="160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6" name="Google Shape;86;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2"/>
                </a:solidFill>
                <a:latin typeface="Roboto"/>
                <a:ea typeface="Roboto"/>
                <a:cs typeface="Roboto"/>
                <a:sym typeface="Roboto"/>
              </a:defRPr>
            </a:lvl1pPr>
            <a:lvl2pPr lvl="1" algn="r" rtl="0">
              <a:buNone/>
              <a:defRPr sz="1000">
                <a:solidFill>
                  <a:schemeClr val="dk2"/>
                </a:solidFill>
                <a:latin typeface="Roboto"/>
                <a:ea typeface="Roboto"/>
                <a:cs typeface="Roboto"/>
                <a:sym typeface="Roboto"/>
              </a:defRPr>
            </a:lvl2pPr>
            <a:lvl3pPr lvl="2" algn="r" rtl="0">
              <a:buNone/>
              <a:defRPr sz="1000">
                <a:solidFill>
                  <a:schemeClr val="dk2"/>
                </a:solidFill>
                <a:latin typeface="Roboto"/>
                <a:ea typeface="Roboto"/>
                <a:cs typeface="Roboto"/>
                <a:sym typeface="Roboto"/>
              </a:defRPr>
            </a:lvl3pPr>
            <a:lvl4pPr lvl="3" algn="r" rtl="0">
              <a:buNone/>
              <a:defRPr sz="1000">
                <a:solidFill>
                  <a:schemeClr val="dk2"/>
                </a:solidFill>
                <a:latin typeface="Roboto"/>
                <a:ea typeface="Roboto"/>
                <a:cs typeface="Roboto"/>
                <a:sym typeface="Roboto"/>
              </a:defRPr>
            </a:lvl4pPr>
            <a:lvl5pPr lvl="4" algn="r" rtl="0">
              <a:buNone/>
              <a:defRPr sz="1000">
                <a:solidFill>
                  <a:schemeClr val="dk2"/>
                </a:solidFill>
                <a:latin typeface="Roboto"/>
                <a:ea typeface="Roboto"/>
                <a:cs typeface="Roboto"/>
                <a:sym typeface="Roboto"/>
              </a:defRPr>
            </a:lvl5pPr>
            <a:lvl6pPr lvl="5" algn="r" rtl="0">
              <a:buNone/>
              <a:defRPr sz="1000">
                <a:solidFill>
                  <a:schemeClr val="dk2"/>
                </a:solidFill>
                <a:latin typeface="Roboto"/>
                <a:ea typeface="Roboto"/>
                <a:cs typeface="Roboto"/>
                <a:sym typeface="Roboto"/>
              </a:defRPr>
            </a:lvl6pPr>
            <a:lvl7pPr lvl="6" algn="r" rtl="0">
              <a:buNone/>
              <a:defRPr sz="1000">
                <a:solidFill>
                  <a:schemeClr val="dk2"/>
                </a:solidFill>
                <a:latin typeface="Roboto"/>
                <a:ea typeface="Roboto"/>
                <a:cs typeface="Roboto"/>
                <a:sym typeface="Roboto"/>
              </a:defRPr>
            </a:lvl7pPr>
            <a:lvl8pPr lvl="7" algn="r" rtl="0">
              <a:buNone/>
              <a:defRPr sz="1000">
                <a:solidFill>
                  <a:schemeClr val="dk2"/>
                </a:solidFill>
                <a:latin typeface="Roboto"/>
                <a:ea typeface="Roboto"/>
                <a:cs typeface="Roboto"/>
                <a:sym typeface="Roboto"/>
              </a:defRPr>
            </a:lvl8pPr>
            <a:lvl9pPr lvl="8" algn="r" rtl="0">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docs.oracle.com/en/java/javase/15/docs/api/java.base/java/lang/Thread.html"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hyperlink" Target="https://docs.oracle.com/en/java/javase/15/docs/api/java.base/java/lang/Runnable.html"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docs.oracle.com/en/java/javase/21/docs/api/java.base/java/util/concurrent/Executors.html#newCachedThreadPool()"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hyperlink" Target="https://docs.oracle.com/en/java/javase/21/docs/api/java.base/java/util/concurrent/Executors.html#newSingleThreadExecutor()" TargetMode="External"/><Relationship Id="rId4" Type="http://schemas.openxmlformats.org/officeDocument/2006/relationships/hyperlink" Target="https://docs.oracle.com/en/java/javase/21/docs/api/java.base/java/util/concurrent/Executors.html#newFixedThreadPool(int)"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5.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8.png"/><Relationship Id="rId7"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0.png"/><Relationship Id="rId4" Type="http://schemas.openxmlformats.org/officeDocument/2006/relationships/image" Target="../media/image13.png"/><Relationship Id="rId9"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26.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2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0.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0.xml"/></Relationships>
</file>

<file path=ppt/slides/_rels/slide34.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4.xml"/><Relationship Id="rId1" Type="http://schemas.openxmlformats.org/officeDocument/2006/relationships/slideLayout" Target="../slideLayouts/slideLayout26.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6.xml"/><Relationship Id="rId1" Type="http://schemas.openxmlformats.org/officeDocument/2006/relationships/slideLayout" Target="../slideLayouts/slideLayout26.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18.xml"/><Relationship Id="rId4" Type="http://schemas.openxmlformats.org/officeDocument/2006/relationships/image" Target="../media/image21.jp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19.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40.xml"/><Relationship Id="rId1" Type="http://schemas.openxmlformats.org/officeDocument/2006/relationships/slideLayout" Target="../slideLayouts/slideLayout20.xml"/><Relationship Id="rId6" Type="http://schemas.openxmlformats.org/officeDocument/2006/relationships/image" Target="../media/image27.png"/><Relationship Id="rId11" Type="http://schemas.openxmlformats.org/officeDocument/2006/relationships/image" Target="../media/image23.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3" Type="http://schemas.openxmlformats.org/officeDocument/2006/relationships/hyperlink" Target="https://adit.io/posts/2013-05-11-The-Dining-Philosophers-Problem-With-Ron-Swanson.html" TargetMode="External"/><Relationship Id="rId2" Type="http://schemas.openxmlformats.org/officeDocument/2006/relationships/notesSlide" Target="../notesSlides/notesSlide43.xml"/><Relationship Id="rId1" Type="http://schemas.openxmlformats.org/officeDocument/2006/relationships/slideLayout" Target="../slideLayouts/slideLayout17.xml"/><Relationship Id="rId5" Type="http://schemas.openxmlformats.org/officeDocument/2006/relationships/image" Target="../media/image34.png"/><Relationship Id="rId4" Type="http://schemas.openxmlformats.org/officeDocument/2006/relationships/image" Target="../media/image33.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9.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18.xml"/><Relationship Id="rId4" Type="http://schemas.openxmlformats.org/officeDocument/2006/relationships/image" Target="../media/image36.png"/></Relationships>
</file>

<file path=ppt/slides/_rels/slide4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7.xml"/><Relationship Id="rId1" Type="http://schemas.openxmlformats.org/officeDocument/2006/relationships/slideLayout" Target="../slideLayouts/slideLayout20.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38.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6.xml"/><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6.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0.xml"/><Relationship Id="rId1" Type="http://schemas.openxmlformats.org/officeDocument/2006/relationships/slideLayout" Target="../slideLayouts/slideLayout26.xml"/><Relationship Id="rId5" Type="http://schemas.openxmlformats.org/officeDocument/2006/relationships/image" Target="../media/image40.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26.xml"/><Relationship Id="rId5" Type="http://schemas.openxmlformats.org/officeDocument/2006/relationships/image" Target="../media/image40.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26.xml"/><Relationship Id="rId5" Type="http://schemas.openxmlformats.org/officeDocument/2006/relationships/image" Target="../media/image40.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3.xml"/><Relationship Id="rId1" Type="http://schemas.openxmlformats.org/officeDocument/2006/relationships/slideLayout" Target="../slideLayouts/slideLayout26.xml"/><Relationship Id="rId5" Type="http://schemas.openxmlformats.org/officeDocument/2006/relationships/image" Target="../media/image5.png"/><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4.xml"/><Relationship Id="rId1" Type="http://schemas.openxmlformats.org/officeDocument/2006/relationships/slideLayout" Target="../slideLayouts/slideLayout26.xml"/><Relationship Id="rId5" Type="http://schemas.openxmlformats.org/officeDocument/2006/relationships/image" Target="../media/image40.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6.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6.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2"/>
          <p:cNvSpPr txBox="1">
            <a:spLocks noGrp="1"/>
          </p:cNvSpPr>
          <p:nvPr>
            <p:ph type="ctrTitle"/>
          </p:nvPr>
        </p:nvSpPr>
        <p:spPr>
          <a:xfrm>
            <a:off x="311700" y="539725"/>
            <a:ext cx="8520600" cy="1215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GCIS-124</a:t>
            </a:r>
            <a:endParaRPr/>
          </a:p>
          <a:p>
            <a:pPr marL="0" lvl="0" indent="0" algn="l" rtl="0">
              <a:spcBef>
                <a:spcPts val="0"/>
              </a:spcBef>
              <a:spcAft>
                <a:spcPts val="0"/>
              </a:spcAft>
              <a:buNone/>
            </a:pPr>
            <a:r>
              <a:rPr lang="en" sz="3100"/>
              <a:t>Software Development &amp; Problem Solving</a:t>
            </a:r>
            <a:endParaRPr sz="3100"/>
          </a:p>
        </p:txBody>
      </p:sp>
      <p:sp>
        <p:nvSpPr>
          <p:cNvPr id="171" name="Google Shape;171;p32"/>
          <p:cNvSpPr txBox="1">
            <a:spLocks noGrp="1"/>
          </p:cNvSpPr>
          <p:nvPr>
            <p:ph type="subTitle" idx="1"/>
          </p:nvPr>
        </p:nvSpPr>
        <p:spPr>
          <a:xfrm>
            <a:off x="311700" y="1878550"/>
            <a:ext cx="4741200" cy="5850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600" i="1"/>
              <a:t>11: Thread Cooperation</a:t>
            </a:r>
            <a:endParaRPr sz="2600" i="1">
              <a:solidFill>
                <a:srgbClr val="FF0000"/>
              </a:solidFill>
            </a:endParaRPr>
          </a:p>
        </p:txBody>
      </p:sp>
      <p:grpSp>
        <p:nvGrpSpPr>
          <p:cNvPr id="172" name="Google Shape;172;p32"/>
          <p:cNvGrpSpPr/>
          <p:nvPr/>
        </p:nvGrpSpPr>
        <p:grpSpPr>
          <a:xfrm>
            <a:off x="5001999" y="4264475"/>
            <a:ext cx="3908400" cy="738300"/>
            <a:chOff x="5001999" y="4264475"/>
            <a:chExt cx="3908400" cy="738300"/>
          </a:xfrm>
        </p:grpSpPr>
        <p:sp>
          <p:nvSpPr>
            <p:cNvPr id="173" name="Google Shape;173;p32"/>
            <p:cNvSpPr/>
            <p:nvPr/>
          </p:nvSpPr>
          <p:spPr>
            <a:xfrm>
              <a:off x="5001999" y="4264475"/>
              <a:ext cx="3908400" cy="738300"/>
            </a:xfrm>
            <a:prstGeom prst="rect">
              <a:avLst/>
            </a:prstGeom>
            <a:solidFill>
              <a:srgbClr val="FFFFFF"/>
            </a:solidFill>
            <a:ln w="9525" cap="flat" cmpd="sng">
              <a:solidFill>
                <a:srgbClr val="626B73"/>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74" name="Google Shape;174;p32"/>
            <p:cNvPicPr preferRelativeResize="0"/>
            <p:nvPr/>
          </p:nvPicPr>
          <p:blipFill rotWithShape="1">
            <a:blip r:embed="rId3">
              <a:alphaModFix/>
            </a:blip>
            <a:srcRect/>
            <a:stretch/>
          </p:blipFill>
          <p:spPr>
            <a:xfrm>
              <a:off x="5088600" y="4363853"/>
              <a:ext cx="3725223" cy="544845"/>
            </a:xfrm>
            <a:prstGeom prst="rect">
              <a:avLst/>
            </a:prstGeom>
            <a:noFill/>
            <a:ln>
              <a:noFill/>
            </a:ln>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3"/>
          <p:cNvSpPr txBox="1">
            <a:spLocks noGrp="1"/>
          </p:cNvSpPr>
          <p:nvPr>
            <p:ph type="title"/>
          </p:nvPr>
        </p:nvSpPr>
        <p:spPr>
          <a:xfrm>
            <a:off x="235525" y="348525"/>
            <a:ext cx="37065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Thread Cooperation</a:t>
            </a:r>
            <a:endParaRPr/>
          </a:p>
        </p:txBody>
      </p:sp>
      <p:sp>
        <p:nvSpPr>
          <p:cNvPr id="180" name="Google Shape;180;p33"/>
          <p:cNvSpPr txBox="1">
            <a:spLocks noGrp="1"/>
          </p:cNvSpPr>
          <p:nvPr>
            <p:ph type="body" idx="1"/>
          </p:nvPr>
        </p:nvSpPr>
        <p:spPr>
          <a:xfrm>
            <a:off x="4460800" y="43725"/>
            <a:ext cx="4350300" cy="49824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Previously, we explored </a:t>
            </a:r>
            <a:r>
              <a:rPr lang="en" b="1" i="1" dirty="0">
                <a:solidFill>
                  <a:srgbClr val="FF0000"/>
                </a:solidFill>
              </a:rPr>
              <a:t>concurrent programming</a:t>
            </a:r>
            <a:r>
              <a:rPr lang="en" dirty="0"/>
              <a:t> in Java using </a:t>
            </a:r>
            <a:r>
              <a:rPr lang="en" b="1" i="1" dirty="0">
                <a:solidFill>
                  <a:srgbClr val="FF0000"/>
                </a:solidFill>
              </a:rPr>
              <a:t>threads</a:t>
            </a:r>
            <a:r>
              <a:rPr lang="en" dirty="0"/>
              <a:t>.</a:t>
            </a:r>
            <a:endParaRPr dirty="0"/>
          </a:p>
          <a:p>
            <a:pPr marL="457200" lvl="0" indent="-311150" algn="l" rtl="0">
              <a:spcBef>
                <a:spcPts val="1000"/>
              </a:spcBef>
              <a:spcAft>
                <a:spcPts val="0"/>
              </a:spcAft>
              <a:buSzPts val="1300"/>
              <a:buChar char="●"/>
            </a:pPr>
            <a:r>
              <a:rPr lang="en" dirty="0"/>
              <a:t>During this unit, we will continue to explore </a:t>
            </a:r>
            <a:r>
              <a:rPr lang="en" b="1" i="1" dirty="0">
                <a:solidFill>
                  <a:srgbClr val="FF0000"/>
                </a:solidFill>
                <a:highlight>
                  <a:srgbClr val="FFFF00"/>
                </a:highlight>
              </a:rPr>
              <a:t>multi-threaded programming</a:t>
            </a:r>
            <a:r>
              <a:rPr lang="en" dirty="0">
                <a:highlight>
                  <a:srgbClr val="FFFF00"/>
                </a:highlight>
              </a:rPr>
              <a:t> with a focus on </a:t>
            </a:r>
            <a:r>
              <a:rPr lang="en" b="1" i="1" dirty="0">
                <a:solidFill>
                  <a:srgbClr val="FF0000"/>
                </a:solidFill>
                <a:highlight>
                  <a:srgbClr val="FFFF00"/>
                </a:highlight>
              </a:rPr>
              <a:t>thread cooperation</a:t>
            </a:r>
            <a:r>
              <a:rPr lang="en" dirty="0">
                <a:highlight>
                  <a:srgbClr val="FFFF00"/>
                </a:highlight>
              </a:rPr>
              <a:t>.</a:t>
            </a:r>
            <a:endParaRPr dirty="0">
              <a:highlight>
                <a:srgbClr val="FFFF00"/>
              </a:highlight>
            </a:endParaRPr>
          </a:p>
          <a:p>
            <a:pPr marL="914400" lvl="1" indent="-298450" algn="l" rtl="0">
              <a:spcBef>
                <a:spcPts val="0"/>
              </a:spcBef>
              <a:spcAft>
                <a:spcPts val="0"/>
              </a:spcAft>
              <a:buSzPts val="1100"/>
              <a:buChar char="○"/>
            </a:pPr>
            <a:r>
              <a:rPr lang="en" dirty="0"/>
              <a:t>It is often the case that multiple threads </a:t>
            </a:r>
            <a:r>
              <a:rPr lang="en" b="1" i="1" dirty="0">
                <a:solidFill>
                  <a:srgbClr val="FF0000"/>
                </a:solidFill>
              </a:rPr>
              <a:t>work together</a:t>
            </a:r>
            <a:r>
              <a:rPr lang="en" dirty="0">
                <a:solidFill>
                  <a:srgbClr val="FF0000"/>
                </a:solidFill>
              </a:rPr>
              <a:t> </a:t>
            </a:r>
            <a:r>
              <a:rPr lang="en" dirty="0"/>
              <a:t>to complete a larger task.</a:t>
            </a:r>
            <a:endParaRPr dirty="0"/>
          </a:p>
          <a:p>
            <a:pPr marL="914400" lvl="1" indent="-298450" algn="l" rtl="0">
              <a:spcBef>
                <a:spcPts val="0"/>
              </a:spcBef>
              <a:spcAft>
                <a:spcPts val="0"/>
              </a:spcAft>
              <a:buSzPts val="1100"/>
              <a:buChar char="○"/>
            </a:pPr>
            <a:r>
              <a:rPr lang="en" dirty="0"/>
              <a:t>We will discuss how to ensure that </a:t>
            </a:r>
            <a:r>
              <a:rPr lang="en" dirty="0">
                <a:highlight>
                  <a:srgbClr val="FFFF00"/>
                </a:highlight>
              </a:rPr>
              <a:t>threads can manipulate </a:t>
            </a:r>
            <a:r>
              <a:rPr lang="en" b="1" i="1" dirty="0">
                <a:solidFill>
                  <a:srgbClr val="FF0000"/>
                </a:solidFill>
                <a:highlight>
                  <a:srgbClr val="FFFF00"/>
                </a:highlight>
              </a:rPr>
              <a:t>shared resources</a:t>
            </a:r>
            <a:r>
              <a:rPr lang="en" dirty="0">
                <a:solidFill>
                  <a:srgbClr val="FF0000"/>
                </a:solidFill>
                <a:highlight>
                  <a:srgbClr val="FFFF00"/>
                </a:highlight>
              </a:rPr>
              <a:t> </a:t>
            </a:r>
            <a:r>
              <a:rPr lang="en" dirty="0">
                <a:highlight>
                  <a:srgbClr val="FFFF00"/>
                </a:highlight>
              </a:rPr>
              <a:t>without data loss or corruption.</a:t>
            </a:r>
            <a:endParaRPr dirty="0">
              <a:highlight>
                <a:srgbClr val="FFFF00"/>
              </a:highlight>
            </a:endParaRPr>
          </a:p>
          <a:p>
            <a:pPr marL="914400" lvl="1" indent="-298450" algn="l" rtl="0">
              <a:spcBef>
                <a:spcPts val="0"/>
              </a:spcBef>
              <a:spcAft>
                <a:spcPts val="0"/>
              </a:spcAft>
              <a:buSzPts val="1100"/>
              <a:buChar char="○"/>
            </a:pPr>
            <a:r>
              <a:rPr lang="en" dirty="0"/>
              <a:t>We will also discuss </a:t>
            </a:r>
            <a:r>
              <a:rPr lang="en" b="1" i="1" dirty="0">
                <a:solidFill>
                  <a:srgbClr val="FF0000"/>
                </a:solidFill>
              </a:rPr>
              <a:t>communication</a:t>
            </a:r>
            <a:r>
              <a:rPr lang="en" dirty="0">
                <a:solidFill>
                  <a:srgbClr val="FF0000"/>
                </a:solidFill>
              </a:rPr>
              <a:t> </a:t>
            </a:r>
            <a:r>
              <a:rPr lang="en" dirty="0"/>
              <a:t>between threads.</a:t>
            </a:r>
            <a:endParaRPr dirty="0"/>
          </a:p>
          <a:p>
            <a:pPr marL="457200" lvl="0" indent="-311150" algn="l" rtl="0">
              <a:spcBef>
                <a:spcPts val="1000"/>
              </a:spcBef>
              <a:spcAft>
                <a:spcPts val="0"/>
              </a:spcAft>
              <a:buSzPts val="1300"/>
              <a:buChar char="●"/>
            </a:pPr>
            <a:r>
              <a:rPr lang="en" dirty="0"/>
              <a:t>We will be exploring several different aspects of thread cooperation including:</a:t>
            </a:r>
            <a:endParaRPr dirty="0"/>
          </a:p>
          <a:p>
            <a:pPr marL="914400" lvl="1" indent="-298450" algn="l" rtl="0">
              <a:spcBef>
                <a:spcPts val="0"/>
              </a:spcBef>
              <a:spcAft>
                <a:spcPts val="0"/>
              </a:spcAft>
              <a:buSzPts val="1100"/>
              <a:buChar char="○"/>
            </a:pPr>
            <a:r>
              <a:rPr lang="en" dirty="0">
                <a:highlight>
                  <a:srgbClr val="FFFF00"/>
                </a:highlight>
              </a:rPr>
              <a:t>Shared Resources &amp; Critical Regions </a:t>
            </a:r>
            <a:endParaRPr dirty="0">
              <a:highlight>
                <a:srgbClr val="FFFF00"/>
              </a:highlight>
            </a:endParaRPr>
          </a:p>
          <a:p>
            <a:pPr marL="914400" lvl="1" indent="-298450" algn="l" rtl="0">
              <a:spcBef>
                <a:spcPts val="0"/>
              </a:spcBef>
              <a:spcAft>
                <a:spcPts val="0"/>
              </a:spcAft>
              <a:buSzPts val="1100"/>
              <a:buChar char="○"/>
            </a:pPr>
            <a:r>
              <a:rPr lang="en" dirty="0"/>
              <a:t>Synchronization</a:t>
            </a:r>
            <a:endParaRPr dirty="0"/>
          </a:p>
          <a:p>
            <a:pPr marL="914400" lvl="1" indent="-298450" algn="l" rtl="0">
              <a:spcBef>
                <a:spcPts val="0"/>
              </a:spcBef>
              <a:spcAft>
                <a:spcPts val="0"/>
              </a:spcAft>
              <a:buSzPts val="1100"/>
              <a:buChar char="○"/>
            </a:pPr>
            <a:r>
              <a:rPr lang="en" dirty="0"/>
              <a:t>Wait &amp; Notify</a:t>
            </a:r>
            <a:endParaRPr dirty="0"/>
          </a:p>
          <a:p>
            <a:pPr marL="914400" lvl="1" indent="-298450" algn="l" rtl="0">
              <a:spcBef>
                <a:spcPts val="0"/>
              </a:spcBef>
              <a:spcAft>
                <a:spcPts val="0"/>
              </a:spcAft>
              <a:buSzPts val="1100"/>
              <a:buChar char="○"/>
            </a:pPr>
            <a:r>
              <a:rPr lang="en" dirty="0"/>
              <a:t>More Thread Cooperation</a:t>
            </a:r>
            <a:endParaRPr dirty="0"/>
          </a:p>
          <a:p>
            <a:pPr marL="457200" lvl="0" indent="-311150" algn="l" rtl="0">
              <a:spcBef>
                <a:spcPts val="1000"/>
              </a:spcBef>
              <a:spcAft>
                <a:spcPts val="0"/>
              </a:spcAft>
              <a:buSzPts val="1300"/>
              <a:buChar char="●"/>
            </a:pPr>
            <a:r>
              <a:rPr lang="en" dirty="0"/>
              <a:t>To begin, we will specifically focus on multiple threads that </a:t>
            </a:r>
            <a:r>
              <a:rPr lang="en" b="1" i="1" dirty="0">
                <a:solidFill>
                  <a:srgbClr val="FF0000"/>
                </a:solidFill>
                <a:highlight>
                  <a:srgbClr val="FFFF00"/>
                </a:highlight>
              </a:rPr>
              <a:t>share resources</a:t>
            </a:r>
            <a:r>
              <a:rPr lang="en" dirty="0">
                <a:solidFill>
                  <a:srgbClr val="FF0000"/>
                </a:solidFill>
                <a:highlight>
                  <a:srgbClr val="FFFF00"/>
                </a:highlight>
              </a:rPr>
              <a:t> </a:t>
            </a:r>
            <a:r>
              <a:rPr lang="en" dirty="0"/>
              <a:t>and how to ensure that data is not </a:t>
            </a:r>
            <a:r>
              <a:rPr lang="en" b="1" i="1" dirty="0">
                <a:solidFill>
                  <a:srgbClr val="FF0000"/>
                </a:solidFill>
                <a:highlight>
                  <a:srgbClr val="FFFF00"/>
                </a:highlight>
              </a:rPr>
              <a:t>lost </a:t>
            </a:r>
            <a:r>
              <a:rPr lang="en" dirty="0">
                <a:highlight>
                  <a:srgbClr val="FFFF00"/>
                </a:highlight>
              </a:rPr>
              <a:t>or </a:t>
            </a:r>
            <a:r>
              <a:rPr lang="en" b="1" i="1" dirty="0">
                <a:solidFill>
                  <a:srgbClr val="FF0000"/>
                </a:solidFill>
                <a:highlight>
                  <a:srgbClr val="FFFF00"/>
                </a:highlight>
              </a:rPr>
              <a:t>corrupted</a:t>
            </a:r>
            <a:r>
              <a:rPr lang="en" dirty="0">
                <a:highlight>
                  <a:srgbClr val="FFFF00"/>
                </a:highlight>
              </a:rPr>
              <a:t>.</a:t>
            </a:r>
            <a:endParaRPr dirty="0">
              <a:highlight>
                <a:srgbClr val="FFFF00"/>
              </a:highlight>
            </a:endParaRPr>
          </a:p>
        </p:txBody>
      </p:sp>
      <p:sp>
        <p:nvSpPr>
          <p:cNvPr id="181" name="Google Shape;18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a:t>
            </a:fld>
            <a:endParaRPr/>
          </a:p>
        </p:txBody>
      </p:sp>
      <p:sp>
        <p:nvSpPr>
          <p:cNvPr id="182" name="Google Shape;182;p33"/>
          <p:cNvSpPr txBox="1">
            <a:spLocks noGrp="1"/>
          </p:cNvSpPr>
          <p:nvPr>
            <p:ph type="body" idx="3"/>
          </p:nvPr>
        </p:nvSpPr>
        <p:spPr>
          <a:xfrm>
            <a:off x="247900" y="3988800"/>
            <a:ext cx="3731400" cy="738900"/>
          </a:xfrm>
          <a:prstGeom prst="rect">
            <a:avLst/>
          </a:prstGeom>
        </p:spPr>
        <p:txBody>
          <a:bodyPr spcFirstLastPara="1" wrap="square" lIns="91425" tIns="91425" rIns="91425" bIns="91425" anchor="ctr" anchorCtr="0">
            <a:spAutoFit/>
          </a:bodyPr>
          <a:lstStyle/>
          <a:p>
            <a:pPr marL="0" lvl="0" indent="0" algn="l" rtl="0">
              <a:lnSpc>
                <a:spcPct val="100000"/>
              </a:lnSpc>
              <a:spcBef>
                <a:spcPts val="0"/>
              </a:spcBef>
              <a:spcAft>
                <a:spcPts val="0"/>
              </a:spcAft>
              <a:buNone/>
            </a:pPr>
            <a:r>
              <a:rPr lang="en"/>
              <a:t>This unit will focus on </a:t>
            </a:r>
            <a:r>
              <a:rPr lang="en" b="1" i="1">
                <a:solidFill>
                  <a:srgbClr val="FF0000"/>
                </a:solidFill>
              </a:rPr>
              <a:t>threads working together</a:t>
            </a:r>
            <a:r>
              <a:rPr lang="en"/>
              <a:t> to achieve larger tasks or goals. It will also feature </a:t>
            </a:r>
            <a:r>
              <a:rPr lang="en" b="1" i="1">
                <a:solidFill>
                  <a:srgbClr val="FF0000"/>
                </a:solidFill>
              </a:rPr>
              <a:t>goats</a:t>
            </a:r>
            <a:r>
              <a:rPr lang="en"/>
              <a:t>. And at least one </a:t>
            </a:r>
            <a:r>
              <a:rPr lang="en" b="1" i="1">
                <a:solidFill>
                  <a:srgbClr val="FF0000"/>
                </a:solidFill>
              </a:rPr>
              <a:t>troll</a:t>
            </a:r>
            <a:r>
              <a:rPr lang="en"/>
              <a:t>.</a:t>
            </a:r>
            <a:endParaRPr sz="1200"/>
          </a:p>
        </p:txBody>
      </p:sp>
      <p:grpSp>
        <p:nvGrpSpPr>
          <p:cNvPr id="183" name="Google Shape;183;p33"/>
          <p:cNvGrpSpPr/>
          <p:nvPr/>
        </p:nvGrpSpPr>
        <p:grpSpPr>
          <a:xfrm>
            <a:off x="260390" y="985999"/>
            <a:ext cx="3706416" cy="2788936"/>
            <a:chOff x="401863" y="986050"/>
            <a:chExt cx="3423625" cy="2576147"/>
          </a:xfrm>
        </p:grpSpPr>
        <p:grpSp>
          <p:nvGrpSpPr>
            <p:cNvPr id="184" name="Google Shape;184;p33"/>
            <p:cNvGrpSpPr/>
            <p:nvPr/>
          </p:nvGrpSpPr>
          <p:grpSpPr>
            <a:xfrm>
              <a:off x="401863" y="986050"/>
              <a:ext cx="3423625" cy="2570825"/>
              <a:chOff x="134175" y="1465925"/>
              <a:chExt cx="3423625" cy="2570825"/>
            </a:xfrm>
          </p:grpSpPr>
          <p:pic>
            <p:nvPicPr>
              <p:cNvPr id="185" name="Google Shape;185;p33"/>
              <p:cNvPicPr preferRelativeResize="0"/>
              <p:nvPr/>
            </p:nvPicPr>
            <p:blipFill>
              <a:blip r:embed="rId3">
                <a:alphaModFix/>
              </a:blip>
              <a:stretch>
                <a:fillRect/>
              </a:stretch>
            </p:blipFill>
            <p:spPr>
              <a:xfrm>
                <a:off x="134175" y="1465925"/>
                <a:ext cx="3423625" cy="2570825"/>
              </a:xfrm>
              <a:prstGeom prst="rect">
                <a:avLst/>
              </a:prstGeom>
              <a:noFill/>
              <a:ln w="19050" cap="flat" cmpd="sng">
                <a:solidFill>
                  <a:srgbClr val="000000"/>
                </a:solidFill>
                <a:prstDash val="solid"/>
                <a:round/>
                <a:headEnd type="none" w="sm" len="sm"/>
                <a:tailEnd type="none" w="sm" len="sm"/>
              </a:ln>
            </p:spPr>
          </p:pic>
          <p:pic>
            <p:nvPicPr>
              <p:cNvPr id="186" name="Google Shape;186;p33"/>
              <p:cNvPicPr preferRelativeResize="0"/>
              <p:nvPr/>
            </p:nvPicPr>
            <p:blipFill rotWithShape="1">
              <a:blip r:embed="rId4">
                <a:alphaModFix/>
              </a:blip>
              <a:srcRect t="32116"/>
              <a:stretch/>
            </p:blipFill>
            <p:spPr>
              <a:xfrm>
                <a:off x="2417075" y="2532975"/>
                <a:ext cx="657175" cy="642425"/>
              </a:xfrm>
              <a:prstGeom prst="rect">
                <a:avLst/>
              </a:prstGeom>
              <a:noFill/>
              <a:ln>
                <a:noFill/>
              </a:ln>
            </p:spPr>
          </p:pic>
          <p:pic>
            <p:nvPicPr>
              <p:cNvPr id="187" name="Google Shape;187;p33"/>
              <p:cNvPicPr preferRelativeResize="0"/>
              <p:nvPr/>
            </p:nvPicPr>
            <p:blipFill rotWithShape="1">
              <a:blip r:embed="rId4">
                <a:alphaModFix/>
              </a:blip>
              <a:srcRect t="32116"/>
              <a:stretch/>
            </p:blipFill>
            <p:spPr>
              <a:xfrm>
                <a:off x="1077725" y="2279900"/>
                <a:ext cx="657175" cy="642425"/>
              </a:xfrm>
              <a:prstGeom prst="rect">
                <a:avLst/>
              </a:prstGeom>
              <a:noFill/>
              <a:ln>
                <a:noFill/>
              </a:ln>
            </p:spPr>
          </p:pic>
          <p:pic>
            <p:nvPicPr>
              <p:cNvPr id="188" name="Google Shape;188;p33"/>
              <p:cNvPicPr preferRelativeResize="0"/>
              <p:nvPr/>
            </p:nvPicPr>
            <p:blipFill rotWithShape="1">
              <a:blip r:embed="rId4">
                <a:alphaModFix/>
              </a:blip>
              <a:srcRect t="32116"/>
              <a:stretch/>
            </p:blipFill>
            <p:spPr>
              <a:xfrm flipH="1">
                <a:off x="1768925" y="2432300"/>
                <a:ext cx="657175" cy="642425"/>
              </a:xfrm>
              <a:prstGeom prst="rect">
                <a:avLst/>
              </a:prstGeom>
              <a:noFill/>
              <a:ln>
                <a:noFill/>
              </a:ln>
            </p:spPr>
          </p:pic>
          <p:pic>
            <p:nvPicPr>
              <p:cNvPr id="189" name="Google Shape;189;p33"/>
              <p:cNvPicPr preferRelativeResize="0"/>
              <p:nvPr/>
            </p:nvPicPr>
            <p:blipFill rotWithShape="1">
              <a:blip r:embed="rId4">
                <a:alphaModFix/>
              </a:blip>
              <a:srcRect t="32116"/>
              <a:stretch/>
            </p:blipFill>
            <p:spPr>
              <a:xfrm>
                <a:off x="2455275" y="2985300"/>
                <a:ext cx="657175" cy="642425"/>
              </a:xfrm>
              <a:prstGeom prst="rect">
                <a:avLst/>
              </a:prstGeom>
              <a:noFill/>
              <a:ln>
                <a:noFill/>
              </a:ln>
            </p:spPr>
          </p:pic>
          <p:pic>
            <p:nvPicPr>
              <p:cNvPr id="190" name="Google Shape;190;p33"/>
              <p:cNvPicPr preferRelativeResize="0"/>
              <p:nvPr/>
            </p:nvPicPr>
            <p:blipFill rotWithShape="1">
              <a:blip r:embed="rId4">
                <a:alphaModFix/>
              </a:blip>
              <a:srcRect t="32116"/>
              <a:stretch/>
            </p:blipFill>
            <p:spPr>
              <a:xfrm flipH="1">
                <a:off x="558050" y="2562475"/>
                <a:ext cx="657175" cy="642425"/>
              </a:xfrm>
              <a:prstGeom prst="rect">
                <a:avLst/>
              </a:prstGeom>
              <a:noFill/>
              <a:ln>
                <a:noFill/>
              </a:ln>
            </p:spPr>
          </p:pic>
          <p:pic>
            <p:nvPicPr>
              <p:cNvPr id="191" name="Google Shape;191;p33"/>
              <p:cNvPicPr preferRelativeResize="0"/>
              <p:nvPr/>
            </p:nvPicPr>
            <p:blipFill rotWithShape="1">
              <a:blip r:embed="rId4">
                <a:alphaModFix/>
              </a:blip>
              <a:srcRect t="32116"/>
              <a:stretch/>
            </p:blipFill>
            <p:spPr>
              <a:xfrm>
                <a:off x="785750" y="2985300"/>
                <a:ext cx="657175" cy="642425"/>
              </a:xfrm>
              <a:prstGeom prst="rect">
                <a:avLst/>
              </a:prstGeom>
              <a:noFill/>
              <a:ln>
                <a:noFill/>
              </a:ln>
            </p:spPr>
          </p:pic>
          <p:pic>
            <p:nvPicPr>
              <p:cNvPr id="192" name="Google Shape;192;p33"/>
              <p:cNvPicPr preferRelativeResize="0"/>
              <p:nvPr/>
            </p:nvPicPr>
            <p:blipFill rotWithShape="1">
              <a:blip r:embed="rId4">
                <a:alphaModFix/>
              </a:blip>
              <a:srcRect t="32116"/>
              <a:stretch/>
            </p:blipFill>
            <p:spPr>
              <a:xfrm flipH="1">
                <a:off x="1605600" y="3074725"/>
                <a:ext cx="657175" cy="642425"/>
              </a:xfrm>
              <a:prstGeom prst="rect">
                <a:avLst/>
              </a:prstGeom>
              <a:noFill/>
              <a:ln>
                <a:noFill/>
              </a:ln>
            </p:spPr>
          </p:pic>
        </p:grpSp>
        <p:grpSp>
          <p:nvGrpSpPr>
            <p:cNvPr id="193" name="Google Shape;193;p33"/>
            <p:cNvGrpSpPr/>
            <p:nvPr/>
          </p:nvGrpSpPr>
          <p:grpSpPr>
            <a:xfrm>
              <a:off x="2565649" y="1552481"/>
              <a:ext cx="1259826" cy="2009716"/>
              <a:chOff x="2565649" y="1552481"/>
              <a:chExt cx="1259826" cy="2009716"/>
            </a:xfrm>
          </p:grpSpPr>
          <p:pic>
            <p:nvPicPr>
              <p:cNvPr id="194" name="Google Shape;194;p33"/>
              <p:cNvPicPr preferRelativeResize="0"/>
              <p:nvPr/>
            </p:nvPicPr>
            <p:blipFill rotWithShape="1">
              <a:blip r:embed="rId5">
                <a:alphaModFix/>
              </a:blip>
              <a:srcRect l="24091" r="26923"/>
              <a:stretch/>
            </p:blipFill>
            <p:spPr>
              <a:xfrm>
                <a:off x="2565649" y="1568997"/>
                <a:ext cx="1259826" cy="1993199"/>
              </a:xfrm>
              <a:prstGeom prst="rect">
                <a:avLst/>
              </a:prstGeom>
              <a:noFill/>
              <a:ln>
                <a:noFill/>
              </a:ln>
            </p:spPr>
          </p:pic>
          <p:pic>
            <p:nvPicPr>
              <p:cNvPr id="195" name="Google Shape;195;p33"/>
              <p:cNvPicPr preferRelativeResize="0"/>
              <p:nvPr/>
            </p:nvPicPr>
            <p:blipFill>
              <a:blip r:embed="rId6">
                <a:alphaModFix/>
              </a:blip>
              <a:stretch>
                <a:fillRect/>
              </a:stretch>
            </p:blipFill>
            <p:spPr>
              <a:xfrm flipH="1">
                <a:off x="2737484" y="1552481"/>
                <a:ext cx="904240" cy="714300"/>
              </a:xfrm>
              <a:prstGeom prst="rect">
                <a:avLst/>
              </a:prstGeom>
              <a:noFill/>
              <a:ln>
                <a:noFill/>
              </a:ln>
            </p:spPr>
          </p:pic>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8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8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80">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82"/>
                                        </p:tgtEl>
                                        <p:attrNameLst>
                                          <p:attrName>style.visibility</p:attrName>
                                        </p:attrNameLst>
                                      </p:cBhvr>
                                      <p:to>
                                        <p:strVal val="visible"/>
                                      </p:to>
                                    </p:set>
                                    <p:animEffect transition="in" filter="fade">
                                      <p:cBhvr>
                                        <p:cTn id="51" dur="1000"/>
                                        <p:tgtEl>
                                          <p:spTgt spid="182"/>
                                        </p:tgtEl>
                                      </p:cBhvr>
                                    </p:animEffect>
                                  </p:childTnLst>
                                </p:cTn>
                              </p:par>
                              <p:par>
                                <p:cTn id="52" presetID="10" presetClass="entr" presetSubtype="0" fill="hold" nodeType="withEffect">
                                  <p:stCondLst>
                                    <p:cond delay="0"/>
                                  </p:stCondLst>
                                  <p:childTnLst>
                                    <p:set>
                                      <p:cBhvr>
                                        <p:cTn id="53" dur="1" fill="hold">
                                          <p:stCondLst>
                                            <p:cond delay="0"/>
                                          </p:stCondLst>
                                        </p:cTn>
                                        <p:tgtEl>
                                          <p:spTgt spid="183"/>
                                        </p:tgtEl>
                                        <p:attrNameLst>
                                          <p:attrName>style.visibility</p:attrName>
                                        </p:attrNameLst>
                                      </p:cBhvr>
                                      <p:to>
                                        <p:strVal val="visible"/>
                                      </p:to>
                                    </p:set>
                                    <p:animEffect transition="in" filter="fade">
                                      <p:cBhvr>
                                        <p:cTn id="54" dur="1000"/>
                                        <p:tgtEl>
                                          <p:spTgt spid="1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4"/>
          <p:cNvSpPr txBox="1">
            <a:spLocks noGrp="1"/>
          </p:cNvSpPr>
          <p:nvPr>
            <p:ph type="title"/>
          </p:nvPr>
        </p:nvSpPr>
        <p:spPr>
          <a:xfrm>
            <a:off x="5264725" y="119925"/>
            <a:ext cx="3706500" cy="760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500"/>
              <a:t>Review: Processes &amp; Concurrency </a:t>
            </a:r>
            <a:endParaRPr sz="2500"/>
          </a:p>
        </p:txBody>
      </p:sp>
      <p:sp>
        <p:nvSpPr>
          <p:cNvPr id="201" name="Google Shape;201;p34"/>
          <p:cNvSpPr txBox="1">
            <a:spLocks noGrp="1"/>
          </p:cNvSpPr>
          <p:nvPr>
            <p:ph type="body" idx="1"/>
          </p:nvPr>
        </p:nvSpPr>
        <p:spPr>
          <a:xfrm>
            <a:off x="325875" y="154825"/>
            <a:ext cx="4319400" cy="47715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In computing, a </a:t>
            </a:r>
            <a:r>
              <a:rPr lang="en" b="1" i="1" dirty="0">
                <a:solidFill>
                  <a:srgbClr val="FF0000"/>
                </a:solidFill>
                <a:highlight>
                  <a:srgbClr val="FFFF00"/>
                </a:highlight>
              </a:rPr>
              <a:t>process</a:t>
            </a:r>
            <a:r>
              <a:rPr lang="en" dirty="0">
                <a:solidFill>
                  <a:srgbClr val="FF0000"/>
                </a:solidFill>
                <a:highlight>
                  <a:srgbClr val="FFFF00"/>
                </a:highlight>
              </a:rPr>
              <a:t> </a:t>
            </a:r>
            <a:r>
              <a:rPr lang="en" dirty="0">
                <a:highlight>
                  <a:srgbClr val="FFFF00"/>
                </a:highlight>
              </a:rPr>
              <a:t>is a program that is </a:t>
            </a:r>
            <a:r>
              <a:rPr lang="en" b="1" i="1" dirty="0">
                <a:solidFill>
                  <a:srgbClr val="FF0000"/>
                </a:solidFill>
                <a:highlight>
                  <a:srgbClr val="FFFF00"/>
                </a:highlight>
              </a:rPr>
              <a:t>currently being executed</a:t>
            </a:r>
            <a:r>
              <a:rPr lang="en" dirty="0">
                <a:highlight>
                  <a:srgbClr val="FFFF00"/>
                </a:highlight>
              </a:rPr>
              <a:t> by the operating system.</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A process may have </a:t>
            </a:r>
            <a:r>
              <a:rPr lang="en" dirty="0">
                <a:highlight>
                  <a:srgbClr val="FFFF00"/>
                </a:highlight>
              </a:rPr>
              <a:t>more than one</a:t>
            </a:r>
            <a:r>
              <a:rPr lang="en" dirty="0">
                <a:solidFill>
                  <a:srgbClr val="FF0000"/>
                </a:solidFill>
                <a:highlight>
                  <a:srgbClr val="FFFF00"/>
                </a:highlight>
              </a:rPr>
              <a:t> </a:t>
            </a:r>
            <a:r>
              <a:rPr lang="en" b="1" i="1" dirty="0">
                <a:solidFill>
                  <a:srgbClr val="FF0000"/>
                </a:solidFill>
              </a:rPr>
              <a:t>thread of execution</a:t>
            </a:r>
            <a:r>
              <a:rPr lang="en" dirty="0"/>
              <a:t>, each of which executes </a:t>
            </a:r>
            <a:r>
              <a:rPr lang="en" b="1" i="1" dirty="0">
                <a:solidFill>
                  <a:srgbClr val="FF0000"/>
                </a:solidFill>
              </a:rPr>
              <a:t>separate</a:t>
            </a:r>
            <a:r>
              <a:rPr lang="en" i="1" dirty="0">
                <a:solidFill>
                  <a:srgbClr val="FF0000"/>
                </a:solidFill>
              </a:rPr>
              <a:t> </a:t>
            </a:r>
            <a:r>
              <a:rPr lang="en" dirty="0"/>
              <a:t>code to perform some </a:t>
            </a:r>
            <a:r>
              <a:rPr lang="en" b="1" i="1" dirty="0">
                <a:solidFill>
                  <a:srgbClr val="FF0000"/>
                </a:solidFill>
              </a:rPr>
              <a:t>task</a:t>
            </a:r>
            <a:r>
              <a:rPr lang="en" dirty="0"/>
              <a:t>.</a:t>
            </a:r>
            <a:endParaRPr dirty="0"/>
          </a:p>
          <a:p>
            <a:pPr marL="914400" lvl="1" indent="-298450" algn="l" rtl="0">
              <a:lnSpc>
                <a:spcPct val="100000"/>
              </a:lnSpc>
              <a:spcBef>
                <a:spcPts val="0"/>
              </a:spcBef>
              <a:spcAft>
                <a:spcPts val="0"/>
              </a:spcAft>
              <a:buSzPts val="1100"/>
              <a:buChar char="○"/>
            </a:pPr>
            <a:r>
              <a:rPr lang="en" dirty="0">
                <a:highlight>
                  <a:srgbClr val="FFFF00"/>
                </a:highlight>
              </a:rPr>
              <a:t>This allows a process to perform </a:t>
            </a:r>
            <a:r>
              <a:rPr lang="en" b="1" i="1" dirty="0">
                <a:solidFill>
                  <a:srgbClr val="FF0000"/>
                </a:solidFill>
                <a:highlight>
                  <a:srgbClr val="FFFF00"/>
                </a:highlight>
              </a:rPr>
              <a:t>more than one</a:t>
            </a:r>
            <a:r>
              <a:rPr lang="en" dirty="0">
                <a:solidFill>
                  <a:srgbClr val="FF0000"/>
                </a:solidFill>
                <a:highlight>
                  <a:srgbClr val="FFFF00"/>
                </a:highlight>
              </a:rPr>
              <a:t> </a:t>
            </a:r>
            <a:r>
              <a:rPr lang="en" dirty="0">
                <a:highlight>
                  <a:srgbClr val="FFFF00"/>
                </a:highlight>
              </a:rPr>
              <a:t>task at the same time.</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t>Virtually all computers have </a:t>
            </a:r>
            <a:r>
              <a:rPr lang="en" b="1" i="1" dirty="0">
                <a:solidFill>
                  <a:srgbClr val="FF0000"/>
                </a:solidFill>
              </a:rPr>
              <a:t>processors</a:t>
            </a:r>
            <a:r>
              <a:rPr lang="en" dirty="0">
                <a:solidFill>
                  <a:srgbClr val="FF0000"/>
                </a:solidFill>
              </a:rPr>
              <a:t> </a:t>
            </a:r>
            <a:r>
              <a:rPr lang="en" dirty="0"/>
              <a:t>with multiple </a:t>
            </a:r>
            <a:r>
              <a:rPr lang="en" b="1" i="1" dirty="0">
                <a:solidFill>
                  <a:srgbClr val="FF0000"/>
                </a:solidFill>
              </a:rPr>
              <a:t>cores</a:t>
            </a:r>
            <a:r>
              <a:rPr lang="en" dirty="0"/>
              <a:t>.</a:t>
            </a:r>
            <a:endParaRPr dirty="0"/>
          </a:p>
          <a:p>
            <a:pPr marL="914400" lvl="1" indent="-298450" algn="l" rtl="0">
              <a:lnSpc>
                <a:spcPct val="100000"/>
              </a:lnSpc>
              <a:spcBef>
                <a:spcPts val="0"/>
              </a:spcBef>
              <a:spcAft>
                <a:spcPts val="0"/>
              </a:spcAft>
              <a:buSzPts val="1100"/>
              <a:buChar char="○"/>
            </a:pPr>
            <a:r>
              <a:rPr lang="en" dirty="0"/>
              <a:t>Each core may </a:t>
            </a:r>
            <a:r>
              <a:rPr lang="en" dirty="0">
                <a:highlight>
                  <a:srgbClr val="FFFF00"/>
                </a:highlight>
              </a:rPr>
              <a:t>execute </a:t>
            </a:r>
            <a:r>
              <a:rPr lang="en" b="1" i="1" dirty="0">
                <a:solidFill>
                  <a:srgbClr val="FF0000"/>
                </a:solidFill>
                <a:highlight>
                  <a:srgbClr val="FFFF00"/>
                </a:highlight>
              </a:rPr>
              <a:t>one</a:t>
            </a:r>
            <a:r>
              <a:rPr lang="en" dirty="0">
                <a:solidFill>
                  <a:srgbClr val="FF0000"/>
                </a:solidFill>
                <a:highlight>
                  <a:srgbClr val="FFFF00"/>
                </a:highlight>
              </a:rPr>
              <a:t> </a:t>
            </a:r>
            <a:r>
              <a:rPr lang="en" dirty="0"/>
              <a:t>process at a time.</a:t>
            </a:r>
            <a:endParaRPr dirty="0"/>
          </a:p>
          <a:p>
            <a:pPr marL="914400" lvl="1" indent="-298450" algn="l" rtl="0">
              <a:lnSpc>
                <a:spcPct val="100000"/>
              </a:lnSpc>
              <a:spcBef>
                <a:spcPts val="0"/>
              </a:spcBef>
              <a:spcAft>
                <a:spcPts val="0"/>
              </a:spcAft>
              <a:buSzPts val="1100"/>
              <a:buChar char="○"/>
            </a:pPr>
            <a:r>
              <a:rPr lang="en" dirty="0"/>
              <a:t>There are usually many more processes than there are cores, and </a:t>
            </a:r>
            <a:r>
              <a:rPr lang="en" dirty="0">
                <a:highlight>
                  <a:srgbClr val="FFFF00"/>
                </a:highlight>
              </a:rPr>
              <a:t>so the cores must be </a:t>
            </a:r>
            <a:r>
              <a:rPr lang="en" b="1" i="1" dirty="0">
                <a:solidFill>
                  <a:srgbClr val="FF0000"/>
                </a:solidFill>
                <a:highlight>
                  <a:srgbClr val="FFFF00"/>
                </a:highlight>
              </a:rPr>
              <a:t>shared</a:t>
            </a:r>
            <a:r>
              <a:rPr lang="en" dirty="0">
                <a:solidFill>
                  <a:srgbClr val="FF0000"/>
                </a:solidFill>
                <a:highlight>
                  <a:srgbClr val="FFFF00"/>
                </a:highlight>
              </a:rPr>
              <a:t> </a:t>
            </a:r>
            <a:r>
              <a:rPr lang="en" dirty="0">
                <a:highlight>
                  <a:srgbClr val="FFFF00"/>
                </a:highlight>
              </a:rPr>
              <a:t>between programs.</a:t>
            </a:r>
            <a:endParaRPr dirty="0">
              <a:highlight>
                <a:srgbClr val="FFFF00"/>
              </a:highlight>
            </a:endParaRPr>
          </a:p>
          <a:p>
            <a:pPr marL="457200" lvl="0" indent="-311150" algn="l" rtl="0">
              <a:lnSpc>
                <a:spcPct val="100000"/>
              </a:lnSpc>
              <a:spcBef>
                <a:spcPts val="1000"/>
              </a:spcBef>
              <a:spcAft>
                <a:spcPts val="0"/>
              </a:spcAft>
              <a:buSzPts val="1300"/>
              <a:buChar char="●"/>
            </a:pPr>
            <a:r>
              <a:rPr lang="en" dirty="0">
                <a:highlight>
                  <a:srgbClr val="FFFF00"/>
                </a:highlight>
              </a:rPr>
              <a:t>The </a:t>
            </a:r>
            <a:r>
              <a:rPr lang="en" b="1" i="1" dirty="0">
                <a:solidFill>
                  <a:srgbClr val="FF0000"/>
                </a:solidFill>
                <a:highlight>
                  <a:srgbClr val="FFFF00"/>
                </a:highlight>
              </a:rPr>
              <a:t>thread scheduler</a:t>
            </a:r>
            <a:r>
              <a:rPr lang="en" dirty="0">
                <a:highlight>
                  <a:srgbClr val="FFFF00"/>
                </a:highlight>
              </a:rPr>
              <a:t> </a:t>
            </a:r>
            <a:r>
              <a:rPr lang="en" dirty="0"/>
              <a:t>is responsible for determining which threads are given time on the processor, and for how long.</a:t>
            </a:r>
            <a:endParaRPr dirty="0"/>
          </a:p>
          <a:p>
            <a:pPr marL="914400" lvl="1" indent="-298450" algn="l" rtl="0">
              <a:lnSpc>
                <a:spcPct val="100000"/>
              </a:lnSpc>
              <a:spcBef>
                <a:spcPts val="0"/>
              </a:spcBef>
              <a:spcAft>
                <a:spcPts val="0"/>
              </a:spcAft>
              <a:buSzPts val="1100"/>
              <a:buChar char="○"/>
            </a:pPr>
            <a:r>
              <a:rPr lang="en" dirty="0">
                <a:highlight>
                  <a:srgbClr val="FFFF00"/>
                </a:highlight>
              </a:rPr>
              <a:t>Its behavior is a </a:t>
            </a:r>
            <a:r>
              <a:rPr lang="en" b="1" i="1" dirty="0">
                <a:solidFill>
                  <a:srgbClr val="FF0000"/>
                </a:solidFill>
                <a:highlight>
                  <a:srgbClr val="FFFF00"/>
                </a:highlight>
              </a:rPr>
              <a:t>black box</a:t>
            </a:r>
            <a:r>
              <a:rPr lang="en" dirty="0">
                <a:highlight>
                  <a:srgbClr val="FFFF00"/>
                </a:highlight>
              </a:rPr>
              <a:t>, and somewhat </a:t>
            </a:r>
            <a:r>
              <a:rPr lang="en" b="1" i="1" dirty="0">
                <a:solidFill>
                  <a:srgbClr val="FF0000"/>
                </a:solidFill>
                <a:highlight>
                  <a:srgbClr val="FFFF00"/>
                </a:highlight>
              </a:rPr>
              <a:t>unpredictable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There is </a:t>
            </a:r>
            <a:r>
              <a:rPr lang="en" b="1" i="1" dirty="0">
                <a:solidFill>
                  <a:srgbClr val="FF0000"/>
                </a:solidFill>
                <a:highlight>
                  <a:srgbClr val="FFFF00"/>
                </a:highlight>
              </a:rPr>
              <a:t>no way</a:t>
            </a:r>
            <a:r>
              <a:rPr lang="en" dirty="0">
                <a:highlight>
                  <a:srgbClr val="FFFF00"/>
                </a:highlight>
              </a:rPr>
              <a:t> </a:t>
            </a:r>
            <a:r>
              <a:rPr lang="en" dirty="0"/>
              <a:t>to guarantee that one of your threads will get time on the processor.</a:t>
            </a:r>
            <a:endParaRPr dirty="0"/>
          </a:p>
          <a:p>
            <a:pPr marL="914400" lvl="1" indent="-298450" algn="l" rtl="0">
              <a:lnSpc>
                <a:spcPct val="100000"/>
              </a:lnSpc>
              <a:spcBef>
                <a:spcPts val="0"/>
              </a:spcBef>
              <a:spcAft>
                <a:spcPts val="0"/>
              </a:spcAft>
              <a:buSzPts val="1100"/>
              <a:buChar char="○"/>
            </a:pPr>
            <a:r>
              <a:rPr lang="en" dirty="0"/>
              <a:t>However, one of the goals of any thread scheduler is </a:t>
            </a:r>
            <a:r>
              <a:rPr lang="en" b="1" i="1" dirty="0">
                <a:solidFill>
                  <a:srgbClr val="FF0000"/>
                </a:solidFill>
                <a:highlight>
                  <a:srgbClr val="FFFF00"/>
                </a:highlight>
              </a:rPr>
              <a:t>fairness</a:t>
            </a:r>
            <a:r>
              <a:rPr lang="en" dirty="0">
                <a:highlight>
                  <a:srgbClr val="FFFF00"/>
                </a:highlight>
              </a:rPr>
              <a:t>; </a:t>
            </a:r>
            <a:r>
              <a:rPr lang="en" dirty="0"/>
              <a:t>all threads are given the time that they need to accomplish their tasks.</a:t>
            </a:r>
            <a:endParaRPr dirty="0"/>
          </a:p>
        </p:txBody>
      </p:sp>
      <p:sp>
        <p:nvSpPr>
          <p:cNvPr id="202" name="Google Shape;202;p3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3</a:t>
            </a:fld>
            <a:endParaRPr/>
          </a:p>
        </p:txBody>
      </p:sp>
      <p:graphicFrame>
        <p:nvGraphicFramePr>
          <p:cNvPr id="203" name="Google Shape;203;p34"/>
          <p:cNvGraphicFramePr/>
          <p:nvPr/>
        </p:nvGraphicFramePr>
        <p:xfrm>
          <a:off x="4951050" y="1004275"/>
          <a:ext cx="3986400" cy="2924000"/>
        </p:xfrm>
        <a:graphic>
          <a:graphicData uri="http://schemas.openxmlformats.org/drawingml/2006/table">
            <a:tbl>
              <a:tblPr>
                <a:noFill/>
                <a:tableStyleId>{A3C27BF0-B3C6-4F0B-BACD-D61DAA286B7A}</a:tableStyleId>
              </a:tblPr>
              <a:tblGrid>
                <a:gridCol w="1078925">
                  <a:extLst>
                    <a:ext uri="{9D8B030D-6E8A-4147-A177-3AD203B41FA5}">
                      <a16:colId xmlns:a16="http://schemas.microsoft.com/office/drawing/2014/main" val="20000"/>
                    </a:ext>
                  </a:extLst>
                </a:gridCol>
                <a:gridCol w="2907475">
                  <a:extLst>
                    <a:ext uri="{9D8B030D-6E8A-4147-A177-3AD203B41FA5}">
                      <a16:colId xmlns:a16="http://schemas.microsoft.com/office/drawing/2014/main" val="20001"/>
                    </a:ext>
                  </a:extLst>
                </a:gridCol>
              </a:tblGrid>
              <a:tr h="723775">
                <a:tc>
                  <a:txBody>
                    <a:bodyPr/>
                    <a:lstStyle/>
                    <a:p>
                      <a:pPr marL="0" lvl="0" indent="0" algn="r" rtl="0">
                        <a:spcBef>
                          <a:spcPts val="0"/>
                        </a:spcBef>
                        <a:spcAft>
                          <a:spcPts val="0"/>
                        </a:spcAft>
                        <a:buNone/>
                      </a:pPr>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600" b="1"/>
                        <a:t>CORE 1</a:t>
                      </a:r>
                      <a:endParaRPr sz="600" b="1"/>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0"/>
                  </a:ext>
                </a:extLst>
              </a:tr>
              <a:tr h="752675">
                <a:tc>
                  <a:txBody>
                    <a:bodyPr/>
                    <a:lstStyle/>
                    <a:p>
                      <a:pPr marL="0" lvl="0" indent="0" algn="r" rtl="0">
                        <a:spcBef>
                          <a:spcPts val="0"/>
                        </a:spcBef>
                        <a:spcAft>
                          <a:spcPts val="0"/>
                        </a:spcAft>
                        <a:buNone/>
                      </a:pPr>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600" b="1"/>
                        <a:t>CORE 2</a:t>
                      </a:r>
                      <a:endParaRPr sz="600" b="1"/>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1"/>
                  </a:ext>
                </a:extLst>
              </a:tr>
              <a:tr h="723775">
                <a:tc>
                  <a:txBody>
                    <a:bodyPr/>
                    <a:lstStyle/>
                    <a:p>
                      <a:pPr marL="0" lvl="0" indent="0" algn="r" rtl="0">
                        <a:spcBef>
                          <a:spcPts val="0"/>
                        </a:spcBef>
                        <a:spcAft>
                          <a:spcPts val="0"/>
                        </a:spcAft>
                        <a:buNone/>
                      </a:pPr>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600" b="1"/>
                        <a:t>CORE 3</a:t>
                      </a:r>
                      <a:endParaRPr sz="600" b="1"/>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2"/>
                  </a:ext>
                </a:extLst>
              </a:tr>
              <a:tr h="723775">
                <a:tc>
                  <a:txBody>
                    <a:bodyPr/>
                    <a:lstStyle/>
                    <a:p>
                      <a:pPr marL="0" lvl="0" indent="0" algn="r" rtl="0">
                        <a:spcBef>
                          <a:spcPts val="0"/>
                        </a:spcBef>
                        <a:spcAft>
                          <a:spcPts val="0"/>
                        </a:spcAft>
                        <a:buNone/>
                      </a:pPr>
                      <a:endParaRPr/>
                    </a:p>
                  </a:txBody>
                  <a:tcPr marL="91425" marR="91425" marT="91425" marB="91425">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600" b="1"/>
                        <a:t>CORE 4</a:t>
                      </a:r>
                      <a:endParaRPr sz="600" b="1"/>
                    </a:p>
                  </a:txBody>
                  <a:tcPr marL="91425" marR="91425" marT="91425" marB="91425" anchor="b">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3"/>
                  </a:ext>
                </a:extLst>
              </a:tr>
            </a:tbl>
          </a:graphicData>
        </a:graphic>
      </p:graphicFrame>
      <p:sp>
        <p:nvSpPr>
          <p:cNvPr id="204" name="Google Shape;204;p34"/>
          <p:cNvSpPr txBox="1"/>
          <p:nvPr/>
        </p:nvSpPr>
        <p:spPr>
          <a:xfrm>
            <a:off x="5239050" y="4052425"/>
            <a:ext cx="36984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Each core in a computer processor can only execute one </a:t>
            </a:r>
            <a:r>
              <a:rPr lang="en" sz="1200" b="1" i="1" dirty="0">
                <a:solidFill>
                  <a:srgbClr val="FF0000"/>
                </a:solidFill>
              </a:rPr>
              <a:t>thread of execution</a:t>
            </a:r>
            <a:r>
              <a:rPr lang="en" sz="1200" dirty="0"/>
              <a:t> at a time, but there are usually many more threads than there are cores.</a:t>
            </a:r>
            <a:endParaRPr sz="1200" dirty="0"/>
          </a:p>
        </p:txBody>
      </p:sp>
      <p:grpSp>
        <p:nvGrpSpPr>
          <p:cNvPr id="205" name="Google Shape;205;p34"/>
          <p:cNvGrpSpPr/>
          <p:nvPr/>
        </p:nvGrpSpPr>
        <p:grpSpPr>
          <a:xfrm>
            <a:off x="5247275" y="1230250"/>
            <a:ext cx="3694250" cy="2487450"/>
            <a:chOff x="5247275" y="1230250"/>
            <a:chExt cx="3694250" cy="2487450"/>
          </a:xfrm>
        </p:grpSpPr>
        <p:cxnSp>
          <p:nvCxnSpPr>
            <p:cNvPr id="206" name="Google Shape;206;p34"/>
            <p:cNvCxnSpPr/>
            <p:nvPr/>
          </p:nvCxnSpPr>
          <p:spPr>
            <a:xfrm>
              <a:off x="6047425" y="1335491"/>
              <a:ext cx="2894100" cy="0"/>
            </a:xfrm>
            <a:prstGeom prst="straightConnector1">
              <a:avLst/>
            </a:prstGeom>
            <a:noFill/>
            <a:ln w="19050" cap="flat" cmpd="sng">
              <a:solidFill>
                <a:srgbClr val="000000"/>
              </a:solidFill>
              <a:prstDash val="dash"/>
              <a:round/>
              <a:headEnd type="none" w="med" len="med"/>
              <a:tailEnd type="triangle" w="med" len="med"/>
            </a:ln>
          </p:spPr>
        </p:cxnSp>
        <p:cxnSp>
          <p:nvCxnSpPr>
            <p:cNvPr id="207" name="Google Shape;207;p34"/>
            <p:cNvCxnSpPr/>
            <p:nvPr/>
          </p:nvCxnSpPr>
          <p:spPr>
            <a:xfrm>
              <a:off x="6047425" y="2060755"/>
              <a:ext cx="2894100" cy="0"/>
            </a:xfrm>
            <a:prstGeom prst="straightConnector1">
              <a:avLst/>
            </a:prstGeom>
            <a:noFill/>
            <a:ln w="19050" cap="flat" cmpd="sng">
              <a:solidFill>
                <a:srgbClr val="000000"/>
              </a:solidFill>
              <a:prstDash val="dash"/>
              <a:round/>
              <a:headEnd type="none" w="med" len="med"/>
              <a:tailEnd type="triangle" w="med" len="med"/>
            </a:ln>
          </p:spPr>
        </p:cxnSp>
        <p:cxnSp>
          <p:nvCxnSpPr>
            <p:cNvPr id="208" name="Google Shape;208;p34"/>
            <p:cNvCxnSpPr/>
            <p:nvPr/>
          </p:nvCxnSpPr>
          <p:spPr>
            <a:xfrm>
              <a:off x="6047425" y="2663777"/>
              <a:ext cx="2894100" cy="0"/>
            </a:xfrm>
            <a:prstGeom prst="straightConnector1">
              <a:avLst/>
            </a:prstGeom>
            <a:noFill/>
            <a:ln w="19050" cap="flat" cmpd="sng">
              <a:solidFill>
                <a:srgbClr val="000000"/>
              </a:solidFill>
              <a:prstDash val="dash"/>
              <a:round/>
              <a:headEnd type="none" w="med" len="med"/>
              <a:tailEnd type="triangle" w="med" len="med"/>
            </a:ln>
          </p:spPr>
        </p:cxnSp>
        <p:cxnSp>
          <p:nvCxnSpPr>
            <p:cNvPr id="209" name="Google Shape;209;p34"/>
            <p:cNvCxnSpPr/>
            <p:nvPr/>
          </p:nvCxnSpPr>
          <p:spPr>
            <a:xfrm>
              <a:off x="6047425" y="2906203"/>
              <a:ext cx="2894100" cy="0"/>
            </a:xfrm>
            <a:prstGeom prst="straightConnector1">
              <a:avLst/>
            </a:prstGeom>
            <a:noFill/>
            <a:ln w="19050" cap="flat" cmpd="sng">
              <a:solidFill>
                <a:srgbClr val="000000"/>
              </a:solidFill>
              <a:prstDash val="dash"/>
              <a:round/>
              <a:headEnd type="none" w="med" len="med"/>
              <a:tailEnd type="triangle" w="med" len="med"/>
            </a:ln>
          </p:spPr>
        </p:cxnSp>
        <p:cxnSp>
          <p:nvCxnSpPr>
            <p:cNvPr id="210" name="Google Shape;210;p34"/>
            <p:cNvCxnSpPr/>
            <p:nvPr/>
          </p:nvCxnSpPr>
          <p:spPr>
            <a:xfrm>
              <a:off x="6047425" y="3395619"/>
              <a:ext cx="2894100" cy="0"/>
            </a:xfrm>
            <a:prstGeom prst="straightConnector1">
              <a:avLst/>
            </a:prstGeom>
            <a:noFill/>
            <a:ln w="19050" cap="flat" cmpd="sng">
              <a:solidFill>
                <a:srgbClr val="000000"/>
              </a:solidFill>
              <a:prstDash val="dash"/>
              <a:round/>
              <a:headEnd type="none" w="med" len="med"/>
              <a:tailEnd type="triangle" w="med" len="med"/>
            </a:ln>
          </p:spPr>
        </p:cxnSp>
        <p:cxnSp>
          <p:nvCxnSpPr>
            <p:cNvPr id="211" name="Google Shape;211;p34"/>
            <p:cNvCxnSpPr/>
            <p:nvPr/>
          </p:nvCxnSpPr>
          <p:spPr>
            <a:xfrm>
              <a:off x="6047425" y="3611064"/>
              <a:ext cx="2894100" cy="0"/>
            </a:xfrm>
            <a:prstGeom prst="straightConnector1">
              <a:avLst/>
            </a:prstGeom>
            <a:noFill/>
            <a:ln w="19050" cap="flat" cmpd="sng">
              <a:solidFill>
                <a:srgbClr val="000000"/>
              </a:solidFill>
              <a:prstDash val="dash"/>
              <a:round/>
              <a:headEnd type="none" w="med" len="med"/>
              <a:tailEnd type="triangle" w="med" len="med"/>
            </a:ln>
          </p:spPr>
        </p:cxnSp>
        <p:sp>
          <p:nvSpPr>
            <p:cNvPr id="212" name="Google Shape;212;p34"/>
            <p:cNvSpPr txBox="1"/>
            <p:nvPr/>
          </p:nvSpPr>
          <p:spPr>
            <a:xfrm>
              <a:off x="5247275" y="1230250"/>
              <a:ext cx="782700" cy="197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Process 1</a:t>
              </a:r>
              <a:endParaRPr sz="1000">
                <a:solidFill>
                  <a:srgbClr val="FFFFFF"/>
                </a:solidFill>
                <a:latin typeface="Roboto"/>
                <a:ea typeface="Roboto"/>
                <a:cs typeface="Roboto"/>
                <a:sym typeface="Roboto"/>
              </a:endParaRPr>
            </a:p>
          </p:txBody>
        </p:sp>
        <p:sp>
          <p:nvSpPr>
            <p:cNvPr id="213" name="Google Shape;213;p34"/>
            <p:cNvSpPr txBox="1"/>
            <p:nvPr/>
          </p:nvSpPr>
          <p:spPr>
            <a:xfrm>
              <a:off x="5247275" y="1965941"/>
              <a:ext cx="782700" cy="197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Process 2</a:t>
              </a:r>
              <a:endParaRPr sz="1000">
                <a:solidFill>
                  <a:srgbClr val="FFFFFF"/>
                </a:solidFill>
                <a:latin typeface="Roboto"/>
                <a:ea typeface="Roboto"/>
                <a:cs typeface="Roboto"/>
                <a:sym typeface="Roboto"/>
              </a:endParaRPr>
            </a:p>
          </p:txBody>
        </p:sp>
        <p:sp>
          <p:nvSpPr>
            <p:cNvPr id="214" name="Google Shape;214;p34"/>
            <p:cNvSpPr txBox="1"/>
            <p:nvPr/>
          </p:nvSpPr>
          <p:spPr>
            <a:xfrm>
              <a:off x="5247275" y="2681899"/>
              <a:ext cx="782700" cy="197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Process 3</a:t>
              </a:r>
              <a:endParaRPr sz="1000">
                <a:solidFill>
                  <a:srgbClr val="FFFFFF"/>
                </a:solidFill>
                <a:latin typeface="Roboto"/>
                <a:ea typeface="Roboto"/>
                <a:cs typeface="Roboto"/>
                <a:sym typeface="Roboto"/>
              </a:endParaRPr>
            </a:p>
          </p:txBody>
        </p:sp>
        <p:sp>
          <p:nvSpPr>
            <p:cNvPr id="215" name="Google Shape;215;p34"/>
            <p:cNvSpPr txBox="1"/>
            <p:nvPr/>
          </p:nvSpPr>
          <p:spPr>
            <a:xfrm>
              <a:off x="5247275" y="3294227"/>
              <a:ext cx="782700" cy="197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Process 4</a:t>
              </a:r>
              <a:endParaRPr sz="1000">
                <a:solidFill>
                  <a:srgbClr val="FFFFFF"/>
                </a:solidFill>
                <a:latin typeface="Roboto"/>
                <a:ea typeface="Roboto"/>
                <a:cs typeface="Roboto"/>
                <a:sym typeface="Roboto"/>
              </a:endParaRPr>
            </a:p>
          </p:txBody>
        </p:sp>
        <p:sp>
          <p:nvSpPr>
            <p:cNvPr id="216" name="Google Shape;216;p34"/>
            <p:cNvSpPr txBox="1"/>
            <p:nvPr/>
          </p:nvSpPr>
          <p:spPr>
            <a:xfrm>
              <a:off x="5247275" y="3516250"/>
              <a:ext cx="782700" cy="197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Process 5</a:t>
              </a:r>
              <a:endParaRPr sz="1000">
                <a:solidFill>
                  <a:srgbClr val="FFFFFF"/>
                </a:solidFill>
                <a:latin typeface="Roboto"/>
                <a:ea typeface="Roboto"/>
                <a:cs typeface="Roboto"/>
                <a:sym typeface="Roboto"/>
              </a:endParaRPr>
            </a:p>
          </p:txBody>
        </p:sp>
        <p:sp>
          <p:nvSpPr>
            <p:cNvPr id="217" name="Google Shape;217;p34"/>
            <p:cNvSpPr/>
            <p:nvPr/>
          </p:nvSpPr>
          <p:spPr>
            <a:xfrm>
              <a:off x="6130200" y="1230250"/>
              <a:ext cx="1289100" cy="197400"/>
            </a:xfrm>
            <a:prstGeom prst="rect">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34"/>
            <p:cNvSpPr/>
            <p:nvPr/>
          </p:nvSpPr>
          <p:spPr>
            <a:xfrm>
              <a:off x="7779600" y="1230250"/>
              <a:ext cx="782700" cy="197400"/>
            </a:xfrm>
            <a:prstGeom prst="rect">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34"/>
            <p:cNvSpPr/>
            <p:nvPr/>
          </p:nvSpPr>
          <p:spPr>
            <a:xfrm>
              <a:off x="6130200" y="1959375"/>
              <a:ext cx="296100" cy="197400"/>
            </a:xfrm>
            <a:prstGeom prst="rect">
              <a:avLst/>
            </a:prstGeom>
            <a:solidFill>
              <a:srgbClr val="00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34"/>
            <p:cNvSpPr/>
            <p:nvPr/>
          </p:nvSpPr>
          <p:spPr>
            <a:xfrm>
              <a:off x="6511200" y="1959375"/>
              <a:ext cx="1177800" cy="197400"/>
            </a:xfrm>
            <a:prstGeom prst="rect">
              <a:avLst/>
            </a:prstGeom>
            <a:solidFill>
              <a:srgbClr val="00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34"/>
            <p:cNvSpPr/>
            <p:nvPr/>
          </p:nvSpPr>
          <p:spPr>
            <a:xfrm>
              <a:off x="7833725" y="1959375"/>
              <a:ext cx="922200" cy="197400"/>
            </a:xfrm>
            <a:prstGeom prst="rect">
              <a:avLst/>
            </a:prstGeom>
            <a:solidFill>
              <a:srgbClr val="00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34"/>
            <p:cNvSpPr/>
            <p:nvPr/>
          </p:nvSpPr>
          <p:spPr>
            <a:xfrm>
              <a:off x="6130200" y="2803737"/>
              <a:ext cx="237600" cy="197400"/>
            </a:xfrm>
            <a:prstGeom prst="rect">
              <a:avLst/>
            </a:prstGeom>
            <a:solidFill>
              <a:srgbClr val="FF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34"/>
            <p:cNvSpPr/>
            <p:nvPr/>
          </p:nvSpPr>
          <p:spPr>
            <a:xfrm>
              <a:off x="6605397" y="2803737"/>
              <a:ext cx="237600" cy="197400"/>
            </a:xfrm>
            <a:prstGeom prst="rect">
              <a:avLst/>
            </a:prstGeom>
            <a:solidFill>
              <a:srgbClr val="FF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34"/>
            <p:cNvSpPr/>
            <p:nvPr/>
          </p:nvSpPr>
          <p:spPr>
            <a:xfrm>
              <a:off x="6840150" y="2803737"/>
              <a:ext cx="237600" cy="197400"/>
            </a:xfrm>
            <a:prstGeom prst="rect">
              <a:avLst/>
            </a:prstGeom>
            <a:solidFill>
              <a:srgbClr val="FF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34"/>
            <p:cNvSpPr/>
            <p:nvPr/>
          </p:nvSpPr>
          <p:spPr>
            <a:xfrm>
              <a:off x="8287473" y="2803737"/>
              <a:ext cx="448800" cy="197400"/>
            </a:xfrm>
            <a:prstGeom prst="rect">
              <a:avLst/>
            </a:prstGeom>
            <a:solidFill>
              <a:srgbClr val="FF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34"/>
            <p:cNvSpPr/>
            <p:nvPr/>
          </p:nvSpPr>
          <p:spPr>
            <a:xfrm>
              <a:off x="6367788" y="2560463"/>
              <a:ext cx="237600" cy="197400"/>
            </a:xfrm>
            <a:prstGeom prst="rect">
              <a:avLst/>
            </a:prstGeom>
            <a:solidFill>
              <a:srgbClr val="4A86E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A86E8"/>
                </a:solidFill>
              </a:endParaRPr>
            </a:p>
          </p:txBody>
        </p:sp>
        <p:sp>
          <p:nvSpPr>
            <p:cNvPr id="227" name="Google Shape;227;p34"/>
            <p:cNvSpPr/>
            <p:nvPr/>
          </p:nvSpPr>
          <p:spPr>
            <a:xfrm>
              <a:off x="7077801" y="2560475"/>
              <a:ext cx="1209600" cy="197400"/>
            </a:xfrm>
            <a:prstGeom prst="rect">
              <a:avLst/>
            </a:prstGeom>
            <a:solidFill>
              <a:srgbClr val="4A86E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A86E8"/>
                </a:solidFill>
              </a:endParaRPr>
            </a:p>
          </p:txBody>
        </p:sp>
        <p:sp>
          <p:nvSpPr>
            <p:cNvPr id="228" name="Google Shape;228;p34"/>
            <p:cNvSpPr/>
            <p:nvPr/>
          </p:nvSpPr>
          <p:spPr>
            <a:xfrm>
              <a:off x="6367800" y="3520300"/>
              <a:ext cx="237600" cy="197400"/>
            </a:xfrm>
            <a:prstGeom prst="rect">
              <a:avLst/>
            </a:prstGeom>
            <a:solidFill>
              <a:srgbClr val="99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34"/>
            <p:cNvSpPr/>
            <p:nvPr/>
          </p:nvSpPr>
          <p:spPr>
            <a:xfrm>
              <a:off x="6602092" y="3520300"/>
              <a:ext cx="237600" cy="197400"/>
            </a:xfrm>
            <a:prstGeom prst="rect">
              <a:avLst/>
            </a:prstGeom>
            <a:solidFill>
              <a:srgbClr val="99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34"/>
            <p:cNvSpPr/>
            <p:nvPr/>
          </p:nvSpPr>
          <p:spPr>
            <a:xfrm>
              <a:off x="7855360" y="3520300"/>
              <a:ext cx="481200" cy="197400"/>
            </a:xfrm>
            <a:prstGeom prst="rect">
              <a:avLst/>
            </a:prstGeom>
            <a:solidFill>
              <a:srgbClr val="9900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34"/>
            <p:cNvSpPr/>
            <p:nvPr/>
          </p:nvSpPr>
          <p:spPr>
            <a:xfrm>
              <a:off x="6130200" y="3291700"/>
              <a:ext cx="237600" cy="197400"/>
            </a:xfrm>
            <a:prstGeom prst="rect">
              <a:avLst/>
            </a:prstGeom>
            <a:solidFill>
              <a:srgbClr val="00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34"/>
            <p:cNvSpPr/>
            <p:nvPr/>
          </p:nvSpPr>
          <p:spPr>
            <a:xfrm>
              <a:off x="6855305" y="3291700"/>
              <a:ext cx="987900" cy="197400"/>
            </a:xfrm>
            <a:prstGeom prst="rect">
              <a:avLst/>
            </a:prstGeom>
            <a:solidFill>
              <a:srgbClr val="00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34"/>
            <p:cNvSpPr/>
            <p:nvPr/>
          </p:nvSpPr>
          <p:spPr>
            <a:xfrm>
              <a:off x="8349310" y="3291700"/>
              <a:ext cx="237600" cy="197400"/>
            </a:xfrm>
            <a:prstGeom prst="rect">
              <a:avLst/>
            </a:prstGeom>
            <a:solidFill>
              <a:srgbClr val="00FF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0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04"/>
                                        </p:tgtEl>
                                        <p:attrNameLst>
                                          <p:attrName>style.visibility</p:attrName>
                                        </p:attrNameLst>
                                      </p:cBhvr>
                                      <p:to>
                                        <p:strVal val="visible"/>
                                      </p:to>
                                    </p:set>
                                    <p:animEffect transition="in" filter="fade">
                                      <p:cBhvr>
                                        <p:cTn id="47" dur="10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Review: Java Threads</a:t>
            </a:r>
            <a:endParaRPr/>
          </a:p>
        </p:txBody>
      </p:sp>
      <p:sp>
        <p:nvSpPr>
          <p:cNvPr id="239" name="Google Shape;239;p35"/>
          <p:cNvSpPr txBox="1">
            <a:spLocks noGrp="1"/>
          </p:cNvSpPr>
          <p:nvPr>
            <p:ph type="body" idx="1"/>
          </p:nvPr>
        </p:nvSpPr>
        <p:spPr>
          <a:xfrm>
            <a:off x="92175" y="1245816"/>
            <a:ext cx="4632300" cy="3924121"/>
          </a:xfrm>
          <a:prstGeom prst="rect">
            <a:avLst/>
          </a:prstGeom>
        </p:spPr>
        <p:txBody>
          <a:bodyPr spcFirstLastPara="1" wrap="square" lIns="91425" tIns="91425" rIns="91425" bIns="91425" anchor="ctr" anchorCtr="0">
            <a:spAutoFit/>
          </a:bodyPr>
          <a:lstStyle/>
          <a:p>
            <a:pPr marL="457200" lvl="0" indent="-311150" algn="l" rtl="0">
              <a:lnSpc>
                <a:spcPct val="100000"/>
              </a:lnSpc>
              <a:spcBef>
                <a:spcPts val="0"/>
              </a:spcBef>
              <a:spcAft>
                <a:spcPts val="0"/>
              </a:spcAft>
              <a:buSzPts val="1300"/>
              <a:buChar char="●"/>
            </a:pPr>
            <a:r>
              <a:rPr lang="en" dirty="0"/>
              <a:t>Like many things in Java, </a:t>
            </a:r>
            <a:r>
              <a:rPr lang="en" b="1" i="1" dirty="0">
                <a:solidFill>
                  <a:srgbClr val="FF0000"/>
                </a:solidFill>
              </a:rPr>
              <a:t>threads</a:t>
            </a:r>
            <a:r>
              <a:rPr lang="en" dirty="0">
                <a:solidFill>
                  <a:srgbClr val="FF0000"/>
                </a:solidFill>
              </a:rPr>
              <a:t> </a:t>
            </a:r>
            <a:r>
              <a:rPr lang="en" dirty="0"/>
              <a:t>are represented as </a:t>
            </a:r>
            <a:r>
              <a:rPr lang="en" b="1" i="1" dirty="0">
                <a:solidFill>
                  <a:srgbClr val="FF0000"/>
                </a:solidFill>
              </a:rPr>
              <a:t>objects</a:t>
            </a:r>
            <a:r>
              <a:rPr lang="en" dirty="0"/>
              <a:t>.</a:t>
            </a:r>
            <a:endParaRPr dirty="0"/>
          </a:p>
          <a:p>
            <a:pPr marL="914400" lvl="1" indent="-298450" algn="l" rtl="0">
              <a:lnSpc>
                <a:spcPct val="100000"/>
              </a:lnSpc>
              <a:spcBef>
                <a:spcPts val="0"/>
              </a:spcBef>
              <a:spcAft>
                <a:spcPts val="0"/>
              </a:spcAft>
              <a:buSzPts val="1100"/>
              <a:buChar char="○"/>
            </a:pPr>
            <a:r>
              <a:rPr lang="en" dirty="0"/>
              <a:t>Specifically, instances of the </a:t>
            </a:r>
            <a:r>
              <a:rPr lang="en" u="sng" dirty="0">
                <a:solidFill>
                  <a:srgbClr val="4A86E8"/>
                </a:solid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java.lang.Thread</a:t>
            </a:r>
            <a:r>
              <a:rPr lang="en" dirty="0">
                <a:solidFill>
                  <a:srgbClr val="4A86E8"/>
                </a:solidFill>
              </a:rPr>
              <a:t> </a:t>
            </a:r>
            <a:r>
              <a:rPr lang="en" dirty="0"/>
              <a:t>class.</a:t>
            </a:r>
            <a:endParaRPr dirty="0"/>
          </a:p>
          <a:p>
            <a:pPr marL="457200" lvl="0" indent="-311150" algn="l" rtl="0">
              <a:lnSpc>
                <a:spcPct val="100000"/>
              </a:lnSpc>
              <a:spcBef>
                <a:spcPts val="1000"/>
              </a:spcBef>
              <a:spcAft>
                <a:spcPts val="0"/>
              </a:spcAft>
              <a:buSzPts val="1300"/>
              <a:buChar char="●"/>
            </a:pPr>
            <a:r>
              <a:rPr lang="en" dirty="0"/>
              <a:t>There are </a:t>
            </a:r>
            <a:r>
              <a:rPr lang="en" b="1" i="1" dirty="0">
                <a:solidFill>
                  <a:srgbClr val="FF0000"/>
                </a:solidFill>
              </a:rPr>
              <a:t>two </a:t>
            </a:r>
            <a:r>
              <a:rPr lang="en" dirty="0"/>
              <a:t>basic ways to create a thread of execution in Java. The easiest is to </a:t>
            </a:r>
            <a:r>
              <a:rPr lang="en" b="1" i="1" dirty="0">
                <a:solidFill>
                  <a:srgbClr val="FF0000"/>
                </a:solidFill>
                <a:highlight>
                  <a:srgbClr val="FFFF00"/>
                </a:highlight>
              </a:rPr>
              <a:t>subclass</a:t>
            </a:r>
            <a:r>
              <a:rPr lang="en" dirty="0">
                <a:solidFill>
                  <a:srgbClr val="FF0000"/>
                </a:solidFill>
                <a:highlight>
                  <a:srgbClr val="FFFF00"/>
                </a:highlight>
              </a:rPr>
              <a:t> </a:t>
            </a:r>
            <a:r>
              <a:rPr lang="en" dirty="0">
                <a:solidFill>
                  <a:srgbClr val="FF0000"/>
                </a:solidFill>
                <a:highlight>
                  <a:srgbClr val="FFFF00"/>
                </a:highlight>
                <a:latin typeface="Courier New"/>
                <a:ea typeface="Courier New"/>
                <a:cs typeface="Courier New"/>
                <a:sym typeface="Courier New"/>
              </a:rPr>
              <a:t>Thread</a:t>
            </a:r>
            <a:r>
              <a:rPr lang="en" dirty="0">
                <a:solidFill>
                  <a:srgbClr val="FF0000"/>
                </a:solidFill>
                <a:highlight>
                  <a:srgbClr val="FFFF00"/>
                </a:highlight>
              </a:rPr>
              <a:t> </a:t>
            </a:r>
            <a:r>
              <a:rPr lang="en" dirty="0"/>
              <a:t>and </a:t>
            </a:r>
            <a:r>
              <a:rPr lang="en" b="1" i="1" dirty="0">
                <a:solidFill>
                  <a:srgbClr val="FF0000"/>
                </a:solidFill>
              </a:rPr>
              <a:t>override</a:t>
            </a:r>
            <a:r>
              <a:rPr lang="en" dirty="0">
                <a:solidFill>
                  <a:srgbClr val="FF0000"/>
                </a:solidFill>
              </a:rPr>
              <a:t> </a:t>
            </a:r>
            <a:r>
              <a:rPr lang="en" dirty="0"/>
              <a:t>its </a:t>
            </a:r>
            <a:r>
              <a:rPr lang="en" dirty="0">
                <a:solidFill>
                  <a:srgbClr val="FF0000"/>
                </a:solidFill>
                <a:latin typeface="Courier New"/>
                <a:ea typeface="Courier New"/>
                <a:cs typeface="Courier New"/>
                <a:sym typeface="Courier New"/>
              </a:rPr>
              <a:t>run()</a:t>
            </a:r>
            <a:r>
              <a:rPr lang="en" dirty="0"/>
              <a:t> method.</a:t>
            </a:r>
            <a:endParaRPr dirty="0"/>
          </a:p>
          <a:p>
            <a:pPr marL="914400" lvl="1" indent="-298450" algn="l" rtl="0">
              <a:lnSpc>
                <a:spcPct val="100000"/>
              </a:lnSpc>
              <a:spcBef>
                <a:spcPts val="0"/>
              </a:spcBef>
              <a:spcAft>
                <a:spcPts val="0"/>
              </a:spcAft>
              <a:buSzPts val="1100"/>
              <a:buChar char="○"/>
            </a:pPr>
            <a:r>
              <a:rPr lang="en" dirty="0"/>
              <a:t>Code in the </a:t>
            </a:r>
            <a:r>
              <a:rPr lang="en" dirty="0">
                <a:solidFill>
                  <a:srgbClr val="FF0000"/>
                </a:solidFill>
                <a:latin typeface="Courier New"/>
                <a:ea typeface="Courier New"/>
                <a:cs typeface="Courier New"/>
                <a:sym typeface="Courier New"/>
              </a:rPr>
              <a:t>run()</a:t>
            </a:r>
            <a:r>
              <a:rPr lang="en" dirty="0"/>
              <a:t> method will be executed when the thread is </a:t>
            </a:r>
            <a:r>
              <a:rPr lang="en" b="1" i="1" dirty="0">
                <a:solidFill>
                  <a:srgbClr val="FF0000"/>
                </a:solidFill>
              </a:rPr>
              <a:t>started</a:t>
            </a:r>
            <a:r>
              <a:rPr lang="en" dirty="0"/>
              <a:t>.</a:t>
            </a:r>
            <a:endParaRPr dirty="0"/>
          </a:p>
          <a:p>
            <a:pPr marL="457200" lvl="0" indent="-311150" algn="l" rtl="0">
              <a:lnSpc>
                <a:spcPct val="100000"/>
              </a:lnSpc>
              <a:spcBef>
                <a:spcPts val="1000"/>
              </a:spcBef>
              <a:spcAft>
                <a:spcPts val="0"/>
              </a:spcAft>
              <a:buSzPts val="1300"/>
              <a:buChar char="●"/>
            </a:pPr>
            <a:r>
              <a:rPr lang="en" dirty="0"/>
              <a:t>The slightly more difficult way is to implement the </a:t>
            </a:r>
            <a:r>
              <a:rPr lang="en" u="sng" dirty="0">
                <a:solidFill>
                  <a:srgbClr val="4A86E8"/>
                </a:solidFill>
                <a:highlight>
                  <a:srgbClr val="FFFF00"/>
                </a:highlight>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java.lang.Runnable</a:t>
            </a:r>
            <a:r>
              <a:rPr lang="en" dirty="0">
                <a:solidFill>
                  <a:srgbClr val="4A86E8"/>
                </a:solidFill>
                <a:highlight>
                  <a:srgbClr val="FFFF00"/>
                </a:highlight>
              </a:rPr>
              <a:t> </a:t>
            </a:r>
            <a:r>
              <a:rPr lang="en" dirty="0"/>
              <a:t>interface and </a:t>
            </a:r>
            <a:r>
              <a:rPr lang="en" b="1" i="1" dirty="0">
                <a:solidFill>
                  <a:srgbClr val="FF0000"/>
                </a:solidFill>
              </a:rPr>
              <a:t>implement</a:t>
            </a:r>
            <a:r>
              <a:rPr lang="en" dirty="0">
                <a:solidFill>
                  <a:srgbClr val="FF0000"/>
                </a:solidFill>
              </a:rPr>
              <a:t> </a:t>
            </a:r>
            <a:r>
              <a:rPr lang="en" dirty="0"/>
              <a:t>its </a:t>
            </a:r>
            <a:r>
              <a:rPr lang="en" dirty="0">
                <a:solidFill>
                  <a:srgbClr val="FF0000"/>
                </a:solidFill>
                <a:latin typeface="Courier New"/>
                <a:ea typeface="Courier New"/>
                <a:cs typeface="Courier New"/>
                <a:sym typeface="Courier New"/>
              </a:rPr>
              <a:t>run()</a:t>
            </a:r>
            <a:r>
              <a:rPr lang="en" dirty="0"/>
              <a:t> method.</a:t>
            </a:r>
            <a:endParaRPr dirty="0"/>
          </a:p>
          <a:p>
            <a:pPr marL="914400" lvl="1" indent="-298450" algn="l" rtl="0">
              <a:lnSpc>
                <a:spcPct val="100000"/>
              </a:lnSpc>
              <a:spcBef>
                <a:spcPts val="0"/>
              </a:spcBef>
              <a:spcAft>
                <a:spcPts val="0"/>
              </a:spcAft>
              <a:buSzPts val="1100"/>
              <a:buChar char="○"/>
            </a:pPr>
            <a:r>
              <a:rPr lang="en" dirty="0"/>
              <a:t>A new </a:t>
            </a:r>
            <a:r>
              <a:rPr lang="en" dirty="0">
                <a:latin typeface="Courier New"/>
                <a:ea typeface="Courier New"/>
                <a:cs typeface="Courier New"/>
                <a:sym typeface="Courier New"/>
              </a:rPr>
              <a:t>Thread</a:t>
            </a:r>
            <a:r>
              <a:rPr lang="en" dirty="0"/>
              <a:t> is created by passing an instance of the </a:t>
            </a:r>
            <a:r>
              <a:rPr lang="en" dirty="0">
                <a:latin typeface="Courier New"/>
                <a:ea typeface="Courier New"/>
                <a:cs typeface="Courier New"/>
                <a:sym typeface="Courier New"/>
              </a:rPr>
              <a:t>Runnable</a:t>
            </a:r>
            <a:r>
              <a:rPr lang="en" dirty="0"/>
              <a:t> into its constructor.</a:t>
            </a:r>
            <a:endParaRPr dirty="0"/>
          </a:p>
          <a:p>
            <a:pPr marL="914400" lvl="1" indent="-298450" algn="l" rtl="0">
              <a:lnSpc>
                <a:spcPct val="100000"/>
              </a:lnSpc>
              <a:spcBef>
                <a:spcPts val="0"/>
              </a:spcBef>
              <a:spcAft>
                <a:spcPts val="0"/>
              </a:spcAft>
              <a:buSzPts val="1100"/>
              <a:buChar char="○"/>
            </a:pPr>
            <a:r>
              <a:rPr lang="en" dirty="0"/>
              <a:t>When the </a:t>
            </a:r>
            <a:r>
              <a:rPr lang="en" dirty="0">
                <a:latin typeface="Courier New"/>
                <a:ea typeface="Courier New"/>
                <a:cs typeface="Courier New"/>
                <a:sym typeface="Courier New"/>
              </a:rPr>
              <a:t>Thread</a:t>
            </a:r>
            <a:r>
              <a:rPr lang="en" dirty="0"/>
              <a:t> is started, the </a:t>
            </a:r>
            <a:r>
              <a:rPr lang="en" dirty="0">
                <a:latin typeface="Courier New"/>
                <a:ea typeface="Courier New"/>
                <a:cs typeface="Courier New"/>
                <a:sym typeface="Courier New"/>
              </a:rPr>
              <a:t>run()</a:t>
            </a:r>
            <a:r>
              <a:rPr lang="en" dirty="0"/>
              <a:t> method is called on the </a:t>
            </a:r>
            <a:r>
              <a:rPr lang="en" dirty="0">
                <a:latin typeface="Courier New"/>
                <a:ea typeface="Courier New"/>
                <a:cs typeface="Courier New"/>
                <a:sym typeface="Courier New"/>
              </a:rPr>
              <a:t>Runnable</a:t>
            </a:r>
            <a:r>
              <a:rPr lang="en" dirty="0"/>
              <a:t>.</a:t>
            </a:r>
            <a:endParaRPr dirty="0"/>
          </a:p>
          <a:p>
            <a:pPr marL="457200" lvl="0" indent="-311150" algn="l" rtl="0">
              <a:lnSpc>
                <a:spcPct val="100000"/>
              </a:lnSpc>
              <a:spcBef>
                <a:spcPts val="1000"/>
              </a:spcBef>
              <a:spcAft>
                <a:spcPts val="0"/>
              </a:spcAft>
              <a:buSzPts val="1300"/>
              <a:buChar char="●"/>
            </a:pPr>
            <a:r>
              <a:rPr lang="en" dirty="0">
                <a:highlight>
                  <a:srgbClr val="FFFF00"/>
                </a:highlight>
              </a:rPr>
              <a:t>The second technique is </a:t>
            </a:r>
            <a:r>
              <a:rPr lang="en" b="1" i="1" dirty="0">
                <a:solidFill>
                  <a:srgbClr val="FF0000"/>
                </a:solidFill>
                <a:highlight>
                  <a:srgbClr val="FFFF00"/>
                </a:highlight>
              </a:rPr>
              <a:t>usually </a:t>
            </a:r>
            <a:r>
              <a:rPr lang="en" dirty="0">
                <a:highlight>
                  <a:srgbClr val="FFFF00"/>
                </a:highlight>
              </a:rPr>
              <a:t>preferred for a number of reasons.</a:t>
            </a:r>
            <a:endParaRPr dirty="0">
              <a:highlight>
                <a:srgbClr val="FFFF00"/>
              </a:highlight>
            </a:endParaRPr>
          </a:p>
        </p:txBody>
      </p:sp>
      <p:sp>
        <p:nvSpPr>
          <p:cNvPr id="240" name="Google Shape;240;p3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a:t>
            </a:fld>
            <a:endParaRPr/>
          </a:p>
        </p:txBody>
      </p:sp>
      <p:sp>
        <p:nvSpPr>
          <p:cNvPr id="241" name="Google Shape;241;p35"/>
          <p:cNvSpPr txBox="1"/>
          <p:nvPr/>
        </p:nvSpPr>
        <p:spPr>
          <a:xfrm>
            <a:off x="5001750" y="2062375"/>
            <a:ext cx="3648300" cy="110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MyThread</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extends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Thread</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3</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run</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4</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System</a:t>
            </a:r>
            <a:r>
              <a:rPr lang="en" sz="1000" dirty="0">
                <a:latin typeface="Consolas"/>
                <a:ea typeface="Consolas"/>
                <a:cs typeface="Consolas"/>
                <a:sym typeface="Consolas"/>
              </a:rPr>
              <a:t>.</a:t>
            </a:r>
            <a:r>
              <a:rPr lang="en" sz="1000" dirty="0">
                <a:solidFill>
                  <a:srgbClr val="001080"/>
                </a:solidFill>
                <a:latin typeface="Consolas"/>
                <a:ea typeface="Consolas"/>
                <a:cs typeface="Consolas"/>
                <a:sym typeface="Consolas"/>
              </a:rPr>
              <a:t>out</a:t>
            </a:r>
            <a:r>
              <a:rPr lang="en" sz="1000" dirty="0">
                <a:latin typeface="Consolas"/>
                <a:ea typeface="Consolas"/>
                <a:cs typeface="Consolas"/>
                <a:sym typeface="Consolas"/>
              </a:rPr>
              <a:t>.</a:t>
            </a:r>
            <a:r>
              <a:rPr lang="en" sz="1000" dirty="0">
                <a:solidFill>
                  <a:srgbClr val="795E26"/>
                </a:solidFill>
                <a:latin typeface="Consolas"/>
                <a:ea typeface="Consolas"/>
                <a:cs typeface="Consolas"/>
                <a:sym typeface="Consolas"/>
              </a:rPr>
              <a:t>println</a:t>
            </a:r>
            <a:r>
              <a:rPr lang="en" sz="1000" dirty="0">
                <a:latin typeface="Consolas"/>
                <a:ea typeface="Consolas"/>
                <a:cs typeface="Consolas"/>
                <a:sym typeface="Consolas"/>
              </a:rPr>
              <a:t>(</a:t>
            </a:r>
            <a:r>
              <a:rPr lang="en" sz="1000" dirty="0">
                <a:solidFill>
                  <a:srgbClr val="A31515"/>
                </a:solidFill>
                <a:latin typeface="Consolas"/>
                <a:ea typeface="Consolas"/>
                <a:cs typeface="Consolas"/>
                <a:sym typeface="Consolas"/>
              </a:rPr>
              <a:t>"Hello, World!"</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5</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6</a:t>
            </a:r>
            <a:r>
              <a:rPr lang="en" sz="1000" dirty="0">
                <a:latin typeface="Consolas"/>
                <a:ea typeface="Consolas"/>
                <a:cs typeface="Consolas"/>
                <a:sym typeface="Consolas"/>
              </a:rPr>
              <a:t>  }  </a:t>
            </a:r>
            <a:endParaRPr sz="1000" dirty="0">
              <a:solidFill>
                <a:srgbClr val="999999"/>
              </a:solidFill>
              <a:latin typeface="Consolas"/>
              <a:ea typeface="Consolas"/>
              <a:cs typeface="Consolas"/>
              <a:sym typeface="Consolas"/>
            </a:endParaRPr>
          </a:p>
        </p:txBody>
      </p:sp>
      <p:sp>
        <p:nvSpPr>
          <p:cNvPr id="242" name="Google Shape;242;p35"/>
          <p:cNvSpPr txBox="1"/>
          <p:nvPr/>
        </p:nvSpPr>
        <p:spPr>
          <a:xfrm>
            <a:off x="5001750" y="3787775"/>
            <a:ext cx="3648300" cy="110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class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MyRunnable</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implements</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Runnable</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3</a:t>
            </a:r>
            <a:r>
              <a:rPr lang="en" sz="1000" dirty="0">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latin typeface="Consolas"/>
                <a:ea typeface="Consolas"/>
                <a:cs typeface="Consolas"/>
                <a:sym typeface="Consolas"/>
              </a:rPr>
              <a:t> </a:t>
            </a:r>
            <a:r>
              <a:rPr lang="en" sz="1000" dirty="0">
                <a:solidFill>
                  <a:srgbClr val="795E26"/>
                </a:solidFill>
                <a:latin typeface="Consolas"/>
                <a:ea typeface="Consolas"/>
                <a:cs typeface="Consolas"/>
                <a:sym typeface="Consolas"/>
              </a:rPr>
              <a:t>run</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4</a:t>
            </a:r>
            <a:r>
              <a:rPr lang="en" sz="1000" dirty="0">
                <a:latin typeface="Consolas"/>
                <a:ea typeface="Consolas"/>
                <a:cs typeface="Consolas"/>
                <a:sym typeface="Consolas"/>
              </a:rPr>
              <a:t>        </a:t>
            </a:r>
            <a:r>
              <a:rPr lang="en" sz="1000" dirty="0">
                <a:solidFill>
                  <a:srgbClr val="001080"/>
                </a:solidFill>
                <a:latin typeface="Consolas"/>
                <a:ea typeface="Consolas"/>
                <a:cs typeface="Consolas"/>
                <a:sym typeface="Consolas"/>
              </a:rPr>
              <a:t>System</a:t>
            </a:r>
            <a:r>
              <a:rPr lang="en" sz="1000" dirty="0">
                <a:latin typeface="Consolas"/>
                <a:ea typeface="Consolas"/>
                <a:cs typeface="Consolas"/>
                <a:sym typeface="Consolas"/>
              </a:rPr>
              <a:t>.</a:t>
            </a:r>
            <a:r>
              <a:rPr lang="en" sz="1000" dirty="0">
                <a:solidFill>
                  <a:srgbClr val="001080"/>
                </a:solidFill>
                <a:latin typeface="Consolas"/>
                <a:ea typeface="Consolas"/>
                <a:cs typeface="Consolas"/>
                <a:sym typeface="Consolas"/>
              </a:rPr>
              <a:t>out</a:t>
            </a:r>
            <a:r>
              <a:rPr lang="en" sz="1000" dirty="0">
                <a:latin typeface="Consolas"/>
                <a:ea typeface="Consolas"/>
                <a:cs typeface="Consolas"/>
                <a:sym typeface="Consolas"/>
              </a:rPr>
              <a:t>.</a:t>
            </a:r>
            <a:r>
              <a:rPr lang="en" sz="1000" dirty="0">
                <a:solidFill>
                  <a:srgbClr val="795E26"/>
                </a:solidFill>
                <a:latin typeface="Consolas"/>
                <a:ea typeface="Consolas"/>
                <a:cs typeface="Consolas"/>
                <a:sym typeface="Consolas"/>
              </a:rPr>
              <a:t>println</a:t>
            </a:r>
            <a:r>
              <a:rPr lang="en" sz="1000" dirty="0">
                <a:latin typeface="Consolas"/>
                <a:ea typeface="Consolas"/>
                <a:cs typeface="Consolas"/>
                <a:sym typeface="Consolas"/>
              </a:rPr>
              <a:t>(</a:t>
            </a:r>
            <a:r>
              <a:rPr lang="en" sz="1000" dirty="0">
                <a:solidFill>
                  <a:srgbClr val="A31515"/>
                </a:solidFill>
                <a:latin typeface="Consolas"/>
                <a:ea typeface="Consolas"/>
                <a:cs typeface="Consolas"/>
                <a:sym typeface="Consolas"/>
              </a:rPr>
              <a:t>"Hello, World!"</a:t>
            </a:r>
            <a:r>
              <a:rPr lang="en" sz="1000" dirty="0">
                <a:latin typeface="Consolas"/>
                <a:ea typeface="Consolas"/>
                <a:cs typeface="Consolas"/>
                <a:sym typeface="Consolas"/>
              </a:rPr>
              <a:t>);</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5</a:t>
            </a:r>
            <a:r>
              <a:rPr lang="en" sz="1000" dirty="0">
                <a:latin typeface="Consolas"/>
                <a:ea typeface="Consolas"/>
                <a:cs typeface="Consolas"/>
                <a:sym typeface="Consolas"/>
              </a:rPr>
              <a:t>     }</a:t>
            </a:r>
            <a:endParaRPr sz="1000" dirty="0">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6</a:t>
            </a:r>
            <a:r>
              <a:rPr lang="en" sz="1000" dirty="0">
                <a:latin typeface="Consolas"/>
                <a:ea typeface="Consolas"/>
                <a:cs typeface="Consolas"/>
                <a:sym typeface="Consolas"/>
              </a:rPr>
              <a:t>  }</a:t>
            </a:r>
            <a:endParaRPr sz="1000" dirty="0">
              <a:solidFill>
                <a:srgbClr val="999999"/>
              </a:solidFill>
              <a:latin typeface="Consolas"/>
              <a:ea typeface="Consolas"/>
              <a:cs typeface="Consolas"/>
              <a:sym typeface="Consolas"/>
            </a:endParaRPr>
          </a:p>
        </p:txBody>
      </p:sp>
      <p:sp>
        <p:nvSpPr>
          <p:cNvPr id="243" name="Google Shape;243;p35"/>
          <p:cNvSpPr txBox="1"/>
          <p:nvPr/>
        </p:nvSpPr>
        <p:spPr>
          <a:xfrm>
            <a:off x="5001750" y="1384325"/>
            <a:ext cx="36483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 new </a:t>
            </a:r>
            <a:r>
              <a:rPr lang="en" sz="1200" b="1" i="1">
                <a:solidFill>
                  <a:srgbClr val="FF0000"/>
                </a:solidFill>
              </a:rPr>
              <a:t>thread</a:t>
            </a:r>
            <a:r>
              <a:rPr lang="en" sz="1200">
                <a:solidFill>
                  <a:srgbClr val="FF0000"/>
                </a:solidFill>
              </a:rPr>
              <a:t> </a:t>
            </a:r>
            <a:r>
              <a:rPr lang="en" sz="1200"/>
              <a:t>can be created either by </a:t>
            </a:r>
            <a:r>
              <a:rPr lang="en" sz="1200" b="1" i="1">
                <a:solidFill>
                  <a:srgbClr val="FF0000"/>
                </a:solidFill>
              </a:rPr>
              <a:t>extending</a:t>
            </a:r>
            <a:r>
              <a:rPr lang="en" sz="1200">
                <a:solidFill>
                  <a:srgbClr val="FF0000"/>
                </a:solidFill>
              </a:rPr>
              <a:t> </a:t>
            </a:r>
            <a:r>
              <a:rPr lang="en" sz="1200"/>
              <a:t>the </a:t>
            </a:r>
            <a:r>
              <a:rPr lang="en" sz="1200">
                <a:solidFill>
                  <a:srgbClr val="FF0000"/>
                </a:solidFill>
                <a:latin typeface="Courier New"/>
                <a:ea typeface="Courier New"/>
                <a:cs typeface="Courier New"/>
                <a:sym typeface="Courier New"/>
              </a:rPr>
              <a:t>java.lang.Thread</a:t>
            </a:r>
            <a:r>
              <a:rPr lang="en" sz="1200"/>
              <a:t> class...</a:t>
            </a:r>
            <a:endParaRPr sz="1200"/>
          </a:p>
        </p:txBody>
      </p:sp>
      <p:sp>
        <p:nvSpPr>
          <p:cNvPr id="244" name="Google Shape;244;p35"/>
          <p:cNvSpPr txBox="1"/>
          <p:nvPr/>
        </p:nvSpPr>
        <p:spPr>
          <a:xfrm>
            <a:off x="5001750" y="3294525"/>
            <a:ext cx="36483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...or by </a:t>
            </a:r>
            <a:r>
              <a:rPr lang="en" sz="1200" b="1" i="1">
                <a:solidFill>
                  <a:srgbClr val="FF0000"/>
                </a:solidFill>
              </a:rPr>
              <a:t>implementing </a:t>
            </a:r>
            <a:r>
              <a:rPr lang="en" sz="1200">
                <a:solidFill>
                  <a:srgbClr val="FF0000"/>
                </a:solidFill>
                <a:latin typeface="Courier New"/>
                <a:ea typeface="Courier New"/>
                <a:cs typeface="Courier New"/>
                <a:sym typeface="Courier New"/>
              </a:rPr>
              <a:t>java.lang.Runnable</a:t>
            </a:r>
            <a:r>
              <a:rPr lang="en" sz="1200"/>
              <a:t>.</a:t>
            </a:r>
            <a:endParaRPr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3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3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3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3"/>
                                        </p:tgtEl>
                                        <p:attrNameLst>
                                          <p:attrName>style.visibility</p:attrName>
                                        </p:attrNameLst>
                                      </p:cBhvr>
                                      <p:to>
                                        <p:strVal val="visible"/>
                                      </p:to>
                                    </p:set>
                                    <p:animEffect transition="in" filter="fade">
                                      <p:cBhvr>
                                        <p:cTn id="39" dur="1000"/>
                                        <p:tgtEl>
                                          <p:spTgt spid="243"/>
                                        </p:tgtEl>
                                      </p:cBhvr>
                                    </p:animEffect>
                                  </p:childTnLst>
                                </p:cTn>
                              </p:par>
                              <p:par>
                                <p:cTn id="40" presetID="10" presetClass="entr" presetSubtype="0" fill="hold" nodeType="withEffect">
                                  <p:stCondLst>
                                    <p:cond delay="0"/>
                                  </p:stCondLst>
                                  <p:childTnLst>
                                    <p:set>
                                      <p:cBhvr>
                                        <p:cTn id="41" dur="1" fill="hold">
                                          <p:stCondLst>
                                            <p:cond delay="0"/>
                                          </p:stCondLst>
                                        </p:cTn>
                                        <p:tgtEl>
                                          <p:spTgt spid="241"/>
                                        </p:tgtEl>
                                        <p:attrNameLst>
                                          <p:attrName>style.visibility</p:attrName>
                                        </p:attrNameLst>
                                      </p:cBhvr>
                                      <p:to>
                                        <p:strVal val="visible"/>
                                      </p:to>
                                    </p:set>
                                    <p:animEffect transition="in" filter="fade">
                                      <p:cBhvr>
                                        <p:cTn id="42" dur="1000"/>
                                        <p:tgtEl>
                                          <p:spTgt spid="2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4"/>
                                        </p:tgtEl>
                                        <p:attrNameLst>
                                          <p:attrName>style.visibility</p:attrName>
                                        </p:attrNameLst>
                                      </p:cBhvr>
                                      <p:to>
                                        <p:strVal val="visible"/>
                                      </p:to>
                                    </p:set>
                                    <p:animEffect transition="in" filter="fade">
                                      <p:cBhvr>
                                        <p:cTn id="47" dur="1000"/>
                                        <p:tgtEl>
                                          <p:spTgt spid="244"/>
                                        </p:tgtEl>
                                      </p:cBhvr>
                                    </p:animEffect>
                                  </p:childTnLst>
                                </p:cTn>
                              </p:par>
                              <p:par>
                                <p:cTn id="48" presetID="10" presetClass="entr" presetSubtype="0" fill="hold" nodeType="withEffect">
                                  <p:stCondLst>
                                    <p:cond delay="0"/>
                                  </p:stCondLst>
                                  <p:childTnLst>
                                    <p:set>
                                      <p:cBhvr>
                                        <p:cTn id="49" dur="1" fill="hold">
                                          <p:stCondLst>
                                            <p:cond delay="0"/>
                                          </p:stCondLst>
                                        </p:cTn>
                                        <p:tgtEl>
                                          <p:spTgt spid="242"/>
                                        </p:tgtEl>
                                        <p:attrNameLst>
                                          <p:attrName>style.visibility</p:attrName>
                                        </p:attrNameLst>
                                      </p:cBhvr>
                                      <p:to>
                                        <p:strVal val="visible"/>
                                      </p:to>
                                    </p:set>
                                    <p:animEffect transition="in" filter="fade">
                                      <p:cBhvr>
                                        <p:cTn id="50" dur="1000"/>
                                        <p:tgtEl>
                                          <p:spTgt spid="2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6"/>
          <p:cNvSpPr/>
          <p:nvPr/>
        </p:nvSpPr>
        <p:spPr>
          <a:xfrm>
            <a:off x="1769400" y="1891000"/>
            <a:ext cx="567300" cy="385750"/>
          </a:xfrm>
          <a:custGeom>
            <a:avLst/>
            <a:gdLst/>
            <a:ahLst/>
            <a:cxnLst/>
            <a:rect l="l" t="t" r="r" b="b"/>
            <a:pathLst>
              <a:path w="22692" h="15430" extrusionOk="0">
                <a:moveTo>
                  <a:pt x="605" y="0"/>
                </a:moveTo>
                <a:lnTo>
                  <a:pt x="22692" y="15430"/>
                </a:lnTo>
                <a:lnTo>
                  <a:pt x="0" y="9984"/>
                </a:lnTo>
              </a:path>
            </a:pathLst>
          </a:custGeom>
          <a:solidFill>
            <a:srgbClr val="FFFFFF"/>
          </a:solidFill>
          <a:ln w="19050" cap="flat" cmpd="sng">
            <a:solidFill>
              <a:srgbClr val="000000"/>
            </a:solidFill>
            <a:prstDash val="solid"/>
            <a:round/>
            <a:headEnd type="none" w="med" len="med"/>
            <a:tailEnd type="none" w="med" len="med"/>
          </a:ln>
        </p:spPr>
        <p:txBody>
          <a:bodyPr/>
          <a:lstStyle/>
          <a:p>
            <a:endParaRPr lang="en-US"/>
          </a:p>
        </p:txBody>
      </p:sp>
      <p:sp>
        <p:nvSpPr>
          <p:cNvPr id="250" name="Google Shape;250;p36"/>
          <p:cNvSpPr/>
          <p:nvPr/>
        </p:nvSpPr>
        <p:spPr>
          <a:xfrm>
            <a:off x="1511670" y="2148730"/>
            <a:ext cx="310125" cy="325250"/>
          </a:xfrm>
          <a:custGeom>
            <a:avLst/>
            <a:gdLst/>
            <a:ahLst/>
            <a:cxnLst/>
            <a:rect l="l" t="t" r="r" b="b"/>
            <a:pathLst>
              <a:path w="12405" h="13010" extrusionOk="0">
                <a:moveTo>
                  <a:pt x="0" y="2420"/>
                </a:moveTo>
                <a:lnTo>
                  <a:pt x="12405" y="13010"/>
                </a:lnTo>
                <a:lnTo>
                  <a:pt x="10892" y="0"/>
                </a:lnTo>
              </a:path>
            </a:pathLst>
          </a:custGeom>
          <a:solidFill>
            <a:srgbClr val="FFFFFF"/>
          </a:solidFill>
          <a:ln w="19050" cap="flat" cmpd="sng">
            <a:solidFill>
              <a:srgbClr val="000000"/>
            </a:solidFill>
            <a:prstDash val="solid"/>
            <a:round/>
            <a:headEnd type="none" w="med" len="med"/>
            <a:tailEnd type="none" w="med" len="med"/>
          </a:ln>
        </p:spPr>
        <p:txBody>
          <a:bodyPr/>
          <a:lstStyle/>
          <a:p>
            <a:endParaRPr lang="en-US"/>
          </a:p>
        </p:txBody>
      </p:sp>
      <p:sp>
        <p:nvSpPr>
          <p:cNvPr id="251" name="Google Shape;251;p36"/>
          <p:cNvSpPr/>
          <p:nvPr/>
        </p:nvSpPr>
        <p:spPr>
          <a:xfrm>
            <a:off x="1118900" y="2095225"/>
            <a:ext cx="385775" cy="476525"/>
          </a:xfrm>
          <a:custGeom>
            <a:avLst/>
            <a:gdLst/>
            <a:ahLst/>
            <a:cxnLst/>
            <a:rect l="l" t="t" r="r" b="b"/>
            <a:pathLst>
              <a:path w="15431" h="19061" extrusionOk="0">
                <a:moveTo>
                  <a:pt x="0" y="3933"/>
                </a:moveTo>
                <a:lnTo>
                  <a:pt x="15431" y="19061"/>
                </a:lnTo>
                <a:lnTo>
                  <a:pt x="9682" y="0"/>
                </a:lnTo>
              </a:path>
            </a:pathLst>
          </a:custGeom>
          <a:solidFill>
            <a:srgbClr val="FFFFFF"/>
          </a:solidFill>
          <a:ln w="19050" cap="flat" cmpd="sng">
            <a:solidFill>
              <a:srgbClr val="000000"/>
            </a:solidFill>
            <a:prstDash val="solid"/>
            <a:round/>
            <a:headEnd type="none" w="med" len="med"/>
            <a:tailEnd type="none" w="med" len="med"/>
          </a:ln>
        </p:spPr>
        <p:txBody>
          <a:bodyPr/>
          <a:lstStyle/>
          <a:p>
            <a:endParaRPr lang="en-US"/>
          </a:p>
        </p:txBody>
      </p:sp>
      <p:sp>
        <p:nvSpPr>
          <p:cNvPr id="252" name="Google Shape;252;p36"/>
          <p:cNvSpPr/>
          <p:nvPr/>
        </p:nvSpPr>
        <p:spPr>
          <a:xfrm>
            <a:off x="831475" y="2117900"/>
            <a:ext cx="385775" cy="590000"/>
          </a:xfrm>
          <a:custGeom>
            <a:avLst/>
            <a:gdLst/>
            <a:ahLst/>
            <a:cxnLst/>
            <a:rect l="l" t="t" r="r" b="b"/>
            <a:pathLst>
              <a:path w="15431" h="23600" extrusionOk="0">
                <a:moveTo>
                  <a:pt x="0" y="5144"/>
                </a:moveTo>
                <a:lnTo>
                  <a:pt x="15431" y="23600"/>
                </a:lnTo>
                <a:lnTo>
                  <a:pt x="7564" y="0"/>
                </a:lnTo>
              </a:path>
            </a:pathLst>
          </a:custGeom>
          <a:solidFill>
            <a:srgbClr val="FFFFFF"/>
          </a:solidFill>
          <a:ln w="19050" cap="flat" cmpd="sng">
            <a:solidFill>
              <a:srgbClr val="000000"/>
            </a:solidFill>
            <a:prstDash val="solid"/>
            <a:round/>
            <a:headEnd type="none" w="med" len="med"/>
            <a:tailEnd type="none" w="med" len="med"/>
          </a:ln>
        </p:spPr>
        <p:txBody>
          <a:bodyPr/>
          <a:lstStyle/>
          <a:p>
            <a:endParaRPr lang="en-US"/>
          </a:p>
        </p:txBody>
      </p:sp>
      <p:pic>
        <p:nvPicPr>
          <p:cNvPr id="253" name="Google Shape;253;p36"/>
          <p:cNvPicPr preferRelativeResize="0"/>
          <p:nvPr/>
        </p:nvPicPr>
        <p:blipFill>
          <a:blip r:embed="rId3">
            <a:alphaModFix/>
          </a:blip>
          <a:stretch>
            <a:fillRect/>
          </a:stretch>
        </p:blipFill>
        <p:spPr>
          <a:xfrm>
            <a:off x="1896875" y="2231075"/>
            <a:ext cx="1392688" cy="1396655"/>
          </a:xfrm>
          <a:prstGeom prst="rect">
            <a:avLst/>
          </a:prstGeom>
          <a:noFill/>
          <a:ln>
            <a:noFill/>
          </a:ln>
        </p:spPr>
      </p:pic>
      <p:pic>
        <p:nvPicPr>
          <p:cNvPr id="254" name="Google Shape;254;p36"/>
          <p:cNvPicPr preferRelativeResize="0"/>
          <p:nvPr/>
        </p:nvPicPr>
        <p:blipFill>
          <a:blip r:embed="rId3">
            <a:alphaModFix/>
          </a:blip>
          <a:stretch>
            <a:fillRect/>
          </a:stretch>
        </p:blipFill>
        <p:spPr>
          <a:xfrm>
            <a:off x="1439675" y="2383475"/>
            <a:ext cx="1547431" cy="1551839"/>
          </a:xfrm>
          <a:prstGeom prst="rect">
            <a:avLst/>
          </a:prstGeom>
          <a:noFill/>
          <a:ln>
            <a:noFill/>
          </a:ln>
        </p:spPr>
      </p:pic>
      <p:pic>
        <p:nvPicPr>
          <p:cNvPr id="255" name="Google Shape;255;p36"/>
          <p:cNvPicPr preferRelativeResize="0"/>
          <p:nvPr/>
        </p:nvPicPr>
        <p:blipFill>
          <a:blip r:embed="rId3">
            <a:alphaModFix/>
          </a:blip>
          <a:stretch>
            <a:fillRect/>
          </a:stretch>
        </p:blipFill>
        <p:spPr>
          <a:xfrm>
            <a:off x="982475" y="2535875"/>
            <a:ext cx="1719367" cy="1724266"/>
          </a:xfrm>
          <a:prstGeom prst="rect">
            <a:avLst/>
          </a:prstGeom>
          <a:noFill/>
          <a:ln>
            <a:noFill/>
          </a:ln>
        </p:spPr>
      </p:pic>
      <p:pic>
        <p:nvPicPr>
          <p:cNvPr id="256" name="Google Shape;256;p36"/>
          <p:cNvPicPr preferRelativeResize="0"/>
          <p:nvPr/>
        </p:nvPicPr>
        <p:blipFill>
          <a:blip r:embed="rId3">
            <a:alphaModFix/>
          </a:blip>
          <a:stretch>
            <a:fillRect/>
          </a:stretch>
        </p:blipFill>
        <p:spPr>
          <a:xfrm>
            <a:off x="525275" y="2688275"/>
            <a:ext cx="1910408" cy="1915852"/>
          </a:xfrm>
          <a:prstGeom prst="rect">
            <a:avLst/>
          </a:prstGeom>
          <a:noFill/>
          <a:ln>
            <a:noFill/>
          </a:ln>
        </p:spPr>
      </p:pic>
      <p:sp>
        <p:nvSpPr>
          <p:cNvPr id="257" name="Google Shape;257;p3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Hello, Worlds!</a:t>
            </a:r>
            <a:endParaRPr/>
          </a:p>
        </p:txBody>
      </p:sp>
      <p:sp>
        <p:nvSpPr>
          <p:cNvPr id="258" name="Google Shape;258;p36"/>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Threads are a complex topic that require a lot of practice to get the hang of. Let's refresh our memories by writing a simple, multi-threaded program that prints "Hello, World!" to standard output.</a:t>
            </a:r>
            <a:endParaRPr/>
          </a:p>
        </p:txBody>
      </p:sp>
      <p:sp>
        <p:nvSpPr>
          <p:cNvPr id="259" name="Google Shape;259;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a:t>
            </a:fld>
            <a:endParaRPr/>
          </a:p>
        </p:txBody>
      </p:sp>
      <p:sp>
        <p:nvSpPr>
          <p:cNvPr id="260" name="Google Shape;260;p36"/>
          <p:cNvSpPr txBox="1">
            <a:spLocks noGrp="1"/>
          </p:cNvSpPr>
          <p:nvPr>
            <p:ph type="body" idx="2"/>
          </p:nvPr>
        </p:nvSpPr>
        <p:spPr>
          <a:xfrm>
            <a:off x="3364650" y="1535475"/>
            <a:ext cx="5569200" cy="31878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Create a new Java class named "</a:t>
            </a:r>
            <a:r>
              <a:rPr lang="en" sz="1800" dirty="0">
                <a:solidFill>
                  <a:srgbClr val="FF0000"/>
                </a:solidFill>
                <a:latin typeface="Courier New"/>
                <a:ea typeface="Courier New"/>
                <a:cs typeface="Courier New"/>
                <a:sym typeface="Courier New"/>
              </a:rPr>
              <a:t>HelloThread</a:t>
            </a:r>
            <a:r>
              <a:rPr lang="en" sz="1800" dirty="0"/>
              <a:t>" in the </a:t>
            </a:r>
            <a:r>
              <a:rPr lang="en" sz="1800" dirty="0">
                <a:latin typeface="Courier New"/>
                <a:ea typeface="Courier New"/>
                <a:cs typeface="Courier New"/>
                <a:sym typeface="Courier New"/>
              </a:rPr>
              <a:t>activities</a:t>
            </a:r>
            <a:r>
              <a:rPr lang="en" sz="1800" dirty="0"/>
              <a:t> package and use your preferred method to make it a thread.</a:t>
            </a:r>
            <a:endParaRPr sz="1800" dirty="0"/>
          </a:p>
          <a:p>
            <a:pPr marL="914400" lvl="1" indent="-330200" algn="l" rtl="0">
              <a:spcBef>
                <a:spcPts val="0"/>
              </a:spcBef>
              <a:spcAft>
                <a:spcPts val="0"/>
              </a:spcAft>
              <a:buSzPts val="1600"/>
              <a:buChar char="○"/>
            </a:pPr>
            <a:r>
              <a:rPr lang="en" sz="1600" dirty="0"/>
              <a:t>Extend </a:t>
            </a:r>
            <a:r>
              <a:rPr lang="en" sz="1600" dirty="0">
                <a:latin typeface="Courier New"/>
                <a:ea typeface="Courier New"/>
                <a:cs typeface="Courier New"/>
                <a:sym typeface="Courier New"/>
              </a:rPr>
              <a:t>Thread</a:t>
            </a:r>
            <a:r>
              <a:rPr lang="en" sz="1600" dirty="0"/>
              <a:t>, implement </a:t>
            </a:r>
            <a:r>
              <a:rPr lang="en" sz="1600" dirty="0">
                <a:latin typeface="Courier New"/>
                <a:ea typeface="Courier New"/>
                <a:cs typeface="Courier New"/>
                <a:sym typeface="Courier New"/>
              </a:rPr>
              <a:t>Runnable</a:t>
            </a:r>
            <a:r>
              <a:rPr lang="en" sz="1600" dirty="0"/>
              <a:t>, or use a lambda. Which do you think is better and why?</a:t>
            </a:r>
            <a:endParaRPr sz="1600" dirty="0"/>
          </a:p>
          <a:p>
            <a:pPr marL="914400" lvl="1" indent="-330200" algn="l" rtl="0">
              <a:spcBef>
                <a:spcPts val="0"/>
              </a:spcBef>
              <a:spcAft>
                <a:spcPts val="0"/>
              </a:spcAft>
              <a:buSzPts val="1600"/>
              <a:buChar char="○"/>
            </a:pPr>
            <a:r>
              <a:rPr lang="en" sz="1600" dirty="0"/>
              <a:t>The </a:t>
            </a:r>
            <a:r>
              <a:rPr lang="en" sz="1600" dirty="0">
                <a:solidFill>
                  <a:srgbClr val="FF0000"/>
                </a:solidFill>
                <a:latin typeface="Courier New"/>
                <a:ea typeface="Courier New"/>
                <a:cs typeface="Courier New"/>
                <a:sym typeface="Courier New"/>
              </a:rPr>
              <a:t>run()</a:t>
            </a:r>
            <a:r>
              <a:rPr lang="en" sz="1600" dirty="0"/>
              <a:t> method should print </a:t>
            </a:r>
            <a:r>
              <a:rPr lang="en" sz="1600" dirty="0">
                <a:solidFill>
                  <a:srgbClr val="FF0000"/>
                </a:solidFill>
                <a:latin typeface="Courier New"/>
                <a:ea typeface="Courier New"/>
                <a:cs typeface="Courier New"/>
                <a:sym typeface="Courier New"/>
              </a:rPr>
              <a:t>"Hello, World!"</a:t>
            </a:r>
            <a:r>
              <a:rPr lang="en" sz="1600" dirty="0"/>
              <a:t> to standard output.</a:t>
            </a:r>
            <a:endParaRPr sz="1600" dirty="0"/>
          </a:p>
          <a:p>
            <a:pPr marL="457200" lvl="0" indent="-342900" algn="l" rtl="0">
              <a:spcBef>
                <a:spcPts val="0"/>
              </a:spcBef>
              <a:spcAft>
                <a:spcPts val="0"/>
              </a:spcAft>
              <a:buSzPts val="1800"/>
              <a:buChar char="●"/>
            </a:pPr>
            <a:r>
              <a:rPr lang="en" sz="1800" dirty="0"/>
              <a:t>Define a </a:t>
            </a:r>
            <a:r>
              <a:rPr lang="en" sz="1800" dirty="0">
                <a:solidFill>
                  <a:srgbClr val="FF0000"/>
                </a:solidFill>
                <a:latin typeface="Courier New"/>
                <a:ea typeface="Courier New"/>
                <a:cs typeface="Courier New"/>
                <a:sym typeface="Courier New"/>
              </a:rPr>
              <a:t>main</a:t>
            </a:r>
            <a:r>
              <a:rPr lang="en" sz="1800" dirty="0">
                <a:solidFill>
                  <a:srgbClr val="FF0000"/>
                </a:solidFill>
              </a:rPr>
              <a:t> </a:t>
            </a:r>
            <a:r>
              <a:rPr lang="en" sz="1800" dirty="0"/>
              <a:t>method with the appropriate signature, and use it to </a:t>
            </a:r>
            <a:r>
              <a:rPr lang="en" sz="1800" b="1" i="1" dirty="0">
                <a:solidFill>
                  <a:srgbClr val="FF0000"/>
                </a:solidFill>
              </a:rPr>
              <a:t>create </a:t>
            </a:r>
            <a:r>
              <a:rPr lang="en" sz="1800" dirty="0"/>
              <a:t>and </a:t>
            </a:r>
            <a:r>
              <a:rPr lang="en" sz="1800" b="1" i="1" dirty="0">
                <a:solidFill>
                  <a:srgbClr val="FF0000"/>
                </a:solidFill>
              </a:rPr>
              <a:t>start </a:t>
            </a:r>
            <a:r>
              <a:rPr lang="en" sz="1800" dirty="0">
                <a:solidFill>
                  <a:srgbClr val="FF0000"/>
                </a:solidFill>
              </a:rPr>
              <a:t>5</a:t>
            </a:r>
            <a:r>
              <a:rPr lang="en" sz="1800" dirty="0"/>
              <a:t> of your threads.</a:t>
            </a:r>
            <a:endParaRPr sz="1800" dirty="0"/>
          </a:p>
        </p:txBody>
      </p:sp>
      <p:sp>
        <p:nvSpPr>
          <p:cNvPr id="261" name="Google Shape;261;p3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11.1</a:t>
            </a:r>
            <a:endParaRPr/>
          </a:p>
        </p:txBody>
      </p:sp>
      <p:pic>
        <p:nvPicPr>
          <p:cNvPr id="262" name="Google Shape;262;p36"/>
          <p:cNvPicPr preferRelativeResize="0"/>
          <p:nvPr/>
        </p:nvPicPr>
        <p:blipFill>
          <a:blip r:embed="rId3">
            <a:alphaModFix/>
          </a:blip>
          <a:stretch>
            <a:fillRect/>
          </a:stretch>
        </p:blipFill>
        <p:spPr>
          <a:xfrm>
            <a:off x="68075" y="2840675"/>
            <a:ext cx="2122675" cy="2128725"/>
          </a:xfrm>
          <a:prstGeom prst="rect">
            <a:avLst/>
          </a:prstGeom>
          <a:noFill/>
          <a:ln>
            <a:noFill/>
          </a:ln>
        </p:spPr>
      </p:pic>
      <p:sp>
        <p:nvSpPr>
          <p:cNvPr id="263" name="Google Shape;263;p36"/>
          <p:cNvSpPr/>
          <p:nvPr/>
        </p:nvSpPr>
        <p:spPr>
          <a:xfrm>
            <a:off x="214400" y="1729125"/>
            <a:ext cx="1649100" cy="500100"/>
          </a:xfrm>
          <a:prstGeom prst="wedgeRoundRectCallout">
            <a:avLst>
              <a:gd name="adj1" fmla="val -11205"/>
              <a:gd name="adj2" fmla="val 168401"/>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600"/>
              <a:t>Hi</a:t>
            </a:r>
            <a:endParaRPr sz="2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a:spLocks noGrp="1"/>
          </p:cNvSpPr>
          <p:nvPr>
            <p:ph type="body" idx="1"/>
          </p:nvPr>
        </p:nvSpPr>
        <p:spPr>
          <a:xfrm>
            <a:off x="4644675" y="500925"/>
            <a:ext cx="4166400" cy="4347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An Executor is a construct for managing program execution via Threads.</a:t>
            </a:r>
            <a:endParaRPr dirty="0"/>
          </a:p>
          <a:p>
            <a:pPr marL="457200" lvl="0" indent="-311150" algn="l" rtl="0">
              <a:spcBef>
                <a:spcPts val="1000"/>
              </a:spcBef>
              <a:spcAft>
                <a:spcPts val="0"/>
              </a:spcAft>
              <a:buSzPts val="1300"/>
              <a:buChar char="●"/>
            </a:pPr>
            <a:r>
              <a:rPr lang="en" dirty="0"/>
              <a:t>Java provides a convenient </a:t>
            </a:r>
            <a:r>
              <a:rPr lang="en" dirty="0">
                <a:highlight>
                  <a:srgbClr val="FFFF00"/>
                </a:highlight>
              </a:rPr>
              <a:t>ExecutorService</a:t>
            </a:r>
            <a:r>
              <a:rPr lang="en" dirty="0"/>
              <a:t> class that allows for easy management of an Executor.</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submit</a:t>
            </a:r>
            <a:r>
              <a:rPr lang="en" dirty="0"/>
              <a:t> - Submits a task for execution.</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shutdown</a:t>
            </a:r>
            <a:r>
              <a:rPr lang="en" dirty="0"/>
              <a:t> - Stops the service after all currently submitted tasks have finished. New tasks cannot be submitted.</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shutdownNow</a:t>
            </a:r>
            <a:r>
              <a:rPr lang="en" dirty="0"/>
              <a:t> - Attempts to stop active tasks and stops the service.</a:t>
            </a:r>
            <a:endParaRPr dirty="0"/>
          </a:p>
          <a:p>
            <a:pPr marL="914400" lvl="1" indent="-298450" algn="l" rtl="0">
              <a:spcBef>
                <a:spcPts val="0"/>
              </a:spcBef>
              <a:spcAft>
                <a:spcPts val="0"/>
              </a:spcAft>
              <a:buSzPts val="1100"/>
              <a:buChar char="○"/>
            </a:pPr>
            <a:r>
              <a:rPr lang="en" dirty="0">
                <a:solidFill>
                  <a:srgbClr val="FF0000"/>
                </a:solidFill>
                <a:highlight>
                  <a:srgbClr val="FFFF00"/>
                </a:highlight>
                <a:latin typeface="Courier New"/>
                <a:ea typeface="Courier New"/>
                <a:cs typeface="Courier New"/>
                <a:sym typeface="Courier New"/>
              </a:rPr>
              <a:t>awaitTermination</a:t>
            </a:r>
            <a:r>
              <a:rPr lang="en" dirty="0"/>
              <a:t> - Blocks until the service has finished.</a:t>
            </a:r>
            <a:endParaRPr dirty="0"/>
          </a:p>
          <a:p>
            <a:pPr marL="457200" lvl="0" indent="-311150" algn="l" rtl="0">
              <a:spcBef>
                <a:spcPts val="1000"/>
              </a:spcBef>
              <a:spcAft>
                <a:spcPts val="0"/>
              </a:spcAft>
              <a:buSzPts val="1300"/>
              <a:buChar char="●"/>
            </a:pPr>
            <a:r>
              <a:rPr lang="en" dirty="0"/>
              <a:t>An executor service can be created using the </a:t>
            </a:r>
            <a:r>
              <a:rPr lang="en" dirty="0">
                <a:solidFill>
                  <a:srgbClr val="FF0000"/>
                </a:solidFill>
                <a:latin typeface="Courier New"/>
                <a:ea typeface="Courier New"/>
                <a:cs typeface="Courier New"/>
                <a:sym typeface="Courier New"/>
              </a:rPr>
              <a:t>Executors</a:t>
            </a:r>
            <a:r>
              <a:rPr lang="en" dirty="0"/>
              <a:t> utility class and we covered three options:</a:t>
            </a:r>
            <a:endParaRPr dirty="0"/>
          </a:p>
          <a:p>
            <a:pPr marL="914400" lvl="1" indent="-298450" algn="l" rtl="0">
              <a:lnSpc>
                <a:spcPct val="100000"/>
              </a:lnSpc>
              <a:spcBef>
                <a:spcPts val="0"/>
              </a:spcBef>
              <a:spcAft>
                <a:spcPts val="0"/>
              </a:spcAft>
              <a:buClr>
                <a:srgbClr val="666666"/>
              </a:buClr>
              <a:buSzPts val="1100"/>
              <a:buChar char="○"/>
            </a:pPr>
            <a:r>
              <a:rPr lang="en" dirty="0">
                <a:solidFill>
                  <a:srgbClr val="666666"/>
                </a:solidFill>
                <a:highlight>
                  <a:srgbClr val="FFFF00"/>
                </a:highlight>
                <a:uFill>
                  <a:noFill/>
                </a:uFill>
                <a:latin typeface="Courier New"/>
                <a:ea typeface="Courier New"/>
                <a:cs typeface="Courier New"/>
                <a:sym typeface="Courier New"/>
                <a:hlinkClick r:id="rId3">
                  <a:extLst>
                    <a:ext uri="{A12FA001-AC4F-418D-AE19-62706E023703}">
                      <ahyp:hlinkClr xmlns:ahyp="http://schemas.microsoft.com/office/drawing/2018/hyperlinkcolor" val="tx"/>
                    </a:ext>
                  </a:extLst>
                </a:hlinkClick>
              </a:rPr>
              <a:t>newCachedThreadPool</a:t>
            </a:r>
            <a:r>
              <a:rPr lang="en" dirty="0">
                <a:solidFill>
                  <a:srgbClr val="666666"/>
                </a:solidFill>
                <a:highlight>
                  <a:srgbClr val="FFFF00"/>
                </a:highlight>
                <a:latin typeface="Courier New"/>
                <a:ea typeface="Courier New"/>
                <a:cs typeface="Courier New"/>
                <a:sym typeface="Courier New"/>
              </a:rPr>
              <a:t>()</a:t>
            </a:r>
            <a:endParaRPr dirty="0">
              <a:solidFill>
                <a:srgbClr val="666666"/>
              </a:solidFill>
              <a:highlight>
                <a:srgbClr val="FFFF00"/>
              </a:highlight>
              <a:latin typeface="Courier New"/>
              <a:ea typeface="Courier New"/>
              <a:cs typeface="Courier New"/>
              <a:sym typeface="Courier New"/>
            </a:endParaRPr>
          </a:p>
          <a:p>
            <a:pPr marL="914400" lvl="1" indent="-298450" algn="l" rtl="0">
              <a:lnSpc>
                <a:spcPct val="100000"/>
              </a:lnSpc>
              <a:spcBef>
                <a:spcPts val="0"/>
              </a:spcBef>
              <a:spcAft>
                <a:spcPts val="0"/>
              </a:spcAft>
              <a:buClr>
                <a:srgbClr val="666666"/>
              </a:buClr>
              <a:buSzPts val="1100"/>
              <a:buFont typeface="Courier New"/>
              <a:buChar char="○"/>
            </a:pPr>
            <a:r>
              <a:rPr lang="en" dirty="0">
                <a:solidFill>
                  <a:srgbClr val="666666"/>
                </a:solidFill>
                <a:highlight>
                  <a:srgbClr val="FFFF00"/>
                </a:highlight>
                <a:uFill>
                  <a:noFill/>
                </a:uFill>
                <a:latin typeface="Courier New"/>
                <a:ea typeface="Courier New"/>
                <a:cs typeface="Courier New"/>
                <a:sym typeface="Courier New"/>
                <a:hlinkClick r:id="rId4">
                  <a:extLst>
                    <a:ext uri="{A12FA001-AC4F-418D-AE19-62706E023703}">
                      <ahyp:hlinkClr xmlns:ahyp="http://schemas.microsoft.com/office/drawing/2018/hyperlinkcolor" val="tx"/>
                    </a:ext>
                  </a:extLst>
                </a:hlinkClick>
              </a:rPr>
              <a:t>newFixedThreadPool</a:t>
            </a:r>
            <a:r>
              <a:rPr lang="en" dirty="0">
                <a:solidFill>
                  <a:srgbClr val="666666"/>
                </a:solidFill>
                <a:highlight>
                  <a:srgbClr val="FFFF00"/>
                </a:highlight>
                <a:latin typeface="Courier New"/>
                <a:ea typeface="Courier New"/>
                <a:cs typeface="Courier New"/>
                <a:sym typeface="Courier New"/>
              </a:rPr>
              <a:t>(int nThreads)</a:t>
            </a:r>
            <a:endParaRPr dirty="0">
              <a:solidFill>
                <a:srgbClr val="666666"/>
              </a:solidFill>
              <a:highlight>
                <a:srgbClr val="FFFF00"/>
              </a:highlight>
              <a:latin typeface="Courier New"/>
              <a:ea typeface="Courier New"/>
              <a:cs typeface="Courier New"/>
              <a:sym typeface="Courier New"/>
            </a:endParaRPr>
          </a:p>
          <a:p>
            <a:pPr marL="914400" lvl="1" indent="-298450" algn="l" rtl="0">
              <a:lnSpc>
                <a:spcPct val="100000"/>
              </a:lnSpc>
              <a:spcBef>
                <a:spcPts val="0"/>
              </a:spcBef>
              <a:spcAft>
                <a:spcPts val="0"/>
              </a:spcAft>
              <a:buClr>
                <a:srgbClr val="666666"/>
              </a:buClr>
              <a:buSzPts val="1100"/>
              <a:buFont typeface="Courier New"/>
              <a:buChar char="○"/>
            </a:pPr>
            <a:r>
              <a:rPr lang="en" dirty="0">
                <a:solidFill>
                  <a:srgbClr val="666666"/>
                </a:solidFill>
                <a:highlight>
                  <a:srgbClr val="FFFF00"/>
                </a:highlight>
                <a:uFill>
                  <a:noFill/>
                </a:uFill>
                <a:latin typeface="Courier New"/>
                <a:ea typeface="Courier New"/>
                <a:cs typeface="Courier New"/>
                <a:sym typeface="Courier New"/>
                <a:hlinkClick r:id="rId5">
                  <a:extLst>
                    <a:ext uri="{A12FA001-AC4F-418D-AE19-62706E023703}">
                      <ahyp:hlinkClr xmlns:ahyp="http://schemas.microsoft.com/office/drawing/2018/hyperlinkcolor" val="tx"/>
                    </a:ext>
                  </a:extLst>
                </a:hlinkClick>
              </a:rPr>
              <a:t>newSingleThreadExecutor</a:t>
            </a:r>
            <a:r>
              <a:rPr lang="en" dirty="0">
                <a:solidFill>
                  <a:srgbClr val="666666"/>
                </a:solidFill>
                <a:highlight>
                  <a:srgbClr val="FFFF00"/>
                </a:highlight>
                <a:latin typeface="Courier New"/>
                <a:ea typeface="Courier New"/>
                <a:cs typeface="Courier New"/>
                <a:sym typeface="Courier New"/>
              </a:rPr>
              <a:t>()</a:t>
            </a:r>
            <a:endParaRPr dirty="0">
              <a:solidFill>
                <a:srgbClr val="666666"/>
              </a:solidFill>
              <a:highlight>
                <a:srgbClr val="FFFF00"/>
              </a:highlight>
              <a:latin typeface="Courier New"/>
              <a:ea typeface="Courier New"/>
              <a:cs typeface="Courier New"/>
              <a:sym typeface="Courier New"/>
            </a:endParaRPr>
          </a:p>
        </p:txBody>
      </p:sp>
      <p:sp>
        <p:nvSpPr>
          <p:cNvPr id="269" name="Google Shape;269;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6</a:t>
            </a:fld>
            <a:endParaRPr/>
          </a:p>
        </p:txBody>
      </p:sp>
      <p:sp>
        <p:nvSpPr>
          <p:cNvPr id="270" name="Google Shape;270;p37"/>
          <p:cNvSpPr txBox="1">
            <a:spLocks noGrp="1"/>
          </p:cNvSpPr>
          <p:nvPr>
            <p:ph type="body" idx="3"/>
          </p:nvPr>
        </p:nvSpPr>
        <p:spPr>
          <a:xfrm>
            <a:off x="315425" y="40896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b="1" i="1" dirty="0">
                <a:solidFill>
                  <a:srgbClr val="FF0000"/>
                </a:solidFill>
                <a:highlight>
                  <a:srgbClr val="FFFF00"/>
                </a:highlight>
              </a:rPr>
              <a:t>Executors </a:t>
            </a:r>
            <a:r>
              <a:rPr lang="en" dirty="0">
                <a:highlight>
                  <a:srgbClr val="FFFF00"/>
                </a:highlight>
              </a:rPr>
              <a:t>and the </a:t>
            </a:r>
            <a:r>
              <a:rPr lang="en" b="1" i="1" dirty="0">
                <a:solidFill>
                  <a:srgbClr val="FF0000"/>
                </a:solidFill>
                <a:highlight>
                  <a:srgbClr val="FFFF00"/>
                </a:highlight>
              </a:rPr>
              <a:t>ExecutorService </a:t>
            </a:r>
            <a:r>
              <a:rPr lang="en" dirty="0">
                <a:highlight>
                  <a:srgbClr val="FFFF00"/>
                </a:highlight>
              </a:rPr>
              <a:t>are the modern way to run tasks in Java.</a:t>
            </a:r>
            <a:endParaRPr dirty="0">
              <a:highlight>
                <a:srgbClr val="FFFF00"/>
              </a:highlight>
            </a:endParaRPr>
          </a:p>
        </p:txBody>
      </p:sp>
      <p:sp>
        <p:nvSpPr>
          <p:cNvPr id="271" name="Google Shape;271;p37"/>
          <p:cNvSpPr txBox="1">
            <a:spLocks noGrp="1"/>
          </p:cNvSpPr>
          <p:nvPr>
            <p:ph type="title"/>
          </p:nvPr>
        </p:nvSpPr>
        <p:spPr>
          <a:xfrm>
            <a:off x="311725" y="194425"/>
            <a:ext cx="3706500" cy="10467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Review: ExecutorService</a:t>
            </a:r>
            <a:endParaRPr/>
          </a:p>
        </p:txBody>
      </p:sp>
      <p:sp>
        <p:nvSpPr>
          <p:cNvPr id="272" name="Google Shape;272;p37"/>
          <p:cNvSpPr txBox="1">
            <a:spLocks noGrp="1"/>
          </p:cNvSpPr>
          <p:nvPr>
            <p:ph type="body" idx="2"/>
          </p:nvPr>
        </p:nvSpPr>
        <p:spPr>
          <a:xfrm>
            <a:off x="315425" y="1286175"/>
            <a:ext cx="3706500" cy="2504400"/>
          </a:xfrm>
          <a:prstGeom prst="rect">
            <a:avLst/>
          </a:prstGeom>
          <a:solidFill>
            <a:schemeClr val="lt1"/>
          </a:solidFill>
          <a:ln w="19050"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1</a:t>
            </a:r>
            <a:r>
              <a:rPr lang="en" sz="1250">
                <a:solidFill>
                  <a:srgbClr val="267F99"/>
                </a:solidFill>
                <a:highlight>
                  <a:srgbClr val="FFFFFF"/>
                </a:highlight>
                <a:latin typeface="Consolas"/>
                <a:ea typeface="Consolas"/>
                <a:cs typeface="Consolas"/>
                <a:sym typeface="Consolas"/>
              </a:rPr>
              <a:t>  ExecutorService</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exservice</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2</a:t>
            </a:r>
            <a:r>
              <a:rPr lang="en" sz="1250">
                <a:solidFill>
                  <a:srgbClr val="267F99"/>
                </a:solidFill>
                <a:highlight>
                  <a:srgbClr val="FFFFFF"/>
                </a:highlight>
                <a:latin typeface="Consolas"/>
                <a:ea typeface="Consolas"/>
                <a:cs typeface="Consolas"/>
                <a:sym typeface="Consolas"/>
              </a:rPr>
              <a:t>      Executors</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newCachedThreadPool</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3</a:t>
            </a:r>
            <a:r>
              <a:rPr lang="en" sz="1250">
                <a:solidFill>
                  <a:srgbClr val="AF00DB"/>
                </a:solidFill>
                <a:highlight>
                  <a:srgbClr val="FFFFFF"/>
                </a:highlight>
                <a:latin typeface="Consolas"/>
                <a:ea typeface="Consolas"/>
                <a:cs typeface="Consolas"/>
                <a:sym typeface="Consolas"/>
              </a:rPr>
              <a:t>  for</a:t>
            </a:r>
            <a:r>
              <a:rPr lang="en" sz="1250">
                <a:solidFill>
                  <a:srgbClr val="3B3B3B"/>
                </a:solidFill>
                <a:highlight>
                  <a:srgbClr val="FFFFFF"/>
                </a:highlight>
                <a:latin typeface="Consolas"/>
                <a:ea typeface="Consolas"/>
                <a:cs typeface="Consolas"/>
                <a:sym typeface="Consolas"/>
              </a:rPr>
              <a:t> (</a:t>
            </a:r>
            <a:r>
              <a:rPr lang="en" sz="1250">
                <a:solidFill>
                  <a:srgbClr val="267F99"/>
                </a:solidFill>
                <a:highlight>
                  <a:srgbClr val="FFFFFF"/>
                </a:highlight>
                <a:latin typeface="Consolas"/>
                <a:ea typeface="Consolas"/>
                <a:cs typeface="Consolas"/>
                <a:sym typeface="Consolas"/>
              </a:rPr>
              <a:t>int</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098658"/>
                </a:solidFill>
                <a:highlight>
                  <a:srgbClr val="FFFFFF"/>
                </a:highlight>
                <a:latin typeface="Consolas"/>
                <a:ea typeface="Consolas"/>
                <a:cs typeface="Consolas"/>
                <a:sym typeface="Consolas"/>
              </a:rPr>
              <a:t>1</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&lt;=</a:t>
            </a:r>
            <a:r>
              <a:rPr lang="en" sz="1250">
                <a:solidFill>
                  <a:srgbClr val="3B3B3B"/>
                </a:solidFill>
                <a:highlight>
                  <a:srgbClr val="FFFFFF"/>
                </a:highlight>
                <a:latin typeface="Consolas"/>
                <a:ea typeface="Consolas"/>
                <a:cs typeface="Consolas"/>
                <a:sym typeface="Consolas"/>
              </a:rPr>
              <a:t> </a:t>
            </a:r>
            <a:r>
              <a:rPr lang="en" sz="1250">
                <a:solidFill>
                  <a:srgbClr val="098658"/>
                </a:solidFill>
                <a:highlight>
                  <a:srgbClr val="FFFFFF"/>
                </a:highlight>
                <a:latin typeface="Consolas"/>
                <a:ea typeface="Consolas"/>
                <a:cs typeface="Consolas"/>
                <a:sym typeface="Consolas"/>
              </a:rPr>
              <a:t>10</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4</a:t>
            </a:r>
            <a:r>
              <a:rPr lang="en" sz="1250">
                <a:solidFill>
                  <a:srgbClr val="3B3B3B"/>
                </a:solidFill>
                <a:highlight>
                  <a:srgbClr val="FFFFFF"/>
                </a:highlight>
                <a:latin typeface="Consolas"/>
                <a:ea typeface="Consolas"/>
                <a:cs typeface="Consolas"/>
                <a:sym typeface="Consolas"/>
              </a:rPr>
              <a:t>     </a:t>
            </a:r>
            <a:r>
              <a:rPr lang="en" sz="1250">
                <a:solidFill>
                  <a:srgbClr val="267F99"/>
                </a:solidFill>
                <a:highlight>
                  <a:srgbClr val="FFFFFF"/>
                </a:highlight>
                <a:latin typeface="Consolas"/>
                <a:ea typeface="Consolas"/>
                <a:cs typeface="Consolas"/>
                <a:sym typeface="Consolas"/>
              </a:rPr>
              <a:t>String</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name</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A31515"/>
                </a:solidFill>
                <a:highlight>
                  <a:srgbClr val="FFFFFF"/>
                </a:highlight>
                <a:latin typeface="Consolas"/>
                <a:ea typeface="Consolas"/>
                <a:cs typeface="Consolas"/>
                <a:sym typeface="Consolas"/>
              </a:rPr>
              <a:t>"Task "</a:t>
            </a:r>
            <a:r>
              <a:rPr lang="en" sz="1250">
                <a:solidFill>
                  <a:srgbClr val="3B3B3B"/>
                </a:solidFill>
                <a:highlight>
                  <a:srgbClr val="FFFFFF"/>
                </a:highlight>
                <a:latin typeface="Consolas"/>
                <a:ea typeface="Consolas"/>
                <a:cs typeface="Consolas"/>
                <a:sym typeface="Consolas"/>
              </a:rPr>
              <a:t> </a:t>
            </a:r>
            <a:r>
              <a:rPr lang="en" sz="1250">
                <a:solidFill>
                  <a:srgbClr val="000000"/>
                </a:solidFill>
                <a:highlight>
                  <a:srgbClr val="FFFFFF"/>
                </a:highlight>
                <a:latin typeface="Consolas"/>
                <a:ea typeface="Consolas"/>
                <a:cs typeface="Consolas"/>
                <a:sym typeface="Consolas"/>
              </a:rPr>
              <a:t>+</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i</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5</a:t>
            </a:r>
            <a:r>
              <a:rPr lang="en" sz="1250">
                <a:solidFill>
                  <a:srgbClr val="3B3B3B"/>
                </a:solidFill>
                <a:highlight>
                  <a:srgbClr val="FFFFFF"/>
                </a:highlight>
                <a:latin typeface="Consolas"/>
                <a:ea typeface="Consolas"/>
                <a:cs typeface="Consolas"/>
                <a:sym typeface="Consolas"/>
              </a:rPr>
              <a:t>     </a:t>
            </a:r>
            <a:r>
              <a:rPr lang="en" sz="1250">
                <a:solidFill>
                  <a:srgbClr val="001080"/>
                </a:solidFill>
                <a:highlight>
                  <a:srgbClr val="FFFFFF"/>
                </a:highlight>
                <a:latin typeface="Consolas"/>
                <a:ea typeface="Consolas"/>
                <a:cs typeface="Consolas"/>
                <a:sym typeface="Consolas"/>
              </a:rPr>
              <a:t>exservice</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submit</a:t>
            </a:r>
            <a:r>
              <a:rPr lang="en" sz="1250">
                <a:solidFill>
                  <a:srgbClr val="3B3B3B"/>
                </a:solidFill>
                <a:highlight>
                  <a:srgbClr val="FFFFFF"/>
                </a:highlight>
                <a:latin typeface="Consolas"/>
                <a:ea typeface="Consolas"/>
                <a:cs typeface="Consolas"/>
                <a:sym typeface="Consolas"/>
              </a:rPr>
              <a:t>(()</a:t>
            </a:r>
            <a:r>
              <a:rPr lang="en" sz="1250">
                <a:solidFill>
                  <a:srgbClr val="0000FF"/>
                </a:solidFill>
                <a:highlight>
                  <a:srgbClr val="FFFFFF"/>
                </a:highlight>
                <a:latin typeface="Consolas"/>
                <a:ea typeface="Consolas"/>
                <a:cs typeface="Consolas"/>
                <a:sym typeface="Consolas"/>
              </a:rPr>
              <a:t>-&gt;</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6</a:t>
            </a:r>
            <a:r>
              <a:rPr lang="en" sz="1250">
                <a:solidFill>
                  <a:srgbClr val="267F99"/>
                </a:solidFill>
                <a:highlight>
                  <a:srgbClr val="FFFFFF"/>
                </a:highlight>
                <a:latin typeface="Consolas"/>
                <a:ea typeface="Consolas"/>
                <a:cs typeface="Consolas"/>
                <a:sym typeface="Consolas"/>
              </a:rPr>
              <a:t>         System</a:t>
            </a:r>
            <a:r>
              <a:rPr lang="en" sz="1250">
                <a:solidFill>
                  <a:srgbClr val="3B3B3B"/>
                </a:solidFill>
                <a:highlight>
                  <a:srgbClr val="FFFFFF"/>
                </a:highlight>
                <a:latin typeface="Consolas"/>
                <a:ea typeface="Consolas"/>
                <a:cs typeface="Consolas"/>
                <a:sym typeface="Consolas"/>
              </a:rPr>
              <a:t>.</a:t>
            </a:r>
            <a:r>
              <a:rPr lang="en" sz="1250">
                <a:solidFill>
                  <a:srgbClr val="0070C1"/>
                </a:solidFill>
                <a:highlight>
                  <a:srgbClr val="FFFFFF"/>
                </a:highlight>
                <a:latin typeface="Consolas"/>
                <a:ea typeface="Consolas"/>
                <a:cs typeface="Consolas"/>
                <a:sym typeface="Consolas"/>
              </a:rPr>
              <a:t>out</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println</a:t>
            </a:r>
            <a:r>
              <a:rPr lang="en" sz="1250">
                <a:solidFill>
                  <a:srgbClr val="3B3B3B"/>
                </a:solidFill>
                <a:highlight>
                  <a:srgbClr val="FFFFFF"/>
                </a:highlight>
                <a:latin typeface="Consolas"/>
                <a:ea typeface="Consolas"/>
                <a:cs typeface="Consolas"/>
                <a:sym typeface="Consolas"/>
              </a:rPr>
              <a:t>(</a:t>
            </a:r>
            <a:r>
              <a:rPr lang="en" sz="1250">
                <a:solidFill>
                  <a:srgbClr val="001080"/>
                </a:solidFill>
                <a:highlight>
                  <a:srgbClr val="FFFFFF"/>
                </a:highlight>
                <a:latin typeface="Consolas"/>
                <a:ea typeface="Consolas"/>
                <a:cs typeface="Consolas"/>
                <a:sym typeface="Consolas"/>
              </a:rPr>
              <a:t>name</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7</a:t>
            </a:r>
            <a:r>
              <a:rPr lang="en" sz="1250">
                <a:solidFill>
                  <a:srgbClr val="3B3B3B"/>
                </a:solidFill>
                <a:highlight>
                  <a:srgbClr val="FFFFFF"/>
                </a:highlight>
                <a:latin typeface="Consolas"/>
                <a:ea typeface="Consolas"/>
                <a:cs typeface="Consolas"/>
                <a:sym typeface="Consolas"/>
              </a:rPr>
              <a:t>  }</a:t>
            </a:r>
            <a:endParaRPr sz="125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50">
                <a:solidFill>
                  <a:srgbClr val="008000"/>
                </a:solidFill>
                <a:highlight>
                  <a:srgbClr val="FFFFFF"/>
                </a:highlight>
                <a:latin typeface="Consolas"/>
                <a:ea typeface="Consolas"/>
                <a:cs typeface="Consolas"/>
                <a:sym typeface="Consolas"/>
              </a:rPr>
              <a:t>8</a:t>
            </a:r>
            <a:r>
              <a:rPr lang="en" sz="1250">
                <a:solidFill>
                  <a:srgbClr val="001080"/>
                </a:solidFill>
                <a:highlight>
                  <a:srgbClr val="FFFFFF"/>
                </a:highlight>
                <a:latin typeface="Consolas"/>
                <a:ea typeface="Consolas"/>
                <a:cs typeface="Consolas"/>
                <a:sym typeface="Consolas"/>
              </a:rPr>
              <a:t>  exservice</a:t>
            </a:r>
            <a:r>
              <a:rPr lang="en" sz="1250">
                <a:solidFill>
                  <a:srgbClr val="3B3B3B"/>
                </a:solidFill>
                <a:highlight>
                  <a:srgbClr val="FFFFFF"/>
                </a:highlight>
                <a:latin typeface="Consolas"/>
                <a:ea typeface="Consolas"/>
                <a:cs typeface="Consolas"/>
                <a:sym typeface="Consolas"/>
              </a:rPr>
              <a:t>.</a:t>
            </a:r>
            <a:r>
              <a:rPr lang="en" sz="1250">
                <a:solidFill>
                  <a:srgbClr val="795E26"/>
                </a:solidFill>
                <a:highlight>
                  <a:srgbClr val="FFFFFF"/>
                </a:highlight>
                <a:latin typeface="Consolas"/>
                <a:ea typeface="Consolas"/>
                <a:cs typeface="Consolas"/>
                <a:sym typeface="Consolas"/>
              </a:rPr>
              <a:t>shutdown</a:t>
            </a:r>
            <a:r>
              <a:rPr lang="en" sz="1250">
                <a:solidFill>
                  <a:srgbClr val="3B3B3B"/>
                </a:solidFill>
                <a:highlight>
                  <a:srgbClr val="FFFFFF"/>
                </a:highlight>
                <a:latin typeface="Consolas"/>
                <a:ea typeface="Consolas"/>
                <a:cs typeface="Consolas"/>
                <a:sym typeface="Consolas"/>
              </a:rPr>
              <a:t>();</a:t>
            </a:r>
            <a:endParaRPr sz="1250">
              <a:solidFill>
                <a:srgbClr val="3B3B3B"/>
              </a:solidFill>
              <a:highlight>
                <a:srgbClr val="FFFFFF"/>
              </a:highlight>
              <a:latin typeface="Consolas"/>
              <a:ea typeface="Consolas"/>
              <a:cs typeface="Consolas"/>
              <a:sym typeface="Consolas"/>
            </a:endParaRPr>
          </a:p>
          <a:p>
            <a:pPr marL="0" lvl="0" indent="0" algn="l" rtl="0">
              <a:spcBef>
                <a:spcPts val="0"/>
              </a:spcBef>
              <a:spcAft>
                <a:spcPts val="1600"/>
              </a:spcAft>
              <a:buNone/>
            </a:pPr>
            <a:endParaRPr sz="15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8"/>
          <p:cNvSpPr txBox="1">
            <a:spLocks noGrp="1"/>
          </p:cNvSpPr>
          <p:nvPr>
            <p:ph type="sldNum" idx="12"/>
          </p:nvPr>
        </p:nvSpPr>
        <p:spPr>
          <a:xfrm>
            <a:off x="1951" y="4745575"/>
            <a:ext cx="3120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7</a:t>
            </a:fld>
            <a:endParaRPr/>
          </a:p>
        </p:txBody>
      </p:sp>
      <p:sp>
        <p:nvSpPr>
          <p:cNvPr id="278" name="Google Shape;278;p38"/>
          <p:cNvSpPr txBox="1">
            <a:spLocks noGrp="1"/>
          </p:cNvSpPr>
          <p:nvPr>
            <p:ph type="title"/>
          </p:nvPr>
        </p:nvSpPr>
        <p:spPr>
          <a:xfrm>
            <a:off x="5192225" y="0"/>
            <a:ext cx="3706500" cy="834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Review: Sleep &amp; AwaitTermination</a:t>
            </a:r>
            <a:endParaRPr sz="2700"/>
          </a:p>
        </p:txBody>
      </p:sp>
      <p:sp>
        <p:nvSpPr>
          <p:cNvPr id="279" name="Google Shape;279;p38"/>
          <p:cNvSpPr txBox="1">
            <a:spLocks noGrp="1"/>
          </p:cNvSpPr>
          <p:nvPr>
            <p:ph type="body" idx="1"/>
          </p:nvPr>
        </p:nvSpPr>
        <p:spPr>
          <a:xfrm>
            <a:off x="34600" y="157775"/>
            <a:ext cx="4682400" cy="4715100"/>
          </a:xfrm>
          <a:prstGeom prst="rect">
            <a:avLst/>
          </a:prstGeom>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It is sometimes necessary for a thread to </a:t>
            </a:r>
            <a:r>
              <a:rPr lang="en" sz="1200" b="1" i="1" dirty="0">
                <a:solidFill>
                  <a:srgbClr val="FF0000"/>
                </a:solidFill>
                <a:highlight>
                  <a:srgbClr val="FFFF00"/>
                </a:highlight>
              </a:rPr>
              <a:t>wait</a:t>
            </a:r>
            <a:r>
              <a:rPr lang="en" sz="1200" dirty="0">
                <a:solidFill>
                  <a:srgbClr val="FF0000"/>
                </a:solidFill>
                <a:highlight>
                  <a:srgbClr val="FFFF00"/>
                </a:highlight>
              </a:rPr>
              <a:t> </a:t>
            </a:r>
            <a:r>
              <a:rPr lang="en" sz="1200" dirty="0">
                <a:highlight>
                  <a:srgbClr val="FFFF00"/>
                </a:highlight>
              </a:rPr>
              <a:t>for some </a:t>
            </a:r>
            <a:r>
              <a:rPr lang="en" sz="1200" b="1" i="1" dirty="0">
                <a:solidFill>
                  <a:srgbClr val="FF0000"/>
                </a:solidFill>
                <a:highlight>
                  <a:srgbClr val="FFFF00"/>
                </a:highlight>
              </a:rPr>
              <a:t>important event</a:t>
            </a:r>
            <a:r>
              <a:rPr lang="en" sz="1200" dirty="0">
                <a:highlight>
                  <a:srgbClr val="FFFF00"/>
                </a:highlight>
              </a:rPr>
              <a:t> </a:t>
            </a:r>
            <a:r>
              <a:rPr lang="en" sz="1200" dirty="0"/>
              <a:t>to occur before it continues doing its work.</a:t>
            </a:r>
            <a:endParaRPr sz="1200" dirty="0"/>
          </a:p>
          <a:p>
            <a:pPr marL="457200" lvl="0" indent="-304800" algn="l" rtl="0">
              <a:lnSpc>
                <a:spcPct val="100000"/>
              </a:lnSpc>
              <a:spcBef>
                <a:spcPts val="1000"/>
              </a:spcBef>
              <a:spcAft>
                <a:spcPts val="0"/>
              </a:spcAft>
              <a:buSzPts val="1200"/>
              <a:buChar char="●"/>
            </a:pPr>
            <a:r>
              <a:rPr lang="en" sz="1200" dirty="0"/>
              <a:t>A thread may </a:t>
            </a:r>
            <a:r>
              <a:rPr lang="en" sz="1200" b="1" i="1" dirty="0">
                <a:solidFill>
                  <a:srgbClr val="FF0000"/>
                </a:solidFill>
              </a:rPr>
              <a:t>temporarily pause</a:t>
            </a:r>
            <a:r>
              <a:rPr lang="en" sz="1200" dirty="0"/>
              <a:t> its own execution by calling the </a:t>
            </a:r>
            <a:r>
              <a:rPr lang="en" sz="1200" dirty="0">
                <a:solidFill>
                  <a:srgbClr val="FF0000"/>
                </a:solidFill>
                <a:highlight>
                  <a:srgbClr val="FFFF00"/>
                </a:highlight>
                <a:latin typeface="Courier New"/>
                <a:ea typeface="Courier New"/>
                <a:cs typeface="Courier New"/>
                <a:sym typeface="Courier New"/>
              </a:rPr>
              <a:t>Thread.sleep(ms)</a:t>
            </a:r>
            <a:r>
              <a:rPr lang="en" sz="1200" dirty="0">
                <a:highlight>
                  <a:srgbClr val="FFFF00"/>
                </a:highlight>
              </a:rPr>
              <a:t> </a:t>
            </a:r>
            <a:r>
              <a:rPr lang="en" sz="1200" dirty="0"/>
              <a:t>method.</a:t>
            </a:r>
            <a:endParaRPr sz="1200" dirty="0"/>
          </a:p>
          <a:p>
            <a:pPr marL="914400" lvl="1" indent="-298450" algn="l" rtl="0">
              <a:lnSpc>
                <a:spcPct val="100000"/>
              </a:lnSpc>
              <a:spcBef>
                <a:spcPts val="0"/>
              </a:spcBef>
              <a:spcAft>
                <a:spcPts val="0"/>
              </a:spcAft>
              <a:buSzPts val="1100"/>
              <a:buChar char="○"/>
            </a:pPr>
            <a:r>
              <a:rPr lang="en" dirty="0"/>
              <a:t>This is a </a:t>
            </a:r>
            <a:r>
              <a:rPr lang="en" b="1" i="1" dirty="0">
                <a:solidFill>
                  <a:srgbClr val="FF0000"/>
                </a:solidFill>
              </a:rPr>
              <a:t>static</a:t>
            </a:r>
            <a:r>
              <a:rPr lang="en" b="1" i="1" dirty="0"/>
              <a:t> </a:t>
            </a:r>
            <a:r>
              <a:rPr lang="en" dirty="0"/>
              <a:t>method on the </a:t>
            </a:r>
            <a:r>
              <a:rPr lang="en" dirty="0">
                <a:solidFill>
                  <a:srgbClr val="FF0000"/>
                </a:solidFill>
                <a:latin typeface="Courier New"/>
                <a:ea typeface="Courier New"/>
                <a:cs typeface="Courier New"/>
                <a:sym typeface="Courier New"/>
              </a:rPr>
              <a:t>Thread</a:t>
            </a:r>
            <a:r>
              <a:rPr lang="en" dirty="0">
                <a:solidFill>
                  <a:srgbClr val="FF0000"/>
                </a:solidFill>
              </a:rPr>
              <a:t> </a:t>
            </a:r>
            <a:r>
              <a:rPr lang="en" dirty="0"/>
              <a:t>class.</a:t>
            </a:r>
            <a:endParaRPr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calling</a:t>
            </a:r>
            <a:r>
              <a:rPr lang="en" dirty="0">
                <a:solidFill>
                  <a:srgbClr val="FF0000"/>
                </a:solidFill>
              </a:rPr>
              <a:t> </a:t>
            </a:r>
            <a:r>
              <a:rPr lang="en" dirty="0"/>
              <a:t>Thread suspends</a:t>
            </a:r>
            <a:r>
              <a:rPr lang="en" dirty="0">
                <a:solidFill>
                  <a:srgbClr val="FF0000"/>
                </a:solidFill>
              </a:rPr>
              <a:t> </a:t>
            </a:r>
            <a:r>
              <a:rPr lang="en" b="1" i="1" dirty="0">
                <a:solidFill>
                  <a:srgbClr val="FF0000"/>
                </a:solidFill>
              </a:rPr>
              <a:t>its own</a:t>
            </a:r>
            <a:r>
              <a:rPr lang="en" dirty="0"/>
              <a:t> execution for the specified duration in milliseconds.</a:t>
            </a:r>
            <a:endParaRPr dirty="0"/>
          </a:p>
          <a:p>
            <a:pPr marL="914400" lvl="1" indent="-298450" algn="l" rtl="0">
              <a:lnSpc>
                <a:spcPct val="100000"/>
              </a:lnSpc>
              <a:spcBef>
                <a:spcPts val="0"/>
              </a:spcBef>
              <a:spcAft>
                <a:spcPts val="0"/>
              </a:spcAft>
              <a:buSzPts val="1100"/>
              <a:buChar char="○"/>
            </a:pPr>
            <a:r>
              <a:rPr lang="en" dirty="0">
                <a:highlight>
                  <a:srgbClr val="FFFF00"/>
                </a:highlight>
              </a:rPr>
              <a:t>One thread</a:t>
            </a:r>
            <a:r>
              <a:rPr lang="en" dirty="0">
                <a:solidFill>
                  <a:srgbClr val="FF0000"/>
                </a:solidFill>
                <a:highlight>
                  <a:srgbClr val="FFFF00"/>
                </a:highlight>
              </a:rPr>
              <a:t> </a:t>
            </a:r>
            <a:r>
              <a:rPr lang="en" b="1" i="1" dirty="0">
                <a:solidFill>
                  <a:srgbClr val="FF0000"/>
                </a:solidFill>
                <a:highlight>
                  <a:srgbClr val="FFFF00"/>
                </a:highlight>
              </a:rPr>
              <a:t>may not</a:t>
            </a:r>
            <a:r>
              <a:rPr lang="en" dirty="0">
                <a:solidFill>
                  <a:srgbClr val="FF0000"/>
                </a:solidFill>
                <a:highlight>
                  <a:srgbClr val="FFFF00"/>
                </a:highlight>
              </a:rPr>
              <a:t> </a:t>
            </a:r>
            <a:r>
              <a:rPr lang="en" dirty="0">
                <a:highlight>
                  <a:srgbClr val="FFFF00"/>
                </a:highlight>
              </a:rPr>
              <a:t>tell another thread to go to sleep</a:t>
            </a:r>
            <a:r>
              <a:rPr lang="en" dirty="0"/>
              <a:t>.</a:t>
            </a:r>
            <a:endParaRPr dirty="0"/>
          </a:p>
          <a:p>
            <a:pPr marL="457200" lvl="0" indent="-304800" algn="l" rtl="0">
              <a:lnSpc>
                <a:spcPct val="100000"/>
              </a:lnSpc>
              <a:spcBef>
                <a:spcPts val="1000"/>
              </a:spcBef>
              <a:spcAft>
                <a:spcPts val="0"/>
              </a:spcAft>
              <a:buSzPts val="1200"/>
              <a:buChar char="●"/>
            </a:pPr>
            <a:r>
              <a:rPr lang="en" sz="1200" dirty="0"/>
              <a:t>When a thread's </a:t>
            </a:r>
            <a:r>
              <a:rPr lang="en" sz="1200" dirty="0">
                <a:latin typeface="Courier New"/>
                <a:ea typeface="Courier New"/>
                <a:cs typeface="Courier New"/>
                <a:sym typeface="Courier New"/>
              </a:rPr>
              <a:t>run()</a:t>
            </a:r>
            <a:r>
              <a:rPr lang="en" sz="1200" dirty="0"/>
              <a:t> method </a:t>
            </a:r>
            <a:r>
              <a:rPr lang="en" sz="1200" b="1" i="1" dirty="0">
                <a:solidFill>
                  <a:srgbClr val="FF0000"/>
                </a:solidFill>
              </a:rPr>
              <a:t>completes</a:t>
            </a:r>
            <a:r>
              <a:rPr lang="en" sz="1200" dirty="0"/>
              <a:t>, the thread </a:t>
            </a:r>
            <a:r>
              <a:rPr lang="en" sz="1200" b="1" i="1" dirty="0">
                <a:solidFill>
                  <a:srgbClr val="FF0000"/>
                </a:solidFill>
              </a:rPr>
              <a:t>dies</a:t>
            </a:r>
            <a:r>
              <a:rPr lang="en" sz="1200" dirty="0"/>
              <a:t>.</a:t>
            </a:r>
            <a:endParaRPr sz="1200" dirty="0"/>
          </a:p>
          <a:p>
            <a:pPr marL="914400" lvl="1" indent="-298450" algn="l" rtl="0">
              <a:lnSpc>
                <a:spcPct val="100000"/>
              </a:lnSpc>
              <a:spcBef>
                <a:spcPts val="0"/>
              </a:spcBef>
              <a:spcAft>
                <a:spcPts val="0"/>
              </a:spcAft>
              <a:buSzPts val="1100"/>
              <a:buChar char="○"/>
            </a:pPr>
            <a:r>
              <a:rPr lang="en" dirty="0">
                <a:highlight>
                  <a:srgbClr val="FFFF00"/>
                </a:highlight>
              </a:rPr>
              <a:t>A </a:t>
            </a:r>
            <a:r>
              <a:rPr lang="en" b="1" i="1" dirty="0">
                <a:solidFill>
                  <a:srgbClr val="FF0000"/>
                </a:solidFill>
                <a:highlight>
                  <a:srgbClr val="FFFF00"/>
                </a:highlight>
              </a:rPr>
              <a:t>dead</a:t>
            </a:r>
            <a:r>
              <a:rPr lang="en" dirty="0">
                <a:solidFill>
                  <a:srgbClr val="FF0000"/>
                </a:solidFill>
                <a:highlight>
                  <a:srgbClr val="FFFF00"/>
                </a:highlight>
              </a:rPr>
              <a:t> </a:t>
            </a:r>
            <a:r>
              <a:rPr lang="en" dirty="0">
                <a:highlight>
                  <a:srgbClr val="FFFF00"/>
                </a:highlight>
              </a:rPr>
              <a:t>thread cannot be restarted.</a:t>
            </a:r>
            <a:endParaRPr dirty="0">
              <a:highlight>
                <a:srgbClr val="FFFF00"/>
              </a:highlight>
            </a:endParaRPr>
          </a:p>
          <a:p>
            <a:pPr marL="457200" lvl="0" indent="-304800" algn="l" rtl="0">
              <a:lnSpc>
                <a:spcPct val="100000"/>
              </a:lnSpc>
              <a:spcBef>
                <a:spcPts val="1000"/>
              </a:spcBef>
              <a:spcAft>
                <a:spcPts val="0"/>
              </a:spcAft>
              <a:buSzPts val="1200"/>
              <a:buChar char="●"/>
            </a:pPr>
            <a:r>
              <a:rPr lang="en" sz="1200" dirty="0"/>
              <a:t>One thread may pause its own execution until the executor service finishes.</a:t>
            </a:r>
            <a:endParaRPr sz="1200" dirty="0"/>
          </a:p>
          <a:p>
            <a:pPr marL="914400" lvl="1" indent="-298450" algn="l" rtl="0">
              <a:lnSpc>
                <a:spcPct val="100000"/>
              </a:lnSpc>
              <a:spcBef>
                <a:spcPts val="0"/>
              </a:spcBef>
              <a:spcAft>
                <a:spcPts val="0"/>
              </a:spcAft>
              <a:buSzPts val="1100"/>
              <a:buChar char="○"/>
            </a:pPr>
            <a:r>
              <a:rPr lang="en" dirty="0"/>
              <a:t>A </a:t>
            </a:r>
            <a:r>
              <a:rPr lang="en" b="1" i="1" dirty="0">
                <a:solidFill>
                  <a:srgbClr val="FF0000"/>
                </a:solidFill>
              </a:rPr>
              <a:t>reference</a:t>
            </a:r>
            <a:r>
              <a:rPr lang="en" dirty="0">
                <a:solidFill>
                  <a:srgbClr val="FF0000"/>
                </a:solidFill>
              </a:rPr>
              <a:t> </a:t>
            </a:r>
            <a:r>
              <a:rPr lang="en" dirty="0"/>
              <a:t>to the service is needed so that the </a:t>
            </a:r>
            <a:r>
              <a:rPr lang="en" dirty="0">
                <a:solidFill>
                  <a:srgbClr val="FF0000"/>
                </a:solidFill>
                <a:latin typeface="Courier New"/>
                <a:ea typeface="Courier New"/>
                <a:cs typeface="Courier New"/>
                <a:sym typeface="Courier New"/>
              </a:rPr>
              <a:t>awaitTermination()</a:t>
            </a:r>
            <a:r>
              <a:rPr lang="en" dirty="0"/>
              <a:t> method can be called on the other service, e.g. </a:t>
            </a:r>
            <a:r>
              <a:rPr lang="en" dirty="0">
                <a:solidFill>
                  <a:srgbClr val="FF0000"/>
                </a:solidFill>
                <a:highlight>
                  <a:srgbClr val="FFFF00"/>
                </a:highlight>
                <a:latin typeface="Courier New"/>
                <a:ea typeface="Courier New"/>
                <a:cs typeface="Courier New"/>
                <a:sym typeface="Courier New"/>
              </a:rPr>
              <a:t>es.awaitTermination()</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Execution will pause until the executor service ends.</a:t>
            </a:r>
            <a:endParaRPr dirty="0"/>
          </a:p>
          <a:p>
            <a:pPr marL="457200" lvl="0" indent="-304800" algn="l" rtl="0">
              <a:lnSpc>
                <a:spcPct val="100000"/>
              </a:lnSpc>
              <a:spcBef>
                <a:spcPts val="1000"/>
              </a:spcBef>
              <a:spcAft>
                <a:spcPts val="0"/>
              </a:spcAft>
              <a:buSzPts val="1200"/>
              <a:buChar char="●"/>
            </a:pPr>
            <a:r>
              <a:rPr lang="en" sz="1200" dirty="0"/>
              <a:t>A thread that uses </a:t>
            </a:r>
            <a:r>
              <a:rPr lang="en" sz="1200" dirty="0">
                <a:highlight>
                  <a:srgbClr val="FFFF00"/>
                </a:highlight>
              </a:rPr>
              <a:t>sleep or join is </a:t>
            </a:r>
            <a:r>
              <a:rPr lang="en" sz="1200" b="1" i="1" dirty="0">
                <a:solidFill>
                  <a:srgbClr val="FF0000"/>
                </a:solidFill>
                <a:highlight>
                  <a:srgbClr val="FFFF00"/>
                </a:highlight>
              </a:rPr>
              <a:t>waiting</a:t>
            </a:r>
            <a:r>
              <a:rPr lang="en" sz="1200" dirty="0">
                <a:solidFill>
                  <a:srgbClr val="FF0000"/>
                </a:solidFill>
                <a:highlight>
                  <a:srgbClr val="FFFF00"/>
                </a:highlight>
              </a:rPr>
              <a:t> </a:t>
            </a:r>
            <a:r>
              <a:rPr lang="en" sz="1200" dirty="0"/>
              <a:t>until:</a:t>
            </a:r>
            <a:endParaRPr sz="1200" dirty="0"/>
          </a:p>
          <a:p>
            <a:pPr marL="914400" lvl="1" indent="-298450" algn="l" rtl="0">
              <a:lnSpc>
                <a:spcPct val="100000"/>
              </a:lnSpc>
              <a:spcBef>
                <a:spcPts val="0"/>
              </a:spcBef>
              <a:spcAft>
                <a:spcPts val="0"/>
              </a:spcAft>
              <a:buSzPts val="1100"/>
              <a:buChar char="○"/>
            </a:pPr>
            <a:r>
              <a:rPr lang="en" dirty="0"/>
              <a:t>The </a:t>
            </a:r>
            <a:r>
              <a:rPr lang="en" b="1" i="1" dirty="0">
                <a:solidFill>
                  <a:srgbClr val="FF0000"/>
                </a:solidFill>
              </a:rPr>
              <a:t>event</a:t>
            </a:r>
            <a:r>
              <a:rPr lang="en" dirty="0">
                <a:solidFill>
                  <a:srgbClr val="FF0000"/>
                </a:solidFill>
              </a:rPr>
              <a:t> </a:t>
            </a:r>
            <a:r>
              <a:rPr lang="en" dirty="0"/>
              <a:t>that it is waiting for occurs, e.g. the sleep time elapses or the other thread dies.</a:t>
            </a:r>
            <a:endParaRPr dirty="0"/>
          </a:p>
          <a:p>
            <a:pPr marL="914400" lvl="1" indent="-298450" algn="l" rtl="0">
              <a:lnSpc>
                <a:spcPct val="100000"/>
              </a:lnSpc>
              <a:spcBef>
                <a:spcPts val="0"/>
              </a:spcBef>
              <a:spcAft>
                <a:spcPts val="0"/>
              </a:spcAft>
              <a:buSzPts val="1100"/>
              <a:buChar char="○"/>
            </a:pPr>
            <a:r>
              <a:rPr lang="en" dirty="0">
                <a:highlight>
                  <a:srgbClr val="FFFF00"/>
                </a:highlight>
              </a:rPr>
              <a:t>It is </a:t>
            </a:r>
            <a:r>
              <a:rPr lang="en" b="1" i="1" dirty="0">
                <a:solidFill>
                  <a:srgbClr val="FF0000"/>
                </a:solidFill>
                <a:highlight>
                  <a:srgbClr val="FFFF00"/>
                </a:highlight>
              </a:rPr>
              <a:t>interrupted</a:t>
            </a:r>
            <a:r>
              <a:rPr lang="en" dirty="0"/>
              <a:t>, e.g. some other thread calls the </a:t>
            </a:r>
            <a:r>
              <a:rPr lang="en" dirty="0">
                <a:solidFill>
                  <a:srgbClr val="FF0000"/>
                </a:solidFill>
                <a:highlight>
                  <a:srgbClr val="FFFF00"/>
                </a:highlight>
                <a:latin typeface="Courier New"/>
                <a:ea typeface="Courier New"/>
                <a:cs typeface="Courier New"/>
                <a:sym typeface="Courier New"/>
              </a:rPr>
              <a:t>aThread.interrupt()</a:t>
            </a:r>
            <a:r>
              <a:rPr lang="en" dirty="0">
                <a:highlight>
                  <a:srgbClr val="FFFF00"/>
                </a:highlight>
              </a:rPr>
              <a:t> </a:t>
            </a:r>
            <a:r>
              <a:rPr lang="en" dirty="0"/>
              <a:t>method on the waiting thread.</a:t>
            </a:r>
            <a:endParaRPr dirty="0"/>
          </a:p>
          <a:p>
            <a:pPr marL="914400" lvl="1" indent="-298450" algn="l" rtl="0">
              <a:lnSpc>
                <a:spcPct val="100000"/>
              </a:lnSpc>
              <a:spcBef>
                <a:spcPts val="0"/>
              </a:spcBef>
              <a:spcAft>
                <a:spcPts val="0"/>
              </a:spcAft>
              <a:buSzPts val="1100"/>
              <a:buChar char="○"/>
            </a:pPr>
            <a:r>
              <a:rPr lang="en" dirty="0"/>
              <a:t>If a thread is interrupted, a </a:t>
            </a:r>
            <a:r>
              <a:rPr lang="en" b="1" i="1" dirty="0">
                <a:solidFill>
                  <a:srgbClr val="FF0000"/>
                </a:solidFill>
              </a:rPr>
              <a:t>checked </a:t>
            </a:r>
            <a:r>
              <a:rPr lang="en" dirty="0"/>
              <a:t>exception is thrown and must be handled: </a:t>
            </a:r>
            <a:r>
              <a:rPr lang="en" dirty="0">
                <a:solidFill>
                  <a:srgbClr val="FF0000"/>
                </a:solidFill>
                <a:highlight>
                  <a:srgbClr val="FFFF00"/>
                </a:highlight>
                <a:latin typeface="Courier New"/>
                <a:ea typeface="Courier New"/>
                <a:cs typeface="Courier New"/>
                <a:sym typeface="Courier New"/>
              </a:rPr>
              <a:t>InterruptedException</a:t>
            </a:r>
            <a:r>
              <a:rPr lang="en" dirty="0">
                <a:highlight>
                  <a:srgbClr val="FFFF00"/>
                </a:highlight>
              </a:rPr>
              <a:t>.</a:t>
            </a:r>
            <a:endParaRPr dirty="0">
              <a:solidFill>
                <a:srgbClr val="FF0000"/>
              </a:solidFill>
              <a:highlight>
                <a:srgbClr val="FFFF00"/>
              </a:highlight>
            </a:endParaRPr>
          </a:p>
        </p:txBody>
      </p:sp>
      <p:sp>
        <p:nvSpPr>
          <p:cNvPr id="280" name="Google Shape;280;p38"/>
          <p:cNvSpPr txBox="1">
            <a:spLocks noGrp="1"/>
          </p:cNvSpPr>
          <p:nvPr>
            <p:ph type="body" idx="3"/>
          </p:nvPr>
        </p:nvSpPr>
        <p:spPr>
          <a:xfrm>
            <a:off x="5192225" y="4089650"/>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A </a:t>
            </a:r>
            <a:r>
              <a:rPr lang="en" b="1" i="1" dirty="0">
                <a:solidFill>
                  <a:srgbClr val="FF0000"/>
                </a:solidFill>
              </a:rPr>
              <a:t>thread</a:t>
            </a:r>
            <a:r>
              <a:rPr lang="en" dirty="0">
                <a:solidFill>
                  <a:srgbClr val="FF0000"/>
                </a:solidFill>
              </a:rPr>
              <a:t> </a:t>
            </a:r>
            <a:r>
              <a:rPr lang="en" dirty="0"/>
              <a:t>may exist in </a:t>
            </a:r>
            <a:r>
              <a:rPr lang="en" b="1" i="1" dirty="0">
                <a:solidFill>
                  <a:srgbClr val="FF0000"/>
                </a:solidFill>
              </a:rPr>
              <a:t>exactly one</a:t>
            </a:r>
            <a:r>
              <a:rPr lang="en" dirty="0"/>
              <a:t> of several possible states at any given time. A thread that calls </a:t>
            </a:r>
            <a:r>
              <a:rPr lang="en" dirty="0">
                <a:highlight>
                  <a:srgbClr val="FFFF00"/>
                </a:highlight>
                <a:latin typeface="Courier New"/>
                <a:ea typeface="Courier New"/>
                <a:cs typeface="Courier New"/>
                <a:sym typeface="Courier New"/>
              </a:rPr>
              <a:t>Thread.sleep()</a:t>
            </a:r>
            <a:r>
              <a:rPr lang="en" dirty="0">
                <a:highlight>
                  <a:srgbClr val="FFFF00"/>
                </a:highlight>
              </a:rPr>
              <a:t> </a:t>
            </a:r>
            <a:r>
              <a:rPr lang="en" dirty="0"/>
              <a:t>or </a:t>
            </a:r>
            <a:r>
              <a:rPr lang="en" dirty="0">
                <a:highlight>
                  <a:srgbClr val="FFFF00"/>
                </a:highlight>
                <a:latin typeface="Courier New"/>
                <a:ea typeface="Courier New"/>
                <a:cs typeface="Courier New"/>
                <a:sym typeface="Courier New"/>
              </a:rPr>
              <a:t>es.awaitTermination()</a:t>
            </a:r>
            <a:r>
              <a:rPr lang="en" dirty="0"/>
              <a:t> is in the </a:t>
            </a:r>
            <a:r>
              <a:rPr lang="en" b="1" i="1" dirty="0">
                <a:solidFill>
                  <a:srgbClr val="FF0000"/>
                </a:solidFill>
              </a:rPr>
              <a:t>waiting</a:t>
            </a:r>
            <a:r>
              <a:rPr lang="en" dirty="0">
                <a:solidFill>
                  <a:srgbClr val="FF0000"/>
                </a:solidFill>
              </a:rPr>
              <a:t> </a:t>
            </a:r>
            <a:r>
              <a:rPr lang="en" dirty="0"/>
              <a:t>state.</a:t>
            </a:r>
            <a:endParaRPr dirty="0"/>
          </a:p>
        </p:txBody>
      </p:sp>
      <p:grpSp>
        <p:nvGrpSpPr>
          <p:cNvPr id="281" name="Google Shape;281;p38"/>
          <p:cNvGrpSpPr/>
          <p:nvPr/>
        </p:nvGrpSpPr>
        <p:grpSpPr>
          <a:xfrm>
            <a:off x="7110814" y="966713"/>
            <a:ext cx="1486500" cy="2952988"/>
            <a:chOff x="6958414" y="1195313"/>
            <a:chExt cx="1486500" cy="2952988"/>
          </a:xfrm>
        </p:grpSpPr>
        <p:sp>
          <p:nvSpPr>
            <p:cNvPr id="282" name="Google Shape;282;p38"/>
            <p:cNvSpPr/>
            <p:nvPr/>
          </p:nvSpPr>
          <p:spPr>
            <a:xfrm>
              <a:off x="6958414" y="1969300"/>
              <a:ext cx="1486500" cy="1411200"/>
            </a:xfrm>
            <a:prstGeom prst="roundRect">
              <a:avLst>
                <a:gd name="adj" fmla="val 9698"/>
              </a:avLst>
            </a:prstGeom>
            <a:solidFill>
              <a:srgbClr val="38761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38"/>
            <p:cNvSpPr/>
            <p:nvPr/>
          </p:nvSpPr>
          <p:spPr>
            <a:xfrm>
              <a:off x="7286250" y="1195313"/>
              <a:ext cx="831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284" name="Google Shape;284;p38"/>
            <p:cNvSpPr/>
            <p:nvPr/>
          </p:nvSpPr>
          <p:spPr>
            <a:xfrm>
              <a:off x="7029750" y="2049450"/>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285" name="Google Shape;285;p38"/>
            <p:cNvSpPr/>
            <p:nvPr/>
          </p:nvSpPr>
          <p:spPr>
            <a:xfrm>
              <a:off x="7029750" y="29035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286" name="Google Shape;286;p38"/>
            <p:cNvSpPr/>
            <p:nvPr/>
          </p:nvSpPr>
          <p:spPr>
            <a:xfrm>
              <a:off x="7057607" y="3757700"/>
              <a:ext cx="13020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287" name="Google Shape;287;p38"/>
            <p:cNvCxnSpPr>
              <a:stCxn id="283" idx="2"/>
              <a:endCxn id="284" idx="0"/>
            </p:cNvCxnSpPr>
            <p:nvPr/>
          </p:nvCxnSpPr>
          <p:spPr>
            <a:xfrm>
              <a:off x="7702200" y="1585913"/>
              <a:ext cx="0" cy="463500"/>
            </a:xfrm>
            <a:prstGeom prst="straightConnector1">
              <a:avLst/>
            </a:prstGeom>
            <a:noFill/>
            <a:ln w="9525" cap="flat" cmpd="sng">
              <a:solidFill>
                <a:srgbClr val="FFFFFF"/>
              </a:solidFill>
              <a:prstDash val="solid"/>
              <a:round/>
              <a:headEnd type="none" w="med" len="med"/>
              <a:tailEnd type="triangle" w="med" len="med"/>
            </a:ln>
          </p:spPr>
        </p:cxnSp>
        <p:cxnSp>
          <p:nvCxnSpPr>
            <p:cNvPr id="288" name="Google Shape;288;p38"/>
            <p:cNvCxnSpPr>
              <a:stCxn id="285" idx="2"/>
              <a:endCxn id="286" idx="0"/>
            </p:cNvCxnSpPr>
            <p:nvPr/>
          </p:nvCxnSpPr>
          <p:spPr>
            <a:xfrm>
              <a:off x="7702200" y="3294175"/>
              <a:ext cx="6300" cy="463500"/>
            </a:xfrm>
            <a:prstGeom prst="straightConnector1">
              <a:avLst/>
            </a:prstGeom>
            <a:noFill/>
            <a:ln w="9525" cap="flat" cmpd="sng">
              <a:solidFill>
                <a:srgbClr val="FFFFFF"/>
              </a:solidFill>
              <a:prstDash val="solid"/>
              <a:round/>
              <a:headEnd type="none" w="med" len="med"/>
              <a:tailEnd type="triangle" w="med" len="med"/>
            </a:ln>
          </p:spPr>
        </p:cxnSp>
        <p:cxnSp>
          <p:nvCxnSpPr>
            <p:cNvPr id="289" name="Google Shape;289;p38"/>
            <p:cNvCxnSpPr/>
            <p:nvPr/>
          </p:nvCxnSpPr>
          <p:spPr>
            <a:xfrm>
              <a:off x="7333050" y="2445150"/>
              <a:ext cx="0" cy="470100"/>
            </a:xfrm>
            <a:prstGeom prst="straightConnector1">
              <a:avLst/>
            </a:prstGeom>
            <a:noFill/>
            <a:ln w="9525" cap="flat" cmpd="sng">
              <a:solidFill>
                <a:srgbClr val="FFFFFF"/>
              </a:solidFill>
              <a:prstDash val="solid"/>
              <a:round/>
              <a:headEnd type="none" w="med" len="med"/>
              <a:tailEnd type="triangle" w="med" len="med"/>
            </a:ln>
          </p:spPr>
        </p:cxnSp>
        <p:cxnSp>
          <p:nvCxnSpPr>
            <p:cNvPr id="290" name="Google Shape;290;p38"/>
            <p:cNvCxnSpPr/>
            <p:nvPr/>
          </p:nvCxnSpPr>
          <p:spPr>
            <a:xfrm rot="10800000">
              <a:off x="8094075" y="2445275"/>
              <a:ext cx="0" cy="470100"/>
            </a:xfrm>
            <a:prstGeom prst="straightConnector1">
              <a:avLst/>
            </a:prstGeom>
            <a:noFill/>
            <a:ln w="9525" cap="flat" cmpd="sng">
              <a:solidFill>
                <a:srgbClr val="FFFFFF"/>
              </a:solidFill>
              <a:prstDash val="solid"/>
              <a:round/>
              <a:headEnd type="none" w="med" len="med"/>
              <a:tailEnd type="triangle" w="med" len="med"/>
            </a:ln>
          </p:spPr>
        </p:cxnSp>
      </p:grpSp>
      <p:sp>
        <p:nvSpPr>
          <p:cNvPr id="291" name="Google Shape;291;p38"/>
          <p:cNvSpPr/>
          <p:nvPr/>
        </p:nvSpPr>
        <p:spPr>
          <a:xfrm>
            <a:off x="5347625" y="22843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cxnSp>
        <p:nvCxnSpPr>
          <p:cNvPr id="292" name="Google Shape;292;p38"/>
          <p:cNvCxnSpPr>
            <a:stCxn id="285" idx="1"/>
            <a:endCxn id="291" idx="2"/>
          </p:cNvCxnSpPr>
          <p:nvPr/>
        </p:nvCxnSpPr>
        <p:spPr>
          <a:xfrm rot="10800000">
            <a:off x="6019950" y="2674975"/>
            <a:ext cx="1162200" cy="195300"/>
          </a:xfrm>
          <a:prstGeom prst="curvedConnector2">
            <a:avLst/>
          </a:prstGeom>
          <a:noFill/>
          <a:ln w="9525" cap="flat" cmpd="sng">
            <a:solidFill>
              <a:srgbClr val="FFFFFF"/>
            </a:solidFill>
            <a:prstDash val="solid"/>
            <a:round/>
            <a:headEnd type="none" w="med" len="med"/>
            <a:tailEnd type="triangle" w="med" len="med"/>
          </a:ln>
        </p:spPr>
      </p:cxnSp>
      <p:cxnSp>
        <p:nvCxnSpPr>
          <p:cNvPr id="293" name="Google Shape;293;p38"/>
          <p:cNvCxnSpPr>
            <a:stCxn id="291" idx="0"/>
            <a:endCxn id="284" idx="1"/>
          </p:cNvCxnSpPr>
          <p:nvPr/>
        </p:nvCxnSpPr>
        <p:spPr>
          <a:xfrm rot="-5400000">
            <a:off x="6467075" y="1569175"/>
            <a:ext cx="268200" cy="1162200"/>
          </a:xfrm>
          <a:prstGeom prst="curvedConnector2">
            <a:avLst/>
          </a:prstGeom>
          <a:noFill/>
          <a:ln w="9525" cap="flat" cmpd="sng">
            <a:solidFill>
              <a:srgbClr val="FFFFFF"/>
            </a:solidFill>
            <a:prstDash val="solid"/>
            <a:round/>
            <a:headEnd type="none" w="med" len="med"/>
            <a:tailEnd type="triangle" w="med" len="med"/>
          </a:ln>
        </p:spPr>
      </p:cxnSp>
      <p:sp>
        <p:nvSpPr>
          <p:cNvPr id="294" name="Google Shape;294;p38"/>
          <p:cNvSpPr txBox="1"/>
          <p:nvPr/>
        </p:nvSpPr>
        <p:spPr>
          <a:xfrm>
            <a:off x="5192225" y="2853125"/>
            <a:ext cx="1894200" cy="721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dirty="0">
                <a:solidFill>
                  <a:srgbClr val="FFFFFF"/>
                </a:solidFill>
                <a:latin typeface="Consolas"/>
                <a:ea typeface="Consolas"/>
                <a:cs typeface="Consolas"/>
                <a:sym typeface="Consolas"/>
              </a:rPr>
              <a:t>Thread.sleep()</a:t>
            </a:r>
            <a:endParaRPr sz="1100" dirty="0">
              <a:solidFill>
                <a:srgbClr val="FFFFFF"/>
              </a:solidFill>
              <a:latin typeface="Consolas"/>
              <a:ea typeface="Consolas"/>
              <a:cs typeface="Consolas"/>
              <a:sym typeface="Consolas"/>
            </a:endParaRPr>
          </a:p>
          <a:p>
            <a:pPr marL="0" lvl="0" indent="0" algn="ctr" rtl="0">
              <a:spcBef>
                <a:spcPts val="0"/>
              </a:spcBef>
              <a:spcAft>
                <a:spcPts val="0"/>
              </a:spcAft>
              <a:buNone/>
            </a:pPr>
            <a:r>
              <a:rPr lang="en" sz="1100" i="1" dirty="0">
                <a:solidFill>
                  <a:srgbClr val="FFFFFF"/>
                </a:solidFill>
                <a:latin typeface="Consolas"/>
                <a:ea typeface="Consolas"/>
                <a:cs typeface="Consolas"/>
                <a:sym typeface="Consolas"/>
              </a:rPr>
              <a:t>or</a:t>
            </a:r>
            <a:endParaRPr sz="1100" dirty="0">
              <a:solidFill>
                <a:srgbClr val="FFFFFF"/>
              </a:solidFill>
              <a:latin typeface="Consolas"/>
              <a:ea typeface="Consolas"/>
              <a:cs typeface="Consolas"/>
              <a:sym typeface="Consolas"/>
            </a:endParaRPr>
          </a:p>
          <a:p>
            <a:pPr marL="0" lvl="0" indent="0" algn="ctr" rtl="0">
              <a:spcBef>
                <a:spcPts val="0"/>
              </a:spcBef>
              <a:spcAft>
                <a:spcPts val="0"/>
              </a:spcAft>
              <a:buNone/>
            </a:pPr>
            <a:r>
              <a:rPr lang="en" sz="1100" dirty="0">
                <a:solidFill>
                  <a:srgbClr val="FFFFFF"/>
                </a:solidFill>
                <a:latin typeface="Consolas"/>
                <a:ea typeface="Consolas"/>
                <a:cs typeface="Consolas"/>
                <a:sym typeface="Consolas"/>
              </a:rPr>
              <a:t>es.awaitTermination()</a:t>
            </a:r>
            <a:endParaRPr sz="1100" dirty="0">
              <a:solidFill>
                <a:srgbClr val="FFFFFF"/>
              </a:solidFill>
              <a:latin typeface="Consolas"/>
              <a:ea typeface="Consolas"/>
              <a:cs typeface="Consolas"/>
              <a:sym typeface="Consolas"/>
            </a:endParaRPr>
          </a:p>
        </p:txBody>
      </p:sp>
      <p:sp>
        <p:nvSpPr>
          <p:cNvPr id="295" name="Google Shape;295;p38"/>
          <p:cNvSpPr txBox="1"/>
          <p:nvPr/>
        </p:nvSpPr>
        <p:spPr>
          <a:xfrm>
            <a:off x="5905921" y="1464308"/>
            <a:ext cx="1073100" cy="532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event occurs</a:t>
            </a:r>
            <a:endParaRPr sz="1100">
              <a:solidFill>
                <a:srgbClr val="FFFFFF"/>
              </a:solidFill>
            </a:endParaRPr>
          </a:p>
          <a:p>
            <a:pPr marL="0" lvl="0" indent="0" algn="ctr" rtl="0">
              <a:spcBef>
                <a:spcPts val="0"/>
              </a:spcBef>
              <a:spcAft>
                <a:spcPts val="0"/>
              </a:spcAft>
              <a:buNone/>
            </a:pPr>
            <a:r>
              <a:rPr lang="en" sz="1100" i="1">
                <a:solidFill>
                  <a:srgbClr val="FFFFFF"/>
                </a:solidFill>
              </a:rPr>
              <a:t>or</a:t>
            </a:r>
            <a:endParaRPr sz="1100">
              <a:solidFill>
                <a:srgbClr val="FFFFFF"/>
              </a:solidFill>
            </a:endParaRPr>
          </a:p>
          <a:p>
            <a:pPr marL="0" lvl="0" indent="0" algn="ctr" rtl="0">
              <a:spcBef>
                <a:spcPts val="0"/>
              </a:spcBef>
              <a:spcAft>
                <a:spcPts val="0"/>
              </a:spcAft>
              <a:buNone/>
            </a:pPr>
            <a:r>
              <a:rPr lang="en" sz="1100">
                <a:solidFill>
                  <a:srgbClr val="FFFFFF"/>
                </a:solidFill>
              </a:rPr>
              <a:t>interruption</a:t>
            </a:r>
            <a:endParaRPr sz="1100">
              <a:solidFill>
                <a:srgbClr val="FFFFFF"/>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7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7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7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7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79">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80"/>
                                        </p:tgtEl>
                                        <p:attrNameLst>
                                          <p:attrName>style.visibility</p:attrName>
                                        </p:attrNameLst>
                                      </p:cBhvr>
                                      <p:to>
                                        <p:strVal val="visible"/>
                                      </p:to>
                                    </p:set>
                                    <p:animEffect transition="in" filter="fade">
                                      <p:cBhvr>
                                        <p:cTn id="63" dur="1000"/>
                                        <p:tgtEl>
                                          <p:spTgt spid="2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3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Counting Thread</a:t>
            </a:r>
            <a:endParaRPr/>
          </a:p>
        </p:txBody>
      </p:sp>
      <p:sp>
        <p:nvSpPr>
          <p:cNvPr id="301" name="Google Shape;301;p39"/>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Let's practice a bit more by using Threads to count up to some number by incrementing the value of an integer. This will help set us up for the next activity, too!</a:t>
            </a:r>
            <a:endParaRPr/>
          </a:p>
        </p:txBody>
      </p:sp>
      <p:sp>
        <p:nvSpPr>
          <p:cNvPr id="302" name="Google Shape;302;p3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8</a:t>
            </a:fld>
            <a:endParaRPr/>
          </a:p>
        </p:txBody>
      </p:sp>
      <p:sp>
        <p:nvSpPr>
          <p:cNvPr id="303" name="Google Shape;303;p39"/>
          <p:cNvSpPr txBox="1">
            <a:spLocks noGrp="1"/>
          </p:cNvSpPr>
          <p:nvPr>
            <p:ph type="body" idx="2"/>
          </p:nvPr>
        </p:nvSpPr>
        <p:spPr>
          <a:xfrm>
            <a:off x="2261625" y="1445925"/>
            <a:ext cx="6504900" cy="32169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TheCount</a:t>
            </a:r>
            <a:r>
              <a:rPr lang="en" dirty="0"/>
              <a:t>" and use your preferred method to make it usable in a </a:t>
            </a:r>
            <a:r>
              <a:rPr lang="en" b="1" i="1" dirty="0">
                <a:solidFill>
                  <a:srgbClr val="FF0000"/>
                </a:solidFill>
              </a:rPr>
              <a:t>thread</a:t>
            </a:r>
            <a:r>
              <a:rPr lang="en" dirty="0"/>
              <a:t>.</a:t>
            </a:r>
            <a:endParaRPr dirty="0"/>
          </a:p>
          <a:p>
            <a:pPr marL="914400" lvl="1" indent="-298450" algn="l" rtl="0">
              <a:spcBef>
                <a:spcPts val="0"/>
              </a:spcBef>
              <a:spcAft>
                <a:spcPts val="0"/>
              </a:spcAft>
              <a:buSzPts val="1100"/>
              <a:buChar char="○"/>
            </a:pPr>
            <a:r>
              <a:rPr lang="en" dirty="0"/>
              <a:t>Define a </a:t>
            </a:r>
            <a:r>
              <a:rPr lang="en" dirty="0">
                <a:latin typeface="Courier New"/>
                <a:ea typeface="Courier New"/>
                <a:cs typeface="Courier New"/>
                <a:sym typeface="Courier New"/>
              </a:rPr>
              <a:t>static</a:t>
            </a:r>
            <a:r>
              <a:rPr lang="en" dirty="0"/>
              <a:t> </a:t>
            </a:r>
            <a:r>
              <a:rPr lang="en" dirty="0">
                <a:latin typeface="Courier New"/>
                <a:ea typeface="Courier New"/>
                <a:cs typeface="Courier New"/>
                <a:sym typeface="Courier New"/>
              </a:rPr>
              <a:t>int</a:t>
            </a:r>
            <a:r>
              <a:rPr lang="en" dirty="0"/>
              <a:t> named "</a:t>
            </a:r>
            <a:r>
              <a:rPr lang="en" dirty="0">
                <a:solidFill>
                  <a:srgbClr val="FF0000"/>
                </a:solidFill>
                <a:latin typeface="Courier New"/>
                <a:ea typeface="Courier New"/>
                <a:cs typeface="Courier New"/>
                <a:sym typeface="Courier New"/>
              </a:rPr>
              <a:t>COUNT</a:t>
            </a:r>
            <a:r>
              <a:rPr lang="en" dirty="0"/>
              <a:t>" that is initialized to hold </a:t>
            </a:r>
            <a:r>
              <a:rPr lang="en" b="1" i="1" dirty="0">
                <a:solidFill>
                  <a:srgbClr val="FF0000"/>
                </a:solidFill>
              </a:rPr>
              <a:t>one</a:t>
            </a:r>
            <a:r>
              <a:rPr lang="en" dirty="0">
                <a:solidFill>
                  <a:srgbClr val="FF0000"/>
                </a:solidFill>
              </a:rPr>
              <a:t> </a:t>
            </a:r>
            <a:r>
              <a:rPr lang="en" dirty="0"/>
              <a:t>value.</a:t>
            </a:r>
            <a:endParaRPr dirty="0"/>
          </a:p>
          <a:p>
            <a:pPr marL="914400" lvl="1" indent="-298450" algn="l" rtl="0">
              <a:spcBef>
                <a:spcPts val="0"/>
              </a:spcBef>
              <a:spcAft>
                <a:spcPts val="0"/>
              </a:spcAft>
              <a:buSzPts val="1100"/>
              <a:buChar char="○"/>
            </a:pPr>
            <a:r>
              <a:rPr lang="en" dirty="0"/>
              <a:t>Add a field for an integer </a:t>
            </a:r>
            <a:r>
              <a:rPr lang="en" dirty="0">
                <a:solidFill>
                  <a:srgbClr val="FF0000"/>
                </a:solidFill>
                <a:latin typeface="Courier New"/>
                <a:ea typeface="Courier New"/>
                <a:cs typeface="Courier New"/>
                <a:sym typeface="Courier New"/>
              </a:rPr>
              <a:t>id</a:t>
            </a:r>
            <a:r>
              <a:rPr lang="en" dirty="0"/>
              <a:t> and an </a:t>
            </a:r>
            <a:r>
              <a:rPr lang="en" b="1" i="1" dirty="0">
                <a:solidFill>
                  <a:srgbClr val="FF0000"/>
                </a:solidFill>
              </a:rPr>
              <a:t>initializing constructor</a:t>
            </a:r>
            <a:r>
              <a:rPr lang="en" dirty="0"/>
              <a:t>.</a:t>
            </a:r>
            <a:endParaRPr dirty="0"/>
          </a:p>
          <a:p>
            <a:pPr marL="914400" lvl="1" indent="-298450" algn="l" rtl="0">
              <a:spcBef>
                <a:spcPts val="0"/>
              </a:spcBef>
              <a:spcAft>
                <a:spcPts val="0"/>
              </a:spcAft>
              <a:buSzPts val="1100"/>
              <a:buChar char="○"/>
            </a:pPr>
            <a:r>
              <a:rPr lang="en" dirty="0"/>
              <a:t>The </a:t>
            </a:r>
            <a:r>
              <a:rPr lang="en" dirty="0">
                <a:solidFill>
                  <a:srgbClr val="FF0000"/>
                </a:solidFill>
                <a:latin typeface="Courier New"/>
                <a:ea typeface="Courier New"/>
                <a:cs typeface="Courier New"/>
                <a:sym typeface="Courier New"/>
              </a:rPr>
              <a:t>run()</a:t>
            </a:r>
            <a:r>
              <a:rPr lang="en" dirty="0"/>
              <a:t> method should:</a:t>
            </a:r>
            <a:endParaRPr dirty="0"/>
          </a:p>
          <a:p>
            <a:pPr marL="1371600" lvl="2" indent="-298450" algn="l" rtl="0">
              <a:spcBef>
                <a:spcPts val="0"/>
              </a:spcBef>
              <a:spcAft>
                <a:spcPts val="0"/>
              </a:spcAft>
              <a:buSzPts val="1100"/>
              <a:buChar char="■"/>
            </a:pPr>
            <a:r>
              <a:rPr lang="en" b="1" i="1" dirty="0">
                <a:solidFill>
                  <a:srgbClr val="FF0000"/>
                </a:solidFill>
              </a:rPr>
              <a:t>Print</a:t>
            </a:r>
            <a:r>
              <a:rPr lang="en" dirty="0">
                <a:solidFill>
                  <a:srgbClr val="FF0000"/>
                </a:solidFill>
              </a:rPr>
              <a:t> </a:t>
            </a:r>
            <a:r>
              <a:rPr lang="en" dirty="0"/>
              <a:t>a message with the thread's ID indicating that it is starting.</a:t>
            </a:r>
            <a:endParaRPr dirty="0"/>
          </a:p>
          <a:p>
            <a:pPr marL="1371600" lvl="2" indent="-298450" algn="l" rtl="0">
              <a:spcBef>
                <a:spcPts val="0"/>
              </a:spcBef>
              <a:spcAft>
                <a:spcPts val="0"/>
              </a:spcAft>
              <a:buSzPts val="1100"/>
              <a:buChar char="■"/>
            </a:pPr>
            <a:r>
              <a:rPr lang="en" dirty="0"/>
              <a:t>Use a </a:t>
            </a:r>
            <a:r>
              <a:rPr lang="en" dirty="0">
                <a:latin typeface="Courier New"/>
                <a:ea typeface="Courier New"/>
                <a:cs typeface="Courier New"/>
                <a:sym typeface="Courier New"/>
              </a:rPr>
              <a:t>for</a:t>
            </a:r>
            <a:r>
              <a:rPr lang="en" dirty="0"/>
              <a:t> loop to </a:t>
            </a:r>
            <a:r>
              <a:rPr lang="en" b="1" i="1" dirty="0">
                <a:solidFill>
                  <a:srgbClr val="FF0000"/>
                </a:solidFill>
              </a:rPr>
              <a:t>add 1</a:t>
            </a:r>
            <a:r>
              <a:rPr lang="en" b="1" i="1" dirty="0"/>
              <a:t> </a:t>
            </a:r>
            <a:r>
              <a:rPr lang="en" dirty="0"/>
              <a:t>to the</a:t>
            </a:r>
            <a:r>
              <a:rPr lang="en" b="1" i="1" dirty="0">
                <a:solidFill>
                  <a:srgbClr val="FF0000"/>
                </a:solidFill>
              </a:rPr>
              <a:t> </a:t>
            </a:r>
            <a:r>
              <a:rPr lang="en" dirty="0">
                <a:solidFill>
                  <a:srgbClr val="FF0000"/>
                </a:solidFill>
                <a:latin typeface="Courier New"/>
                <a:ea typeface="Courier New"/>
                <a:cs typeface="Courier New"/>
                <a:sym typeface="Courier New"/>
              </a:rPr>
              <a:t>COUNT</a:t>
            </a:r>
            <a:r>
              <a:rPr lang="en" dirty="0">
                <a:solidFill>
                  <a:srgbClr val="FF0000"/>
                </a:solidFill>
              </a:rPr>
              <a:t> </a:t>
            </a:r>
            <a:r>
              <a:rPr lang="en" dirty="0"/>
              <a:t>value </a:t>
            </a:r>
            <a:r>
              <a:rPr lang="en" dirty="0">
                <a:solidFill>
                  <a:srgbClr val="FF0000"/>
                </a:solidFill>
                <a:latin typeface="Courier New"/>
                <a:ea typeface="Courier New"/>
                <a:cs typeface="Courier New"/>
                <a:sym typeface="Courier New"/>
              </a:rPr>
              <a:t>100,000</a:t>
            </a:r>
            <a:r>
              <a:rPr lang="en" dirty="0"/>
              <a:t> times, e.g. </a:t>
            </a:r>
            <a:r>
              <a:rPr lang="en" dirty="0">
                <a:solidFill>
                  <a:srgbClr val="FF0000"/>
                </a:solidFill>
                <a:latin typeface="Courier New"/>
                <a:ea typeface="Courier New"/>
                <a:cs typeface="Courier New"/>
                <a:sym typeface="Courier New"/>
              </a:rPr>
              <a:t>COUNT = COUNT + 1;</a:t>
            </a:r>
            <a:endParaRPr dirty="0">
              <a:solidFill>
                <a:srgbClr val="FF0000"/>
              </a:solidFill>
              <a:latin typeface="Courier New"/>
              <a:ea typeface="Courier New"/>
              <a:cs typeface="Courier New"/>
              <a:sym typeface="Courier New"/>
            </a:endParaRPr>
          </a:p>
          <a:p>
            <a:pPr marL="1371600" lvl="2" indent="-298450" algn="l" rtl="0">
              <a:spcBef>
                <a:spcPts val="0"/>
              </a:spcBef>
              <a:spcAft>
                <a:spcPts val="0"/>
              </a:spcAft>
              <a:buSzPts val="1100"/>
              <a:buChar char="■"/>
            </a:pPr>
            <a:r>
              <a:rPr lang="en" b="1" i="1" dirty="0">
                <a:solidFill>
                  <a:srgbClr val="FF0000"/>
                </a:solidFill>
              </a:rPr>
              <a:t>Print </a:t>
            </a:r>
            <a:r>
              <a:rPr lang="en" dirty="0"/>
              <a:t>a message with the thread's ID indicating that is is done.</a:t>
            </a:r>
            <a:endParaRPr dirty="0"/>
          </a:p>
          <a:p>
            <a:pPr marL="457200" lvl="0" indent="-311150" algn="l" rtl="0">
              <a:spcBef>
                <a:spcPts val="0"/>
              </a:spcBef>
              <a:spcAft>
                <a:spcPts val="0"/>
              </a:spcAft>
              <a:buSzPts val="1300"/>
              <a:buChar char="●"/>
            </a:pPr>
            <a:r>
              <a:rPr lang="en" dirty="0"/>
              <a:t>Define a </a:t>
            </a:r>
            <a:r>
              <a:rPr lang="en" dirty="0">
                <a:solidFill>
                  <a:srgbClr val="FF0000"/>
                </a:solidFill>
                <a:latin typeface="Courier New"/>
                <a:ea typeface="Courier New"/>
                <a:cs typeface="Courier New"/>
                <a:sym typeface="Courier New"/>
              </a:rPr>
              <a:t>main</a:t>
            </a:r>
            <a:r>
              <a:rPr lang="en" dirty="0">
                <a:solidFill>
                  <a:srgbClr val="FF0000"/>
                </a:solidFill>
              </a:rPr>
              <a:t> </a:t>
            </a:r>
            <a:r>
              <a:rPr lang="en" dirty="0"/>
              <a:t>method with the appropriate signature.</a:t>
            </a:r>
            <a:endParaRPr dirty="0"/>
          </a:p>
          <a:p>
            <a:pPr marL="914400" lvl="1" indent="-298450" algn="l" rtl="0">
              <a:spcBef>
                <a:spcPts val="0"/>
              </a:spcBef>
              <a:spcAft>
                <a:spcPts val="0"/>
              </a:spcAft>
              <a:buSzPts val="1100"/>
              <a:buChar char="○"/>
            </a:pPr>
            <a:r>
              <a:rPr lang="en" dirty="0"/>
              <a:t>Create a </a:t>
            </a:r>
            <a:r>
              <a:rPr lang="en" dirty="0">
                <a:solidFill>
                  <a:srgbClr val="FF0000"/>
                </a:solidFill>
                <a:latin typeface="Courier New"/>
                <a:ea typeface="Courier New"/>
                <a:cs typeface="Courier New"/>
                <a:sym typeface="Courier New"/>
              </a:rPr>
              <a:t>TheCount</a:t>
            </a:r>
            <a:r>
              <a:rPr lang="en" dirty="0">
                <a:solidFill>
                  <a:srgbClr val="FF0000"/>
                </a:solidFill>
              </a:rPr>
              <a:t> </a:t>
            </a:r>
            <a:r>
              <a:rPr lang="en" dirty="0"/>
              <a:t>instance</a:t>
            </a:r>
            <a:endParaRPr dirty="0"/>
          </a:p>
          <a:p>
            <a:pPr marL="914400" lvl="1" indent="-298450" algn="l" rtl="0">
              <a:spcBef>
                <a:spcPts val="0"/>
              </a:spcBef>
              <a:spcAft>
                <a:spcPts val="0"/>
              </a:spcAft>
              <a:buClr>
                <a:srgbClr val="666666"/>
              </a:buClr>
              <a:buSzPts val="1100"/>
              <a:buChar char="○"/>
            </a:pPr>
            <a:r>
              <a:rPr lang="en" dirty="0">
                <a:solidFill>
                  <a:srgbClr val="666666"/>
                </a:solidFill>
              </a:rPr>
              <a:t>Using an </a:t>
            </a:r>
            <a:r>
              <a:rPr lang="en" dirty="0">
                <a:solidFill>
                  <a:srgbClr val="FF0000"/>
                </a:solidFill>
                <a:latin typeface="Courier New"/>
                <a:ea typeface="Courier New"/>
                <a:cs typeface="Courier New"/>
                <a:sym typeface="Courier New"/>
              </a:rPr>
              <a:t>ExecutorService</a:t>
            </a:r>
            <a:r>
              <a:rPr lang="en" dirty="0">
                <a:solidFill>
                  <a:srgbClr val="666666"/>
                </a:solidFill>
              </a:rPr>
              <a:t>, execute the instances </a:t>
            </a:r>
            <a:r>
              <a:rPr lang="en" dirty="0">
                <a:solidFill>
                  <a:srgbClr val="666666"/>
                </a:solidFill>
                <a:latin typeface="Courier New"/>
                <a:ea typeface="Courier New"/>
                <a:cs typeface="Courier New"/>
                <a:sym typeface="Courier New"/>
              </a:rPr>
              <a:t>run()</a:t>
            </a:r>
            <a:r>
              <a:rPr lang="en" dirty="0">
                <a:solidFill>
                  <a:srgbClr val="666666"/>
                </a:solidFill>
              </a:rPr>
              <a:t> method as a task.</a:t>
            </a:r>
            <a:endParaRPr dirty="0">
              <a:solidFill>
                <a:srgbClr val="666666"/>
              </a:solidFill>
            </a:endParaRPr>
          </a:p>
          <a:p>
            <a:pPr marL="914400" lvl="1" indent="-298450" algn="l" rtl="0">
              <a:spcBef>
                <a:spcPts val="0"/>
              </a:spcBef>
              <a:spcAft>
                <a:spcPts val="0"/>
              </a:spcAft>
              <a:buClr>
                <a:srgbClr val="666666"/>
              </a:buClr>
              <a:buSzPts val="1100"/>
              <a:buChar char="○"/>
            </a:pPr>
            <a:r>
              <a:rPr lang="en" b="1" i="1" dirty="0">
                <a:solidFill>
                  <a:srgbClr val="FF0000"/>
                </a:solidFill>
              </a:rPr>
              <a:t>Shutdown</a:t>
            </a:r>
            <a:r>
              <a:rPr lang="en" dirty="0">
                <a:solidFill>
                  <a:srgbClr val="666666"/>
                </a:solidFill>
              </a:rPr>
              <a:t> the service and </a:t>
            </a:r>
            <a:r>
              <a:rPr lang="en" dirty="0">
                <a:solidFill>
                  <a:srgbClr val="FF0000"/>
                </a:solidFill>
                <a:latin typeface="Courier New"/>
                <a:ea typeface="Courier New"/>
                <a:cs typeface="Courier New"/>
                <a:sym typeface="Courier New"/>
              </a:rPr>
              <a:t>AwaitTermination</a:t>
            </a:r>
            <a:endParaRPr dirty="0">
              <a:solidFill>
                <a:srgbClr val="FF0000"/>
              </a:solidFill>
              <a:latin typeface="Courier New"/>
              <a:ea typeface="Courier New"/>
              <a:cs typeface="Courier New"/>
              <a:sym typeface="Courier New"/>
            </a:endParaRPr>
          </a:p>
          <a:p>
            <a:pPr marL="914400" lvl="1" indent="-298450" algn="l" rtl="0">
              <a:spcBef>
                <a:spcPts val="0"/>
              </a:spcBef>
              <a:spcAft>
                <a:spcPts val="0"/>
              </a:spcAft>
              <a:buClr>
                <a:srgbClr val="666666"/>
              </a:buClr>
              <a:buSzPts val="1100"/>
              <a:buChar char="○"/>
            </a:pPr>
            <a:r>
              <a:rPr lang="en" dirty="0">
                <a:solidFill>
                  <a:srgbClr val="666666"/>
                </a:solidFill>
              </a:rPr>
              <a:t>Print the value of </a:t>
            </a:r>
            <a:r>
              <a:rPr lang="en" dirty="0">
                <a:solidFill>
                  <a:srgbClr val="FF0000"/>
                </a:solidFill>
                <a:latin typeface="Courier New"/>
                <a:ea typeface="Courier New"/>
                <a:cs typeface="Courier New"/>
                <a:sym typeface="Courier New"/>
              </a:rPr>
              <a:t>COUNT</a:t>
            </a:r>
            <a:endParaRPr dirty="0">
              <a:solidFill>
                <a:srgbClr val="FF0000"/>
              </a:solidFill>
              <a:latin typeface="Courier New"/>
              <a:ea typeface="Courier New"/>
              <a:cs typeface="Courier New"/>
              <a:sym typeface="Courier New"/>
            </a:endParaRPr>
          </a:p>
          <a:p>
            <a:pPr marL="457200" lvl="0" indent="-311150" algn="l" rtl="0">
              <a:spcBef>
                <a:spcPts val="0"/>
              </a:spcBef>
              <a:spcAft>
                <a:spcPts val="0"/>
              </a:spcAft>
              <a:buSzPts val="1300"/>
              <a:buChar char="●"/>
            </a:pPr>
            <a:r>
              <a:rPr lang="en" b="1" i="1" dirty="0">
                <a:solidFill>
                  <a:srgbClr val="FF0000"/>
                </a:solidFill>
              </a:rPr>
              <a:t>Run</a:t>
            </a:r>
            <a:r>
              <a:rPr lang="en" dirty="0">
                <a:solidFill>
                  <a:srgbClr val="FF0000"/>
                </a:solidFill>
              </a:rPr>
              <a:t> </a:t>
            </a:r>
            <a:r>
              <a:rPr lang="en" dirty="0"/>
              <a:t>your class. What do you </a:t>
            </a:r>
            <a:r>
              <a:rPr lang="en" b="1" i="1" dirty="0">
                <a:solidFill>
                  <a:srgbClr val="FF0000"/>
                </a:solidFill>
              </a:rPr>
              <a:t>see</a:t>
            </a:r>
            <a:r>
              <a:rPr lang="en" dirty="0"/>
              <a:t>?</a:t>
            </a:r>
            <a:endParaRPr dirty="0"/>
          </a:p>
        </p:txBody>
      </p:sp>
      <p:sp>
        <p:nvSpPr>
          <p:cNvPr id="304" name="Google Shape;304;p3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11.2</a:t>
            </a:r>
            <a:endParaRPr/>
          </a:p>
        </p:txBody>
      </p:sp>
      <p:pic>
        <p:nvPicPr>
          <p:cNvPr id="305" name="Google Shape;305;p39"/>
          <p:cNvPicPr preferRelativeResize="0"/>
          <p:nvPr/>
        </p:nvPicPr>
        <p:blipFill>
          <a:blip r:embed="rId3">
            <a:alphaModFix/>
          </a:blip>
          <a:stretch>
            <a:fillRect/>
          </a:stretch>
        </p:blipFill>
        <p:spPr>
          <a:xfrm>
            <a:off x="636605" y="1686350"/>
            <a:ext cx="1312676" cy="29382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10 Counting Threads</a:t>
            </a:r>
            <a:endParaRPr/>
          </a:p>
        </p:txBody>
      </p:sp>
      <p:sp>
        <p:nvSpPr>
          <p:cNvPr id="311" name="Google Shape;311;p40"/>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latin typeface="Courier New"/>
                <a:ea typeface="Courier New"/>
                <a:cs typeface="Courier New"/>
                <a:sym typeface="Courier New"/>
              </a:rPr>
              <a:t>TheCount</a:t>
            </a:r>
            <a:r>
              <a:rPr lang="en"/>
              <a:t> seems to be doing its job exactly as expected. But what happens if we have 10 of them running at the same time, all trying to update the value in the same integer? Let's find out!</a:t>
            </a:r>
            <a:endParaRPr/>
          </a:p>
        </p:txBody>
      </p:sp>
      <p:sp>
        <p:nvSpPr>
          <p:cNvPr id="312" name="Google Shape;312;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9</a:t>
            </a:fld>
            <a:endParaRPr/>
          </a:p>
        </p:txBody>
      </p:sp>
      <p:sp>
        <p:nvSpPr>
          <p:cNvPr id="313" name="Google Shape;313;p40"/>
          <p:cNvSpPr txBox="1">
            <a:spLocks noGrp="1"/>
          </p:cNvSpPr>
          <p:nvPr>
            <p:ph type="body" idx="2"/>
          </p:nvPr>
        </p:nvSpPr>
        <p:spPr>
          <a:xfrm>
            <a:off x="2796350" y="1632125"/>
            <a:ext cx="5992200" cy="31680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dirty="0"/>
              <a:t>Open your </a:t>
            </a:r>
            <a:r>
              <a:rPr lang="en" sz="1700" dirty="0">
                <a:solidFill>
                  <a:srgbClr val="FF0000"/>
                </a:solidFill>
                <a:latin typeface="Courier New"/>
                <a:ea typeface="Courier New"/>
                <a:cs typeface="Courier New"/>
                <a:sym typeface="Courier New"/>
              </a:rPr>
              <a:t>TheCount</a:t>
            </a:r>
            <a:r>
              <a:rPr lang="en" sz="1700" dirty="0"/>
              <a:t> class and navigate to the </a:t>
            </a:r>
            <a:r>
              <a:rPr lang="en" sz="1700" dirty="0">
                <a:latin typeface="Courier New"/>
                <a:ea typeface="Courier New"/>
                <a:cs typeface="Courier New"/>
                <a:sym typeface="Courier New"/>
              </a:rPr>
              <a:t>main</a:t>
            </a:r>
            <a:r>
              <a:rPr lang="en" sz="1700" dirty="0"/>
              <a:t> method.</a:t>
            </a:r>
            <a:endParaRPr sz="1700" dirty="0"/>
          </a:p>
          <a:p>
            <a:pPr marL="914400" lvl="1" indent="-323850" algn="l" rtl="0">
              <a:spcBef>
                <a:spcPts val="0"/>
              </a:spcBef>
              <a:spcAft>
                <a:spcPts val="0"/>
              </a:spcAft>
              <a:buSzPts val="1500"/>
              <a:buChar char="○"/>
            </a:pPr>
            <a:r>
              <a:rPr lang="en" sz="1500" b="1" i="1" dirty="0">
                <a:solidFill>
                  <a:srgbClr val="FF0000"/>
                </a:solidFill>
              </a:rPr>
              <a:t>Modify </a:t>
            </a:r>
            <a:r>
              <a:rPr lang="en" sz="1500" dirty="0"/>
              <a:t>it to create and start </a:t>
            </a:r>
            <a:r>
              <a:rPr lang="en" sz="1500" b="1" i="1" dirty="0">
                <a:solidFill>
                  <a:srgbClr val="FF0000"/>
                </a:solidFill>
              </a:rPr>
              <a:t>10</a:t>
            </a:r>
            <a:r>
              <a:rPr lang="en" sz="1500" dirty="0">
                <a:solidFill>
                  <a:srgbClr val="FF0000"/>
                </a:solidFill>
              </a:rPr>
              <a:t> </a:t>
            </a:r>
            <a:r>
              <a:rPr lang="en" sz="1500" dirty="0"/>
              <a:t>of your counters, e.g. use a </a:t>
            </a:r>
            <a:r>
              <a:rPr lang="en" sz="1500" dirty="0">
                <a:latin typeface="Courier New"/>
                <a:ea typeface="Courier New"/>
                <a:cs typeface="Courier New"/>
                <a:sym typeface="Courier New"/>
              </a:rPr>
              <a:t>for</a:t>
            </a:r>
            <a:r>
              <a:rPr lang="en" sz="1500" dirty="0"/>
              <a:t> loop. Make sure that each thread has a different ID.</a:t>
            </a:r>
            <a:endParaRPr sz="1500" dirty="0"/>
          </a:p>
          <a:p>
            <a:pPr marL="914400" lvl="1" indent="-323850" algn="l" rtl="0">
              <a:spcBef>
                <a:spcPts val="0"/>
              </a:spcBef>
              <a:spcAft>
                <a:spcPts val="0"/>
              </a:spcAft>
              <a:buSzPts val="1500"/>
              <a:buChar char="○"/>
            </a:pPr>
            <a:r>
              <a:rPr lang="en" sz="1500" dirty="0"/>
              <a:t>After the service terminates, </a:t>
            </a:r>
            <a:r>
              <a:rPr lang="en" sz="1500" b="1" i="1" dirty="0">
                <a:solidFill>
                  <a:srgbClr val="FF0000"/>
                </a:solidFill>
              </a:rPr>
              <a:t>Print</a:t>
            </a:r>
            <a:r>
              <a:rPr lang="en" sz="1500" dirty="0">
                <a:solidFill>
                  <a:srgbClr val="FF0000"/>
                </a:solidFill>
              </a:rPr>
              <a:t> </a:t>
            </a:r>
            <a:r>
              <a:rPr lang="en" sz="1500" dirty="0"/>
              <a:t>the </a:t>
            </a:r>
            <a:r>
              <a:rPr lang="en" sz="1500" dirty="0">
                <a:latin typeface="Courier New"/>
                <a:ea typeface="Courier New"/>
                <a:cs typeface="Courier New"/>
                <a:sym typeface="Courier New"/>
              </a:rPr>
              <a:t>COUNT</a:t>
            </a:r>
            <a:r>
              <a:rPr lang="en" sz="1500" dirty="0"/>
              <a:t>.</a:t>
            </a:r>
            <a:endParaRPr sz="1500" dirty="0"/>
          </a:p>
          <a:p>
            <a:pPr marL="457200" lvl="0" indent="-323850" algn="l" rtl="0">
              <a:spcBef>
                <a:spcPts val="1000"/>
              </a:spcBef>
              <a:spcAft>
                <a:spcPts val="0"/>
              </a:spcAft>
              <a:buSzPts val="1500"/>
              <a:buChar char="●"/>
            </a:pPr>
            <a:r>
              <a:rPr lang="en" sz="1500" i="1" dirty="0"/>
              <a:t>Hint: You can use </a:t>
            </a:r>
            <a:r>
              <a:rPr lang="en" sz="1500" i="1" dirty="0">
                <a:latin typeface="Courier New"/>
                <a:ea typeface="Courier New"/>
                <a:cs typeface="Courier New"/>
                <a:sym typeface="Courier New"/>
              </a:rPr>
              <a:t>String.format("%,d", number)</a:t>
            </a:r>
            <a:r>
              <a:rPr lang="en" sz="1500" i="1" dirty="0"/>
              <a:t> to create number strings with commas in them.</a:t>
            </a:r>
            <a:endParaRPr sz="1500" i="1" dirty="0"/>
          </a:p>
          <a:p>
            <a:pPr marL="457200" lvl="0" indent="-336550" algn="l" rtl="0">
              <a:spcBef>
                <a:spcPts val="1000"/>
              </a:spcBef>
              <a:spcAft>
                <a:spcPts val="0"/>
              </a:spcAft>
              <a:buSzPts val="1700"/>
              <a:buChar char="●"/>
            </a:pPr>
            <a:r>
              <a:rPr lang="en" sz="1700" b="1" i="1" dirty="0">
                <a:solidFill>
                  <a:srgbClr val="FF0000"/>
                </a:solidFill>
              </a:rPr>
              <a:t>Compile</a:t>
            </a:r>
            <a:r>
              <a:rPr lang="en" sz="1700" dirty="0">
                <a:solidFill>
                  <a:srgbClr val="FF0000"/>
                </a:solidFill>
              </a:rPr>
              <a:t> </a:t>
            </a:r>
            <a:r>
              <a:rPr lang="en" sz="1700" dirty="0"/>
              <a:t>and </a:t>
            </a:r>
            <a:r>
              <a:rPr lang="en" sz="1700" b="1" i="1" dirty="0">
                <a:solidFill>
                  <a:srgbClr val="FF0000"/>
                </a:solidFill>
              </a:rPr>
              <a:t>run</a:t>
            </a:r>
            <a:r>
              <a:rPr lang="en" sz="1700" dirty="0">
                <a:solidFill>
                  <a:srgbClr val="FF0000"/>
                </a:solidFill>
              </a:rPr>
              <a:t> </a:t>
            </a:r>
            <a:r>
              <a:rPr lang="en" sz="1700" dirty="0"/>
              <a:t>your class.</a:t>
            </a:r>
            <a:endParaRPr sz="1700" dirty="0"/>
          </a:p>
          <a:p>
            <a:pPr marL="914400" lvl="1" indent="-323850" algn="l" rtl="0">
              <a:spcBef>
                <a:spcPts val="0"/>
              </a:spcBef>
              <a:spcAft>
                <a:spcPts val="0"/>
              </a:spcAft>
              <a:buSzPts val="1500"/>
              <a:buChar char="○"/>
            </a:pPr>
            <a:r>
              <a:rPr lang="en" sz="1500" dirty="0"/>
              <a:t>What do you </a:t>
            </a:r>
            <a:r>
              <a:rPr lang="en" sz="1500" b="1" i="1" dirty="0">
                <a:solidFill>
                  <a:srgbClr val="FF0000"/>
                </a:solidFill>
              </a:rPr>
              <a:t>see</a:t>
            </a:r>
            <a:r>
              <a:rPr lang="en" sz="1500" dirty="0"/>
              <a:t>?</a:t>
            </a:r>
            <a:endParaRPr sz="1500" dirty="0"/>
          </a:p>
          <a:p>
            <a:pPr marL="914400" lvl="1" indent="-323850" algn="l" rtl="0">
              <a:spcBef>
                <a:spcPts val="0"/>
              </a:spcBef>
              <a:spcAft>
                <a:spcPts val="0"/>
              </a:spcAft>
              <a:buSzPts val="1500"/>
              <a:buChar char="○"/>
            </a:pPr>
            <a:r>
              <a:rPr lang="en" sz="1500" dirty="0"/>
              <a:t>What happens if your </a:t>
            </a:r>
            <a:r>
              <a:rPr lang="en" sz="1500" b="1" i="1" dirty="0">
                <a:solidFill>
                  <a:srgbClr val="FF0000"/>
                </a:solidFill>
              </a:rPr>
              <a:t>run </a:t>
            </a:r>
            <a:r>
              <a:rPr lang="en" sz="1500" dirty="0"/>
              <a:t>it a few more times?</a:t>
            </a:r>
            <a:endParaRPr sz="1500" dirty="0"/>
          </a:p>
        </p:txBody>
      </p:sp>
      <p:sp>
        <p:nvSpPr>
          <p:cNvPr id="314" name="Google Shape;314;p4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11.3</a:t>
            </a:r>
            <a:endParaRPr/>
          </a:p>
        </p:txBody>
      </p:sp>
      <p:pic>
        <p:nvPicPr>
          <p:cNvPr id="315" name="Google Shape;315;p40"/>
          <p:cNvPicPr preferRelativeResize="0"/>
          <p:nvPr/>
        </p:nvPicPr>
        <p:blipFill>
          <a:blip r:embed="rId3">
            <a:alphaModFix/>
          </a:blip>
          <a:stretch>
            <a:fillRect/>
          </a:stretch>
        </p:blipFill>
        <p:spPr>
          <a:xfrm>
            <a:off x="1959104" y="1686350"/>
            <a:ext cx="447375" cy="1001399"/>
          </a:xfrm>
          <a:prstGeom prst="rect">
            <a:avLst/>
          </a:prstGeom>
          <a:noFill/>
          <a:ln>
            <a:noFill/>
          </a:ln>
        </p:spPr>
      </p:pic>
      <p:pic>
        <p:nvPicPr>
          <p:cNvPr id="316" name="Google Shape;316;p40"/>
          <p:cNvPicPr preferRelativeResize="0"/>
          <p:nvPr/>
        </p:nvPicPr>
        <p:blipFill>
          <a:blip r:embed="rId3">
            <a:alphaModFix/>
          </a:blip>
          <a:stretch>
            <a:fillRect/>
          </a:stretch>
        </p:blipFill>
        <p:spPr>
          <a:xfrm>
            <a:off x="1197104" y="1762550"/>
            <a:ext cx="447375" cy="1001399"/>
          </a:xfrm>
          <a:prstGeom prst="rect">
            <a:avLst/>
          </a:prstGeom>
          <a:noFill/>
          <a:ln>
            <a:noFill/>
          </a:ln>
        </p:spPr>
      </p:pic>
      <p:pic>
        <p:nvPicPr>
          <p:cNvPr id="317" name="Google Shape;317;p40"/>
          <p:cNvPicPr preferRelativeResize="0"/>
          <p:nvPr/>
        </p:nvPicPr>
        <p:blipFill>
          <a:blip r:embed="rId3">
            <a:alphaModFix/>
          </a:blip>
          <a:stretch>
            <a:fillRect/>
          </a:stretch>
        </p:blipFill>
        <p:spPr>
          <a:xfrm>
            <a:off x="511304" y="1533950"/>
            <a:ext cx="447375" cy="1001399"/>
          </a:xfrm>
          <a:prstGeom prst="rect">
            <a:avLst/>
          </a:prstGeom>
          <a:noFill/>
          <a:ln>
            <a:noFill/>
          </a:ln>
        </p:spPr>
      </p:pic>
      <p:pic>
        <p:nvPicPr>
          <p:cNvPr id="318" name="Google Shape;318;p40"/>
          <p:cNvPicPr preferRelativeResize="0"/>
          <p:nvPr/>
        </p:nvPicPr>
        <p:blipFill>
          <a:blip r:embed="rId3">
            <a:alphaModFix/>
          </a:blip>
          <a:stretch>
            <a:fillRect/>
          </a:stretch>
        </p:blipFill>
        <p:spPr>
          <a:xfrm>
            <a:off x="752763" y="2524550"/>
            <a:ext cx="447375" cy="1001399"/>
          </a:xfrm>
          <a:prstGeom prst="rect">
            <a:avLst/>
          </a:prstGeom>
          <a:noFill/>
          <a:ln>
            <a:noFill/>
          </a:ln>
        </p:spPr>
      </p:pic>
      <p:pic>
        <p:nvPicPr>
          <p:cNvPr id="319" name="Google Shape;319;p40"/>
          <p:cNvPicPr preferRelativeResize="0"/>
          <p:nvPr/>
        </p:nvPicPr>
        <p:blipFill>
          <a:blip r:embed="rId3">
            <a:alphaModFix/>
          </a:blip>
          <a:stretch>
            <a:fillRect/>
          </a:stretch>
        </p:blipFill>
        <p:spPr>
          <a:xfrm>
            <a:off x="1578104" y="2524550"/>
            <a:ext cx="447375" cy="1001399"/>
          </a:xfrm>
          <a:prstGeom prst="rect">
            <a:avLst/>
          </a:prstGeom>
          <a:noFill/>
          <a:ln>
            <a:noFill/>
          </a:ln>
        </p:spPr>
      </p:pic>
      <p:pic>
        <p:nvPicPr>
          <p:cNvPr id="320" name="Google Shape;320;p40"/>
          <p:cNvPicPr preferRelativeResize="0"/>
          <p:nvPr/>
        </p:nvPicPr>
        <p:blipFill>
          <a:blip r:embed="rId3">
            <a:alphaModFix/>
          </a:blip>
          <a:stretch>
            <a:fillRect/>
          </a:stretch>
        </p:blipFill>
        <p:spPr>
          <a:xfrm>
            <a:off x="2111504" y="2981750"/>
            <a:ext cx="447375" cy="1001399"/>
          </a:xfrm>
          <a:prstGeom prst="rect">
            <a:avLst/>
          </a:prstGeom>
          <a:noFill/>
          <a:ln>
            <a:noFill/>
          </a:ln>
        </p:spPr>
      </p:pic>
      <p:pic>
        <p:nvPicPr>
          <p:cNvPr id="321" name="Google Shape;321;p40"/>
          <p:cNvPicPr preferRelativeResize="0"/>
          <p:nvPr/>
        </p:nvPicPr>
        <p:blipFill>
          <a:blip r:embed="rId3">
            <a:alphaModFix/>
          </a:blip>
          <a:stretch>
            <a:fillRect/>
          </a:stretch>
        </p:blipFill>
        <p:spPr>
          <a:xfrm>
            <a:off x="1164957" y="3210350"/>
            <a:ext cx="447375" cy="1001399"/>
          </a:xfrm>
          <a:prstGeom prst="rect">
            <a:avLst/>
          </a:prstGeom>
          <a:noFill/>
          <a:ln>
            <a:noFill/>
          </a:ln>
        </p:spPr>
      </p:pic>
      <p:pic>
        <p:nvPicPr>
          <p:cNvPr id="322" name="Google Shape;322;p40"/>
          <p:cNvPicPr preferRelativeResize="0"/>
          <p:nvPr/>
        </p:nvPicPr>
        <p:blipFill>
          <a:blip r:embed="rId3">
            <a:alphaModFix/>
          </a:blip>
          <a:stretch>
            <a:fillRect/>
          </a:stretch>
        </p:blipFill>
        <p:spPr>
          <a:xfrm>
            <a:off x="295563" y="2905550"/>
            <a:ext cx="447375" cy="1001399"/>
          </a:xfrm>
          <a:prstGeom prst="rect">
            <a:avLst/>
          </a:prstGeom>
          <a:noFill/>
          <a:ln>
            <a:noFill/>
          </a:ln>
        </p:spPr>
      </p:pic>
      <p:pic>
        <p:nvPicPr>
          <p:cNvPr id="323" name="Google Shape;323;p40"/>
          <p:cNvPicPr preferRelativeResize="0"/>
          <p:nvPr/>
        </p:nvPicPr>
        <p:blipFill>
          <a:blip r:embed="rId3">
            <a:alphaModFix/>
          </a:blip>
          <a:stretch>
            <a:fillRect/>
          </a:stretch>
        </p:blipFill>
        <p:spPr>
          <a:xfrm>
            <a:off x="707757" y="3819950"/>
            <a:ext cx="447375" cy="1001399"/>
          </a:xfrm>
          <a:prstGeom prst="rect">
            <a:avLst/>
          </a:prstGeom>
          <a:noFill/>
          <a:ln>
            <a:noFill/>
          </a:ln>
        </p:spPr>
      </p:pic>
      <p:pic>
        <p:nvPicPr>
          <p:cNvPr id="324" name="Google Shape;324;p40"/>
          <p:cNvPicPr preferRelativeResize="0"/>
          <p:nvPr/>
        </p:nvPicPr>
        <p:blipFill>
          <a:blip r:embed="rId3">
            <a:alphaModFix/>
          </a:blip>
          <a:stretch>
            <a:fillRect/>
          </a:stretch>
        </p:blipFill>
        <p:spPr>
          <a:xfrm>
            <a:off x="1622157" y="3896150"/>
            <a:ext cx="447375" cy="10013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fld id="{00000000-1234-1234-1234-123412341234}" type="slidenum">
              <a:rPr lang="en"/>
              <a:t>10</a:t>
            </a:fld>
            <a:endParaRPr/>
          </a:p>
        </p:txBody>
      </p:sp>
      <p:sp>
        <p:nvSpPr>
          <p:cNvPr id="330" name="Google Shape;330;p41"/>
          <p:cNvSpPr txBox="1">
            <a:spLocks noGrp="1"/>
          </p:cNvSpPr>
          <p:nvPr>
            <p:ph type="title"/>
          </p:nvPr>
        </p:nvSpPr>
        <p:spPr>
          <a:xfrm>
            <a:off x="5192225" y="219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600" dirty="0"/>
              <a:t>Resource Contention</a:t>
            </a:r>
            <a:endParaRPr sz="2600" dirty="0"/>
          </a:p>
        </p:txBody>
      </p:sp>
      <p:sp>
        <p:nvSpPr>
          <p:cNvPr id="331" name="Google Shape;331;p41"/>
          <p:cNvSpPr txBox="1">
            <a:spLocks noGrp="1"/>
          </p:cNvSpPr>
          <p:nvPr>
            <p:ph type="body" idx="2"/>
          </p:nvPr>
        </p:nvSpPr>
        <p:spPr>
          <a:xfrm>
            <a:off x="5192225" y="828975"/>
            <a:ext cx="3706500" cy="1106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1</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Override</a:t>
            </a:r>
            <a:endParaRPr sz="1000" dirty="0">
              <a:solidFill>
                <a:srgbClr val="267F99"/>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2</a:t>
            </a:r>
            <a:r>
              <a:rPr lang="en" sz="1000" dirty="0">
                <a:solidFill>
                  <a:srgbClr val="000000"/>
                </a:solidFill>
                <a:latin typeface="Consolas"/>
                <a:ea typeface="Consolas"/>
                <a:cs typeface="Consolas"/>
                <a:sym typeface="Consolas"/>
              </a:rPr>
              <a:t>  </a:t>
            </a:r>
            <a:r>
              <a:rPr lang="en" sz="1000" dirty="0">
                <a:solidFill>
                  <a:srgbClr val="0000FF"/>
                </a:solidFill>
                <a:latin typeface="Consolas"/>
                <a:ea typeface="Consolas"/>
                <a:cs typeface="Consolas"/>
                <a:sym typeface="Consolas"/>
              </a:rPr>
              <a:t>public</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void</a:t>
            </a:r>
            <a:r>
              <a:rPr lang="en" sz="1000" dirty="0">
                <a:solidFill>
                  <a:srgbClr val="000000"/>
                </a:solidFill>
                <a:latin typeface="Consolas"/>
                <a:ea typeface="Consolas"/>
                <a:cs typeface="Consolas"/>
                <a:sym typeface="Consolas"/>
              </a:rPr>
              <a:t> </a:t>
            </a:r>
            <a:r>
              <a:rPr lang="en" sz="1000" dirty="0">
                <a:solidFill>
                  <a:srgbClr val="795E26"/>
                </a:solidFill>
                <a:latin typeface="Consolas"/>
                <a:ea typeface="Consolas"/>
                <a:cs typeface="Consolas"/>
                <a:sym typeface="Consolas"/>
              </a:rPr>
              <a:t>run</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3</a:t>
            </a:r>
            <a:r>
              <a:rPr lang="en" sz="1000" dirty="0">
                <a:solidFill>
                  <a:srgbClr val="000000"/>
                </a:solidFill>
                <a:latin typeface="Consolas"/>
                <a:ea typeface="Consolas"/>
                <a:cs typeface="Consolas"/>
                <a:sym typeface="Consolas"/>
              </a:rPr>
              <a:t>     </a:t>
            </a:r>
            <a:r>
              <a:rPr lang="en" sz="1000" dirty="0">
                <a:solidFill>
                  <a:srgbClr val="AF00DB"/>
                </a:solidFill>
                <a:latin typeface="Consolas"/>
                <a:ea typeface="Consolas"/>
                <a:cs typeface="Consolas"/>
                <a:sym typeface="Consolas"/>
              </a:rPr>
              <a:t>for</a:t>
            </a:r>
            <a:r>
              <a:rPr lang="en" sz="1000" dirty="0">
                <a:solidFill>
                  <a:srgbClr val="000000"/>
                </a:solidFill>
                <a:latin typeface="Consolas"/>
                <a:ea typeface="Consolas"/>
                <a:cs typeface="Consolas"/>
                <a:sym typeface="Consolas"/>
              </a:rPr>
              <a:t>(</a:t>
            </a:r>
            <a:r>
              <a:rPr lang="en" sz="1000" dirty="0">
                <a:solidFill>
                  <a:srgbClr val="267F99"/>
                </a:solidFill>
                <a:latin typeface="Consolas"/>
                <a:ea typeface="Consolas"/>
                <a:cs typeface="Consolas"/>
                <a:sym typeface="Consolas"/>
              </a:rPr>
              <a:t>int</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i</a:t>
            </a:r>
            <a:r>
              <a:rPr lang="en" sz="1000" dirty="0">
                <a:solidFill>
                  <a:srgbClr val="000000"/>
                </a:solidFill>
                <a:latin typeface="Consolas"/>
                <a:ea typeface="Consolas"/>
                <a:cs typeface="Consolas"/>
                <a:sym typeface="Consolas"/>
              </a:rPr>
              <a:t>=</a:t>
            </a:r>
            <a:r>
              <a:rPr lang="en" sz="1000" dirty="0">
                <a:solidFill>
                  <a:srgbClr val="098658"/>
                </a:solidFill>
                <a:latin typeface="Consolas"/>
                <a:ea typeface="Consolas"/>
                <a:cs typeface="Consolas"/>
                <a:sym typeface="Consolas"/>
              </a:rPr>
              <a:t>0</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i</a:t>
            </a:r>
            <a:r>
              <a:rPr lang="en" sz="1000" dirty="0">
                <a:solidFill>
                  <a:srgbClr val="000000"/>
                </a:solidFill>
                <a:latin typeface="Consolas"/>
                <a:ea typeface="Consolas"/>
                <a:cs typeface="Consolas"/>
                <a:sym typeface="Consolas"/>
              </a:rPr>
              <a:t>&lt;</a:t>
            </a:r>
            <a:r>
              <a:rPr lang="en" sz="1000" dirty="0">
                <a:solidFill>
                  <a:srgbClr val="098658"/>
                </a:solidFill>
                <a:latin typeface="Consolas"/>
                <a:ea typeface="Consolas"/>
                <a:cs typeface="Consolas"/>
                <a:sym typeface="Consolas"/>
              </a:rPr>
              <a:t>100000</a:t>
            </a:r>
            <a:r>
              <a:rPr lang="en" sz="1000" dirty="0">
                <a:solidFill>
                  <a:srgbClr val="000000"/>
                </a:solidFill>
                <a:latin typeface="Consolas"/>
                <a:ea typeface="Consolas"/>
                <a:cs typeface="Consolas"/>
                <a:sym typeface="Consolas"/>
              </a:rPr>
              <a:t>; </a:t>
            </a:r>
            <a:r>
              <a:rPr lang="en" sz="1000" dirty="0">
                <a:solidFill>
                  <a:srgbClr val="001080"/>
                </a:solidFill>
                <a:latin typeface="Consolas"/>
                <a:ea typeface="Consolas"/>
                <a:cs typeface="Consolas"/>
                <a:sym typeface="Consolas"/>
              </a:rPr>
              <a:t>i</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4</a:t>
            </a:r>
            <a:r>
              <a:rPr lang="en" sz="1000" dirty="0">
                <a:solidFill>
                  <a:srgbClr val="000000"/>
                </a:solidFill>
                <a:latin typeface="Consolas"/>
                <a:ea typeface="Consolas"/>
                <a:cs typeface="Consolas"/>
                <a:sym typeface="Consolas"/>
              </a:rPr>
              <a:t>        </a:t>
            </a:r>
            <a:r>
              <a:rPr lang="en" sz="1000" dirty="0">
                <a:solidFill>
                  <a:srgbClr val="267F99"/>
                </a:solidFill>
                <a:latin typeface="Consolas"/>
                <a:ea typeface="Consolas"/>
                <a:cs typeface="Consolas"/>
                <a:sym typeface="Consolas"/>
              </a:rPr>
              <a:t>COUNT</a:t>
            </a:r>
            <a:r>
              <a:rPr lang="en" sz="1000" dirty="0">
                <a:solidFill>
                  <a:srgbClr val="000000"/>
                </a:solidFill>
                <a:latin typeface="Consolas"/>
                <a:ea typeface="Consolas"/>
                <a:cs typeface="Consolas"/>
                <a:sym typeface="Consolas"/>
              </a:rPr>
              <a:t>[</a:t>
            </a:r>
            <a:r>
              <a:rPr lang="en" sz="1000" dirty="0">
                <a:solidFill>
                  <a:srgbClr val="098658"/>
                </a:solidFill>
                <a:latin typeface="Consolas"/>
                <a:ea typeface="Consolas"/>
                <a:cs typeface="Consolas"/>
                <a:sym typeface="Consolas"/>
              </a:rPr>
              <a:t>0</a:t>
            </a:r>
            <a:r>
              <a:rPr lang="en" sz="1000" dirty="0">
                <a:solidFill>
                  <a:srgbClr val="000000"/>
                </a:solidFill>
                <a:latin typeface="Consolas"/>
                <a:ea typeface="Consolas"/>
                <a:cs typeface="Consolas"/>
                <a:sym typeface="Consolas"/>
              </a:rPr>
              <a:t>]++;</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5</a:t>
            </a:r>
            <a:r>
              <a:rPr lang="en" sz="1000" dirty="0">
                <a:solidFill>
                  <a:srgbClr val="000000"/>
                </a:solidFill>
                <a:latin typeface="Consolas"/>
                <a:ea typeface="Consolas"/>
                <a:cs typeface="Consolas"/>
                <a:sym typeface="Consolas"/>
              </a:rPr>
              <a:t>     }</a:t>
            </a:r>
            <a:endParaRPr sz="1000" dirty="0">
              <a:solidFill>
                <a:srgbClr val="000000"/>
              </a:solidFill>
              <a:latin typeface="Consolas"/>
              <a:ea typeface="Consolas"/>
              <a:cs typeface="Consolas"/>
              <a:sym typeface="Consolas"/>
            </a:endParaRPr>
          </a:p>
          <a:p>
            <a:pPr marL="0" lvl="0" indent="0" algn="l" rtl="0">
              <a:lnSpc>
                <a:spcPct val="100000"/>
              </a:lnSpc>
              <a:spcBef>
                <a:spcPts val="0"/>
              </a:spcBef>
              <a:spcAft>
                <a:spcPts val="0"/>
              </a:spcAft>
              <a:buNone/>
            </a:pPr>
            <a:r>
              <a:rPr lang="en" sz="1000" dirty="0">
                <a:solidFill>
                  <a:srgbClr val="098658"/>
                </a:solidFill>
                <a:latin typeface="Consolas"/>
                <a:ea typeface="Consolas"/>
                <a:cs typeface="Consolas"/>
                <a:sym typeface="Consolas"/>
              </a:rPr>
              <a:t>6</a:t>
            </a:r>
            <a:r>
              <a:rPr lang="en" sz="1000" dirty="0">
                <a:solidFill>
                  <a:srgbClr val="000000"/>
                </a:solidFill>
                <a:latin typeface="Consolas"/>
                <a:ea typeface="Consolas"/>
                <a:cs typeface="Consolas"/>
                <a:sym typeface="Consolas"/>
              </a:rPr>
              <a:t>  }</a:t>
            </a:r>
            <a:endParaRPr sz="1000" dirty="0">
              <a:solidFill>
                <a:srgbClr val="999999"/>
              </a:solidFill>
              <a:latin typeface="Consolas"/>
              <a:ea typeface="Consolas"/>
              <a:cs typeface="Consolas"/>
              <a:sym typeface="Consolas"/>
            </a:endParaRPr>
          </a:p>
        </p:txBody>
      </p:sp>
      <p:sp>
        <p:nvSpPr>
          <p:cNvPr id="332" name="Google Shape;332;p41"/>
          <p:cNvSpPr txBox="1">
            <a:spLocks noGrp="1"/>
          </p:cNvSpPr>
          <p:nvPr>
            <p:ph type="body" idx="1"/>
          </p:nvPr>
        </p:nvSpPr>
        <p:spPr>
          <a:xfrm>
            <a:off x="377475" y="119925"/>
            <a:ext cx="4166400" cy="48999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When two or more threads use the same data (e.g. an instance of a class), </a:t>
            </a:r>
            <a:r>
              <a:rPr lang="en" dirty="0">
                <a:highlight>
                  <a:srgbClr val="FFFF00"/>
                </a:highlight>
              </a:rPr>
              <a:t>the data is referred to as a </a:t>
            </a:r>
            <a:r>
              <a:rPr lang="en" b="1" i="1" dirty="0">
                <a:solidFill>
                  <a:srgbClr val="FF0000"/>
                </a:solidFill>
                <a:highlight>
                  <a:srgbClr val="FFFF00"/>
                </a:highlight>
              </a:rPr>
              <a:t>shared resource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Consider the code to the right, which is one possible implementation of the </a:t>
            </a:r>
            <a:r>
              <a:rPr lang="en" dirty="0">
                <a:solidFill>
                  <a:srgbClr val="FF0000"/>
                </a:solidFill>
                <a:highlight>
                  <a:srgbClr val="FFFF00"/>
                </a:highlight>
                <a:latin typeface="Courier New"/>
                <a:ea typeface="Courier New"/>
                <a:cs typeface="Courier New"/>
                <a:sym typeface="Courier New"/>
              </a:rPr>
              <a:t>TheCount</a:t>
            </a:r>
            <a:r>
              <a:rPr lang="en" dirty="0">
                <a:solidFill>
                  <a:srgbClr val="FF0000"/>
                </a:solidFill>
                <a:highlight>
                  <a:srgbClr val="FFFF00"/>
                </a:highlight>
              </a:rPr>
              <a:t>'</a:t>
            </a:r>
            <a:r>
              <a:rPr lang="en" b="1" i="1" dirty="0">
                <a:solidFill>
                  <a:srgbClr val="FF0000"/>
                </a:solidFill>
                <a:highlight>
                  <a:srgbClr val="FFFF00"/>
                </a:highlight>
              </a:rPr>
              <a:t>s</a:t>
            </a:r>
            <a:r>
              <a:rPr lang="en" dirty="0">
                <a:solidFill>
                  <a:srgbClr val="FF0000"/>
                </a:solidFill>
                <a:highlight>
                  <a:srgbClr val="FFFF00"/>
                </a:highlight>
              </a:rPr>
              <a:t> </a:t>
            </a:r>
            <a:r>
              <a:rPr lang="en" dirty="0">
                <a:solidFill>
                  <a:srgbClr val="FF0000"/>
                </a:solidFill>
                <a:highlight>
                  <a:srgbClr val="FFFF00"/>
                </a:highlight>
                <a:latin typeface="Courier New"/>
                <a:ea typeface="Courier New"/>
                <a:cs typeface="Courier New"/>
                <a:sym typeface="Courier New"/>
              </a:rPr>
              <a:t>run()</a:t>
            </a:r>
            <a:r>
              <a:rPr lang="en" dirty="0">
                <a:solidFill>
                  <a:srgbClr val="FF0000"/>
                </a:solidFill>
                <a:highlight>
                  <a:srgbClr val="FFFF00"/>
                </a:highlight>
              </a:rPr>
              <a:t> </a:t>
            </a:r>
            <a:r>
              <a:rPr lang="en" b="1" i="1" dirty="0">
                <a:solidFill>
                  <a:srgbClr val="FF0000"/>
                </a:solidFill>
                <a:highlight>
                  <a:srgbClr val="FFFF00"/>
                </a:highlight>
              </a:rPr>
              <a:t>method</a:t>
            </a:r>
            <a:r>
              <a:rPr lang="en" dirty="0">
                <a:highlight>
                  <a:srgbClr val="FFFF00"/>
                </a:highlight>
              </a:rPr>
              <a:t>.</a:t>
            </a:r>
            <a:endParaRPr dirty="0">
              <a:highlight>
                <a:srgbClr val="FFFF00"/>
              </a:highlight>
            </a:endParaRPr>
          </a:p>
          <a:p>
            <a:pPr marL="457200" lvl="0" indent="-311150" algn="l" rtl="0">
              <a:lnSpc>
                <a:spcPct val="100000"/>
              </a:lnSpc>
              <a:spcBef>
                <a:spcPts val="1000"/>
              </a:spcBef>
              <a:spcAft>
                <a:spcPts val="0"/>
              </a:spcAft>
              <a:buSzPts val="1300"/>
              <a:buChar char="●"/>
            </a:pPr>
            <a:r>
              <a:rPr lang="en" b="1" i="1" dirty="0">
                <a:solidFill>
                  <a:srgbClr val="FF0000"/>
                </a:solidFill>
                <a:highlight>
                  <a:srgbClr val="FFFF00"/>
                </a:highlight>
              </a:rPr>
              <a:t>Resource contention</a:t>
            </a:r>
            <a:r>
              <a:rPr lang="en" dirty="0">
                <a:solidFill>
                  <a:srgbClr val="FF0000"/>
                </a:solidFill>
                <a:highlight>
                  <a:srgbClr val="FFFF00"/>
                </a:highlight>
              </a:rPr>
              <a:t> </a:t>
            </a:r>
            <a:r>
              <a:rPr lang="en" dirty="0">
                <a:highlight>
                  <a:srgbClr val="FFFF00"/>
                </a:highlight>
              </a:rPr>
              <a:t>occurs when two or more threads attempt to manipulate the value of a shared resource at the </a:t>
            </a:r>
            <a:r>
              <a:rPr lang="en" b="1" i="1" dirty="0">
                <a:solidFill>
                  <a:srgbClr val="FF0000"/>
                </a:solidFill>
                <a:highlight>
                  <a:srgbClr val="FFFF00"/>
                </a:highlight>
              </a:rPr>
              <a:t>same time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The two threads come into </a:t>
            </a:r>
            <a:r>
              <a:rPr lang="en" b="1" i="1" dirty="0">
                <a:solidFill>
                  <a:srgbClr val="FF0000"/>
                </a:solidFill>
              </a:rPr>
              <a:t>conflict</a:t>
            </a:r>
            <a:r>
              <a:rPr lang="en" dirty="0">
                <a:solidFill>
                  <a:srgbClr val="FF0000"/>
                </a:solidFill>
              </a:rPr>
              <a:t> </a:t>
            </a:r>
            <a:r>
              <a:rPr lang="en" dirty="0"/>
              <a:t>with one another.</a:t>
            </a:r>
            <a:endParaRPr dirty="0"/>
          </a:p>
          <a:p>
            <a:pPr marL="457200" lvl="0" indent="-311150" algn="l" rtl="0">
              <a:lnSpc>
                <a:spcPct val="100000"/>
              </a:lnSpc>
              <a:spcBef>
                <a:spcPts val="1000"/>
              </a:spcBef>
              <a:spcAft>
                <a:spcPts val="0"/>
              </a:spcAft>
              <a:buSzPts val="1300"/>
              <a:buChar char="●"/>
            </a:pPr>
            <a:r>
              <a:rPr lang="en" dirty="0">
                <a:highlight>
                  <a:srgbClr val="FFFF00"/>
                </a:highlight>
              </a:rPr>
              <a:t>One thread may make changes that the other thread </a:t>
            </a:r>
            <a:r>
              <a:rPr lang="en" b="1" i="1" dirty="0">
                <a:solidFill>
                  <a:srgbClr val="FF0000"/>
                </a:solidFill>
                <a:highlight>
                  <a:srgbClr val="FFFF00"/>
                </a:highlight>
              </a:rPr>
              <a:t>ignores</a:t>
            </a:r>
            <a:r>
              <a:rPr lang="en" dirty="0">
                <a:solidFill>
                  <a:srgbClr val="FF0000"/>
                </a:solidFill>
                <a:highlight>
                  <a:srgbClr val="FFFF00"/>
                </a:highlight>
              </a:rPr>
              <a:t> </a:t>
            </a:r>
            <a:r>
              <a:rPr lang="en" dirty="0">
                <a:highlight>
                  <a:srgbClr val="FFFF00"/>
                </a:highlight>
              </a:rPr>
              <a:t>or </a:t>
            </a:r>
            <a:r>
              <a:rPr lang="en" b="1" i="1" dirty="0">
                <a:solidFill>
                  <a:srgbClr val="FF0000"/>
                </a:solidFill>
                <a:highlight>
                  <a:srgbClr val="FFFF00"/>
                </a:highlight>
              </a:rPr>
              <a:t>duplicates</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For example, what happens if </a:t>
            </a:r>
            <a:r>
              <a:rPr lang="en" dirty="0">
                <a:latin typeface="Courier New"/>
                <a:ea typeface="Courier New"/>
                <a:cs typeface="Courier New"/>
                <a:sym typeface="Courier New"/>
              </a:rPr>
              <a:t>COUNT</a:t>
            </a:r>
            <a:r>
              <a:rPr lang="en" dirty="0"/>
              <a:t> has a value of </a:t>
            </a:r>
            <a:r>
              <a:rPr lang="en" dirty="0">
                <a:latin typeface="Courier New"/>
                <a:ea typeface="Courier New"/>
                <a:cs typeface="Courier New"/>
                <a:sym typeface="Courier New"/>
              </a:rPr>
              <a:t>1234</a:t>
            </a:r>
            <a:r>
              <a:rPr lang="en" dirty="0"/>
              <a:t> and two threads try to increment it at the </a:t>
            </a:r>
            <a:r>
              <a:rPr lang="en" b="1" i="1" dirty="0">
                <a:solidFill>
                  <a:srgbClr val="FF0000"/>
                </a:solidFill>
                <a:highlight>
                  <a:srgbClr val="FFFF00"/>
                </a:highlight>
              </a:rPr>
              <a:t>same exact time</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Will the value be </a:t>
            </a:r>
            <a:r>
              <a:rPr lang="en" dirty="0">
                <a:latin typeface="Courier New"/>
                <a:ea typeface="Courier New"/>
                <a:cs typeface="Courier New"/>
                <a:sym typeface="Courier New"/>
              </a:rPr>
              <a:t>1235</a:t>
            </a:r>
            <a:r>
              <a:rPr lang="en" dirty="0"/>
              <a:t>? </a:t>
            </a:r>
            <a:r>
              <a:rPr lang="en" dirty="0">
                <a:latin typeface="Courier New"/>
                <a:ea typeface="Courier New"/>
                <a:cs typeface="Courier New"/>
                <a:sym typeface="Courier New"/>
              </a:rPr>
              <a:t>1236</a:t>
            </a:r>
            <a:r>
              <a:rPr lang="en" dirty="0"/>
              <a:t>? Something else?</a:t>
            </a:r>
            <a:endParaRPr dirty="0"/>
          </a:p>
          <a:p>
            <a:pPr marL="457200" lvl="0" indent="-311150" algn="l" rtl="0">
              <a:lnSpc>
                <a:spcPct val="100000"/>
              </a:lnSpc>
              <a:spcBef>
                <a:spcPts val="1000"/>
              </a:spcBef>
              <a:spcAft>
                <a:spcPts val="0"/>
              </a:spcAft>
              <a:buSzPts val="1300"/>
              <a:buChar char="●"/>
            </a:pPr>
            <a:r>
              <a:rPr lang="en" dirty="0"/>
              <a:t>If this happens, which thread </a:t>
            </a:r>
            <a:r>
              <a:rPr lang="en" b="1" i="1" dirty="0">
                <a:solidFill>
                  <a:srgbClr val="FF0000"/>
                </a:solidFill>
                <a:highlight>
                  <a:srgbClr val="FFFF00"/>
                </a:highlight>
              </a:rPr>
              <a:t>"wins?"</a:t>
            </a:r>
            <a:endParaRPr b="1" i="1" dirty="0">
              <a:solidFill>
                <a:srgbClr val="FF0000"/>
              </a:solidFill>
              <a:highlight>
                <a:srgbClr val="FFFF00"/>
              </a:highlight>
            </a:endParaRPr>
          </a:p>
          <a:p>
            <a:pPr marL="914400" lvl="1" indent="-298450" algn="l" rtl="0">
              <a:lnSpc>
                <a:spcPct val="100000"/>
              </a:lnSpc>
              <a:spcBef>
                <a:spcPts val="0"/>
              </a:spcBef>
              <a:spcAft>
                <a:spcPts val="0"/>
              </a:spcAft>
              <a:buSzPts val="1100"/>
              <a:buChar char="○"/>
            </a:pPr>
            <a:r>
              <a:rPr lang="en" dirty="0"/>
              <a:t>It is </a:t>
            </a:r>
            <a:r>
              <a:rPr lang="en" b="1" i="1" dirty="0">
                <a:solidFill>
                  <a:srgbClr val="FF0000"/>
                </a:solidFill>
                <a:highlight>
                  <a:srgbClr val="FFFF00"/>
                </a:highlight>
              </a:rPr>
              <a:t>unpredictable</a:t>
            </a:r>
            <a:r>
              <a:rPr lang="en" dirty="0"/>
              <a:t>, and sometimes nothing goes wrong.</a:t>
            </a:r>
            <a:endParaRPr dirty="0"/>
          </a:p>
          <a:p>
            <a:pPr marL="914400" lvl="1" indent="-298450" algn="l" rtl="0">
              <a:lnSpc>
                <a:spcPct val="100000"/>
              </a:lnSpc>
              <a:spcBef>
                <a:spcPts val="0"/>
              </a:spcBef>
              <a:spcAft>
                <a:spcPts val="0"/>
              </a:spcAft>
              <a:buSzPts val="1100"/>
              <a:buChar char="○"/>
            </a:pPr>
            <a:r>
              <a:rPr lang="en" dirty="0"/>
              <a:t>Other times, the </a:t>
            </a:r>
            <a:r>
              <a:rPr lang="en" b="1" i="1" dirty="0">
                <a:solidFill>
                  <a:srgbClr val="FF0000"/>
                </a:solidFill>
              </a:rPr>
              <a:t>last</a:t>
            </a:r>
            <a:r>
              <a:rPr lang="en" dirty="0">
                <a:solidFill>
                  <a:srgbClr val="FF0000"/>
                </a:solidFill>
              </a:rPr>
              <a:t> </a:t>
            </a:r>
            <a:r>
              <a:rPr lang="en" dirty="0"/>
              <a:t>thread to make the change "wins."</a:t>
            </a:r>
            <a:endParaRPr dirty="0"/>
          </a:p>
          <a:p>
            <a:pPr marL="457200" lvl="0" indent="-311150" algn="l" rtl="0">
              <a:lnSpc>
                <a:spcPct val="100000"/>
              </a:lnSpc>
              <a:spcBef>
                <a:spcPts val="1000"/>
              </a:spcBef>
              <a:spcAft>
                <a:spcPts val="0"/>
              </a:spcAft>
              <a:buSzPts val="1300"/>
              <a:buChar char="●"/>
            </a:pPr>
            <a:r>
              <a:rPr lang="en" dirty="0"/>
              <a:t>This is called a</a:t>
            </a:r>
            <a:r>
              <a:rPr lang="en" dirty="0">
                <a:highlight>
                  <a:srgbClr val="FFFF00"/>
                </a:highlight>
              </a:rPr>
              <a:t> </a:t>
            </a:r>
            <a:r>
              <a:rPr lang="en" b="1" i="1" dirty="0">
                <a:solidFill>
                  <a:srgbClr val="FF0000"/>
                </a:solidFill>
                <a:highlight>
                  <a:srgbClr val="FFFF00"/>
                </a:highlight>
              </a:rPr>
              <a:t>race condition</a:t>
            </a:r>
            <a:r>
              <a:rPr lang="en" dirty="0">
                <a:highlight>
                  <a:srgbClr val="FFFF00"/>
                </a:highlight>
              </a:rPr>
              <a:t>.</a:t>
            </a:r>
            <a:endParaRPr dirty="0">
              <a:highlight>
                <a:srgbClr val="FFFF00"/>
              </a:highlight>
            </a:endParaRPr>
          </a:p>
        </p:txBody>
      </p:sp>
      <p:sp>
        <p:nvSpPr>
          <p:cNvPr id="333" name="Google Shape;333;p41"/>
          <p:cNvSpPr txBox="1">
            <a:spLocks noGrp="1"/>
          </p:cNvSpPr>
          <p:nvPr>
            <p:ph type="body" idx="3"/>
          </p:nvPr>
        </p:nvSpPr>
        <p:spPr>
          <a:xfrm>
            <a:off x="5192225" y="2047318"/>
            <a:ext cx="3706500" cy="70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The increment operator in Java is </a:t>
            </a:r>
            <a:r>
              <a:rPr lang="en" b="1" i="1" dirty="0">
                <a:solidFill>
                  <a:srgbClr val="FF0000"/>
                </a:solidFill>
                <a:highlight>
                  <a:srgbClr val="FFFF00"/>
                </a:highlight>
              </a:rPr>
              <a:t>non-atomic</a:t>
            </a:r>
            <a:r>
              <a:rPr lang="en" dirty="0">
                <a:highlight>
                  <a:srgbClr val="FFFF00"/>
                </a:highlight>
              </a:rPr>
              <a:t>, </a:t>
            </a:r>
            <a:r>
              <a:rPr lang="en" dirty="0"/>
              <a:t>meaning that it is not implemented as a single operation.</a:t>
            </a:r>
            <a:endParaRPr dirty="0"/>
          </a:p>
        </p:txBody>
      </p:sp>
      <p:sp>
        <p:nvSpPr>
          <p:cNvPr id="334" name="Google Shape;334;p41"/>
          <p:cNvSpPr txBox="1">
            <a:spLocks noGrp="1"/>
          </p:cNvSpPr>
          <p:nvPr>
            <p:ph type="body" idx="2"/>
          </p:nvPr>
        </p:nvSpPr>
        <p:spPr>
          <a:xfrm>
            <a:off x="5192225" y="3499429"/>
            <a:ext cx="3706500" cy="523500"/>
          </a:xfrm>
          <a:prstGeom prst="rect">
            <a:avLst/>
          </a:prstGeom>
          <a:solidFill>
            <a:srgbClr val="FFFFFF"/>
          </a:solidFill>
          <a:ln w="19050"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1</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int</a:t>
            </a:r>
            <a:r>
              <a:rPr lang="en" sz="1050" dirty="0">
                <a:solidFill>
                  <a:srgbClr val="000000"/>
                </a:solidFill>
                <a:latin typeface="Consolas"/>
                <a:ea typeface="Consolas"/>
                <a:cs typeface="Consolas"/>
                <a:sym typeface="Consolas"/>
              </a:rPr>
              <a:t> </a:t>
            </a:r>
            <a:r>
              <a:rPr lang="en" sz="1050" dirty="0">
                <a:solidFill>
                  <a:srgbClr val="001080"/>
                </a:solidFill>
                <a:latin typeface="Consolas"/>
                <a:ea typeface="Consolas"/>
                <a:cs typeface="Consolas"/>
                <a:sym typeface="Consolas"/>
              </a:rPr>
              <a:t>temp</a:t>
            </a:r>
            <a:r>
              <a:rPr lang="en" sz="1050" dirty="0">
                <a:solidFill>
                  <a:srgbClr val="000000"/>
                </a:solidFill>
                <a:latin typeface="Consolas"/>
                <a:ea typeface="Consolas"/>
                <a:cs typeface="Consolas"/>
                <a:sym typeface="Consolas"/>
              </a:rPr>
              <a:t> = </a:t>
            </a:r>
            <a:r>
              <a:rPr lang="en" sz="1050" dirty="0">
                <a:solidFill>
                  <a:srgbClr val="267F99"/>
                </a:solidFill>
                <a:latin typeface="Consolas"/>
                <a:ea typeface="Consolas"/>
                <a:cs typeface="Consolas"/>
                <a:sym typeface="Consolas"/>
              </a:rPr>
              <a:t>COUNT</a:t>
            </a:r>
            <a:r>
              <a:rPr lang="en" sz="1050" dirty="0">
                <a:solidFill>
                  <a:srgbClr val="000000"/>
                </a:solidFill>
                <a:latin typeface="Consolas"/>
                <a:ea typeface="Consolas"/>
                <a:cs typeface="Consolas"/>
                <a:sym typeface="Consolas"/>
              </a:rPr>
              <a:t>[</a:t>
            </a:r>
            <a:r>
              <a:rPr lang="en" sz="1050" dirty="0">
                <a:solidFill>
                  <a:srgbClr val="098658"/>
                </a:solidFill>
                <a:latin typeface="Consolas"/>
                <a:ea typeface="Consolas"/>
                <a:cs typeface="Consolas"/>
                <a:sym typeface="Consolas"/>
              </a:rPr>
              <a:t>0</a:t>
            </a:r>
            <a:r>
              <a:rPr lang="en" sz="1050" dirty="0">
                <a:solidFill>
                  <a:srgbClr val="000000"/>
                </a:solidFill>
                <a:latin typeface="Consolas"/>
                <a:ea typeface="Consolas"/>
                <a:cs typeface="Consolas"/>
                <a:sym typeface="Consolas"/>
              </a:rPr>
              <a:t>] + </a:t>
            </a:r>
            <a:r>
              <a:rPr lang="en" sz="1050" dirty="0">
                <a:solidFill>
                  <a:srgbClr val="098658"/>
                </a:solidFill>
                <a:latin typeface="Consolas"/>
                <a:ea typeface="Consolas"/>
                <a:cs typeface="Consolas"/>
                <a:sym typeface="Consolas"/>
              </a:rPr>
              <a:t>1</a:t>
            </a:r>
            <a:r>
              <a:rPr lang="en" sz="1050" dirty="0">
                <a:solidFill>
                  <a:srgbClr val="000000"/>
                </a:solidFill>
                <a:latin typeface="Consolas"/>
                <a:ea typeface="Consolas"/>
                <a:cs typeface="Consolas"/>
                <a:sym typeface="Consolas"/>
              </a:rPr>
              <a:t>;</a:t>
            </a:r>
            <a:endParaRPr sz="1050" dirty="0">
              <a:solidFill>
                <a:srgbClr val="000000"/>
              </a:solidFill>
              <a:latin typeface="Consolas"/>
              <a:ea typeface="Consolas"/>
              <a:cs typeface="Consolas"/>
              <a:sym typeface="Consolas"/>
            </a:endParaRPr>
          </a:p>
          <a:p>
            <a:pPr marL="0" lvl="0" indent="0" algn="l" rtl="0">
              <a:lnSpc>
                <a:spcPct val="135714"/>
              </a:lnSpc>
              <a:spcBef>
                <a:spcPts val="0"/>
              </a:spcBef>
              <a:spcAft>
                <a:spcPts val="0"/>
              </a:spcAft>
              <a:buNone/>
            </a:pPr>
            <a:r>
              <a:rPr lang="en" sz="1050" dirty="0">
                <a:solidFill>
                  <a:srgbClr val="098658"/>
                </a:solidFill>
                <a:latin typeface="Consolas"/>
                <a:ea typeface="Consolas"/>
                <a:cs typeface="Consolas"/>
                <a:sym typeface="Consolas"/>
              </a:rPr>
              <a:t>2</a:t>
            </a:r>
            <a:r>
              <a:rPr lang="en" sz="1050" dirty="0">
                <a:solidFill>
                  <a:srgbClr val="000000"/>
                </a:solidFill>
                <a:latin typeface="Consolas"/>
                <a:ea typeface="Consolas"/>
                <a:cs typeface="Consolas"/>
                <a:sym typeface="Consolas"/>
              </a:rPr>
              <a:t>  </a:t>
            </a:r>
            <a:r>
              <a:rPr lang="en" sz="1050" dirty="0">
                <a:solidFill>
                  <a:srgbClr val="267F99"/>
                </a:solidFill>
                <a:latin typeface="Consolas"/>
                <a:ea typeface="Consolas"/>
                <a:cs typeface="Consolas"/>
                <a:sym typeface="Consolas"/>
              </a:rPr>
              <a:t>COUNT</a:t>
            </a:r>
            <a:r>
              <a:rPr lang="en" sz="1050" dirty="0">
                <a:solidFill>
                  <a:srgbClr val="000000"/>
                </a:solidFill>
                <a:latin typeface="Consolas"/>
                <a:ea typeface="Consolas"/>
                <a:cs typeface="Consolas"/>
                <a:sym typeface="Consolas"/>
              </a:rPr>
              <a:t>[</a:t>
            </a:r>
            <a:r>
              <a:rPr lang="en" sz="1050" dirty="0">
                <a:solidFill>
                  <a:srgbClr val="098658"/>
                </a:solidFill>
                <a:latin typeface="Consolas"/>
                <a:ea typeface="Consolas"/>
                <a:cs typeface="Consolas"/>
                <a:sym typeface="Consolas"/>
              </a:rPr>
              <a:t>0</a:t>
            </a:r>
            <a:r>
              <a:rPr lang="en" sz="1050" dirty="0">
                <a:solidFill>
                  <a:srgbClr val="000000"/>
                </a:solidFill>
                <a:latin typeface="Consolas"/>
                <a:ea typeface="Consolas"/>
                <a:cs typeface="Consolas"/>
                <a:sym typeface="Consolas"/>
              </a:rPr>
              <a:t>] = temp;</a:t>
            </a:r>
            <a:endParaRPr sz="1050" dirty="0">
              <a:solidFill>
                <a:srgbClr val="098658"/>
              </a:solidFill>
              <a:latin typeface="Consolas"/>
              <a:ea typeface="Consolas"/>
              <a:cs typeface="Consolas"/>
              <a:sym typeface="Consolas"/>
            </a:endParaRPr>
          </a:p>
        </p:txBody>
      </p:sp>
      <p:sp>
        <p:nvSpPr>
          <p:cNvPr id="335" name="Google Shape;335;p41"/>
          <p:cNvSpPr txBox="1">
            <a:spLocks noGrp="1"/>
          </p:cNvSpPr>
          <p:nvPr>
            <p:ph type="body" idx="3"/>
          </p:nvPr>
        </p:nvSpPr>
        <p:spPr>
          <a:xfrm>
            <a:off x="5192225" y="2863979"/>
            <a:ext cx="3706500" cy="5235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What's </a:t>
            </a:r>
            <a:r>
              <a:rPr lang="en" b="1" i="1" dirty="0">
                <a:solidFill>
                  <a:srgbClr val="FF0000"/>
                </a:solidFill>
              </a:rPr>
              <a:t>really</a:t>
            </a:r>
            <a:r>
              <a:rPr lang="en" dirty="0">
                <a:solidFill>
                  <a:srgbClr val="FF0000"/>
                </a:solidFill>
              </a:rPr>
              <a:t> </a:t>
            </a:r>
            <a:r>
              <a:rPr lang="en" dirty="0"/>
              <a:t>happening is more like two statements.</a:t>
            </a:r>
            <a:endParaRPr dirty="0"/>
          </a:p>
        </p:txBody>
      </p:sp>
      <p:sp>
        <p:nvSpPr>
          <p:cNvPr id="336" name="Google Shape;336;p41"/>
          <p:cNvSpPr/>
          <p:nvPr/>
        </p:nvSpPr>
        <p:spPr>
          <a:xfrm>
            <a:off x="4971167" y="3690750"/>
            <a:ext cx="481025" cy="642925"/>
          </a:xfrm>
          <a:custGeom>
            <a:avLst/>
            <a:gdLst/>
            <a:ahLst/>
            <a:cxnLst/>
            <a:rect l="l" t="t" r="r" b="b"/>
            <a:pathLst>
              <a:path w="19241" h="25717" extrusionOk="0">
                <a:moveTo>
                  <a:pt x="9982" y="25717"/>
                </a:moveTo>
                <a:cubicBezTo>
                  <a:pt x="8353" y="23445"/>
                  <a:pt x="-1333" y="16373"/>
                  <a:pt x="210" y="12087"/>
                </a:cubicBezTo>
                <a:cubicBezTo>
                  <a:pt x="1753" y="7801"/>
                  <a:pt x="16069" y="2015"/>
                  <a:pt x="19241"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337" name="Google Shape;337;p41"/>
          <p:cNvSpPr/>
          <p:nvPr/>
        </p:nvSpPr>
        <p:spPr>
          <a:xfrm>
            <a:off x="6627800" y="3832175"/>
            <a:ext cx="289850" cy="302708"/>
          </a:xfrm>
          <a:custGeom>
            <a:avLst/>
            <a:gdLst/>
            <a:ahLst/>
            <a:cxnLst/>
            <a:rect l="l" t="t" r="r" b="b"/>
            <a:pathLst>
              <a:path w="11594" h="14659" extrusionOk="0">
                <a:moveTo>
                  <a:pt x="1029" y="14659"/>
                </a:moveTo>
                <a:cubicBezTo>
                  <a:pt x="2786" y="13030"/>
                  <a:pt x="11745" y="7330"/>
                  <a:pt x="11573" y="4887"/>
                </a:cubicBezTo>
                <a:cubicBezTo>
                  <a:pt x="11402" y="2444"/>
                  <a:pt x="1929" y="815"/>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338" name="Google Shape;338;p41"/>
          <p:cNvSpPr txBox="1">
            <a:spLocks noGrp="1"/>
          </p:cNvSpPr>
          <p:nvPr>
            <p:ph type="body" idx="3"/>
          </p:nvPr>
        </p:nvSpPr>
        <p:spPr>
          <a:xfrm>
            <a:off x="5192225" y="4134868"/>
            <a:ext cx="3706500" cy="70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So what happens if two (or more!) threads execute statement 1 at or near the same time, </a:t>
            </a:r>
            <a:r>
              <a:rPr lang="en" b="1" i="1" dirty="0">
                <a:solidFill>
                  <a:srgbClr val="FF0000"/>
                </a:solidFill>
              </a:rPr>
              <a:t>before</a:t>
            </a:r>
            <a:r>
              <a:rPr lang="en" dirty="0">
                <a:solidFill>
                  <a:srgbClr val="FF0000"/>
                </a:solidFill>
              </a:rPr>
              <a:t> </a:t>
            </a:r>
            <a:r>
              <a:rPr lang="en" dirty="0"/>
              <a:t>they execute statement 2?</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3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3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3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3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3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33"/>
                                        </p:tgtEl>
                                        <p:attrNameLst>
                                          <p:attrName>style.visibility</p:attrName>
                                        </p:attrNameLst>
                                      </p:cBhvr>
                                      <p:to>
                                        <p:strVal val="visible"/>
                                      </p:to>
                                    </p:set>
                                    <p:animEffect transition="in" filter="fade">
                                      <p:cBhvr>
                                        <p:cTn id="51" dur="1000"/>
                                        <p:tgtEl>
                                          <p:spTgt spid="333"/>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5"/>
                                        </p:tgtEl>
                                        <p:attrNameLst>
                                          <p:attrName>style.visibility</p:attrName>
                                        </p:attrNameLst>
                                      </p:cBhvr>
                                      <p:to>
                                        <p:strVal val="visible"/>
                                      </p:to>
                                    </p:set>
                                    <p:animEffect transition="in" filter="fade">
                                      <p:cBhvr>
                                        <p:cTn id="56" dur="1000"/>
                                        <p:tgtEl>
                                          <p:spTgt spid="335"/>
                                        </p:tgtEl>
                                      </p:cBhvr>
                                    </p:animEffect>
                                  </p:childTnLst>
                                </p:cTn>
                              </p:par>
                              <p:par>
                                <p:cTn id="57" presetID="10" presetClass="entr" presetSubtype="0" fill="hold" nodeType="withEffect">
                                  <p:stCondLst>
                                    <p:cond delay="0"/>
                                  </p:stCondLst>
                                  <p:childTnLst>
                                    <p:set>
                                      <p:cBhvr>
                                        <p:cTn id="58" dur="1" fill="hold">
                                          <p:stCondLst>
                                            <p:cond delay="0"/>
                                          </p:stCondLst>
                                        </p:cTn>
                                        <p:tgtEl>
                                          <p:spTgt spid="334"/>
                                        </p:tgtEl>
                                        <p:attrNameLst>
                                          <p:attrName>style.visibility</p:attrName>
                                        </p:attrNameLst>
                                      </p:cBhvr>
                                      <p:to>
                                        <p:strVal val="visible"/>
                                      </p:to>
                                    </p:set>
                                    <p:animEffect transition="in" filter="fade">
                                      <p:cBhvr>
                                        <p:cTn id="59" dur="1000"/>
                                        <p:tgtEl>
                                          <p:spTgt spid="33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8"/>
                                        </p:tgtEl>
                                        <p:attrNameLst>
                                          <p:attrName>style.visibility</p:attrName>
                                        </p:attrNameLst>
                                      </p:cBhvr>
                                      <p:to>
                                        <p:strVal val="visible"/>
                                      </p:to>
                                    </p:set>
                                    <p:animEffect transition="in" filter="fade">
                                      <p:cBhvr>
                                        <p:cTn id="64" dur="1000"/>
                                        <p:tgtEl>
                                          <p:spTgt spid="338"/>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336"/>
                                        </p:tgtEl>
                                        <p:attrNameLst>
                                          <p:attrName>style.visibility</p:attrName>
                                        </p:attrNameLst>
                                      </p:cBhvr>
                                      <p:to>
                                        <p:strVal val="visible"/>
                                      </p:to>
                                    </p:set>
                                    <p:animEffect transition="in" filter="fade">
                                      <p:cBhvr>
                                        <p:cTn id="68" dur="1000"/>
                                        <p:tgtEl>
                                          <p:spTgt spid="336"/>
                                        </p:tgtEl>
                                      </p:cBhvr>
                                    </p:animEffect>
                                  </p:childTnLst>
                                </p:cTn>
                              </p:par>
                            </p:childTnLst>
                          </p:cTn>
                        </p:par>
                        <p:par>
                          <p:cTn id="69" fill="hold">
                            <p:stCondLst>
                              <p:cond delay="2000"/>
                            </p:stCondLst>
                            <p:childTnLst>
                              <p:par>
                                <p:cTn id="70" presetID="10" presetClass="entr" presetSubtype="0" fill="hold" nodeType="afterEffect">
                                  <p:stCondLst>
                                    <p:cond delay="0"/>
                                  </p:stCondLst>
                                  <p:childTnLst>
                                    <p:set>
                                      <p:cBhvr>
                                        <p:cTn id="71" dur="1" fill="hold">
                                          <p:stCondLst>
                                            <p:cond delay="0"/>
                                          </p:stCondLst>
                                        </p:cTn>
                                        <p:tgtEl>
                                          <p:spTgt spid="337"/>
                                        </p:tgtEl>
                                        <p:attrNameLst>
                                          <p:attrName>style.visibility</p:attrName>
                                        </p:attrNameLst>
                                      </p:cBhvr>
                                      <p:to>
                                        <p:strVal val="visible"/>
                                      </p:to>
                                    </p:set>
                                    <p:animEffect transition="in" filter="fade">
                                      <p:cBhvr>
                                        <p:cTn id="72" dur="1000"/>
                                        <p:tgtEl>
                                          <p:spTgt spid="3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4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11</a:t>
            </a:fld>
            <a:endParaRPr/>
          </a:p>
        </p:txBody>
      </p:sp>
      <p:sp>
        <p:nvSpPr>
          <p:cNvPr id="344" name="Google Shape;344;p42"/>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Context Switching</a:t>
            </a:r>
            <a:endParaRPr/>
          </a:p>
        </p:txBody>
      </p:sp>
      <p:sp>
        <p:nvSpPr>
          <p:cNvPr id="345" name="Google Shape;345;p42"/>
          <p:cNvSpPr txBox="1"/>
          <p:nvPr/>
        </p:nvSpPr>
        <p:spPr>
          <a:xfrm>
            <a:off x="151375" y="1404950"/>
            <a:ext cx="1969200" cy="64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Imagine that two threads are executing the increment operation at the same time.</a:t>
            </a:r>
            <a:endParaRPr sz="1000"/>
          </a:p>
        </p:txBody>
      </p:sp>
      <p:grpSp>
        <p:nvGrpSpPr>
          <p:cNvPr id="346" name="Google Shape;346;p42"/>
          <p:cNvGrpSpPr/>
          <p:nvPr/>
        </p:nvGrpSpPr>
        <p:grpSpPr>
          <a:xfrm>
            <a:off x="2283875" y="1404950"/>
            <a:ext cx="4576244" cy="3615000"/>
            <a:chOff x="2283875" y="1404950"/>
            <a:chExt cx="4576244" cy="3615000"/>
          </a:xfrm>
        </p:grpSpPr>
        <p:sp>
          <p:nvSpPr>
            <p:cNvPr id="347" name="Google Shape;347;p42"/>
            <p:cNvSpPr/>
            <p:nvPr/>
          </p:nvSpPr>
          <p:spPr>
            <a:xfrm>
              <a:off x="2283875" y="1404950"/>
              <a:ext cx="2189400" cy="36150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t>Thread 1</a:t>
              </a:r>
              <a:endParaRPr b="1"/>
            </a:p>
            <a:p>
              <a:pPr marL="0" lvl="0" indent="0" algn="ctr" rtl="0">
                <a:spcBef>
                  <a:spcPts val="0"/>
                </a:spcBef>
                <a:spcAft>
                  <a:spcPts val="0"/>
                </a:spcAft>
                <a:buNone/>
              </a:pPr>
              <a:endParaRPr sz="1200" i="1">
                <a:latin typeface="Consolas"/>
                <a:ea typeface="Consolas"/>
                <a:cs typeface="Consolas"/>
                <a:sym typeface="Consolas"/>
              </a:endParaRPr>
            </a:p>
          </p:txBody>
        </p:sp>
        <p:sp>
          <p:nvSpPr>
            <p:cNvPr id="348" name="Google Shape;348;p42"/>
            <p:cNvSpPr/>
            <p:nvPr/>
          </p:nvSpPr>
          <p:spPr>
            <a:xfrm>
              <a:off x="4670719" y="1404950"/>
              <a:ext cx="2189400" cy="3615000"/>
            </a:xfrm>
            <a:prstGeom prst="roundRect">
              <a:avLst>
                <a:gd name="adj" fmla="val 16667"/>
              </a:avLst>
            </a:prstGeom>
            <a:solidFill>
              <a:srgbClr val="FFFFFF"/>
            </a:solid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t>Thread 2</a:t>
              </a:r>
              <a:endParaRPr b="1"/>
            </a:p>
            <a:p>
              <a:pPr marL="0" lvl="0" indent="0" algn="ctr" rtl="0">
                <a:spcBef>
                  <a:spcPts val="0"/>
                </a:spcBef>
                <a:spcAft>
                  <a:spcPts val="0"/>
                </a:spcAft>
                <a:buNone/>
              </a:pPr>
              <a:endParaRPr b="1"/>
            </a:p>
            <a:p>
              <a:pPr marL="0" lvl="0" indent="0" algn="ctr" rtl="0">
                <a:spcBef>
                  <a:spcPts val="0"/>
                </a:spcBef>
                <a:spcAft>
                  <a:spcPts val="0"/>
                </a:spcAft>
                <a:buNone/>
              </a:pPr>
              <a:endParaRPr b="1"/>
            </a:p>
            <a:p>
              <a:pPr marL="0" lvl="0" indent="0" algn="ctr" rtl="0">
                <a:spcBef>
                  <a:spcPts val="0"/>
                </a:spcBef>
                <a:spcAft>
                  <a:spcPts val="0"/>
                </a:spcAft>
                <a:buNone/>
              </a:pPr>
              <a:endParaRPr sz="1200" i="1">
                <a:latin typeface="Consolas"/>
                <a:ea typeface="Consolas"/>
                <a:cs typeface="Consolas"/>
                <a:sym typeface="Consolas"/>
              </a:endParaRPr>
            </a:p>
          </p:txBody>
        </p:sp>
      </p:grpSp>
      <p:sp>
        <p:nvSpPr>
          <p:cNvPr id="349" name="Google Shape;349;p42"/>
          <p:cNvSpPr txBox="1"/>
          <p:nvPr/>
        </p:nvSpPr>
        <p:spPr>
          <a:xfrm>
            <a:off x="4818925" y="1846067"/>
            <a:ext cx="19692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i="1">
                <a:solidFill>
                  <a:srgbClr val="999999"/>
                </a:solidFill>
                <a:latin typeface="Consolas"/>
                <a:ea typeface="Consolas"/>
                <a:cs typeface="Consolas"/>
                <a:sym typeface="Consolas"/>
              </a:rPr>
              <a:t>(COUNT[0] == 10)</a:t>
            </a:r>
            <a:endParaRPr sz="1200">
              <a:solidFill>
                <a:srgbClr val="999999"/>
              </a:solidFill>
              <a:latin typeface="Consolas"/>
              <a:ea typeface="Consolas"/>
              <a:cs typeface="Consolas"/>
              <a:sym typeface="Consolas"/>
            </a:endParaRPr>
          </a:p>
          <a:p>
            <a:pPr marL="0" lvl="0" indent="0" algn="ctr" rtl="0">
              <a:spcBef>
                <a:spcPts val="0"/>
              </a:spcBef>
              <a:spcAft>
                <a:spcPts val="0"/>
              </a:spcAft>
              <a:buNone/>
            </a:pPr>
            <a:r>
              <a:rPr lang="en" sz="1200">
                <a:latin typeface="Consolas"/>
                <a:ea typeface="Consolas"/>
                <a:cs typeface="Consolas"/>
                <a:sym typeface="Consolas"/>
              </a:rPr>
              <a:t>temp2 = COUNT[0] + 1</a:t>
            </a:r>
            <a:endParaRPr sz="1200">
              <a:latin typeface="Consolas"/>
              <a:ea typeface="Consolas"/>
              <a:cs typeface="Consolas"/>
              <a:sym typeface="Consolas"/>
            </a:endParaRPr>
          </a:p>
        </p:txBody>
      </p:sp>
      <p:grpSp>
        <p:nvGrpSpPr>
          <p:cNvPr id="350" name="Google Shape;350;p42"/>
          <p:cNvGrpSpPr/>
          <p:nvPr/>
        </p:nvGrpSpPr>
        <p:grpSpPr>
          <a:xfrm>
            <a:off x="2393975" y="2249121"/>
            <a:ext cx="4386000" cy="876725"/>
            <a:chOff x="2393975" y="2249121"/>
            <a:chExt cx="4386000" cy="876725"/>
          </a:xfrm>
        </p:grpSpPr>
        <p:sp>
          <p:nvSpPr>
            <p:cNvPr id="351" name="Google Shape;351;p42"/>
            <p:cNvSpPr txBox="1"/>
            <p:nvPr/>
          </p:nvSpPr>
          <p:spPr>
            <a:xfrm>
              <a:off x="2393975" y="2571746"/>
              <a:ext cx="19692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i="1">
                  <a:solidFill>
                    <a:srgbClr val="999999"/>
                  </a:solidFill>
                  <a:latin typeface="Consolas"/>
                  <a:ea typeface="Consolas"/>
                  <a:cs typeface="Consolas"/>
                  <a:sym typeface="Consolas"/>
                </a:rPr>
                <a:t>(COUNT[0] == 10)</a:t>
              </a:r>
              <a:endParaRPr sz="1200">
                <a:solidFill>
                  <a:srgbClr val="999999"/>
                </a:solidFill>
                <a:latin typeface="Consolas"/>
                <a:ea typeface="Consolas"/>
                <a:cs typeface="Consolas"/>
                <a:sym typeface="Consolas"/>
              </a:endParaRPr>
            </a:p>
            <a:p>
              <a:pPr marL="0" lvl="0" indent="0" algn="ctr" rtl="0">
                <a:spcBef>
                  <a:spcPts val="0"/>
                </a:spcBef>
                <a:spcAft>
                  <a:spcPts val="0"/>
                </a:spcAft>
                <a:buNone/>
              </a:pPr>
              <a:r>
                <a:rPr lang="en" sz="1200">
                  <a:latin typeface="Consolas"/>
                  <a:ea typeface="Consolas"/>
                  <a:cs typeface="Consolas"/>
                  <a:sym typeface="Consolas"/>
                </a:rPr>
                <a:t>temp1 = COUNT[0] + 1</a:t>
              </a:r>
              <a:endParaRPr sz="1200">
                <a:latin typeface="Consolas"/>
                <a:ea typeface="Consolas"/>
                <a:cs typeface="Consolas"/>
                <a:sym typeface="Consolas"/>
              </a:endParaRPr>
            </a:p>
          </p:txBody>
        </p:sp>
        <p:sp>
          <p:nvSpPr>
            <p:cNvPr id="352" name="Google Shape;352;p42"/>
            <p:cNvSpPr/>
            <p:nvPr/>
          </p:nvSpPr>
          <p:spPr>
            <a:xfrm>
              <a:off x="4280675" y="2249121"/>
              <a:ext cx="2499300" cy="440100"/>
            </a:xfrm>
            <a:prstGeom prst="leftArrow">
              <a:avLst>
                <a:gd name="adj1" fmla="val 50000"/>
                <a:gd name="adj2" fmla="val 50000"/>
              </a:avLst>
            </a:prstGeom>
            <a:solidFill>
              <a:srgbClr val="FFFFFF"/>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r" rtl="0">
                <a:spcBef>
                  <a:spcPts val="0"/>
                </a:spcBef>
                <a:spcAft>
                  <a:spcPts val="0"/>
                </a:spcAft>
                <a:buNone/>
              </a:pPr>
              <a:r>
                <a:rPr lang="en" sz="1100">
                  <a:solidFill>
                    <a:srgbClr val="FF0000"/>
                  </a:solidFill>
                </a:rPr>
                <a:t>Context Switch</a:t>
              </a:r>
              <a:endParaRPr sz="1100">
                <a:solidFill>
                  <a:srgbClr val="FF0000"/>
                </a:solidFill>
              </a:endParaRPr>
            </a:p>
          </p:txBody>
        </p:sp>
      </p:grpSp>
      <p:grpSp>
        <p:nvGrpSpPr>
          <p:cNvPr id="353" name="Google Shape;353;p42"/>
          <p:cNvGrpSpPr/>
          <p:nvPr/>
        </p:nvGrpSpPr>
        <p:grpSpPr>
          <a:xfrm>
            <a:off x="2366829" y="3055650"/>
            <a:ext cx="4345096" cy="875403"/>
            <a:chOff x="2366829" y="3055650"/>
            <a:chExt cx="4345096" cy="875403"/>
          </a:xfrm>
        </p:grpSpPr>
        <p:sp>
          <p:nvSpPr>
            <p:cNvPr id="354" name="Google Shape;354;p42"/>
            <p:cNvSpPr txBox="1"/>
            <p:nvPr/>
          </p:nvSpPr>
          <p:spPr>
            <a:xfrm>
              <a:off x="4742725" y="3376953"/>
              <a:ext cx="19692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a:latin typeface="Consolas"/>
                  <a:ea typeface="Consolas"/>
                  <a:cs typeface="Consolas"/>
                  <a:sym typeface="Consolas"/>
                </a:rPr>
                <a:t>COUNT[0] = temp2</a:t>
              </a:r>
              <a:endParaRPr sz="1200">
                <a:latin typeface="Consolas"/>
                <a:ea typeface="Consolas"/>
                <a:cs typeface="Consolas"/>
                <a:sym typeface="Consolas"/>
              </a:endParaRPr>
            </a:p>
            <a:p>
              <a:pPr marL="0" lvl="0" indent="0" algn="ctr" rtl="0">
                <a:spcBef>
                  <a:spcPts val="0"/>
                </a:spcBef>
                <a:spcAft>
                  <a:spcPts val="0"/>
                </a:spcAft>
                <a:buNone/>
              </a:pPr>
              <a:r>
                <a:rPr lang="en" sz="1200" i="1">
                  <a:solidFill>
                    <a:srgbClr val="999999"/>
                  </a:solidFill>
                  <a:latin typeface="Consolas"/>
                  <a:ea typeface="Consolas"/>
                  <a:cs typeface="Consolas"/>
                  <a:sym typeface="Consolas"/>
                </a:rPr>
                <a:t>(COUNT[0] == 11)</a:t>
              </a:r>
              <a:endParaRPr sz="1200" i="1">
                <a:solidFill>
                  <a:srgbClr val="999999"/>
                </a:solidFill>
                <a:latin typeface="Consolas"/>
                <a:ea typeface="Consolas"/>
                <a:cs typeface="Consolas"/>
                <a:sym typeface="Consolas"/>
              </a:endParaRPr>
            </a:p>
          </p:txBody>
        </p:sp>
        <p:sp>
          <p:nvSpPr>
            <p:cNvPr id="355" name="Google Shape;355;p42"/>
            <p:cNvSpPr/>
            <p:nvPr/>
          </p:nvSpPr>
          <p:spPr>
            <a:xfrm>
              <a:off x="2366829" y="3055650"/>
              <a:ext cx="2499300" cy="440100"/>
            </a:xfrm>
            <a:prstGeom prst="rightArrow">
              <a:avLst>
                <a:gd name="adj1" fmla="val 50000"/>
                <a:gd name="adj2" fmla="val 50000"/>
              </a:avLst>
            </a:prstGeom>
            <a:solidFill>
              <a:srgbClr val="FFFFFF"/>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rgbClr val="FF0000"/>
                  </a:solidFill>
                </a:rPr>
                <a:t>Context Switch</a:t>
              </a:r>
              <a:endParaRPr sz="1100">
                <a:solidFill>
                  <a:srgbClr val="FF0000"/>
                </a:solidFill>
              </a:endParaRPr>
            </a:p>
          </p:txBody>
        </p:sp>
      </p:grpSp>
      <p:grpSp>
        <p:nvGrpSpPr>
          <p:cNvPr id="356" name="Google Shape;356;p42"/>
          <p:cNvGrpSpPr/>
          <p:nvPr/>
        </p:nvGrpSpPr>
        <p:grpSpPr>
          <a:xfrm>
            <a:off x="2393975" y="3835550"/>
            <a:ext cx="4386000" cy="931350"/>
            <a:chOff x="2393975" y="3835550"/>
            <a:chExt cx="4386000" cy="931350"/>
          </a:xfrm>
        </p:grpSpPr>
        <p:sp>
          <p:nvSpPr>
            <p:cNvPr id="357" name="Google Shape;357;p42"/>
            <p:cNvSpPr/>
            <p:nvPr/>
          </p:nvSpPr>
          <p:spPr>
            <a:xfrm>
              <a:off x="4280675" y="3835550"/>
              <a:ext cx="2499300" cy="440100"/>
            </a:xfrm>
            <a:prstGeom prst="leftArrow">
              <a:avLst>
                <a:gd name="adj1" fmla="val 50000"/>
                <a:gd name="adj2" fmla="val 50000"/>
              </a:avLst>
            </a:prstGeom>
            <a:solidFill>
              <a:srgbClr val="FFFFFF"/>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r" rtl="0">
                <a:spcBef>
                  <a:spcPts val="0"/>
                </a:spcBef>
                <a:spcAft>
                  <a:spcPts val="0"/>
                </a:spcAft>
                <a:buNone/>
              </a:pPr>
              <a:r>
                <a:rPr lang="en" sz="1100">
                  <a:solidFill>
                    <a:srgbClr val="FF0000"/>
                  </a:solidFill>
                </a:rPr>
                <a:t>Context Switch</a:t>
              </a:r>
              <a:endParaRPr sz="1100">
                <a:solidFill>
                  <a:srgbClr val="FF0000"/>
                </a:solidFill>
              </a:endParaRPr>
            </a:p>
          </p:txBody>
        </p:sp>
        <p:sp>
          <p:nvSpPr>
            <p:cNvPr id="358" name="Google Shape;358;p42"/>
            <p:cNvSpPr txBox="1"/>
            <p:nvPr/>
          </p:nvSpPr>
          <p:spPr>
            <a:xfrm>
              <a:off x="2393975" y="4212800"/>
              <a:ext cx="19692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a:latin typeface="Consolas"/>
                  <a:ea typeface="Consolas"/>
                  <a:cs typeface="Consolas"/>
                  <a:sym typeface="Consolas"/>
                </a:rPr>
                <a:t>COUNT[0] = temp1</a:t>
              </a:r>
              <a:endParaRPr sz="1200">
                <a:latin typeface="Consolas"/>
                <a:ea typeface="Consolas"/>
                <a:cs typeface="Consolas"/>
                <a:sym typeface="Consolas"/>
              </a:endParaRPr>
            </a:p>
            <a:p>
              <a:pPr marL="0" lvl="0" indent="0" algn="ctr" rtl="0">
                <a:spcBef>
                  <a:spcPts val="0"/>
                </a:spcBef>
                <a:spcAft>
                  <a:spcPts val="0"/>
                </a:spcAft>
                <a:buNone/>
              </a:pPr>
              <a:r>
                <a:rPr lang="en" sz="1200" i="1">
                  <a:solidFill>
                    <a:srgbClr val="999999"/>
                  </a:solidFill>
                  <a:latin typeface="Consolas"/>
                  <a:ea typeface="Consolas"/>
                  <a:cs typeface="Consolas"/>
                  <a:sym typeface="Consolas"/>
                </a:rPr>
                <a:t>(COUNT[0] == 11)</a:t>
              </a:r>
              <a:endParaRPr sz="1200" i="1">
                <a:solidFill>
                  <a:srgbClr val="999999"/>
                </a:solidFill>
                <a:latin typeface="Consolas"/>
                <a:ea typeface="Consolas"/>
                <a:cs typeface="Consolas"/>
                <a:sym typeface="Consolas"/>
              </a:endParaRPr>
            </a:p>
          </p:txBody>
        </p:sp>
      </p:grpSp>
      <p:sp>
        <p:nvSpPr>
          <p:cNvPr id="359" name="Google Shape;359;p42"/>
          <p:cNvSpPr txBox="1"/>
          <p:nvPr/>
        </p:nvSpPr>
        <p:spPr>
          <a:xfrm>
            <a:off x="151375" y="2145925"/>
            <a:ext cx="1969200" cy="800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Increment is a </a:t>
            </a:r>
            <a:r>
              <a:rPr lang="en" sz="1000" b="1" i="1" dirty="0">
                <a:solidFill>
                  <a:srgbClr val="FF0000"/>
                </a:solidFill>
              </a:rPr>
              <a:t>non-atomic</a:t>
            </a:r>
            <a:r>
              <a:rPr lang="en" sz="1000" dirty="0"/>
              <a:t> operation, meaning that it is implemented as </a:t>
            </a:r>
            <a:r>
              <a:rPr lang="en" sz="1000" b="1" i="1" dirty="0">
                <a:solidFill>
                  <a:srgbClr val="FF0000"/>
                </a:solidFill>
              </a:rPr>
              <a:t>at least two</a:t>
            </a:r>
            <a:r>
              <a:rPr lang="en" sz="1000" dirty="0"/>
              <a:t> separate instructions.</a:t>
            </a:r>
            <a:endParaRPr sz="1000" dirty="0"/>
          </a:p>
        </p:txBody>
      </p:sp>
      <p:sp>
        <p:nvSpPr>
          <p:cNvPr id="360" name="Google Shape;360;p42"/>
          <p:cNvSpPr txBox="1"/>
          <p:nvPr/>
        </p:nvSpPr>
        <p:spPr>
          <a:xfrm>
            <a:off x="151375" y="3040800"/>
            <a:ext cx="1969200" cy="800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Imagine that one of the threads computes the incremented </a:t>
            </a:r>
            <a:r>
              <a:rPr lang="en" sz="1000" dirty="0">
                <a:latin typeface="Courier New"/>
                <a:ea typeface="Courier New"/>
                <a:cs typeface="Courier New"/>
                <a:sym typeface="Courier New"/>
              </a:rPr>
              <a:t>COUNT[0]</a:t>
            </a:r>
            <a:r>
              <a:rPr lang="en" sz="1000" dirty="0"/>
              <a:t> value </a:t>
            </a:r>
            <a:r>
              <a:rPr lang="en" sz="1000" b="1" i="1" dirty="0">
                <a:solidFill>
                  <a:srgbClr val="FF0000"/>
                </a:solidFill>
              </a:rPr>
              <a:t>first</a:t>
            </a:r>
            <a:r>
              <a:rPr lang="en" sz="1000" dirty="0"/>
              <a:t> and stores it in a temporary value...</a:t>
            </a:r>
            <a:endParaRPr sz="1000" dirty="0"/>
          </a:p>
        </p:txBody>
      </p:sp>
      <p:sp>
        <p:nvSpPr>
          <p:cNvPr id="361" name="Google Shape;361;p42"/>
          <p:cNvSpPr txBox="1"/>
          <p:nvPr/>
        </p:nvSpPr>
        <p:spPr>
          <a:xfrm>
            <a:off x="151375" y="3934175"/>
            <a:ext cx="1969200" cy="800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...after which there is a </a:t>
            </a:r>
            <a:r>
              <a:rPr lang="en" sz="1000" b="1" i="1">
                <a:solidFill>
                  <a:srgbClr val="FF0000"/>
                </a:solidFill>
              </a:rPr>
              <a:t>context switch</a:t>
            </a:r>
            <a:r>
              <a:rPr lang="en" sz="1000"/>
              <a:t> to the other thread, which then computes the </a:t>
            </a:r>
            <a:r>
              <a:rPr lang="en" sz="1000" b="1" i="1">
                <a:solidFill>
                  <a:srgbClr val="FF0000"/>
                </a:solidFill>
              </a:rPr>
              <a:t>same incremented value</a:t>
            </a:r>
            <a:r>
              <a:rPr lang="en" sz="1000"/>
              <a:t> (</a:t>
            </a:r>
            <a:r>
              <a:rPr lang="en" sz="1000" b="1" i="1">
                <a:solidFill>
                  <a:srgbClr val="FF0000"/>
                </a:solidFill>
              </a:rPr>
              <a:t>11</a:t>
            </a:r>
            <a:r>
              <a:rPr lang="en" sz="1000"/>
              <a:t>).</a:t>
            </a:r>
            <a:endParaRPr sz="1000"/>
          </a:p>
        </p:txBody>
      </p:sp>
      <p:sp>
        <p:nvSpPr>
          <p:cNvPr id="362" name="Google Shape;362;p42"/>
          <p:cNvSpPr txBox="1"/>
          <p:nvPr/>
        </p:nvSpPr>
        <p:spPr>
          <a:xfrm>
            <a:off x="7023425" y="1404950"/>
            <a:ext cx="1969200" cy="800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Then there is </a:t>
            </a:r>
            <a:r>
              <a:rPr lang="en" sz="1000" b="1" i="1">
                <a:solidFill>
                  <a:srgbClr val="FF0000"/>
                </a:solidFill>
              </a:rPr>
              <a:t>another</a:t>
            </a:r>
            <a:r>
              <a:rPr lang="en" sz="1000">
                <a:solidFill>
                  <a:srgbClr val="FF0000"/>
                </a:solidFill>
              </a:rPr>
              <a:t> </a:t>
            </a:r>
            <a:r>
              <a:rPr lang="en" sz="1000"/>
              <a:t>context switch back to the other thread. It assigns its temporary value (</a:t>
            </a:r>
            <a:r>
              <a:rPr lang="en" sz="1000" b="1" i="1">
                <a:solidFill>
                  <a:srgbClr val="FF0000"/>
                </a:solidFill>
              </a:rPr>
              <a:t>11</a:t>
            </a:r>
            <a:r>
              <a:rPr lang="en" sz="1000"/>
              <a:t>) to </a:t>
            </a:r>
            <a:r>
              <a:rPr lang="en" sz="1000">
                <a:latin typeface="Courier New"/>
                <a:ea typeface="Courier New"/>
                <a:cs typeface="Courier New"/>
                <a:sym typeface="Courier New"/>
              </a:rPr>
              <a:t>COUNT[0]</a:t>
            </a:r>
            <a:r>
              <a:rPr lang="en" sz="1000"/>
              <a:t>.</a:t>
            </a:r>
            <a:endParaRPr sz="1000"/>
          </a:p>
        </p:txBody>
      </p:sp>
      <p:sp>
        <p:nvSpPr>
          <p:cNvPr id="363" name="Google Shape;363;p42"/>
          <p:cNvSpPr txBox="1"/>
          <p:nvPr/>
        </p:nvSpPr>
        <p:spPr>
          <a:xfrm>
            <a:off x="7023425" y="2305579"/>
            <a:ext cx="1969200" cy="800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Followed by </a:t>
            </a:r>
            <a:r>
              <a:rPr lang="en" sz="1000" b="1" i="1">
                <a:solidFill>
                  <a:srgbClr val="FF0000"/>
                </a:solidFill>
              </a:rPr>
              <a:t>yet another </a:t>
            </a:r>
            <a:r>
              <a:rPr lang="en" sz="1000"/>
              <a:t>context switch after which the other thread </a:t>
            </a:r>
            <a:r>
              <a:rPr lang="en" sz="1000" b="1" i="1">
                <a:solidFill>
                  <a:srgbClr val="FF0000"/>
                </a:solidFill>
              </a:rPr>
              <a:t>also</a:t>
            </a:r>
            <a:r>
              <a:rPr lang="en" sz="1000">
                <a:solidFill>
                  <a:srgbClr val="FF0000"/>
                </a:solidFill>
              </a:rPr>
              <a:t> </a:t>
            </a:r>
            <a:r>
              <a:rPr lang="en" sz="1000"/>
              <a:t>sets </a:t>
            </a:r>
            <a:r>
              <a:rPr lang="en" sz="1000">
                <a:latin typeface="Courier New"/>
                <a:ea typeface="Courier New"/>
                <a:cs typeface="Courier New"/>
                <a:sym typeface="Courier New"/>
              </a:rPr>
              <a:t>COUNT[0]</a:t>
            </a:r>
            <a:r>
              <a:rPr lang="en" sz="1000"/>
              <a:t> to </a:t>
            </a:r>
            <a:r>
              <a:rPr lang="en" sz="1000" b="1" i="1">
                <a:solidFill>
                  <a:srgbClr val="FF0000"/>
                </a:solidFill>
              </a:rPr>
              <a:t>the same value</a:t>
            </a:r>
            <a:r>
              <a:rPr lang="en" sz="1000"/>
              <a:t>.</a:t>
            </a:r>
            <a:endParaRPr sz="1000"/>
          </a:p>
        </p:txBody>
      </p:sp>
      <p:sp>
        <p:nvSpPr>
          <p:cNvPr id="364" name="Google Shape;364;p42"/>
          <p:cNvSpPr txBox="1"/>
          <p:nvPr/>
        </p:nvSpPr>
        <p:spPr>
          <a:xfrm>
            <a:off x="7023425" y="3206208"/>
            <a:ext cx="1969200" cy="64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The end result is that </a:t>
            </a:r>
            <a:r>
              <a:rPr lang="en" sz="1000">
                <a:latin typeface="Courier New"/>
                <a:ea typeface="Courier New"/>
                <a:cs typeface="Courier New"/>
                <a:sym typeface="Courier New"/>
              </a:rPr>
              <a:t>COUNT[0]</a:t>
            </a:r>
            <a:r>
              <a:rPr lang="en" sz="1000"/>
              <a:t> has effectively only been incremented </a:t>
            </a:r>
            <a:r>
              <a:rPr lang="en" sz="1000" b="1" i="1">
                <a:solidFill>
                  <a:srgbClr val="FF0000"/>
                </a:solidFill>
              </a:rPr>
              <a:t>once</a:t>
            </a:r>
            <a:r>
              <a:rPr lang="en" sz="1000"/>
              <a:t>.</a:t>
            </a:r>
            <a:endParaRPr sz="1000"/>
          </a:p>
        </p:txBody>
      </p:sp>
      <p:sp>
        <p:nvSpPr>
          <p:cNvPr id="365" name="Google Shape;365;p42"/>
          <p:cNvSpPr txBox="1"/>
          <p:nvPr/>
        </p:nvSpPr>
        <p:spPr>
          <a:xfrm>
            <a:off x="7023425" y="3952937"/>
            <a:ext cx="1969200" cy="6465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t>How likely is this to happen? You have probably just seen it happen </a:t>
            </a:r>
            <a:r>
              <a:rPr lang="en" sz="1000" b="1" i="1">
                <a:solidFill>
                  <a:srgbClr val="FF0000"/>
                </a:solidFill>
              </a:rPr>
              <a:t>thousands</a:t>
            </a:r>
            <a:r>
              <a:rPr lang="en" sz="1000">
                <a:solidFill>
                  <a:srgbClr val="FF0000"/>
                </a:solidFill>
              </a:rPr>
              <a:t> </a:t>
            </a:r>
            <a:r>
              <a:rPr lang="en" sz="1000"/>
              <a:t>of times.</a:t>
            </a:r>
            <a:endParaRPr sz="10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5"/>
                                        </p:tgtEl>
                                        <p:attrNameLst>
                                          <p:attrName>style.visibility</p:attrName>
                                        </p:attrNameLst>
                                      </p:cBhvr>
                                      <p:to>
                                        <p:strVal val="visible"/>
                                      </p:to>
                                    </p:set>
                                    <p:animEffect transition="in" filter="fade">
                                      <p:cBhvr>
                                        <p:cTn id="7" dur="1000"/>
                                        <p:tgtEl>
                                          <p:spTgt spid="345"/>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346"/>
                                        </p:tgtEl>
                                        <p:attrNameLst>
                                          <p:attrName>style.visibility</p:attrName>
                                        </p:attrNameLst>
                                      </p:cBhvr>
                                      <p:to>
                                        <p:strVal val="visible"/>
                                      </p:to>
                                    </p:set>
                                    <p:animEffect transition="in" filter="fade">
                                      <p:cBhvr>
                                        <p:cTn id="11" dur="1000"/>
                                        <p:tgtEl>
                                          <p:spTgt spid="34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359"/>
                                        </p:tgtEl>
                                        <p:attrNameLst>
                                          <p:attrName>style.visibility</p:attrName>
                                        </p:attrNameLst>
                                      </p:cBhvr>
                                      <p:to>
                                        <p:strVal val="visible"/>
                                      </p:to>
                                    </p:set>
                                    <p:animEffect transition="in" filter="fade">
                                      <p:cBhvr>
                                        <p:cTn id="16" dur="1000"/>
                                        <p:tgtEl>
                                          <p:spTgt spid="35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60"/>
                                        </p:tgtEl>
                                        <p:attrNameLst>
                                          <p:attrName>style.visibility</p:attrName>
                                        </p:attrNameLst>
                                      </p:cBhvr>
                                      <p:to>
                                        <p:strVal val="visible"/>
                                      </p:to>
                                    </p:set>
                                    <p:animEffect transition="in" filter="fade">
                                      <p:cBhvr>
                                        <p:cTn id="21" dur="1000"/>
                                        <p:tgtEl>
                                          <p:spTgt spid="360"/>
                                        </p:tgtEl>
                                      </p:cBhvr>
                                    </p:animEffec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349"/>
                                        </p:tgtEl>
                                        <p:attrNameLst>
                                          <p:attrName>style.visibility</p:attrName>
                                        </p:attrNameLst>
                                      </p:cBhvr>
                                      <p:to>
                                        <p:strVal val="visible"/>
                                      </p:to>
                                    </p:set>
                                    <p:animEffect transition="in" filter="fade">
                                      <p:cBhvr>
                                        <p:cTn id="25" dur="1000"/>
                                        <p:tgtEl>
                                          <p:spTgt spid="34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61"/>
                                        </p:tgtEl>
                                        <p:attrNameLst>
                                          <p:attrName>style.visibility</p:attrName>
                                        </p:attrNameLst>
                                      </p:cBhvr>
                                      <p:to>
                                        <p:strVal val="visible"/>
                                      </p:to>
                                    </p:set>
                                    <p:animEffect transition="in" filter="fade">
                                      <p:cBhvr>
                                        <p:cTn id="30" dur="1000"/>
                                        <p:tgtEl>
                                          <p:spTgt spid="361"/>
                                        </p:tgtEl>
                                      </p:cBhvr>
                                    </p:animEffect>
                                  </p:childTnLst>
                                </p:cTn>
                              </p:par>
                            </p:childTnLst>
                          </p:cTn>
                        </p:par>
                        <p:par>
                          <p:cTn id="31" fill="hold">
                            <p:stCondLst>
                              <p:cond delay="1000"/>
                            </p:stCondLst>
                            <p:childTnLst>
                              <p:par>
                                <p:cTn id="32" presetID="10" presetClass="entr" presetSubtype="0" fill="hold" nodeType="afterEffect">
                                  <p:stCondLst>
                                    <p:cond delay="0"/>
                                  </p:stCondLst>
                                  <p:childTnLst>
                                    <p:set>
                                      <p:cBhvr>
                                        <p:cTn id="33" dur="1" fill="hold">
                                          <p:stCondLst>
                                            <p:cond delay="0"/>
                                          </p:stCondLst>
                                        </p:cTn>
                                        <p:tgtEl>
                                          <p:spTgt spid="350"/>
                                        </p:tgtEl>
                                        <p:attrNameLst>
                                          <p:attrName>style.visibility</p:attrName>
                                        </p:attrNameLst>
                                      </p:cBhvr>
                                      <p:to>
                                        <p:strVal val="visible"/>
                                      </p:to>
                                    </p:set>
                                    <p:animEffect transition="in" filter="fade">
                                      <p:cBhvr>
                                        <p:cTn id="34" dur="1000"/>
                                        <p:tgtEl>
                                          <p:spTgt spid="35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2"/>
                                        </p:tgtEl>
                                        <p:attrNameLst>
                                          <p:attrName>style.visibility</p:attrName>
                                        </p:attrNameLst>
                                      </p:cBhvr>
                                      <p:to>
                                        <p:strVal val="visible"/>
                                      </p:to>
                                    </p:set>
                                    <p:animEffect transition="in" filter="fade">
                                      <p:cBhvr>
                                        <p:cTn id="39" dur="1000"/>
                                        <p:tgtEl>
                                          <p:spTgt spid="362"/>
                                        </p:tgtEl>
                                      </p:cBhvr>
                                    </p:animEffect>
                                  </p:childTnLst>
                                </p:cTn>
                              </p:par>
                            </p:childTnLst>
                          </p:cTn>
                        </p:par>
                        <p:par>
                          <p:cTn id="40" fill="hold">
                            <p:stCondLst>
                              <p:cond delay="1000"/>
                            </p:stCondLst>
                            <p:childTnLst>
                              <p:par>
                                <p:cTn id="41" presetID="10" presetClass="entr" presetSubtype="0" fill="hold" nodeType="afterEffect">
                                  <p:stCondLst>
                                    <p:cond delay="0"/>
                                  </p:stCondLst>
                                  <p:childTnLst>
                                    <p:set>
                                      <p:cBhvr>
                                        <p:cTn id="42" dur="1" fill="hold">
                                          <p:stCondLst>
                                            <p:cond delay="0"/>
                                          </p:stCondLst>
                                        </p:cTn>
                                        <p:tgtEl>
                                          <p:spTgt spid="353"/>
                                        </p:tgtEl>
                                        <p:attrNameLst>
                                          <p:attrName>style.visibility</p:attrName>
                                        </p:attrNameLst>
                                      </p:cBhvr>
                                      <p:to>
                                        <p:strVal val="visible"/>
                                      </p:to>
                                    </p:set>
                                    <p:animEffect transition="in" filter="fade">
                                      <p:cBhvr>
                                        <p:cTn id="43" dur="1000"/>
                                        <p:tgtEl>
                                          <p:spTgt spid="35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63"/>
                                        </p:tgtEl>
                                        <p:attrNameLst>
                                          <p:attrName>style.visibility</p:attrName>
                                        </p:attrNameLst>
                                      </p:cBhvr>
                                      <p:to>
                                        <p:strVal val="visible"/>
                                      </p:to>
                                    </p:set>
                                    <p:animEffect transition="in" filter="fade">
                                      <p:cBhvr>
                                        <p:cTn id="48" dur="1000"/>
                                        <p:tgtEl>
                                          <p:spTgt spid="363"/>
                                        </p:tgtEl>
                                      </p:cBhvr>
                                    </p:animEffect>
                                  </p:childTnLst>
                                </p:cTn>
                              </p:par>
                            </p:childTnLst>
                          </p:cTn>
                        </p:par>
                        <p:par>
                          <p:cTn id="49" fill="hold">
                            <p:stCondLst>
                              <p:cond delay="1000"/>
                            </p:stCondLst>
                            <p:childTnLst>
                              <p:par>
                                <p:cTn id="50" presetID="10" presetClass="entr" presetSubtype="0" fill="hold" nodeType="afterEffect">
                                  <p:stCondLst>
                                    <p:cond delay="0"/>
                                  </p:stCondLst>
                                  <p:childTnLst>
                                    <p:set>
                                      <p:cBhvr>
                                        <p:cTn id="51" dur="1" fill="hold">
                                          <p:stCondLst>
                                            <p:cond delay="0"/>
                                          </p:stCondLst>
                                        </p:cTn>
                                        <p:tgtEl>
                                          <p:spTgt spid="356"/>
                                        </p:tgtEl>
                                        <p:attrNameLst>
                                          <p:attrName>style.visibility</p:attrName>
                                        </p:attrNameLst>
                                      </p:cBhvr>
                                      <p:to>
                                        <p:strVal val="visible"/>
                                      </p:to>
                                    </p:set>
                                    <p:animEffect transition="in" filter="fade">
                                      <p:cBhvr>
                                        <p:cTn id="52" dur="1000"/>
                                        <p:tgtEl>
                                          <p:spTgt spid="35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64"/>
                                        </p:tgtEl>
                                        <p:attrNameLst>
                                          <p:attrName>style.visibility</p:attrName>
                                        </p:attrNameLst>
                                      </p:cBhvr>
                                      <p:to>
                                        <p:strVal val="visible"/>
                                      </p:to>
                                    </p:set>
                                    <p:animEffect transition="in" filter="fade">
                                      <p:cBhvr>
                                        <p:cTn id="57" dur="1000"/>
                                        <p:tgtEl>
                                          <p:spTgt spid="36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65"/>
                                        </p:tgtEl>
                                        <p:attrNameLst>
                                          <p:attrName>style.visibility</p:attrName>
                                        </p:attrNameLst>
                                      </p:cBhvr>
                                      <p:to>
                                        <p:strVal val="visible"/>
                                      </p:to>
                                    </p:set>
                                    <p:animEffect transition="in" filter="fade">
                                      <p:cBhvr>
                                        <p:cTn id="62" dur="10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4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71" name="Google Shape;371;p43"/>
          <p:cNvSpPr txBox="1">
            <a:spLocks noGrp="1"/>
          </p:cNvSpPr>
          <p:nvPr>
            <p:ph type="title"/>
          </p:nvPr>
        </p:nvSpPr>
        <p:spPr>
          <a:xfrm>
            <a:off x="311725" y="43725"/>
            <a:ext cx="3706500" cy="6156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Locks</a:t>
            </a:r>
            <a:endParaRPr/>
          </a:p>
        </p:txBody>
      </p:sp>
      <p:sp>
        <p:nvSpPr>
          <p:cNvPr id="372" name="Google Shape;372;p43"/>
          <p:cNvSpPr txBox="1">
            <a:spLocks noGrp="1"/>
          </p:cNvSpPr>
          <p:nvPr>
            <p:ph type="body" idx="1"/>
          </p:nvPr>
        </p:nvSpPr>
        <p:spPr>
          <a:xfrm>
            <a:off x="4446600" y="21525"/>
            <a:ext cx="4440600" cy="4674000"/>
          </a:xfrm>
          <a:prstGeom prst="rect">
            <a:avLst/>
          </a:prstGeom>
        </p:spPr>
        <p:txBody>
          <a:bodyPr spcFirstLastPara="1" wrap="square" lIns="91425" tIns="91425" rIns="91425" bIns="91425" anchor="ctr" anchorCtr="0">
            <a:spAutoFit/>
          </a:bodyPr>
          <a:lstStyle/>
          <a:p>
            <a:pPr marL="457200" lvl="0" indent="-304800" algn="l" rtl="0">
              <a:lnSpc>
                <a:spcPct val="100000"/>
              </a:lnSpc>
              <a:spcBef>
                <a:spcPts val="0"/>
              </a:spcBef>
              <a:spcAft>
                <a:spcPts val="0"/>
              </a:spcAft>
              <a:buSzPts val="1200"/>
              <a:buChar char="●"/>
            </a:pPr>
            <a:r>
              <a:rPr lang="en" sz="1200" dirty="0"/>
              <a:t>Any block of code that may not </a:t>
            </a:r>
            <a:r>
              <a:rPr lang="en" sz="1200" b="1" i="1" dirty="0">
                <a:solidFill>
                  <a:srgbClr val="FF0000"/>
                </a:solidFill>
              </a:rPr>
              <a:t>behave correctly</a:t>
            </a:r>
            <a:r>
              <a:rPr lang="en" sz="1200" dirty="0"/>
              <a:t> if executed by two or more threads at the same time is referred to as a </a:t>
            </a:r>
            <a:r>
              <a:rPr lang="en" sz="1200" b="1" i="1" dirty="0">
                <a:solidFill>
                  <a:srgbClr val="FF0000"/>
                </a:solidFill>
                <a:highlight>
                  <a:srgbClr val="FFFF00"/>
                </a:highlight>
              </a:rPr>
              <a:t>critical region</a:t>
            </a:r>
            <a:r>
              <a:rPr lang="en" sz="1200" dirty="0">
                <a:highlight>
                  <a:srgbClr val="FFFF00"/>
                </a:highlight>
              </a:rPr>
              <a:t>.</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A critical region must be </a:t>
            </a:r>
            <a:r>
              <a:rPr lang="en" sz="1200" b="1" i="1" dirty="0">
                <a:solidFill>
                  <a:srgbClr val="FF0000"/>
                </a:solidFill>
              </a:rPr>
              <a:t>protected</a:t>
            </a:r>
            <a:r>
              <a:rPr lang="en" sz="1200" dirty="0">
                <a:solidFill>
                  <a:srgbClr val="FF0000"/>
                </a:solidFill>
              </a:rPr>
              <a:t> </a:t>
            </a:r>
            <a:r>
              <a:rPr lang="en" sz="1200" dirty="0"/>
              <a:t>so that two threads cannot access the code in the region at the same time.</a:t>
            </a:r>
            <a:endParaRPr sz="1200" dirty="0"/>
          </a:p>
          <a:p>
            <a:pPr marL="457200" lvl="0" indent="-304800" algn="l" rtl="0">
              <a:lnSpc>
                <a:spcPct val="100000"/>
              </a:lnSpc>
              <a:spcBef>
                <a:spcPts val="1000"/>
              </a:spcBef>
              <a:spcAft>
                <a:spcPts val="0"/>
              </a:spcAft>
              <a:buSzPts val="1200"/>
              <a:buChar char="●"/>
            </a:pPr>
            <a:r>
              <a:rPr lang="en" sz="1200" dirty="0"/>
              <a:t>Sometimes a critical region comprises the </a:t>
            </a:r>
            <a:r>
              <a:rPr lang="en" sz="1200" b="1" i="1" dirty="0">
                <a:solidFill>
                  <a:srgbClr val="FF0000"/>
                </a:solidFill>
                <a:highlight>
                  <a:srgbClr val="FFFF00"/>
                </a:highlight>
              </a:rPr>
              <a:t>entire method</a:t>
            </a:r>
            <a:r>
              <a:rPr lang="en" sz="1200" dirty="0">
                <a:highlight>
                  <a:srgbClr val="FFFF00"/>
                </a:highlight>
              </a:rPr>
              <a:t>.</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Or even multiple methods!</a:t>
            </a:r>
            <a:endParaRPr sz="1000" dirty="0"/>
          </a:p>
          <a:p>
            <a:pPr marL="457200" lvl="0" indent="-304800" algn="l" rtl="0">
              <a:lnSpc>
                <a:spcPct val="100000"/>
              </a:lnSpc>
              <a:spcBef>
                <a:spcPts val="1000"/>
              </a:spcBef>
              <a:spcAft>
                <a:spcPts val="0"/>
              </a:spcAft>
              <a:buSzPts val="1200"/>
              <a:buChar char="●"/>
            </a:pPr>
            <a:r>
              <a:rPr lang="en" sz="1200" dirty="0"/>
              <a:t>Other times it is only a </a:t>
            </a:r>
            <a:r>
              <a:rPr lang="en" sz="1200" b="1" i="1" dirty="0">
                <a:solidFill>
                  <a:srgbClr val="FF0000"/>
                </a:solidFill>
                <a:highlight>
                  <a:srgbClr val="FFFF00"/>
                </a:highlight>
              </a:rPr>
              <a:t>subset</a:t>
            </a:r>
            <a:r>
              <a:rPr lang="en" sz="1200" dirty="0">
                <a:solidFill>
                  <a:srgbClr val="FF0000"/>
                </a:solidFill>
              </a:rPr>
              <a:t> </a:t>
            </a:r>
            <a:r>
              <a:rPr lang="en" sz="1200" dirty="0"/>
              <a:t>of the code in a method.</a:t>
            </a:r>
            <a:endParaRPr sz="1200" dirty="0"/>
          </a:p>
          <a:p>
            <a:pPr marL="457200" lvl="0" indent="-304800" algn="l" rtl="0">
              <a:lnSpc>
                <a:spcPct val="100000"/>
              </a:lnSpc>
              <a:spcBef>
                <a:spcPts val="1000"/>
              </a:spcBef>
              <a:spcAft>
                <a:spcPts val="0"/>
              </a:spcAft>
              <a:buSzPts val="1200"/>
              <a:buChar char="●"/>
            </a:pPr>
            <a:r>
              <a:rPr lang="en" sz="1200" dirty="0">
                <a:highlight>
                  <a:srgbClr val="FFFF00"/>
                </a:highlight>
              </a:rPr>
              <a:t>The </a:t>
            </a:r>
            <a:r>
              <a:rPr lang="en" sz="1200" dirty="0">
                <a:solidFill>
                  <a:srgbClr val="FF0000"/>
                </a:solidFill>
                <a:highlight>
                  <a:srgbClr val="FFFF00"/>
                </a:highlight>
                <a:latin typeface="Courier New"/>
                <a:ea typeface="Courier New"/>
                <a:cs typeface="Courier New"/>
                <a:sym typeface="Courier New"/>
              </a:rPr>
              <a:t>Lock</a:t>
            </a:r>
            <a:r>
              <a:rPr lang="en" sz="1200" dirty="0">
                <a:solidFill>
                  <a:srgbClr val="FF0000"/>
                </a:solidFill>
                <a:highlight>
                  <a:srgbClr val="FFFF00"/>
                </a:highlight>
              </a:rPr>
              <a:t> </a:t>
            </a:r>
            <a:r>
              <a:rPr lang="en" sz="1200" dirty="0">
                <a:highlight>
                  <a:srgbClr val="FFFF00"/>
                </a:highlight>
              </a:rPr>
              <a:t>interface is used with to create a </a:t>
            </a:r>
            <a:r>
              <a:rPr lang="en" sz="1200" b="1" i="1" dirty="0">
                <a:solidFill>
                  <a:srgbClr val="FF0000"/>
                </a:solidFill>
                <a:highlight>
                  <a:srgbClr val="FFFF00"/>
                </a:highlight>
              </a:rPr>
              <a:t>mutually exclusive lock</a:t>
            </a:r>
            <a:r>
              <a:rPr lang="en" sz="1200" dirty="0">
                <a:highlight>
                  <a:srgbClr val="FFFF00"/>
                </a:highlight>
              </a:rPr>
              <a:t>.</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Use </a:t>
            </a:r>
            <a:r>
              <a:rPr lang="en" sz="1000" dirty="0">
                <a:solidFill>
                  <a:srgbClr val="FF0000"/>
                </a:solidFill>
                <a:latin typeface="Courier New"/>
                <a:ea typeface="Courier New"/>
                <a:cs typeface="Courier New"/>
                <a:sym typeface="Courier New"/>
              </a:rPr>
              <a:t>Lock.lock()</a:t>
            </a:r>
            <a:r>
              <a:rPr lang="en" sz="1000" dirty="0"/>
              <a:t> to activate the lock</a:t>
            </a:r>
            <a:endParaRPr sz="1000" dirty="0"/>
          </a:p>
          <a:p>
            <a:pPr marL="914400" lvl="1" indent="-292100" algn="l" rtl="0">
              <a:lnSpc>
                <a:spcPct val="100000"/>
              </a:lnSpc>
              <a:spcBef>
                <a:spcPts val="0"/>
              </a:spcBef>
              <a:spcAft>
                <a:spcPts val="0"/>
              </a:spcAft>
              <a:buSzPts val="1000"/>
              <a:buChar char="○"/>
            </a:pPr>
            <a:r>
              <a:rPr lang="en" sz="1000" dirty="0"/>
              <a:t>Use </a:t>
            </a:r>
            <a:r>
              <a:rPr lang="en" sz="1000" dirty="0">
                <a:solidFill>
                  <a:srgbClr val="FF0000"/>
                </a:solidFill>
                <a:latin typeface="Courier New"/>
                <a:ea typeface="Courier New"/>
                <a:cs typeface="Courier New"/>
                <a:sym typeface="Courier New"/>
              </a:rPr>
              <a:t>Lock.unlock()</a:t>
            </a:r>
            <a:r>
              <a:rPr lang="en" sz="1000" dirty="0"/>
              <a:t> to deactivate the lock</a:t>
            </a:r>
            <a:endParaRPr sz="1000" dirty="0"/>
          </a:p>
          <a:p>
            <a:pPr marL="457200" lvl="0" indent="0" algn="l" rtl="0">
              <a:lnSpc>
                <a:spcPct val="100000"/>
              </a:lnSpc>
              <a:spcBef>
                <a:spcPts val="0"/>
              </a:spcBef>
              <a:spcAft>
                <a:spcPts val="0"/>
              </a:spcAft>
              <a:buNone/>
            </a:pPr>
            <a:endParaRPr sz="1200" dirty="0"/>
          </a:p>
          <a:p>
            <a:pPr marL="457200" lvl="0" indent="-304800" algn="l" rtl="0">
              <a:lnSpc>
                <a:spcPct val="100000"/>
              </a:lnSpc>
              <a:spcBef>
                <a:spcPts val="0"/>
              </a:spcBef>
              <a:spcAft>
                <a:spcPts val="0"/>
              </a:spcAft>
              <a:buSzPts val="1200"/>
              <a:buChar char="●"/>
            </a:pPr>
            <a:r>
              <a:rPr lang="en" sz="1200" dirty="0">
                <a:highlight>
                  <a:srgbClr val="FFFF00"/>
                </a:highlight>
              </a:rPr>
              <a:t>If a second thread tries to access </a:t>
            </a:r>
            <a:r>
              <a:rPr lang="en" sz="1200" b="1" i="1" dirty="0">
                <a:solidFill>
                  <a:srgbClr val="FF0000"/>
                </a:solidFill>
                <a:highlight>
                  <a:srgbClr val="FFFF00"/>
                </a:highlight>
              </a:rPr>
              <a:t>a locked lock</a:t>
            </a:r>
            <a:r>
              <a:rPr lang="en" sz="1200" dirty="0">
                <a:highlight>
                  <a:srgbClr val="FFFF00"/>
                </a:highlight>
              </a:rPr>
              <a:t> the thread will </a:t>
            </a:r>
            <a:r>
              <a:rPr lang="en" sz="1200" b="1" i="1" dirty="0">
                <a:solidFill>
                  <a:srgbClr val="FF0000"/>
                </a:solidFill>
                <a:highlight>
                  <a:srgbClr val="FFFF00"/>
                </a:highlight>
              </a:rPr>
              <a:t>block</a:t>
            </a:r>
            <a:r>
              <a:rPr lang="en" sz="1200" dirty="0">
                <a:highlight>
                  <a:srgbClr val="FFFF00"/>
                </a:highlight>
              </a:rPr>
              <a:t>.</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The thread will transition into a new state: </a:t>
            </a:r>
            <a:r>
              <a:rPr lang="en" sz="1000" b="1" i="1" dirty="0">
                <a:solidFill>
                  <a:srgbClr val="FF0000"/>
                </a:solidFill>
                <a:highlight>
                  <a:srgbClr val="FFFF00"/>
                </a:highlight>
              </a:rPr>
              <a:t>blocked</a:t>
            </a:r>
            <a:r>
              <a:rPr lang="en" sz="1000" dirty="0">
                <a:highlight>
                  <a:srgbClr val="FFFF00"/>
                </a:highlight>
              </a:rPr>
              <a:t>.</a:t>
            </a:r>
            <a:endParaRPr sz="1000" dirty="0">
              <a:highlight>
                <a:srgbClr val="FFFF00"/>
              </a:highlight>
            </a:endParaRPr>
          </a:p>
          <a:p>
            <a:pPr marL="457200" lvl="0" indent="-304800" algn="l" rtl="0">
              <a:lnSpc>
                <a:spcPct val="100000"/>
              </a:lnSpc>
              <a:spcBef>
                <a:spcPts val="1000"/>
              </a:spcBef>
              <a:spcAft>
                <a:spcPts val="0"/>
              </a:spcAft>
              <a:buSzPts val="1200"/>
              <a:buChar char="●"/>
            </a:pPr>
            <a:r>
              <a:rPr lang="en" sz="1200" dirty="0"/>
              <a:t>When the first thread </a:t>
            </a:r>
            <a:r>
              <a:rPr lang="en" sz="1200" b="1" i="1" dirty="0">
                <a:solidFill>
                  <a:srgbClr val="FF0000"/>
                </a:solidFill>
                <a:highlight>
                  <a:srgbClr val="FFFF00"/>
                </a:highlight>
              </a:rPr>
              <a:t>exits</a:t>
            </a:r>
            <a:r>
              <a:rPr lang="en" sz="1200" dirty="0">
                <a:solidFill>
                  <a:srgbClr val="FF0000"/>
                </a:solidFill>
              </a:rPr>
              <a:t> </a:t>
            </a:r>
            <a:r>
              <a:rPr lang="en" sz="1200" dirty="0"/>
              <a:t>the critical region the lock should be </a:t>
            </a:r>
            <a:r>
              <a:rPr lang="en" sz="1200" b="1" i="1" dirty="0">
                <a:solidFill>
                  <a:srgbClr val="FF0000"/>
                </a:solidFill>
              </a:rPr>
              <a:t>released</a:t>
            </a:r>
            <a:r>
              <a:rPr lang="en" sz="1200" dirty="0"/>
              <a:t>.</a:t>
            </a:r>
            <a:endParaRPr sz="1200" dirty="0"/>
          </a:p>
          <a:p>
            <a:pPr marL="914400" lvl="1" indent="-292100" algn="l" rtl="0">
              <a:lnSpc>
                <a:spcPct val="100000"/>
              </a:lnSpc>
              <a:spcBef>
                <a:spcPts val="0"/>
              </a:spcBef>
              <a:spcAft>
                <a:spcPts val="0"/>
              </a:spcAft>
              <a:buSzPts val="1000"/>
              <a:buChar char="○"/>
            </a:pPr>
            <a:r>
              <a:rPr lang="en" sz="1000" dirty="0">
                <a:highlight>
                  <a:srgbClr val="FFFF00"/>
                </a:highlight>
              </a:rPr>
              <a:t>The</a:t>
            </a:r>
            <a:r>
              <a:rPr lang="en" sz="1000" dirty="0">
                <a:solidFill>
                  <a:srgbClr val="FF0000"/>
                </a:solidFill>
                <a:highlight>
                  <a:srgbClr val="FFFF00"/>
                </a:highlight>
              </a:rPr>
              <a:t> </a:t>
            </a:r>
            <a:r>
              <a:rPr lang="en" sz="1000" b="1" i="1" dirty="0">
                <a:solidFill>
                  <a:srgbClr val="FF0000"/>
                </a:solidFill>
                <a:highlight>
                  <a:srgbClr val="FFFF00"/>
                </a:highlight>
              </a:rPr>
              <a:t>thread scheduler</a:t>
            </a:r>
            <a:r>
              <a:rPr lang="en" sz="1000" dirty="0">
                <a:highlight>
                  <a:srgbClr val="FFFF00"/>
                </a:highlight>
              </a:rPr>
              <a:t> will then choose </a:t>
            </a:r>
            <a:r>
              <a:rPr lang="en" sz="1000" b="1" i="1" dirty="0">
                <a:solidFill>
                  <a:srgbClr val="FF0000"/>
                </a:solidFill>
                <a:highlight>
                  <a:srgbClr val="FFFF00"/>
                </a:highlight>
              </a:rPr>
              <a:t>one</a:t>
            </a:r>
            <a:r>
              <a:rPr lang="en" sz="1000" dirty="0">
                <a:solidFill>
                  <a:srgbClr val="FF0000"/>
                </a:solidFill>
                <a:highlight>
                  <a:srgbClr val="FFFF00"/>
                </a:highlight>
              </a:rPr>
              <a:t> </a:t>
            </a:r>
            <a:r>
              <a:rPr lang="en" sz="1000" dirty="0">
                <a:highlight>
                  <a:srgbClr val="FFFF00"/>
                </a:highlight>
              </a:rPr>
              <a:t>thread that is </a:t>
            </a:r>
            <a:r>
              <a:rPr lang="en" sz="1000" b="1" i="1" dirty="0">
                <a:solidFill>
                  <a:srgbClr val="FF0000"/>
                </a:solidFill>
                <a:highlight>
                  <a:srgbClr val="FFFF00"/>
                </a:highlight>
              </a:rPr>
              <a:t>blocked</a:t>
            </a:r>
            <a:r>
              <a:rPr lang="en" sz="1000" dirty="0">
                <a:solidFill>
                  <a:srgbClr val="FF0000"/>
                </a:solidFill>
                <a:highlight>
                  <a:srgbClr val="FFFF00"/>
                </a:highlight>
              </a:rPr>
              <a:t> </a:t>
            </a:r>
            <a:r>
              <a:rPr lang="en" sz="1000" dirty="0">
                <a:highlight>
                  <a:srgbClr val="FFFF00"/>
                </a:highlight>
              </a:rPr>
              <a:t>on the same lock.</a:t>
            </a:r>
            <a:endParaRPr sz="1000" dirty="0">
              <a:highlight>
                <a:srgbClr val="FFFF00"/>
              </a:highlight>
            </a:endParaRPr>
          </a:p>
          <a:p>
            <a:pPr marL="914400" lvl="1" indent="-292100" algn="l" rtl="0">
              <a:lnSpc>
                <a:spcPct val="100000"/>
              </a:lnSpc>
              <a:spcBef>
                <a:spcPts val="0"/>
              </a:spcBef>
              <a:spcAft>
                <a:spcPts val="0"/>
              </a:spcAft>
              <a:buSzPts val="1000"/>
              <a:buChar char="○"/>
            </a:pPr>
            <a:r>
              <a:rPr lang="en" sz="1000" dirty="0"/>
              <a:t>That thread will transition to the </a:t>
            </a:r>
            <a:r>
              <a:rPr lang="en" sz="1000" b="1" i="1" dirty="0">
                <a:solidFill>
                  <a:srgbClr val="FF0000"/>
                </a:solidFill>
                <a:highlight>
                  <a:srgbClr val="FFFF00"/>
                </a:highlight>
              </a:rPr>
              <a:t>runnable</a:t>
            </a:r>
            <a:r>
              <a:rPr lang="en" sz="1000" dirty="0">
                <a:solidFill>
                  <a:srgbClr val="FF0000"/>
                </a:solidFill>
                <a:highlight>
                  <a:srgbClr val="FFFF00"/>
                </a:highlight>
              </a:rPr>
              <a:t> </a:t>
            </a:r>
            <a:r>
              <a:rPr lang="en" sz="1000" dirty="0">
                <a:highlight>
                  <a:srgbClr val="FFFF00"/>
                </a:highlight>
              </a:rPr>
              <a:t>state.</a:t>
            </a:r>
            <a:endParaRPr sz="1000" dirty="0">
              <a:highlight>
                <a:srgbClr val="FFFF00"/>
              </a:highlight>
            </a:endParaRPr>
          </a:p>
        </p:txBody>
      </p:sp>
      <p:sp>
        <p:nvSpPr>
          <p:cNvPr id="373" name="Google Shape;373;p43"/>
          <p:cNvSpPr txBox="1">
            <a:spLocks noGrp="1"/>
          </p:cNvSpPr>
          <p:nvPr>
            <p:ph type="body" idx="3"/>
          </p:nvPr>
        </p:nvSpPr>
        <p:spPr>
          <a:xfrm>
            <a:off x="311725" y="3267438"/>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Once lock is </a:t>
            </a:r>
            <a:r>
              <a:rPr lang="en" b="1" i="1" dirty="0">
                <a:solidFill>
                  <a:srgbClr val="FF0000"/>
                </a:solidFill>
              </a:rPr>
              <a:t>locked</a:t>
            </a:r>
            <a:r>
              <a:rPr lang="en" dirty="0"/>
              <a:t>, if another thread tries to lock the same lock, the new thread transitions to the </a:t>
            </a:r>
            <a:r>
              <a:rPr lang="en" b="1" i="1" dirty="0">
                <a:solidFill>
                  <a:srgbClr val="FF0000"/>
                </a:solidFill>
              </a:rPr>
              <a:t>blocked</a:t>
            </a:r>
            <a:r>
              <a:rPr lang="en" dirty="0">
                <a:solidFill>
                  <a:srgbClr val="FF0000"/>
                </a:solidFill>
              </a:rPr>
              <a:t> </a:t>
            </a:r>
            <a:r>
              <a:rPr lang="en" dirty="0"/>
              <a:t>state.</a:t>
            </a:r>
            <a:endParaRPr dirty="0"/>
          </a:p>
        </p:txBody>
      </p:sp>
      <p:grpSp>
        <p:nvGrpSpPr>
          <p:cNvPr id="374" name="Google Shape;374;p43"/>
          <p:cNvGrpSpPr/>
          <p:nvPr/>
        </p:nvGrpSpPr>
        <p:grpSpPr>
          <a:xfrm>
            <a:off x="892614" y="643587"/>
            <a:ext cx="1273187" cy="2529234"/>
            <a:chOff x="6958414" y="1195313"/>
            <a:chExt cx="1486500" cy="2952988"/>
          </a:xfrm>
        </p:grpSpPr>
        <p:sp>
          <p:nvSpPr>
            <p:cNvPr id="375" name="Google Shape;375;p43"/>
            <p:cNvSpPr/>
            <p:nvPr/>
          </p:nvSpPr>
          <p:spPr>
            <a:xfrm>
              <a:off x="6958414" y="1969300"/>
              <a:ext cx="1486500" cy="1411200"/>
            </a:xfrm>
            <a:prstGeom prst="roundRect">
              <a:avLst>
                <a:gd name="adj" fmla="val 9698"/>
              </a:avLst>
            </a:prstGeom>
            <a:solidFill>
              <a:srgbClr val="38761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38761D"/>
                </a:solidFill>
              </a:endParaRPr>
            </a:p>
          </p:txBody>
        </p:sp>
        <p:sp>
          <p:nvSpPr>
            <p:cNvPr id="376" name="Google Shape;376;p43"/>
            <p:cNvSpPr/>
            <p:nvPr/>
          </p:nvSpPr>
          <p:spPr>
            <a:xfrm>
              <a:off x="7286250" y="1195313"/>
              <a:ext cx="831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377" name="Google Shape;377;p43"/>
            <p:cNvSpPr/>
            <p:nvPr/>
          </p:nvSpPr>
          <p:spPr>
            <a:xfrm>
              <a:off x="7029750" y="2049450"/>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RUNNABLE</a:t>
              </a:r>
              <a:endParaRPr sz="1300">
                <a:solidFill>
                  <a:srgbClr val="FFFFFF"/>
                </a:solidFill>
              </a:endParaRPr>
            </a:p>
          </p:txBody>
        </p:sp>
        <p:sp>
          <p:nvSpPr>
            <p:cNvPr id="378" name="Google Shape;378;p43"/>
            <p:cNvSpPr/>
            <p:nvPr/>
          </p:nvSpPr>
          <p:spPr>
            <a:xfrm>
              <a:off x="7029764" y="2824082"/>
              <a:ext cx="1344900" cy="4701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i="1">
                  <a:solidFill>
                    <a:srgbClr val="FFFFFF"/>
                  </a:solidFill>
                </a:rPr>
                <a:t>RUNNING </a:t>
              </a:r>
              <a:r>
                <a:rPr lang="en" sz="800" i="1">
                  <a:solidFill>
                    <a:srgbClr val="FFFFFF"/>
                  </a:solidFill>
                </a:rPr>
                <a:t>(locked code)</a:t>
              </a:r>
              <a:endParaRPr sz="800" i="1">
                <a:solidFill>
                  <a:srgbClr val="FFFFFF"/>
                </a:solidFill>
              </a:endParaRPr>
            </a:p>
          </p:txBody>
        </p:sp>
        <p:sp>
          <p:nvSpPr>
            <p:cNvPr id="379" name="Google Shape;379;p43"/>
            <p:cNvSpPr/>
            <p:nvPr/>
          </p:nvSpPr>
          <p:spPr>
            <a:xfrm>
              <a:off x="7057607" y="3757700"/>
              <a:ext cx="13020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380" name="Google Shape;380;p43"/>
            <p:cNvCxnSpPr>
              <a:stCxn id="376" idx="2"/>
              <a:endCxn id="377" idx="0"/>
            </p:cNvCxnSpPr>
            <p:nvPr/>
          </p:nvCxnSpPr>
          <p:spPr>
            <a:xfrm>
              <a:off x="7702200" y="1585913"/>
              <a:ext cx="0" cy="463500"/>
            </a:xfrm>
            <a:prstGeom prst="straightConnector1">
              <a:avLst/>
            </a:prstGeom>
            <a:noFill/>
            <a:ln w="9525" cap="flat" cmpd="sng">
              <a:solidFill>
                <a:srgbClr val="FFFFFF"/>
              </a:solidFill>
              <a:prstDash val="solid"/>
              <a:round/>
              <a:headEnd type="none" w="med" len="med"/>
              <a:tailEnd type="triangle" w="med" len="med"/>
            </a:ln>
          </p:spPr>
        </p:cxnSp>
        <p:cxnSp>
          <p:nvCxnSpPr>
            <p:cNvPr id="381" name="Google Shape;381;p43"/>
            <p:cNvCxnSpPr>
              <a:stCxn id="378" idx="2"/>
              <a:endCxn id="379" idx="0"/>
            </p:cNvCxnSpPr>
            <p:nvPr/>
          </p:nvCxnSpPr>
          <p:spPr>
            <a:xfrm>
              <a:off x="7702214" y="3294182"/>
              <a:ext cx="6300" cy="463500"/>
            </a:xfrm>
            <a:prstGeom prst="straightConnector1">
              <a:avLst/>
            </a:prstGeom>
            <a:noFill/>
            <a:ln w="9525" cap="flat" cmpd="sng">
              <a:solidFill>
                <a:srgbClr val="FFFFFF"/>
              </a:solidFill>
              <a:prstDash val="solid"/>
              <a:round/>
              <a:headEnd type="none" w="med" len="med"/>
              <a:tailEnd type="triangle" w="med" len="med"/>
            </a:ln>
          </p:spPr>
        </p:cxnSp>
        <p:cxnSp>
          <p:nvCxnSpPr>
            <p:cNvPr id="382" name="Google Shape;382;p43"/>
            <p:cNvCxnSpPr/>
            <p:nvPr/>
          </p:nvCxnSpPr>
          <p:spPr>
            <a:xfrm>
              <a:off x="7333050" y="2445150"/>
              <a:ext cx="0" cy="373500"/>
            </a:xfrm>
            <a:prstGeom prst="straightConnector1">
              <a:avLst/>
            </a:prstGeom>
            <a:noFill/>
            <a:ln w="9525" cap="flat" cmpd="sng">
              <a:solidFill>
                <a:srgbClr val="FFFFFF"/>
              </a:solidFill>
              <a:prstDash val="solid"/>
              <a:round/>
              <a:headEnd type="none" w="med" len="med"/>
              <a:tailEnd type="triangle" w="med" len="med"/>
            </a:ln>
          </p:spPr>
        </p:cxnSp>
        <p:cxnSp>
          <p:nvCxnSpPr>
            <p:cNvPr id="383" name="Google Shape;383;p43"/>
            <p:cNvCxnSpPr/>
            <p:nvPr/>
          </p:nvCxnSpPr>
          <p:spPr>
            <a:xfrm rot="10800000">
              <a:off x="8094066" y="2445004"/>
              <a:ext cx="0" cy="373500"/>
            </a:xfrm>
            <a:prstGeom prst="straightConnector1">
              <a:avLst/>
            </a:prstGeom>
            <a:noFill/>
            <a:ln w="9525" cap="flat" cmpd="sng">
              <a:solidFill>
                <a:srgbClr val="FFFFFF"/>
              </a:solidFill>
              <a:prstDash val="solid"/>
              <a:round/>
              <a:headEnd type="none" w="med" len="med"/>
              <a:tailEnd type="triangle" w="med" len="med"/>
            </a:ln>
          </p:spPr>
        </p:cxnSp>
      </p:grpSp>
      <p:grpSp>
        <p:nvGrpSpPr>
          <p:cNvPr id="384" name="Google Shape;384;p43"/>
          <p:cNvGrpSpPr/>
          <p:nvPr/>
        </p:nvGrpSpPr>
        <p:grpSpPr>
          <a:xfrm>
            <a:off x="2100486" y="1749613"/>
            <a:ext cx="1369672" cy="677334"/>
            <a:chOff x="2074250" y="2087300"/>
            <a:chExt cx="1599150" cy="790817"/>
          </a:xfrm>
        </p:grpSpPr>
        <p:sp>
          <p:nvSpPr>
            <p:cNvPr id="385" name="Google Shape;385;p43"/>
            <p:cNvSpPr/>
            <p:nvPr/>
          </p:nvSpPr>
          <p:spPr>
            <a:xfrm>
              <a:off x="2585300" y="2087300"/>
              <a:ext cx="10881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BLOCKED</a:t>
              </a:r>
              <a:endParaRPr sz="1100">
                <a:solidFill>
                  <a:srgbClr val="FFFFFF"/>
                </a:solidFill>
              </a:endParaRPr>
            </a:p>
          </p:txBody>
        </p:sp>
        <p:cxnSp>
          <p:nvCxnSpPr>
            <p:cNvPr id="386" name="Google Shape;386;p43"/>
            <p:cNvCxnSpPr>
              <a:endCxn id="385" idx="2"/>
            </p:cNvCxnSpPr>
            <p:nvPr/>
          </p:nvCxnSpPr>
          <p:spPr>
            <a:xfrm rot="10800000" flipH="1">
              <a:off x="2074250" y="2477900"/>
              <a:ext cx="1055100" cy="231600"/>
            </a:xfrm>
            <a:prstGeom prst="curvedConnector2">
              <a:avLst/>
            </a:prstGeom>
            <a:noFill/>
            <a:ln w="9525" cap="flat" cmpd="sng">
              <a:solidFill>
                <a:srgbClr val="FFFFFF"/>
              </a:solidFill>
              <a:prstDash val="solid"/>
              <a:round/>
              <a:headEnd type="none" w="med" len="med"/>
              <a:tailEnd type="triangle" w="med" len="med"/>
            </a:ln>
          </p:spPr>
        </p:cxnSp>
        <p:sp>
          <p:nvSpPr>
            <p:cNvPr id="387" name="Google Shape;387;p43"/>
            <p:cNvSpPr txBox="1"/>
            <p:nvPr/>
          </p:nvSpPr>
          <p:spPr>
            <a:xfrm>
              <a:off x="2463275" y="2682817"/>
              <a:ext cx="1073100" cy="19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FFFFFF"/>
                  </a:solidFill>
                  <a:latin typeface="Consolas"/>
                  <a:ea typeface="Consolas"/>
                  <a:cs typeface="Consolas"/>
                  <a:sym typeface="Consolas"/>
                </a:rPr>
                <a:t>lock unavailable</a:t>
              </a:r>
              <a:endParaRPr sz="800">
                <a:solidFill>
                  <a:srgbClr val="FFFFFF"/>
                </a:solidFill>
                <a:latin typeface="Consolas"/>
                <a:ea typeface="Consolas"/>
                <a:cs typeface="Consolas"/>
                <a:sym typeface="Consolas"/>
              </a:endParaRPr>
            </a:p>
          </p:txBody>
        </p:sp>
      </p:grpSp>
      <p:grpSp>
        <p:nvGrpSpPr>
          <p:cNvPr id="388" name="Google Shape;388;p43"/>
          <p:cNvGrpSpPr/>
          <p:nvPr/>
        </p:nvGrpSpPr>
        <p:grpSpPr>
          <a:xfrm>
            <a:off x="2100486" y="1305586"/>
            <a:ext cx="1229943" cy="444026"/>
            <a:chOff x="2074250" y="1568880"/>
            <a:chExt cx="1436011" cy="518420"/>
          </a:xfrm>
        </p:grpSpPr>
        <p:cxnSp>
          <p:nvCxnSpPr>
            <p:cNvPr id="389" name="Google Shape;389;p43"/>
            <p:cNvCxnSpPr>
              <a:stCxn id="385" idx="0"/>
            </p:cNvCxnSpPr>
            <p:nvPr/>
          </p:nvCxnSpPr>
          <p:spPr>
            <a:xfrm rot="5400000" flipH="1">
              <a:off x="2485850" y="1443800"/>
              <a:ext cx="231900" cy="1055100"/>
            </a:xfrm>
            <a:prstGeom prst="curvedConnector2">
              <a:avLst/>
            </a:prstGeom>
            <a:noFill/>
            <a:ln w="9525" cap="flat" cmpd="sng">
              <a:solidFill>
                <a:srgbClr val="FFFFFF"/>
              </a:solidFill>
              <a:prstDash val="solid"/>
              <a:round/>
              <a:headEnd type="none" w="med" len="med"/>
              <a:tailEnd type="triangle" w="med" len="med"/>
            </a:ln>
          </p:spPr>
        </p:cxnSp>
        <p:sp>
          <p:nvSpPr>
            <p:cNvPr id="390" name="Google Shape;390;p43"/>
            <p:cNvSpPr txBox="1"/>
            <p:nvPr/>
          </p:nvSpPr>
          <p:spPr>
            <a:xfrm>
              <a:off x="2437161" y="1568880"/>
              <a:ext cx="1073100" cy="23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FFFFFF"/>
                  </a:solidFill>
                  <a:latin typeface="Consolas"/>
                  <a:ea typeface="Consolas"/>
                  <a:cs typeface="Consolas"/>
                  <a:sym typeface="Consolas"/>
                </a:rPr>
                <a:t>lock obtained</a:t>
              </a:r>
              <a:endParaRPr sz="800">
                <a:solidFill>
                  <a:srgbClr val="FFFFFF"/>
                </a:solidFill>
                <a:latin typeface="Consolas"/>
                <a:ea typeface="Consolas"/>
                <a:cs typeface="Consolas"/>
                <a:sym typeface="Consolas"/>
              </a:endParaRPr>
            </a:p>
          </p:txBody>
        </p:sp>
      </p:grpSp>
      <p:sp>
        <p:nvSpPr>
          <p:cNvPr id="391" name="Google Shape;391;p43"/>
          <p:cNvSpPr txBox="1">
            <a:spLocks noGrp="1"/>
          </p:cNvSpPr>
          <p:nvPr>
            <p:ph type="body" idx="3"/>
          </p:nvPr>
        </p:nvSpPr>
        <p:spPr>
          <a:xfrm>
            <a:off x="311725" y="4285476"/>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If and when the lock is </a:t>
            </a:r>
            <a:r>
              <a:rPr lang="en" b="1" i="1" dirty="0">
                <a:solidFill>
                  <a:srgbClr val="FF0000"/>
                </a:solidFill>
              </a:rPr>
              <a:t>unlocked</a:t>
            </a:r>
            <a:r>
              <a:rPr lang="en" dirty="0"/>
              <a:t>, the thread scheduler chooses </a:t>
            </a:r>
            <a:r>
              <a:rPr lang="en" b="1" i="1" dirty="0">
                <a:solidFill>
                  <a:srgbClr val="FF0000"/>
                </a:solidFill>
              </a:rPr>
              <a:t>one</a:t>
            </a:r>
            <a:r>
              <a:rPr lang="en" dirty="0">
                <a:solidFill>
                  <a:srgbClr val="FF0000"/>
                </a:solidFill>
              </a:rPr>
              <a:t> </a:t>
            </a:r>
            <a:r>
              <a:rPr lang="en" dirty="0"/>
              <a:t>blocked thread to transition to the </a:t>
            </a:r>
            <a:r>
              <a:rPr lang="en" b="1" i="1" dirty="0">
                <a:solidFill>
                  <a:srgbClr val="FF0000"/>
                </a:solidFill>
              </a:rPr>
              <a:t>runnable</a:t>
            </a:r>
            <a:r>
              <a:rPr lang="en" dirty="0">
                <a:solidFill>
                  <a:srgbClr val="FF0000"/>
                </a:solidFill>
              </a:rPr>
              <a:t> </a:t>
            </a:r>
            <a:r>
              <a:rPr lang="en" dirty="0"/>
              <a:t>state.</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7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7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7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7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7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72">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72">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73"/>
                                        </p:tgtEl>
                                        <p:attrNameLst>
                                          <p:attrName>style.visibility</p:attrName>
                                        </p:attrNameLst>
                                      </p:cBhvr>
                                      <p:to>
                                        <p:strVal val="visible"/>
                                      </p:to>
                                    </p:set>
                                    <p:animEffect transition="in" filter="fade">
                                      <p:cBhvr>
                                        <p:cTn id="63" dur="1000"/>
                                        <p:tgtEl>
                                          <p:spTgt spid="373"/>
                                        </p:tgtEl>
                                      </p:cBhvr>
                                    </p:animEffect>
                                  </p:childTnLst>
                                </p:cTn>
                              </p:par>
                              <p:par>
                                <p:cTn id="64" presetID="10" presetClass="entr" presetSubtype="0" fill="hold" nodeType="withEffect">
                                  <p:stCondLst>
                                    <p:cond delay="0"/>
                                  </p:stCondLst>
                                  <p:childTnLst>
                                    <p:set>
                                      <p:cBhvr>
                                        <p:cTn id="65" dur="1" fill="hold">
                                          <p:stCondLst>
                                            <p:cond delay="0"/>
                                          </p:stCondLst>
                                        </p:cTn>
                                        <p:tgtEl>
                                          <p:spTgt spid="374"/>
                                        </p:tgtEl>
                                        <p:attrNameLst>
                                          <p:attrName>style.visibility</p:attrName>
                                        </p:attrNameLst>
                                      </p:cBhvr>
                                      <p:to>
                                        <p:strVal val="visible"/>
                                      </p:to>
                                    </p:set>
                                    <p:animEffect transition="in" filter="fade">
                                      <p:cBhvr>
                                        <p:cTn id="66" dur="1000"/>
                                        <p:tgtEl>
                                          <p:spTgt spid="374"/>
                                        </p:tgtEl>
                                      </p:cBhvr>
                                    </p:animEffect>
                                  </p:childTnLst>
                                </p:cTn>
                              </p:par>
                              <p:par>
                                <p:cTn id="67" presetID="10" presetClass="entr" presetSubtype="0" fill="hold" nodeType="withEffect">
                                  <p:stCondLst>
                                    <p:cond delay="0"/>
                                  </p:stCondLst>
                                  <p:childTnLst>
                                    <p:set>
                                      <p:cBhvr>
                                        <p:cTn id="68" dur="1" fill="hold">
                                          <p:stCondLst>
                                            <p:cond delay="0"/>
                                          </p:stCondLst>
                                        </p:cTn>
                                        <p:tgtEl>
                                          <p:spTgt spid="384"/>
                                        </p:tgtEl>
                                        <p:attrNameLst>
                                          <p:attrName>style.visibility</p:attrName>
                                        </p:attrNameLst>
                                      </p:cBhvr>
                                      <p:to>
                                        <p:strVal val="visible"/>
                                      </p:to>
                                    </p:set>
                                    <p:animEffect transition="in" filter="fade">
                                      <p:cBhvr>
                                        <p:cTn id="69" dur="1000"/>
                                        <p:tgtEl>
                                          <p:spTgt spid="38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391"/>
                                        </p:tgtEl>
                                        <p:attrNameLst>
                                          <p:attrName>style.visibility</p:attrName>
                                        </p:attrNameLst>
                                      </p:cBhvr>
                                      <p:to>
                                        <p:strVal val="visible"/>
                                      </p:to>
                                    </p:set>
                                    <p:animEffect transition="in" filter="fade">
                                      <p:cBhvr>
                                        <p:cTn id="74" dur="1000"/>
                                        <p:tgtEl>
                                          <p:spTgt spid="391"/>
                                        </p:tgtEl>
                                      </p:cBhvr>
                                    </p:animEffect>
                                  </p:childTnLst>
                                </p:cTn>
                              </p:par>
                            </p:childTnLst>
                          </p:cTn>
                        </p:par>
                        <p:par>
                          <p:cTn id="75" fill="hold">
                            <p:stCondLst>
                              <p:cond delay="1000"/>
                            </p:stCondLst>
                            <p:childTnLst>
                              <p:par>
                                <p:cTn id="76" presetID="10" presetClass="entr" presetSubtype="0" fill="hold" nodeType="afterEffect">
                                  <p:stCondLst>
                                    <p:cond delay="0"/>
                                  </p:stCondLst>
                                  <p:childTnLst>
                                    <p:set>
                                      <p:cBhvr>
                                        <p:cTn id="77" dur="1" fill="hold">
                                          <p:stCondLst>
                                            <p:cond delay="0"/>
                                          </p:stCondLst>
                                        </p:cTn>
                                        <p:tgtEl>
                                          <p:spTgt spid="388"/>
                                        </p:tgtEl>
                                        <p:attrNameLst>
                                          <p:attrName>style.visibility</p:attrName>
                                        </p:attrNameLst>
                                      </p:cBhvr>
                                      <p:to>
                                        <p:strVal val="visible"/>
                                      </p:to>
                                    </p:set>
                                    <p:animEffect transition="in" filter="fade">
                                      <p:cBhvr>
                                        <p:cTn id="78" dur="1000"/>
                                        <p:tgtEl>
                                          <p:spTgt spid="3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44"/>
          <p:cNvSpPr txBox="1">
            <a:spLocks noGrp="1"/>
          </p:cNvSpPr>
          <p:nvPr>
            <p:ph type="title"/>
          </p:nvPr>
        </p:nvSpPr>
        <p:spPr>
          <a:xfrm>
            <a:off x="311725" y="500925"/>
            <a:ext cx="8520600" cy="623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 Illustrated Example</a:t>
            </a:r>
            <a:endParaRPr/>
          </a:p>
          <a:p>
            <a:pPr marL="0" lvl="0" indent="0" algn="l" rtl="0">
              <a:spcBef>
                <a:spcPts val="0"/>
              </a:spcBef>
              <a:spcAft>
                <a:spcPts val="0"/>
              </a:spcAft>
              <a:buNone/>
            </a:pPr>
            <a:r>
              <a:rPr lang="en" sz="1800" i="1"/>
              <a:t>A Story in 3 Parts</a:t>
            </a:r>
            <a:endParaRPr sz="1800" i="1"/>
          </a:p>
        </p:txBody>
      </p:sp>
      <p:sp>
        <p:nvSpPr>
          <p:cNvPr id="397" name="Google Shape;397;p4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pic>
        <p:nvPicPr>
          <p:cNvPr id="398" name="Google Shape;398;p44"/>
          <p:cNvPicPr preferRelativeResize="0"/>
          <p:nvPr/>
        </p:nvPicPr>
        <p:blipFill>
          <a:blip r:embed="rId3">
            <a:alphaModFix/>
          </a:blip>
          <a:stretch>
            <a:fillRect/>
          </a:stretch>
        </p:blipFill>
        <p:spPr>
          <a:xfrm>
            <a:off x="3820875" y="2061775"/>
            <a:ext cx="1157175" cy="2259050"/>
          </a:xfrm>
          <a:prstGeom prst="rect">
            <a:avLst/>
          </a:prstGeom>
          <a:noFill/>
          <a:ln>
            <a:noFill/>
          </a:ln>
        </p:spPr>
      </p:pic>
      <p:sp>
        <p:nvSpPr>
          <p:cNvPr id="399" name="Google Shape;399;p44"/>
          <p:cNvSpPr txBox="1"/>
          <p:nvPr/>
        </p:nvSpPr>
        <p:spPr>
          <a:xfrm>
            <a:off x="172575" y="1488150"/>
            <a:ext cx="290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Think of a </a:t>
            </a:r>
            <a:r>
              <a:rPr lang="en" sz="1200" b="1" i="1">
                <a:solidFill>
                  <a:srgbClr val="FF0000"/>
                </a:solidFill>
              </a:rPr>
              <a:t>shared resource</a:t>
            </a:r>
            <a:r>
              <a:rPr lang="en" sz="1200"/>
              <a:t> as a portable toilet at a concert or festival.</a:t>
            </a:r>
            <a:endParaRPr sz="1200"/>
          </a:p>
        </p:txBody>
      </p:sp>
      <p:sp>
        <p:nvSpPr>
          <p:cNvPr id="400" name="Google Shape;400;p44"/>
          <p:cNvSpPr txBox="1"/>
          <p:nvPr/>
        </p:nvSpPr>
        <p:spPr>
          <a:xfrm>
            <a:off x="172575" y="2117041"/>
            <a:ext cx="2900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i="1"/>
              <a:t>(yes, really)</a:t>
            </a:r>
            <a:endParaRPr sz="1200" i="1"/>
          </a:p>
        </p:txBody>
      </p:sp>
      <p:sp>
        <p:nvSpPr>
          <p:cNvPr id="401" name="Google Shape;401;p44"/>
          <p:cNvSpPr txBox="1"/>
          <p:nvPr/>
        </p:nvSpPr>
        <p:spPr>
          <a:xfrm>
            <a:off x="172575" y="2574243"/>
            <a:ext cx="290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If there is only ever </a:t>
            </a:r>
            <a:r>
              <a:rPr lang="en" sz="1200" b="1" i="1">
                <a:solidFill>
                  <a:srgbClr val="FF0000"/>
                </a:solidFill>
              </a:rPr>
              <a:t>one person</a:t>
            </a:r>
            <a:r>
              <a:rPr lang="en" sz="1200"/>
              <a:t> that needs to go to the bathroom at any one time, there will not be any </a:t>
            </a:r>
            <a:r>
              <a:rPr lang="en" sz="1200" b="1" i="1">
                <a:solidFill>
                  <a:srgbClr val="FF0000"/>
                </a:solidFill>
              </a:rPr>
              <a:t>conflicts </a:t>
            </a:r>
            <a:r>
              <a:rPr lang="en" sz="1200"/>
              <a:t>and we don't need to do anything special.</a:t>
            </a:r>
            <a:endParaRPr sz="1200"/>
          </a:p>
        </p:txBody>
      </p:sp>
      <p:pic>
        <p:nvPicPr>
          <p:cNvPr id="402" name="Google Shape;402;p44"/>
          <p:cNvPicPr preferRelativeResize="0"/>
          <p:nvPr/>
        </p:nvPicPr>
        <p:blipFill>
          <a:blip r:embed="rId4">
            <a:alphaModFix/>
          </a:blip>
          <a:stretch>
            <a:fillRect/>
          </a:stretch>
        </p:blipFill>
        <p:spPr>
          <a:xfrm>
            <a:off x="3401379" y="2225396"/>
            <a:ext cx="733425" cy="2121425"/>
          </a:xfrm>
          <a:prstGeom prst="rect">
            <a:avLst/>
          </a:prstGeom>
          <a:noFill/>
          <a:ln>
            <a:noFill/>
          </a:ln>
        </p:spPr>
      </p:pic>
      <p:sp>
        <p:nvSpPr>
          <p:cNvPr id="403" name="Google Shape;403;p44"/>
          <p:cNvSpPr txBox="1"/>
          <p:nvPr/>
        </p:nvSpPr>
        <p:spPr>
          <a:xfrm>
            <a:off x="5726264" y="2128958"/>
            <a:ext cx="2900100" cy="1431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1</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class</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Potty</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2</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int</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capacity</a:t>
            </a:r>
            <a:r>
              <a:rPr lang="en" sz="900">
                <a:latin typeface="Consolas"/>
                <a:ea typeface="Consolas"/>
                <a:cs typeface="Consolas"/>
                <a:sym typeface="Consolas"/>
              </a:rPr>
              <a:t> = </a:t>
            </a:r>
            <a:r>
              <a:rPr lang="en" sz="900">
                <a:solidFill>
                  <a:srgbClr val="098658"/>
                </a:solidFill>
                <a:latin typeface="Consolas"/>
                <a:ea typeface="Consolas"/>
                <a:cs typeface="Consolas"/>
                <a:sym typeface="Consolas"/>
              </a:rPr>
              <a:t>100</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3</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private</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double</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messLevel</a:t>
            </a:r>
            <a:r>
              <a:rPr lang="en" sz="900">
                <a:latin typeface="Consolas"/>
                <a:ea typeface="Consolas"/>
                <a:cs typeface="Consolas"/>
                <a:sym typeface="Consolas"/>
              </a:rPr>
              <a:t> = </a:t>
            </a:r>
            <a:r>
              <a:rPr lang="en" sz="900">
                <a:solidFill>
                  <a:srgbClr val="098658"/>
                </a:solidFill>
                <a:latin typeface="Consolas"/>
                <a:ea typeface="Consolas"/>
                <a:cs typeface="Consolas"/>
                <a:sym typeface="Consolas"/>
              </a:rPr>
              <a:t>0</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4</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5</a:t>
            </a:r>
            <a:r>
              <a:rPr lang="en" sz="900">
                <a:latin typeface="Consolas"/>
                <a:ea typeface="Consolas"/>
                <a:cs typeface="Consolas"/>
                <a:sym typeface="Consolas"/>
              </a:rPr>
              <a:t>     </a:t>
            </a:r>
            <a:r>
              <a:rPr lang="en" sz="900">
                <a:solidFill>
                  <a:srgbClr val="0000FF"/>
                </a:solidFill>
                <a:latin typeface="Consolas"/>
                <a:ea typeface="Consolas"/>
                <a:cs typeface="Consolas"/>
                <a:sym typeface="Consolas"/>
              </a:rPr>
              <a:t>public</a:t>
            </a:r>
            <a:r>
              <a:rPr lang="en" sz="900">
                <a:latin typeface="Consolas"/>
                <a:ea typeface="Consolas"/>
                <a:cs typeface="Consolas"/>
                <a:sym typeface="Consolas"/>
              </a:rPr>
              <a:t> </a:t>
            </a:r>
            <a:r>
              <a:rPr lang="en" sz="900">
                <a:solidFill>
                  <a:srgbClr val="267F99"/>
                </a:solidFill>
                <a:latin typeface="Consolas"/>
                <a:ea typeface="Consolas"/>
                <a:cs typeface="Consolas"/>
                <a:sym typeface="Consolas"/>
              </a:rPr>
              <a:t>void</a:t>
            </a:r>
            <a:r>
              <a:rPr lang="en" sz="900">
                <a:latin typeface="Consolas"/>
                <a:ea typeface="Consolas"/>
                <a:cs typeface="Consolas"/>
                <a:sym typeface="Consolas"/>
              </a:rPr>
              <a:t> </a:t>
            </a:r>
            <a:r>
              <a:rPr lang="en" sz="900">
                <a:solidFill>
                  <a:srgbClr val="795E26"/>
                </a:solidFill>
                <a:latin typeface="Consolas"/>
                <a:ea typeface="Consolas"/>
                <a:cs typeface="Consolas"/>
                <a:sym typeface="Consolas"/>
              </a:rPr>
              <a:t>use</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6</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capacity</a:t>
            </a:r>
            <a:r>
              <a:rPr lang="en" sz="900">
                <a:latin typeface="Consolas"/>
                <a:ea typeface="Consolas"/>
                <a:cs typeface="Consolas"/>
                <a:sym typeface="Consolas"/>
              </a:rPr>
              <a:t> -= </a:t>
            </a:r>
            <a:r>
              <a:rPr lang="en" sz="900">
                <a:solidFill>
                  <a:srgbClr val="098658"/>
                </a:solidFill>
                <a:latin typeface="Consolas"/>
                <a:ea typeface="Consolas"/>
                <a:cs typeface="Consolas"/>
                <a:sym typeface="Consolas"/>
              </a:rPr>
              <a:t>1</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7</a:t>
            </a:r>
            <a:r>
              <a:rPr lang="en" sz="900">
                <a:latin typeface="Consolas"/>
                <a:ea typeface="Consolas"/>
                <a:cs typeface="Consolas"/>
                <a:sym typeface="Consolas"/>
              </a:rPr>
              <a:t>        </a:t>
            </a:r>
            <a:r>
              <a:rPr lang="en" sz="900">
                <a:solidFill>
                  <a:srgbClr val="001080"/>
                </a:solidFill>
                <a:latin typeface="Consolas"/>
                <a:ea typeface="Consolas"/>
                <a:cs typeface="Consolas"/>
                <a:sym typeface="Consolas"/>
              </a:rPr>
              <a:t>messLevel</a:t>
            </a:r>
            <a:r>
              <a:rPr lang="en" sz="900">
                <a:latin typeface="Consolas"/>
                <a:ea typeface="Consolas"/>
                <a:cs typeface="Consolas"/>
                <a:sym typeface="Consolas"/>
              </a:rPr>
              <a:t> += </a:t>
            </a:r>
            <a:r>
              <a:rPr lang="en" sz="900">
                <a:solidFill>
                  <a:srgbClr val="098658"/>
                </a:solidFill>
                <a:latin typeface="Consolas"/>
                <a:ea typeface="Consolas"/>
                <a:cs typeface="Consolas"/>
                <a:sym typeface="Consolas"/>
              </a:rPr>
              <a:t>0.10</a:t>
            </a:r>
            <a:r>
              <a:rPr lang="en" sz="900">
                <a:latin typeface="Consolas"/>
                <a:ea typeface="Consolas"/>
                <a:cs typeface="Consolas"/>
                <a:sym typeface="Consolas"/>
              </a:rPr>
              <a:t>;</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8</a:t>
            </a:r>
            <a:r>
              <a:rPr lang="en" sz="900">
                <a:latin typeface="Consolas"/>
                <a:ea typeface="Consolas"/>
                <a:cs typeface="Consolas"/>
                <a:sym typeface="Consolas"/>
              </a:rPr>
              <a:t>      }</a:t>
            </a:r>
            <a:endParaRPr sz="900">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098658"/>
                </a:solidFill>
                <a:latin typeface="Consolas"/>
                <a:ea typeface="Consolas"/>
                <a:cs typeface="Consolas"/>
                <a:sym typeface="Consolas"/>
              </a:rPr>
              <a:t>9</a:t>
            </a:r>
            <a:r>
              <a:rPr lang="en" sz="900">
                <a:latin typeface="Consolas"/>
                <a:ea typeface="Consolas"/>
                <a:cs typeface="Consolas"/>
                <a:sym typeface="Consolas"/>
              </a:rPr>
              <a:t>  }  </a:t>
            </a:r>
            <a:endParaRPr sz="900">
              <a:solidFill>
                <a:srgbClr val="999999"/>
              </a:solidFill>
              <a:latin typeface="Consolas"/>
              <a:ea typeface="Consolas"/>
              <a:cs typeface="Consolas"/>
              <a:sym typeface="Consolas"/>
            </a:endParaRPr>
          </a:p>
        </p:txBody>
      </p:sp>
      <p:sp>
        <p:nvSpPr>
          <p:cNvPr id="404" name="Google Shape;404;p44"/>
          <p:cNvSpPr txBox="1"/>
          <p:nvPr/>
        </p:nvSpPr>
        <p:spPr>
          <a:xfrm>
            <a:off x="172575" y="3585547"/>
            <a:ext cx="290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But if</a:t>
            </a:r>
            <a:r>
              <a:rPr lang="en" sz="1200">
                <a:solidFill>
                  <a:srgbClr val="FF0000"/>
                </a:solidFill>
              </a:rPr>
              <a:t> </a:t>
            </a:r>
            <a:r>
              <a:rPr lang="en" sz="1200" b="1" i="1">
                <a:solidFill>
                  <a:srgbClr val="FF0000"/>
                </a:solidFill>
              </a:rPr>
              <a:t>two or more</a:t>
            </a:r>
            <a:r>
              <a:rPr lang="en" sz="1200" b="1" i="1"/>
              <a:t> </a:t>
            </a:r>
            <a:r>
              <a:rPr lang="en" sz="1200"/>
              <a:t>people try to use the facilities at the same time, there is nothing to stop them from just </a:t>
            </a:r>
            <a:r>
              <a:rPr lang="en" sz="1200" b="1" i="1">
                <a:solidFill>
                  <a:srgbClr val="FF0000"/>
                </a:solidFill>
              </a:rPr>
              <a:t>barging in</a:t>
            </a:r>
            <a:r>
              <a:rPr lang="en" sz="1200"/>
              <a:t> whenever they feel the need to go.</a:t>
            </a:r>
            <a:endParaRPr sz="1200"/>
          </a:p>
        </p:txBody>
      </p:sp>
      <p:sp>
        <p:nvSpPr>
          <p:cNvPr id="405" name="Google Shape;405;p44"/>
          <p:cNvSpPr txBox="1"/>
          <p:nvPr/>
        </p:nvSpPr>
        <p:spPr>
          <a:xfrm>
            <a:off x="5726251" y="1486956"/>
            <a:ext cx="290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In terms of code, not only is it going to get </a:t>
            </a:r>
            <a:r>
              <a:rPr lang="en" sz="1200" b="1" i="1">
                <a:solidFill>
                  <a:srgbClr val="FF0000"/>
                </a:solidFill>
              </a:rPr>
              <a:t>crowded</a:t>
            </a:r>
            <a:r>
              <a:rPr lang="en" sz="1200">
                <a:solidFill>
                  <a:srgbClr val="FF0000"/>
                </a:solidFill>
              </a:rPr>
              <a:t> </a:t>
            </a:r>
            <a:r>
              <a:rPr lang="en" sz="1200"/>
              <a:t>in the toilet...</a:t>
            </a:r>
            <a:endParaRPr sz="1200"/>
          </a:p>
        </p:txBody>
      </p:sp>
      <p:pic>
        <p:nvPicPr>
          <p:cNvPr id="406" name="Google Shape;406;p44"/>
          <p:cNvPicPr preferRelativeResize="0"/>
          <p:nvPr/>
        </p:nvPicPr>
        <p:blipFill>
          <a:blip r:embed="rId5">
            <a:alphaModFix/>
          </a:blip>
          <a:stretch>
            <a:fillRect/>
          </a:stretch>
        </p:blipFill>
        <p:spPr>
          <a:xfrm>
            <a:off x="4703708" y="2310722"/>
            <a:ext cx="733425" cy="2027939"/>
          </a:xfrm>
          <a:prstGeom prst="rect">
            <a:avLst/>
          </a:prstGeom>
          <a:noFill/>
          <a:ln>
            <a:noFill/>
          </a:ln>
        </p:spPr>
      </p:pic>
      <p:pic>
        <p:nvPicPr>
          <p:cNvPr id="407" name="Google Shape;407;p44"/>
          <p:cNvPicPr preferRelativeResize="0"/>
          <p:nvPr/>
        </p:nvPicPr>
        <p:blipFill>
          <a:blip r:embed="rId6">
            <a:alphaModFix/>
          </a:blip>
          <a:stretch>
            <a:fillRect/>
          </a:stretch>
        </p:blipFill>
        <p:spPr>
          <a:xfrm>
            <a:off x="4513237" y="3240049"/>
            <a:ext cx="465500" cy="1326189"/>
          </a:xfrm>
          <a:prstGeom prst="rect">
            <a:avLst/>
          </a:prstGeom>
          <a:noFill/>
          <a:ln>
            <a:noFill/>
          </a:ln>
        </p:spPr>
      </p:pic>
      <p:pic>
        <p:nvPicPr>
          <p:cNvPr id="408" name="Google Shape;408;p44"/>
          <p:cNvPicPr preferRelativeResize="0"/>
          <p:nvPr/>
        </p:nvPicPr>
        <p:blipFill>
          <a:blip r:embed="rId7">
            <a:alphaModFix/>
          </a:blip>
          <a:stretch>
            <a:fillRect/>
          </a:stretch>
        </p:blipFill>
        <p:spPr>
          <a:xfrm>
            <a:off x="3890648" y="3124536"/>
            <a:ext cx="411625" cy="1431601"/>
          </a:xfrm>
          <a:prstGeom prst="rect">
            <a:avLst/>
          </a:prstGeom>
          <a:noFill/>
          <a:ln>
            <a:noFill/>
          </a:ln>
        </p:spPr>
      </p:pic>
      <p:sp>
        <p:nvSpPr>
          <p:cNvPr id="409" name="Google Shape;409;p44"/>
          <p:cNvSpPr/>
          <p:nvPr/>
        </p:nvSpPr>
        <p:spPr>
          <a:xfrm>
            <a:off x="6143871" y="3137825"/>
            <a:ext cx="356300" cy="552925"/>
          </a:xfrm>
          <a:custGeom>
            <a:avLst/>
            <a:gdLst/>
            <a:ahLst/>
            <a:cxnLst/>
            <a:rect l="l" t="t" r="r" b="b"/>
            <a:pathLst>
              <a:path w="14252" h="22117" extrusionOk="0">
                <a:moveTo>
                  <a:pt x="14252" y="22117"/>
                </a:moveTo>
                <a:cubicBezTo>
                  <a:pt x="11895" y="19802"/>
                  <a:pt x="964" y="11915"/>
                  <a:pt x="107" y="8229"/>
                </a:cubicBezTo>
                <a:cubicBezTo>
                  <a:pt x="-750" y="4543"/>
                  <a:pt x="7609" y="1372"/>
                  <a:pt x="9109"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410" name="Google Shape;410;p44"/>
          <p:cNvSpPr/>
          <p:nvPr/>
        </p:nvSpPr>
        <p:spPr>
          <a:xfrm>
            <a:off x="5773650" y="3002800"/>
            <a:ext cx="572225" cy="681500"/>
          </a:xfrm>
          <a:custGeom>
            <a:avLst/>
            <a:gdLst/>
            <a:ahLst/>
            <a:cxnLst/>
            <a:rect l="l" t="t" r="r" b="b"/>
            <a:pathLst>
              <a:path w="22889" h="27260" extrusionOk="0">
                <a:moveTo>
                  <a:pt x="22889" y="27260"/>
                </a:moveTo>
                <a:cubicBezTo>
                  <a:pt x="19074" y="24603"/>
                  <a:pt x="0" y="15859"/>
                  <a:pt x="0" y="11316"/>
                </a:cubicBezTo>
                <a:cubicBezTo>
                  <a:pt x="0" y="6773"/>
                  <a:pt x="19074" y="1886"/>
                  <a:pt x="22889"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411" name="Google Shape;411;p44"/>
          <p:cNvSpPr txBox="1"/>
          <p:nvPr/>
        </p:nvSpPr>
        <p:spPr>
          <a:xfrm>
            <a:off x="5740898" y="3648470"/>
            <a:ext cx="290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...but the data may become corrupted if </a:t>
            </a:r>
            <a:r>
              <a:rPr lang="en" sz="1200" b="1" i="1">
                <a:solidFill>
                  <a:srgbClr val="FF0000"/>
                </a:solidFill>
              </a:rPr>
              <a:t>more than one</a:t>
            </a:r>
            <a:r>
              <a:rPr lang="en" sz="1200"/>
              <a:t> person (thread) tries to change the state at the </a:t>
            </a:r>
            <a:r>
              <a:rPr lang="en" sz="1200" b="1" i="1">
                <a:solidFill>
                  <a:srgbClr val="FF0000"/>
                </a:solidFill>
              </a:rPr>
              <a:t>same time</a:t>
            </a:r>
            <a:r>
              <a:rPr lang="en" sz="1200"/>
              <a:t>.</a:t>
            </a:r>
            <a:endParaRPr sz="1200"/>
          </a:p>
        </p:txBody>
      </p:sp>
      <p:sp>
        <p:nvSpPr>
          <p:cNvPr id="412" name="Google Shape;412;p44"/>
          <p:cNvSpPr/>
          <p:nvPr/>
        </p:nvSpPr>
        <p:spPr>
          <a:xfrm>
            <a:off x="3664825" y="1485475"/>
            <a:ext cx="1227900" cy="457200"/>
          </a:xfrm>
          <a:prstGeom prst="wedgeRoundRectCallout">
            <a:avLst>
              <a:gd name="adj1" fmla="val 11261"/>
              <a:gd name="adj2" fmla="val 9343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i="1">
                <a:solidFill>
                  <a:srgbClr val="FF0000"/>
                </a:solidFill>
              </a:rPr>
              <a:t>OCCUPIED!</a:t>
            </a:r>
            <a:endParaRPr i="1">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9"/>
                                        </p:tgtEl>
                                        <p:attrNameLst>
                                          <p:attrName>style.visibility</p:attrName>
                                        </p:attrNameLst>
                                      </p:cBhvr>
                                      <p:to>
                                        <p:strVal val="visible"/>
                                      </p:to>
                                    </p:set>
                                    <p:animEffect transition="in" filter="fade">
                                      <p:cBhvr>
                                        <p:cTn id="7" dur="1000"/>
                                        <p:tgtEl>
                                          <p:spTgt spid="399"/>
                                        </p:tgtEl>
                                      </p:cBhvr>
                                    </p:animEffect>
                                  </p:childTnLst>
                                </p:cTn>
                              </p:par>
                              <p:par>
                                <p:cTn id="8" presetID="10" presetClass="entr" presetSubtype="0" fill="hold" nodeType="withEffect">
                                  <p:stCondLst>
                                    <p:cond delay="0"/>
                                  </p:stCondLst>
                                  <p:childTnLst>
                                    <p:set>
                                      <p:cBhvr>
                                        <p:cTn id="9" dur="1" fill="hold">
                                          <p:stCondLst>
                                            <p:cond delay="0"/>
                                          </p:stCondLst>
                                        </p:cTn>
                                        <p:tgtEl>
                                          <p:spTgt spid="398"/>
                                        </p:tgtEl>
                                        <p:attrNameLst>
                                          <p:attrName>style.visibility</p:attrName>
                                        </p:attrNameLst>
                                      </p:cBhvr>
                                      <p:to>
                                        <p:strVal val="visible"/>
                                      </p:to>
                                    </p:set>
                                    <p:animEffect transition="in" filter="fade">
                                      <p:cBhvr>
                                        <p:cTn id="10" dur="1000"/>
                                        <p:tgtEl>
                                          <p:spTgt spid="39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00"/>
                                        </p:tgtEl>
                                        <p:attrNameLst>
                                          <p:attrName>style.visibility</p:attrName>
                                        </p:attrNameLst>
                                      </p:cBhvr>
                                      <p:to>
                                        <p:strVal val="visible"/>
                                      </p:to>
                                    </p:set>
                                    <p:animEffect transition="in" filter="fade">
                                      <p:cBhvr>
                                        <p:cTn id="15" dur="1000"/>
                                        <p:tgtEl>
                                          <p:spTgt spid="40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01"/>
                                        </p:tgtEl>
                                        <p:attrNameLst>
                                          <p:attrName>style.visibility</p:attrName>
                                        </p:attrNameLst>
                                      </p:cBhvr>
                                      <p:to>
                                        <p:strVal val="visible"/>
                                      </p:to>
                                    </p:set>
                                    <p:animEffect transition="in" filter="fade">
                                      <p:cBhvr>
                                        <p:cTn id="20" dur="1000"/>
                                        <p:tgtEl>
                                          <p:spTgt spid="401"/>
                                        </p:tgtEl>
                                      </p:cBhvr>
                                    </p:animEffect>
                                  </p:childTnLst>
                                </p:cTn>
                              </p:par>
                            </p:childTnLst>
                          </p:cTn>
                        </p:par>
                        <p:par>
                          <p:cTn id="21" fill="hold">
                            <p:stCondLst>
                              <p:cond delay="1000"/>
                            </p:stCondLst>
                            <p:childTnLst>
                              <p:par>
                                <p:cTn id="22" presetID="2" presetClass="entr" presetSubtype="8" fill="hold" nodeType="afterEffect">
                                  <p:stCondLst>
                                    <p:cond delay="0"/>
                                  </p:stCondLst>
                                  <p:childTnLst>
                                    <p:set>
                                      <p:cBhvr>
                                        <p:cTn id="23" dur="1" fill="hold">
                                          <p:stCondLst>
                                            <p:cond delay="0"/>
                                          </p:stCondLst>
                                        </p:cTn>
                                        <p:tgtEl>
                                          <p:spTgt spid="402"/>
                                        </p:tgtEl>
                                        <p:attrNameLst>
                                          <p:attrName>style.visibility</p:attrName>
                                        </p:attrNameLst>
                                      </p:cBhvr>
                                      <p:to>
                                        <p:strVal val="visible"/>
                                      </p:to>
                                    </p:set>
                                    <p:anim calcmode="lin" valueType="num">
                                      <p:cBhvr additive="base">
                                        <p:cTn id="24" dur="1000"/>
                                        <p:tgtEl>
                                          <p:spTgt spid="402"/>
                                        </p:tgtEl>
                                        <p:attrNameLst>
                                          <p:attrName>ppt_x</p:attrName>
                                        </p:attrNameLst>
                                      </p:cBhvr>
                                      <p:tavLst>
                                        <p:tav tm="0">
                                          <p:val>
                                            <p:strVal val="#ppt_x-1"/>
                                          </p:val>
                                        </p:tav>
                                        <p:tav tm="100000">
                                          <p:val>
                                            <p:strVal val="#ppt_x"/>
                                          </p:val>
                                        </p:tav>
                                      </p:tavLst>
                                    </p:anim>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04"/>
                                        </p:tgtEl>
                                        <p:attrNameLst>
                                          <p:attrName>style.visibility</p:attrName>
                                        </p:attrNameLst>
                                      </p:cBhvr>
                                      <p:to>
                                        <p:strVal val="visible"/>
                                      </p:to>
                                    </p:set>
                                    <p:animEffect transition="in" filter="fade">
                                      <p:cBhvr>
                                        <p:cTn id="29" dur="1000"/>
                                        <p:tgtEl>
                                          <p:spTgt spid="404"/>
                                        </p:tgtEl>
                                      </p:cBhvr>
                                    </p:animEffect>
                                  </p:childTnLst>
                                </p:cTn>
                              </p:par>
                            </p:childTnLst>
                          </p:cTn>
                        </p:par>
                        <p:par>
                          <p:cTn id="30" fill="hold">
                            <p:stCondLst>
                              <p:cond delay="1000"/>
                            </p:stCondLst>
                            <p:childTnLst>
                              <p:par>
                                <p:cTn id="31" presetID="2" presetClass="entr" presetSubtype="2" fill="hold" nodeType="afterEffect">
                                  <p:stCondLst>
                                    <p:cond delay="0"/>
                                  </p:stCondLst>
                                  <p:childTnLst>
                                    <p:set>
                                      <p:cBhvr>
                                        <p:cTn id="32" dur="1" fill="hold">
                                          <p:stCondLst>
                                            <p:cond delay="0"/>
                                          </p:stCondLst>
                                        </p:cTn>
                                        <p:tgtEl>
                                          <p:spTgt spid="406"/>
                                        </p:tgtEl>
                                        <p:attrNameLst>
                                          <p:attrName>style.visibility</p:attrName>
                                        </p:attrNameLst>
                                      </p:cBhvr>
                                      <p:to>
                                        <p:strVal val="visible"/>
                                      </p:to>
                                    </p:set>
                                    <p:anim calcmode="lin" valueType="num">
                                      <p:cBhvr additive="base">
                                        <p:cTn id="33" dur="1000"/>
                                        <p:tgtEl>
                                          <p:spTgt spid="406"/>
                                        </p:tgtEl>
                                        <p:attrNameLst>
                                          <p:attrName>ppt_x</p:attrName>
                                        </p:attrNameLst>
                                      </p:cBhvr>
                                      <p:tavLst>
                                        <p:tav tm="0">
                                          <p:val>
                                            <p:strVal val="#ppt_x+1"/>
                                          </p:val>
                                        </p:tav>
                                        <p:tav tm="100000">
                                          <p:val>
                                            <p:strVal val="#ppt_x"/>
                                          </p:val>
                                        </p:tav>
                                      </p:tavLst>
                                    </p:anim>
                                  </p:childTnLst>
                                </p:cTn>
                              </p:par>
                            </p:childTnLst>
                          </p:cTn>
                        </p:par>
                        <p:par>
                          <p:cTn id="34" fill="hold">
                            <p:stCondLst>
                              <p:cond delay="2000"/>
                            </p:stCondLst>
                            <p:childTnLst>
                              <p:par>
                                <p:cTn id="35" presetID="2" presetClass="entr" presetSubtype="2" fill="hold" nodeType="afterEffect">
                                  <p:stCondLst>
                                    <p:cond delay="0"/>
                                  </p:stCondLst>
                                  <p:childTnLst>
                                    <p:set>
                                      <p:cBhvr>
                                        <p:cTn id="36" dur="1" fill="hold">
                                          <p:stCondLst>
                                            <p:cond delay="0"/>
                                          </p:stCondLst>
                                        </p:cTn>
                                        <p:tgtEl>
                                          <p:spTgt spid="407"/>
                                        </p:tgtEl>
                                        <p:attrNameLst>
                                          <p:attrName>style.visibility</p:attrName>
                                        </p:attrNameLst>
                                      </p:cBhvr>
                                      <p:to>
                                        <p:strVal val="visible"/>
                                      </p:to>
                                    </p:set>
                                    <p:anim calcmode="lin" valueType="num">
                                      <p:cBhvr additive="base">
                                        <p:cTn id="37" dur="1000"/>
                                        <p:tgtEl>
                                          <p:spTgt spid="407"/>
                                        </p:tgtEl>
                                        <p:attrNameLst>
                                          <p:attrName>ppt_x</p:attrName>
                                        </p:attrNameLst>
                                      </p:cBhvr>
                                      <p:tavLst>
                                        <p:tav tm="0">
                                          <p:val>
                                            <p:strVal val="#ppt_x+1"/>
                                          </p:val>
                                        </p:tav>
                                        <p:tav tm="100000">
                                          <p:val>
                                            <p:strVal val="#ppt_x"/>
                                          </p:val>
                                        </p:tav>
                                      </p:tavLst>
                                    </p:anim>
                                  </p:childTnLst>
                                </p:cTn>
                              </p:par>
                            </p:childTnLst>
                          </p:cTn>
                        </p:par>
                        <p:par>
                          <p:cTn id="38" fill="hold">
                            <p:stCondLst>
                              <p:cond delay="3000"/>
                            </p:stCondLst>
                            <p:childTnLst>
                              <p:par>
                                <p:cTn id="39" presetID="2" presetClass="entr" presetSubtype="8" fill="hold" nodeType="afterEffect">
                                  <p:stCondLst>
                                    <p:cond delay="0"/>
                                  </p:stCondLst>
                                  <p:childTnLst>
                                    <p:set>
                                      <p:cBhvr>
                                        <p:cTn id="40" dur="1" fill="hold">
                                          <p:stCondLst>
                                            <p:cond delay="0"/>
                                          </p:stCondLst>
                                        </p:cTn>
                                        <p:tgtEl>
                                          <p:spTgt spid="408"/>
                                        </p:tgtEl>
                                        <p:attrNameLst>
                                          <p:attrName>style.visibility</p:attrName>
                                        </p:attrNameLst>
                                      </p:cBhvr>
                                      <p:to>
                                        <p:strVal val="visible"/>
                                      </p:to>
                                    </p:set>
                                    <p:anim calcmode="lin" valueType="num">
                                      <p:cBhvr additive="base">
                                        <p:cTn id="41" dur="1000"/>
                                        <p:tgtEl>
                                          <p:spTgt spid="408"/>
                                        </p:tgtEl>
                                        <p:attrNameLst>
                                          <p:attrName>ppt_x</p:attrName>
                                        </p:attrNameLst>
                                      </p:cBhvr>
                                      <p:tavLst>
                                        <p:tav tm="0">
                                          <p:val>
                                            <p:strVal val="#ppt_x-1"/>
                                          </p:val>
                                        </p:tav>
                                        <p:tav tm="100000">
                                          <p:val>
                                            <p:strVal val="#ppt_x"/>
                                          </p:val>
                                        </p:tav>
                                      </p:tavLst>
                                    </p:anim>
                                  </p:childTnLst>
                                </p:cTn>
                              </p:par>
                            </p:childTnLst>
                          </p:cTn>
                        </p:par>
                        <p:par>
                          <p:cTn id="42" fill="hold">
                            <p:stCondLst>
                              <p:cond delay="4000"/>
                            </p:stCondLst>
                            <p:childTnLst>
                              <p:par>
                                <p:cTn id="43" presetID="10" presetClass="entr" presetSubtype="0" fill="hold" nodeType="afterEffect">
                                  <p:stCondLst>
                                    <p:cond delay="0"/>
                                  </p:stCondLst>
                                  <p:childTnLst>
                                    <p:set>
                                      <p:cBhvr>
                                        <p:cTn id="44" dur="1" fill="hold">
                                          <p:stCondLst>
                                            <p:cond delay="0"/>
                                          </p:stCondLst>
                                        </p:cTn>
                                        <p:tgtEl>
                                          <p:spTgt spid="412"/>
                                        </p:tgtEl>
                                        <p:attrNameLst>
                                          <p:attrName>style.visibility</p:attrName>
                                        </p:attrNameLst>
                                      </p:cBhvr>
                                      <p:to>
                                        <p:strVal val="visible"/>
                                      </p:to>
                                    </p:set>
                                    <p:animEffect transition="in" filter="fade">
                                      <p:cBhvr>
                                        <p:cTn id="45" dur="1000"/>
                                        <p:tgtEl>
                                          <p:spTgt spid="4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405"/>
                                        </p:tgtEl>
                                        <p:attrNameLst>
                                          <p:attrName>style.visibility</p:attrName>
                                        </p:attrNameLst>
                                      </p:cBhvr>
                                      <p:to>
                                        <p:strVal val="visible"/>
                                      </p:to>
                                    </p:set>
                                    <p:animEffect transition="in" filter="fade">
                                      <p:cBhvr>
                                        <p:cTn id="50" dur="1000"/>
                                        <p:tgtEl>
                                          <p:spTgt spid="405"/>
                                        </p:tgtEl>
                                      </p:cBhvr>
                                    </p:animEffect>
                                  </p:childTnLst>
                                </p:cTn>
                              </p:par>
                              <p:par>
                                <p:cTn id="51" presetID="10" presetClass="entr" presetSubtype="0" fill="hold" nodeType="withEffect">
                                  <p:stCondLst>
                                    <p:cond delay="0"/>
                                  </p:stCondLst>
                                  <p:childTnLst>
                                    <p:set>
                                      <p:cBhvr>
                                        <p:cTn id="52" dur="1" fill="hold">
                                          <p:stCondLst>
                                            <p:cond delay="0"/>
                                          </p:stCondLst>
                                        </p:cTn>
                                        <p:tgtEl>
                                          <p:spTgt spid="403"/>
                                        </p:tgtEl>
                                        <p:attrNameLst>
                                          <p:attrName>style.visibility</p:attrName>
                                        </p:attrNameLst>
                                      </p:cBhvr>
                                      <p:to>
                                        <p:strVal val="visible"/>
                                      </p:to>
                                    </p:set>
                                    <p:animEffect transition="in" filter="fade">
                                      <p:cBhvr>
                                        <p:cTn id="53" dur="1000"/>
                                        <p:tgtEl>
                                          <p:spTgt spid="40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11"/>
                                        </p:tgtEl>
                                        <p:attrNameLst>
                                          <p:attrName>style.visibility</p:attrName>
                                        </p:attrNameLst>
                                      </p:cBhvr>
                                      <p:to>
                                        <p:strVal val="visible"/>
                                      </p:to>
                                    </p:set>
                                    <p:animEffect transition="in" filter="fade">
                                      <p:cBhvr>
                                        <p:cTn id="58" dur="1000"/>
                                        <p:tgtEl>
                                          <p:spTgt spid="411"/>
                                        </p:tgtEl>
                                      </p:cBhvr>
                                    </p:animEffect>
                                  </p:childTnLst>
                                </p:cTn>
                              </p:par>
                            </p:childTnLst>
                          </p:cTn>
                        </p:par>
                        <p:par>
                          <p:cTn id="59" fill="hold">
                            <p:stCondLst>
                              <p:cond delay="1000"/>
                            </p:stCondLst>
                            <p:childTnLst>
                              <p:par>
                                <p:cTn id="60" presetID="10" presetClass="entr" presetSubtype="0" fill="hold" nodeType="afterEffect">
                                  <p:stCondLst>
                                    <p:cond delay="0"/>
                                  </p:stCondLst>
                                  <p:childTnLst>
                                    <p:set>
                                      <p:cBhvr>
                                        <p:cTn id="61" dur="1" fill="hold">
                                          <p:stCondLst>
                                            <p:cond delay="0"/>
                                          </p:stCondLst>
                                        </p:cTn>
                                        <p:tgtEl>
                                          <p:spTgt spid="410"/>
                                        </p:tgtEl>
                                        <p:attrNameLst>
                                          <p:attrName>style.visibility</p:attrName>
                                        </p:attrNameLst>
                                      </p:cBhvr>
                                      <p:to>
                                        <p:strVal val="visible"/>
                                      </p:to>
                                    </p:set>
                                    <p:animEffect transition="in" filter="fade">
                                      <p:cBhvr>
                                        <p:cTn id="62" dur="1000"/>
                                        <p:tgtEl>
                                          <p:spTgt spid="410"/>
                                        </p:tgtEl>
                                      </p:cBhvr>
                                    </p:animEffect>
                                  </p:childTnLst>
                                </p:cTn>
                              </p:par>
                            </p:childTnLst>
                          </p:cTn>
                        </p:par>
                        <p:par>
                          <p:cTn id="63" fill="hold">
                            <p:stCondLst>
                              <p:cond delay="2000"/>
                            </p:stCondLst>
                            <p:childTnLst>
                              <p:par>
                                <p:cTn id="64" presetID="10" presetClass="entr" presetSubtype="0" fill="hold" nodeType="afterEffect">
                                  <p:stCondLst>
                                    <p:cond delay="0"/>
                                  </p:stCondLst>
                                  <p:childTnLst>
                                    <p:set>
                                      <p:cBhvr>
                                        <p:cTn id="65" dur="1" fill="hold">
                                          <p:stCondLst>
                                            <p:cond delay="0"/>
                                          </p:stCondLst>
                                        </p:cTn>
                                        <p:tgtEl>
                                          <p:spTgt spid="409"/>
                                        </p:tgtEl>
                                        <p:attrNameLst>
                                          <p:attrName>style.visibility</p:attrName>
                                        </p:attrNameLst>
                                      </p:cBhvr>
                                      <p:to>
                                        <p:strVal val="visible"/>
                                      </p:to>
                                    </p:set>
                                    <p:animEffect transition="in" filter="fade">
                                      <p:cBhvr>
                                        <p:cTn id="66" dur="1000"/>
                                        <p:tgtEl>
                                          <p:spTgt spid="4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45"/>
          <p:cNvSpPr txBox="1">
            <a:spLocks noGrp="1"/>
          </p:cNvSpPr>
          <p:nvPr>
            <p:ph type="title"/>
          </p:nvPr>
        </p:nvSpPr>
        <p:spPr>
          <a:xfrm>
            <a:off x="311725" y="500925"/>
            <a:ext cx="8520600" cy="623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 Illustrated Example</a:t>
            </a:r>
            <a:endParaRPr/>
          </a:p>
          <a:p>
            <a:pPr marL="0" lvl="0" indent="0" algn="l" rtl="0">
              <a:spcBef>
                <a:spcPts val="0"/>
              </a:spcBef>
              <a:spcAft>
                <a:spcPts val="0"/>
              </a:spcAft>
              <a:buNone/>
            </a:pPr>
            <a:r>
              <a:rPr lang="en" sz="1800" i="1"/>
              <a:t>A Story in 3 Parts</a:t>
            </a:r>
            <a:endParaRPr sz="1800" i="1"/>
          </a:p>
        </p:txBody>
      </p:sp>
      <p:sp>
        <p:nvSpPr>
          <p:cNvPr id="418" name="Google Shape;418;p4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419" name="Google Shape;419;p45"/>
          <p:cNvSpPr txBox="1"/>
          <p:nvPr/>
        </p:nvSpPr>
        <p:spPr>
          <a:xfrm>
            <a:off x="172575" y="1480805"/>
            <a:ext cx="290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Adding a</a:t>
            </a:r>
            <a:r>
              <a:rPr lang="en" sz="1200" b="1" i="1">
                <a:solidFill>
                  <a:srgbClr val="FF0000"/>
                </a:solidFill>
              </a:rPr>
              <a:t> Lock </a:t>
            </a:r>
            <a:r>
              <a:rPr lang="en" sz="1200"/>
              <a:t>is like putting a lock on the door (which makes sense if you want to limit use to one person (thread) at a time).</a:t>
            </a:r>
            <a:endParaRPr sz="1200"/>
          </a:p>
        </p:txBody>
      </p:sp>
      <p:pic>
        <p:nvPicPr>
          <p:cNvPr id="420" name="Google Shape;420;p45"/>
          <p:cNvPicPr preferRelativeResize="0"/>
          <p:nvPr/>
        </p:nvPicPr>
        <p:blipFill>
          <a:blip r:embed="rId3">
            <a:alphaModFix/>
          </a:blip>
          <a:stretch>
            <a:fillRect/>
          </a:stretch>
        </p:blipFill>
        <p:spPr>
          <a:xfrm>
            <a:off x="3718979" y="1397599"/>
            <a:ext cx="876105" cy="1710343"/>
          </a:xfrm>
          <a:prstGeom prst="rect">
            <a:avLst/>
          </a:prstGeom>
          <a:noFill/>
          <a:ln>
            <a:noFill/>
          </a:ln>
        </p:spPr>
      </p:pic>
      <p:sp>
        <p:nvSpPr>
          <p:cNvPr id="421" name="Google Shape;421;p45"/>
          <p:cNvSpPr txBox="1"/>
          <p:nvPr/>
        </p:nvSpPr>
        <p:spPr>
          <a:xfrm>
            <a:off x="172575" y="2499407"/>
            <a:ext cx="290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When the </a:t>
            </a:r>
            <a:r>
              <a:rPr lang="en" sz="1200" b="1" i="1">
                <a:solidFill>
                  <a:srgbClr val="FF0000"/>
                </a:solidFill>
              </a:rPr>
              <a:t>first</a:t>
            </a:r>
            <a:r>
              <a:rPr lang="en" sz="1200">
                <a:solidFill>
                  <a:srgbClr val="FF0000"/>
                </a:solidFill>
              </a:rPr>
              <a:t> </a:t>
            </a:r>
            <a:r>
              <a:rPr lang="en" sz="1200"/>
              <a:t>person arrives, if the door is </a:t>
            </a:r>
            <a:r>
              <a:rPr lang="en" sz="1200" b="1" i="1">
                <a:solidFill>
                  <a:srgbClr val="FF0000"/>
                </a:solidFill>
              </a:rPr>
              <a:t>not locked</a:t>
            </a:r>
            <a:r>
              <a:rPr lang="en" sz="1200"/>
              <a:t>, they may enter the portable toilet.... </a:t>
            </a:r>
            <a:endParaRPr sz="1200"/>
          </a:p>
        </p:txBody>
      </p:sp>
      <p:pic>
        <p:nvPicPr>
          <p:cNvPr id="422" name="Google Shape;422;p45"/>
          <p:cNvPicPr preferRelativeResize="0"/>
          <p:nvPr/>
        </p:nvPicPr>
        <p:blipFill>
          <a:blip r:embed="rId4">
            <a:alphaModFix/>
          </a:blip>
          <a:stretch>
            <a:fillRect/>
          </a:stretch>
        </p:blipFill>
        <p:spPr>
          <a:xfrm>
            <a:off x="3401376" y="1521478"/>
            <a:ext cx="555280" cy="1606147"/>
          </a:xfrm>
          <a:prstGeom prst="rect">
            <a:avLst/>
          </a:prstGeom>
          <a:noFill/>
          <a:ln>
            <a:noFill/>
          </a:ln>
        </p:spPr>
      </p:pic>
      <p:sp>
        <p:nvSpPr>
          <p:cNvPr id="423" name="Google Shape;423;p45"/>
          <p:cNvSpPr txBox="1"/>
          <p:nvPr/>
        </p:nvSpPr>
        <p:spPr>
          <a:xfrm>
            <a:off x="172575" y="3336577"/>
            <a:ext cx="290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...and once inside the door is </a:t>
            </a:r>
            <a:r>
              <a:rPr lang="en" sz="1200" b="1" i="1">
                <a:solidFill>
                  <a:srgbClr val="FF0000"/>
                </a:solidFill>
              </a:rPr>
              <a:t>locked </a:t>
            </a:r>
            <a:r>
              <a:rPr lang="en" sz="1200"/>
              <a:t>behind them.</a:t>
            </a:r>
            <a:endParaRPr sz="1200"/>
          </a:p>
        </p:txBody>
      </p:sp>
      <p:pic>
        <p:nvPicPr>
          <p:cNvPr id="424" name="Google Shape;424;p45"/>
          <p:cNvPicPr preferRelativeResize="0"/>
          <p:nvPr/>
        </p:nvPicPr>
        <p:blipFill>
          <a:blip r:embed="rId3">
            <a:alphaModFix/>
          </a:blip>
          <a:stretch>
            <a:fillRect/>
          </a:stretch>
        </p:blipFill>
        <p:spPr>
          <a:xfrm>
            <a:off x="3718979" y="3150199"/>
            <a:ext cx="876105" cy="1710343"/>
          </a:xfrm>
          <a:prstGeom prst="rect">
            <a:avLst/>
          </a:prstGeom>
          <a:noFill/>
          <a:ln>
            <a:noFill/>
          </a:ln>
        </p:spPr>
      </p:pic>
      <p:pic>
        <p:nvPicPr>
          <p:cNvPr id="425" name="Google Shape;425;p45"/>
          <p:cNvPicPr preferRelativeResize="0"/>
          <p:nvPr/>
        </p:nvPicPr>
        <p:blipFill>
          <a:blip r:embed="rId5">
            <a:alphaModFix/>
          </a:blip>
          <a:stretch>
            <a:fillRect/>
          </a:stretch>
        </p:blipFill>
        <p:spPr>
          <a:xfrm>
            <a:off x="4287665" y="3984405"/>
            <a:ext cx="272761" cy="363684"/>
          </a:xfrm>
          <a:prstGeom prst="rect">
            <a:avLst/>
          </a:prstGeom>
          <a:noFill/>
          <a:ln>
            <a:noFill/>
          </a:ln>
        </p:spPr>
      </p:pic>
      <p:sp>
        <p:nvSpPr>
          <p:cNvPr id="426" name="Google Shape;426;p45"/>
          <p:cNvSpPr txBox="1"/>
          <p:nvPr/>
        </p:nvSpPr>
        <p:spPr>
          <a:xfrm>
            <a:off x="172575" y="3988979"/>
            <a:ext cx="290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If another person arrives, they are </a:t>
            </a:r>
            <a:r>
              <a:rPr lang="en" sz="1200" b="1" i="1">
                <a:solidFill>
                  <a:srgbClr val="FF0000"/>
                </a:solidFill>
              </a:rPr>
              <a:t>blocked</a:t>
            </a:r>
            <a:r>
              <a:rPr lang="en" sz="1200"/>
              <a:t> and will have no choice but to wait for the first person to leave.</a:t>
            </a:r>
            <a:endParaRPr sz="1200"/>
          </a:p>
        </p:txBody>
      </p:sp>
      <p:pic>
        <p:nvPicPr>
          <p:cNvPr id="427" name="Google Shape;427;p45"/>
          <p:cNvPicPr preferRelativeResize="0"/>
          <p:nvPr/>
        </p:nvPicPr>
        <p:blipFill>
          <a:blip r:embed="rId6">
            <a:alphaModFix/>
          </a:blip>
          <a:stretch>
            <a:fillRect/>
          </a:stretch>
        </p:blipFill>
        <p:spPr>
          <a:xfrm>
            <a:off x="4404775" y="3344924"/>
            <a:ext cx="555275" cy="1535299"/>
          </a:xfrm>
          <a:prstGeom prst="rect">
            <a:avLst/>
          </a:prstGeom>
          <a:noFill/>
          <a:ln>
            <a:noFill/>
          </a:ln>
        </p:spPr>
      </p:pic>
      <p:sp>
        <p:nvSpPr>
          <p:cNvPr id="428" name="Google Shape;428;p45"/>
          <p:cNvSpPr txBox="1"/>
          <p:nvPr/>
        </p:nvSpPr>
        <p:spPr>
          <a:xfrm>
            <a:off x="5726274" y="1994339"/>
            <a:ext cx="2900100" cy="2262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a:t>
            </a:r>
            <a:r>
              <a:rPr lang="en" sz="900">
                <a:solidFill>
                  <a:srgbClr val="0000FF"/>
                </a:solidFill>
                <a:highlight>
                  <a:srgbClr val="FFFFFF"/>
                </a:highlight>
                <a:latin typeface="Consolas"/>
                <a:ea typeface="Consolas"/>
                <a:cs typeface="Consolas"/>
                <a:sym typeface="Consolas"/>
              </a:rPr>
              <a:t>  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Person</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2</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private</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boolean</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3</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4</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5</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if</a:t>
            </a:r>
            <a:r>
              <a:rPr lang="en" sz="900">
                <a:solidFill>
                  <a:srgbClr val="3B3B3B"/>
                </a:solidFill>
                <a:highlight>
                  <a:srgbClr val="FFFFFF"/>
                </a:highlight>
                <a:latin typeface="Consolas"/>
                <a:ea typeface="Consolas"/>
                <a:cs typeface="Consolas"/>
                <a:sym typeface="Consolas"/>
              </a:rPr>
              <a:t>(</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6</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7 </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try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8</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9</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r>
              <a:rPr lang="en" sz="900">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false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10 </a:t>
            </a:r>
            <a:r>
              <a:rPr lang="en" sz="900">
                <a:solidFill>
                  <a:srgbClr val="3B3B3B"/>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finally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11 </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unlock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12 </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13  </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14</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15</a:t>
            </a:r>
            <a:r>
              <a:rPr lang="en" sz="900">
                <a:solidFill>
                  <a:srgbClr val="3B3B3B"/>
                </a:solidFill>
                <a:highlight>
                  <a:srgbClr val="FFFFFF"/>
                </a:highlight>
                <a:latin typeface="Consolas"/>
                <a:ea typeface="Consolas"/>
                <a:cs typeface="Consolas"/>
                <a:sym typeface="Consolas"/>
              </a:rPr>
              <a:t> }</a:t>
            </a:r>
            <a:endParaRPr sz="900">
              <a:solidFill>
                <a:srgbClr val="098658"/>
              </a:solidFill>
              <a:latin typeface="Consolas"/>
              <a:ea typeface="Consolas"/>
              <a:cs typeface="Consolas"/>
              <a:sym typeface="Consolas"/>
            </a:endParaRPr>
          </a:p>
        </p:txBody>
      </p:sp>
      <p:sp>
        <p:nvSpPr>
          <p:cNvPr id="429" name="Google Shape;429;p45"/>
          <p:cNvSpPr/>
          <p:nvPr/>
        </p:nvSpPr>
        <p:spPr>
          <a:xfrm>
            <a:off x="4181400" y="1363625"/>
            <a:ext cx="1113600" cy="623700"/>
          </a:xfrm>
          <a:prstGeom prst="wedgeRoundRectCallout">
            <a:avLst>
              <a:gd name="adj1" fmla="val -69331"/>
              <a:gd name="adj2" fmla="val 1845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t>Yay! No one else is using this!</a:t>
            </a:r>
            <a:endParaRPr sz="1100"/>
          </a:p>
        </p:txBody>
      </p:sp>
      <p:sp>
        <p:nvSpPr>
          <p:cNvPr id="430" name="Google Shape;430;p45"/>
          <p:cNvSpPr/>
          <p:nvPr/>
        </p:nvSpPr>
        <p:spPr>
          <a:xfrm>
            <a:off x="4647789" y="2968879"/>
            <a:ext cx="1001700" cy="526800"/>
          </a:xfrm>
          <a:prstGeom prst="wedgeRoundRectCallout">
            <a:avLst>
              <a:gd name="adj1" fmla="val -39690"/>
              <a:gd name="adj2" fmla="val 5961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It's in use! I need to wait my turn!</a:t>
            </a:r>
            <a:endParaRPr sz="1000"/>
          </a:p>
        </p:txBody>
      </p:sp>
      <p:grpSp>
        <p:nvGrpSpPr>
          <p:cNvPr id="431" name="Google Shape;431;p45"/>
          <p:cNvGrpSpPr/>
          <p:nvPr/>
        </p:nvGrpSpPr>
        <p:grpSpPr>
          <a:xfrm>
            <a:off x="4188960" y="2187088"/>
            <a:ext cx="786261" cy="558124"/>
            <a:chOff x="4188960" y="2187088"/>
            <a:chExt cx="786261" cy="558124"/>
          </a:xfrm>
        </p:grpSpPr>
        <p:pic>
          <p:nvPicPr>
            <p:cNvPr id="432" name="Google Shape;432;p45"/>
            <p:cNvPicPr preferRelativeResize="0"/>
            <p:nvPr/>
          </p:nvPicPr>
          <p:blipFill>
            <a:blip r:embed="rId7">
              <a:alphaModFix/>
            </a:blip>
            <a:stretch>
              <a:fillRect/>
            </a:stretch>
          </p:blipFill>
          <p:spPr>
            <a:xfrm rot="1800001">
              <a:off x="4251499" y="2268647"/>
              <a:ext cx="423687" cy="363684"/>
            </a:xfrm>
            <a:prstGeom prst="rect">
              <a:avLst/>
            </a:prstGeom>
            <a:noFill/>
            <a:ln>
              <a:noFill/>
            </a:ln>
          </p:spPr>
        </p:pic>
        <p:pic>
          <p:nvPicPr>
            <p:cNvPr id="433" name="Google Shape;433;p45"/>
            <p:cNvPicPr preferRelativeResize="0"/>
            <p:nvPr/>
          </p:nvPicPr>
          <p:blipFill>
            <a:blip r:embed="rId8">
              <a:alphaModFix/>
            </a:blip>
            <a:stretch>
              <a:fillRect/>
            </a:stretch>
          </p:blipFill>
          <p:spPr>
            <a:xfrm rot="-900016">
              <a:off x="4747050" y="2300499"/>
              <a:ext cx="175608" cy="429302"/>
            </a:xfrm>
            <a:prstGeom prst="rect">
              <a:avLst/>
            </a:prstGeom>
            <a:noFill/>
            <a:ln>
              <a:noFill/>
            </a:ln>
          </p:spPr>
        </p:pic>
      </p:grpSp>
      <p:sp>
        <p:nvSpPr>
          <p:cNvPr id="434" name="Google Shape;434;p45"/>
          <p:cNvSpPr/>
          <p:nvPr/>
        </p:nvSpPr>
        <p:spPr>
          <a:xfrm>
            <a:off x="8078025" y="1739902"/>
            <a:ext cx="403675" cy="1098769"/>
          </a:xfrm>
          <a:custGeom>
            <a:avLst/>
            <a:gdLst/>
            <a:ahLst/>
            <a:cxnLst/>
            <a:rect l="l" t="t" r="r" b="b"/>
            <a:pathLst>
              <a:path w="16147" h="38395" extrusionOk="0">
                <a:moveTo>
                  <a:pt x="8451" y="0"/>
                </a:moveTo>
                <a:cubicBezTo>
                  <a:pt x="9699" y="4306"/>
                  <a:pt x="17346" y="19439"/>
                  <a:pt x="15937" y="25838"/>
                </a:cubicBezTo>
                <a:cubicBezTo>
                  <a:pt x="14529" y="32237"/>
                  <a:pt x="2656" y="36302"/>
                  <a:pt x="0" y="38395"/>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435" name="Google Shape;435;p45"/>
          <p:cNvSpPr txBox="1"/>
          <p:nvPr/>
        </p:nvSpPr>
        <p:spPr>
          <a:xfrm>
            <a:off x="5726250" y="1358115"/>
            <a:ext cx="2900100" cy="538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50"/>
              <a:t>In this example, the </a:t>
            </a:r>
            <a:r>
              <a:rPr lang="en" sz="1150" b="1" i="1">
                <a:solidFill>
                  <a:srgbClr val="FF0000"/>
                </a:solidFill>
              </a:rPr>
              <a:t>door</a:t>
            </a:r>
            <a:r>
              <a:rPr lang="en" sz="1150"/>
              <a:t> is a </a:t>
            </a:r>
            <a:r>
              <a:rPr lang="en" sz="1150">
                <a:solidFill>
                  <a:srgbClr val="FF0000"/>
                </a:solidFill>
                <a:latin typeface="Courier New"/>
                <a:ea typeface="Courier New"/>
                <a:cs typeface="Courier New"/>
                <a:sym typeface="Courier New"/>
              </a:rPr>
              <a:t>Lock</a:t>
            </a:r>
            <a:r>
              <a:rPr lang="en" sz="1150"/>
              <a:t>. Only </a:t>
            </a:r>
            <a:r>
              <a:rPr lang="en" sz="1150" b="1" i="1">
                <a:solidFill>
                  <a:srgbClr val="FF0000"/>
                </a:solidFill>
              </a:rPr>
              <a:t>one thread</a:t>
            </a:r>
            <a:r>
              <a:rPr lang="en" sz="1150"/>
              <a:t> can use the </a:t>
            </a:r>
            <a:r>
              <a:rPr lang="en" sz="1150" b="1" i="1">
                <a:solidFill>
                  <a:srgbClr val="FF0000"/>
                </a:solidFill>
              </a:rPr>
              <a:t>lock</a:t>
            </a:r>
            <a:r>
              <a:rPr lang="en" sz="1150"/>
              <a:t> at a time.</a:t>
            </a:r>
            <a:endParaRPr sz="1150"/>
          </a:p>
        </p:txBody>
      </p:sp>
      <p:sp>
        <p:nvSpPr>
          <p:cNvPr id="436" name="Google Shape;436;p45"/>
          <p:cNvSpPr/>
          <p:nvPr/>
        </p:nvSpPr>
        <p:spPr>
          <a:xfrm>
            <a:off x="6102038" y="3519992"/>
            <a:ext cx="563325" cy="906350"/>
          </a:xfrm>
          <a:custGeom>
            <a:avLst/>
            <a:gdLst/>
            <a:ahLst/>
            <a:cxnLst/>
            <a:rect l="l" t="t" r="r" b="b"/>
            <a:pathLst>
              <a:path w="22533" h="36254" extrusionOk="0">
                <a:moveTo>
                  <a:pt x="8768" y="36254"/>
                </a:moveTo>
                <a:cubicBezTo>
                  <a:pt x="7319" y="32753"/>
                  <a:pt x="-529" y="21041"/>
                  <a:pt x="75" y="15245"/>
                </a:cubicBezTo>
                <a:cubicBezTo>
                  <a:pt x="679" y="9450"/>
                  <a:pt x="8648" y="3976"/>
                  <a:pt x="12391" y="1481"/>
                </a:cubicBezTo>
                <a:cubicBezTo>
                  <a:pt x="16134" y="-1014"/>
                  <a:pt x="20843" y="475"/>
                  <a:pt x="22533" y="274"/>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437" name="Google Shape;437;p45"/>
          <p:cNvSpPr txBox="1"/>
          <p:nvPr/>
        </p:nvSpPr>
        <p:spPr>
          <a:xfrm>
            <a:off x="5726250" y="4371503"/>
            <a:ext cx="2900100" cy="7158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150"/>
              <a:t>When done, the lock is </a:t>
            </a:r>
            <a:r>
              <a:rPr lang="en" sz="1150" b="1" i="1">
                <a:solidFill>
                  <a:srgbClr val="FF0000"/>
                </a:solidFill>
              </a:rPr>
              <a:t>unlocked</a:t>
            </a:r>
            <a:r>
              <a:rPr lang="en" sz="1150"/>
              <a:t> allowing </a:t>
            </a:r>
            <a:r>
              <a:rPr lang="en" sz="1150" b="1" i="1">
                <a:solidFill>
                  <a:srgbClr val="FF0000"/>
                </a:solidFill>
              </a:rPr>
              <a:t>another thread</a:t>
            </a:r>
            <a:r>
              <a:rPr lang="en" sz="1150"/>
              <a:t> to lock it and access the </a:t>
            </a:r>
            <a:r>
              <a:rPr lang="en" sz="1150" b="1" i="1">
                <a:solidFill>
                  <a:srgbClr val="FF0000"/>
                </a:solidFill>
              </a:rPr>
              <a:t>critical region</a:t>
            </a:r>
            <a:r>
              <a:rPr lang="en" sz="1150"/>
              <a:t>.</a:t>
            </a:r>
            <a:endParaRPr sz="115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9"/>
                                        </p:tgtEl>
                                        <p:attrNameLst>
                                          <p:attrName>style.visibility</p:attrName>
                                        </p:attrNameLst>
                                      </p:cBhvr>
                                      <p:to>
                                        <p:strVal val="visible"/>
                                      </p:to>
                                    </p:set>
                                    <p:animEffect transition="in" filter="fade">
                                      <p:cBhvr>
                                        <p:cTn id="7" dur="1000"/>
                                        <p:tgtEl>
                                          <p:spTgt spid="419"/>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431"/>
                                        </p:tgtEl>
                                        <p:attrNameLst>
                                          <p:attrName>style.visibility</p:attrName>
                                        </p:attrNameLst>
                                      </p:cBhvr>
                                      <p:to>
                                        <p:strVal val="visible"/>
                                      </p:to>
                                    </p:set>
                                    <p:animEffect transition="in" filter="fade">
                                      <p:cBhvr>
                                        <p:cTn id="11" dur="1000"/>
                                        <p:tgtEl>
                                          <p:spTgt spid="43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421"/>
                                        </p:tgtEl>
                                        <p:attrNameLst>
                                          <p:attrName>style.visibility</p:attrName>
                                        </p:attrNameLst>
                                      </p:cBhvr>
                                      <p:to>
                                        <p:strVal val="visible"/>
                                      </p:to>
                                    </p:set>
                                    <p:animEffect transition="in" filter="fade">
                                      <p:cBhvr>
                                        <p:cTn id="16" dur="1000"/>
                                        <p:tgtEl>
                                          <p:spTgt spid="421"/>
                                        </p:tgtEl>
                                      </p:cBhvr>
                                    </p:animEffect>
                                  </p:childTnLst>
                                </p:cTn>
                              </p:par>
                            </p:childTnLst>
                          </p:cTn>
                        </p:par>
                        <p:par>
                          <p:cTn id="17" fill="hold">
                            <p:stCondLst>
                              <p:cond delay="1000"/>
                            </p:stCondLst>
                            <p:childTnLst>
                              <p:par>
                                <p:cTn id="18" presetID="2" presetClass="entr" presetSubtype="8" fill="hold" nodeType="afterEffect">
                                  <p:stCondLst>
                                    <p:cond delay="0"/>
                                  </p:stCondLst>
                                  <p:childTnLst>
                                    <p:set>
                                      <p:cBhvr>
                                        <p:cTn id="19" dur="1" fill="hold">
                                          <p:stCondLst>
                                            <p:cond delay="0"/>
                                          </p:stCondLst>
                                        </p:cTn>
                                        <p:tgtEl>
                                          <p:spTgt spid="422"/>
                                        </p:tgtEl>
                                        <p:attrNameLst>
                                          <p:attrName>style.visibility</p:attrName>
                                        </p:attrNameLst>
                                      </p:cBhvr>
                                      <p:to>
                                        <p:strVal val="visible"/>
                                      </p:to>
                                    </p:set>
                                    <p:anim calcmode="lin" valueType="num">
                                      <p:cBhvr additive="base">
                                        <p:cTn id="20" dur="1000"/>
                                        <p:tgtEl>
                                          <p:spTgt spid="422"/>
                                        </p:tgtEl>
                                        <p:attrNameLst>
                                          <p:attrName>ppt_x</p:attrName>
                                        </p:attrNameLst>
                                      </p:cBhvr>
                                      <p:tavLst>
                                        <p:tav tm="0">
                                          <p:val>
                                            <p:strVal val="#ppt_x-1"/>
                                          </p:val>
                                        </p:tav>
                                        <p:tav tm="100000">
                                          <p:val>
                                            <p:strVal val="#ppt_x"/>
                                          </p:val>
                                        </p:tav>
                                      </p:tavLst>
                                    </p:anim>
                                  </p:childTnLst>
                                </p:cTn>
                              </p:par>
                            </p:childTnLst>
                          </p:cTn>
                        </p:par>
                        <p:par>
                          <p:cTn id="21" fill="hold">
                            <p:stCondLst>
                              <p:cond delay="2000"/>
                            </p:stCondLst>
                            <p:childTnLst>
                              <p:par>
                                <p:cTn id="22" presetID="10" presetClass="entr" presetSubtype="0" fill="hold" nodeType="afterEffect">
                                  <p:stCondLst>
                                    <p:cond delay="0"/>
                                  </p:stCondLst>
                                  <p:childTnLst>
                                    <p:set>
                                      <p:cBhvr>
                                        <p:cTn id="23" dur="1" fill="hold">
                                          <p:stCondLst>
                                            <p:cond delay="0"/>
                                          </p:stCondLst>
                                        </p:cTn>
                                        <p:tgtEl>
                                          <p:spTgt spid="429"/>
                                        </p:tgtEl>
                                        <p:attrNameLst>
                                          <p:attrName>style.visibility</p:attrName>
                                        </p:attrNameLst>
                                      </p:cBhvr>
                                      <p:to>
                                        <p:strVal val="visible"/>
                                      </p:to>
                                    </p:set>
                                    <p:animEffect transition="in" filter="fade">
                                      <p:cBhvr>
                                        <p:cTn id="24" dur="1000"/>
                                        <p:tgtEl>
                                          <p:spTgt spid="42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23"/>
                                        </p:tgtEl>
                                        <p:attrNameLst>
                                          <p:attrName>style.visibility</p:attrName>
                                        </p:attrNameLst>
                                      </p:cBhvr>
                                      <p:to>
                                        <p:strVal val="visible"/>
                                      </p:to>
                                    </p:set>
                                    <p:animEffect transition="in" filter="fade">
                                      <p:cBhvr>
                                        <p:cTn id="29" dur="1000"/>
                                        <p:tgtEl>
                                          <p:spTgt spid="423"/>
                                        </p:tgtEl>
                                      </p:cBhvr>
                                    </p:animEffect>
                                  </p:childTnLst>
                                </p:cTn>
                              </p:par>
                              <p:par>
                                <p:cTn id="30" presetID="10" presetClass="entr" presetSubtype="0" fill="hold" nodeType="withEffect">
                                  <p:stCondLst>
                                    <p:cond delay="0"/>
                                  </p:stCondLst>
                                  <p:childTnLst>
                                    <p:set>
                                      <p:cBhvr>
                                        <p:cTn id="31" dur="1" fill="hold">
                                          <p:stCondLst>
                                            <p:cond delay="0"/>
                                          </p:stCondLst>
                                        </p:cTn>
                                        <p:tgtEl>
                                          <p:spTgt spid="424"/>
                                        </p:tgtEl>
                                        <p:attrNameLst>
                                          <p:attrName>style.visibility</p:attrName>
                                        </p:attrNameLst>
                                      </p:cBhvr>
                                      <p:to>
                                        <p:strVal val="visible"/>
                                      </p:to>
                                    </p:set>
                                    <p:animEffect transition="in" filter="fade">
                                      <p:cBhvr>
                                        <p:cTn id="32" dur="1000"/>
                                        <p:tgtEl>
                                          <p:spTgt spid="424"/>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425"/>
                                        </p:tgtEl>
                                        <p:attrNameLst>
                                          <p:attrName>style.visibility</p:attrName>
                                        </p:attrNameLst>
                                      </p:cBhvr>
                                      <p:to>
                                        <p:strVal val="visible"/>
                                      </p:to>
                                    </p:set>
                                    <p:animEffect transition="in" filter="fade">
                                      <p:cBhvr>
                                        <p:cTn id="36" dur="1000"/>
                                        <p:tgtEl>
                                          <p:spTgt spid="42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26"/>
                                        </p:tgtEl>
                                        <p:attrNameLst>
                                          <p:attrName>style.visibility</p:attrName>
                                        </p:attrNameLst>
                                      </p:cBhvr>
                                      <p:to>
                                        <p:strVal val="visible"/>
                                      </p:to>
                                    </p:set>
                                    <p:animEffect transition="in" filter="fade">
                                      <p:cBhvr>
                                        <p:cTn id="41" dur="1000"/>
                                        <p:tgtEl>
                                          <p:spTgt spid="426"/>
                                        </p:tgtEl>
                                      </p:cBhvr>
                                    </p:animEffect>
                                  </p:childTnLst>
                                </p:cTn>
                              </p:par>
                            </p:childTnLst>
                          </p:cTn>
                        </p:par>
                        <p:par>
                          <p:cTn id="42" fill="hold">
                            <p:stCondLst>
                              <p:cond delay="1000"/>
                            </p:stCondLst>
                            <p:childTnLst>
                              <p:par>
                                <p:cTn id="43" presetID="2" presetClass="entr" presetSubtype="2" fill="hold" nodeType="afterEffect">
                                  <p:stCondLst>
                                    <p:cond delay="0"/>
                                  </p:stCondLst>
                                  <p:childTnLst>
                                    <p:set>
                                      <p:cBhvr>
                                        <p:cTn id="44" dur="1" fill="hold">
                                          <p:stCondLst>
                                            <p:cond delay="0"/>
                                          </p:stCondLst>
                                        </p:cTn>
                                        <p:tgtEl>
                                          <p:spTgt spid="427"/>
                                        </p:tgtEl>
                                        <p:attrNameLst>
                                          <p:attrName>style.visibility</p:attrName>
                                        </p:attrNameLst>
                                      </p:cBhvr>
                                      <p:to>
                                        <p:strVal val="visible"/>
                                      </p:to>
                                    </p:set>
                                    <p:anim calcmode="lin" valueType="num">
                                      <p:cBhvr additive="base">
                                        <p:cTn id="45" dur="1000"/>
                                        <p:tgtEl>
                                          <p:spTgt spid="427"/>
                                        </p:tgtEl>
                                        <p:attrNameLst>
                                          <p:attrName>ppt_x</p:attrName>
                                        </p:attrNameLst>
                                      </p:cBhvr>
                                      <p:tavLst>
                                        <p:tav tm="0">
                                          <p:val>
                                            <p:strVal val="#ppt_x+1"/>
                                          </p:val>
                                        </p:tav>
                                        <p:tav tm="100000">
                                          <p:val>
                                            <p:strVal val="#ppt_x"/>
                                          </p:val>
                                        </p:tav>
                                      </p:tavLst>
                                    </p:anim>
                                  </p:childTnLst>
                                </p:cTn>
                              </p:par>
                            </p:childTnLst>
                          </p:cTn>
                        </p:par>
                        <p:par>
                          <p:cTn id="46" fill="hold">
                            <p:stCondLst>
                              <p:cond delay="2000"/>
                            </p:stCondLst>
                            <p:childTnLst>
                              <p:par>
                                <p:cTn id="47" presetID="10" presetClass="entr" presetSubtype="0" fill="hold" nodeType="afterEffect">
                                  <p:stCondLst>
                                    <p:cond delay="0"/>
                                  </p:stCondLst>
                                  <p:childTnLst>
                                    <p:set>
                                      <p:cBhvr>
                                        <p:cTn id="48" dur="1" fill="hold">
                                          <p:stCondLst>
                                            <p:cond delay="0"/>
                                          </p:stCondLst>
                                        </p:cTn>
                                        <p:tgtEl>
                                          <p:spTgt spid="430"/>
                                        </p:tgtEl>
                                        <p:attrNameLst>
                                          <p:attrName>style.visibility</p:attrName>
                                        </p:attrNameLst>
                                      </p:cBhvr>
                                      <p:to>
                                        <p:strVal val="visible"/>
                                      </p:to>
                                    </p:set>
                                    <p:animEffect transition="in" filter="fade">
                                      <p:cBhvr>
                                        <p:cTn id="49" dur="1000"/>
                                        <p:tgtEl>
                                          <p:spTgt spid="43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435"/>
                                        </p:tgtEl>
                                        <p:attrNameLst>
                                          <p:attrName>style.visibility</p:attrName>
                                        </p:attrNameLst>
                                      </p:cBhvr>
                                      <p:to>
                                        <p:strVal val="visible"/>
                                      </p:to>
                                    </p:set>
                                    <p:animEffect transition="in" filter="fade">
                                      <p:cBhvr>
                                        <p:cTn id="54" dur="1000"/>
                                        <p:tgtEl>
                                          <p:spTgt spid="435"/>
                                        </p:tgtEl>
                                      </p:cBhvr>
                                    </p:animEffect>
                                  </p:childTnLst>
                                </p:cTn>
                              </p:par>
                              <p:par>
                                <p:cTn id="55" presetID="10" presetClass="entr" presetSubtype="0" fill="hold" nodeType="withEffect">
                                  <p:stCondLst>
                                    <p:cond delay="0"/>
                                  </p:stCondLst>
                                  <p:childTnLst>
                                    <p:set>
                                      <p:cBhvr>
                                        <p:cTn id="56" dur="1" fill="hold">
                                          <p:stCondLst>
                                            <p:cond delay="0"/>
                                          </p:stCondLst>
                                        </p:cTn>
                                        <p:tgtEl>
                                          <p:spTgt spid="428"/>
                                        </p:tgtEl>
                                        <p:attrNameLst>
                                          <p:attrName>style.visibility</p:attrName>
                                        </p:attrNameLst>
                                      </p:cBhvr>
                                      <p:to>
                                        <p:strVal val="visible"/>
                                      </p:to>
                                    </p:set>
                                    <p:animEffect transition="in" filter="fade">
                                      <p:cBhvr>
                                        <p:cTn id="57" dur="1000"/>
                                        <p:tgtEl>
                                          <p:spTgt spid="428"/>
                                        </p:tgtEl>
                                      </p:cBhvr>
                                    </p:animEffect>
                                  </p:childTnLst>
                                </p:cTn>
                              </p:par>
                            </p:childTnLst>
                          </p:cTn>
                        </p:par>
                        <p:par>
                          <p:cTn id="58" fill="hold">
                            <p:stCondLst>
                              <p:cond delay="1000"/>
                            </p:stCondLst>
                            <p:childTnLst>
                              <p:par>
                                <p:cTn id="59" presetID="10" presetClass="entr" presetSubtype="0" fill="hold" nodeType="afterEffect">
                                  <p:stCondLst>
                                    <p:cond delay="0"/>
                                  </p:stCondLst>
                                  <p:childTnLst>
                                    <p:set>
                                      <p:cBhvr>
                                        <p:cTn id="60" dur="1" fill="hold">
                                          <p:stCondLst>
                                            <p:cond delay="0"/>
                                          </p:stCondLst>
                                        </p:cTn>
                                        <p:tgtEl>
                                          <p:spTgt spid="437"/>
                                        </p:tgtEl>
                                        <p:attrNameLst>
                                          <p:attrName>style.visibility</p:attrName>
                                        </p:attrNameLst>
                                      </p:cBhvr>
                                      <p:to>
                                        <p:strVal val="visible"/>
                                      </p:to>
                                    </p:set>
                                    <p:animEffect transition="in" filter="fade">
                                      <p:cBhvr>
                                        <p:cTn id="61" dur="1000"/>
                                        <p:tgtEl>
                                          <p:spTgt spid="4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p46"/>
          <p:cNvSpPr/>
          <p:nvPr/>
        </p:nvSpPr>
        <p:spPr>
          <a:xfrm>
            <a:off x="4647800" y="1488150"/>
            <a:ext cx="1001700" cy="543300"/>
          </a:xfrm>
          <a:prstGeom prst="wedgeRoundRectCallout">
            <a:avLst>
              <a:gd name="adj1" fmla="val -39690"/>
              <a:gd name="adj2" fmla="val 5961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I'll just use </a:t>
            </a:r>
            <a:r>
              <a:rPr lang="en" sz="1000" b="1" i="1">
                <a:solidFill>
                  <a:srgbClr val="FF0000"/>
                </a:solidFill>
              </a:rPr>
              <a:t>my </a:t>
            </a:r>
            <a:r>
              <a:rPr lang="en" sz="1000"/>
              <a:t>key to get in!</a:t>
            </a:r>
            <a:endParaRPr sz="1000"/>
          </a:p>
        </p:txBody>
      </p:sp>
      <p:sp>
        <p:nvSpPr>
          <p:cNvPr id="443" name="Google Shape;443;p46"/>
          <p:cNvSpPr txBox="1">
            <a:spLocks noGrp="1"/>
          </p:cNvSpPr>
          <p:nvPr>
            <p:ph type="title"/>
          </p:nvPr>
        </p:nvSpPr>
        <p:spPr>
          <a:xfrm>
            <a:off x="311725" y="500925"/>
            <a:ext cx="8520600" cy="623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An Illustrated Example</a:t>
            </a:r>
            <a:endParaRPr/>
          </a:p>
          <a:p>
            <a:pPr marL="0" lvl="0" indent="0" algn="l" rtl="0">
              <a:spcBef>
                <a:spcPts val="0"/>
              </a:spcBef>
              <a:spcAft>
                <a:spcPts val="0"/>
              </a:spcAft>
              <a:buNone/>
            </a:pPr>
            <a:r>
              <a:rPr lang="en" sz="1800" i="1"/>
              <a:t>A Story in 3 Parts</a:t>
            </a:r>
            <a:endParaRPr sz="1800" i="1"/>
          </a:p>
        </p:txBody>
      </p:sp>
      <p:sp>
        <p:nvSpPr>
          <p:cNvPr id="444" name="Google Shape;444;p4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15</a:t>
            </a:fld>
            <a:endParaRPr/>
          </a:p>
        </p:txBody>
      </p:sp>
      <p:sp>
        <p:nvSpPr>
          <p:cNvPr id="445" name="Google Shape;445;p46"/>
          <p:cNvSpPr txBox="1"/>
          <p:nvPr/>
        </p:nvSpPr>
        <p:spPr>
          <a:xfrm>
            <a:off x="172575" y="1391293"/>
            <a:ext cx="290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One challenge is deciding where to create the Lock.</a:t>
            </a:r>
            <a:endParaRPr sz="1200"/>
          </a:p>
        </p:txBody>
      </p:sp>
      <p:pic>
        <p:nvPicPr>
          <p:cNvPr id="446" name="Google Shape;446;p46"/>
          <p:cNvPicPr preferRelativeResize="0"/>
          <p:nvPr/>
        </p:nvPicPr>
        <p:blipFill>
          <a:blip r:embed="rId3">
            <a:alphaModFix/>
          </a:blip>
          <a:stretch>
            <a:fillRect/>
          </a:stretch>
        </p:blipFill>
        <p:spPr>
          <a:xfrm>
            <a:off x="3718979" y="1473799"/>
            <a:ext cx="876105" cy="1710343"/>
          </a:xfrm>
          <a:prstGeom prst="rect">
            <a:avLst/>
          </a:prstGeom>
          <a:noFill/>
          <a:ln>
            <a:noFill/>
          </a:ln>
        </p:spPr>
      </p:pic>
      <p:pic>
        <p:nvPicPr>
          <p:cNvPr id="447" name="Google Shape;447;p46"/>
          <p:cNvPicPr preferRelativeResize="0"/>
          <p:nvPr/>
        </p:nvPicPr>
        <p:blipFill>
          <a:blip r:embed="rId4">
            <a:alphaModFix/>
          </a:blip>
          <a:stretch>
            <a:fillRect/>
          </a:stretch>
        </p:blipFill>
        <p:spPr>
          <a:xfrm>
            <a:off x="4287665" y="2197377"/>
            <a:ext cx="272761" cy="363684"/>
          </a:xfrm>
          <a:prstGeom prst="rect">
            <a:avLst/>
          </a:prstGeom>
          <a:noFill/>
          <a:ln>
            <a:noFill/>
          </a:ln>
        </p:spPr>
      </p:pic>
      <p:sp>
        <p:nvSpPr>
          <p:cNvPr id="448" name="Google Shape;448;p46"/>
          <p:cNvSpPr txBox="1"/>
          <p:nvPr/>
        </p:nvSpPr>
        <p:spPr>
          <a:xfrm>
            <a:off x="172575" y="2049233"/>
            <a:ext cx="29001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Clearly, if each person has </a:t>
            </a:r>
            <a:r>
              <a:rPr lang="en" sz="1200" b="1" i="1">
                <a:solidFill>
                  <a:srgbClr val="FF0000"/>
                </a:solidFill>
              </a:rPr>
              <a:t>their own lock/key</a:t>
            </a:r>
            <a:r>
              <a:rPr lang="en" sz="1200"/>
              <a:t>, then one person won't be able to lock anyone else out of the toilet.</a:t>
            </a:r>
            <a:endParaRPr sz="1200"/>
          </a:p>
        </p:txBody>
      </p:sp>
      <p:grpSp>
        <p:nvGrpSpPr>
          <p:cNvPr id="449" name="Google Shape;449;p46"/>
          <p:cNvGrpSpPr/>
          <p:nvPr/>
        </p:nvGrpSpPr>
        <p:grpSpPr>
          <a:xfrm>
            <a:off x="4404775" y="1710296"/>
            <a:ext cx="687496" cy="1535299"/>
            <a:chOff x="4404775" y="1820924"/>
            <a:chExt cx="687496" cy="1535299"/>
          </a:xfrm>
        </p:grpSpPr>
        <p:pic>
          <p:nvPicPr>
            <p:cNvPr id="450" name="Google Shape;450;p46"/>
            <p:cNvPicPr preferRelativeResize="0"/>
            <p:nvPr/>
          </p:nvPicPr>
          <p:blipFill>
            <a:blip r:embed="rId5">
              <a:alphaModFix/>
            </a:blip>
            <a:stretch>
              <a:fillRect/>
            </a:stretch>
          </p:blipFill>
          <p:spPr>
            <a:xfrm>
              <a:off x="4404775" y="1820924"/>
              <a:ext cx="555275" cy="1535299"/>
            </a:xfrm>
            <a:prstGeom prst="rect">
              <a:avLst/>
            </a:prstGeom>
            <a:noFill/>
            <a:ln>
              <a:noFill/>
            </a:ln>
          </p:spPr>
        </p:pic>
        <p:pic>
          <p:nvPicPr>
            <p:cNvPr id="451" name="Google Shape;451;p46"/>
            <p:cNvPicPr preferRelativeResize="0"/>
            <p:nvPr/>
          </p:nvPicPr>
          <p:blipFill>
            <a:blip r:embed="rId6">
              <a:alphaModFix/>
            </a:blip>
            <a:stretch>
              <a:fillRect/>
            </a:stretch>
          </p:blipFill>
          <p:spPr>
            <a:xfrm rot="-900016">
              <a:off x="4864100" y="2226999"/>
              <a:ext cx="175608" cy="429302"/>
            </a:xfrm>
            <a:prstGeom prst="rect">
              <a:avLst/>
            </a:prstGeom>
            <a:noFill/>
            <a:ln>
              <a:noFill/>
            </a:ln>
          </p:spPr>
        </p:pic>
      </p:grpSp>
      <p:sp>
        <p:nvSpPr>
          <p:cNvPr id="452" name="Google Shape;452;p46"/>
          <p:cNvSpPr/>
          <p:nvPr/>
        </p:nvSpPr>
        <p:spPr>
          <a:xfrm>
            <a:off x="3200000" y="1869150"/>
            <a:ext cx="1001700" cy="483600"/>
          </a:xfrm>
          <a:prstGeom prst="wedgeRoundRectCallout">
            <a:avLst>
              <a:gd name="adj1" fmla="val 18234"/>
              <a:gd name="adj2" fmla="val 6758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And we'll use </a:t>
            </a:r>
            <a:r>
              <a:rPr lang="en" sz="1000" b="1" i="1">
                <a:solidFill>
                  <a:srgbClr val="FF0000"/>
                </a:solidFill>
              </a:rPr>
              <a:t>ours</a:t>
            </a:r>
            <a:r>
              <a:rPr lang="en" sz="1000"/>
              <a:t>!</a:t>
            </a:r>
            <a:endParaRPr sz="1000"/>
          </a:p>
        </p:txBody>
      </p:sp>
      <p:grpSp>
        <p:nvGrpSpPr>
          <p:cNvPr id="453" name="Google Shape;453;p46"/>
          <p:cNvGrpSpPr/>
          <p:nvPr/>
        </p:nvGrpSpPr>
        <p:grpSpPr>
          <a:xfrm>
            <a:off x="3540287" y="2273574"/>
            <a:ext cx="482057" cy="976428"/>
            <a:chOff x="3540287" y="2384202"/>
            <a:chExt cx="482057" cy="976428"/>
          </a:xfrm>
        </p:grpSpPr>
        <p:pic>
          <p:nvPicPr>
            <p:cNvPr id="454" name="Google Shape;454;p46"/>
            <p:cNvPicPr preferRelativeResize="0"/>
            <p:nvPr/>
          </p:nvPicPr>
          <p:blipFill>
            <a:blip r:embed="rId7">
              <a:alphaModFix/>
            </a:blip>
            <a:stretch>
              <a:fillRect/>
            </a:stretch>
          </p:blipFill>
          <p:spPr>
            <a:xfrm>
              <a:off x="3741594" y="2384202"/>
              <a:ext cx="280750" cy="976428"/>
            </a:xfrm>
            <a:prstGeom prst="rect">
              <a:avLst/>
            </a:prstGeom>
            <a:noFill/>
            <a:ln>
              <a:noFill/>
            </a:ln>
          </p:spPr>
        </p:pic>
        <p:pic>
          <p:nvPicPr>
            <p:cNvPr id="455" name="Google Shape;455;p46"/>
            <p:cNvPicPr preferRelativeResize="0"/>
            <p:nvPr/>
          </p:nvPicPr>
          <p:blipFill>
            <a:blip r:embed="rId6">
              <a:alphaModFix/>
            </a:blip>
            <a:stretch>
              <a:fillRect/>
            </a:stretch>
          </p:blipFill>
          <p:spPr>
            <a:xfrm rot="-125215">
              <a:off x="3548041" y="2531798"/>
              <a:ext cx="175607" cy="429300"/>
            </a:xfrm>
            <a:prstGeom prst="rect">
              <a:avLst/>
            </a:prstGeom>
            <a:noFill/>
            <a:ln>
              <a:noFill/>
            </a:ln>
          </p:spPr>
        </p:pic>
      </p:grpSp>
      <p:grpSp>
        <p:nvGrpSpPr>
          <p:cNvPr id="456" name="Google Shape;456;p46"/>
          <p:cNvGrpSpPr/>
          <p:nvPr/>
        </p:nvGrpSpPr>
        <p:grpSpPr>
          <a:xfrm>
            <a:off x="4311325" y="2340047"/>
            <a:ext cx="549307" cy="914025"/>
            <a:chOff x="4311325" y="2450675"/>
            <a:chExt cx="549307" cy="914025"/>
          </a:xfrm>
        </p:grpSpPr>
        <p:pic>
          <p:nvPicPr>
            <p:cNvPr id="457" name="Google Shape;457;p46"/>
            <p:cNvPicPr preferRelativeResize="0"/>
            <p:nvPr/>
          </p:nvPicPr>
          <p:blipFill>
            <a:blip r:embed="rId8">
              <a:alphaModFix/>
            </a:blip>
            <a:stretch>
              <a:fillRect/>
            </a:stretch>
          </p:blipFill>
          <p:spPr>
            <a:xfrm>
              <a:off x="4311325" y="2450675"/>
              <a:ext cx="320826" cy="914025"/>
            </a:xfrm>
            <a:prstGeom prst="rect">
              <a:avLst/>
            </a:prstGeom>
            <a:noFill/>
            <a:ln>
              <a:noFill/>
            </a:ln>
          </p:spPr>
        </p:pic>
        <p:pic>
          <p:nvPicPr>
            <p:cNvPr id="458" name="Google Shape;458;p46"/>
            <p:cNvPicPr preferRelativeResize="0"/>
            <p:nvPr/>
          </p:nvPicPr>
          <p:blipFill>
            <a:blip r:embed="rId6">
              <a:alphaModFix/>
            </a:blip>
            <a:stretch>
              <a:fillRect/>
            </a:stretch>
          </p:blipFill>
          <p:spPr>
            <a:xfrm rot="-125215">
              <a:off x="4677270" y="2531798"/>
              <a:ext cx="175607" cy="429300"/>
            </a:xfrm>
            <a:prstGeom prst="rect">
              <a:avLst/>
            </a:prstGeom>
            <a:noFill/>
            <a:ln>
              <a:noFill/>
            </a:ln>
          </p:spPr>
        </p:pic>
      </p:grpSp>
      <p:sp>
        <p:nvSpPr>
          <p:cNvPr id="459" name="Google Shape;459;p46"/>
          <p:cNvSpPr/>
          <p:nvPr/>
        </p:nvSpPr>
        <p:spPr>
          <a:xfrm>
            <a:off x="3436225" y="1149075"/>
            <a:ext cx="1227900" cy="336300"/>
          </a:xfrm>
          <a:prstGeom prst="wedgeRoundRectCallout">
            <a:avLst>
              <a:gd name="adj1" fmla="val 11261"/>
              <a:gd name="adj2" fmla="val 93433"/>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i="1">
                <a:solidFill>
                  <a:srgbClr val="FF0000"/>
                </a:solidFill>
              </a:rPr>
              <a:t>NOOOOO!</a:t>
            </a:r>
            <a:endParaRPr sz="1000" i="1">
              <a:solidFill>
                <a:srgbClr val="FF0000"/>
              </a:solidFill>
            </a:endParaRPr>
          </a:p>
        </p:txBody>
      </p:sp>
      <p:sp>
        <p:nvSpPr>
          <p:cNvPr id="460" name="Google Shape;460;p46"/>
          <p:cNvSpPr txBox="1"/>
          <p:nvPr/>
        </p:nvSpPr>
        <p:spPr>
          <a:xfrm>
            <a:off x="172575" y="3074579"/>
            <a:ext cx="290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To properly constrain access to </a:t>
            </a:r>
            <a:r>
              <a:rPr lang="en" sz="1200" b="1" i="1">
                <a:solidFill>
                  <a:srgbClr val="FF0000"/>
                </a:solidFill>
              </a:rPr>
              <a:t>one </a:t>
            </a:r>
            <a:r>
              <a:rPr lang="en" sz="1200"/>
              <a:t>person at a time, there must be a </a:t>
            </a:r>
            <a:r>
              <a:rPr lang="en" sz="1200" b="1" i="1">
                <a:solidFill>
                  <a:srgbClr val="FF0000"/>
                </a:solidFill>
              </a:rPr>
              <a:t>single shared lock/key</a:t>
            </a:r>
            <a:r>
              <a:rPr lang="en" sz="1200"/>
              <a:t>.</a:t>
            </a:r>
            <a:endParaRPr sz="1200"/>
          </a:p>
        </p:txBody>
      </p:sp>
      <p:sp>
        <p:nvSpPr>
          <p:cNvPr id="461" name="Google Shape;461;p46"/>
          <p:cNvSpPr txBox="1"/>
          <p:nvPr/>
        </p:nvSpPr>
        <p:spPr>
          <a:xfrm>
            <a:off x="172575" y="3919664"/>
            <a:ext cx="29001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At the same time, if </a:t>
            </a:r>
            <a:r>
              <a:rPr lang="en" sz="1200" b="1" i="1">
                <a:solidFill>
                  <a:srgbClr val="FF0000"/>
                </a:solidFill>
              </a:rPr>
              <a:t>one</a:t>
            </a:r>
            <a:r>
              <a:rPr lang="en" sz="1200">
                <a:solidFill>
                  <a:srgbClr val="FF0000"/>
                </a:solidFill>
              </a:rPr>
              <a:t> </a:t>
            </a:r>
            <a:r>
              <a:rPr lang="en" sz="1200"/>
              <a:t>bathroom is in use, we don't want to lock </a:t>
            </a:r>
            <a:r>
              <a:rPr lang="en" sz="1200" b="1" i="1">
                <a:solidFill>
                  <a:srgbClr val="FF0000"/>
                </a:solidFill>
              </a:rPr>
              <a:t>all</a:t>
            </a:r>
            <a:r>
              <a:rPr lang="en" sz="1200">
                <a:solidFill>
                  <a:srgbClr val="FF0000"/>
                </a:solidFill>
              </a:rPr>
              <a:t> </a:t>
            </a:r>
            <a:r>
              <a:rPr lang="en" sz="1200"/>
              <a:t>of them. So if there is </a:t>
            </a:r>
            <a:r>
              <a:rPr lang="en" sz="1200" b="1" i="1">
                <a:solidFill>
                  <a:srgbClr val="FF0000"/>
                </a:solidFill>
              </a:rPr>
              <a:t>more than one</a:t>
            </a:r>
            <a:r>
              <a:rPr lang="en" sz="1200"/>
              <a:t> critical resource, there should be </a:t>
            </a:r>
            <a:r>
              <a:rPr lang="en" sz="1200" b="1" i="1">
                <a:solidFill>
                  <a:srgbClr val="FF0000"/>
                </a:solidFill>
              </a:rPr>
              <a:t>more than one</a:t>
            </a:r>
            <a:r>
              <a:rPr lang="en" sz="1200"/>
              <a:t> lock.</a:t>
            </a:r>
            <a:endParaRPr sz="1200"/>
          </a:p>
        </p:txBody>
      </p:sp>
      <p:grpSp>
        <p:nvGrpSpPr>
          <p:cNvPr id="462" name="Google Shape;462;p46"/>
          <p:cNvGrpSpPr/>
          <p:nvPr/>
        </p:nvGrpSpPr>
        <p:grpSpPr>
          <a:xfrm>
            <a:off x="3261779" y="3316370"/>
            <a:ext cx="876105" cy="1710343"/>
            <a:chOff x="3261779" y="3316370"/>
            <a:chExt cx="876105" cy="1710343"/>
          </a:xfrm>
        </p:grpSpPr>
        <p:pic>
          <p:nvPicPr>
            <p:cNvPr id="463" name="Google Shape;463;p46"/>
            <p:cNvPicPr preferRelativeResize="0"/>
            <p:nvPr/>
          </p:nvPicPr>
          <p:blipFill>
            <a:blip r:embed="rId3">
              <a:alphaModFix/>
            </a:blip>
            <a:stretch>
              <a:fillRect/>
            </a:stretch>
          </p:blipFill>
          <p:spPr>
            <a:xfrm>
              <a:off x="3261779" y="3316370"/>
              <a:ext cx="876105" cy="1710343"/>
            </a:xfrm>
            <a:prstGeom prst="rect">
              <a:avLst/>
            </a:prstGeom>
            <a:noFill/>
            <a:ln>
              <a:noFill/>
            </a:ln>
          </p:spPr>
        </p:pic>
        <p:pic>
          <p:nvPicPr>
            <p:cNvPr id="464" name="Google Shape;464;p46"/>
            <p:cNvPicPr preferRelativeResize="0"/>
            <p:nvPr/>
          </p:nvPicPr>
          <p:blipFill>
            <a:blip r:embed="rId4">
              <a:alphaModFix/>
            </a:blip>
            <a:stretch>
              <a:fillRect/>
            </a:stretch>
          </p:blipFill>
          <p:spPr>
            <a:xfrm>
              <a:off x="3830465" y="4164806"/>
              <a:ext cx="272761" cy="363684"/>
            </a:xfrm>
            <a:prstGeom prst="rect">
              <a:avLst/>
            </a:prstGeom>
            <a:noFill/>
            <a:ln>
              <a:noFill/>
            </a:ln>
          </p:spPr>
        </p:pic>
      </p:grpSp>
      <p:grpSp>
        <p:nvGrpSpPr>
          <p:cNvPr id="465" name="Google Shape;465;p46"/>
          <p:cNvGrpSpPr/>
          <p:nvPr/>
        </p:nvGrpSpPr>
        <p:grpSpPr>
          <a:xfrm>
            <a:off x="4252379" y="3316370"/>
            <a:ext cx="1256242" cy="1710343"/>
            <a:chOff x="4252379" y="3316370"/>
            <a:chExt cx="1256242" cy="1710343"/>
          </a:xfrm>
        </p:grpSpPr>
        <p:pic>
          <p:nvPicPr>
            <p:cNvPr id="466" name="Google Shape;466;p46"/>
            <p:cNvPicPr preferRelativeResize="0"/>
            <p:nvPr/>
          </p:nvPicPr>
          <p:blipFill>
            <a:blip r:embed="rId3">
              <a:alphaModFix/>
            </a:blip>
            <a:stretch>
              <a:fillRect/>
            </a:stretch>
          </p:blipFill>
          <p:spPr>
            <a:xfrm>
              <a:off x="4252379" y="3316370"/>
              <a:ext cx="876105" cy="1710343"/>
            </a:xfrm>
            <a:prstGeom prst="rect">
              <a:avLst/>
            </a:prstGeom>
            <a:noFill/>
            <a:ln>
              <a:noFill/>
            </a:ln>
          </p:spPr>
        </p:pic>
        <p:grpSp>
          <p:nvGrpSpPr>
            <p:cNvPr id="467" name="Google Shape;467;p46"/>
            <p:cNvGrpSpPr/>
            <p:nvPr/>
          </p:nvGrpSpPr>
          <p:grpSpPr>
            <a:xfrm>
              <a:off x="4722360" y="4119630"/>
              <a:ext cx="786261" cy="558124"/>
              <a:chOff x="4188960" y="2187088"/>
              <a:chExt cx="786261" cy="558124"/>
            </a:xfrm>
          </p:grpSpPr>
          <p:pic>
            <p:nvPicPr>
              <p:cNvPr id="468" name="Google Shape;468;p46"/>
              <p:cNvPicPr preferRelativeResize="0"/>
              <p:nvPr/>
            </p:nvPicPr>
            <p:blipFill>
              <a:blip r:embed="rId9">
                <a:alphaModFix/>
              </a:blip>
              <a:stretch>
                <a:fillRect/>
              </a:stretch>
            </p:blipFill>
            <p:spPr>
              <a:xfrm rot="1800001">
                <a:off x="4251499" y="2268647"/>
                <a:ext cx="423687" cy="363684"/>
              </a:xfrm>
              <a:prstGeom prst="rect">
                <a:avLst/>
              </a:prstGeom>
              <a:noFill/>
              <a:ln>
                <a:noFill/>
              </a:ln>
            </p:spPr>
          </p:pic>
          <p:pic>
            <p:nvPicPr>
              <p:cNvPr id="469" name="Google Shape;469;p46"/>
              <p:cNvPicPr preferRelativeResize="0"/>
              <p:nvPr/>
            </p:nvPicPr>
            <p:blipFill>
              <a:blip r:embed="rId6">
                <a:alphaModFix/>
              </a:blip>
              <a:stretch>
                <a:fillRect/>
              </a:stretch>
            </p:blipFill>
            <p:spPr>
              <a:xfrm rot="-900016">
                <a:off x="4747050" y="2300499"/>
                <a:ext cx="175608" cy="429302"/>
              </a:xfrm>
              <a:prstGeom prst="rect">
                <a:avLst/>
              </a:prstGeom>
              <a:noFill/>
              <a:ln>
                <a:noFill/>
              </a:ln>
            </p:spPr>
          </p:pic>
        </p:grpSp>
      </p:grpSp>
      <p:sp>
        <p:nvSpPr>
          <p:cNvPr id="470" name="Google Shape;470;p46"/>
          <p:cNvSpPr txBox="1"/>
          <p:nvPr/>
        </p:nvSpPr>
        <p:spPr>
          <a:xfrm>
            <a:off x="5726250" y="1362093"/>
            <a:ext cx="29001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In order to work, the </a:t>
            </a:r>
            <a:r>
              <a:rPr lang="en" sz="1200" b="1" i="1">
                <a:solidFill>
                  <a:srgbClr val="FF0000"/>
                </a:solidFill>
              </a:rPr>
              <a:t>lock</a:t>
            </a:r>
            <a:r>
              <a:rPr lang="en" sz="1200">
                <a:solidFill>
                  <a:srgbClr val="FF0000"/>
                </a:solidFill>
              </a:rPr>
              <a:t> </a:t>
            </a:r>
            <a:r>
              <a:rPr lang="en" sz="1200"/>
              <a:t>must be </a:t>
            </a:r>
            <a:r>
              <a:rPr lang="en" sz="1200" b="1" i="1">
                <a:solidFill>
                  <a:srgbClr val="FF0000"/>
                </a:solidFill>
              </a:rPr>
              <a:t>shared</a:t>
            </a:r>
            <a:r>
              <a:rPr lang="en" sz="1200">
                <a:solidFill>
                  <a:srgbClr val="FF0000"/>
                </a:solidFill>
              </a:rPr>
              <a:t> </a:t>
            </a:r>
            <a:r>
              <a:rPr lang="en" sz="1200"/>
              <a:t>by all of the threads trying to use the </a:t>
            </a:r>
            <a:r>
              <a:rPr lang="en" sz="1200" b="1" i="1">
                <a:solidFill>
                  <a:srgbClr val="FF0000"/>
                </a:solidFill>
              </a:rPr>
              <a:t>shared resource</a:t>
            </a:r>
            <a:r>
              <a:rPr lang="en" sz="1200"/>
              <a:t>.</a:t>
            </a:r>
            <a:r>
              <a:rPr lang="en" sz="1200" i="1"/>
              <a:t> </a:t>
            </a:r>
            <a:endParaRPr sz="1200"/>
          </a:p>
        </p:txBody>
      </p:sp>
      <p:sp>
        <p:nvSpPr>
          <p:cNvPr id="471" name="Google Shape;471;p46"/>
          <p:cNvSpPr txBox="1"/>
          <p:nvPr/>
        </p:nvSpPr>
        <p:spPr>
          <a:xfrm>
            <a:off x="5726275" y="4491439"/>
            <a:ext cx="29001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The </a:t>
            </a:r>
            <a:r>
              <a:rPr lang="en" sz="1200" b="1" i="1">
                <a:solidFill>
                  <a:srgbClr val="FF0000"/>
                </a:solidFill>
              </a:rPr>
              <a:t>finally</a:t>
            </a:r>
            <a:r>
              <a:rPr lang="en" sz="1200"/>
              <a:t> section of the try block is executed not matter how the try exits.</a:t>
            </a:r>
            <a:endParaRPr sz="1200"/>
          </a:p>
        </p:txBody>
      </p:sp>
      <p:sp>
        <p:nvSpPr>
          <p:cNvPr id="472" name="Google Shape;472;p46"/>
          <p:cNvSpPr txBox="1"/>
          <p:nvPr/>
        </p:nvSpPr>
        <p:spPr>
          <a:xfrm>
            <a:off x="5726274" y="2163374"/>
            <a:ext cx="2900100" cy="2262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a:t>
            </a:r>
            <a:r>
              <a:rPr lang="en" sz="900">
                <a:solidFill>
                  <a:srgbClr val="0000FF"/>
                </a:solidFill>
                <a:highlight>
                  <a:srgbClr val="FFFFFF"/>
                </a:highlight>
                <a:latin typeface="Consolas"/>
                <a:ea typeface="Consolas"/>
                <a:cs typeface="Consolas"/>
                <a:sym typeface="Consolas"/>
              </a:rPr>
              <a:t>  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Person</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2</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private</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boolean</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3</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4</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5</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if</a:t>
            </a:r>
            <a:r>
              <a:rPr lang="en" sz="900">
                <a:solidFill>
                  <a:srgbClr val="3B3B3B"/>
                </a:solidFill>
                <a:highlight>
                  <a:srgbClr val="FFFFFF"/>
                </a:highlight>
                <a:latin typeface="Consolas"/>
                <a:ea typeface="Consolas"/>
                <a:cs typeface="Consolas"/>
                <a:sym typeface="Consolas"/>
              </a:rPr>
              <a:t>(</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6</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7 </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try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8</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9</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r>
              <a:rPr lang="en" sz="900">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false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10 </a:t>
            </a:r>
            <a:r>
              <a:rPr lang="en" sz="900">
                <a:solidFill>
                  <a:srgbClr val="3B3B3B"/>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finally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11 </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unlock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12 </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13  </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14</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15</a:t>
            </a:r>
            <a:r>
              <a:rPr lang="en" sz="900">
                <a:solidFill>
                  <a:srgbClr val="3B3B3B"/>
                </a:solidFill>
                <a:highlight>
                  <a:srgbClr val="FFFFFF"/>
                </a:highlight>
                <a:latin typeface="Consolas"/>
                <a:ea typeface="Consolas"/>
                <a:cs typeface="Consolas"/>
                <a:sym typeface="Consolas"/>
              </a:rPr>
              <a:t> }</a:t>
            </a:r>
            <a:endParaRPr sz="900">
              <a:solidFill>
                <a:srgbClr val="098658"/>
              </a:solidFill>
              <a:latin typeface="Consolas"/>
              <a:ea typeface="Consolas"/>
              <a:cs typeface="Consolas"/>
              <a:sym typeface="Consolas"/>
            </a:endParaRPr>
          </a:p>
        </p:txBody>
      </p:sp>
      <p:sp>
        <p:nvSpPr>
          <p:cNvPr id="473" name="Google Shape;473;p46"/>
          <p:cNvSpPr/>
          <p:nvPr/>
        </p:nvSpPr>
        <p:spPr>
          <a:xfrm>
            <a:off x="6055072" y="3542126"/>
            <a:ext cx="465400" cy="956650"/>
          </a:xfrm>
          <a:custGeom>
            <a:avLst/>
            <a:gdLst/>
            <a:ahLst/>
            <a:cxnLst/>
            <a:rect l="l" t="t" r="r" b="b"/>
            <a:pathLst>
              <a:path w="18616" h="38266" extrusionOk="0">
                <a:moveTo>
                  <a:pt x="2437" y="38267"/>
                </a:moveTo>
                <a:cubicBezTo>
                  <a:pt x="2075" y="33880"/>
                  <a:pt x="-742" y="18144"/>
                  <a:pt x="264" y="11946"/>
                </a:cubicBezTo>
                <a:cubicBezTo>
                  <a:pt x="1270" y="5748"/>
                  <a:pt x="5415" y="3011"/>
                  <a:pt x="8474" y="1079"/>
                </a:cubicBezTo>
                <a:cubicBezTo>
                  <a:pt x="11533" y="-853"/>
                  <a:pt x="16926" y="476"/>
                  <a:pt x="18616" y="355"/>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5"/>
                                        </p:tgtEl>
                                        <p:attrNameLst>
                                          <p:attrName>style.visibility</p:attrName>
                                        </p:attrNameLst>
                                      </p:cBhvr>
                                      <p:to>
                                        <p:strVal val="visible"/>
                                      </p:to>
                                    </p:set>
                                    <p:animEffect transition="in" filter="fade">
                                      <p:cBhvr>
                                        <p:cTn id="7" dur="1000"/>
                                        <p:tgtEl>
                                          <p:spTgt spid="44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48"/>
                                        </p:tgtEl>
                                        <p:attrNameLst>
                                          <p:attrName>style.visibility</p:attrName>
                                        </p:attrNameLst>
                                      </p:cBhvr>
                                      <p:to>
                                        <p:strVal val="visible"/>
                                      </p:to>
                                    </p:set>
                                    <p:animEffect transition="in" filter="fade">
                                      <p:cBhvr>
                                        <p:cTn id="12" dur="1000"/>
                                        <p:tgtEl>
                                          <p:spTgt spid="448"/>
                                        </p:tgtEl>
                                      </p:cBhvr>
                                    </p:animEffect>
                                  </p:childTnLst>
                                </p:cTn>
                              </p:par>
                            </p:childTnLst>
                          </p:cTn>
                        </p:par>
                        <p:par>
                          <p:cTn id="13" fill="hold">
                            <p:stCondLst>
                              <p:cond delay="1000"/>
                            </p:stCondLst>
                            <p:childTnLst>
                              <p:par>
                                <p:cTn id="14" presetID="2" presetClass="entr" presetSubtype="2" fill="hold" nodeType="afterEffect">
                                  <p:stCondLst>
                                    <p:cond delay="0"/>
                                  </p:stCondLst>
                                  <p:childTnLst>
                                    <p:set>
                                      <p:cBhvr>
                                        <p:cTn id="15" dur="1" fill="hold">
                                          <p:stCondLst>
                                            <p:cond delay="0"/>
                                          </p:stCondLst>
                                        </p:cTn>
                                        <p:tgtEl>
                                          <p:spTgt spid="449"/>
                                        </p:tgtEl>
                                        <p:attrNameLst>
                                          <p:attrName>style.visibility</p:attrName>
                                        </p:attrNameLst>
                                      </p:cBhvr>
                                      <p:to>
                                        <p:strVal val="visible"/>
                                      </p:to>
                                    </p:set>
                                    <p:anim calcmode="lin" valueType="num">
                                      <p:cBhvr additive="base">
                                        <p:cTn id="16" dur="1000"/>
                                        <p:tgtEl>
                                          <p:spTgt spid="449"/>
                                        </p:tgtEl>
                                        <p:attrNameLst>
                                          <p:attrName>ppt_x</p:attrName>
                                        </p:attrNameLst>
                                      </p:cBhvr>
                                      <p:tavLst>
                                        <p:tav tm="0">
                                          <p:val>
                                            <p:strVal val="#ppt_x+1"/>
                                          </p:val>
                                        </p:tav>
                                        <p:tav tm="100000">
                                          <p:val>
                                            <p:strVal val="#ppt_x"/>
                                          </p:val>
                                        </p:tav>
                                      </p:tavLst>
                                    </p:anim>
                                  </p:childTnLst>
                                </p:cTn>
                              </p:par>
                            </p:childTnLst>
                          </p:cTn>
                        </p:par>
                        <p:par>
                          <p:cTn id="17" fill="hold">
                            <p:stCondLst>
                              <p:cond delay="2000"/>
                            </p:stCondLst>
                            <p:childTnLst>
                              <p:par>
                                <p:cTn id="18" presetID="10" presetClass="entr" presetSubtype="0" fill="hold" nodeType="afterEffect">
                                  <p:stCondLst>
                                    <p:cond delay="0"/>
                                  </p:stCondLst>
                                  <p:childTnLst>
                                    <p:set>
                                      <p:cBhvr>
                                        <p:cTn id="19" dur="1" fill="hold">
                                          <p:stCondLst>
                                            <p:cond delay="0"/>
                                          </p:stCondLst>
                                        </p:cTn>
                                        <p:tgtEl>
                                          <p:spTgt spid="442"/>
                                        </p:tgtEl>
                                        <p:attrNameLst>
                                          <p:attrName>style.visibility</p:attrName>
                                        </p:attrNameLst>
                                      </p:cBhvr>
                                      <p:to>
                                        <p:strVal val="visible"/>
                                      </p:to>
                                    </p:set>
                                    <p:animEffect transition="in" filter="fade">
                                      <p:cBhvr>
                                        <p:cTn id="20" dur="1000"/>
                                        <p:tgtEl>
                                          <p:spTgt spid="442"/>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453"/>
                                        </p:tgtEl>
                                        <p:attrNameLst>
                                          <p:attrName>style.visibility</p:attrName>
                                        </p:attrNameLst>
                                      </p:cBhvr>
                                      <p:to>
                                        <p:strVal val="visible"/>
                                      </p:to>
                                    </p:set>
                                    <p:anim calcmode="lin" valueType="num">
                                      <p:cBhvr additive="base">
                                        <p:cTn id="25" dur="1000"/>
                                        <p:tgtEl>
                                          <p:spTgt spid="453"/>
                                        </p:tgtEl>
                                        <p:attrNameLst>
                                          <p:attrName>ppt_x</p:attrName>
                                        </p:attrNameLst>
                                      </p:cBhvr>
                                      <p:tavLst>
                                        <p:tav tm="0">
                                          <p:val>
                                            <p:strVal val="#ppt_x-1"/>
                                          </p:val>
                                        </p:tav>
                                        <p:tav tm="100000">
                                          <p:val>
                                            <p:strVal val="#ppt_x"/>
                                          </p:val>
                                        </p:tav>
                                      </p:tavLst>
                                    </p:anim>
                                  </p:childTnLst>
                                </p:cTn>
                              </p:par>
                              <p:par>
                                <p:cTn id="26" presetID="2" presetClass="entr" presetSubtype="2" fill="hold" nodeType="withEffect">
                                  <p:stCondLst>
                                    <p:cond delay="0"/>
                                  </p:stCondLst>
                                  <p:childTnLst>
                                    <p:set>
                                      <p:cBhvr>
                                        <p:cTn id="27" dur="1" fill="hold">
                                          <p:stCondLst>
                                            <p:cond delay="0"/>
                                          </p:stCondLst>
                                        </p:cTn>
                                        <p:tgtEl>
                                          <p:spTgt spid="456"/>
                                        </p:tgtEl>
                                        <p:attrNameLst>
                                          <p:attrName>style.visibility</p:attrName>
                                        </p:attrNameLst>
                                      </p:cBhvr>
                                      <p:to>
                                        <p:strVal val="visible"/>
                                      </p:to>
                                    </p:set>
                                    <p:anim calcmode="lin" valueType="num">
                                      <p:cBhvr additive="base">
                                        <p:cTn id="28" dur="1000"/>
                                        <p:tgtEl>
                                          <p:spTgt spid="456"/>
                                        </p:tgtEl>
                                        <p:attrNameLst>
                                          <p:attrName>ppt_x</p:attrName>
                                        </p:attrNameLst>
                                      </p:cBhvr>
                                      <p:tavLst>
                                        <p:tav tm="0">
                                          <p:val>
                                            <p:strVal val="#ppt_x+1"/>
                                          </p:val>
                                        </p:tav>
                                        <p:tav tm="100000">
                                          <p:val>
                                            <p:strVal val="#ppt_x"/>
                                          </p:val>
                                        </p:tav>
                                      </p:tavLst>
                                    </p:anim>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452"/>
                                        </p:tgtEl>
                                        <p:attrNameLst>
                                          <p:attrName>style.visibility</p:attrName>
                                        </p:attrNameLst>
                                      </p:cBhvr>
                                      <p:to>
                                        <p:strVal val="visible"/>
                                      </p:to>
                                    </p:set>
                                    <p:animEffect transition="in" filter="fade">
                                      <p:cBhvr>
                                        <p:cTn id="32" dur="1000"/>
                                        <p:tgtEl>
                                          <p:spTgt spid="452"/>
                                        </p:tgtEl>
                                      </p:cBhvr>
                                    </p:animEffect>
                                  </p:childTnLst>
                                </p:cTn>
                              </p:par>
                            </p:childTnLst>
                          </p:cTn>
                        </p:par>
                        <p:par>
                          <p:cTn id="33" fill="hold">
                            <p:stCondLst>
                              <p:cond delay="2000"/>
                            </p:stCondLst>
                            <p:childTnLst>
                              <p:par>
                                <p:cTn id="34" presetID="10" presetClass="entr" presetSubtype="0" fill="hold" nodeType="afterEffect">
                                  <p:stCondLst>
                                    <p:cond delay="0"/>
                                  </p:stCondLst>
                                  <p:childTnLst>
                                    <p:set>
                                      <p:cBhvr>
                                        <p:cTn id="35" dur="1" fill="hold">
                                          <p:stCondLst>
                                            <p:cond delay="0"/>
                                          </p:stCondLst>
                                        </p:cTn>
                                        <p:tgtEl>
                                          <p:spTgt spid="459"/>
                                        </p:tgtEl>
                                        <p:attrNameLst>
                                          <p:attrName>style.visibility</p:attrName>
                                        </p:attrNameLst>
                                      </p:cBhvr>
                                      <p:to>
                                        <p:strVal val="visible"/>
                                      </p:to>
                                    </p:set>
                                    <p:animEffect transition="in" filter="fade">
                                      <p:cBhvr>
                                        <p:cTn id="36" dur="1000"/>
                                        <p:tgtEl>
                                          <p:spTgt spid="45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60"/>
                                        </p:tgtEl>
                                        <p:attrNameLst>
                                          <p:attrName>style.visibility</p:attrName>
                                        </p:attrNameLst>
                                      </p:cBhvr>
                                      <p:to>
                                        <p:strVal val="visible"/>
                                      </p:to>
                                    </p:set>
                                    <p:animEffect transition="in" filter="fade">
                                      <p:cBhvr>
                                        <p:cTn id="41" dur="1000"/>
                                        <p:tgtEl>
                                          <p:spTgt spid="46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461"/>
                                        </p:tgtEl>
                                        <p:attrNameLst>
                                          <p:attrName>style.visibility</p:attrName>
                                        </p:attrNameLst>
                                      </p:cBhvr>
                                      <p:to>
                                        <p:strVal val="visible"/>
                                      </p:to>
                                    </p:set>
                                    <p:animEffect transition="in" filter="fade">
                                      <p:cBhvr>
                                        <p:cTn id="46" dur="1000"/>
                                        <p:tgtEl>
                                          <p:spTgt spid="461"/>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462"/>
                                        </p:tgtEl>
                                        <p:attrNameLst>
                                          <p:attrName>style.visibility</p:attrName>
                                        </p:attrNameLst>
                                      </p:cBhvr>
                                      <p:to>
                                        <p:strVal val="visible"/>
                                      </p:to>
                                    </p:set>
                                    <p:animEffect transition="in" filter="fade">
                                      <p:cBhvr>
                                        <p:cTn id="50" dur="1000"/>
                                        <p:tgtEl>
                                          <p:spTgt spid="462"/>
                                        </p:tgtEl>
                                      </p:cBhvr>
                                    </p:animEffect>
                                  </p:childTnLst>
                                </p:cTn>
                              </p:par>
                              <p:par>
                                <p:cTn id="51" presetID="10" presetClass="entr" presetSubtype="0" fill="hold" nodeType="withEffect">
                                  <p:stCondLst>
                                    <p:cond delay="0"/>
                                  </p:stCondLst>
                                  <p:childTnLst>
                                    <p:set>
                                      <p:cBhvr>
                                        <p:cTn id="52" dur="1" fill="hold">
                                          <p:stCondLst>
                                            <p:cond delay="0"/>
                                          </p:stCondLst>
                                        </p:cTn>
                                        <p:tgtEl>
                                          <p:spTgt spid="465"/>
                                        </p:tgtEl>
                                        <p:attrNameLst>
                                          <p:attrName>style.visibility</p:attrName>
                                        </p:attrNameLst>
                                      </p:cBhvr>
                                      <p:to>
                                        <p:strVal val="visible"/>
                                      </p:to>
                                    </p:set>
                                    <p:animEffect transition="in" filter="fade">
                                      <p:cBhvr>
                                        <p:cTn id="53" dur="1000"/>
                                        <p:tgtEl>
                                          <p:spTgt spid="465"/>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70"/>
                                        </p:tgtEl>
                                        <p:attrNameLst>
                                          <p:attrName>style.visibility</p:attrName>
                                        </p:attrNameLst>
                                      </p:cBhvr>
                                      <p:to>
                                        <p:strVal val="visible"/>
                                      </p:to>
                                    </p:set>
                                    <p:animEffect transition="in" filter="fade">
                                      <p:cBhvr>
                                        <p:cTn id="58" dur="1000"/>
                                        <p:tgtEl>
                                          <p:spTgt spid="47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71"/>
                                        </p:tgtEl>
                                        <p:attrNameLst>
                                          <p:attrName>style.visibility</p:attrName>
                                        </p:attrNameLst>
                                      </p:cBhvr>
                                      <p:to>
                                        <p:strVal val="visible"/>
                                      </p:to>
                                    </p:set>
                                    <p:animEffect transition="in" filter="fade">
                                      <p:cBhvr>
                                        <p:cTn id="63" dur="1000"/>
                                        <p:tgtEl>
                                          <p:spTgt spid="4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p47"/>
          <p:cNvSpPr txBox="1">
            <a:spLocks noGrp="1"/>
          </p:cNvSpPr>
          <p:nvPr>
            <p:ph type="title"/>
          </p:nvPr>
        </p:nvSpPr>
        <p:spPr>
          <a:xfrm>
            <a:off x="5264725" y="5009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ReentrantLock</a:t>
            </a:r>
            <a:endParaRPr/>
          </a:p>
        </p:txBody>
      </p:sp>
      <p:sp>
        <p:nvSpPr>
          <p:cNvPr id="479" name="Google Shape;479;p47"/>
          <p:cNvSpPr txBox="1">
            <a:spLocks noGrp="1"/>
          </p:cNvSpPr>
          <p:nvPr>
            <p:ph type="body" idx="1"/>
          </p:nvPr>
        </p:nvSpPr>
        <p:spPr>
          <a:xfrm>
            <a:off x="301275" y="500925"/>
            <a:ext cx="4166400" cy="44322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sz="1200" dirty="0"/>
              <a:t>Lock is an interface with several implementations.</a:t>
            </a:r>
            <a:endParaRPr sz="1200" dirty="0"/>
          </a:p>
          <a:p>
            <a:pPr marL="457200" lvl="0" indent="-304800" algn="l" rtl="0">
              <a:spcBef>
                <a:spcPts val="1000"/>
              </a:spcBef>
              <a:spcAft>
                <a:spcPts val="0"/>
              </a:spcAft>
              <a:buSzPts val="1200"/>
              <a:buChar char="●"/>
            </a:pPr>
            <a:r>
              <a:rPr lang="en" sz="1200" dirty="0"/>
              <a:t>For this class, we will use the </a:t>
            </a:r>
            <a:r>
              <a:rPr lang="en" sz="1200" dirty="0">
                <a:solidFill>
                  <a:srgbClr val="FF0000"/>
                </a:solidFill>
                <a:highlight>
                  <a:srgbClr val="FFFF00"/>
                </a:highlight>
                <a:latin typeface="Courier New"/>
                <a:ea typeface="Courier New"/>
                <a:cs typeface="Courier New"/>
                <a:sym typeface="Courier New"/>
              </a:rPr>
              <a:t>ReentrantLock</a:t>
            </a:r>
            <a:r>
              <a:rPr lang="en" sz="1200" dirty="0">
                <a:highlight>
                  <a:srgbClr val="FFFF00"/>
                </a:highlight>
              </a:rPr>
              <a:t> </a:t>
            </a:r>
            <a:r>
              <a:rPr lang="en" sz="1200" dirty="0"/>
              <a:t>implementation.</a:t>
            </a:r>
            <a:endParaRPr sz="1200" dirty="0"/>
          </a:p>
          <a:p>
            <a:pPr marL="457200" lvl="0" indent="-304800" algn="l" rtl="0">
              <a:spcBef>
                <a:spcPts val="1000"/>
              </a:spcBef>
              <a:spcAft>
                <a:spcPts val="0"/>
              </a:spcAft>
              <a:buSzPts val="1200"/>
              <a:buChar char="●"/>
            </a:pPr>
            <a:r>
              <a:rPr lang="en" sz="1200" dirty="0"/>
              <a:t>It has several methods but the two most important ones are:</a:t>
            </a:r>
            <a:endParaRPr sz="1200" dirty="0"/>
          </a:p>
          <a:p>
            <a:pPr marL="914400" lvl="1" indent="-292100" algn="l" rtl="0">
              <a:spcBef>
                <a:spcPts val="0"/>
              </a:spcBef>
              <a:spcAft>
                <a:spcPts val="0"/>
              </a:spcAft>
              <a:buSzPts val="1000"/>
              <a:buChar char="○"/>
            </a:pPr>
            <a:r>
              <a:rPr lang="en" sz="1000" dirty="0">
                <a:solidFill>
                  <a:srgbClr val="FF0000"/>
                </a:solidFill>
                <a:highlight>
                  <a:srgbClr val="FFFF00"/>
                </a:highlight>
                <a:latin typeface="Courier New"/>
                <a:ea typeface="Courier New"/>
                <a:cs typeface="Courier New"/>
                <a:sym typeface="Courier New"/>
              </a:rPr>
              <a:t>lock()</a:t>
            </a:r>
            <a:r>
              <a:rPr lang="en" sz="1000" dirty="0">
                <a:highlight>
                  <a:srgbClr val="FFFF00"/>
                </a:highlight>
              </a:rPr>
              <a:t> </a:t>
            </a:r>
            <a:r>
              <a:rPr lang="en" sz="1000" dirty="0"/>
              <a:t>- locks the lock. The thread that locked it can execute. Any other thread trying to lock it will block.</a:t>
            </a:r>
            <a:endParaRPr sz="1000" dirty="0"/>
          </a:p>
          <a:p>
            <a:pPr marL="914400" lvl="1" indent="-292100" algn="l" rtl="0">
              <a:spcBef>
                <a:spcPts val="0"/>
              </a:spcBef>
              <a:spcAft>
                <a:spcPts val="0"/>
              </a:spcAft>
              <a:buSzPts val="1000"/>
              <a:buChar char="○"/>
            </a:pPr>
            <a:r>
              <a:rPr lang="en" sz="1000" dirty="0">
                <a:solidFill>
                  <a:srgbClr val="FF0000"/>
                </a:solidFill>
                <a:highlight>
                  <a:srgbClr val="FFFF00"/>
                </a:highlight>
                <a:latin typeface="Courier New"/>
                <a:ea typeface="Courier New"/>
                <a:cs typeface="Courier New"/>
                <a:sym typeface="Courier New"/>
              </a:rPr>
              <a:t>unlock()</a:t>
            </a:r>
            <a:r>
              <a:rPr lang="en" sz="1000" dirty="0">
                <a:highlight>
                  <a:srgbClr val="FFFF00"/>
                </a:highlight>
              </a:rPr>
              <a:t> </a:t>
            </a:r>
            <a:r>
              <a:rPr lang="en" sz="1000" dirty="0"/>
              <a:t>- unlocks the lock allowing other threads to lock it.</a:t>
            </a:r>
            <a:endParaRPr sz="1000" dirty="0"/>
          </a:p>
          <a:p>
            <a:pPr marL="457200" lvl="0" indent="-304800" algn="l" rtl="0">
              <a:spcBef>
                <a:spcPts val="1000"/>
              </a:spcBef>
              <a:spcAft>
                <a:spcPts val="0"/>
              </a:spcAft>
              <a:buSzPts val="1200"/>
              <a:buChar char="●"/>
            </a:pPr>
            <a:r>
              <a:rPr lang="en" sz="1200" dirty="0"/>
              <a:t>The funny name </a:t>
            </a:r>
            <a:r>
              <a:rPr lang="en" sz="1200" b="1" i="1" dirty="0">
                <a:solidFill>
                  <a:srgbClr val="FF0000"/>
                </a:solidFill>
              </a:rPr>
              <a:t>reentrant</a:t>
            </a:r>
            <a:r>
              <a:rPr lang="en" sz="1200" dirty="0"/>
              <a:t> takes care of an important issue.</a:t>
            </a:r>
            <a:endParaRPr sz="1200" dirty="0"/>
          </a:p>
          <a:p>
            <a:pPr marL="914400" lvl="1" indent="-292100" algn="l" rtl="0">
              <a:spcBef>
                <a:spcPts val="0"/>
              </a:spcBef>
              <a:spcAft>
                <a:spcPts val="0"/>
              </a:spcAft>
              <a:buSzPts val="1000"/>
              <a:buChar char="○"/>
            </a:pPr>
            <a:r>
              <a:rPr lang="en" sz="1000" dirty="0">
                <a:highlight>
                  <a:srgbClr val="FFFF00"/>
                </a:highlight>
              </a:rPr>
              <a:t>If the thread is </a:t>
            </a:r>
            <a:r>
              <a:rPr lang="en" sz="1000" b="1" i="1" dirty="0">
                <a:solidFill>
                  <a:srgbClr val="FF0000"/>
                </a:solidFill>
                <a:highlight>
                  <a:srgbClr val="FFFF00"/>
                </a:highlight>
              </a:rPr>
              <a:t>already the lock holder</a:t>
            </a:r>
            <a:r>
              <a:rPr lang="en" sz="1000" dirty="0">
                <a:highlight>
                  <a:srgbClr val="FFFF00"/>
                </a:highlight>
              </a:rPr>
              <a:t> calling </a:t>
            </a:r>
            <a:r>
              <a:rPr lang="en" sz="1000" dirty="0">
                <a:highlight>
                  <a:srgbClr val="FFFF00"/>
                </a:highlight>
                <a:latin typeface="Courier New"/>
                <a:ea typeface="Courier New"/>
                <a:cs typeface="Courier New"/>
                <a:sym typeface="Courier New"/>
              </a:rPr>
              <a:t>lock()</a:t>
            </a:r>
            <a:r>
              <a:rPr lang="en" sz="1000" dirty="0">
                <a:highlight>
                  <a:srgbClr val="FFFF00"/>
                </a:highlight>
              </a:rPr>
              <a:t> on the </a:t>
            </a:r>
            <a:r>
              <a:rPr lang="en" sz="1000" dirty="0">
                <a:highlight>
                  <a:srgbClr val="FFFF00"/>
                </a:highlight>
                <a:latin typeface="Courier New"/>
                <a:ea typeface="Courier New"/>
                <a:cs typeface="Courier New"/>
                <a:sym typeface="Courier New"/>
              </a:rPr>
              <a:t>Lock</a:t>
            </a:r>
            <a:r>
              <a:rPr lang="en" sz="1000" dirty="0">
                <a:highlight>
                  <a:srgbClr val="FFFF00"/>
                </a:highlight>
              </a:rPr>
              <a:t> </a:t>
            </a:r>
            <a:r>
              <a:rPr lang="en" sz="1000" b="1" i="1" dirty="0">
                <a:solidFill>
                  <a:srgbClr val="FF0000"/>
                </a:solidFill>
                <a:highlight>
                  <a:srgbClr val="FFFF00"/>
                </a:highlight>
              </a:rPr>
              <a:t>will not</a:t>
            </a:r>
            <a:r>
              <a:rPr lang="en" sz="1000" dirty="0">
                <a:highlight>
                  <a:srgbClr val="FFFF00"/>
                </a:highlight>
              </a:rPr>
              <a:t> cause it to </a:t>
            </a:r>
            <a:r>
              <a:rPr lang="en" sz="1000" b="1" i="1" dirty="0">
                <a:solidFill>
                  <a:srgbClr val="FF0000"/>
                </a:solidFill>
                <a:highlight>
                  <a:srgbClr val="FFFF00"/>
                </a:highlight>
              </a:rPr>
              <a:t>block</a:t>
            </a:r>
            <a:r>
              <a:rPr lang="en" sz="1000" dirty="0">
                <a:highlight>
                  <a:srgbClr val="FFFF00"/>
                </a:highlight>
              </a:rPr>
              <a:t>.</a:t>
            </a:r>
            <a:endParaRPr sz="1000" dirty="0">
              <a:highlight>
                <a:srgbClr val="FFFF00"/>
              </a:highlight>
            </a:endParaRPr>
          </a:p>
          <a:p>
            <a:pPr marL="457200" lvl="0" indent="-304800" algn="l" rtl="0">
              <a:spcBef>
                <a:spcPts val="1000"/>
              </a:spcBef>
              <a:spcAft>
                <a:spcPts val="0"/>
              </a:spcAft>
              <a:buSzPts val="1200"/>
              <a:buChar char="●"/>
            </a:pPr>
            <a:r>
              <a:rPr lang="en" sz="1200" dirty="0"/>
              <a:t>Because it is crucial that the lock is eventually released, you should use it with a </a:t>
            </a:r>
            <a:r>
              <a:rPr lang="en" sz="1200" dirty="0">
                <a:highlight>
                  <a:srgbClr val="FFFF00"/>
                </a:highlight>
                <a:latin typeface="Courier New"/>
                <a:ea typeface="Courier New"/>
                <a:cs typeface="Courier New"/>
                <a:sym typeface="Courier New"/>
              </a:rPr>
              <a:t>try</a:t>
            </a:r>
            <a:r>
              <a:rPr lang="en" sz="1200" dirty="0">
                <a:highlight>
                  <a:srgbClr val="FFFF00"/>
                </a:highlight>
              </a:rPr>
              <a:t>/</a:t>
            </a:r>
            <a:r>
              <a:rPr lang="en" sz="1200" dirty="0">
                <a:highlight>
                  <a:srgbClr val="FFFF00"/>
                </a:highlight>
                <a:latin typeface="Courier New"/>
                <a:ea typeface="Courier New"/>
                <a:cs typeface="Courier New"/>
                <a:sym typeface="Courier New"/>
              </a:rPr>
              <a:t>finally</a:t>
            </a:r>
            <a:r>
              <a:rPr lang="en" sz="1200" dirty="0">
                <a:highlight>
                  <a:srgbClr val="FFFF00"/>
                </a:highlight>
              </a:rPr>
              <a:t> </a:t>
            </a:r>
            <a:r>
              <a:rPr lang="en" sz="1200" dirty="0"/>
              <a:t>block.</a:t>
            </a:r>
            <a:endParaRPr sz="1200" dirty="0"/>
          </a:p>
          <a:p>
            <a:pPr marL="914400" lvl="1" indent="-292100" algn="l" rtl="0">
              <a:spcBef>
                <a:spcPts val="0"/>
              </a:spcBef>
              <a:spcAft>
                <a:spcPts val="0"/>
              </a:spcAft>
              <a:buSzPts val="1000"/>
              <a:buChar char="○"/>
            </a:pPr>
            <a:r>
              <a:rPr lang="en" sz="1000" dirty="0">
                <a:highlight>
                  <a:srgbClr val="FFFF00"/>
                </a:highlight>
                <a:latin typeface="Courier New"/>
                <a:ea typeface="Courier New"/>
                <a:cs typeface="Courier New"/>
                <a:sym typeface="Courier New"/>
              </a:rPr>
              <a:t>finally</a:t>
            </a:r>
            <a:r>
              <a:rPr lang="en" sz="1000" dirty="0"/>
              <a:t> ensures that no matter what happens in a </a:t>
            </a:r>
            <a:r>
              <a:rPr lang="en" sz="1000" dirty="0">
                <a:latin typeface="Courier New"/>
                <a:ea typeface="Courier New"/>
                <a:cs typeface="Courier New"/>
                <a:sym typeface="Courier New"/>
              </a:rPr>
              <a:t>try</a:t>
            </a:r>
            <a:r>
              <a:rPr lang="en" sz="1000" dirty="0"/>
              <a:t> block, the </a:t>
            </a:r>
            <a:r>
              <a:rPr lang="en" sz="1000" dirty="0">
                <a:latin typeface="Courier New"/>
                <a:ea typeface="Courier New"/>
                <a:cs typeface="Courier New"/>
                <a:sym typeface="Courier New"/>
              </a:rPr>
              <a:t>finally</a:t>
            </a:r>
            <a:r>
              <a:rPr lang="en" sz="1000" dirty="0"/>
              <a:t> block will be executed</a:t>
            </a:r>
            <a:endParaRPr sz="1000" dirty="0"/>
          </a:p>
        </p:txBody>
      </p:sp>
      <p:sp>
        <p:nvSpPr>
          <p:cNvPr id="480" name="Google Shape;480;p47"/>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16</a:t>
            </a:fld>
            <a:endParaRPr/>
          </a:p>
        </p:txBody>
      </p:sp>
      <p:sp>
        <p:nvSpPr>
          <p:cNvPr id="481" name="Google Shape;481;p47"/>
          <p:cNvSpPr txBox="1">
            <a:spLocks noGrp="1"/>
          </p:cNvSpPr>
          <p:nvPr>
            <p:ph type="body" idx="2"/>
          </p:nvPr>
        </p:nvSpPr>
        <p:spPr>
          <a:xfrm>
            <a:off x="5192225" y="1286175"/>
            <a:ext cx="3706500" cy="2697300"/>
          </a:xfrm>
          <a:prstGeom prst="rect">
            <a:avLst/>
          </a:prstGeom>
          <a:solidFill>
            <a:schemeClr val="lt1"/>
          </a:solidFill>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a:t>
            </a:r>
            <a:r>
              <a:rPr lang="en" sz="900">
                <a:solidFill>
                  <a:srgbClr val="0000FF"/>
                </a:solidFill>
                <a:highlight>
                  <a:srgbClr val="FFFFFF"/>
                </a:highlight>
                <a:latin typeface="Consolas"/>
                <a:ea typeface="Consolas"/>
                <a:cs typeface="Consolas"/>
                <a:sym typeface="Consolas"/>
              </a:rPr>
              <a:t>  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Pottyv2</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2</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private</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int</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capacity</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100</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3</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private</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double</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messLevel</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4</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final</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 </a:t>
            </a:r>
            <a:r>
              <a:rPr lang="en" sz="900">
                <a:solidFill>
                  <a:srgbClr val="0070C1"/>
                </a:solidFill>
                <a:highlight>
                  <a:srgbClr val="FFFFFF"/>
                </a:highlight>
                <a:latin typeface="Consolas"/>
                <a:ea typeface="Consolas"/>
                <a:cs typeface="Consolas"/>
                <a:sym typeface="Consolas"/>
              </a:rPr>
              <a:t>door</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5</a:t>
            </a:r>
            <a:endParaRPr sz="90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6 </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7 </a:t>
            </a:r>
            <a:r>
              <a:rPr lang="en" sz="900">
                <a:solidFill>
                  <a:srgbClr val="3B3B3B"/>
                </a:solidFill>
                <a:highlight>
                  <a:srgbClr val="FFFFFF"/>
                </a:highlight>
                <a:latin typeface="Consolas"/>
                <a:ea typeface="Consolas"/>
                <a:cs typeface="Consolas"/>
                <a:sym typeface="Consolas"/>
              </a:rPr>
              <a:t>         </a:t>
            </a:r>
            <a:r>
              <a:rPr lang="en" sz="900">
                <a:solidFill>
                  <a:srgbClr val="0070C1"/>
                </a:solidFill>
                <a:highlight>
                  <a:srgbClr val="FFFFFF"/>
                </a:highlight>
                <a:latin typeface="Consolas"/>
                <a:ea typeface="Consolas"/>
                <a:cs typeface="Consolas"/>
                <a:sym typeface="Consolas"/>
              </a:rPr>
              <a:t>door</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new</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ReentrantLock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8</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9</a:t>
            </a:r>
            <a:endParaRPr sz="90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10</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11</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return</a:t>
            </a:r>
            <a:r>
              <a:rPr lang="en" sz="900">
                <a:solidFill>
                  <a:srgbClr val="3B3B3B"/>
                </a:solidFill>
                <a:highlight>
                  <a:srgbClr val="FFFFFF"/>
                </a:highlight>
                <a:latin typeface="Consolas"/>
                <a:ea typeface="Consolas"/>
                <a:cs typeface="Consolas"/>
                <a:sym typeface="Consolas"/>
              </a:rPr>
              <a:t> </a:t>
            </a:r>
            <a:r>
              <a:rPr lang="en" sz="900">
                <a:solidFill>
                  <a:srgbClr val="0070C1"/>
                </a:solidFill>
                <a:highlight>
                  <a:srgbClr val="FFFFFF"/>
                </a:highlight>
                <a:latin typeface="Consolas"/>
                <a:ea typeface="Consolas"/>
                <a:cs typeface="Consolas"/>
                <a:sym typeface="Consolas"/>
              </a:rPr>
              <a:t>door</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12</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13</a:t>
            </a:r>
            <a:endParaRPr sz="90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14</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15</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capacity</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1</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16 </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messLevel</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98658"/>
                </a:solidFill>
                <a:highlight>
                  <a:srgbClr val="FFFFFF"/>
                </a:highlight>
                <a:latin typeface="Consolas"/>
                <a:ea typeface="Consolas"/>
                <a:cs typeface="Consolas"/>
                <a:sym typeface="Consolas"/>
              </a:rPr>
              <a:t>0.10</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17</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chemeClr val="accent5"/>
                </a:solidFill>
                <a:highlight>
                  <a:srgbClr val="FFFFFF"/>
                </a:highlight>
                <a:latin typeface="Consolas"/>
                <a:ea typeface="Consolas"/>
                <a:cs typeface="Consolas"/>
                <a:sym typeface="Consolas"/>
              </a:rPr>
              <a:t>33</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1600"/>
              </a:spcAft>
              <a:buNone/>
            </a:pPr>
            <a:endParaRPr sz="900"/>
          </a:p>
        </p:txBody>
      </p:sp>
      <p:sp>
        <p:nvSpPr>
          <p:cNvPr id="482" name="Google Shape;482;p47"/>
          <p:cNvSpPr txBox="1">
            <a:spLocks noGrp="1"/>
          </p:cNvSpPr>
          <p:nvPr>
            <p:ph type="body" idx="3"/>
          </p:nvPr>
        </p:nvSpPr>
        <p:spPr>
          <a:xfrm>
            <a:off x="5192225" y="4089650"/>
            <a:ext cx="3706500" cy="638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highlight>
                  <a:srgbClr val="FFFF00"/>
                </a:highlight>
              </a:rPr>
              <a:t>In our previous example the </a:t>
            </a:r>
            <a:r>
              <a:rPr lang="en" b="1" i="1" dirty="0">
                <a:solidFill>
                  <a:srgbClr val="FF0000"/>
                </a:solidFill>
                <a:highlight>
                  <a:srgbClr val="FFFF00"/>
                </a:highlight>
              </a:rPr>
              <a:t>door</a:t>
            </a:r>
            <a:r>
              <a:rPr lang="en" dirty="0">
                <a:highlight>
                  <a:srgbClr val="FFFF00"/>
                </a:highlight>
              </a:rPr>
              <a:t> is a </a:t>
            </a:r>
            <a:r>
              <a:rPr lang="en" dirty="0">
                <a:solidFill>
                  <a:srgbClr val="FF0000"/>
                </a:solidFill>
                <a:highlight>
                  <a:srgbClr val="FFFF00"/>
                </a:highlight>
                <a:latin typeface="Courier New"/>
                <a:ea typeface="Courier New"/>
                <a:cs typeface="Courier New"/>
                <a:sym typeface="Courier New"/>
              </a:rPr>
              <a:t>ReentrantLock</a:t>
            </a:r>
            <a:r>
              <a:rPr lang="en" dirty="0">
                <a:highlight>
                  <a:srgbClr val="FFFF00"/>
                </a:highlight>
              </a:rPr>
              <a:t>.</a:t>
            </a:r>
            <a:endParaRPr dirty="0">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4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Thread-Safe Counting</a:t>
            </a:r>
            <a:endParaRPr/>
          </a:p>
        </p:txBody>
      </p:sp>
      <p:sp>
        <p:nvSpPr>
          <p:cNvPr id="488" name="Google Shape;488;p4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a:latin typeface="Courier New"/>
                <a:ea typeface="Courier New"/>
                <a:cs typeface="Courier New"/>
                <a:sym typeface="Courier New"/>
              </a:rPr>
              <a:t>COUNT</a:t>
            </a:r>
            <a:r>
              <a:rPr lang="en"/>
              <a:t> in </a:t>
            </a:r>
            <a:r>
              <a:rPr lang="en">
                <a:latin typeface="Courier New"/>
                <a:ea typeface="Courier New"/>
                <a:cs typeface="Courier New"/>
                <a:sym typeface="Courier New"/>
              </a:rPr>
              <a:t>TheCount</a:t>
            </a:r>
            <a:r>
              <a:rPr lang="en"/>
              <a:t> is a shared resource. Maybe it's not as important as securing the door on a portable toilet, but we should still protect it from being corrupted if/when it is used by more than one thread. Modify the </a:t>
            </a:r>
            <a:r>
              <a:rPr lang="en">
                <a:latin typeface="Courier New"/>
                <a:ea typeface="Courier New"/>
                <a:cs typeface="Courier New"/>
                <a:sym typeface="Courier New"/>
              </a:rPr>
              <a:t>TheCount</a:t>
            </a:r>
            <a:r>
              <a:rPr lang="en"/>
              <a:t> so that it is thread-safe. </a:t>
            </a:r>
            <a:endParaRPr/>
          </a:p>
        </p:txBody>
      </p:sp>
      <p:sp>
        <p:nvSpPr>
          <p:cNvPr id="489" name="Google Shape;489;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17</a:t>
            </a:fld>
            <a:endParaRPr/>
          </a:p>
        </p:txBody>
      </p:sp>
      <p:sp>
        <p:nvSpPr>
          <p:cNvPr id="490" name="Google Shape;490;p48"/>
          <p:cNvSpPr txBox="1">
            <a:spLocks noGrp="1"/>
          </p:cNvSpPr>
          <p:nvPr>
            <p:ph type="body" idx="2"/>
          </p:nvPr>
        </p:nvSpPr>
        <p:spPr>
          <a:xfrm>
            <a:off x="3562625" y="1814781"/>
            <a:ext cx="5378400" cy="2655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dirty="0"/>
              <a:t>Open </a:t>
            </a:r>
            <a:r>
              <a:rPr lang="en" sz="1500" dirty="0">
                <a:latin typeface="Courier New"/>
                <a:ea typeface="Courier New"/>
                <a:cs typeface="Courier New"/>
                <a:sym typeface="Courier New"/>
              </a:rPr>
              <a:t>TheCount</a:t>
            </a:r>
            <a:r>
              <a:rPr lang="en" sz="1500" dirty="0"/>
              <a:t> and modify it so that it is </a:t>
            </a:r>
            <a:r>
              <a:rPr lang="en" sz="1500" b="1" i="1" dirty="0">
                <a:solidFill>
                  <a:srgbClr val="FF0000"/>
                </a:solidFill>
              </a:rPr>
              <a:t>thread-safe</a:t>
            </a:r>
            <a:r>
              <a:rPr lang="en" sz="1500" dirty="0"/>
              <a:t>.</a:t>
            </a:r>
            <a:endParaRPr sz="1500" dirty="0"/>
          </a:p>
          <a:p>
            <a:pPr marL="914400" lvl="1" indent="-311150" algn="l" rtl="0">
              <a:spcBef>
                <a:spcPts val="0"/>
              </a:spcBef>
              <a:spcAft>
                <a:spcPts val="0"/>
              </a:spcAft>
              <a:buSzPts val="1300"/>
              <a:buChar char="○"/>
            </a:pPr>
            <a:r>
              <a:rPr lang="en" sz="1300" dirty="0"/>
              <a:t>First create a </a:t>
            </a:r>
            <a:r>
              <a:rPr lang="en" sz="1300" dirty="0">
                <a:latin typeface="Courier New"/>
                <a:ea typeface="Courier New"/>
                <a:cs typeface="Courier New"/>
                <a:sym typeface="Courier New"/>
              </a:rPr>
              <a:t>static Lock</a:t>
            </a:r>
            <a:r>
              <a:rPr lang="en" sz="1300" dirty="0"/>
              <a:t>. It must be </a:t>
            </a:r>
            <a:r>
              <a:rPr lang="en" sz="1300" b="1" i="1" dirty="0">
                <a:solidFill>
                  <a:srgbClr val="FF0000"/>
                </a:solidFill>
              </a:rPr>
              <a:t>static </a:t>
            </a:r>
            <a:r>
              <a:rPr lang="en" sz="1300" dirty="0"/>
              <a:t>so all instances will share it.</a:t>
            </a:r>
            <a:endParaRPr sz="1300" dirty="0"/>
          </a:p>
          <a:p>
            <a:pPr marL="914400" lvl="1" indent="-311150" algn="l" rtl="0">
              <a:spcBef>
                <a:spcPts val="0"/>
              </a:spcBef>
              <a:spcAft>
                <a:spcPts val="0"/>
              </a:spcAft>
              <a:buSzPts val="1300"/>
              <a:buChar char="○"/>
            </a:pPr>
            <a:r>
              <a:rPr lang="en" sz="1300" dirty="0"/>
              <a:t>Enclose the</a:t>
            </a:r>
            <a:r>
              <a:rPr lang="en" sz="1300" dirty="0">
                <a:solidFill>
                  <a:srgbClr val="FF0000"/>
                </a:solidFill>
              </a:rPr>
              <a:t> </a:t>
            </a:r>
            <a:r>
              <a:rPr lang="en" sz="1300" b="1" i="1" dirty="0">
                <a:solidFill>
                  <a:srgbClr val="FF0000"/>
                </a:solidFill>
              </a:rPr>
              <a:t>entire body</a:t>
            </a:r>
            <a:r>
              <a:rPr lang="en" sz="1300" dirty="0"/>
              <a:t> of the </a:t>
            </a:r>
            <a:r>
              <a:rPr lang="en" sz="1300" dirty="0">
                <a:latin typeface="Courier New"/>
                <a:ea typeface="Courier New"/>
                <a:cs typeface="Courier New"/>
                <a:sym typeface="Courier New"/>
              </a:rPr>
              <a:t>run()</a:t>
            </a:r>
            <a:r>
              <a:rPr lang="en" sz="1300" dirty="0"/>
              <a:t> method inside a locked region of code.</a:t>
            </a:r>
            <a:endParaRPr sz="1300" dirty="0"/>
          </a:p>
          <a:p>
            <a:pPr marL="914400" lvl="1" indent="-311150" algn="l" rtl="0">
              <a:spcBef>
                <a:spcPts val="0"/>
              </a:spcBef>
              <a:spcAft>
                <a:spcPts val="0"/>
              </a:spcAft>
              <a:buSzPts val="1300"/>
              <a:buChar char="○"/>
            </a:pPr>
            <a:r>
              <a:rPr lang="en" sz="1300" dirty="0"/>
              <a:t>Remember to unlock the lock before exiting</a:t>
            </a:r>
            <a:endParaRPr sz="1300" dirty="0"/>
          </a:p>
          <a:p>
            <a:pPr marL="1371600" lvl="2" indent="-311150" algn="l" rtl="0">
              <a:spcBef>
                <a:spcPts val="0"/>
              </a:spcBef>
              <a:spcAft>
                <a:spcPts val="0"/>
              </a:spcAft>
              <a:buSzPts val="1300"/>
              <a:buChar char="■"/>
            </a:pPr>
            <a:r>
              <a:rPr lang="en" sz="1300" dirty="0"/>
              <a:t>Use </a:t>
            </a:r>
            <a:r>
              <a:rPr lang="en" sz="1300" dirty="0">
                <a:latin typeface="Courier New"/>
                <a:ea typeface="Courier New"/>
                <a:cs typeface="Courier New"/>
                <a:sym typeface="Courier New"/>
              </a:rPr>
              <a:t>try</a:t>
            </a:r>
            <a:r>
              <a:rPr lang="en" sz="1300" dirty="0"/>
              <a:t>/</a:t>
            </a:r>
            <a:r>
              <a:rPr lang="en" sz="1300" dirty="0">
                <a:latin typeface="Courier New"/>
                <a:ea typeface="Courier New"/>
                <a:cs typeface="Courier New"/>
                <a:sym typeface="Courier New"/>
              </a:rPr>
              <a:t>finally</a:t>
            </a:r>
            <a:endParaRPr sz="1300" dirty="0">
              <a:latin typeface="Courier New"/>
              <a:ea typeface="Courier New"/>
              <a:cs typeface="Courier New"/>
              <a:sym typeface="Courier New"/>
            </a:endParaRPr>
          </a:p>
          <a:p>
            <a:pPr marL="457200" lvl="0" indent="-323850" algn="l" rtl="0">
              <a:spcBef>
                <a:spcPts val="1000"/>
              </a:spcBef>
              <a:spcAft>
                <a:spcPts val="0"/>
              </a:spcAft>
              <a:buSzPts val="1500"/>
              <a:buChar char="●"/>
            </a:pPr>
            <a:r>
              <a:rPr lang="en" sz="1500" b="1" i="1" dirty="0">
                <a:solidFill>
                  <a:srgbClr val="FF0000"/>
                </a:solidFill>
              </a:rPr>
              <a:t>Compile</a:t>
            </a:r>
            <a:r>
              <a:rPr lang="en" sz="1500" dirty="0">
                <a:solidFill>
                  <a:srgbClr val="FF0000"/>
                </a:solidFill>
              </a:rPr>
              <a:t> </a:t>
            </a:r>
            <a:r>
              <a:rPr lang="en" sz="1500" dirty="0"/>
              <a:t>and </a:t>
            </a:r>
            <a:r>
              <a:rPr lang="en" sz="1500" b="1" i="1" dirty="0">
                <a:solidFill>
                  <a:srgbClr val="FF0000"/>
                </a:solidFill>
              </a:rPr>
              <a:t>run</a:t>
            </a:r>
            <a:r>
              <a:rPr lang="en" sz="1500" dirty="0">
                <a:solidFill>
                  <a:srgbClr val="FF0000"/>
                </a:solidFill>
              </a:rPr>
              <a:t> </a:t>
            </a:r>
            <a:r>
              <a:rPr lang="en" sz="1500" dirty="0"/>
              <a:t>your code.</a:t>
            </a:r>
            <a:endParaRPr sz="1500" dirty="0"/>
          </a:p>
          <a:p>
            <a:pPr marL="914400" lvl="1" indent="-311150" algn="l" rtl="0">
              <a:spcBef>
                <a:spcPts val="0"/>
              </a:spcBef>
              <a:spcAft>
                <a:spcPts val="0"/>
              </a:spcAft>
              <a:buSzPts val="1300"/>
              <a:buChar char="○"/>
            </a:pPr>
            <a:r>
              <a:rPr lang="en" sz="1300" dirty="0"/>
              <a:t>Did the </a:t>
            </a:r>
            <a:r>
              <a:rPr lang="en" sz="1300" dirty="0">
                <a:latin typeface="Courier New"/>
                <a:ea typeface="Courier New"/>
                <a:cs typeface="Courier New"/>
                <a:sym typeface="Courier New"/>
              </a:rPr>
              <a:t>COUNT</a:t>
            </a:r>
            <a:r>
              <a:rPr lang="en" sz="1300" dirty="0"/>
              <a:t> make it all the way to </a:t>
            </a:r>
            <a:r>
              <a:rPr lang="en" sz="1300" dirty="0">
                <a:latin typeface="Courier New"/>
                <a:ea typeface="Courier New"/>
                <a:cs typeface="Courier New"/>
                <a:sym typeface="Courier New"/>
              </a:rPr>
              <a:t>1,000,000</a:t>
            </a:r>
            <a:r>
              <a:rPr lang="en" sz="1300" dirty="0"/>
              <a:t>?</a:t>
            </a:r>
            <a:endParaRPr sz="1300" dirty="0"/>
          </a:p>
          <a:p>
            <a:pPr marL="914400" lvl="1" indent="-311150" algn="l" rtl="0">
              <a:spcBef>
                <a:spcPts val="0"/>
              </a:spcBef>
              <a:spcAft>
                <a:spcPts val="0"/>
              </a:spcAft>
              <a:buSzPts val="1300"/>
              <a:buChar char="○"/>
            </a:pPr>
            <a:r>
              <a:rPr lang="en" sz="1300" dirty="0"/>
              <a:t>Do you notice anything else </a:t>
            </a:r>
            <a:r>
              <a:rPr lang="en" sz="1300" b="1" i="1" dirty="0">
                <a:solidFill>
                  <a:srgbClr val="FF0000"/>
                </a:solidFill>
              </a:rPr>
              <a:t>unusual </a:t>
            </a:r>
            <a:r>
              <a:rPr lang="en" sz="1300" dirty="0"/>
              <a:t>about the output?</a:t>
            </a:r>
            <a:endParaRPr sz="1300" dirty="0"/>
          </a:p>
        </p:txBody>
      </p:sp>
      <p:sp>
        <p:nvSpPr>
          <p:cNvPr id="491" name="Google Shape;491;p48"/>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11.4</a:t>
            </a:r>
            <a:endParaRPr/>
          </a:p>
        </p:txBody>
      </p:sp>
      <p:sp>
        <p:nvSpPr>
          <p:cNvPr id="492" name="Google Shape;492;p48"/>
          <p:cNvSpPr txBox="1"/>
          <p:nvPr/>
        </p:nvSpPr>
        <p:spPr>
          <a:xfrm>
            <a:off x="220549" y="2984461"/>
            <a:ext cx="2900100" cy="17085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void</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r>
              <a:rPr lang="en" sz="900">
                <a:solidFill>
                  <a:srgbClr val="267F99"/>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if</a:t>
            </a:r>
            <a:r>
              <a:rPr lang="en" sz="900">
                <a:solidFill>
                  <a:srgbClr val="3B3B3B"/>
                </a:solidFill>
                <a:highlight>
                  <a:srgbClr val="FFFFFF"/>
                </a:highlight>
                <a:latin typeface="Consolas"/>
                <a:ea typeface="Consolas"/>
                <a:cs typeface="Consolas"/>
                <a:sym typeface="Consolas"/>
              </a:rPr>
              <a:t>(</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try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bladderFull</a:t>
            </a:r>
            <a:r>
              <a:rPr lang="en" sz="900">
                <a:solidFill>
                  <a:srgbClr val="3B3B3B"/>
                </a:solidFill>
                <a:highlight>
                  <a:srgbClr val="FFFFFF"/>
                </a:highlight>
                <a:latin typeface="Consolas"/>
                <a:ea typeface="Consolas"/>
                <a:cs typeface="Consolas"/>
                <a:sym typeface="Consolas"/>
              </a:rPr>
              <a:t> </a:t>
            </a:r>
            <a:r>
              <a:rPr lang="en" sz="900">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false</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 </a:t>
            </a:r>
            <a:r>
              <a:rPr lang="en" sz="900">
                <a:solidFill>
                  <a:srgbClr val="AF00DB"/>
                </a:solidFill>
                <a:highlight>
                  <a:srgbClr val="FFFFFF"/>
                </a:highlight>
                <a:latin typeface="Consolas"/>
                <a:ea typeface="Consolas"/>
                <a:cs typeface="Consolas"/>
                <a:sym typeface="Consolas"/>
              </a:rPr>
              <a:t>finally</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1080"/>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a:t>
            </a:r>
            <a:r>
              <a:rPr lang="en" sz="900">
                <a:solidFill>
                  <a:srgbClr val="0070C1"/>
                </a:solidFill>
                <a:highlight>
                  <a:srgbClr val="FFFFFF"/>
                </a:highlight>
                <a:latin typeface="Consolas"/>
                <a:ea typeface="Consolas"/>
                <a:cs typeface="Consolas"/>
                <a:sym typeface="Consolas"/>
              </a:rPr>
              <a:t>getDoor()</a:t>
            </a:r>
            <a:r>
              <a:rPr lang="en" sz="900">
                <a:solidFill>
                  <a:srgbClr val="3B3B3B"/>
                </a:solidFill>
                <a:highlight>
                  <a:srgbClr val="FFFFFF"/>
                </a:highlight>
                <a:latin typeface="Consolas"/>
                <a:ea typeface="Consolas"/>
                <a:cs typeface="Consolas"/>
                <a:sym typeface="Consolas"/>
              </a:rPr>
              <a:t>.</a:t>
            </a:r>
            <a:r>
              <a:rPr lang="en" sz="900">
                <a:solidFill>
                  <a:srgbClr val="795E26"/>
                </a:solidFill>
                <a:highlight>
                  <a:srgbClr val="FFFFFF"/>
                </a:highlight>
                <a:latin typeface="Consolas"/>
                <a:ea typeface="Consolas"/>
                <a:cs typeface="Consolas"/>
                <a:sym typeface="Consolas"/>
              </a:rPr>
              <a:t>unlock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a:t>
            </a:r>
            <a:endParaRPr sz="900">
              <a:solidFill>
                <a:srgbClr val="098658"/>
              </a:solidFill>
              <a:latin typeface="Consolas"/>
              <a:ea typeface="Consolas"/>
              <a:cs typeface="Consolas"/>
              <a:sym typeface="Consolas"/>
            </a:endParaRPr>
          </a:p>
        </p:txBody>
      </p:sp>
      <p:sp>
        <p:nvSpPr>
          <p:cNvPr id="493" name="Google Shape;493;p48"/>
          <p:cNvSpPr txBox="1">
            <a:spLocks noGrp="1"/>
          </p:cNvSpPr>
          <p:nvPr>
            <p:ph type="body" idx="4"/>
          </p:nvPr>
        </p:nvSpPr>
        <p:spPr>
          <a:xfrm>
            <a:off x="220550" y="1843827"/>
            <a:ext cx="2900100" cy="1015800"/>
          </a:xfrm>
          <a:prstGeom prst="rect">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class</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Pottyv2</a:t>
            </a:r>
            <a:r>
              <a:rPr lang="en" sz="900">
                <a:solidFill>
                  <a:srgbClr val="3B3B3B"/>
                </a:solidFill>
                <a:highlight>
                  <a:srgbClr val="FFFFFF"/>
                </a:highlight>
                <a:latin typeface="Consolas"/>
                <a:ea typeface="Consolas"/>
                <a:cs typeface="Consolas"/>
                <a:sym typeface="Consolas"/>
              </a:rPr>
              <a:t>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final</a:t>
            </a:r>
            <a:r>
              <a:rPr lang="en" sz="900">
                <a:solidFill>
                  <a:srgbClr val="3B3B3B"/>
                </a:solidFill>
                <a:highlight>
                  <a:srgbClr val="FFFFFF"/>
                </a:highlight>
                <a:latin typeface="Consolas"/>
                <a:ea typeface="Consolas"/>
                <a:cs typeface="Consolas"/>
                <a:sym typeface="Consolas"/>
              </a:rPr>
              <a:t> </a:t>
            </a:r>
            <a:r>
              <a:rPr lang="en" sz="900">
                <a:solidFill>
                  <a:srgbClr val="267F99"/>
                </a:solidFill>
                <a:highlight>
                  <a:srgbClr val="FFFFFF"/>
                </a:highlight>
                <a:latin typeface="Consolas"/>
                <a:ea typeface="Consolas"/>
                <a:cs typeface="Consolas"/>
                <a:sym typeface="Consolas"/>
              </a:rPr>
              <a:t>Lock</a:t>
            </a:r>
            <a:r>
              <a:rPr lang="en" sz="900">
                <a:solidFill>
                  <a:srgbClr val="3B3B3B"/>
                </a:solidFill>
                <a:highlight>
                  <a:srgbClr val="FFFFFF"/>
                </a:highlight>
                <a:latin typeface="Consolas"/>
                <a:ea typeface="Consolas"/>
                <a:cs typeface="Consolas"/>
                <a:sym typeface="Consolas"/>
              </a:rPr>
              <a:t> </a:t>
            </a:r>
            <a:r>
              <a:rPr lang="en" sz="900">
                <a:solidFill>
                  <a:srgbClr val="0070C1"/>
                </a:solidFill>
                <a:highlight>
                  <a:srgbClr val="FFFFFF"/>
                </a:highlight>
                <a:latin typeface="Consolas"/>
                <a:ea typeface="Consolas"/>
                <a:cs typeface="Consolas"/>
                <a:sym typeface="Consolas"/>
              </a:rPr>
              <a:t>door</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00FF"/>
                </a:solidFill>
                <a:highlight>
                  <a:srgbClr val="FFFFFF"/>
                </a:highlight>
                <a:latin typeface="Consolas"/>
                <a:ea typeface="Consolas"/>
                <a:cs typeface="Consolas"/>
                <a:sym typeface="Consolas"/>
              </a:rPr>
              <a:t>public</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Potty</a:t>
            </a:r>
            <a:r>
              <a:rPr lang="en" sz="900">
                <a:solidFill>
                  <a:srgbClr val="3B3B3B"/>
                </a:solidFill>
                <a:highlight>
                  <a:srgbClr val="FFFFFF"/>
                </a:highlight>
                <a:latin typeface="Consolas"/>
                <a:ea typeface="Consolas"/>
                <a:cs typeface="Consolas"/>
                <a:sym typeface="Consolas"/>
              </a:rPr>
              <a:t> () {</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r>
              <a:rPr lang="en" sz="900">
                <a:solidFill>
                  <a:srgbClr val="0070C1"/>
                </a:solidFill>
                <a:highlight>
                  <a:srgbClr val="FFFFFF"/>
                </a:highlight>
                <a:latin typeface="Consolas"/>
                <a:ea typeface="Consolas"/>
                <a:cs typeface="Consolas"/>
                <a:sym typeface="Consolas"/>
              </a:rPr>
              <a:t>door</a:t>
            </a:r>
            <a:r>
              <a:rPr lang="en" sz="900">
                <a:solidFill>
                  <a:srgbClr val="3B3B3B"/>
                </a:solidFill>
                <a:highlight>
                  <a:srgbClr val="FFFFFF"/>
                </a:highlight>
                <a:latin typeface="Consolas"/>
                <a:ea typeface="Consolas"/>
                <a:cs typeface="Consolas"/>
                <a:sym typeface="Consolas"/>
              </a:rPr>
              <a:t> </a:t>
            </a:r>
            <a:r>
              <a:rPr lang="en" sz="900">
                <a:solidFill>
                  <a:srgbClr val="000000"/>
                </a:solidFill>
                <a:highlight>
                  <a:srgbClr val="FFFFFF"/>
                </a:highlight>
                <a:latin typeface="Consolas"/>
                <a:ea typeface="Consolas"/>
                <a:cs typeface="Consolas"/>
                <a:sym typeface="Consolas"/>
              </a:rPr>
              <a:t>=</a:t>
            </a:r>
            <a:r>
              <a:rPr lang="en" sz="900">
                <a:solidFill>
                  <a:srgbClr val="3B3B3B"/>
                </a:solidFill>
                <a:highlight>
                  <a:srgbClr val="FFFFFF"/>
                </a:highlight>
                <a:latin typeface="Consolas"/>
                <a:ea typeface="Consolas"/>
                <a:cs typeface="Consolas"/>
                <a:sym typeface="Consolas"/>
              </a:rPr>
              <a:t> </a:t>
            </a:r>
            <a:r>
              <a:rPr lang="en" sz="900">
                <a:solidFill>
                  <a:srgbClr val="AF00DB"/>
                </a:solidFill>
                <a:highlight>
                  <a:srgbClr val="FFFFFF"/>
                </a:highlight>
                <a:latin typeface="Consolas"/>
                <a:ea typeface="Consolas"/>
                <a:cs typeface="Consolas"/>
                <a:sym typeface="Consolas"/>
              </a:rPr>
              <a:t>new</a:t>
            </a:r>
            <a:r>
              <a:rPr lang="en" sz="900">
                <a:solidFill>
                  <a:srgbClr val="3B3B3B"/>
                </a:solidFill>
                <a:highlight>
                  <a:srgbClr val="FFFFFF"/>
                </a:highlight>
                <a:latin typeface="Consolas"/>
                <a:ea typeface="Consolas"/>
                <a:cs typeface="Consolas"/>
                <a:sym typeface="Consolas"/>
              </a:rPr>
              <a:t> </a:t>
            </a:r>
            <a:r>
              <a:rPr lang="en" sz="900">
                <a:solidFill>
                  <a:srgbClr val="795E26"/>
                </a:solidFill>
                <a:highlight>
                  <a:srgbClr val="FFFFFF"/>
                </a:highlight>
                <a:latin typeface="Consolas"/>
                <a:ea typeface="Consolas"/>
                <a:cs typeface="Consolas"/>
                <a:sym typeface="Consolas"/>
              </a:rPr>
              <a:t>ReentrantLock</a:t>
            </a:r>
            <a:r>
              <a:rPr lang="en" sz="900">
                <a:solidFill>
                  <a:srgbClr val="3B3B3B"/>
                </a:solidFill>
                <a:highlight>
                  <a:srgbClr val="FFFFFF"/>
                </a:highlight>
                <a:latin typeface="Consolas"/>
                <a:ea typeface="Consolas"/>
                <a:cs typeface="Consolas"/>
                <a:sym typeface="Consolas"/>
              </a:rPr>
              <a:t>();</a:t>
            </a:r>
            <a:endParaRPr sz="90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900">
                <a:solidFill>
                  <a:srgbClr val="3B3B3B"/>
                </a:solidFill>
                <a:highlight>
                  <a:srgbClr val="FFFFFF"/>
                </a:highlight>
                <a:latin typeface="Consolas"/>
                <a:ea typeface="Consolas"/>
                <a:cs typeface="Consolas"/>
                <a:sym typeface="Consolas"/>
              </a:rPr>
              <a:t>    }</a:t>
            </a:r>
            <a:endParaRPr sz="9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4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Surgical Locking</a:t>
            </a:r>
            <a:endParaRPr/>
          </a:p>
        </p:txBody>
      </p:sp>
      <p:sp>
        <p:nvSpPr>
          <p:cNvPr id="499" name="Google Shape;499;p4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18</a:t>
            </a:fld>
            <a:endParaRPr/>
          </a:p>
        </p:txBody>
      </p:sp>
      <p:sp>
        <p:nvSpPr>
          <p:cNvPr id="500" name="Google Shape;500;p49"/>
          <p:cNvSpPr txBox="1"/>
          <p:nvPr/>
        </p:nvSpPr>
        <p:spPr>
          <a:xfrm>
            <a:off x="4500375" y="1356400"/>
            <a:ext cx="4311300" cy="26256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a:t>
            </a:r>
            <a:r>
              <a:rPr lang="en" sz="1200" dirty="0">
                <a:solidFill>
                  <a:srgbClr val="AF00DB"/>
                </a:solidFill>
                <a:highlight>
                  <a:srgbClr val="FFFFFF"/>
                </a:highlight>
                <a:latin typeface="Consolas"/>
                <a:ea typeface="Consolas"/>
                <a:cs typeface="Consolas"/>
                <a:sym typeface="Consolas"/>
              </a:rPr>
              <a:t>  try</a:t>
            </a:r>
            <a:r>
              <a:rPr lang="en" sz="1200" dirty="0">
                <a:solidFill>
                  <a:srgbClr val="3B3B3B"/>
                </a:solidFill>
                <a:highlight>
                  <a:srgbClr val="FFFFFF"/>
                </a:highlight>
                <a:latin typeface="Consolas"/>
                <a:ea typeface="Consolas"/>
                <a:cs typeface="Consolas"/>
                <a:sym typeface="Consolas"/>
              </a:rPr>
              <a:t> {</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2 </a:t>
            </a:r>
            <a:r>
              <a:rPr lang="en" sz="1200" dirty="0">
                <a:solidFill>
                  <a:srgbClr val="3B3B3B"/>
                </a:solidFill>
                <a:highlight>
                  <a:srgbClr val="FFFFFF"/>
                </a:highlight>
                <a:latin typeface="Consolas"/>
                <a:ea typeface="Consolas"/>
                <a:cs typeface="Consolas"/>
                <a:sym typeface="Consolas"/>
              </a:rPr>
              <a:t>    </a:t>
            </a:r>
            <a:r>
              <a:rPr lang="en" sz="1200" dirty="0">
                <a:solidFill>
                  <a:srgbClr val="0070C1"/>
                </a:solidFill>
                <a:highlight>
                  <a:srgbClr val="FFFFFF"/>
                </a:highlight>
                <a:latin typeface="Consolas"/>
                <a:ea typeface="Consolas"/>
                <a:cs typeface="Consolas"/>
                <a:sym typeface="Consolas"/>
              </a:rPr>
              <a:t>countLock</a:t>
            </a:r>
            <a:r>
              <a:rPr lang="en" sz="1200" dirty="0">
                <a:solidFill>
                  <a:srgbClr val="3B3B3B"/>
                </a:solidFill>
                <a:highlight>
                  <a:srgbClr val="FFFFFF"/>
                </a:highlight>
                <a:latin typeface="Consolas"/>
                <a:ea typeface="Consolas"/>
                <a:cs typeface="Consolas"/>
                <a:sym typeface="Consolas"/>
              </a:rPr>
              <a:t>.</a:t>
            </a:r>
            <a:r>
              <a:rPr lang="en" sz="1200" dirty="0">
                <a:solidFill>
                  <a:srgbClr val="795E26"/>
                </a:solidFill>
                <a:highlight>
                  <a:srgbClr val="FFFFFF"/>
                </a:highlight>
                <a:latin typeface="Consolas"/>
                <a:ea typeface="Consolas"/>
                <a:cs typeface="Consolas"/>
                <a:sym typeface="Consolas"/>
              </a:rPr>
              <a:t>lock</a:t>
            </a:r>
            <a:r>
              <a:rPr lang="en" sz="1200" dirty="0">
                <a:solidFill>
                  <a:srgbClr val="3B3B3B"/>
                </a:solidFill>
                <a:highlight>
                  <a:srgbClr val="FFFFFF"/>
                </a:highlight>
                <a:latin typeface="Consolas"/>
                <a:ea typeface="Consolas"/>
                <a:cs typeface="Consolas"/>
                <a:sym typeface="Consolas"/>
              </a:rPr>
              <a:t>();</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3 </a:t>
            </a:r>
            <a:r>
              <a:rPr lang="en" sz="1200" dirty="0">
                <a:solidFill>
                  <a:srgbClr val="3B3B3B"/>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System</a:t>
            </a:r>
            <a:r>
              <a:rPr lang="en" sz="1200" dirty="0">
                <a:solidFill>
                  <a:srgbClr val="3B3B3B"/>
                </a:solidFill>
                <a:highlight>
                  <a:srgbClr val="FFFFFF"/>
                </a:highlight>
                <a:latin typeface="Consolas"/>
                <a:ea typeface="Consolas"/>
                <a:cs typeface="Consolas"/>
                <a:sym typeface="Consolas"/>
              </a:rPr>
              <a:t>.</a:t>
            </a:r>
            <a:r>
              <a:rPr lang="en" sz="1200" dirty="0">
                <a:solidFill>
                  <a:srgbClr val="0070C1"/>
                </a:solidFill>
                <a:highlight>
                  <a:srgbClr val="FFFFFF"/>
                </a:highlight>
                <a:latin typeface="Consolas"/>
                <a:ea typeface="Consolas"/>
                <a:cs typeface="Consolas"/>
                <a:sym typeface="Consolas"/>
              </a:rPr>
              <a:t>out</a:t>
            </a:r>
            <a:r>
              <a:rPr lang="en" sz="1200" dirty="0">
                <a:solidFill>
                  <a:srgbClr val="3B3B3B"/>
                </a:solidFill>
                <a:highlight>
                  <a:srgbClr val="FFFFFF"/>
                </a:highlight>
                <a:latin typeface="Consolas"/>
                <a:ea typeface="Consolas"/>
                <a:cs typeface="Consolas"/>
                <a:sym typeface="Consolas"/>
              </a:rPr>
              <a:t>.</a:t>
            </a:r>
            <a:r>
              <a:rPr lang="en" sz="1200" dirty="0">
                <a:solidFill>
                  <a:srgbClr val="795E26"/>
                </a:solidFill>
                <a:highlight>
                  <a:srgbClr val="FFFFFF"/>
                </a:highlight>
                <a:latin typeface="Consolas"/>
                <a:ea typeface="Consolas"/>
                <a:cs typeface="Consolas"/>
                <a:sym typeface="Consolas"/>
              </a:rPr>
              <a:t>println</a:t>
            </a:r>
            <a:r>
              <a:rPr lang="en" sz="1200" dirty="0">
                <a:solidFill>
                  <a:srgbClr val="3B3B3B"/>
                </a:solidFill>
                <a:highlight>
                  <a:srgbClr val="FFFFFF"/>
                </a:highlight>
                <a:latin typeface="Consolas"/>
                <a:ea typeface="Consolas"/>
                <a:cs typeface="Consolas"/>
                <a:sym typeface="Consolas"/>
              </a:rPr>
              <a:t>(</a:t>
            </a:r>
            <a:r>
              <a:rPr lang="en" sz="1200" dirty="0">
                <a:solidFill>
                  <a:srgbClr val="0070C1"/>
                </a:solidFill>
                <a:highlight>
                  <a:srgbClr val="FFFFFF"/>
                </a:highlight>
                <a:latin typeface="Consolas"/>
                <a:ea typeface="Consolas"/>
                <a:cs typeface="Consolas"/>
                <a:sym typeface="Consolas"/>
              </a:rPr>
              <a:t>id</a:t>
            </a:r>
            <a:r>
              <a:rPr lang="en" sz="1200" dirty="0">
                <a:solidFill>
                  <a:srgbClr val="3B3B3B"/>
                </a:solidFill>
                <a:highlight>
                  <a:srgbClr val="FFFFFF"/>
                </a:highlight>
                <a:latin typeface="Consolas"/>
                <a:ea typeface="Consolas"/>
                <a:cs typeface="Consolas"/>
                <a:sym typeface="Consolas"/>
              </a:rPr>
              <a:t> </a:t>
            </a:r>
            <a:r>
              <a:rPr lang="en" sz="1200" dirty="0">
                <a:highlight>
                  <a:srgbClr val="FFFFFF"/>
                </a:highlight>
                <a:latin typeface="Consolas"/>
                <a:ea typeface="Consolas"/>
                <a:cs typeface="Consolas"/>
                <a:sym typeface="Consolas"/>
              </a:rPr>
              <a:t>+</a:t>
            </a:r>
            <a:r>
              <a:rPr lang="en" sz="1200" dirty="0">
                <a:solidFill>
                  <a:srgbClr val="3B3B3B"/>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 is starting..."</a:t>
            </a:r>
            <a:r>
              <a:rPr lang="en" sz="1200" dirty="0">
                <a:solidFill>
                  <a:srgbClr val="3B3B3B"/>
                </a:solidFill>
                <a:highlight>
                  <a:srgbClr val="FFFFFF"/>
                </a:highlight>
                <a:latin typeface="Consolas"/>
                <a:ea typeface="Consolas"/>
                <a:cs typeface="Consolas"/>
                <a:sym typeface="Consolas"/>
              </a:rPr>
              <a:t>);</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4 </a:t>
            </a:r>
            <a:r>
              <a:rPr lang="en" sz="1200" dirty="0">
                <a:solidFill>
                  <a:srgbClr val="3B3B3B"/>
                </a:solidFill>
                <a:highlight>
                  <a:srgbClr val="FFFFFF"/>
                </a:highlight>
                <a:latin typeface="Consolas"/>
                <a:ea typeface="Consolas"/>
                <a:cs typeface="Consolas"/>
                <a:sym typeface="Consolas"/>
              </a:rPr>
              <a:t>    </a:t>
            </a:r>
            <a:r>
              <a:rPr lang="en" sz="1200" dirty="0">
                <a:solidFill>
                  <a:srgbClr val="AF00DB"/>
                </a:solidFill>
                <a:highlight>
                  <a:srgbClr val="FFFFFF"/>
                </a:highlight>
                <a:latin typeface="Consolas"/>
                <a:ea typeface="Consolas"/>
                <a:cs typeface="Consolas"/>
                <a:sym typeface="Consolas"/>
              </a:rPr>
              <a:t>for</a:t>
            </a:r>
            <a:r>
              <a:rPr lang="en" sz="1200" dirty="0">
                <a:solidFill>
                  <a:srgbClr val="3B3B3B"/>
                </a:solidFill>
                <a:highlight>
                  <a:srgbClr val="FFFFFF"/>
                </a:highlight>
                <a:latin typeface="Consolas"/>
                <a:ea typeface="Consolas"/>
                <a:cs typeface="Consolas"/>
                <a:sym typeface="Consolas"/>
              </a:rPr>
              <a:t>(</a:t>
            </a:r>
            <a:r>
              <a:rPr lang="en" sz="1200" dirty="0">
                <a:solidFill>
                  <a:srgbClr val="267F99"/>
                </a:solidFill>
                <a:highlight>
                  <a:srgbClr val="FFFFFF"/>
                </a:highlight>
                <a:latin typeface="Consolas"/>
                <a:ea typeface="Consolas"/>
                <a:cs typeface="Consolas"/>
                <a:sym typeface="Consolas"/>
              </a:rPr>
              <a:t>int</a:t>
            </a:r>
            <a:r>
              <a:rPr lang="en" sz="1200" dirty="0">
                <a:solidFill>
                  <a:srgbClr val="3B3B3B"/>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i</a:t>
            </a:r>
            <a:r>
              <a:rPr lang="en" sz="1200" dirty="0">
                <a:highlight>
                  <a:srgbClr val="FFFFFF"/>
                </a:highlight>
                <a:latin typeface="Consolas"/>
                <a:ea typeface="Consolas"/>
                <a:cs typeface="Consolas"/>
                <a:sym typeface="Consolas"/>
              </a:rPr>
              <a:t>=</a:t>
            </a:r>
            <a:r>
              <a:rPr lang="en" sz="1200" dirty="0">
                <a:solidFill>
                  <a:srgbClr val="098658"/>
                </a:solidFill>
                <a:highlight>
                  <a:srgbClr val="FFFFFF"/>
                </a:highlight>
                <a:latin typeface="Consolas"/>
                <a:ea typeface="Consolas"/>
                <a:cs typeface="Consolas"/>
                <a:sym typeface="Consolas"/>
              </a:rPr>
              <a:t>0</a:t>
            </a:r>
            <a:r>
              <a:rPr lang="en" sz="1200" dirty="0">
                <a:solidFill>
                  <a:srgbClr val="3B3B3B"/>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i</a:t>
            </a:r>
            <a:r>
              <a:rPr lang="en" sz="1200" dirty="0">
                <a:highlight>
                  <a:srgbClr val="FFFFFF"/>
                </a:highlight>
                <a:latin typeface="Consolas"/>
                <a:ea typeface="Consolas"/>
                <a:cs typeface="Consolas"/>
                <a:sym typeface="Consolas"/>
              </a:rPr>
              <a:t>&lt;</a:t>
            </a:r>
            <a:r>
              <a:rPr lang="en" sz="1200" dirty="0">
                <a:solidFill>
                  <a:srgbClr val="098658"/>
                </a:solidFill>
                <a:highlight>
                  <a:srgbClr val="FFFFFF"/>
                </a:highlight>
                <a:latin typeface="Consolas"/>
                <a:ea typeface="Consolas"/>
                <a:cs typeface="Consolas"/>
                <a:sym typeface="Consolas"/>
              </a:rPr>
              <a:t>100000</a:t>
            </a:r>
            <a:r>
              <a:rPr lang="en" sz="1200" dirty="0">
                <a:solidFill>
                  <a:srgbClr val="3B3B3B"/>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i</a:t>
            </a:r>
            <a:r>
              <a:rPr lang="en" sz="1200" dirty="0">
                <a:highlight>
                  <a:srgbClr val="FFFFFF"/>
                </a:highlight>
                <a:latin typeface="Consolas"/>
                <a:ea typeface="Consolas"/>
                <a:cs typeface="Consolas"/>
                <a:sym typeface="Consolas"/>
              </a:rPr>
              <a:t>++</a:t>
            </a:r>
            <a:r>
              <a:rPr lang="en" sz="1200" dirty="0">
                <a:solidFill>
                  <a:srgbClr val="3B3B3B"/>
                </a:solidFill>
                <a:highlight>
                  <a:srgbClr val="FFFFFF"/>
                </a:highlight>
                <a:latin typeface="Consolas"/>
                <a:ea typeface="Consolas"/>
                <a:cs typeface="Consolas"/>
                <a:sym typeface="Consolas"/>
              </a:rPr>
              <a:t>) {</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5</a:t>
            </a:r>
            <a:r>
              <a:rPr lang="en" sz="1200" dirty="0">
                <a:solidFill>
                  <a:srgbClr val="3B3B3B"/>
                </a:solidFill>
                <a:highlight>
                  <a:srgbClr val="FFFFFF"/>
                </a:highlight>
                <a:latin typeface="Consolas"/>
                <a:ea typeface="Consolas"/>
                <a:cs typeface="Consolas"/>
                <a:sym typeface="Consolas"/>
              </a:rPr>
              <a:t>        </a:t>
            </a:r>
            <a:r>
              <a:rPr lang="en" sz="1200" dirty="0">
                <a:solidFill>
                  <a:srgbClr val="001080"/>
                </a:solidFill>
                <a:highlight>
                  <a:srgbClr val="FFFFFF"/>
                </a:highlight>
                <a:latin typeface="Consolas"/>
                <a:ea typeface="Consolas"/>
                <a:cs typeface="Consolas"/>
                <a:sym typeface="Consolas"/>
              </a:rPr>
              <a:t>COUNT</a:t>
            </a:r>
            <a:r>
              <a:rPr lang="en" sz="1200" dirty="0">
                <a:highlight>
                  <a:srgbClr val="FFFFFF"/>
                </a:highlight>
                <a:latin typeface="Consolas"/>
                <a:ea typeface="Consolas"/>
                <a:cs typeface="Consolas"/>
                <a:sym typeface="Consolas"/>
              </a:rPr>
              <a:t>++</a:t>
            </a:r>
            <a:r>
              <a:rPr lang="en" sz="1200" dirty="0">
                <a:solidFill>
                  <a:srgbClr val="3B3B3B"/>
                </a:solidFill>
                <a:highlight>
                  <a:srgbClr val="FFFFFF"/>
                </a:highlight>
                <a:latin typeface="Consolas"/>
                <a:ea typeface="Consolas"/>
                <a:cs typeface="Consolas"/>
                <a:sym typeface="Consolas"/>
              </a:rPr>
              <a:t>;</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6</a:t>
            </a:r>
            <a:r>
              <a:rPr lang="en" sz="1200" dirty="0">
                <a:solidFill>
                  <a:srgbClr val="3B3B3B"/>
                </a:solidFill>
                <a:highlight>
                  <a:srgbClr val="FFFFFF"/>
                </a:highlight>
                <a:latin typeface="Consolas"/>
                <a:ea typeface="Consolas"/>
                <a:cs typeface="Consolas"/>
                <a:sym typeface="Consolas"/>
              </a:rPr>
              <a:t>     }</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7</a:t>
            </a:r>
            <a:r>
              <a:rPr lang="en" sz="1200" dirty="0">
                <a:solidFill>
                  <a:srgbClr val="3B3B3B"/>
                </a:solidFill>
                <a:highlight>
                  <a:srgbClr val="FFFFFF"/>
                </a:highlight>
                <a:latin typeface="Consolas"/>
                <a:ea typeface="Consolas"/>
                <a:cs typeface="Consolas"/>
                <a:sym typeface="Consolas"/>
              </a:rPr>
              <a:t>     </a:t>
            </a:r>
            <a:r>
              <a:rPr lang="en" sz="1200" dirty="0">
                <a:solidFill>
                  <a:srgbClr val="267F99"/>
                </a:solidFill>
                <a:highlight>
                  <a:srgbClr val="FFFFFF"/>
                </a:highlight>
                <a:latin typeface="Consolas"/>
                <a:ea typeface="Consolas"/>
                <a:cs typeface="Consolas"/>
                <a:sym typeface="Consolas"/>
              </a:rPr>
              <a:t>System</a:t>
            </a:r>
            <a:r>
              <a:rPr lang="en" sz="1200" dirty="0">
                <a:solidFill>
                  <a:srgbClr val="3B3B3B"/>
                </a:solidFill>
                <a:highlight>
                  <a:srgbClr val="FFFFFF"/>
                </a:highlight>
                <a:latin typeface="Consolas"/>
                <a:ea typeface="Consolas"/>
                <a:cs typeface="Consolas"/>
                <a:sym typeface="Consolas"/>
              </a:rPr>
              <a:t>.</a:t>
            </a:r>
            <a:r>
              <a:rPr lang="en" sz="1200" dirty="0">
                <a:solidFill>
                  <a:srgbClr val="0070C1"/>
                </a:solidFill>
                <a:highlight>
                  <a:srgbClr val="FFFFFF"/>
                </a:highlight>
                <a:latin typeface="Consolas"/>
                <a:ea typeface="Consolas"/>
                <a:cs typeface="Consolas"/>
                <a:sym typeface="Consolas"/>
              </a:rPr>
              <a:t>out</a:t>
            </a:r>
            <a:r>
              <a:rPr lang="en" sz="1200" dirty="0">
                <a:solidFill>
                  <a:srgbClr val="3B3B3B"/>
                </a:solidFill>
                <a:highlight>
                  <a:srgbClr val="FFFFFF"/>
                </a:highlight>
                <a:latin typeface="Consolas"/>
                <a:ea typeface="Consolas"/>
                <a:cs typeface="Consolas"/>
                <a:sym typeface="Consolas"/>
              </a:rPr>
              <a:t>.</a:t>
            </a:r>
            <a:r>
              <a:rPr lang="en" sz="1200" dirty="0">
                <a:solidFill>
                  <a:srgbClr val="795E26"/>
                </a:solidFill>
                <a:highlight>
                  <a:srgbClr val="FFFFFF"/>
                </a:highlight>
                <a:latin typeface="Consolas"/>
                <a:ea typeface="Consolas"/>
                <a:cs typeface="Consolas"/>
                <a:sym typeface="Consolas"/>
              </a:rPr>
              <a:t>println</a:t>
            </a:r>
            <a:r>
              <a:rPr lang="en" sz="1200" dirty="0">
                <a:solidFill>
                  <a:srgbClr val="3B3B3B"/>
                </a:solidFill>
                <a:highlight>
                  <a:srgbClr val="FFFFFF"/>
                </a:highlight>
                <a:latin typeface="Consolas"/>
                <a:ea typeface="Consolas"/>
                <a:cs typeface="Consolas"/>
                <a:sym typeface="Consolas"/>
              </a:rPr>
              <a:t>(</a:t>
            </a:r>
            <a:r>
              <a:rPr lang="en" sz="1200" dirty="0">
                <a:solidFill>
                  <a:srgbClr val="0070C1"/>
                </a:solidFill>
                <a:highlight>
                  <a:srgbClr val="FFFFFF"/>
                </a:highlight>
                <a:latin typeface="Consolas"/>
                <a:ea typeface="Consolas"/>
                <a:cs typeface="Consolas"/>
                <a:sym typeface="Consolas"/>
              </a:rPr>
              <a:t>id</a:t>
            </a:r>
            <a:r>
              <a:rPr lang="en" sz="1200" dirty="0">
                <a:solidFill>
                  <a:srgbClr val="3B3B3B"/>
                </a:solidFill>
                <a:highlight>
                  <a:srgbClr val="FFFFFF"/>
                </a:highlight>
                <a:latin typeface="Consolas"/>
                <a:ea typeface="Consolas"/>
                <a:cs typeface="Consolas"/>
                <a:sym typeface="Consolas"/>
              </a:rPr>
              <a:t> </a:t>
            </a:r>
            <a:r>
              <a:rPr lang="en" sz="1200" dirty="0">
                <a:highlight>
                  <a:srgbClr val="FFFFFF"/>
                </a:highlight>
                <a:latin typeface="Consolas"/>
                <a:ea typeface="Consolas"/>
                <a:cs typeface="Consolas"/>
                <a:sym typeface="Consolas"/>
              </a:rPr>
              <a:t>+</a:t>
            </a:r>
            <a:r>
              <a:rPr lang="en" sz="1200" dirty="0">
                <a:solidFill>
                  <a:srgbClr val="3B3B3B"/>
                </a:solidFill>
                <a:highlight>
                  <a:srgbClr val="FFFFFF"/>
                </a:highlight>
                <a:latin typeface="Consolas"/>
                <a:ea typeface="Consolas"/>
                <a:cs typeface="Consolas"/>
                <a:sym typeface="Consolas"/>
              </a:rPr>
              <a:t> </a:t>
            </a:r>
            <a:r>
              <a:rPr lang="en" sz="1200" dirty="0">
                <a:solidFill>
                  <a:srgbClr val="A31515"/>
                </a:solidFill>
                <a:highlight>
                  <a:srgbClr val="FFFFFF"/>
                </a:highlight>
                <a:latin typeface="Consolas"/>
                <a:ea typeface="Consolas"/>
                <a:cs typeface="Consolas"/>
                <a:sym typeface="Consolas"/>
              </a:rPr>
              <a:t>" is done!"</a:t>
            </a:r>
            <a:r>
              <a:rPr lang="en" sz="1200" dirty="0">
                <a:solidFill>
                  <a:srgbClr val="3B3B3B"/>
                </a:solidFill>
                <a:highlight>
                  <a:srgbClr val="FFFFFF"/>
                </a:highlight>
                <a:latin typeface="Consolas"/>
                <a:ea typeface="Consolas"/>
                <a:cs typeface="Consolas"/>
                <a:sym typeface="Consolas"/>
              </a:rPr>
              <a:t>);</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8</a:t>
            </a:r>
            <a:r>
              <a:rPr lang="en" sz="1200" dirty="0">
                <a:solidFill>
                  <a:srgbClr val="3B3B3B"/>
                </a:solidFill>
                <a:highlight>
                  <a:srgbClr val="FFFFFF"/>
                </a:highlight>
                <a:latin typeface="Consolas"/>
                <a:ea typeface="Consolas"/>
                <a:cs typeface="Consolas"/>
                <a:sym typeface="Consolas"/>
              </a:rPr>
              <a:t>  } </a:t>
            </a:r>
            <a:r>
              <a:rPr lang="en" sz="1200" dirty="0">
                <a:solidFill>
                  <a:srgbClr val="AF00DB"/>
                </a:solidFill>
                <a:highlight>
                  <a:srgbClr val="FFFFFF"/>
                </a:highlight>
                <a:latin typeface="Consolas"/>
                <a:ea typeface="Consolas"/>
                <a:cs typeface="Consolas"/>
                <a:sym typeface="Consolas"/>
              </a:rPr>
              <a:t>finally</a:t>
            </a:r>
            <a:r>
              <a:rPr lang="en" sz="1200" dirty="0">
                <a:solidFill>
                  <a:srgbClr val="3B3B3B"/>
                </a:solidFill>
                <a:highlight>
                  <a:srgbClr val="FFFFFF"/>
                </a:highlight>
                <a:latin typeface="Consolas"/>
                <a:ea typeface="Consolas"/>
                <a:cs typeface="Consolas"/>
                <a:sym typeface="Consolas"/>
              </a:rPr>
              <a:t> {</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9</a:t>
            </a:r>
            <a:r>
              <a:rPr lang="en" sz="1200" dirty="0">
                <a:solidFill>
                  <a:srgbClr val="3B3B3B"/>
                </a:solidFill>
                <a:highlight>
                  <a:srgbClr val="FFFFFF"/>
                </a:highlight>
                <a:latin typeface="Consolas"/>
                <a:ea typeface="Consolas"/>
                <a:cs typeface="Consolas"/>
                <a:sym typeface="Consolas"/>
              </a:rPr>
              <a:t>     </a:t>
            </a:r>
            <a:r>
              <a:rPr lang="en" sz="1200" dirty="0">
                <a:solidFill>
                  <a:srgbClr val="0070C1"/>
                </a:solidFill>
                <a:highlight>
                  <a:srgbClr val="FFFFFF"/>
                </a:highlight>
                <a:latin typeface="Consolas"/>
                <a:ea typeface="Consolas"/>
                <a:cs typeface="Consolas"/>
                <a:sym typeface="Consolas"/>
              </a:rPr>
              <a:t>countLock</a:t>
            </a:r>
            <a:r>
              <a:rPr lang="en" sz="1200" dirty="0">
                <a:solidFill>
                  <a:srgbClr val="3B3B3B"/>
                </a:solidFill>
                <a:highlight>
                  <a:srgbClr val="FFFFFF"/>
                </a:highlight>
                <a:latin typeface="Consolas"/>
                <a:ea typeface="Consolas"/>
                <a:cs typeface="Consolas"/>
                <a:sym typeface="Consolas"/>
              </a:rPr>
              <a:t>.</a:t>
            </a:r>
            <a:r>
              <a:rPr lang="en" sz="1200" dirty="0">
                <a:solidFill>
                  <a:srgbClr val="795E26"/>
                </a:solidFill>
                <a:highlight>
                  <a:srgbClr val="FFFFFF"/>
                </a:highlight>
                <a:latin typeface="Consolas"/>
                <a:ea typeface="Consolas"/>
                <a:cs typeface="Consolas"/>
                <a:sym typeface="Consolas"/>
              </a:rPr>
              <a:t>unlock</a:t>
            </a:r>
            <a:r>
              <a:rPr lang="en" sz="1200" dirty="0">
                <a:solidFill>
                  <a:srgbClr val="3B3B3B"/>
                </a:solidFill>
                <a:highlight>
                  <a:srgbClr val="FFFFFF"/>
                </a:highlight>
                <a:latin typeface="Consolas"/>
                <a:ea typeface="Consolas"/>
                <a:cs typeface="Consolas"/>
                <a:sym typeface="Consolas"/>
              </a:rPr>
              <a:t>();</a:t>
            </a:r>
            <a:endParaRPr sz="1200"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200" dirty="0">
                <a:solidFill>
                  <a:schemeClr val="accent5"/>
                </a:solidFill>
                <a:highlight>
                  <a:srgbClr val="FFFFFF"/>
                </a:highlight>
                <a:latin typeface="Consolas"/>
                <a:ea typeface="Consolas"/>
                <a:cs typeface="Consolas"/>
                <a:sym typeface="Consolas"/>
              </a:rPr>
              <a:t>10</a:t>
            </a:r>
            <a:r>
              <a:rPr lang="en" sz="1200" dirty="0">
                <a:solidFill>
                  <a:srgbClr val="3B3B3B"/>
                </a:solidFill>
                <a:highlight>
                  <a:srgbClr val="FFFFFF"/>
                </a:highlight>
                <a:latin typeface="Consolas"/>
                <a:ea typeface="Consolas"/>
                <a:cs typeface="Consolas"/>
                <a:sym typeface="Consolas"/>
              </a:rPr>
              <a:t> }</a:t>
            </a:r>
            <a:endParaRPr sz="1200" dirty="0">
              <a:solidFill>
                <a:srgbClr val="098658"/>
              </a:solidFill>
              <a:latin typeface="Consolas"/>
              <a:ea typeface="Consolas"/>
              <a:cs typeface="Consolas"/>
              <a:sym typeface="Consolas"/>
            </a:endParaRPr>
          </a:p>
        </p:txBody>
      </p:sp>
      <p:sp>
        <p:nvSpPr>
          <p:cNvPr id="501" name="Google Shape;501;p49"/>
          <p:cNvSpPr txBox="1"/>
          <p:nvPr/>
        </p:nvSpPr>
        <p:spPr>
          <a:xfrm>
            <a:off x="172575" y="1356400"/>
            <a:ext cx="3793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When the entire body of the </a:t>
            </a:r>
            <a:r>
              <a:rPr lang="en" sz="1200">
                <a:latin typeface="Courier New"/>
                <a:ea typeface="Courier New"/>
                <a:cs typeface="Courier New"/>
                <a:sym typeface="Courier New"/>
              </a:rPr>
              <a:t>run()</a:t>
            </a:r>
            <a:r>
              <a:rPr lang="en" sz="1200"/>
              <a:t> method is locked, the threads run </a:t>
            </a:r>
            <a:r>
              <a:rPr lang="en" sz="1200" b="1" i="1">
                <a:solidFill>
                  <a:srgbClr val="FF0000"/>
                </a:solidFill>
              </a:rPr>
              <a:t>sequentially</a:t>
            </a:r>
            <a:r>
              <a:rPr lang="en" sz="1200">
                <a:solidFill>
                  <a:srgbClr val="FF0000"/>
                </a:solidFill>
              </a:rPr>
              <a:t> </a:t>
            </a:r>
            <a:r>
              <a:rPr lang="en" sz="1200"/>
              <a:t>rather than </a:t>
            </a:r>
            <a:r>
              <a:rPr lang="en" sz="1200" b="1" i="1">
                <a:solidFill>
                  <a:srgbClr val="FF0000"/>
                </a:solidFill>
              </a:rPr>
              <a:t>concurrently</a:t>
            </a:r>
            <a:r>
              <a:rPr lang="en" sz="1200"/>
              <a:t>. Why?</a:t>
            </a:r>
            <a:endParaRPr sz="1200"/>
          </a:p>
        </p:txBody>
      </p:sp>
      <p:sp>
        <p:nvSpPr>
          <p:cNvPr id="502" name="Google Shape;502;p49"/>
          <p:cNvSpPr txBox="1"/>
          <p:nvPr/>
        </p:nvSpPr>
        <p:spPr>
          <a:xfrm>
            <a:off x="172575" y="3233866"/>
            <a:ext cx="3793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All of the other threads are </a:t>
            </a:r>
            <a:r>
              <a:rPr lang="en" sz="1200" b="1" i="1" dirty="0">
                <a:solidFill>
                  <a:srgbClr val="FF0000"/>
                </a:solidFill>
              </a:rPr>
              <a:t>blocked</a:t>
            </a:r>
            <a:r>
              <a:rPr lang="en" sz="1200" dirty="0"/>
              <a:t>; only when the first thread </a:t>
            </a:r>
            <a:r>
              <a:rPr lang="en" sz="1200" b="1" i="1" dirty="0">
                <a:solidFill>
                  <a:srgbClr val="FF0000"/>
                </a:solidFill>
              </a:rPr>
              <a:t>unlocks</a:t>
            </a:r>
            <a:r>
              <a:rPr lang="en" sz="1200" dirty="0">
                <a:solidFill>
                  <a:srgbClr val="FF0000"/>
                </a:solidFill>
              </a:rPr>
              <a:t> </a:t>
            </a:r>
            <a:r>
              <a:rPr lang="en" sz="1200" dirty="0"/>
              <a:t>the </a:t>
            </a:r>
            <a:r>
              <a:rPr lang="en" sz="1200" dirty="0">
                <a:latin typeface="Roboto"/>
                <a:ea typeface="Roboto"/>
                <a:cs typeface="Roboto"/>
                <a:sym typeface="Roboto"/>
              </a:rPr>
              <a:t>the lock</a:t>
            </a:r>
            <a:r>
              <a:rPr lang="en" sz="1200" dirty="0"/>
              <a:t> is another thread allowed to enter.</a:t>
            </a:r>
            <a:endParaRPr sz="1200" dirty="0"/>
          </a:p>
        </p:txBody>
      </p:sp>
      <p:grpSp>
        <p:nvGrpSpPr>
          <p:cNvPr id="503" name="Google Shape;503;p49"/>
          <p:cNvGrpSpPr/>
          <p:nvPr/>
        </p:nvGrpSpPr>
        <p:grpSpPr>
          <a:xfrm>
            <a:off x="3908175" y="2194638"/>
            <a:ext cx="1175410" cy="2127778"/>
            <a:chOff x="3876577" y="2686839"/>
            <a:chExt cx="1049286" cy="1840479"/>
          </a:xfrm>
        </p:grpSpPr>
        <p:sp>
          <p:nvSpPr>
            <p:cNvPr id="504" name="Google Shape;504;p49"/>
            <p:cNvSpPr/>
            <p:nvPr/>
          </p:nvSpPr>
          <p:spPr>
            <a:xfrm>
              <a:off x="4781563" y="2686839"/>
              <a:ext cx="144300" cy="628500"/>
            </a:xfrm>
            <a:prstGeom prst="leftBrace">
              <a:avLst>
                <a:gd name="adj1" fmla="val 92868"/>
                <a:gd name="adj2" fmla="val 48754"/>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49"/>
            <p:cNvSpPr/>
            <p:nvPr/>
          </p:nvSpPr>
          <p:spPr>
            <a:xfrm>
              <a:off x="3876577" y="2970744"/>
              <a:ext cx="920025" cy="1556575"/>
            </a:xfrm>
            <a:custGeom>
              <a:avLst/>
              <a:gdLst/>
              <a:ahLst/>
              <a:cxnLst/>
              <a:rect l="l" t="t" r="r" b="b"/>
              <a:pathLst>
                <a:path w="36801" h="62263" extrusionOk="0">
                  <a:moveTo>
                    <a:pt x="0" y="62119"/>
                  </a:moveTo>
                  <a:cubicBezTo>
                    <a:pt x="635" y="61523"/>
                    <a:pt x="273" y="64254"/>
                    <a:pt x="3811" y="58543"/>
                  </a:cubicBezTo>
                  <a:cubicBezTo>
                    <a:pt x="7349" y="52832"/>
                    <a:pt x="19868" y="37191"/>
                    <a:pt x="21229" y="27855"/>
                  </a:cubicBezTo>
                  <a:cubicBezTo>
                    <a:pt x="22590" y="18519"/>
                    <a:pt x="9381" y="7056"/>
                    <a:pt x="11976" y="2529"/>
                  </a:cubicBezTo>
                  <a:cubicBezTo>
                    <a:pt x="14571" y="-1998"/>
                    <a:pt x="32664" y="997"/>
                    <a:pt x="36801" y="691"/>
                  </a:cubicBezTo>
                </a:path>
              </a:pathLst>
            </a:custGeom>
            <a:noFill/>
            <a:ln w="19050" cap="flat" cmpd="sng">
              <a:solidFill>
                <a:srgbClr val="FF0000"/>
              </a:solidFill>
              <a:prstDash val="solid"/>
              <a:round/>
              <a:headEnd type="none" w="med" len="med"/>
              <a:tailEnd type="none" w="med" len="med"/>
            </a:ln>
          </p:spPr>
          <p:txBody>
            <a:bodyPr/>
            <a:lstStyle/>
            <a:p>
              <a:endParaRPr lang="en-US"/>
            </a:p>
          </p:txBody>
        </p:sp>
      </p:grpSp>
      <p:sp>
        <p:nvSpPr>
          <p:cNvPr id="506" name="Google Shape;506;p49"/>
          <p:cNvSpPr txBox="1"/>
          <p:nvPr/>
        </p:nvSpPr>
        <p:spPr>
          <a:xfrm>
            <a:off x="172575" y="4106951"/>
            <a:ext cx="3793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This means that each thread executes its </a:t>
            </a:r>
            <a:r>
              <a:rPr lang="en" sz="1200" b="1" i="1" dirty="0">
                <a:solidFill>
                  <a:srgbClr val="FF0000"/>
                </a:solidFill>
              </a:rPr>
              <a:t>entire </a:t>
            </a:r>
            <a:r>
              <a:rPr lang="en" sz="1200" dirty="0">
                <a:solidFill>
                  <a:srgbClr val="FF0000"/>
                </a:solidFill>
                <a:latin typeface="Courier New"/>
                <a:ea typeface="Courier New"/>
                <a:cs typeface="Courier New"/>
                <a:sym typeface="Courier New"/>
              </a:rPr>
              <a:t>for</a:t>
            </a:r>
            <a:r>
              <a:rPr lang="en" sz="1200" b="1" i="1" dirty="0">
                <a:solidFill>
                  <a:srgbClr val="FF0000"/>
                </a:solidFill>
              </a:rPr>
              <a:t> loop</a:t>
            </a:r>
            <a:r>
              <a:rPr lang="en" sz="1200" dirty="0"/>
              <a:t> before exiting the </a:t>
            </a:r>
            <a:r>
              <a:rPr lang="en" sz="1200" b="1" i="1" dirty="0">
                <a:solidFill>
                  <a:srgbClr val="FF0000"/>
                </a:solidFill>
              </a:rPr>
              <a:t>locked</a:t>
            </a:r>
            <a:r>
              <a:rPr lang="en" sz="1200" dirty="0"/>
              <a:t> block during which time </a:t>
            </a:r>
            <a:r>
              <a:rPr lang="en" sz="1200" b="1" i="1" dirty="0">
                <a:solidFill>
                  <a:srgbClr val="FF0000"/>
                </a:solidFill>
              </a:rPr>
              <a:t>all</a:t>
            </a:r>
            <a:r>
              <a:rPr lang="en" sz="1200" dirty="0">
                <a:solidFill>
                  <a:srgbClr val="FF0000"/>
                </a:solidFill>
              </a:rPr>
              <a:t> </a:t>
            </a:r>
            <a:r>
              <a:rPr lang="en" sz="1200" dirty="0"/>
              <a:t>of the other threads are forced to wait.</a:t>
            </a:r>
            <a:endParaRPr sz="1200" dirty="0"/>
          </a:p>
        </p:txBody>
      </p:sp>
      <p:sp>
        <p:nvSpPr>
          <p:cNvPr id="507" name="Google Shape;507;p49"/>
          <p:cNvSpPr txBox="1"/>
          <p:nvPr/>
        </p:nvSpPr>
        <p:spPr>
          <a:xfrm>
            <a:off x="4759275" y="4075249"/>
            <a:ext cx="3793500" cy="9234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We can fix this problem by using locking in a much more </a:t>
            </a:r>
            <a:r>
              <a:rPr lang="en" sz="1200" b="1" i="1" dirty="0">
                <a:solidFill>
                  <a:srgbClr val="FF0000"/>
                </a:solidFill>
              </a:rPr>
              <a:t>surgical</a:t>
            </a:r>
            <a:r>
              <a:rPr lang="en" sz="1200" dirty="0">
                <a:solidFill>
                  <a:srgbClr val="FF0000"/>
                </a:solidFill>
              </a:rPr>
              <a:t> </a:t>
            </a:r>
            <a:r>
              <a:rPr lang="en" sz="1200" dirty="0"/>
              <a:t>way - enclose </a:t>
            </a:r>
            <a:r>
              <a:rPr lang="en" sz="1200" b="1" i="1" dirty="0">
                <a:solidFill>
                  <a:srgbClr val="FF0000"/>
                </a:solidFill>
              </a:rPr>
              <a:t>only</a:t>
            </a:r>
            <a:r>
              <a:rPr lang="en" sz="1200" dirty="0">
                <a:solidFill>
                  <a:srgbClr val="FF0000"/>
                </a:solidFill>
              </a:rPr>
              <a:t> </a:t>
            </a:r>
            <a:r>
              <a:rPr lang="en" sz="1200" dirty="0"/>
              <a:t>the line(s) of code that may cause problems if executed by more than one thread...</a:t>
            </a:r>
            <a:endParaRPr sz="1200" dirty="0"/>
          </a:p>
        </p:txBody>
      </p:sp>
      <p:sp>
        <p:nvSpPr>
          <p:cNvPr id="508" name="Google Shape;508;p49"/>
          <p:cNvSpPr/>
          <p:nvPr/>
        </p:nvSpPr>
        <p:spPr>
          <a:xfrm>
            <a:off x="3918550" y="1779750"/>
            <a:ext cx="1056462" cy="738929"/>
          </a:xfrm>
          <a:custGeom>
            <a:avLst/>
            <a:gdLst/>
            <a:ahLst/>
            <a:cxnLst/>
            <a:rect l="l" t="t" r="r" b="b"/>
            <a:pathLst>
              <a:path w="23182" h="25023" extrusionOk="0">
                <a:moveTo>
                  <a:pt x="0" y="25024"/>
                </a:moveTo>
                <a:cubicBezTo>
                  <a:pt x="1449" y="21321"/>
                  <a:pt x="4829" y="6954"/>
                  <a:pt x="8693" y="2808"/>
                </a:cubicBezTo>
                <a:cubicBezTo>
                  <a:pt x="12557" y="-1337"/>
                  <a:pt x="20767" y="594"/>
                  <a:pt x="23182" y="151"/>
                </a:cubicBezTo>
              </a:path>
            </a:pathLst>
          </a:custGeom>
          <a:noFill/>
          <a:ln w="19050" cap="flat" cmpd="sng">
            <a:solidFill>
              <a:srgbClr val="FF0000"/>
            </a:solidFill>
            <a:prstDash val="solid"/>
            <a:round/>
            <a:headEnd type="none" w="med" len="med"/>
            <a:tailEnd type="stealth" w="med" len="med"/>
          </a:ln>
        </p:spPr>
        <p:txBody>
          <a:bodyPr/>
          <a:lstStyle/>
          <a:p>
            <a:endParaRPr lang="en-US"/>
          </a:p>
        </p:txBody>
      </p:sp>
      <p:sp>
        <p:nvSpPr>
          <p:cNvPr id="509" name="Google Shape;509;p49"/>
          <p:cNvSpPr txBox="1"/>
          <p:nvPr/>
        </p:nvSpPr>
        <p:spPr>
          <a:xfrm>
            <a:off x="172575" y="2194604"/>
            <a:ext cx="37935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dirty="0"/>
              <a:t>Remember, when two or more threads are sharing the </a:t>
            </a:r>
            <a:r>
              <a:rPr lang="en" sz="1200" b="1" i="1" dirty="0">
                <a:solidFill>
                  <a:srgbClr val="FF0000"/>
                </a:solidFill>
              </a:rPr>
              <a:t>same</a:t>
            </a:r>
            <a:r>
              <a:rPr lang="en" sz="1200" dirty="0">
                <a:solidFill>
                  <a:srgbClr val="FF0000"/>
                </a:solidFill>
              </a:rPr>
              <a:t> </a:t>
            </a:r>
            <a:r>
              <a:rPr lang="en" sz="1200" dirty="0"/>
              <a:t>lock, only </a:t>
            </a:r>
            <a:r>
              <a:rPr lang="en" sz="1200" b="1" i="1" dirty="0">
                <a:solidFill>
                  <a:srgbClr val="FF0000"/>
                </a:solidFill>
              </a:rPr>
              <a:t>one</a:t>
            </a:r>
            <a:r>
              <a:rPr lang="en" sz="1200" dirty="0">
                <a:solidFill>
                  <a:srgbClr val="FF0000"/>
                </a:solidFill>
              </a:rPr>
              <a:t> </a:t>
            </a:r>
            <a:r>
              <a:rPr lang="en" sz="1200" dirty="0"/>
              <a:t>of the threads may enter a </a:t>
            </a:r>
            <a:r>
              <a:rPr lang="en" sz="1200" b="1" i="1" dirty="0">
                <a:solidFill>
                  <a:srgbClr val="FF0000"/>
                </a:solidFill>
                <a:latin typeface="Roboto"/>
                <a:ea typeface="Roboto"/>
                <a:cs typeface="Roboto"/>
                <a:sym typeface="Roboto"/>
              </a:rPr>
              <a:t>locked</a:t>
            </a:r>
            <a:r>
              <a:rPr lang="en" sz="1200" dirty="0">
                <a:solidFill>
                  <a:srgbClr val="FF0000"/>
                </a:solidFill>
              </a:rPr>
              <a:t> </a:t>
            </a:r>
            <a:r>
              <a:rPr lang="en" sz="1200" b="1" i="1" dirty="0">
                <a:solidFill>
                  <a:srgbClr val="FF0000"/>
                </a:solidFill>
              </a:rPr>
              <a:t>block</a:t>
            </a:r>
            <a:r>
              <a:rPr lang="en" sz="1200" dirty="0"/>
              <a:t> at a time.</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1"/>
                                        </p:tgtEl>
                                        <p:attrNameLst>
                                          <p:attrName>style.visibility</p:attrName>
                                        </p:attrNameLst>
                                      </p:cBhvr>
                                      <p:to>
                                        <p:strVal val="visible"/>
                                      </p:to>
                                    </p:set>
                                    <p:animEffect transition="in" filter="fade">
                                      <p:cBhvr>
                                        <p:cTn id="7" dur="1000"/>
                                        <p:tgtEl>
                                          <p:spTgt spid="5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fade">
                                      <p:cBhvr>
                                        <p:cTn id="12" dur="10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02"/>
                                        </p:tgtEl>
                                        <p:attrNameLst>
                                          <p:attrName>style.visibility</p:attrName>
                                        </p:attrNameLst>
                                      </p:cBhvr>
                                      <p:to>
                                        <p:strVal val="visible"/>
                                      </p:to>
                                    </p:set>
                                    <p:animEffect transition="in" filter="fade">
                                      <p:cBhvr>
                                        <p:cTn id="17" dur="1000"/>
                                        <p:tgtEl>
                                          <p:spTgt spid="5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6"/>
                                        </p:tgtEl>
                                        <p:attrNameLst>
                                          <p:attrName>style.visibility</p:attrName>
                                        </p:attrNameLst>
                                      </p:cBhvr>
                                      <p:to>
                                        <p:strVal val="visible"/>
                                      </p:to>
                                    </p:set>
                                    <p:animEffect transition="in" filter="fade">
                                      <p:cBhvr>
                                        <p:cTn id="22" dur="1000"/>
                                        <p:tgtEl>
                                          <p:spTgt spid="506"/>
                                        </p:tgtEl>
                                      </p:cBhvr>
                                    </p:animEffect>
                                  </p:childTnLst>
                                </p:cTn>
                              </p:par>
                            </p:childTnLst>
                          </p:cTn>
                        </p:par>
                        <p:par>
                          <p:cTn id="23" fill="hold">
                            <p:stCondLst>
                              <p:cond delay="1000"/>
                            </p:stCondLst>
                            <p:childTnLst>
                              <p:par>
                                <p:cTn id="24" presetID="10" presetClass="entr" presetSubtype="0" fill="hold" nodeType="afterEffect">
                                  <p:stCondLst>
                                    <p:cond delay="0"/>
                                  </p:stCondLst>
                                  <p:childTnLst>
                                    <p:set>
                                      <p:cBhvr>
                                        <p:cTn id="25" dur="1" fill="hold">
                                          <p:stCondLst>
                                            <p:cond delay="0"/>
                                          </p:stCondLst>
                                        </p:cTn>
                                        <p:tgtEl>
                                          <p:spTgt spid="503"/>
                                        </p:tgtEl>
                                        <p:attrNameLst>
                                          <p:attrName>style.visibility</p:attrName>
                                        </p:attrNameLst>
                                      </p:cBhvr>
                                      <p:to>
                                        <p:strVal val="visible"/>
                                      </p:to>
                                    </p:set>
                                    <p:animEffect transition="in" filter="fade">
                                      <p:cBhvr>
                                        <p:cTn id="26" dur="1000"/>
                                        <p:tgtEl>
                                          <p:spTgt spid="50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7"/>
                                        </p:tgtEl>
                                        <p:attrNameLst>
                                          <p:attrName>style.visibility</p:attrName>
                                        </p:attrNameLst>
                                      </p:cBhvr>
                                      <p:to>
                                        <p:strVal val="visible"/>
                                      </p:to>
                                    </p:set>
                                    <p:animEffect transition="in" filter="fade">
                                      <p:cBhvr>
                                        <p:cTn id="31" dur="1000"/>
                                        <p:tgtEl>
                                          <p:spTgt spid="5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pic>
        <p:nvPicPr>
          <p:cNvPr id="514" name="Google Shape;514;p50"/>
          <p:cNvPicPr preferRelativeResize="0"/>
          <p:nvPr/>
        </p:nvPicPr>
        <p:blipFill>
          <a:blip r:embed="rId3">
            <a:alphaModFix/>
          </a:blip>
          <a:stretch>
            <a:fillRect/>
          </a:stretch>
        </p:blipFill>
        <p:spPr>
          <a:xfrm>
            <a:off x="1024300" y="2263426"/>
            <a:ext cx="1748075" cy="2697025"/>
          </a:xfrm>
          <a:prstGeom prst="rect">
            <a:avLst/>
          </a:prstGeom>
          <a:noFill/>
          <a:ln>
            <a:noFill/>
          </a:ln>
        </p:spPr>
      </p:pic>
      <p:sp>
        <p:nvSpPr>
          <p:cNvPr id="515" name="Google Shape;515;p5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Surgical Locking</a:t>
            </a:r>
            <a:endParaRPr/>
          </a:p>
        </p:txBody>
      </p:sp>
      <p:sp>
        <p:nvSpPr>
          <p:cNvPr id="516" name="Google Shape;516;p50"/>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Because the entire </a:t>
            </a:r>
            <a:r>
              <a:rPr lang="en">
                <a:latin typeface="Courier New"/>
                <a:ea typeface="Courier New"/>
                <a:cs typeface="Courier New"/>
                <a:sym typeface="Courier New"/>
              </a:rPr>
              <a:t>for</a:t>
            </a:r>
            <a:r>
              <a:rPr lang="en"/>
              <a:t> loop in the </a:t>
            </a:r>
            <a:r>
              <a:rPr lang="en">
                <a:latin typeface="Courier New"/>
                <a:ea typeface="Courier New"/>
                <a:cs typeface="Courier New"/>
                <a:sym typeface="Courier New"/>
              </a:rPr>
              <a:t>run()</a:t>
            </a:r>
            <a:r>
              <a:rPr lang="en"/>
              <a:t> method in </a:t>
            </a:r>
            <a:r>
              <a:rPr lang="en">
                <a:latin typeface="Courier New"/>
                <a:ea typeface="Courier New"/>
                <a:cs typeface="Courier New"/>
                <a:sym typeface="Courier New"/>
              </a:rPr>
              <a:t>TheCount</a:t>
            </a:r>
            <a:r>
              <a:rPr lang="en"/>
              <a:t> is locked, the first thread to obtain the lock will block all of the others and force them to run sequentially. Let's fix it so that the threads are able to run concurrently instead.</a:t>
            </a:r>
            <a:endParaRPr/>
          </a:p>
        </p:txBody>
      </p:sp>
      <p:sp>
        <p:nvSpPr>
          <p:cNvPr id="517" name="Google Shape;517;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19</a:t>
            </a:fld>
            <a:endParaRPr/>
          </a:p>
        </p:txBody>
      </p:sp>
      <p:sp>
        <p:nvSpPr>
          <p:cNvPr id="518" name="Google Shape;518;p50"/>
          <p:cNvSpPr txBox="1">
            <a:spLocks noGrp="1"/>
          </p:cNvSpPr>
          <p:nvPr>
            <p:ph type="body" idx="2"/>
          </p:nvPr>
        </p:nvSpPr>
        <p:spPr>
          <a:xfrm>
            <a:off x="2660825" y="1632125"/>
            <a:ext cx="6051600" cy="27675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Open </a:t>
            </a:r>
            <a:r>
              <a:rPr lang="en" sz="1800" dirty="0">
                <a:latin typeface="Courier New"/>
                <a:ea typeface="Courier New"/>
                <a:cs typeface="Courier New"/>
                <a:sym typeface="Courier New"/>
              </a:rPr>
              <a:t>TheCount</a:t>
            </a:r>
            <a:r>
              <a:rPr lang="en" sz="1800" dirty="0"/>
              <a:t> and navigate to the </a:t>
            </a:r>
            <a:r>
              <a:rPr lang="en" sz="1800" dirty="0">
                <a:latin typeface="Courier New"/>
                <a:ea typeface="Courier New"/>
                <a:cs typeface="Courier New"/>
                <a:sym typeface="Courier New"/>
              </a:rPr>
              <a:t>run()</a:t>
            </a:r>
            <a:r>
              <a:rPr lang="en" sz="1800" dirty="0"/>
              <a:t> method.</a:t>
            </a:r>
            <a:endParaRPr sz="1800" dirty="0"/>
          </a:p>
          <a:p>
            <a:pPr marL="914400" lvl="1" indent="-330200" algn="l" rtl="0">
              <a:spcBef>
                <a:spcPts val="0"/>
              </a:spcBef>
              <a:spcAft>
                <a:spcPts val="0"/>
              </a:spcAft>
              <a:buSzPts val="1600"/>
              <a:buChar char="○"/>
            </a:pPr>
            <a:r>
              <a:rPr lang="en" sz="1600" b="1" i="1" dirty="0">
                <a:solidFill>
                  <a:srgbClr val="FF0000"/>
                </a:solidFill>
              </a:rPr>
              <a:t>Examine </a:t>
            </a:r>
            <a:r>
              <a:rPr lang="en" sz="1600" dirty="0"/>
              <a:t>the code carefully and decide which line(s) need to be thread-safe.</a:t>
            </a:r>
            <a:endParaRPr sz="1600" dirty="0"/>
          </a:p>
          <a:p>
            <a:pPr marL="1371600" lvl="2" indent="-330200" algn="l" rtl="0">
              <a:spcBef>
                <a:spcPts val="0"/>
              </a:spcBef>
              <a:spcAft>
                <a:spcPts val="0"/>
              </a:spcAft>
              <a:buSzPts val="1600"/>
              <a:buChar char="■"/>
            </a:pPr>
            <a:r>
              <a:rPr lang="en" sz="1600" b="1" i="1" dirty="0">
                <a:solidFill>
                  <a:srgbClr val="FF0000"/>
                </a:solidFill>
              </a:rPr>
              <a:t>Hint</a:t>
            </a:r>
            <a:r>
              <a:rPr lang="en" sz="1600" dirty="0"/>
              <a:t>: where is the </a:t>
            </a:r>
            <a:r>
              <a:rPr lang="en" sz="1600" b="1" i="1" dirty="0">
                <a:solidFill>
                  <a:srgbClr val="FF0000"/>
                </a:solidFill>
              </a:rPr>
              <a:t>shared resource</a:t>
            </a:r>
            <a:r>
              <a:rPr lang="en" sz="1600" dirty="0">
                <a:solidFill>
                  <a:srgbClr val="FF0000"/>
                </a:solidFill>
              </a:rPr>
              <a:t> </a:t>
            </a:r>
            <a:r>
              <a:rPr lang="en" sz="1600" dirty="0"/>
              <a:t>actually used?</a:t>
            </a:r>
            <a:endParaRPr sz="1600" dirty="0"/>
          </a:p>
          <a:p>
            <a:pPr marL="914400" lvl="1" indent="-330200" algn="l" rtl="0">
              <a:spcBef>
                <a:spcPts val="0"/>
              </a:spcBef>
              <a:spcAft>
                <a:spcPts val="0"/>
              </a:spcAft>
              <a:buSzPts val="1600"/>
              <a:buChar char="○"/>
            </a:pPr>
            <a:r>
              <a:rPr lang="en" sz="1600" b="1" i="1" dirty="0">
                <a:solidFill>
                  <a:srgbClr val="FF0000"/>
                </a:solidFill>
              </a:rPr>
              <a:t>Change </a:t>
            </a:r>
            <a:r>
              <a:rPr lang="en" sz="1600" dirty="0"/>
              <a:t>the locked block so that it only includes the affected line(s).</a:t>
            </a:r>
            <a:endParaRPr sz="1600" dirty="0"/>
          </a:p>
          <a:p>
            <a:pPr marL="457200" lvl="0" indent="-342900" algn="l" rtl="0">
              <a:spcBef>
                <a:spcPts val="0"/>
              </a:spcBef>
              <a:spcAft>
                <a:spcPts val="0"/>
              </a:spcAft>
              <a:buSzPts val="1800"/>
              <a:buChar char="●"/>
            </a:pPr>
            <a:r>
              <a:rPr lang="en" sz="1800" b="1" i="1" dirty="0">
                <a:solidFill>
                  <a:srgbClr val="FF0000"/>
                </a:solidFill>
              </a:rPr>
              <a:t>Compile</a:t>
            </a:r>
            <a:r>
              <a:rPr lang="en" sz="1800" dirty="0">
                <a:solidFill>
                  <a:srgbClr val="FF0000"/>
                </a:solidFill>
              </a:rPr>
              <a:t> </a:t>
            </a:r>
            <a:r>
              <a:rPr lang="en" sz="1800" dirty="0"/>
              <a:t>and </a:t>
            </a:r>
            <a:r>
              <a:rPr lang="en" sz="1800" b="1" i="1" dirty="0">
                <a:solidFill>
                  <a:srgbClr val="FF0000"/>
                </a:solidFill>
              </a:rPr>
              <a:t>run</a:t>
            </a:r>
            <a:r>
              <a:rPr lang="en" sz="1800" dirty="0">
                <a:solidFill>
                  <a:srgbClr val="FF0000"/>
                </a:solidFill>
              </a:rPr>
              <a:t> </a:t>
            </a:r>
            <a:r>
              <a:rPr lang="en" sz="1800" dirty="0"/>
              <a:t>your code.</a:t>
            </a:r>
            <a:endParaRPr sz="1800" dirty="0"/>
          </a:p>
          <a:p>
            <a:pPr marL="914400" lvl="1" indent="-330200" algn="l" rtl="0">
              <a:spcBef>
                <a:spcPts val="0"/>
              </a:spcBef>
              <a:spcAft>
                <a:spcPts val="0"/>
              </a:spcAft>
              <a:buSzPts val="1600"/>
              <a:buChar char="○"/>
            </a:pPr>
            <a:r>
              <a:rPr lang="en" sz="1600" dirty="0"/>
              <a:t>Does the </a:t>
            </a:r>
            <a:r>
              <a:rPr lang="en" sz="1600" dirty="0">
                <a:solidFill>
                  <a:srgbClr val="FF0000"/>
                </a:solidFill>
                <a:latin typeface="Courier New"/>
                <a:ea typeface="Courier New"/>
                <a:cs typeface="Courier New"/>
                <a:sym typeface="Courier New"/>
              </a:rPr>
              <a:t>COUNT</a:t>
            </a:r>
            <a:r>
              <a:rPr lang="en" sz="1600" dirty="0">
                <a:solidFill>
                  <a:srgbClr val="FF0000"/>
                </a:solidFill>
              </a:rPr>
              <a:t> </a:t>
            </a:r>
            <a:r>
              <a:rPr lang="en" sz="1600" dirty="0"/>
              <a:t>make it to </a:t>
            </a:r>
            <a:r>
              <a:rPr lang="en" sz="1600" dirty="0">
                <a:solidFill>
                  <a:srgbClr val="FF0000"/>
                </a:solidFill>
                <a:latin typeface="Courier New"/>
                <a:ea typeface="Courier New"/>
                <a:cs typeface="Courier New"/>
                <a:sym typeface="Courier New"/>
              </a:rPr>
              <a:t>1,000,000</a:t>
            </a:r>
            <a:r>
              <a:rPr lang="en" sz="1600" dirty="0"/>
              <a:t>?</a:t>
            </a:r>
            <a:endParaRPr sz="1600" dirty="0"/>
          </a:p>
          <a:p>
            <a:pPr marL="914400" lvl="1" indent="-330200" algn="l" rtl="0">
              <a:spcBef>
                <a:spcPts val="0"/>
              </a:spcBef>
              <a:spcAft>
                <a:spcPts val="0"/>
              </a:spcAft>
              <a:buSzPts val="1600"/>
              <a:buChar char="○"/>
            </a:pPr>
            <a:r>
              <a:rPr lang="en" sz="1600" dirty="0"/>
              <a:t>Do the threads </a:t>
            </a:r>
            <a:r>
              <a:rPr lang="en" sz="1600" b="1" i="1" dirty="0">
                <a:solidFill>
                  <a:srgbClr val="FF0000"/>
                </a:solidFill>
              </a:rPr>
              <a:t>run concurrently</a:t>
            </a:r>
            <a:r>
              <a:rPr lang="en" sz="1600" dirty="0"/>
              <a:t>?</a:t>
            </a:r>
            <a:endParaRPr sz="1600" dirty="0"/>
          </a:p>
        </p:txBody>
      </p:sp>
      <p:sp>
        <p:nvSpPr>
          <p:cNvPr id="519" name="Google Shape;519;p5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11.5</a:t>
            </a:r>
            <a:endParaRPr/>
          </a:p>
        </p:txBody>
      </p:sp>
      <p:sp>
        <p:nvSpPr>
          <p:cNvPr id="520" name="Google Shape;520;p50"/>
          <p:cNvSpPr/>
          <p:nvPr/>
        </p:nvSpPr>
        <p:spPr>
          <a:xfrm>
            <a:off x="179075" y="1654200"/>
            <a:ext cx="1563000" cy="654000"/>
          </a:xfrm>
          <a:prstGeom prst="wedgeRoundRectCallout">
            <a:avLst>
              <a:gd name="adj1" fmla="val 26620"/>
              <a:gd name="adj2" fmla="val 6493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This is going to require </a:t>
            </a:r>
            <a:r>
              <a:rPr lang="en" sz="1200" b="1" i="1">
                <a:solidFill>
                  <a:srgbClr val="FF0000"/>
                </a:solidFill>
              </a:rPr>
              <a:t>surgical</a:t>
            </a:r>
            <a:r>
              <a:rPr lang="en" sz="1200">
                <a:solidFill>
                  <a:srgbClr val="FF0000"/>
                </a:solidFill>
              </a:rPr>
              <a:t> </a:t>
            </a:r>
            <a:r>
              <a:rPr lang="en" sz="1200"/>
              <a:t>precision.</a:t>
            </a:r>
            <a:endParaRPr sz="1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p5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Why Do I Care?</a:t>
            </a:r>
            <a:endParaRPr/>
          </a:p>
        </p:txBody>
      </p:sp>
      <p:sp>
        <p:nvSpPr>
          <p:cNvPr id="526" name="Google Shape;526;p51"/>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dirty="0"/>
              <a:t>You may recall the </a:t>
            </a:r>
            <a:r>
              <a:rPr lang="en" dirty="0">
                <a:latin typeface="Courier New"/>
                <a:ea typeface="Courier New"/>
                <a:cs typeface="Courier New"/>
                <a:sym typeface="Courier New"/>
              </a:rPr>
              <a:t>LotsORacers</a:t>
            </a:r>
            <a:r>
              <a:rPr lang="en" dirty="0"/>
              <a:t> from an activity in the previous unit; it is a race that records finish times in a list. Run the </a:t>
            </a:r>
            <a:r>
              <a:rPr lang="en" dirty="0">
                <a:latin typeface="Courier New"/>
                <a:ea typeface="Courier New"/>
                <a:cs typeface="Courier New"/>
                <a:sym typeface="Courier New"/>
              </a:rPr>
              <a:t>LotORacers </a:t>
            </a:r>
            <a:r>
              <a:rPr lang="en" dirty="0"/>
              <a:t>class to refresh your memory about what happens when more than one </a:t>
            </a:r>
            <a:r>
              <a:rPr lang="en" dirty="0">
                <a:latin typeface="Courier New"/>
                <a:ea typeface="Courier New"/>
                <a:cs typeface="Courier New"/>
                <a:sym typeface="Courier New"/>
              </a:rPr>
              <a:t>Racer</a:t>
            </a:r>
            <a:r>
              <a:rPr lang="en" dirty="0"/>
              <a:t> is running at the same time.</a:t>
            </a:r>
            <a:endParaRPr dirty="0"/>
          </a:p>
        </p:txBody>
      </p:sp>
      <p:sp>
        <p:nvSpPr>
          <p:cNvPr id="527" name="Google Shape;527;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20</a:t>
            </a:fld>
            <a:endParaRPr/>
          </a:p>
        </p:txBody>
      </p:sp>
      <p:sp>
        <p:nvSpPr>
          <p:cNvPr id="528" name="Google Shape;528;p51"/>
          <p:cNvSpPr txBox="1">
            <a:spLocks noGrp="1"/>
          </p:cNvSpPr>
          <p:nvPr>
            <p:ph type="body" idx="2"/>
          </p:nvPr>
        </p:nvSpPr>
        <p:spPr>
          <a:xfrm>
            <a:off x="2844000" y="1632125"/>
            <a:ext cx="6097200" cy="32571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Open the provided </a:t>
            </a:r>
            <a:r>
              <a:rPr lang="en" dirty="0">
                <a:latin typeface="Courier New"/>
                <a:ea typeface="Courier New"/>
                <a:cs typeface="Courier New"/>
                <a:sym typeface="Courier New"/>
              </a:rPr>
              <a:t>LotsORacers</a:t>
            </a:r>
            <a:r>
              <a:rPr lang="en" dirty="0"/>
              <a:t> class in the </a:t>
            </a:r>
            <a:r>
              <a:rPr lang="en" dirty="0">
                <a:latin typeface="Courier New"/>
                <a:ea typeface="Courier New"/>
                <a:cs typeface="Courier New"/>
                <a:sym typeface="Courier New"/>
              </a:rPr>
              <a:t>activities</a:t>
            </a:r>
            <a:r>
              <a:rPr lang="en" dirty="0"/>
              <a:t> package.</a:t>
            </a:r>
            <a:endParaRPr dirty="0"/>
          </a:p>
          <a:p>
            <a:pPr marL="914400" lvl="1" indent="-298450" algn="l" rtl="0">
              <a:spcBef>
                <a:spcPts val="0"/>
              </a:spcBef>
              <a:spcAft>
                <a:spcPts val="0"/>
              </a:spcAft>
              <a:buSzPts val="1100"/>
              <a:buChar char="○"/>
            </a:pPr>
            <a:r>
              <a:rPr lang="en" dirty="0">
                <a:solidFill>
                  <a:srgbClr val="FF0000"/>
                </a:solidFill>
              </a:rPr>
              <a:t>Examine </a:t>
            </a:r>
            <a:r>
              <a:rPr lang="en" dirty="0"/>
              <a:t>the code to see what it does.</a:t>
            </a:r>
            <a:endParaRPr dirty="0"/>
          </a:p>
          <a:p>
            <a:pPr marL="1371600" lvl="2" indent="-298450" algn="l" rtl="0">
              <a:spcBef>
                <a:spcPts val="0"/>
              </a:spcBef>
              <a:spcAft>
                <a:spcPts val="0"/>
              </a:spcAft>
              <a:buSzPts val="1100"/>
              <a:buChar char="■"/>
            </a:pPr>
            <a:r>
              <a:rPr lang="en" dirty="0"/>
              <a:t>Note that it u</a:t>
            </a:r>
            <a:r>
              <a:rPr lang="en" dirty="0">
                <a:solidFill>
                  <a:srgbClr val="666666"/>
                </a:solidFill>
              </a:rPr>
              <a:t>ses the standard Java i</a:t>
            </a:r>
            <a:r>
              <a:rPr lang="en" dirty="0"/>
              <a:t>mplementation of an </a:t>
            </a:r>
            <a:r>
              <a:rPr lang="en" dirty="0">
                <a:solidFill>
                  <a:srgbClr val="FF0000"/>
                </a:solidFill>
                <a:latin typeface="Courier New"/>
                <a:ea typeface="Courier New"/>
                <a:cs typeface="Courier New"/>
                <a:sym typeface="Courier New"/>
              </a:rPr>
              <a:t>ArrayList</a:t>
            </a:r>
            <a:r>
              <a:rPr lang="en" dirty="0"/>
              <a:t>.</a:t>
            </a:r>
            <a:endParaRPr dirty="0"/>
          </a:p>
          <a:p>
            <a:pPr marL="914400" lvl="1" indent="-298450" algn="l" rtl="0">
              <a:spcBef>
                <a:spcPts val="0"/>
              </a:spcBef>
              <a:spcAft>
                <a:spcPts val="0"/>
              </a:spcAft>
              <a:buSzPts val="1100"/>
              <a:buChar char="○"/>
            </a:pPr>
            <a:r>
              <a:rPr lang="en" dirty="0"/>
              <a:t>When the class is executed, how many total values should be added to the list?</a:t>
            </a:r>
            <a:endParaRPr dirty="0"/>
          </a:p>
          <a:p>
            <a:pPr marL="457200" lvl="0" indent="-311150" algn="l" rtl="0">
              <a:spcBef>
                <a:spcPts val="0"/>
              </a:spcBef>
              <a:spcAft>
                <a:spcPts val="0"/>
              </a:spcAft>
              <a:buSzPts val="1300"/>
              <a:buChar char="●"/>
            </a:pPr>
            <a:r>
              <a:rPr lang="en" b="1" i="1" dirty="0">
                <a:solidFill>
                  <a:srgbClr val="FF0000"/>
                </a:solidFill>
              </a:rPr>
              <a:t>Run</a:t>
            </a:r>
            <a:r>
              <a:rPr lang="en" dirty="0">
                <a:solidFill>
                  <a:srgbClr val="FF0000"/>
                </a:solidFill>
              </a:rPr>
              <a:t> </a:t>
            </a:r>
            <a:r>
              <a:rPr lang="en" dirty="0"/>
              <a:t>the class.</a:t>
            </a:r>
            <a:endParaRPr dirty="0"/>
          </a:p>
          <a:p>
            <a:pPr marL="914400" lvl="1" indent="-298450" algn="l" rtl="0">
              <a:spcBef>
                <a:spcPts val="0"/>
              </a:spcBef>
              <a:spcAft>
                <a:spcPts val="0"/>
              </a:spcAft>
              <a:buSzPts val="1100"/>
              <a:buChar char="○"/>
            </a:pPr>
            <a:r>
              <a:rPr lang="en" dirty="0"/>
              <a:t>What do you </a:t>
            </a:r>
            <a:r>
              <a:rPr lang="en" b="1" i="1" dirty="0">
                <a:solidFill>
                  <a:srgbClr val="FF0000"/>
                </a:solidFill>
              </a:rPr>
              <a:t>see</a:t>
            </a:r>
            <a:r>
              <a:rPr lang="en" dirty="0"/>
              <a:t>?</a:t>
            </a:r>
            <a:endParaRPr dirty="0"/>
          </a:p>
          <a:p>
            <a:pPr marL="914400" lvl="1" indent="-298450" algn="l" rtl="0">
              <a:spcBef>
                <a:spcPts val="0"/>
              </a:spcBef>
              <a:spcAft>
                <a:spcPts val="0"/>
              </a:spcAft>
              <a:buSzPts val="1100"/>
              <a:buChar char="○"/>
            </a:pPr>
            <a:r>
              <a:rPr lang="en" b="1" i="1" dirty="0">
                <a:solidFill>
                  <a:srgbClr val="FF0000"/>
                </a:solidFill>
              </a:rPr>
              <a:t>Run </a:t>
            </a:r>
            <a:r>
              <a:rPr lang="en" dirty="0"/>
              <a:t>it a few more times.</a:t>
            </a:r>
            <a:endParaRPr dirty="0"/>
          </a:p>
          <a:p>
            <a:pPr marL="457200" lvl="0" indent="-311150" algn="l" rtl="0">
              <a:spcBef>
                <a:spcPts val="0"/>
              </a:spcBef>
              <a:spcAft>
                <a:spcPts val="0"/>
              </a:spcAft>
              <a:buSzPts val="1300"/>
              <a:buChar char="●"/>
            </a:pPr>
            <a:r>
              <a:rPr lang="en" b="1" i="1" dirty="0">
                <a:solidFill>
                  <a:srgbClr val="FF0000"/>
                </a:solidFill>
              </a:rPr>
              <a:t>Inspect</a:t>
            </a:r>
            <a:r>
              <a:rPr lang="en" dirty="0">
                <a:solidFill>
                  <a:srgbClr val="FF0000"/>
                </a:solidFill>
              </a:rPr>
              <a:t> </a:t>
            </a:r>
            <a:r>
              <a:rPr lang="en" dirty="0"/>
              <a:t>the code and identify any </a:t>
            </a:r>
            <a:r>
              <a:rPr lang="en" b="1" i="1" dirty="0">
                <a:solidFill>
                  <a:srgbClr val="FF0000"/>
                </a:solidFill>
              </a:rPr>
              <a:t>critical regions</a:t>
            </a:r>
            <a:r>
              <a:rPr lang="en" dirty="0"/>
              <a:t> that may need to be protected when executed by more than one thread.</a:t>
            </a:r>
            <a:endParaRPr dirty="0"/>
          </a:p>
          <a:p>
            <a:pPr marL="914400" lvl="1" indent="-298450" algn="l" rtl="0">
              <a:spcBef>
                <a:spcPts val="0"/>
              </a:spcBef>
              <a:spcAft>
                <a:spcPts val="0"/>
              </a:spcAft>
              <a:buSzPts val="1100"/>
              <a:buChar char="○"/>
            </a:pPr>
            <a:r>
              <a:rPr lang="en" dirty="0">
                <a:solidFill>
                  <a:srgbClr val="666666"/>
                </a:solidFill>
              </a:rPr>
              <a:t>Create a</a:t>
            </a:r>
            <a:r>
              <a:rPr lang="en" b="1" i="1" dirty="0">
                <a:solidFill>
                  <a:srgbClr val="FF0000"/>
                </a:solidFill>
              </a:rPr>
              <a:t> shared lock and lock </a:t>
            </a:r>
            <a:r>
              <a:rPr lang="en" dirty="0"/>
              <a:t>the critical region(s).</a:t>
            </a:r>
            <a:endParaRPr dirty="0"/>
          </a:p>
          <a:p>
            <a:pPr marL="914400" lvl="1" indent="-298450" algn="l" rtl="0">
              <a:spcBef>
                <a:spcPts val="0"/>
              </a:spcBef>
              <a:spcAft>
                <a:spcPts val="0"/>
              </a:spcAft>
              <a:buSzPts val="1100"/>
              <a:buChar char="○"/>
            </a:pPr>
            <a:r>
              <a:rPr lang="en" dirty="0"/>
              <a:t>Be sure to be </a:t>
            </a:r>
            <a:r>
              <a:rPr lang="en" b="1" i="1" dirty="0">
                <a:solidFill>
                  <a:srgbClr val="FF0000"/>
                </a:solidFill>
              </a:rPr>
              <a:t>surgical </a:t>
            </a:r>
            <a:r>
              <a:rPr lang="en" dirty="0"/>
              <a:t>when locking. </a:t>
            </a:r>
            <a:endParaRPr dirty="0"/>
          </a:p>
          <a:p>
            <a:pPr marL="1371600" lvl="2" indent="-298450" algn="l" rtl="0">
              <a:spcBef>
                <a:spcPts val="0"/>
              </a:spcBef>
              <a:spcAft>
                <a:spcPts val="0"/>
              </a:spcAft>
              <a:buSzPts val="1100"/>
              <a:buChar char="■"/>
            </a:pPr>
            <a:r>
              <a:rPr lang="en" dirty="0"/>
              <a:t>Lock </a:t>
            </a:r>
            <a:r>
              <a:rPr lang="en" b="1" i="1" dirty="0">
                <a:solidFill>
                  <a:srgbClr val="FF0000"/>
                </a:solidFill>
              </a:rPr>
              <a:t>only</a:t>
            </a:r>
            <a:r>
              <a:rPr lang="en" dirty="0">
                <a:solidFill>
                  <a:srgbClr val="FF0000"/>
                </a:solidFill>
              </a:rPr>
              <a:t> </a:t>
            </a:r>
            <a:r>
              <a:rPr lang="en" dirty="0"/>
              <a:t>what is necessary to make the code</a:t>
            </a:r>
            <a:r>
              <a:rPr lang="en" dirty="0">
                <a:solidFill>
                  <a:srgbClr val="FF0000"/>
                </a:solidFill>
              </a:rPr>
              <a:t> </a:t>
            </a:r>
            <a:r>
              <a:rPr lang="en" b="1" i="1" dirty="0">
                <a:solidFill>
                  <a:srgbClr val="FF0000"/>
                </a:solidFill>
              </a:rPr>
              <a:t>thread-safe</a:t>
            </a:r>
            <a:r>
              <a:rPr lang="en" dirty="0"/>
              <a:t>.</a:t>
            </a:r>
            <a:endParaRPr dirty="0"/>
          </a:p>
          <a:p>
            <a:pPr marL="1371600" lvl="2" indent="-298450" algn="l" rtl="0">
              <a:spcBef>
                <a:spcPts val="0"/>
              </a:spcBef>
              <a:spcAft>
                <a:spcPts val="0"/>
              </a:spcAft>
              <a:buSzPts val="1100"/>
              <a:buChar char="■"/>
            </a:pPr>
            <a:r>
              <a:rPr lang="en" b="1" i="1" dirty="0">
                <a:solidFill>
                  <a:srgbClr val="FF0000"/>
                </a:solidFill>
              </a:rPr>
              <a:t>Avoid</a:t>
            </a:r>
            <a:r>
              <a:rPr lang="en" dirty="0">
                <a:solidFill>
                  <a:srgbClr val="FF0000"/>
                </a:solidFill>
              </a:rPr>
              <a:t> </a:t>
            </a:r>
            <a:r>
              <a:rPr lang="en" dirty="0"/>
              <a:t>forcing the threads to run </a:t>
            </a:r>
            <a:r>
              <a:rPr lang="en" b="1" i="1" dirty="0">
                <a:solidFill>
                  <a:srgbClr val="FF0000"/>
                </a:solidFill>
              </a:rPr>
              <a:t>sequentially</a:t>
            </a:r>
            <a:r>
              <a:rPr lang="en" dirty="0"/>
              <a:t>.</a:t>
            </a:r>
            <a:endParaRPr dirty="0"/>
          </a:p>
          <a:p>
            <a:pPr marL="457200" lvl="0" indent="-311150" algn="l" rtl="0">
              <a:spcBef>
                <a:spcPts val="0"/>
              </a:spcBef>
              <a:spcAft>
                <a:spcPts val="0"/>
              </a:spcAft>
              <a:buSzPts val="1300"/>
              <a:buChar char="●"/>
            </a:pPr>
            <a:r>
              <a:rPr lang="en" b="1" i="1" dirty="0">
                <a:solidFill>
                  <a:srgbClr val="FF0000"/>
                </a:solidFill>
              </a:rPr>
              <a:t>Compile</a:t>
            </a:r>
            <a:r>
              <a:rPr lang="en" dirty="0">
                <a:solidFill>
                  <a:srgbClr val="FF0000"/>
                </a:solidFill>
              </a:rPr>
              <a:t> </a:t>
            </a:r>
            <a:r>
              <a:rPr lang="en" dirty="0"/>
              <a:t>and </a:t>
            </a:r>
            <a:r>
              <a:rPr lang="en" b="1" i="1" dirty="0">
                <a:solidFill>
                  <a:srgbClr val="FF0000"/>
                </a:solidFill>
              </a:rPr>
              <a:t>run</a:t>
            </a:r>
            <a:r>
              <a:rPr lang="en" dirty="0">
                <a:solidFill>
                  <a:srgbClr val="FF0000"/>
                </a:solidFill>
              </a:rPr>
              <a:t> </a:t>
            </a:r>
            <a:r>
              <a:rPr lang="en" dirty="0"/>
              <a:t>the code again.</a:t>
            </a:r>
            <a:endParaRPr dirty="0"/>
          </a:p>
          <a:p>
            <a:pPr marL="914400" lvl="1" indent="-298450" algn="l" rtl="0">
              <a:spcBef>
                <a:spcPts val="0"/>
              </a:spcBef>
              <a:spcAft>
                <a:spcPts val="0"/>
              </a:spcAft>
              <a:buSzPts val="1100"/>
              <a:buChar char="○"/>
            </a:pPr>
            <a:r>
              <a:rPr lang="en" dirty="0"/>
              <a:t>Is the problem fixed?</a:t>
            </a:r>
            <a:endParaRPr dirty="0"/>
          </a:p>
        </p:txBody>
      </p:sp>
      <p:sp>
        <p:nvSpPr>
          <p:cNvPr id="529" name="Google Shape;529;p5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11.6</a:t>
            </a:r>
            <a:endParaRPr/>
          </a:p>
        </p:txBody>
      </p:sp>
      <p:sp>
        <p:nvSpPr>
          <p:cNvPr id="530" name="Google Shape;530;p51"/>
          <p:cNvSpPr txBox="1"/>
          <p:nvPr/>
        </p:nvSpPr>
        <p:spPr>
          <a:xfrm>
            <a:off x="152400" y="3663171"/>
            <a:ext cx="2729400" cy="110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What implications does this experiment have on</a:t>
            </a:r>
            <a:r>
              <a:rPr lang="en" sz="1200">
                <a:solidFill>
                  <a:srgbClr val="FF0000"/>
                </a:solidFill>
              </a:rPr>
              <a:t> </a:t>
            </a:r>
            <a:r>
              <a:rPr lang="en" sz="1200" b="1" i="1">
                <a:solidFill>
                  <a:srgbClr val="FF0000"/>
                </a:solidFill>
              </a:rPr>
              <a:t>your own code</a:t>
            </a:r>
            <a:r>
              <a:rPr lang="en" sz="1200"/>
              <a:t> that uses classes from the standard Java libraries (or any other code that you </a:t>
            </a:r>
            <a:r>
              <a:rPr lang="en" sz="1200" b="1" i="1">
                <a:solidFill>
                  <a:srgbClr val="FF0000"/>
                </a:solidFill>
              </a:rPr>
              <a:t>don't control</a:t>
            </a:r>
            <a:r>
              <a:rPr lang="en" sz="1200"/>
              <a:t>)?</a:t>
            </a:r>
            <a:endParaRPr sz="1200"/>
          </a:p>
        </p:txBody>
      </p:sp>
      <p:grpSp>
        <p:nvGrpSpPr>
          <p:cNvPr id="531" name="Google Shape;531;p51"/>
          <p:cNvGrpSpPr/>
          <p:nvPr/>
        </p:nvGrpSpPr>
        <p:grpSpPr>
          <a:xfrm>
            <a:off x="152400" y="1894138"/>
            <a:ext cx="2729426" cy="1535299"/>
            <a:chOff x="189000" y="1590700"/>
            <a:chExt cx="2729426" cy="1535299"/>
          </a:xfrm>
        </p:grpSpPr>
        <p:pic>
          <p:nvPicPr>
            <p:cNvPr id="532" name="Google Shape;532;p51"/>
            <p:cNvPicPr preferRelativeResize="0"/>
            <p:nvPr/>
          </p:nvPicPr>
          <p:blipFill>
            <a:blip r:embed="rId3">
              <a:alphaModFix/>
            </a:blip>
            <a:stretch>
              <a:fillRect/>
            </a:stretch>
          </p:blipFill>
          <p:spPr>
            <a:xfrm>
              <a:off x="189000" y="1590700"/>
              <a:ext cx="2729426" cy="1535299"/>
            </a:xfrm>
            <a:prstGeom prst="rect">
              <a:avLst/>
            </a:prstGeom>
            <a:noFill/>
            <a:ln w="19050" cap="flat" cmpd="sng">
              <a:solidFill>
                <a:srgbClr val="31394D"/>
              </a:solidFill>
              <a:prstDash val="solid"/>
              <a:round/>
              <a:headEnd type="none" w="sm" len="sm"/>
              <a:tailEnd type="none" w="sm" len="sm"/>
            </a:ln>
          </p:spPr>
        </p:pic>
        <p:sp>
          <p:nvSpPr>
            <p:cNvPr id="533" name="Google Shape;533;p51"/>
            <p:cNvSpPr/>
            <p:nvPr/>
          </p:nvSpPr>
          <p:spPr>
            <a:xfrm>
              <a:off x="2006400" y="1679400"/>
              <a:ext cx="626400" cy="670800"/>
            </a:xfrm>
            <a:prstGeom prst="rect">
              <a:avLst/>
            </a:prstGeom>
            <a:solidFill>
              <a:srgbClr val="AF199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34" name="Google Shape;534;p51"/>
            <p:cNvSpPr/>
            <p:nvPr/>
          </p:nvSpPr>
          <p:spPr>
            <a:xfrm>
              <a:off x="2009525" y="1685025"/>
              <a:ext cx="612100" cy="646501"/>
            </a:xfrm>
            <a:prstGeom prst="rect">
              <a:avLst/>
            </a:prstGeom>
          </p:spPr>
          <p:txBody>
            <a:bodyPr>
              <a:prstTxWarp prst="textPlain">
                <a:avLst/>
              </a:prstTxWarp>
            </a:bodyPr>
            <a:lstStyle/>
            <a:p>
              <a:pPr lvl="0" algn="ctr"/>
              <a:r>
                <a:rPr b="1" i="0">
                  <a:ln w="9525" cap="flat" cmpd="sng">
                    <a:solidFill>
                      <a:srgbClr val="000000"/>
                    </a:solidFill>
                    <a:prstDash val="solid"/>
                    <a:round/>
                    <a:headEnd type="none" w="sm" len="sm"/>
                    <a:tailEnd type="none" w="sm" len="sm"/>
                  </a:ln>
                  <a:gradFill>
                    <a:gsLst>
                      <a:gs pos="0">
                        <a:srgbClr val="F7EDCD"/>
                      </a:gs>
                      <a:gs pos="100000">
                        <a:srgbClr val="F1C232"/>
                      </a:gs>
                    </a:gsLst>
                    <a:path path="circle">
                      <a:fillToRect l="100000" b="100000"/>
                    </a:path>
                    <a:tileRect t="-100000" r="-100000"/>
                  </a:gradFill>
                  <a:latin typeface="Impact"/>
                </a:rPr>
                <a:t>1M</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52"/>
          <p:cNvSpPr txBox="1">
            <a:spLocks noGrp="1"/>
          </p:cNvSpPr>
          <p:nvPr>
            <p:ph type="title"/>
          </p:nvPr>
        </p:nvSpPr>
        <p:spPr>
          <a:xfrm>
            <a:off x="5264725" y="500925"/>
            <a:ext cx="3706500" cy="638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2"/>
              </a:buClr>
              <a:buSzPts val="3300"/>
              <a:buFont typeface="Calibri"/>
              <a:buNone/>
            </a:pPr>
            <a:r>
              <a:rPr lang="en"/>
              <a:t>Threads and Networking</a:t>
            </a:r>
            <a:endParaRPr/>
          </a:p>
        </p:txBody>
      </p:sp>
      <p:sp>
        <p:nvSpPr>
          <p:cNvPr id="540" name="Google Shape;540;p52"/>
          <p:cNvSpPr txBox="1">
            <a:spLocks noGrp="1"/>
          </p:cNvSpPr>
          <p:nvPr>
            <p:ph type="body" idx="1"/>
          </p:nvPr>
        </p:nvSpPr>
        <p:spPr>
          <a:xfrm>
            <a:off x="301275" y="500925"/>
            <a:ext cx="4166400" cy="4432200"/>
          </a:xfrm>
          <a:prstGeom prst="rect">
            <a:avLst/>
          </a:prstGeom>
          <a:noFill/>
          <a:ln>
            <a:noFill/>
          </a:ln>
        </p:spPr>
        <p:txBody>
          <a:bodyPr spcFirstLastPara="1" wrap="square" lIns="68575" tIns="34275" rIns="68575" bIns="34275" anchor="t" anchorCtr="0">
            <a:noAutofit/>
          </a:bodyPr>
          <a:lstStyle/>
          <a:p>
            <a:pPr marL="457200" lvl="0" indent="-317500" algn="l" rtl="0">
              <a:lnSpc>
                <a:spcPct val="115000"/>
              </a:lnSpc>
              <a:spcBef>
                <a:spcPts val="0"/>
              </a:spcBef>
              <a:spcAft>
                <a:spcPts val="0"/>
              </a:spcAft>
              <a:buSzPts val="1400"/>
              <a:buChar char="●"/>
            </a:pPr>
            <a:r>
              <a:rPr lang="en" sz="1400" dirty="0"/>
              <a:t>Most servers are capable of handling requests from </a:t>
            </a:r>
            <a:r>
              <a:rPr lang="en" sz="1400" b="1" i="1" dirty="0">
                <a:solidFill>
                  <a:srgbClr val="FF0000"/>
                </a:solidFill>
              </a:rPr>
              <a:t>more</a:t>
            </a:r>
            <a:r>
              <a:rPr lang="en" sz="1400" dirty="0"/>
              <a:t> than one client at the same time</a:t>
            </a:r>
            <a:endParaRPr sz="1400" dirty="0"/>
          </a:p>
          <a:p>
            <a:pPr marL="914400" lvl="1" indent="-304800" algn="l" rtl="0">
              <a:lnSpc>
                <a:spcPct val="115000"/>
              </a:lnSpc>
              <a:spcBef>
                <a:spcPts val="0"/>
              </a:spcBef>
              <a:spcAft>
                <a:spcPts val="0"/>
              </a:spcAft>
              <a:buSzPts val="1200"/>
              <a:buChar char="○"/>
            </a:pPr>
            <a:r>
              <a:rPr lang="en" sz="1200" dirty="0"/>
              <a:t>For maximum efficiency, this requires that the server be </a:t>
            </a:r>
            <a:r>
              <a:rPr lang="en" sz="1200" b="1" i="1" dirty="0">
                <a:solidFill>
                  <a:srgbClr val="FF0000"/>
                </a:solidFill>
                <a:highlight>
                  <a:srgbClr val="FFFF00"/>
                </a:highlight>
              </a:rPr>
              <a:t>multi-threaded</a:t>
            </a:r>
            <a:endParaRPr sz="1200" b="1" i="1" dirty="0">
              <a:solidFill>
                <a:srgbClr val="FF0000"/>
              </a:solidFill>
              <a:highlight>
                <a:srgbClr val="FFFF00"/>
              </a:highlight>
            </a:endParaRPr>
          </a:p>
          <a:p>
            <a:pPr marL="457200" lvl="0" indent="-317500" algn="l" rtl="0">
              <a:lnSpc>
                <a:spcPct val="115000"/>
              </a:lnSpc>
              <a:spcBef>
                <a:spcPts val="0"/>
              </a:spcBef>
              <a:spcAft>
                <a:spcPts val="0"/>
              </a:spcAft>
              <a:buSzPts val="1400"/>
              <a:buChar char="●"/>
            </a:pPr>
            <a:r>
              <a:rPr lang="en" sz="1400" dirty="0"/>
              <a:t>There is a typical </a:t>
            </a:r>
            <a:r>
              <a:rPr lang="en" sz="1400" b="1" i="1" dirty="0">
                <a:solidFill>
                  <a:srgbClr val="FF0000"/>
                </a:solidFill>
              </a:rPr>
              <a:t>pattern</a:t>
            </a:r>
            <a:r>
              <a:rPr lang="en" sz="1400" dirty="0"/>
              <a:t> that is followed when implementing a multithreaded server</a:t>
            </a:r>
            <a:endParaRPr sz="1400" dirty="0"/>
          </a:p>
          <a:p>
            <a:pPr marL="914400" lvl="1" indent="-311150" algn="l" rtl="0">
              <a:lnSpc>
                <a:spcPct val="115000"/>
              </a:lnSpc>
              <a:spcBef>
                <a:spcPts val="0"/>
              </a:spcBef>
              <a:spcAft>
                <a:spcPts val="0"/>
              </a:spcAft>
              <a:buSzPts val="1300"/>
              <a:buChar char="○"/>
            </a:pPr>
            <a:r>
              <a:rPr lang="en" sz="1300" dirty="0"/>
              <a:t>A separate </a:t>
            </a:r>
            <a:r>
              <a:rPr lang="en" sz="1300" b="1" i="1" dirty="0">
                <a:solidFill>
                  <a:srgbClr val="FF0000"/>
                </a:solidFill>
              </a:rPr>
              <a:t>task</a:t>
            </a:r>
            <a:r>
              <a:rPr lang="en" sz="1300" dirty="0"/>
              <a:t> is created for each </a:t>
            </a:r>
            <a:r>
              <a:rPr lang="en" sz="1300" b="1" i="1" dirty="0">
                <a:solidFill>
                  <a:srgbClr val="FF0000"/>
                </a:solidFill>
              </a:rPr>
              <a:t>client</a:t>
            </a:r>
            <a:r>
              <a:rPr lang="en" sz="1300" dirty="0"/>
              <a:t> that connects</a:t>
            </a:r>
            <a:endParaRPr sz="1300" dirty="0"/>
          </a:p>
          <a:p>
            <a:pPr marL="1371600" lvl="2" indent="-303255" algn="l" rtl="0">
              <a:lnSpc>
                <a:spcPct val="115000"/>
              </a:lnSpc>
              <a:spcBef>
                <a:spcPts val="0"/>
              </a:spcBef>
              <a:spcAft>
                <a:spcPts val="0"/>
              </a:spcAft>
              <a:buSzPts val="1176"/>
              <a:buChar char="■"/>
            </a:pPr>
            <a:r>
              <a:rPr lang="en" sz="1175" dirty="0"/>
              <a:t>This task will handle the request/responses from that one client </a:t>
            </a:r>
            <a:endParaRPr sz="475" dirty="0"/>
          </a:p>
          <a:p>
            <a:pPr marL="914400" lvl="1" indent="-311150" algn="l" rtl="0">
              <a:lnSpc>
                <a:spcPct val="115000"/>
              </a:lnSpc>
              <a:spcBef>
                <a:spcPts val="0"/>
              </a:spcBef>
              <a:spcAft>
                <a:spcPts val="0"/>
              </a:spcAft>
              <a:buSzPts val="1300"/>
              <a:buChar char="○"/>
            </a:pPr>
            <a:r>
              <a:rPr lang="en" sz="1300" dirty="0"/>
              <a:t>The main application thread on the server spends all of its time </a:t>
            </a:r>
            <a:r>
              <a:rPr lang="en" sz="1300" b="1" i="1" dirty="0">
                <a:solidFill>
                  <a:srgbClr val="FF0000"/>
                </a:solidFill>
              </a:rPr>
              <a:t>waiting</a:t>
            </a:r>
            <a:r>
              <a:rPr lang="en" sz="1300" dirty="0"/>
              <a:t> for incoming connections</a:t>
            </a:r>
            <a:endParaRPr sz="1300" dirty="0"/>
          </a:p>
          <a:p>
            <a:pPr marL="1371600" lvl="2" indent="-301625" algn="l" rtl="0">
              <a:lnSpc>
                <a:spcPct val="115000"/>
              </a:lnSpc>
              <a:spcBef>
                <a:spcPts val="0"/>
              </a:spcBef>
              <a:spcAft>
                <a:spcPts val="0"/>
              </a:spcAft>
              <a:buSzPts val="1150"/>
              <a:buChar char="■"/>
            </a:pPr>
            <a:r>
              <a:rPr lang="en" sz="1150" dirty="0"/>
              <a:t>When a new client connects, a client task is </a:t>
            </a:r>
            <a:r>
              <a:rPr lang="en" sz="1150" b="1" i="1" dirty="0">
                <a:solidFill>
                  <a:srgbClr val="FF0000"/>
                </a:solidFill>
              </a:rPr>
              <a:t>executed</a:t>
            </a:r>
            <a:r>
              <a:rPr lang="en" sz="1150" dirty="0"/>
              <a:t> for that client</a:t>
            </a:r>
            <a:endParaRPr sz="1150" dirty="0"/>
          </a:p>
          <a:p>
            <a:pPr marL="1371600" lvl="2" indent="-301625" algn="l" rtl="0">
              <a:lnSpc>
                <a:spcPct val="115000"/>
              </a:lnSpc>
              <a:spcBef>
                <a:spcPts val="0"/>
              </a:spcBef>
              <a:spcAft>
                <a:spcPts val="0"/>
              </a:spcAft>
              <a:buSzPts val="1150"/>
              <a:buChar char="■"/>
            </a:pPr>
            <a:r>
              <a:rPr lang="en" sz="1150" dirty="0"/>
              <a:t>The </a:t>
            </a:r>
            <a:r>
              <a:rPr lang="en" sz="1150" b="1" i="1" dirty="0">
                <a:solidFill>
                  <a:srgbClr val="FF0000"/>
                </a:solidFill>
              </a:rPr>
              <a:t>main</a:t>
            </a:r>
            <a:r>
              <a:rPr lang="en" sz="1150" dirty="0"/>
              <a:t> thread then goes back to waiting for connections</a:t>
            </a:r>
            <a:endParaRPr sz="1150" dirty="0"/>
          </a:p>
        </p:txBody>
      </p:sp>
      <p:sp>
        <p:nvSpPr>
          <p:cNvPr id="541" name="Google Shape;541;p52"/>
          <p:cNvSpPr txBox="1"/>
          <p:nvPr/>
        </p:nvSpPr>
        <p:spPr>
          <a:xfrm>
            <a:off x="5264725" y="1829588"/>
            <a:ext cx="3493800" cy="10926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latin typeface="Arial"/>
                <a:ea typeface="Arial"/>
                <a:cs typeface="Arial"/>
                <a:sym typeface="Arial"/>
              </a:rPr>
              <a:t>A multithreaded network server is the culmination of all three topics, and will be challenging for some to understand and implement.</a:t>
            </a:r>
            <a:endParaRPr dirty="0">
              <a:solidFill>
                <a:schemeClr val="dk1"/>
              </a:solidFill>
              <a:latin typeface="Arial"/>
              <a:ea typeface="Arial"/>
              <a:cs typeface="Arial"/>
              <a:sym typeface="Arial"/>
            </a:endParaRPr>
          </a:p>
        </p:txBody>
      </p:sp>
      <p:sp>
        <p:nvSpPr>
          <p:cNvPr id="542" name="Google Shape;542;p52"/>
          <p:cNvSpPr txBox="1"/>
          <p:nvPr/>
        </p:nvSpPr>
        <p:spPr>
          <a:xfrm>
            <a:off x="5264725" y="3319181"/>
            <a:ext cx="3493800" cy="849300"/>
          </a:xfrm>
          <a:prstGeom prst="rect">
            <a:avLst/>
          </a:prstGeom>
          <a:solidFill>
            <a:srgbClr val="FFF2CC"/>
          </a:solid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spcBef>
                <a:spcPts val="0"/>
              </a:spcBef>
              <a:spcAft>
                <a:spcPts val="0"/>
              </a:spcAft>
              <a:buNone/>
            </a:pPr>
            <a:r>
              <a:rPr lang="en" dirty="0">
                <a:solidFill>
                  <a:schemeClr val="dk1"/>
                </a:solidFill>
                <a:latin typeface="Arial"/>
                <a:ea typeface="Arial"/>
                <a:cs typeface="Arial"/>
                <a:sym typeface="Arial"/>
              </a:rPr>
              <a:t>If you have any questions about anything that we have talked about so far, </a:t>
            </a:r>
            <a:r>
              <a:rPr lang="en" b="1" i="1" dirty="0">
                <a:solidFill>
                  <a:srgbClr val="FF0000"/>
                </a:solidFill>
                <a:latin typeface="Arial"/>
                <a:ea typeface="Arial"/>
                <a:cs typeface="Arial"/>
                <a:sym typeface="Arial"/>
              </a:rPr>
              <a:t>please ask now</a:t>
            </a:r>
            <a:r>
              <a:rPr lang="en" dirty="0">
                <a:solidFill>
                  <a:schemeClr val="dk1"/>
                </a:solidFill>
                <a:latin typeface="Arial"/>
                <a:ea typeface="Arial"/>
                <a:cs typeface="Arial"/>
                <a:sym typeface="Arial"/>
              </a:rPr>
              <a:t>!</a:t>
            </a:r>
            <a:endParaRPr dirty="0">
              <a:solidFill>
                <a:schemeClr val="dk1"/>
              </a:solidFill>
              <a:latin typeface="Arial"/>
              <a:ea typeface="Arial"/>
              <a:cs typeface="Arial"/>
              <a:sym typeface="Arial"/>
            </a:endParaRPr>
          </a:p>
        </p:txBody>
      </p:sp>
      <p:sp>
        <p:nvSpPr>
          <p:cNvPr id="543" name="Google Shape;543;p5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21</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1"/>
                                        </p:tgtEl>
                                        <p:attrNameLst>
                                          <p:attrName>style.visibility</p:attrName>
                                        </p:attrNameLst>
                                      </p:cBhvr>
                                      <p:to>
                                        <p:strVal val="visible"/>
                                      </p:to>
                                    </p:set>
                                    <p:animEffect transition="in" filter="fade">
                                      <p:cBhvr>
                                        <p:cTn id="7" dur="1000"/>
                                        <p:tgtEl>
                                          <p:spTgt spid="5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42"/>
                                        </p:tgtEl>
                                        <p:attrNameLst>
                                          <p:attrName>style.visibility</p:attrName>
                                        </p:attrNameLst>
                                      </p:cBhvr>
                                      <p:to>
                                        <p:strVal val="visible"/>
                                      </p:to>
                                    </p:set>
                                    <p:animEffect transition="in" filter="fade">
                                      <p:cBhvr>
                                        <p:cTn id="12" dur="1000"/>
                                        <p:tgtEl>
                                          <p:spTgt spid="5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pic>
        <p:nvPicPr>
          <p:cNvPr id="548" name="Google Shape;548;p53"/>
          <p:cNvPicPr preferRelativeResize="0"/>
          <p:nvPr/>
        </p:nvPicPr>
        <p:blipFill>
          <a:blip r:embed="rId3">
            <a:alphaModFix/>
          </a:blip>
          <a:stretch>
            <a:fillRect/>
          </a:stretch>
        </p:blipFill>
        <p:spPr>
          <a:xfrm>
            <a:off x="1343700" y="2985525"/>
            <a:ext cx="1768574" cy="959100"/>
          </a:xfrm>
          <a:prstGeom prst="rect">
            <a:avLst/>
          </a:prstGeom>
          <a:noFill/>
          <a:ln w="19050" cap="flat" cmpd="sng">
            <a:solidFill>
              <a:srgbClr val="31394D"/>
            </a:solidFill>
            <a:prstDash val="solid"/>
            <a:round/>
            <a:headEnd type="none" w="sm" len="sm"/>
            <a:tailEnd type="none" w="sm" len="sm"/>
          </a:ln>
        </p:spPr>
      </p:pic>
      <p:pic>
        <p:nvPicPr>
          <p:cNvPr id="549" name="Google Shape;549;p53"/>
          <p:cNvPicPr preferRelativeResize="0"/>
          <p:nvPr/>
        </p:nvPicPr>
        <p:blipFill>
          <a:blip r:embed="rId3">
            <a:alphaModFix/>
          </a:blip>
          <a:stretch>
            <a:fillRect/>
          </a:stretch>
        </p:blipFill>
        <p:spPr>
          <a:xfrm>
            <a:off x="380037" y="2652975"/>
            <a:ext cx="1540850" cy="835600"/>
          </a:xfrm>
          <a:prstGeom prst="rect">
            <a:avLst/>
          </a:prstGeom>
          <a:noFill/>
          <a:ln w="19050" cap="flat" cmpd="sng">
            <a:solidFill>
              <a:srgbClr val="31394D"/>
            </a:solidFill>
            <a:prstDash val="solid"/>
            <a:round/>
            <a:headEnd type="none" w="sm" len="sm"/>
            <a:tailEnd type="none" w="sm" len="sm"/>
          </a:ln>
        </p:spPr>
      </p:pic>
      <p:pic>
        <p:nvPicPr>
          <p:cNvPr id="550" name="Google Shape;550;p53"/>
          <p:cNvPicPr preferRelativeResize="0"/>
          <p:nvPr/>
        </p:nvPicPr>
        <p:blipFill>
          <a:blip r:embed="rId3">
            <a:alphaModFix/>
          </a:blip>
          <a:stretch>
            <a:fillRect/>
          </a:stretch>
        </p:blipFill>
        <p:spPr>
          <a:xfrm>
            <a:off x="1709025" y="1883625"/>
            <a:ext cx="1343076" cy="728350"/>
          </a:xfrm>
          <a:prstGeom prst="rect">
            <a:avLst/>
          </a:prstGeom>
          <a:noFill/>
          <a:ln w="19050" cap="flat" cmpd="sng">
            <a:solidFill>
              <a:srgbClr val="31394D"/>
            </a:solidFill>
            <a:prstDash val="solid"/>
            <a:round/>
            <a:headEnd type="none" w="sm" len="sm"/>
            <a:tailEnd type="none" w="sm" len="sm"/>
          </a:ln>
        </p:spPr>
      </p:pic>
      <p:sp>
        <p:nvSpPr>
          <p:cNvPr id="551" name="Google Shape;551;p5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Currently our </a:t>
            </a:r>
            <a:r>
              <a:rPr lang="en">
                <a:latin typeface="Courier New"/>
                <a:ea typeface="Courier New"/>
                <a:cs typeface="Courier New"/>
                <a:sym typeface="Courier New"/>
              </a:rPr>
              <a:t>HttpWebServer</a:t>
            </a:r>
            <a:r>
              <a:rPr lang="en"/>
              <a:t> handles a couple concurrent users well. However, it won't scale up to thousands, or more, concurrent users. That's because while handling the request for one user, all other users have to wait. We can fix that by making it multi-threaded.</a:t>
            </a:r>
            <a:endParaRPr/>
          </a:p>
        </p:txBody>
      </p:sp>
      <p:sp>
        <p:nvSpPr>
          <p:cNvPr id="552" name="Google Shape;552;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22</a:t>
            </a:fld>
            <a:endParaRPr/>
          </a:p>
        </p:txBody>
      </p:sp>
      <p:sp>
        <p:nvSpPr>
          <p:cNvPr id="553" name="Google Shape;553;p53"/>
          <p:cNvSpPr txBox="1">
            <a:spLocks noGrp="1"/>
          </p:cNvSpPr>
          <p:nvPr>
            <p:ph type="body" idx="2"/>
          </p:nvPr>
        </p:nvSpPr>
        <p:spPr>
          <a:xfrm>
            <a:off x="3165300" y="1794988"/>
            <a:ext cx="5978700" cy="3214800"/>
          </a:xfrm>
          <a:prstGeom prst="rect">
            <a:avLst/>
          </a:prstGeom>
        </p:spPr>
        <p:txBody>
          <a:bodyPr spcFirstLastPara="1" wrap="square" lIns="91425" tIns="91425" rIns="91425" bIns="91425" anchor="t" anchorCtr="0">
            <a:spAutoFit/>
          </a:bodyPr>
          <a:lstStyle/>
          <a:p>
            <a:pPr marL="457200" lvl="0" indent="-304800" algn="l" rtl="0">
              <a:spcBef>
                <a:spcPts val="0"/>
              </a:spcBef>
              <a:spcAft>
                <a:spcPts val="0"/>
              </a:spcAft>
              <a:buSzPts val="1200"/>
              <a:buChar char="●"/>
            </a:pPr>
            <a:r>
              <a:rPr lang="en" sz="1200" dirty="0"/>
              <a:t>Making the server multi-threaded should be easy. In </a:t>
            </a:r>
            <a:r>
              <a:rPr lang="en" sz="1200" dirty="0">
                <a:latin typeface="Courier New"/>
                <a:ea typeface="Courier New"/>
                <a:cs typeface="Courier New"/>
                <a:sym typeface="Courier New"/>
              </a:rPr>
              <a:t>HttpWebServer</a:t>
            </a:r>
            <a:r>
              <a:rPr lang="en" sz="1200" dirty="0"/>
              <a:t>, instead of calling </a:t>
            </a:r>
            <a:r>
              <a:rPr lang="en" sz="1200" dirty="0">
                <a:latin typeface="Courier New"/>
                <a:ea typeface="Courier New"/>
                <a:cs typeface="Courier New"/>
                <a:sym typeface="Courier New"/>
              </a:rPr>
              <a:t>handleClient</a:t>
            </a:r>
            <a:r>
              <a:rPr lang="en" sz="1200" dirty="0"/>
              <a:t> directly, run it in an </a:t>
            </a:r>
            <a:r>
              <a:rPr lang="en" sz="1200" dirty="0">
                <a:latin typeface="Courier New"/>
                <a:ea typeface="Courier New"/>
                <a:cs typeface="Courier New"/>
                <a:sym typeface="Courier New"/>
              </a:rPr>
              <a:t>ExecutorService</a:t>
            </a:r>
            <a:r>
              <a:rPr lang="en" sz="1200" dirty="0"/>
              <a:t> </a:t>
            </a:r>
            <a:r>
              <a:rPr lang="en" sz="1200" b="1" i="1" dirty="0">
                <a:solidFill>
                  <a:srgbClr val="FF0000"/>
                </a:solidFill>
              </a:rPr>
              <a:t>task</a:t>
            </a:r>
            <a:r>
              <a:rPr lang="en" sz="1200" dirty="0"/>
              <a:t>.</a:t>
            </a:r>
            <a:endParaRPr sz="1200" dirty="0"/>
          </a:p>
          <a:p>
            <a:pPr marL="914400" lvl="1" indent="-292100" algn="l" rtl="0">
              <a:spcBef>
                <a:spcPts val="0"/>
              </a:spcBef>
              <a:spcAft>
                <a:spcPts val="0"/>
              </a:spcAft>
              <a:buSzPts val="1000"/>
              <a:buChar char="○"/>
            </a:pPr>
            <a:r>
              <a:rPr lang="en" sz="1000" dirty="0">
                <a:highlight>
                  <a:srgbClr val="FFFF00"/>
                </a:highlight>
              </a:rPr>
              <a:t>In </a:t>
            </a:r>
            <a:r>
              <a:rPr lang="en" sz="1000" dirty="0">
                <a:highlight>
                  <a:srgbClr val="FFFF00"/>
                </a:highlight>
                <a:latin typeface="Courier New"/>
                <a:ea typeface="Courier New"/>
                <a:cs typeface="Courier New"/>
                <a:sym typeface="Courier New"/>
              </a:rPr>
              <a:t>HttpWebServer.start()</a:t>
            </a:r>
            <a:r>
              <a:rPr lang="en" sz="1000" dirty="0">
                <a:highlight>
                  <a:srgbClr val="FFFF00"/>
                </a:highlight>
              </a:rPr>
              <a:t> create an </a:t>
            </a:r>
            <a:r>
              <a:rPr lang="en" sz="1000" dirty="0">
                <a:highlight>
                  <a:srgbClr val="FFFF00"/>
                </a:highlight>
                <a:latin typeface="Courier New"/>
                <a:ea typeface="Courier New"/>
                <a:cs typeface="Courier New"/>
                <a:sym typeface="Courier New"/>
              </a:rPr>
              <a:t>ExecutorService</a:t>
            </a:r>
            <a:endParaRPr sz="1000" dirty="0">
              <a:highlight>
                <a:srgbClr val="FFFF00"/>
              </a:highlight>
              <a:latin typeface="Courier New"/>
              <a:ea typeface="Courier New"/>
              <a:cs typeface="Courier New"/>
              <a:sym typeface="Courier New"/>
            </a:endParaRPr>
          </a:p>
          <a:p>
            <a:pPr marL="914400" lvl="1" indent="-292100" algn="l" rtl="0">
              <a:spcBef>
                <a:spcPts val="0"/>
              </a:spcBef>
              <a:spcAft>
                <a:spcPts val="0"/>
              </a:spcAft>
              <a:buSzPts val="1000"/>
              <a:buChar char="○"/>
            </a:pPr>
            <a:r>
              <a:rPr lang="en" sz="1000" b="1" i="1" dirty="0">
                <a:solidFill>
                  <a:srgbClr val="FF0000"/>
                </a:solidFill>
                <a:highlight>
                  <a:srgbClr val="FFFF00"/>
                </a:highlight>
              </a:rPr>
              <a:t>Execute</a:t>
            </a:r>
            <a:r>
              <a:rPr lang="en" sz="1000" dirty="0">
                <a:highlight>
                  <a:srgbClr val="FFFF00"/>
                </a:highlight>
              </a:rPr>
              <a:t> </a:t>
            </a:r>
            <a:r>
              <a:rPr lang="en" sz="1000" dirty="0">
                <a:highlight>
                  <a:srgbClr val="FFFF00"/>
                </a:highlight>
                <a:latin typeface="Courier New"/>
                <a:ea typeface="Courier New"/>
                <a:cs typeface="Courier New"/>
                <a:sym typeface="Courier New"/>
              </a:rPr>
              <a:t>handleClient</a:t>
            </a:r>
            <a:r>
              <a:rPr lang="en" sz="1000" dirty="0">
                <a:highlight>
                  <a:srgbClr val="FFFF00"/>
                </a:highlight>
              </a:rPr>
              <a:t> as a service task.</a:t>
            </a:r>
            <a:endParaRPr sz="1000" dirty="0">
              <a:highlight>
                <a:srgbClr val="FFFF00"/>
              </a:highlight>
            </a:endParaRPr>
          </a:p>
          <a:p>
            <a:pPr marL="457200" lvl="0" indent="-304800" algn="l" rtl="0">
              <a:spcBef>
                <a:spcPts val="1000"/>
              </a:spcBef>
              <a:spcAft>
                <a:spcPts val="0"/>
              </a:spcAft>
              <a:buSzPts val="1200"/>
              <a:buChar char="●"/>
            </a:pPr>
            <a:r>
              <a:rPr lang="en" sz="1200" dirty="0"/>
              <a:t>Everything should work however, we've now introduced a </a:t>
            </a:r>
            <a:r>
              <a:rPr lang="en" sz="1200" b="1" i="1" dirty="0">
                <a:solidFill>
                  <a:srgbClr val="FF0000"/>
                </a:solidFill>
              </a:rPr>
              <a:t>race condition</a:t>
            </a:r>
            <a:r>
              <a:rPr lang="en" sz="1200" dirty="0"/>
              <a:t> in the </a:t>
            </a:r>
            <a:r>
              <a:rPr lang="en" sz="1200" dirty="0">
                <a:latin typeface="Courier New"/>
                <a:ea typeface="Courier New"/>
                <a:cs typeface="Courier New"/>
                <a:sym typeface="Courier New"/>
              </a:rPr>
              <a:t>handlers</a:t>
            </a:r>
            <a:r>
              <a:rPr lang="en" sz="1200" dirty="0"/>
              <a:t> map. We'll need to fix that before going "live".</a:t>
            </a:r>
            <a:endParaRPr sz="1200" dirty="0"/>
          </a:p>
          <a:p>
            <a:pPr marL="914400" lvl="1" indent="-292100" algn="l" rtl="0">
              <a:spcBef>
                <a:spcPts val="0"/>
              </a:spcBef>
              <a:spcAft>
                <a:spcPts val="0"/>
              </a:spcAft>
              <a:buSzPts val="1000"/>
              <a:buChar char="○"/>
            </a:pPr>
            <a:r>
              <a:rPr lang="en" sz="1000" dirty="0"/>
              <a:t>Start by adding a </a:t>
            </a:r>
            <a:r>
              <a:rPr lang="en" sz="1000" dirty="0">
                <a:latin typeface="Courier New"/>
                <a:ea typeface="Courier New"/>
                <a:cs typeface="Courier New"/>
                <a:sym typeface="Courier New"/>
              </a:rPr>
              <a:t>Lock</a:t>
            </a:r>
            <a:r>
              <a:rPr lang="en" sz="1000" dirty="0"/>
              <a:t> to the class and its constructor.</a:t>
            </a:r>
            <a:endParaRPr sz="1000" dirty="0"/>
          </a:p>
          <a:p>
            <a:pPr marL="1371600" lvl="2" indent="-292100" algn="l" rtl="0">
              <a:spcBef>
                <a:spcPts val="0"/>
              </a:spcBef>
              <a:spcAft>
                <a:spcPts val="0"/>
              </a:spcAft>
              <a:buSzPts val="1000"/>
              <a:buChar char="■"/>
            </a:pPr>
            <a:r>
              <a:rPr lang="en" sz="1000" dirty="0"/>
              <a:t>Don't make it </a:t>
            </a:r>
            <a:r>
              <a:rPr lang="en" sz="1000" dirty="0">
                <a:latin typeface="Courier New"/>
                <a:ea typeface="Courier New"/>
                <a:cs typeface="Courier New"/>
                <a:sym typeface="Courier New"/>
              </a:rPr>
              <a:t>static</a:t>
            </a:r>
            <a:r>
              <a:rPr lang="en" sz="1000" dirty="0"/>
              <a:t>, there should be </a:t>
            </a:r>
            <a:r>
              <a:rPr lang="en" sz="1000" b="1" i="1" dirty="0">
                <a:solidFill>
                  <a:srgbClr val="FF0000"/>
                </a:solidFill>
              </a:rPr>
              <a:t>one per server</a:t>
            </a:r>
            <a:r>
              <a:rPr lang="en" sz="1000" dirty="0"/>
              <a:t>.</a:t>
            </a:r>
            <a:endParaRPr sz="1000" dirty="0"/>
          </a:p>
          <a:p>
            <a:pPr marL="914400" lvl="1" indent="-292100" algn="l" rtl="0">
              <a:spcBef>
                <a:spcPts val="0"/>
              </a:spcBef>
              <a:spcAft>
                <a:spcPts val="0"/>
              </a:spcAft>
              <a:buSzPts val="1000"/>
              <a:buChar char="○"/>
            </a:pPr>
            <a:r>
              <a:rPr lang="en" sz="1000" dirty="0"/>
              <a:t>Find the region of code that uses the </a:t>
            </a:r>
            <a:r>
              <a:rPr lang="en" sz="1000" dirty="0">
                <a:latin typeface="Courier New"/>
                <a:ea typeface="Courier New"/>
                <a:cs typeface="Courier New"/>
                <a:sym typeface="Courier New"/>
              </a:rPr>
              <a:t>handlers</a:t>
            </a:r>
            <a:r>
              <a:rPr lang="en" sz="1000" dirty="0"/>
              <a:t> map (</a:t>
            </a:r>
            <a:r>
              <a:rPr lang="en" sz="1000" b="1" i="1" dirty="0">
                <a:solidFill>
                  <a:srgbClr val="FF0000"/>
                </a:solidFill>
              </a:rPr>
              <a:t>critical region</a:t>
            </a:r>
            <a:r>
              <a:rPr lang="en" sz="1000" dirty="0"/>
              <a:t>)</a:t>
            </a:r>
            <a:endParaRPr sz="1000" dirty="0"/>
          </a:p>
          <a:p>
            <a:pPr marL="1371600" lvl="2" indent="-292100" algn="l" rtl="0">
              <a:spcBef>
                <a:spcPts val="0"/>
              </a:spcBef>
              <a:spcAft>
                <a:spcPts val="0"/>
              </a:spcAft>
              <a:buSzPts val="1000"/>
              <a:buChar char="■"/>
            </a:pPr>
            <a:r>
              <a:rPr lang="en" sz="1000" i="1" dirty="0"/>
              <a:t>Hint: Start with </a:t>
            </a:r>
            <a:r>
              <a:rPr lang="en" sz="1000" i="1" dirty="0">
                <a:latin typeface="Courier New"/>
                <a:ea typeface="Courier New"/>
                <a:cs typeface="Courier New"/>
                <a:sym typeface="Courier New"/>
              </a:rPr>
              <a:t>handleClient</a:t>
            </a:r>
            <a:r>
              <a:rPr lang="en" sz="1000" dirty="0"/>
              <a:t>.</a:t>
            </a:r>
            <a:endParaRPr sz="1000" dirty="0"/>
          </a:p>
          <a:p>
            <a:pPr marL="914400" lvl="1" indent="-292100" algn="l" rtl="0">
              <a:spcBef>
                <a:spcPts val="0"/>
              </a:spcBef>
              <a:spcAft>
                <a:spcPts val="0"/>
              </a:spcAft>
              <a:buSzPts val="1000"/>
              <a:buChar char="○"/>
            </a:pPr>
            <a:r>
              <a:rPr lang="en" sz="1000" b="1" i="1" dirty="0">
                <a:solidFill>
                  <a:srgbClr val="FF0000"/>
                </a:solidFill>
              </a:rPr>
              <a:t>Lock</a:t>
            </a:r>
            <a:r>
              <a:rPr lang="en" sz="1000" dirty="0"/>
              <a:t> the region of code that uses the map. It should be pretty small.</a:t>
            </a:r>
            <a:endParaRPr sz="1000" dirty="0"/>
          </a:p>
          <a:p>
            <a:pPr marL="1371600" lvl="2" indent="-292100" algn="l" rtl="0">
              <a:spcBef>
                <a:spcPts val="0"/>
              </a:spcBef>
              <a:spcAft>
                <a:spcPts val="0"/>
              </a:spcAft>
              <a:buSzPts val="1000"/>
              <a:buChar char="■"/>
            </a:pPr>
            <a:r>
              <a:rPr lang="en" sz="1000" b="1" dirty="0"/>
              <a:t>Don't</a:t>
            </a:r>
            <a:r>
              <a:rPr lang="en" sz="1000" dirty="0"/>
              <a:t> lock the entire method otherwise it defeats using multiple threads.</a:t>
            </a:r>
            <a:endParaRPr sz="1000" dirty="0"/>
          </a:p>
          <a:p>
            <a:pPr marL="1371600" lvl="2" indent="-292100" algn="l" rtl="0">
              <a:spcBef>
                <a:spcPts val="0"/>
              </a:spcBef>
              <a:spcAft>
                <a:spcPts val="0"/>
              </a:spcAft>
              <a:buSzPts val="1000"/>
              <a:buChar char="■"/>
            </a:pPr>
            <a:r>
              <a:rPr lang="en" sz="1000" dirty="0"/>
              <a:t>Don't forget to </a:t>
            </a:r>
            <a:r>
              <a:rPr lang="en" sz="1000" b="1" dirty="0"/>
              <a:t>unlock in a finally block</a:t>
            </a:r>
            <a:endParaRPr sz="1000" b="1" dirty="0"/>
          </a:p>
          <a:p>
            <a:pPr marL="457200" lvl="0" indent="-292100" algn="l" rtl="0">
              <a:spcBef>
                <a:spcPts val="1000"/>
              </a:spcBef>
              <a:spcAft>
                <a:spcPts val="0"/>
              </a:spcAft>
              <a:buSzPts val="1000"/>
              <a:buChar char="●"/>
            </a:pPr>
            <a:r>
              <a:rPr lang="en" sz="1000" dirty="0"/>
              <a:t>Run your updated server and a couple clients and verify everything still works and you don't get any errors.</a:t>
            </a:r>
            <a:endParaRPr sz="1000" dirty="0"/>
          </a:p>
        </p:txBody>
      </p:sp>
      <p:sp>
        <p:nvSpPr>
          <p:cNvPr id="554" name="Google Shape;554;p5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Multi-Threaded HttpWebServer</a:t>
            </a:r>
            <a:endParaRPr/>
          </a:p>
        </p:txBody>
      </p:sp>
      <p:sp>
        <p:nvSpPr>
          <p:cNvPr id="555" name="Google Shape;555;p5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11.7</a:t>
            </a:r>
            <a:endParaRPr/>
          </a:p>
        </p:txBody>
      </p:sp>
      <p:sp>
        <p:nvSpPr>
          <p:cNvPr id="556" name="Google Shape;556;p53"/>
          <p:cNvSpPr txBox="1">
            <a:spLocks noGrp="1"/>
          </p:cNvSpPr>
          <p:nvPr>
            <p:ph type="body" idx="4"/>
          </p:nvPr>
        </p:nvSpPr>
        <p:spPr>
          <a:xfrm>
            <a:off x="141600" y="4156900"/>
            <a:ext cx="3023700" cy="7389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a:t>A well designed </a:t>
            </a:r>
            <a:r>
              <a:rPr lang="en" b="1" i="1">
                <a:solidFill>
                  <a:srgbClr val="FF0000"/>
                </a:solidFill>
              </a:rPr>
              <a:t>multi-threaded server</a:t>
            </a:r>
            <a:r>
              <a:rPr lang="en"/>
              <a:t> will ensure maximum </a:t>
            </a:r>
            <a:r>
              <a:rPr lang="en" b="1" i="1">
                <a:solidFill>
                  <a:srgbClr val="FF0000"/>
                </a:solidFill>
              </a:rPr>
              <a:t>responsiveness</a:t>
            </a:r>
            <a:r>
              <a:rPr lang="en"/>
              <a:t> when running lots of clients.</a:t>
            </a:r>
            <a:endParaRPr/>
          </a:p>
        </p:txBody>
      </p:sp>
      <p:pic>
        <p:nvPicPr>
          <p:cNvPr id="557" name="Google Shape;557;p53"/>
          <p:cNvPicPr preferRelativeResize="0"/>
          <p:nvPr/>
        </p:nvPicPr>
        <p:blipFill>
          <a:blip r:embed="rId3">
            <a:alphaModFix/>
          </a:blip>
          <a:stretch>
            <a:fillRect/>
          </a:stretch>
        </p:blipFill>
        <p:spPr>
          <a:xfrm>
            <a:off x="266175" y="1814150"/>
            <a:ext cx="1768574" cy="959100"/>
          </a:xfrm>
          <a:prstGeom prst="rect">
            <a:avLst/>
          </a:prstGeom>
          <a:noFill/>
          <a:ln w="19050" cap="flat" cmpd="sng">
            <a:solidFill>
              <a:srgbClr val="31394D"/>
            </a:solidFill>
            <a:prstDash val="solid"/>
            <a:round/>
            <a:headEnd type="none" w="sm" len="sm"/>
            <a:tailEnd type="none" w="sm" len="sm"/>
          </a:ln>
        </p:spPr>
      </p:pic>
      <p:pic>
        <p:nvPicPr>
          <p:cNvPr id="558" name="Google Shape;558;p53"/>
          <p:cNvPicPr preferRelativeResize="0"/>
          <p:nvPr/>
        </p:nvPicPr>
        <p:blipFill>
          <a:blip r:embed="rId3">
            <a:alphaModFix/>
          </a:blip>
          <a:stretch>
            <a:fillRect/>
          </a:stretch>
        </p:blipFill>
        <p:spPr>
          <a:xfrm>
            <a:off x="309925" y="3346050"/>
            <a:ext cx="1343076" cy="728350"/>
          </a:xfrm>
          <a:prstGeom prst="rect">
            <a:avLst/>
          </a:prstGeom>
          <a:noFill/>
          <a:ln w="19050" cap="flat" cmpd="sng">
            <a:solidFill>
              <a:srgbClr val="31394D"/>
            </a:solidFill>
            <a:prstDash val="solid"/>
            <a:round/>
            <a:headEnd type="none" w="sm" len="sm"/>
            <a:tailEnd type="none" w="sm" len="sm"/>
          </a:ln>
        </p:spPr>
      </p:pic>
      <p:pic>
        <p:nvPicPr>
          <p:cNvPr id="559" name="Google Shape;559;p53"/>
          <p:cNvPicPr preferRelativeResize="0"/>
          <p:nvPr/>
        </p:nvPicPr>
        <p:blipFill>
          <a:blip r:embed="rId3">
            <a:alphaModFix/>
          </a:blip>
          <a:stretch>
            <a:fillRect/>
          </a:stretch>
        </p:blipFill>
        <p:spPr>
          <a:xfrm>
            <a:off x="761200" y="2453750"/>
            <a:ext cx="2047925" cy="1110575"/>
          </a:xfrm>
          <a:prstGeom prst="rect">
            <a:avLst/>
          </a:prstGeom>
          <a:noFill/>
          <a:ln w="19050" cap="flat" cmpd="sng">
            <a:solidFill>
              <a:srgbClr val="31394D"/>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63"/>
        <p:cNvGrpSpPr/>
        <p:nvPr/>
      </p:nvGrpSpPr>
      <p:grpSpPr>
        <a:xfrm>
          <a:off x="0" y="0"/>
          <a:ext cx="0" cy="0"/>
          <a:chOff x="0" y="0"/>
          <a:chExt cx="0" cy="0"/>
        </a:xfrm>
      </p:grpSpPr>
      <p:sp>
        <p:nvSpPr>
          <p:cNvPr id="564" name="Google Shape;564;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23</a:t>
            </a:fld>
            <a:endParaRPr/>
          </a:p>
        </p:txBody>
      </p:sp>
      <p:sp>
        <p:nvSpPr>
          <p:cNvPr id="565" name="Google Shape;565;p54"/>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 Lock or Not To Lock?</a:t>
            </a:r>
            <a:endParaRPr/>
          </a:p>
        </p:txBody>
      </p:sp>
      <p:grpSp>
        <p:nvGrpSpPr>
          <p:cNvPr id="566" name="Google Shape;566;p54"/>
          <p:cNvGrpSpPr/>
          <p:nvPr/>
        </p:nvGrpSpPr>
        <p:grpSpPr>
          <a:xfrm>
            <a:off x="4128425" y="1576313"/>
            <a:ext cx="4772650" cy="2959163"/>
            <a:chOff x="4128425" y="1576313"/>
            <a:chExt cx="4772650" cy="2959163"/>
          </a:xfrm>
        </p:grpSpPr>
        <p:grpSp>
          <p:nvGrpSpPr>
            <p:cNvPr id="567" name="Google Shape;567;p54"/>
            <p:cNvGrpSpPr/>
            <p:nvPr/>
          </p:nvGrpSpPr>
          <p:grpSpPr>
            <a:xfrm>
              <a:off x="5891614" y="1576313"/>
              <a:ext cx="1486500" cy="2959163"/>
              <a:chOff x="6958414" y="1195313"/>
              <a:chExt cx="1486500" cy="2959163"/>
            </a:xfrm>
          </p:grpSpPr>
          <p:sp>
            <p:nvSpPr>
              <p:cNvPr id="568" name="Google Shape;568;p54"/>
              <p:cNvSpPr/>
              <p:nvPr/>
            </p:nvSpPr>
            <p:spPr>
              <a:xfrm>
                <a:off x="6958414" y="1969300"/>
                <a:ext cx="1486500" cy="1411200"/>
              </a:xfrm>
              <a:prstGeom prst="roundRect">
                <a:avLst>
                  <a:gd name="adj" fmla="val 9698"/>
                </a:avLst>
              </a:prstGeom>
              <a:solidFill>
                <a:srgbClr val="B6D7A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54"/>
              <p:cNvSpPr/>
              <p:nvPr/>
            </p:nvSpPr>
            <p:spPr>
              <a:xfrm>
                <a:off x="7286250" y="1195313"/>
                <a:ext cx="831900" cy="390600"/>
              </a:xfrm>
              <a:prstGeom prst="roundRect">
                <a:avLst>
                  <a:gd name="adj" fmla="val 16667"/>
                </a:avLst>
              </a:prstGeom>
              <a:solidFill>
                <a:srgbClr val="626B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570" name="Google Shape;570;p54"/>
              <p:cNvSpPr/>
              <p:nvPr/>
            </p:nvSpPr>
            <p:spPr>
              <a:xfrm>
                <a:off x="7029750" y="2049450"/>
                <a:ext cx="1344900" cy="390600"/>
              </a:xfrm>
              <a:prstGeom prst="roundRect">
                <a:avLst>
                  <a:gd name="adj" fmla="val 16667"/>
                </a:avLst>
              </a:prstGeom>
              <a:solidFill>
                <a:srgbClr val="626B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571" name="Google Shape;571;p54"/>
              <p:cNvSpPr/>
              <p:nvPr/>
            </p:nvSpPr>
            <p:spPr>
              <a:xfrm>
                <a:off x="7029750" y="2903575"/>
                <a:ext cx="1344900" cy="390600"/>
              </a:xfrm>
              <a:prstGeom prst="roundRect">
                <a:avLst>
                  <a:gd name="adj" fmla="val 16667"/>
                </a:avLst>
              </a:prstGeom>
              <a:solidFill>
                <a:srgbClr val="626B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572" name="Google Shape;572;p54"/>
              <p:cNvSpPr/>
              <p:nvPr/>
            </p:nvSpPr>
            <p:spPr>
              <a:xfrm>
                <a:off x="7050682" y="3763875"/>
                <a:ext cx="1302000" cy="390600"/>
              </a:xfrm>
              <a:prstGeom prst="roundRect">
                <a:avLst>
                  <a:gd name="adj" fmla="val 16667"/>
                </a:avLst>
              </a:prstGeom>
              <a:solidFill>
                <a:srgbClr val="626B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573" name="Google Shape;573;p54"/>
              <p:cNvCxnSpPr>
                <a:stCxn id="569" idx="2"/>
                <a:endCxn id="570" idx="0"/>
              </p:cNvCxnSpPr>
              <p:nvPr/>
            </p:nvCxnSpPr>
            <p:spPr>
              <a:xfrm>
                <a:off x="7702200" y="1585913"/>
                <a:ext cx="0" cy="463500"/>
              </a:xfrm>
              <a:prstGeom prst="straightConnector1">
                <a:avLst/>
              </a:prstGeom>
              <a:noFill/>
              <a:ln w="9525" cap="flat" cmpd="sng">
                <a:solidFill>
                  <a:srgbClr val="000000"/>
                </a:solidFill>
                <a:prstDash val="solid"/>
                <a:round/>
                <a:headEnd type="none" w="med" len="med"/>
                <a:tailEnd type="triangle" w="med" len="med"/>
              </a:ln>
            </p:spPr>
          </p:cxnSp>
          <p:cxnSp>
            <p:nvCxnSpPr>
              <p:cNvPr id="574" name="Google Shape;574;p54"/>
              <p:cNvCxnSpPr>
                <a:stCxn id="571" idx="2"/>
                <a:endCxn id="572" idx="0"/>
              </p:cNvCxnSpPr>
              <p:nvPr/>
            </p:nvCxnSpPr>
            <p:spPr>
              <a:xfrm flipH="1">
                <a:off x="7701600" y="3294175"/>
                <a:ext cx="600" cy="469800"/>
              </a:xfrm>
              <a:prstGeom prst="straightConnector1">
                <a:avLst/>
              </a:prstGeom>
              <a:noFill/>
              <a:ln w="9525" cap="flat" cmpd="sng">
                <a:solidFill>
                  <a:srgbClr val="000000"/>
                </a:solidFill>
                <a:prstDash val="solid"/>
                <a:round/>
                <a:headEnd type="none" w="med" len="med"/>
                <a:tailEnd type="triangle" w="med" len="med"/>
              </a:ln>
            </p:spPr>
          </p:cxnSp>
          <p:cxnSp>
            <p:nvCxnSpPr>
              <p:cNvPr id="575" name="Google Shape;575;p54"/>
              <p:cNvCxnSpPr/>
              <p:nvPr/>
            </p:nvCxnSpPr>
            <p:spPr>
              <a:xfrm>
                <a:off x="7333050" y="2445150"/>
                <a:ext cx="0" cy="470100"/>
              </a:xfrm>
              <a:prstGeom prst="straightConnector1">
                <a:avLst/>
              </a:prstGeom>
              <a:noFill/>
              <a:ln w="9525" cap="flat" cmpd="sng">
                <a:solidFill>
                  <a:srgbClr val="000000"/>
                </a:solidFill>
                <a:prstDash val="solid"/>
                <a:round/>
                <a:headEnd type="none" w="med" len="med"/>
                <a:tailEnd type="triangle" w="med" len="med"/>
              </a:ln>
            </p:spPr>
          </p:cxnSp>
          <p:cxnSp>
            <p:nvCxnSpPr>
              <p:cNvPr id="576" name="Google Shape;576;p54"/>
              <p:cNvCxnSpPr/>
              <p:nvPr/>
            </p:nvCxnSpPr>
            <p:spPr>
              <a:xfrm rot="10800000">
                <a:off x="8094075" y="2445275"/>
                <a:ext cx="0" cy="470100"/>
              </a:xfrm>
              <a:prstGeom prst="straightConnector1">
                <a:avLst/>
              </a:prstGeom>
              <a:noFill/>
              <a:ln w="9525" cap="flat" cmpd="sng">
                <a:solidFill>
                  <a:srgbClr val="000000"/>
                </a:solidFill>
                <a:prstDash val="solid"/>
                <a:round/>
                <a:headEnd type="none" w="med" len="med"/>
                <a:tailEnd type="triangle" w="med" len="med"/>
              </a:ln>
            </p:spPr>
          </p:cxnSp>
        </p:grpSp>
        <p:sp>
          <p:nvSpPr>
            <p:cNvPr id="577" name="Google Shape;577;p54"/>
            <p:cNvSpPr/>
            <p:nvPr/>
          </p:nvSpPr>
          <p:spPr>
            <a:xfrm>
              <a:off x="4128425" y="2893975"/>
              <a:ext cx="1344900" cy="390600"/>
            </a:xfrm>
            <a:prstGeom prst="roundRect">
              <a:avLst>
                <a:gd name="adj" fmla="val 16667"/>
              </a:avLst>
            </a:prstGeom>
            <a:solidFill>
              <a:srgbClr val="626B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cxnSp>
          <p:nvCxnSpPr>
            <p:cNvPr id="578" name="Google Shape;578;p54"/>
            <p:cNvCxnSpPr>
              <a:stCxn id="571" idx="1"/>
              <a:endCxn id="577" idx="2"/>
            </p:cNvCxnSpPr>
            <p:nvPr/>
          </p:nvCxnSpPr>
          <p:spPr>
            <a:xfrm rot="10800000">
              <a:off x="4800750" y="3284575"/>
              <a:ext cx="1162200" cy="195300"/>
            </a:xfrm>
            <a:prstGeom prst="curvedConnector2">
              <a:avLst/>
            </a:prstGeom>
            <a:noFill/>
            <a:ln w="9525" cap="flat" cmpd="sng">
              <a:solidFill>
                <a:srgbClr val="000000"/>
              </a:solidFill>
              <a:prstDash val="solid"/>
              <a:round/>
              <a:headEnd type="none" w="med" len="med"/>
              <a:tailEnd type="triangle" w="med" len="med"/>
            </a:ln>
          </p:spPr>
        </p:cxnSp>
        <p:sp>
          <p:nvSpPr>
            <p:cNvPr id="579" name="Google Shape;579;p54"/>
            <p:cNvSpPr txBox="1"/>
            <p:nvPr/>
          </p:nvSpPr>
          <p:spPr>
            <a:xfrm>
              <a:off x="4425650" y="3479875"/>
              <a:ext cx="12564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Consolas"/>
                  <a:ea typeface="Consolas"/>
                  <a:cs typeface="Consolas"/>
                  <a:sym typeface="Consolas"/>
                </a:rPr>
                <a:t>sleep()</a:t>
              </a:r>
              <a:endParaRPr sz="800">
                <a:latin typeface="Consolas"/>
                <a:ea typeface="Consolas"/>
                <a:cs typeface="Consolas"/>
                <a:sym typeface="Consolas"/>
              </a:endParaRPr>
            </a:p>
            <a:p>
              <a:pPr marL="0" lvl="0" indent="0" algn="ctr" rtl="0">
                <a:spcBef>
                  <a:spcPts val="0"/>
                </a:spcBef>
                <a:spcAft>
                  <a:spcPts val="0"/>
                </a:spcAft>
                <a:buNone/>
              </a:pPr>
              <a:r>
                <a:rPr lang="en" sz="800">
                  <a:latin typeface="Consolas"/>
                  <a:ea typeface="Consolas"/>
                  <a:cs typeface="Consolas"/>
                  <a:sym typeface="Consolas"/>
                </a:rPr>
                <a:t>awaitTermination()</a:t>
              </a:r>
              <a:endParaRPr sz="800">
                <a:latin typeface="Consolas"/>
                <a:ea typeface="Consolas"/>
                <a:cs typeface="Consolas"/>
                <a:sym typeface="Consolas"/>
              </a:endParaRPr>
            </a:p>
          </p:txBody>
        </p:sp>
        <p:grpSp>
          <p:nvGrpSpPr>
            <p:cNvPr id="580" name="Google Shape;580;p54"/>
            <p:cNvGrpSpPr/>
            <p:nvPr/>
          </p:nvGrpSpPr>
          <p:grpSpPr>
            <a:xfrm>
              <a:off x="7301925" y="2502151"/>
              <a:ext cx="1599150" cy="1137946"/>
              <a:chOff x="7149525" y="2044951"/>
              <a:chExt cx="1599150" cy="1137946"/>
            </a:xfrm>
          </p:grpSpPr>
          <p:sp>
            <p:nvSpPr>
              <p:cNvPr id="581" name="Google Shape;581;p54"/>
              <p:cNvSpPr/>
              <p:nvPr/>
            </p:nvSpPr>
            <p:spPr>
              <a:xfrm>
                <a:off x="7660575" y="2410450"/>
                <a:ext cx="1088100" cy="390600"/>
              </a:xfrm>
              <a:prstGeom prst="roundRect">
                <a:avLst>
                  <a:gd name="adj" fmla="val 16667"/>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BLOCKED</a:t>
                </a:r>
                <a:endParaRPr>
                  <a:solidFill>
                    <a:srgbClr val="FFFFFF"/>
                  </a:solidFill>
                </a:endParaRPr>
              </a:p>
            </p:txBody>
          </p:sp>
          <p:cxnSp>
            <p:nvCxnSpPr>
              <p:cNvPr id="582" name="Google Shape;582;p54"/>
              <p:cNvCxnSpPr>
                <a:endCxn id="581" idx="2"/>
              </p:cNvCxnSpPr>
              <p:nvPr/>
            </p:nvCxnSpPr>
            <p:spPr>
              <a:xfrm rot="10800000" flipH="1">
                <a:off x="7149525" y="2801050"/>
                <a:ext cx="1055100" cy="231600"/>
              </a:xfrm>
              <a:prstGeom prst="curvedConnector2">
                <a:avLst/>
              </a:prstGeom>
              <a:noFill/>
              <a:ln w="9525" cap="flat" cmpd="sng">
                <a:solidFill>
                  <a:srgbClr val="000000"/>
                </a:solidFill>
                <a:prstDash val="solid"/>
                <a:round/>
                <a:headEnd type="none" w="med" len="med"/>
                <a:tailEnd type="triangle" w="med" len="med"/>
              </a:ln>
            </p:spPr>
          </p:cxnSp>
          <p:sp>
            <p:nvSpPr>
              <p:cNvPr id="583" name="Google Shape;583;p54"/>
              <p:cNvSpPr txBox="1"/>
              <p:nvPr/>
            </p:nvSpPr>
            <p:spPr>
              <a:xfrm>
                <a:off x="7386150" y="2987597"/>
                <a:ext cx="1073100" cy="19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unavailable</a:t>
                </a:r>
                <a:endParaRPr sz="800" b="1"/>
              </a:p>
            </p:txBody>
          </p:sp>
          <p:cxnSp>
            <p:nvCxnSpPr>
              <p:cNvPr id="584" name="Google Shape;584;p54"/>
              <p:cNvCxnSpPr>
                <a:stCxn id="581" idx="0"/>
              </p:cNvCxnSpPr>
              <p:nvPr/>
            </p:nvCxnSpPr>
            <p:spPr>
              <a:xfrm rot="5400000" flipH="1">
                <a:off x="7561125" y="1766950"/>
                <a:ext cx="231900" cy="1055100"/>
              </a:xfrm>
              <a:prstGeom prst="curvedConnector2">
                <a:avLst/>
              </a:prstGeom>
              <a:noFill/>
              <a:ln w="9525" cap="flat" cmpd="sng">
                <a:solidFill>
                  <a:srgbClr val="000000"/>
                </a:solidFill>
                <a:prstDash val="solid"/>
                <a:round/>
                <a:headEnd type="none" w="med" len="med"/>
                <a:tailEnd type="triangle" w="med" len="med"/>
              </a:ln>
            </p:spPr>
          </p:cxnSp>
          <p:sp>
            <p:nvSpPr>
              <p:cNvPr id="585" name="Google Shape;585;p54"/>
              <p:cNvSpPr txBox="1"/>
              <p:nvPr/>
            </p:nvSpPr>
            <p:spPr>
              <a:xfrm>
                <a:off x="7463450" y="2044951"/>
                <a:ext cx="1073100" cy="23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obtained</a:t>
                </a:r>
                <a:endParaRPr sz="800" b="1"/>
              </a:p>
            </p:txBody>
          </p:sp>
        </p:grpSp>
        <p:cxnSp>
          <p:nvCxnSpPr>
            <p:cNvPr id="586" name="Google Shape;586;p54"/>
            <p:cNvCxnSpPr>
              <a:stCxn id="570" idx="1"/>
              <a:endCxn id="577" idx="0"/>
            </p:cNvCxnSpPr>
            <p:nvPr/>
          </p:nvCxnSpPr>
          <p:spPr>
            <a:xfrm flipH="1">
              <a:off x="4800750" y="2625750"/>
              <a:ext cx="1162200" cy="268200"/>
            </a:xfrm>
            <a:prstGeom prst="curvedConnector2">
              <a:avLst/>
            </a:prstGeom>
            <a:noFill/>
            <a:ln w="9525" cap="flat" cmpd="sng">
              <a:solidFill>
                <a:srgbClr val="000000"/>
              </a:solidFill>
              <a:prstDash val="solid"/>
              <a:round/>
              <a:headEnd type="triangle" w="med" len="med"/>
              <a:tailEnd type="none" w="med" len="med"/>
            </a:ln>
          </p:spPr>
        </p:cxnSp>
        <p:sp>
          <p:nvSpPr>
            <p:cNvPr id="587" name="Google Shape;587;p54"/>
            <p:cNvSpPr txBox="1"/>
            <p:nvPr/>
          </p:nvSpPr>
          <p:spPr>
            <a:xfrm>
              <a:off x="6574600" y="3808200"/>
              <a:ext cx="8688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Consolas"/>
                  <a:ea typeface="Consolas"/>
                  <a:cs typeface="Consolas"/>
                  <a:sym typeface="Consolas"/>
                </a:rPr>
                <a:t>run()</a:t>
              </a:r>
              <a:r>
                <a:rPr lang="en" sz="800"/>
                <a:t> returns</a:t>
              </a:r>
              <a:endParaRPr sz="800"/>
            </a:p>
          </p:txBody>
        </p:sp>
        <p:sp>
          <p:nvSpPr>
            <p:cNvPr id="588" name="Google Shape;588;p54"/>
            <p:cNvSpPr txBox="1"/>
            <p:nvPr/>
          </p:nvSpPr>
          <p:spPr>
            <a:xfrm>
              <a:off x="4845300" y="2235150"/>
              <a:ext cx="1073100" cy="39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timer expires</a:t>
              </a:r>
              <a:endParaRPr sz="800" b="1"/>
            </a:p>
            <a:p>
              <a:pPr marL="0" lvl="0" indent="0" algn="ctr" rtl="0">
                <a:spcBef>
                  <a:spcPts val="0"/>
                </a:spcBef>
                <a:spcAft>
                  <a:spcPts val="0"/>
                </a:spcAft>
                <a:buNone/>
              </a:pPr>
              <a:r>
                <a:rPr lang="en" sz="800" b="1"/>
                <a:t>interrupt</a:t>
              </a:r>
              <a:endParaRPr sz="800" b="1"/>
            </a:p>
            <a:p>
              <a:pPr marL="0" lvl="0" indent="0" algn="ctr" rtl="0">
                <a:spcBef>
                  <a:spcPts val="0"/>
                </a:spcBef>
                <a:spcAft>
                  <a:spcPts val="0"/>
                </a:spcAft>
                <a:buNone/>
              </a:pPr>
              <a:r>
                <a:rPr lang="en" sz="800" b="1"/>
                <a:t>thread dies</a:t>
              </a:r>
              <a:endParaRPr sz="800" b="1"/>
            </a:p>
          </p:txBody>
        </p:sp>
        <p:sp>
          <p:nvSpPr>
            <p:cNvPr id="589" name="Google Shape;589;p54"/>
            <p:cNvSpPr txBox="1"/>
            <p:nvPr/>
          </p:nvSpPr>
          <p:spPr>
            <a:xfrm>
              <a:off x="6690725" y="2053225"/>
              <a:ext cx="6570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latin typeface="Consolas"/>
                  <a:ea typeface="Consolas"/>
                  <a:cs typeface="Consolas"/>
                  <a:sym typeface="Consolas"/>
                </a:rPr>
                <a:t>start()</a:t>
              </a:r>
              <a:endParaRPr sz="800" b="1">
                <a:latin typeface="Consolas"/>
                <a:ea typeface="Consolas"/>
                <a:cs typeface="Consolas"/>
                <a:sym typeface="Consolas"/>
              </a:endParaRPr>
            </a:p>
          </p:txBody>
        </p:sp>
        <p:sp>
          <p:nvSpPr>
            <p:cNvPr id="590" name="Google Shape;590;p54"/>
            <p:cNvSpPr txBox="1"/>
            <p:nvPr/>
          </p:nvSpPr>
          <p:spPr>
            <a:xfrm>
              <a:off x="7000025" y="2893975"/>
              <a:ext cx="5697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timeout</a:t>
              </a:r>
              <a:endParaRPr sz="800" b="1"/>
            </a:p>
          </p:txBody>
        </p:sp>
        <p:sp>
          <p:nvSpPr>
            <p:cNvPr id="591" name="Google Shape;591;p54"/>
            <p:cNvSpPr txBox="1"/>
            <p:nvPr/>
          </p:nvSpPr>
          <p:spPr>
            <a:xfrm>
              <a:off x="5602660" y="2957863"/>
              <a:ext cx="7173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scheduled</a:t>
              </a:r>
              <a:endParaRPr sz="800" b="1"/>
            </a:p>
          </p:txBody>
        </p:sp>
      </p:grpSp>
      <p:sp>
        <p:nvSpPr>
          <p:cNvPr id="592" name="Google Shape;592;p54"/>
          <p:cNvSpPr txBox="1">
            <a:spLocks noGrp="1"/>
          </p:cNvSpPr>
          <p:nvPr>
            <p:ph type="body" idx="4294967295"/>
          </p:nvPr>
        </p:nvSpPr>
        <p:spPr>
          <a:xfrm>
            <a:off x="101975" y="1423925"/>
            <a:ext cx="3897000" cy="3494100"/>
          </a:xfrm>
          <a:prstGeom prst="rect">
            <a:avLst/>
          </a:prstGeom>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dirty="0"/>
              <a:t>Making code</a:t>
            </a:r>
            <a:r>
              <a:rPr lang="en" sz="1200" dirty="0">
                <a:solidFill>
                  <a:srgbClr val="FF0000"/>
                </a:solidFill>
              </a:rPr>
              <a:t> </a:t>
            </a:r>
            <a:r>
              <a:rPr lang="en" sz="1200" b="1" i="1" dirty="0">
                <a:solidFill>
                  <a:srgbClr val="FF0000"/>
                </a:solidFill>
              </a:rPr>
              <a:t>thread-safe</a:t>
            </a:r>
            <a:r>
              <a:rPr lang="en" sz="1200" dirty="0"/>
              <a:t> comes at a cost. </a:t>
            </a:r>
            <a:endParaRPr sz="1200" dirty="0"/>
          </a:p>
          <a:p>
            <a:pPr marL="914400" lvl="1" indent="-292100" algn="l" rtl="0">
              <a:lnSpc>
                <a:spcPct val="100000"/>
              </a:lnSpc>
              <a:spcBef>
                <a:spcPts val="0"/>
              </a:spcBef>
              <a:spcAft>
                <a:spcPts val="0"/>
              </a:spcAft>
              <a:buSzPts val="1000"/>
              <a:buChar char="○"/>
            </a:pPr>
            <a:r>
              <a:rPr lang="en" sz="1000" dirty="0">
                <a:highlight>
                  <a:srgbClr val="FFFF00"/>
                </a:highlight>
              </a:rPr>
              <a:t>Locked code runs </a:t>
            </a:r>
            <a:r>
              <a:rPr lang="en" sz="1000" b="1" i="1" dirty="0">
                <a:solidFill>
                  <a:srgbClr val="FF0000"/>
                </a:solidFill>
                <a:highlight>
                  <a:srgbClr val="FFFF00"/>
                </a:highlight>
              </a:rPr>
              <a:t>much</a:t>
            </a:r>
            <a:r>
              <a:rPr lang="en" sz="1000" dirty="0">
                <a:solidFill>
                  <a:srgbClr val="FF0000"/>
                </a:solidFill>
                <a:highlight>
                  <a:srgbClr val="FFFF00"/>
                </a:highlight>
              </a:rPr>
              <a:t> </a:t>
            </a:r>
            <a:r>
              <a:rPr lang="en" sz="1000" b="1" i="1" dirty="0">
                <a:solidFill>
                  <a:srgbClr val="FF0000"/>
                </a:solidFill>
                <a:highlight>
                  <a:srgbClr val="FFFF00"/>
                </a:highlight>
              </a:rPr>
              <a:t>more slowly</a:t>
            </a:r>
            <a:r>
              <a:rPr lang="en" sz="1000" dirty="0">
                <a:highlight>
                  <a:srgbClr val="FFFF00"/>
                </a:highlight>
              </a:rPr>
              <a:t> than code that does not use a lock.</a:t>
            </a:r>
            <a:endParaRPr sz="1000" dirty="0">
              <a:highlight>
                <a:srgbClr val="FFFF00"/>
              </a:highlight>
            </a:endParaRPr>
          </a:p>
          <a:p>
            <a:pPr marL="457200" lvl="0" indent="-304800" algn="l" rtl="0">
              <a:lnSpc>
                <a:spcPct val="100000"/>
              </a:lnSpc>
              <a:spcBef>
                <a:spcPts val="1000"/>
              </a:spcBef>
              <a:spcAft>
                <a:spcPts val="0"/>
              </a:spcAft>
              <a:buSzPts val="1200"/>
              <a:buChar char="●"/>
            </a:pPr>
            <a:r>
              <a:rPr lang="en" sz="1200" dirty="0">
                <a:highlight>
                  <a:srgbClr val="FFFF00"/>
                </a:highlight>
              </a:rPr>
              <a:t>The </a:t>
            </a:r>
            <a:r>
              <a:rPr lang="en" sz="1200" b="1" i="1" dirty="0">
                <a:solidFill>
                  <a:srgbClr val="FF0000"/>
                </a:solidFill>
                <a:highlight>
                  <a:srgbClr val="FFFF00"/>
                </a:highlight>
              </a:rPr>
              <a:t>vast majority</a:t>
            </a:r>
            <a:r>
              <a:rPr lang="en" sz="1200" dirty="0">
                <a:highlight>
                  <a:srgbClr val="FFFF00"/>
                </a:highlight>
              </a:rPr>
              <a:t> of code that you will write throughout your career will run in a </a:t>
            </a:r>
            <a:r>
              <a:rPr lang="en" sz="1200" b="1" i="1" dirty="0">
                <a:solidFill>
                  <a:srgbClr val="FF0000"/>
                </a:solidFill>
                <a:highlight>
                  <a:srgbClr val="FFFF00"/>
                </a:highlight>
              </a:rPr>
              <a:t>single thread</a:t>
            </a:r>
            <a:r>
              <a:rPr lang="en" sz="1200" dirty="0">
                <a:highlight>
                  <a:srgbClr val="FFFF00"/>
                </a:highlight>
              </a:rPr>
              <a:t>.</a:t>
            </a:r>
            <a:endParaRPr sz="1200" dirty="0">
              <a:highlight>
                <a:srgbClr val="FFFF00"/>
              </a:highlight>
            </a:endParaRPr>
          </a:p>
          <a:p>
            <a:pPr marL="457200" lvl="0" indent="-304800" algn="l" rtl="0">
              <a:lnSpc>
                <a:spcPct val="100000"/>
              </a:lnSpc>
              <a:spcBef>
                <a:spcPts val="1000"/>
              </a:spcBef>
              <a:spcAft>
                <a:spcPts val="0"/>
              </a:spcAft>
              <a:buSzPts val="1200"/>
              <a:buChar char="●"/>
            </a:pPr>
            <a:r>
              <a:rPr lang="en" sz="1200" dirty="0"/>
              <a:t>It is for this reason that most of the classes in the Java standard libraries are </a:t>
            </a:r>
            <a:r>
              <a:rPr lang="en" sz="1200" b="1" i="1" dirty="0">
                <a:solidFill>
                  <a:srgbClr val="FF0000"/>
                </a:solidFill>
                <a:highlight>
                  <a:srgbClr val="FFFF00"/>
                </a:highlight>
              </a:rPr>
              <a:t>not</a:t>
            </a:r>
            <a:r>
              <a:rPr lang="en" sz="1200" dirty="0">
                <a:solidFill>
                  <a:srgbClr val="FF0000"/>
                </a:solidFill>
                <a:highlight>
                  <a:srgbClr val="FFFF00"/>
                </a:highlight>
              </a:rPr>
              <a:t> </a:t>
            </a:r>
            <a:r>
              <a:rPr lang="en" sz="1200" dirty="0">
                <a:highlight>
                  <a:srgbClr val="FFFF00"/>
                </a:highlight>
              </a:rPr>
              <a:t>thread-safe.</a:t>
            </a:r>
            <a:endParaRPr sz="1200" dirty="0">
              <a:highlight>
                <a:srgbClr val="FFFF00"/>
              </a:highlight>
            </a:endParaRPr>
          </a:p>
          <a:p>
            <a:pPr marL="914400" lvl="1" indent="-292100" algn="l" rtl="0">
              <a:lnSpc>
                <a:spcPct val="100000"/>
              </a:lnSpc>
              <a:spcBef>
                <a:spcPts val="0"/>
              </a:spcBef>
              <a:spcAft>
                <a:spcPts val="0"/>
              </a:spcAft>
              <a:buSzPts val="1000"/>
              <a:buChar char="○"/>
            </a:pPr>
            <a:r>
              <a:rPr lang="en" sz="1000" dirty="0"/>
              <a:t>The designers of Java wanted the classes to run </a:t>
            </a:r>
            <a:r>
              <a:rPr lang="en" sz="1000" b="1" i="1" dirty="0">
                <a:solidFill>
                  <a:srgbClr val="FF0000"/>
                </a:solidFill>
              </a:rPr>
              <a:t>quickly </a:t>
            </a:r>
            <a:r>
              <a:rPr lang="en" sz="1000" dirty="0"/>
              <a:t>and </a:t>
            </a:r>
            <a:r>
              <a:rPr lang="en" sz="1000" b="1" i="1" dirty="0">
                <a:solidFill>
                  <a:srgbClr val="FF0000"/>
                </a:solidFill>
              </a:rPr>
              <a:t>efficiently</a:t>
            </a:r>
            <a:r>
              <a:rPr lang="en" sz="1000" dirty="0">
                <a:solidFill>
                  <a:srgbClr val="FF0000"/>
                </a:solidFill>
              </a:rPr>
              <a:t> </a:t>
            </a:r>
            <a:r>
              <a:rPr lang="en" sz="1000" dirty="0"/>
              <a:t>in single-threaded environments.</a:t>
            </a:r>
            <a:endParaRPr sz="1000" dirty="0"/>
          </a:p>
          <a:p>
            <a:pPr marL="457200" lvl="0" indent="-304800" algn="l" rtl="0">
              <a:lnSpc>
                <a:spcPct val="100000"/>
              </a:lnSpc>
              <a:spcBef>
                <a:spcPts val="1000"/>
              </a:spcBef>
              <a:spcAft>
                <a:spcPts val="0"/>
              </a:spcAft>
              <a:buSzPts val="1200"/>
              <a:buChar char="●"/>
            </a:pPr>
            <a:r>
              <a:rPr lang="en" sz="1200" dirty="0"/>
              <a:t>The onus is therefore on the software developer to </a:t>
            </a:r>
            <a:r>
              <a:rPr lang="en" sz="1200" b="1" i="1" dirty="0">
                <a:solidFill>
                  <a:srgbClr val="FF0000"/>
                </a:solidFill>
              </a:rPr>
              <a:t>use</a:t>
            </a:r>
            <a:r>
              <a:rPr lang="en" sz="1200" dirty="0">
                <a:solidFill>
                  <a:srgbClr val="FF0000"/>
                </a:solidFill>
              </a:rPr>
              <a:t> </a:t>
            </a:r>
            <a:r>
              <a:rPr lang="en" sz="1200" dirty="0"/>
              <a:t>the standard Java classes in a thread-safe way by locking </a:t>
            </a:r>
            <a:r>
              <a:rPr lang="en" sz="1200" b="1" i="1" dirty="0">
                <a:solidFill>
                  <a:srgbClr val="FF0000"/>
                </a:solidFill>
                <a:highlight>
                  <a:srgbClr val="FFFF00"/>
                </a:highlight>
              </a:rPr>
              <a:t>their own code</a:t>
            </a:r>
            <a:r>
              <a:rPr lang="en" sz="1200" dirty="0">
                <a:highlight>
                  <a:srgbClr val="FFFF00"/>
                </a:highlight>
              </a:rPr>
              <a:t> </a:t>
            </a:r>
            <a:r>
              <a:rPr lang="en" sz="1200" dirty="0"/>
              <a:t>when necessary.</a:t>
            </a:r>
            <a:endParaRPr sz="1200" dirty="0"/>
          </a:p>
          <a:p>
            <a:pPr marL="914400" lvl="1" indent="-292100" algn="l" rtl="0">
              <a:lnSpc>
                <a:spcPct val="100000"/>
              </a:lnSpc>
              <a:spcBef>
                <a:spcPts val="0"/>
              </a:spcBef>
              <a:spcAft>
                <a:spcPts val="0"/>
              </a:spcAft>
              <a:buSzPts val="1000"/>
              <a:buChar char="○"/>
            </a:pPr>
            <a:r>
              <a:rPr lang="en" sz="1000" dirty="0"/>
              <a:t>You should not just lock everything, all the time, because your code will be </a:t>
            </a:r>
            <a:r>
              <a:rPr lang="en" sz="1000" b="1" i="1" dirty="0">
                <a:solidFill>
                  <a:srgbClr val="FF0000"/>
                </a:solidFill>
              </a:rPr>
              <a:t>slow</a:t>
            </a:r>
            <a:r>
              <a:rPr lang="en" sz="1000" dirty="0"/>
              <a:t>.</a:t>
            </a:r>
            <a:endParaRPr sz="1000" dirty="0"/>
          </a:p>
        </p:txBody>
      </p:sp>
      <p:sp>
        <p:nvSpPr>
          <p:cNvPr id="593" name="Google Shape;593;p54"/>
          <p:cNvSpPr/>
          <p:nvPr/>
        </p:nvSpPr>
        <p:spPr>
          <a:xfrm>
            <a:off x="7381950" y="3764725"/>
            <a:ext cx="1549500" cy="623700"/>
          </a:xfrm>
          <a:prstGeom prst="wedgeRectCallout">
            <a:avLst>
              <a:gd name="adj1" fmla="val -41701"/>
              <a:gd name="adj2" fmla="val -86203"/>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When trying to acquire a lock on an already locked lock ...</a:t>
            </a:r>
            <a:endParaRPr sz="1000"/>
          </a:p>
        </p:txBody>
      </p:sp>
      <p:sp>
        <p:nvSpPr>
          <p:cNvPr id="594" name="Google Shape;594;p54"/>
          <p:cNvSpPr/>
          <p:nvPr/>
        </p:nvSpPr>
        <p:spPr>
          <a:xfrm>
            <a:off x="7381959" y="1582850"/>
            <a:ext cx="1549500" cy="819000"/>
          </a:xfrm>
          <a:prstGeom prst="wedgeRectCallout">
            <a:avLst>
              <a:gd name="adj1" fmla="val -32219"/>
              <a:gd name="adj2" fmla="val 76273"/>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If/when the lock is available, the </a:t>
            </a:r>
            <a:r>
              <a:rPr lang="en" sz="1000" b="1" i="1">
                <a:solidFill>
                  <a:srgbClr val="FF0000"/>
                </a:solidFill>
              </a:rPr>
              <a:t>thread scheduler</a:t>
            </a:r>
            <a:r>
              <a:rPr lang="en" sz="1000"/>
              <a:t> picks </a:t>
            </a:r>
            <a:r>
              <a:rPr lang="en" sz="1000" b="1" i="1">
                <a:solidFill>
                  <a:srgbClr val="FF0000"/>
                </a:solidFill>
              </a:rPr>
              <a:t>one</a:t>
            </a:r>
            <a:r>
              <a:rPr lang="en" sz="1000">
                <a:solidFill>
                  <a:srgbClr val="FF0000"/>
                </a:solidFill>
              </a:rPr>
              <a:t> </a:t>
            </a:r>
            <a:r>
              <a:rPr lang="en" sz="1000"/>
              <a:t>blocked thread.</a:t>
            </a:r>
            <a:endParaRPr sz="10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9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9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566"/>
                                        </p:tgtEl>
                                        <p:attrNameLst>
                                          <p:attrName>style.visibility</p:attrName>
                                        </p:attrNameLst>
                                      </p:cBhvr>
                                      <p:to>
                                        <p:strVal val="visible"/>
                                      </p:to>
                                    </p:set>
                                    <p:animEffect transition="in" filter="fade">
                                      <p:cBhvr>
                                        <p:cTn id="35" dur="1000"/>
                                        <p:tgtEl>
                                          <p:spTgt spid="56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3"/>
                                        </p:tgtEl>
                                        <p:attrNameLst>
                                          <p:attrName>style.visibility</p:attrName>
                                        </p:attrNameLst>
                                      </p:cBhvr>
                                      <p:to>
                                        <p:strVal val="visible"/>
                                      </p:to>
                                    </p:set>
                                    <p:animEffect transition="in" filter="fade">
                                      <p:cBhvr>
                                        <p:cTn id="40" dur="1000"/>
                                        <p:tgtEl>
                                          <p:spTgt spid="59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94"/>
                                        </p:tgtEl>
                                        <p:attrNameLst>
                                          <p:attrName>style.visibility</p:attrName>
                                        </p:attrNameLst>
                                      </p:cBhvr>
                                      <p:to>
                                        <p:strVal val="visible"/>
                                      </p:to>
                                    </p:set>
                                    <p:animEffect transition="in" filter="fade">
                                      <p:cBhvr>
                                        <p:cTn id="45" dur="10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5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t>Fun</a:t>
            </a:r>
            <a:r>
              <a:rPr lang="en" baseline="30000"/>
              <a:t>1</a:t>
            </a:r>
            <a:r>
              <a:rPr lang="en" u="sng"/>
              <a:t> Fact!</a:t>
            </a:r>
            <a:endParaRPr u="sng"/>
          </a:p>
        </p:txBody>
      </p:sp>
      <p:sp>
        <p:nvSpPr>
          <p:cNvPr id="600" name="Google Shape;600;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24</a:t>
            </a:fld>
            <a:endParaRPr/>
          </a:p>
        </p:txBody>
      </p:sp>
      <p:pic>
        <p:nvPicPr>
          <p:cNvPr id="601" name="Google Shape;601;p55"/>
          <p:cNvPicPr preferRelativeResize="0"/>
          <p:nvPr/>
        </p:nvPicPr>
        <p:blipFill>
          <a:blip r:embed="rId3">
            <a:alphaModFix/>
          </a:blip>
          <a:stretch>
            <a:fillRect/>
          </a:stretch>
        </p:blipFill>
        <p:spPr>
          <a:xfrm>
            <a:off x="3502989" y="1316951"/>
            <a:ext cx="2093100" cy="3769809"/>
          </a:xfrm>
          <a:prstGeom prst="rect">
            <a:avLst/>
          </a:prstGeom>
          <a:noFill/>
          <a:ln>
            <a:noFill/>
          </a:ln>
        </p:spPr>
      </p:pic>
      <p:sp>
        <p:nvSpPr>
          <p:cNvPr id="602" name="Google Shape;602;p55"/>
          <p:cNvSpPr/>
          <p:nvPr/>
        </p:nvSpPr>
        <p:spPr>
          <a:xfrm>
            <a:off x="1500175" y="1363625"/>
            <a:ext cx="2093100" cy="667800"/>
          </a:xfrm>
          <a:prstGeom prst="wedgeRoundRectCallout">
            <a:avLst>
              <a:gd name="adj1" fmla="val 60203"/>
              <a:gd name="adj2" fmla="val 4486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Hi! I'm </a:t>
            </a:r>
            <a:r>
              <a:rPr lang="en" sz="1200" b="1" i="1">
                <a:solidFill>
                  <a:srgbClr val="FF0000"/>
                </a:solidFill>
              </a:rPr>
              <a:t>Duke</a:t>
            </a:r>
            <a:r>
              <a:rPr lang="en" sz="1200"/>
              <a:t>, the </a:t>
            </a:r>
            <a:r>
              <a:rPr lang="en" sz="1200" b="1" i="1">
                <a:solidFill>
                  <a:srgbClr val="FF0000"/>
                </a:solidFill>
              </a:rPr>
              <a:t>official Java mascot</a:t>
            </a:r>
            <a:r>
              <a:rPr lang="en" sz="1200"/>
              <a:t>!</a:t>
            </a:r>
            <a:endParaRPr sz="1200"/>
          </a:p>
        </p:txBody>
      </p:sp>
      <p:sp>
        <p:nvSpPr>
          <p:cNvPr id="603" name="Google Shape;603;p55"/>
          <p:cNvSpPr/>
          <p:nvPr/>
        </p:nvSpPr>
        <p:spPr>
          <a:xfrm>
            <a:off x="323450" y="2112766"/>
            <a:ext cx="2889000" cy="800100"/>
          </a:xfrm>
          <a:prstGeom prst="wedgeRoundRectCallout">
            <a:avLst>
              <a:gd name="adj1" fmla="val 70398"/>
              <a:gd name="adj2" fmla="val 18417"/>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Did you know that the </a:t>
            </a:r>
            <a:r>
              <a:rPr lang="en" sz="1200" b="1" i="1">
                <a:solidFill>
                  <a:srgbClr val="FF0000"/>
                </a:solidFill>
              </a:rPr>
              <a:t>Java Collections Framework</a:t>
            </a:r>
            <a:r>
              <a:rPr lang="en" sz="1200"/>
              <a:t> (</a:t>
            </a:r>
            <a:r>
              <a:rPr lang="en" sz="1200" b="1" i="1">
                <a:solidFill>
                  <a:srgbClr val="FF0000"/>
                </a:solidFill>
              </a:rPr>
              <a:t>JCF</a:t>
            </a:r>
            <a:r>
              <a:rPr lang="en" sz="1200"/>
              <a:t>) wasn't added to Java until version 1.2?</a:t>
            </a:r>
            <a:endParaRPr sz="1200"/>
          </a:p>
        </p:txBody>
      </p:sp>
      <p:sp>
        <p:nvSpPr>
          <p:cNvPr id="604" name="Google Shape;604;p55"/>
          <p:cNvSpPr/>
          <p:nvPr/>
        </p:nvSpPr>
        <p:spPr>
          <a:xfrm>
            <a:off x="94850" y="2997300"/>
            <a:ext cx="3117600" cy="1125000"/>
          </a:xfrm>
          <a:prstGeom prst="wedgeRoundRectCallout">
            <a:avLst>
              <a:gd name="adj1" fmla="val 67728"/>
              <a:gd name="adj2" fmla="val -47730"/>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t>The designers of the JCF wanted the core data structures like </a:t>
            </a:r>
            <a:r>
              <a:rPr lang="en" sz="1200" dirty="0">
                <a:latin typeface="Courier New"/>
                <a:ea typeface="Courier New"/>
                <a:cs typeface="Courier New"/>
                <a:sym typeface="Courier New"/>
              </a:rPr>
              <a:t>ArrayList</a:t>
            </a:r>
            <a:r>
              <a:rPr lang="en" sz="1200" dirty="0"/>
              <a:t> and </a:t>
            </a:r>
            <a:r>
              <a:rPr lang="en" sz="1200" dirty="0">
                <a:latin typeface="Courier New"/>
                <a:ea typeface="Courier New"/>
                <a:cs typeface="Courier New"/>
                <a:sym typeface="Courier New"/>
              </a:rPr>
              <a:t>HashMap</a:t>
            </a:r>
            <a:r>
              <a:rPr lang="en" sz="1200" dirty="0"/>
              <a:t> to be </a:t>
            </a:r>
            <a:r>
              <a:rPr lang="en" sz="1200" b="1" i="1" dirty="0">
                <a:solidFill>
                  <a:srgbClr val="FF0000"/>
                </a:solidFill>
              </a:rPr>
              <a:t>fast</a:t>
            </a:r>
            <a:r>
              <a:rPr lang="en" sz="1200" dirty="0">
                <a:solidFill>
                  <a:srgbClr val="FF0000"/>
                </a:solidFill>
              </a:rPr>
              <a:t> </a:t>
            </a:r>
            <a:r>
              <a:rPr lang="en" sz="1200" dirty="0"/>
              <a:t>and </a:t>
            </a:r>
            <a:r>
              <a:rPr lang="en" sz="1200" b="1" i="1" dirty="0">
                <a:solidFill>
                  <a:srgbClr val="FF0000"/>
                </a:solidFill>
              </a:rPr>
              <a:t>efficient</a:t>
            </a:r>
            <a:r>
              <a:rPr lang="en" sz="1200" dirty="0"/>
              <a:t>, and so they decided that they should </a:t>
            </a:r>
            <a:r>
              <a:rPr lang="en" sz="1200" b="1" i="1" dirty="0">
                <a:solidFill>
                  <a:srgbClr val="FF0000"/>
                </a:solidFill>
              </a:rPr>
              <a:t>not</a:t>
            </a:r>
            <a:r>
              <a:rPr lang="en" sz="1200" dirty="0">
                <a:solidFill>
                  <a:srgbClr val="FF0000"/>
                </a:solidFill>
              </a:rPr>
              <a:t> </a:t>
            </a:r>
            <a:r>
              <a:rPr lang="en" sz="1200" dirty="0"/>
              <a:t>be made thread-safe.</a:t>
            </a:r>
            <a:endParaRPr sz="1200" dirty="0"/>
          </a:p>
        </p:txBody>
      </p:sp>
      <p:sp>
        <p:nvSpPr>
          <p:cNvPr id="605" name="Google Shape;605;p55"/>
          <p:cNvSpPr/>
          <p:nvPr/>
        </p:nvSpPr>
        <p:spPr>
          <a:xfrm>
            <a:off x="6035350" y="1562625"/>
            <a:ext cx="2889000" cy="1058400"/>
          </a:xfrm>
          <a:prstGeom prst="wedgeRoundRectCallout">
            <a:avLst>
              <a:gd name="adj1" fmla="val -60015"/>
              <a:gd name="adj2" fmla="val 37548"/>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i="1" dirty="0">
                <a:solidFill>
                  <a:srgbClr val="FF0000"/>
                </a:solidFill>
              </a:rPr>
              <a:t>Earlier</a:t>
            </a:r>
            <a:r>
              <a:rPr lang="en" sz="1200" dirty="0">
                <a:solidFill>
                  <a:srgbClr val="FF0000"/>
                </a:solidFill>
              </a:rPr>
              <a:t> </a:t>
            </a:r>
            <a:r>
              <a:rPr lang="en" sz="1200" dirty="0"/>
              <a:t>versions of Java included equivalent classes like </a:t>
            </a:r>
            <a:r>
              <a:rPr lang="en" sz="1200" dirty="0">
                <a:latin typeface="Courier New"/>
                <a:ea typeface="Courier New"/>
                <a:cs typeface="Courier New"/>
                <a:sym typeface="Courier New"/>
              </a:rPr>
              <a:t>Vector</a:t>
            </a:r>
            <a:r>
              <a:rPr lang="en" sz="1200" dirty="0"/>
              <a:t> and </a:t>
            </a:r>
            <a:r>
              <a:rPr lang="en" sz="1200" dirty="0">
                <a:latin typeface="Courier New"/>
                <a:ea typeface="Courier New"/>
                <a:cs typeface="Courier New"/>
                <a:sym typeface="Courier New"/>
              </a:rPr>
              <a:t>Hashtable</a:t>
            </a:r>
            <a:r>
              <a:rPr lang="en" sz="1200" dirty="0"/>
              <a:t> that </a:t>
            </a:r>
            <a:r>
              <a:rPr lang="en" sz="1200" b="1" i="1" dirty="0">
                <a:solidFill>
                  <a:srgbClr val="FF0000"/>
                </a:solidFill>
              </a:rPr>
              <a:t>are</a:t>
            </a:r>
            <a:r>
              <a:rPr lang="en" sz="1200" dirty="0">
                <a:solidFill>
                  <a:srgbClr val="FF0000"/>
                </a:solidFill>
              </a:rPr>
              <a:t> </a:t>
            </a:r>
            <a:r>
              <a:rPr lang="en" sz="1200" dirty="0"/>
              <a:t>thread-safe, and therefore </a:t>
            </a:r>
            <a:r>
              <a:rPr lang="en" sz="1200" b="1" i="1" dirty="0">
                <a:solidFill>
                  <a:srgbClr val="FF0000"/>
                </a:solidFill>
              </a:rPr>
              <a:t>slow</a:t>
            </a:r>
            <a:r>
              <a:rPr lang="en" sz="1200" dirty="0">
                <a:solidFill>
                  <a:srgbClr val="FF0000"/>
                </a:solidFill>
              </a:rPr>
              <a:t> </a:t>
            </a:r>
            <a:r>
              <a:rPr lang="en" sz="1200" dirty="0"/>
              <a:t>even in single-threaded code.</a:t>
            </a:r>
            <a:endParaRPr sz="1200" dirty="0"/>
          </a:p>
        </p:txBody>
      </p:sp>
      <p:sp>
        <p:nvSpPr>
          <p:cNvPr id="606" name="Google Shape;606;p55"/>
          <p:cNvSpPr/>
          <p:nvPr/>
        </p:nvSpPr>
        <p:spPr>
          <a:xfrm>
            <a:off x="6035350" y="2735225"/>
            <a:ext cx="2889000" cy="800100"/>
          </a:xfrm>
          <a:prstGeom prst="wedgeRoundRectCallout">
            <a:avLst>
              <a:gd name="adj1" fmla="val -67993"/>
              <a:gd name="adj2" fmla="val -12452"/>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t>Those </a:t>
            </a:r>
            <a:r>
              <a:rPr lang="en" sz="1200" b="1" i="1" dirty="0">
                <a:solidFill>
                  <a:srgbClr val="FF0000"/>
                </a:solidFill>
              </a:rPr>
              <a:t>old</a:t>
            </a:r>
            <a:r>
              <a:rPr lang="en" sz="1200" dirty="0">
                <a:solidFill>
                  <a:srgbClr val="FF0000"/>
                </a:solidFill>
              </a:rPr>
              <a:t> </a:t>
            </a:r>
            <a:r>
              <a:rPr lang="en" sz="1200" dirty="0"/>
              <a:t>collections classes are still in Java today, but they are considered </a:t>
            </a:r>
            <a:r>
              <a:rPr lang="en" sz="1200" b="1" i="1" dirty="0">
                <a:solidFill>
                  <a:srgbClr val="FF0000"/>
                </a:solidFill>
              </a:rPr>
              <a:t>deprecated</a:t>
            </a:r>
            <a:r>
              <a:rPr lang="en" sz="1200" dirty="0">
                <a:solidFill>
                  <a:srgbClr val="FF0000"/>
                </a:solidFill>
              </a:rPr>
              <a:t> </a:t>
            </a:r>
            <a:r>
              <a:rPr lang="en" sz="1200" dirty="0"/>
              <a:t>- no longer recommended for use.</a:t>
            </a:r>
            <a:endParaRPr sz="1200" dirty="0"/>
          </a:p>
        </p:txBody>
      </p:sp>
      <p:sp>
        <p:nvSpPr>
          <p:cNvPr id="607" name="Google Shape;607;p55"/>
          <p:cNvSpPr/>
          <p:nvPr/>
        </p:nvSpPr>
        <p:spPr>
          <a:xfrm>
            <a:off x="6035350" y="3649625"/>
            <a:ext cx="2889000" cy="800100"/>
          </a:xfrm>
          <a:prstGeom prst="wedgeRoundRectCallout">
            <a:avLst>
              <a:gd name="adj1" fmla="val -67581"/>
              <a:gd name="adj2" fmla="val -5280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t>So if anyone ever asks you what the difference between a </a:t>
            </a:r>
            <a:r>
              <a:rPr lang="en" sz="1200" dirty="0">
                <a:latin typeface="Courier New"/>
                <a:ea typeface="Courier New"/>
                <a:cs typeface="Courier New"/>
                <a:sym typeface="Courier New"/>
              </a:rPr>
              <a:t>HashMap</a:t>
            </a:r>
            <a:r>
              <a:rPr lang="en" sz="1200" dirty="0"/>
              <a:t> and a </a:t>
            </a:r>
            <a:r>
              <a:rPr lang="en" sz="1200" dirty="0">
                <a:latin typeface="Courier New"/>
                <a:ea typeface="Courier New"/>
                <a:cs typeface="Courier New"/>
                <a:sym typeface="Courier New"/>
              </a:rPr>
              <a:t>Hashtable</a:t>
            </a:r>
            <a:r>
              <a:rPr lang="en" sz="1200" dirty="0"/>
              <a:t> is, now you know!</a:t>
            </a:r>
            <a:endParaRPr sz="1200" dirty="0"/>
          </a:p>
        </p:txBody>
      </p:sp>
      <p:sp>
        <p:nvSpPr>
          <p:cNvPr id="608" name="Google Shape;608;p55"/>
          <p:cNvSpPr/>
          <p:nvPr/>
        </p:nvSpPr>
        <p:spPr>
          <a:xfrm>
            <a:off x="323450" y="4246366"/>
            <a:ext cx="2889000" cy="800100"/>
          </a:xfrm>
          <a:prstGeom prst="wedgeRoundRectCallout">
            <a:avLst>
              <a:gd name="adj1" fmla="val 57713"/>
              <a:gd name="adj2" fmla="val -47927"/>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dirty="0"/>
              <a:t>Therefore, when you use JCF classes in a multithreaded environment, it's up to </a:t>
            </a:r>
            <a:r>
              <a:rPr lang="en" sz="1200" b="1" i="1" dirty="0">
                <a:solidFill>
                  <a:srgbClr val="FF0000"/>
                </a:solidFill>
              </a:rPr>
              <a:t>you</a:t>
            </a:r>
            <a:r>
              <a:rPr lang="en" sz="1200" dirty="0">
                <a:solidFill>
                  <a:srgbClr val="FF0000"/>
                </a:solidFill>
              </a:rPr>
              <a:t> </a:t>
            </a:r>
            <a:r>
              <a:rPr lang="en" sz="1200" dirty="0"/>
              <a:t>to do it safely.</a:t>
            </a:r>
            <a:endParaRPr sz="1200" dirty="0"/>
          </a:p>
        </p:txBody>
      </p:sp>
      <p:sp>
        <p:nvSpPr>
          <p:cNvPr id="609" name="Google Shape;609;p55"/>
          <p:cNvSpPr txBox="1"/>
          <p:nvPr/>
        </p:nvSpPr>
        <p:spPr>
          <a:xfrm>
            <a:off x="7162400" y="4693725"/>
            <a:ext cx="1536600" cy="3387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000" baseline="30000">
                <a:latin typeface="Roboto"/>
                <a:ea typeface="Roboto"/>
                <a:cs typeface="Roboto"/>
                <a:sym typeface="Roboto"/>
              </a:rPr>
              <a:t>1</a:t>
            </a:r>
            <a:r>
              <a:rPr lang="en" sz="1000" i="1">
                <a:latin typeface="Roboto"/>
                <a:ea typeface="Roboto"/>
                <a:cs typeface="Roboto"/>
                <a:sym typeface="Roboto"/>
              </a:rPr>
              <a:t>"Fun" is a relative term.</a:t>
            </a:r>
            <a:endParaRPr sz="1000" i="1">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2"/>
                                        </p:tgtEl>
                                        <p:attrNameLst>
                                          <p:attrName>style.visibility</p:attrName>
                                        </p:attrNameLst>
                                      </p:cBhvr>
                                      <p:to>
                                        <p:strVal val="visible"/>
                                      </p:to>
                                    </p:set>
                                    <p:animEffect transition="in" filter="fade">
                                      <p:cBhvr>
                                        <p:cTn id="7" dur="1000"/>
                                        <p:tgtEl>
                                          <p:spTgt spid="6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3"/>
                                        </p:tgtEl>
                                        <p:attrNameLst>
                                          <p:attrName>style.visibility</p:attrName>
                                        </p:attrNameLst>
                                      </p:cBhvr>
                                      <p:to>
                                        <p:strVal val="visible"/>
                                      </p:to>
                                    </p:set>
                                    <p:animEffect transition="in" filter="fade">
                                      <p:cBhvr>
                                        <p:cTn id="12" dur="1000"/>
                                        <p:tgtEl>
                                          <p:spTgt spid="60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4"/>
                                        </p:tgtEl>
                                        <p:attrNameLst>
                                          <p:attrName>style.visibility</p:attrName>
                                        </p:attrNameLst>
                                      </p:cBhvr>
                                      <p:to>
                                        <p:strVal val="visible"/>
                                      </p:to>
                                    </p:set>
                                    <p:animEffect transition="in" filter="fade">
                                      <p:cBhvr>
                                        <p:cTn id="17" dur="1000"/>
                                        <p:tgtEl>
                                          <p:spTgt spid="60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08"/>
                                        </p:tgtEl>
                                        <p:attrNameLst>
                                          <p:attrName>style.visibility</p:attrName>
                                        </p:attrNameLst>
                                      </p:cBhvr>
                                      <p:to>
                                        <p:strVal val="visible"/>
                                      </p:to>
                                    </p:set>
                                    <p:animEffect transition="in" filter="fade">
                                      <p:cBhvr>
                                        <p:cTn id="22" dur="1000"/>
                                        <p:tgtEl>
                                          <p:spTgt spid="60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05"/>
                                        </p:tgtEl>
                                        <p:attrNameLst>
                                          <p:attrName>style.visibility</p:attrName>
                                        </p:attrNameLst>
                                      </p:cBhvr>
                                      <p:to>
                                        <p:strVal val="visible"/>
                                      </p:to>
                                    </p:set>
                                    <p:animEffect transition="in" filter="fade">
                                      <p:cBhvr>
                                        <p:cTn id="27" dur="1000"/>
                                        <p:tgtEl>
                                          <p:spTgt spid="6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6"/>
                                        </p:tgtEl>
                                        <p:attrNameLst>
                                          <p:attrName>style.visibility</p:attrName>
                                        </p:attrNameLst>
                                      </p:cBhvr>
                                      <p:to>
                                        <p:strVal val="visible"/>
                                      </p:to>
                                    </p:set>
                                    <p:animEffect transition="in" filter="fade">
                                      <p:cBhvr>
                                        <p:cTn id="32" dur="1000"/>
                                        <p:tgtEl>
                                          <p:spTgt spid="60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07"/>
                                        </p:tgtEl>
                                        <p:attrNameLst>
                                          <p:attrName>style.visibility</p:attrName>
                                        </p:attrNameLst>
                                      </p:cBhvr>
                                      <p:to>
                                        <p:strVal val="visible"/>
                                      </p:to>
                                    </p:set>
                                    <p:animEffect transition="in" filter="fade">
                                      <p:cBhvr>
                                        <p:cTn id="37" dur="1000"/>
                                        <p:tgtEl>
                                          <p:spTgt spid="60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609"/>
                                        </p:tgtEl>
                                        <p:attrNameLst>
                                          <p:attrName>style.visibility</p:attrName>
                                        </p:attrNameLst>
                                      </p:cBhvr>
                                      <p:to>
                                        <p:strVal val="visible"/>
                                      </p:to>
                                    </p:set>
                                    <p:animEffect transition="in" filter="fade">
                                      <p:cBhvr>
                                        <p:cTn id="42" dur="10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56"/>
          <p:cNvSpPr txBox="1">
            <a:spLocks noGrp="1"/>
          </p:cNvSpPr>
          <p:nvPr>
            <p:ph type="body" idx="3"/>
          </p:nvPr>
        </p:nvSpPr>
        <p:spPr>
          <a:xfrm>
            <a:off x="5035264" y="2481736"/>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b="1" i="1" dirty="0">
                <a:solidFill>
                  <a:srgbClr val="FF0000"/>
                </a:solidFill>
              </a:rPr>
              <a:t>Conditions</a:t>
            </a:r>
            <a:r>
              <a:rPr lang="en" dirty="0"/>
              <a:t> for a </a:t>
            </a:r>
            <a:r>
              <a:rPr lang="en" dirty="0">
                <a:latin typeface="Courier New"/>
                <a:ea typeface="Courier New"/>
                <a:cs typeface="Courier New"/>
                <a:sym typeface="Courier New"/>
              </a:rPr>
              <a:t>Lock</a:t>
            </a:r>
            <a:r>
              <a:rPr lang="en" dirty="0"/>
              <a:t> can be created using the </a:t>
            </a:r>
            <a:r>
              <a:rPr lang="en" dirty="0">
                <a:highlight>
                  <a:srgbClr val="FFFF00"/>
                </a:highlight>
                <a:latin typeface="Courier New"/>
                <a:ea typeface="Courier New"/>
                <a:cs typeface="Courier New"/>
                <a:sym typeface="Courier New"/>
              </a:rPr>
              <a:t>Lock.newCondition()</a:t>
            </a:r>
            <a:r>
              <a:rPr lang="en" dirty="0">
                <a:highlight>
                  <a:srgbClr val="FFFF00"/>
                </a:highlight>
              </a:rPr>
              <a:t> </a:t>
            </a:r>
            <a:r>
              <a:rPr lang="en" dirty="0"/>
              <a:t>method.</a:t>
            </a:r>
            <a:endParaRPr dirty="0"/>
          </a:p>
        </p:txBody>
      </p:sp>
      <p:sp>
        <p:nvSpPr>
          <p:cNvPr id="615" name="Google Shape;615;p56"/>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25</a:t>
            </a:fld>
            <a:endParaRPr/>
          </a:p>
        </p:txBody>
      </p:sp>
      <p:sp>
        <p:nvSpPr>
          <p:cNvPr id="616" name="Google Shape;616;p56"/>
          <p:cNvSpPr txBox="1">
            <a:spLocks noGrp="1"/>
          </p:cNvSpPr>
          <p:nvPr>
            <p:ph type="title"/>
          </p:nvPr>
        </p:nvSpPr>
        <p:spPr>
          <a:xfrm>
            <a:off x="5036125" y="19577"/>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Waiting</a:t>
            </a:r>
            <a:endParaRPr/>
          </a:p>
        </p:txBody>
      </p:sp>
      <p:sp>
        <p:nvSpPr>
          <p:cNvPr id="617" name="Google Shape;617;p56"/>
          <p:cNvSpPr txBox="1">
            <a:spLocks noGrp="1"/>
          </p:cNvSpPr>
          <p:nvPr>
            <p:ph type="body" idx="2"/>
          </p:nvPr>
        </p:nvSpPr>
        <p:spPr>
          <a:xfrm>
            <a:off x="5039825" y="1230286"/>
            <a:ext cx="3706500" cy="1199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dirty="0">
                <a:solidFill>
                  <a:schemeClr val="accent5"/>
                </a:solidFill>
                <a:highlight>
                  <a:srgbClr val="FFFFFF"/>
                </a:highlight>
                <a:latin typeface="Consolas"/>
                <a:ea typeface="Consolas"/>
                <a:cs typeface="Consolas"/>
                <a:sym typeface="Consolas"/>
              </a:rPr>
              <a:t>1</a:t>
            </a:r>
            <a:r>
              <a:rPr lang="en" dirty="0">
                <a:solidFill>
                  <a:srgbClr val="3B3B3B"/>
                </a:solidFill>
                <a:highlight>
                  <a:srgbClr val="FFFFFF"/>
                </a:highlight>
                <a:latin typeface="Consolas"/>
                <a:ea typeface="Consolas"/>
                <a:cs typeface="Consolas"/>
                <a:sym typeface="Consolas"/>
              </a:rPr>
              <a:t>  </a:t>
            </a:r>
            <a:r>
              <a:rPr lang="en" dirty="0">
                <a:solidFill>
                  <a:srgbClr val="AF00DB"/>
                </a:solidFill>
                <a:highlight>
                  <a:srgbClr val="FFFFFF"/>
                </a:highlight>
                <a:latin typeface="Consolas"/>
                <a:ea typeface="Consolas"/>
                <a:cs typeface="Consolas"/>
                <a:sym typeface="Consolas"/>
              </a:rPr>
              <a:t>try</a:t>
            </a:r>
            <a:r>
              <a:rPr lang="en" dirty="0">
                <a:solidFill>
                  <a:srgbClr val="3B3B3B"/>
                </a:solidFill>
                <a:highlight>
                  <a:srgbClr val="FFFFFF"/>
                </a:highlight>
                <a:latin typeface="Consolas"/>
                <a:ea typeface="Consolas"/>
                <a:cs typeface="Consolas"/>
                <a:sym typeface="Consolas"/>
              </a:rPr>
              <a:t> {</a:t>
            </a:r>
            <a:endParaRPr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dirty="0">
                <a:solidFill>
                  <a:schemeClr val="accent5"/>
                </a:solidFill>
                <a:highlight>
                  <a:srgbClr val="FFFFFF"/>
                </a:highlight>
                <a:latin typeface="Consolas"/>
                <a:ea typeface="Consolas"/>
                <a:cs typeface="Consolas"/>
                <a:sym typeface="Consolas"/>
              </a:rPr>
              <a:t>2</a:t>
            </a:r>
            <a:r>
              <a:rPr lang="en" dirty="0">
                <a:solidFill>
                  <a:srgbClr val="3B3B3B"/>
                </a:solidFill>
                <a:highlight>
                  <a:srgbClr val="FFFFFF"/>
                </a:highlight>
                <a:latin typeface="Consolas"/>
                <a:ea typeface="Consolas"/>
                <a:cs typeface="Consolas"/>
                <a:sym typeface="Consolas"/>
              </a:rPr>
              <a:t>    </a:t>
            </a:r>
            <a:r>
              <a:rPr lang="en" dirty="0">
                <a:solidFill>
                  <a:srgbClr val="001080"/>
                </a:solidFill>
                <a:highlight>
                  <a:srgbClr val="FFFFFF"/>
                </a:highlight>
                <a:latin typeface="Consolas"/>
                <a:ea typeface="Consolas"/>
                <a:cs typeface="Consolas"/>
                <a:sym typeface="Consolas"/>
              </a:rPr>
              <a:t>lock</a:t>
            </a:r>
            <a:r>
              <a:rPr lang="en" dirty="0">
                <a:solidFill>
                  <a:srgbClr val="3B3B3B"/>
                </a:solidFill>
                <a:highlight>
                  <a:srgbClr val="FFFFFF"/>
                </a:highlight>
                <a:latin typeface="Consolas"/>
                <a:ea typeface="Consolas"/>
                <a:cs typeface="Consolas"/>
                <a:sym typeface="Consolas"/>
              </a:rPr>
              <a:t>.</a:t>
            </a:r>
            <a:r>
              <a:rPr lang="en" dirty="0">
                <a:solidFill>
                  <a:srgbClr val="795E26"/>
                </a:solidFill>
                <a:highlight>
                  <a:srgbClr val="FFFFFF"/>
                </a:highlight>
                <a:latin typeface="Consolas"/>
                <a:ea typeface="Consolas"/>
                <a:cs typeface="Consolas"/>
                <a:sym typeface="Consolas"/>
              </a:rPr>
              <a:t>lock</a:t>
            </a:r>
            <a:r>
              <a:rPr lang="en" dirty="0">
                <a:solidFill>
                  <a:srgbClr val="3B3B3B"/>
                </a:solidFill>
                <a:highlight>
                  <a:srgbClr val="FFFFFF"/>
                </a:highlight>
                <a:latin typeface="Consolas"/>
                <a:ea typeface="Consolas"/>
                <a:cs typeface="Consolas"/>
                <a:sym typeface="Consolas"/>
              </a:rPr>
              <a:t>();</a:t>
            </a:r>
            <a:endParaRPr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dirty="0">
                <a:solidFill>
                  <a:schemeClr val="accent5"/>
                </a:solidFill>
                <a:highlight>
                  <a:srgbClr val="FFFFFF"/>
                </a:highlight>
                <a:latin typeface="Consolas"/>
                <a:ea typeface="Consolas"/>
                <a:cs typeface="Consolas"/>
                <a:sym typeface="Consolas"/>
              </a:rPr>
              <a:t>3</a:t>
            </a:r>
            <a:r>
              <a:rPr lang="en" dirty="0">
                <a:solidFill>
                  <a:srgbClr val="3B3B3B"/>
                </a:solidFill>
                <a:highlight>
                  <a:srgbClr val="FFFFFF"/>
                </a:highlight>
                <a:latin typeface="Consolas"/>
                <a:ea typeface="Consolas"/>
                <a:cs typeface="Consolas"/>
                <a:sym typeface="Consolas"/>
              </a:rPr>
              <a:t>    </a:t>
            </a:r>
            <a:r>
              <a:rPr lang="en" dirty="0">
                <a:solidFill>
                  <a:srgbClr val="001080"/>
                </a:solidFill>
                <a:highlight>
                  <a:srgbClr val="FFFFFF"/>
                </a:highlight>
                <a:latin typeface="Consolas"/>
                <a:ea typeface="Consolas"/>
                <a:cs typeface="Consolas"/>
                <a:sym typeface="Consolas"/>
              </a:rPr>
              <a:t>condition</a:t>
            </a:r>
            <a:r>
              <a:rPr lang="en" dirty="0">
                <a:solidFill>
                  <a:srgbClr val="3B3B3B"/>
                </a:solidFill>
                <a:highlight>
                  <a:srgbClr val="FFFFFF"/>
                </a:highlight>
                <a:latin typeface="Consolas"/>
                <a:ea typeface="Consolas"/>
                <a:cs typeface="Consolas"/>
                <a:sym typeface="Consolas"/>
              </a:rPr>
              <a:t>.</a:t>
            </a:r>
            <a:r>
              <a:rPr lang="en" dirty="0">
                <a:solidFill>
                  <a:srgbClr val="795E26"/>
                </a:solidFill>
                <a:highlight>
                  <a:srgbClr val="FFFFFF"/>
                </a:highlight>
                <a:latin typeface="Consolas"/>
                <a:ea typeface="Consolas"/>
                <a:cs typeface="Consolas"/>
                <a:sym typeface="Consolas"/>
              </a:rPr>
              <a:t>awaitUninterruptibly</a:t>
            </a:r>
            <a:r>
              <a:rPr lang="en" dirty="0">
                <a:solidFill>
                  <a:srgbClr val="3B3B3B"/>
                </a:solidFill>
                <a:highlight>
                  <a:srgbClr val="FFFFFF"/>
                </a:highlight>
                <a:latin typeface="Consolas"/>
                <a:ea typeface="Consolas"/>
                <a:cs typeface="Consolas"/>
                <a:sym typeface="Consolas"/>
              </a:rPr>
              <a:t>();</a:t>
            </a:r>
            <a:endParaRPr dirty="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dirty="0">
                <a:solidFill>
                  <a:schemeClr val="accent5"/>
                </a:solidFill>
                <a:highlight>
                  <a:srgbClr val="FFFFFF"/>
                </a:highlight>
                <a:latin typeface="Consolas"/>
                <a:ea typeface="Consolas"/>
                <a:cs typeface="Consolas"/>
                <a:sym typeface="Consolas"/>
              </a:rPr>
              <a:t>4</a:t>
            </a:r>
            <a:r>
              <a:rPr lang="en" dirty="0">
                <a:solidFill>
                  <a:srgbClr val="3B3B3B"/>
                </a:solidFill>
                <a:highlight>
                  <a:srgbClr val="FFFFFF"/>
                </a:highlight>
                <a:latin typeface="Consolas"/>
                <a:ea typeface="Consolas"/>
                <a:cs typeface="Consolas"/>
                <a:sym typeface="Consolas"/>
              </a:rPr>
              <a:t>  } </a:t>
            </a:r>
            <a:r>
              <a:rPr lang="en" dirty="0">
                <a:solidFill>
                  <a:srgbClr val="AF00DB"/>
                </a:solidFill>
                <a:highlight>
                  <a:srgbClr val="FFFFFF"/>
                </a:highlight>
                <a:latin typeface="Consolas"/>
                <a:ea typeface="Consolas"/>
                <a:cs typeface="Consolas"/>
                <a:sym typeface="Consolas"/>
              </a:rPr>
              <a:t>finally</a:t>
            </a:r>
            <a:r>
              <a:rPr lang="en" dirty="0">
                <a:solidFill>
                  <a:srgbClr val="3B3B3B"/>
                </a:solidFill>
                <a:highlight>
                  <a:srgbClr val="FFFFFF"/>
                </a:highlight>
                <a:latin typeface="Consolas"/>
                <a:ea typeface="Consolas"/>
                <a:cs typeface="Consolas"/>
                <a:sym typeface="Consolas"/>
              </a:rPr>
              <a:t> { </a:t>
            </a:r>
            <a:r>
              <a:rPr lang="en" dirty="0">
                <a:solidFill>
                  <a:srgbClr val="001080"/>
                </a:solidFill>
                <a:highlight>
                  <a:srgbClr val="FFFFFF"/>
                </a:highlight>
                <a:latin typeface="Consolas"/>
                <a:ea typeface="Consolas"/>
                <a:cs typeface="Consolas"/>
                <a:sym typeface="Consolas"/>
              </a:rPr>
              <a:t>lock</a:t>
            </a:r>
            <a:r>
              <a:rPr lang="en" dirty="0">
                <a:solidFill>
                  <a:srgbClr val="3B3B3B"/>
                </a:solidFill>
                <a:highlight>
                  <a:srgbClr val="FFFFFF"/>
                </a:highlight>
                <a:latin typeface="Consolas"/>
                <a:ea typeface="Consolas"/>
                <a:cs typeface="Consolas"/>
                <a:sym typeface="Consolas"/>
              </a:rPr>
              <a:t>.</a:t>
            </a:r>
            <a:r>
              <a:rPr lang="en" dirty="0">
                <a:solidFill>
                  <a:srgbClr val="795E26"/>
                </a:solidFill>
                <a:highlight>
                  <a:srgbClr val="FFFFFF"/>
                </a:highlight>
                <a:latin typeface="Consolas"/>
                <a:ea typeface="Consolas"/>
                <a:cs typeface="Consolas"/>
                <a:sym typeface="Consolas"/>
              </a:rPr>
              <a:t>unlock</a:t>
            </a:r>
            <a:r>
              <a:rPr lang="en" dirty="0">
                <a:solidFill>
                  <a:srgbClr val="3B3B3B"/>
                </a:solidFill>
                <a:highlight>
                  <a:srgbClr val="FFFFFF"/>
                </a:highlight>
                <a:latin typeface="Consolas"/>
                <a:ea typeface="Consolas"/>
                <a:cs typeface="Consolas"/>
                <a:sym typeface="Consolas"/>
              </a:rPr>
              <a:t>(); }</a:t>
            </a:r>
            <a:endParaRPr dirty="0">
              <a:solidFill>
                <a:srgbClr val="098658"/>
              </a:solidFill>
              <a:latin typeface="Consolas"/>
              <a:ea typeface="Consolas"/>
              <a:cs typeface="Consolas"/>
              <a:sym typeface="Consolas"/>
            </a:endParaRPr>
          </a:p>
        </p:txBody>
      </p:sp>
      <p:sp>
        <p:nvSpPr>
          <p:cNvPr id="618" name="Google Shape;618;p56"/>
          <p:cNvSpPr txBox="1">
            <a:spLocks noGrp="1"/>
          </p:cNvSpPr>
          <p:nvPr>
            <p:ph type="body" idx="1"/>
          </p:nvPr>
        </p:nvSpPr>
        <p:spPr>
          <a:xfrm>
            <a:off x="192850" y="119925"/>
            <a:ext cx="4509900" cy="4725300"/>
          </a:xfrm>
          <a:prstGeom prst="rect">
            <a:avLst/>
          </a:prstGeom>
        </p:spPr>
        <p:txBody>
          <a:bodyPr spcFirstLastPara="1" wrap="square" lIns="91425" tIns="91425" rIns="91425" bIns="91425" anchor="t" anchorCtr="0">
            <a:spAutoFit/>
          </a:bodyPr>
          <a:lstStyle/>
          <a:p>
            <a:pPr marL="457200" lvl="0" indent="-304800" algn="l" rtl="0">
              <a:lnSpc>
                <a:spcPct val="100000"/>
              </a:lnSpc>
              <a:spcBef>
                <a:spcPts val="0"/>
              </a:spcBef>
              <a:spcAft>
                <a:spcPts val="0"/>
              </a:spcAft>
              <a:buSzPts val="1200"/>
              <a:buChar char="●"/>
            </a:pPr>
            <a:r>
              <a:rPr lang="en" sz="1200" dirty="0"/>
              <a:t>Sometimes a thread can't do the work that it needs to do until some </a:t>
            </a:r>
            <a:r>
              <a:rPr lang="en" sz="1200" b="1" i="1" dirty="0">
                <a:solidFill>
                  <a:srgbClr val="FF0000"/>
                </a:solidFill>
              </a:rPr>
              <a:t>important event</a:t>
            </a:r>
            <a:r>
              <a:rPr lang="en" sz="1200" dirty="0">
                <a:solidFill>
                  <a:srgbClr val="FF0000"/>
                </a:solidFill>
              </a:rPr>
              <a:t> </a:t>
            </a:r>
            <a:r>
              <a:rPr lang="en" sz="1200" dirty="0"/>
              <a:t>occurs.</a:t>
            </a:r>
            <a:endParaRPr sz="1200" dirty="0"/>
          </a:p>
          <a:p>
            <a:pPr marL="914400" lvl="1" indent="-292100" algn="l" rtl="0">
              <a:lnSpc>
                <a:spcPct val="100000"/>
              </a:lnSpc>
              <a:spcBef>
                <a:spcPts val="0"/>
              </a:spcBef>
              <a:spcAft>
                <a:spcPts val="0"/>
              </a:spcAft>
              <a:buSzPts val="1000"/>
              <a:buChar char="○"/>
            </a:pPr>
            <a:r>
              <a:rPr lang="en" sz="1000" dirty="0"/>
              <a:t>For example, a </a:t>
            </a:r>
            <a:r>
              <a:rPr lang="en" sz="1000" b="1" i="1" dirty="0">
                <a:solidFill>
                  <a:srgbClr val="FF0000"/>
                </a:solidFill>
              </a:rPr>
              <a:t>job</a:t>
            </a:r>
            <a:r>
              <a:rPr lang="en" sz="1000" dirty="0">
                <a:solidFill>
                  <a:srgbClr val="FF0000"/>
                </a:solidFill>
              </a:rPr>
              <a:t> </a:t>
            </a:r>
            <a:r>
              <a:rPr lang="en" sz="1000" dirty="0"/>
              <a:t>is added to a queue that the thread needs to </a:t>
            </a:r>
            <a:r>
              <a:rPr lang="en" sz="1000" b="1" i="1" dirty="0">
                <a:solidFill>
                  <a:srgbClr val="FF0000"/>
                </a:solidFill>
              </a:rPr>
              <a:t>consume</a:t>
            </a:r>
            <a:r>
              <a:rPr lang="en" sz="1000" dirty="0">
                <a:solidFill>
                  <a:srgbClr val="FF0000"/>
                </a:solidFill>
              </a:rPr>
              <a:t> </a:t>
            </a:r>
            <a:r>
              <a:rPr lang="en" sz="1000" dirty="0"/>
              <a:t>in some way.</a:t>
            </a:r>
            <a:endParaRPr sz="1000" dirty="0"/>
          </a:p>
          <a:p>
            <a:pPr marL="457200" lvl="0" indent="-304800" algn="l" rtl="0">
              <a:lnSpc>
                <a:spcPct val="100000"/>
              </a:lnSpc>
              <a:spcBef>
                <a:spcPts val="1000"/>
              </a:spcBef>
              <a:spcAft>
                <a:spcPts val="0"/>
              </a:spcAft>
              <a:buSzPts val="1200"/>
              <a:buChar char="●"/>
            </a:pPr>
            <a:r>
              <a:rPr lang="en" sz="1200" dirty="0"/>
              <a:t>We could use a </a:t>
            </a:r>
            <a:r>
              <a:rPr lang="en" sz="1200" b="1" i="1" dirty="0">
                <a:solidFill>
                  <a:srgbClr val="FF0000"/>
                </a:solidFill>
              </a:rPr>
              <a:t>busy/wait</a:t>
            </a:r>
            <a:r>
              <a:rPr lang="en" sz="1200" dirty="0"/>
              <a:t> on the queue, e.g. </a:t>
            </a:r>
            <a:r>
              <a:rPr lang="en" sz="1200" dirty="0">
                <a:solidFill>
                  <a:srgbClr val="FF0000"/>
                </a:solidFill>
                <a:highlight>
                  <a:srgbClr val="FFFF00"/>
                </a:highlight>
                <a:latin typeface="Courier New"/>
                <a:ea typeface="Courier New"/>
                <a:cs typeface="Courier New"/>
                <a:sym typeface="Courier New"/>
              </a:rPr>
              <a:t>while(queue.isEmpty())</a:t>
            </a:r>
            <a:r>
              <a:rPr lang="en" sz="1200" dirty="0">
                <a:highlight>
                  <a:srgbClr val="FFFF00"/>
                </a:highlight>
              </a:rPr>
              <a:t>, </a:t>
            </a:r>
            <a:r>
              <a:rPr lang="en" sz="1200" dirty="0"/>
              <a:t>but we have already seen that this can be incredibly wasteful.</a:t>
            </a:r>
            <a:endParaRPr sz="1200" dirty="0"/>
          </a:p>
          <a:p>
            <a:pPr marL="914400" lvl="1" indent="-292100" algn="l" rtl="0">
              <a:lnSpc>
                <a:spcPct val="100000"/>
              </a:lnSpc>
              <a:spcBef>
                <a:spcPts val="0"/>
              </a:spcBef>
              <a:spcAft>
                <a:spcPts val="0"/>
              </a:spcAft>
              <a:buSzPts val="1000"/>
              <a:buChar char="○"/>
            </a:pPr>
            <a:r>
              <a:rPr lang="en" sz="1000" dirty="0"/>
              <a:t>The thread spends most of its time using CPU cycles to check an empty queue.</a:t>
            </a:r>
            <a:endParaRPr sz="1000" dirty="0"/>
          </a:p>
          <a:p>
            <a:pPr marL="457200" lvl="0" indent="-304800" algn="l" rtl="0">
              <a:lnSpc>
                <a:spcPct val="100000"/>
              </a:lnSpc>
              <a:spcBef>
                <a:spcPts val="1000"/>
              </a:spcBef>
              <a:spcAft>
                <a:spcPts val="0"/>
              </a:spcAft>
              <a:buSzPts val="1200"/>
              <a:buChar char="●"/>
            </a:pPr>
            <a:r>
              <a:rPr lang="en" sz="1200" dirty="0">
                <a:highlight>
                  <a:srgbClr val="FFFF00"/>
                </a:highlight>
              </a:rPr>
              <a:t>We could use </a:t>
            </a:r>
            <a:r>
              <a:rPr lang="en" sz="1200" b="1" i="1" dirty="0">
                <a:solidFill>
                  <a:srgbClr val="FF0000"/>
                </a:solidFill>
                <a:highlight>
                  <a:srgbClr val="FFFF00"/>
                </a:highlight>
              </a:rPr>
              <a:t>polling</a:t>
            </a:r>
            <a:r>
              <a:rPr lang="en" sz="1200" dirty="0">
                <a:solidFill>
                  <a:srgbClr val="FF0000"/>
                </a:solidFill>
                <a:highlight>
                  <a:srgbClr val="FFFF00"/>
                </a:highlight>
              </a:rPr>
              <a:t> </a:t>
            </a:r>
            <a:r>
              <a:rPr lang="en" sz="1200" dirty="0">
                <a:highlight>
                  <a:srgbClr val="FFFF00"/>
                </a:highlight>
              </a:rPr>
              <a:t>instead</a:t>
            </a:r>
            <a:r>
              <a:rPr lang="en" sz="1200" dirty="0"/>
              <a:t>, e.g. </a:t>
            </a:r>
            <a:r>
              <a:rPr lang="en" sz="1200" dirty="0">
                <a:highlight>
                  <a:srgbClr val="FFFF00"/>
                </a:highlight>
              </a:rPr>
              <a:t>sleep</a:t>
            </a:r>
            <a:r>
              <a:rPr lang="en" sz="1200" dirty="0"/>
              <a:t> for some </a:t>
            </a:r>
            <a:r>
              <a:rPr lang="en" sz="1200" b="1" i="1" dirty="0">
                <a:solidFill>
                  <a:srgbClr val="FF0000"/>
                </a:solidFill>
              </a:rPr>
              <a:t>interval</a:t>
            </a:r>
            <a:r>
              <a:rPr lang="en" sz="1200" dirty="0">
                <a:solidFill>
                  <a:srgbClr val="FF0000"/>
                </a:solidFill>
              </a:rPr>
              <a:t> </a:t>
            </a:r>
            <a:r>
              <a:rPr lang="en" sz="1200" dirty="0"/>
              <a:t>between checking the queue, but polling has some significant drawbacks.</a:t>
            </a:r>
            <a:endParaRPr sz="1200" dirty="0"/>
          </a:p>
          <a:p>
            <a:pPr marL="914400" lvl="1" indent="-292100" algn="l" rtl="0">
              <a:lnSpc>
                <a:spcPct val="100000"/>
              </a:lnSpc>
              <a:spcBef>
                <a:spcPts val="0"/>
              </a:spcBef>
              <a:spcAft>
                <a:spcPts val="0"/>
              </a:spcAft>
              <a:buSzPts val="1000"/>
              <a:buChar char="○"/>
            </a:pPr>
            <a:r>
              <a:rPr lang="en" sz="1000" dirty="0">
                <a:highlight>
                  <a:srgbClr val="FFFF00"/>
                </a:highlight>
              </a:rPr>
              <a:t>CPU cycles are still wasted every time </a:t>
            </a:r>
            <a:r>
              <a:rPr lang="en" sz="1000" dirty="0"/>
              <a:t>the empty queue is checked.</a:t>
            </a:r>
            <a:endParaRPr sz="1000" dirty="0"/>
          </a:p>
          <a:p>
            <a:pPr marL="914400" lvl="1" indent="-292100" algn="l" rtl="0">
              <a:lnSpc>
                <a:spcPct val="100000"/>
              </a:lnSpc>
              <a:spcBef>
                <a:spcPts val="0"/>
              </a:spcBef>
              <a:spcAft>
                <a:spcPts val="0"/>
              </a:spcAft>
              <a:buSzPts val="1000"/>
              <a:buChar char="○"/>
            </a:pPr>
            <a:r>
              <a:rPr lang="en" sz="1000" dirty="0">
                <a:highlight>
                  <a:srgbClr val="FFFF00"/>
                </a:highlight>
              </a:rPr>
              <a:t>Depending on the length of the interval, there may be a significant delay between when a job is added to the queue and when the thread checks for it.</a:t>
            </a:r>
            <a:endParaRPr sz="1000" dirty="0">
              <a:highlight>
                <a:srgbClr val="FFFF00"/>
              </a:highlight>
            </a:endParaRPr>
          </a:p>
          <a:p>
            <a:pPr marL="457200" lvl="0" indent="-304800" algn="l" rtl="0">
              <a:lnSpc>
                <a:spcPct val="100000"/>
              </a:lnSpc>
              <a:spcBef>
                <a:spcPts val="1000"/>
              </a:spcBef>
              <a:spcAft>
                <a:spcPts val="0"/>
              </a:spcAft>
              <a:buSzPts val="1200"/>
              <a:buChar char="●"/>
            </a:pPr>
            <a:r>
              <a:rPr lang="en" sz="1200" dirty="0"/>
              <a:t>A better alternative is for the thread to</a:t>
            </a:r>
            <a:r>
              <a:rPr lang="en" sz="1200" dirty="0">
                <a:highlight>
                  <a:srgbClr val="FFFF00"/>
                </a:highlight>
              </a:rPr>
              <a:t> </a:t>
            </a:r>
            <a:r>
              <a:rPr lang="en" sz="1200" b="1" i="1" dirty="0">
                <a:solidFill>
                  <a:srgbClr val="FF0000"/>
                </a:solidFill>
                <a:highlight>
                  <a:srgbClr val="FFFF00"/>
                </a:highlight>
              </a:rPr>
              <a:t>wait</a:t>
            </a:r>
            <a:r>
              <a:rPr lang="en" sz="1200" dirty="0">
                <a:solidFill>
                  <a:srgbClr val="FF0000"/>
                </a:solidFill>
                <a:highlight>
                  <a:srgbClr val="FFFF00"/>
                </a:highlight>
              </a:rPr>
              <a:t> </a:t>
            </a:r>
            <a:r>
              <a:rPr lang="en" sz="1200" dirty="0"/>
              <a:t>for at least one job to be available.</a:t>
            </a:r>
            <a:endParaRPr sz="1200" dirty="0"/>
          </a:p>
          <a:p>
            <a:pPr marL="914400" lvl="1" indent="-292100" algn="l" rtl="0">
              <a:lnSpc>
                <a:spcPct val="100000"/>
              </a:lnSpc>
              <a:spcBef>
                <a:spcPts val="0"/>
              </a:spcBef>
              <a:spcAft>
                <a:spcPts val="0"/>
              </a:spcAft>
              <a:buSzPts val="1000"/>
              <a:buChar char="○"/>
            </a:pPr>
            <a:r>
              <a:rPr lang="en" sz="1000" dirty="0"/>
              <a:t>This requires obtaining a </a:t>
            </a:r>
            <a:r>
              <a:rPr lang="en" sz="1000" b="1" i="1" dirty="0">
                <a:solidFill>
                  <a:srgbClr val="FF0000"/>
                </a:solidFill>
              </a:rPr>
              <a:t>lock</a:t>
            </a:r>
            <a:r>
              <a:rPr lang="en" sz="1000" dirty="0"/>
              <a:t>.</a:t>
            </a:r>
            <a:endParaRPr sz="1000" dirty="0"/>
          </a:p>
          <a:p>
            <a:pPr marL="914400" lvl="1" indent="-292100" algn="l" rtl="0">
              <a:lnSpc>
                <a:spcPct val="100000"/>
              </a:lnSpc>
              <a:spcBef>
                <a:spcPts val="0"/>
              </a:spcBef>
              <a:spcAft>
                <a:spcPts val="0"/>
              </a:spcAft>
              <a:buSzPts val="1000"/>
              <a:buChar char="○"/>
            </a:pPr>
            <a:r>
              <a:rPr lang="en" sz="1000" dirty="0"/>
              <a:t>The </a:t>
            </a:r>
            <a:r>
              <a:rPr lang="en" sz="1000" dirty="0">
                <a:solidFill>
                  <a:srgbClr val="FF0000"/>
                </a:solidFill>
                <a:highlight>
                  <a:srgbClr val="FFFF00"/>
                </a:highlight>
                <a:latin typeface="Courier New"/>
                <a:ea typeface="Courier New"/>
                <a:cs typeface="Courier New"/>
                <a:sym typeface="Courier New"/>
              </a:rPr>
              <a:t>lock.lock()</a:t>
            </a:r>
            <a:r>
              <a:rPr lang="en" sz="1000" dirty="0">
                <a:highlight>
                  <a:srgbClr val="FFFF00"/>
                </a:highlight>
              </a:rPr>
              <a:t> </a:t>
            </a:r>
            <a:r>
              <a:rPr lang="en" sz="1000" dirty="0"/>
              <a:t>method is then called to pause the execution of the current thread </a:t>
            </a:r>
            <a:r>
              <a:rPr lang="en" sz="1000" b="1" i="1" dirty="0">
                <a:solidFill>
                  <a:srgbClr val="FF0000"/>
                </a:solidFill>
              </a:rPr>
              <a:t>indefinitely</a:t>
            </a:r>
            <a:r>
              <a:rPr lang="en" sz="1000" dirty="0"/>
              <a:t>.</a:t>
            </a:r>
            <a:endParaRPr sz="1000" dirty="0"/>
          </a:p>
          <a:p>
            <a:pPr lvl="1" indent="-292100">
              <a:lnSpc>
                <a:spcPct val="100000"/>
              </a:lnSpc>
              <a:spcBef>
                <a:spcPts val="0"/>
              </a:spcBef>
              <a:buSzPts val="1000"/>
            </a:pPr>
            <a:r>
              <a:rPr lang="en" sz="1000" dirty="0"/>
              <a:t>Calling the </a:t>
            </a:r>
            <a:r>
              <a:rPr lang="en" sz="1000" dirty="0">
                <a:solidFill>
                  <a:srgbClr val="FF0000"/>
                </a:solidFill>
                <a:latin typeface="Courier New"/>
                <a:ea typeface="Courier New"/>
                <a:cs typeface="Courier New"/>
                <a:sym typeface="Courier New"/>
              </a:rPr>
              <a:t>lock.</a:t>
            </a:r>
            <a:r>
              <a:rPr lang="en" sz="1000" dirty="0">
                <a:solidFill>
                  <a:srgbClr val="795E26"/>
                </a:solidFill>
                <a:highlight>
                  <a:srgbClr val="FFFFFF"/>
                </a:highlight>
                <a:latin typeface="Consolas"/>
                <a:ea typeface="Consolas"/>
                <a:cs typeface="Consolas"/>
                <a:sym typeface="Consolas"/>
              </a:rPr>
              <a:t>awaitUninterruptibly</a:t>
            </a:r>
            <a:r>
              <a:rPr lang="en" sz="1000" dirty="0">
                <a:solidFill>
                  <a:srgbClr val="3B3B3B"/>
                </a:solidFill>
                <a:highlight>
                  <a:srgbClr val="FFFFFF"/>
                </a:highlight>
                <a:latin typeface="Consolas"/>
                <a:ea typeface="Consolas"/>
                <a:cs typeface="Consolas"/>
                <a:sym typeface="Consolas"/>
              </a:rPr>
              <a:t>(); </a:t>
            </a:r>
            <a:r>
              <a:rPr lang="en" sz="1000" dirty="0"/>
              <a:t>method </a:t>
            </a:r>
            <a:r>
              <a:rPr lang="en" sz="1000" b="1" i="1" dirty="0">
                <a:solidFill>
                  <a:srgbClr val="FF0000"/>
                </a:solidFill>
              </a:rPr>
              <a:t>surrenders</a:t>
            </a:r>
            <a:r>
              <a:rPr lang="en" sz="1000" dirty="0">
                <a:solidFill>
                  <a:srgbClr val="FF0000"/>
                </a:solidFill>
              </a:rPr>
              <a:t> </a:t>
            </a:r>
            <a:r>
              <a:rPr lang="en" sz="1000" dirty="0"/>
              <a:t>the lock! This means that, while </a:t>
            </a:r>
            <a:r>
              <a:rPr lang="en" sz="1000" b="1" i="1" dirty="0">
                <a:solidFill>
                  <a:srgbClr val="FF0000"/>
                </a:solidFill>
              </a:rPr>
              <a:t>one </a:t>
            </a:r>
            <a:r>
              <a:rPr lang="en" sz="1000" dirty="0"/>
              <a:t>thread is waiting, </a:t>
            </a:r>
            <a:r>
              <a:rPr lang="en" sz="1000" b="1" i="1" dirty="0">
                <a:solidFill>
                  <a:srgbClr val="FF0000"/>
                </a:solidFill>
              </a:rPr>
              <a:t>another</a:t>
            </a:r>
            <a:r>
              <a:rPr lang="en" sz="1000" dirty="0">
                <a:solidFill>
                  <a:srgbClr val="FF0000"/>
                </a:solidFill>
              </a:rPr>
              <a:t> </a:t>
            </a:r>
            <a:r>
              <a:rPr lang="en" sz="1000" dirty="0"/>
              <a:t>thread may </a:t>
            </a:r>
            <a:r>
              <a:rPr lang="en" sz="1000" b="1" i="1" dirty="0">
                <a:solidFill>
                  <a:srgbClr val="FF0000"/>
                </a:solidFill>
              </a:rPr>
              <a:t>obtain the lock</a:t>
            </a:r>
            <a:r>
              <a:rPr lang="en" sz="1000" dirty="0"/>
              <a:t>.</a:t>
            </a:r>
            <a:endParaRPr sz="1000" dirty="0"/>
          </a:p>
        </p:txBody>
      </p:sp>
      <p:sp>
        <p:nvSpPr>
          <p:cNvPr id="619" name="Google Shape;619;p56"/>
          <p:cNvSpPr/>
          <p:nvPr/>
        </p:nvSpPr>
        <p:spPr>
          <a:xfrm>
            <a:off x="5288925" y="1112500"/>
            <a:ext cx="229422" cy="796411"/>
          </a:xfrm>
          <a:custGeom>
            <a:avLst/>
            <a:gdLst/>
            <a:ahLst/>
            <a:cxnLst/>
            <a:rect l="l" t="t" r="r" b="b"/>
            <a:pathLst>
              <a:path w="4957" h="13771" extrusionOk="0">
                <a:moveTo>
                  <a:pt x="4957" y="0"/>
                </a:moveTo>
                <a:cubicBezTo>
                  <a:pt x="4131" y="1240"/>
                  <a:pt x="0" y="5142"/>
                  <a:pt x="0" y="7437"/>
                </a:cubicBezTo>
                <a:cubicBezTo>
                  <a:pt x="0" y="9732"/>
                  <a:pt x="4131" y="12715"/>
                  <a:pt x="4957" y="13771"/>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20" name="Google Shape;620;p56"/>
          <p:cNvSpPr txBox="1">
            <a:spLocks noGrp="1"/>
          </p:cNvSpPr>
          <p:nvPr>
            <p:ph type="body" idx="3"/>
          </p:nvPr>
        </p:nvSpPr>
        <p:spPr>
          <a:xfrm>
            <a:off x="5036125" y="615393"/>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Before a thread can </a:t>
            </a:r>
            <a:r>
              <a:rPr lang="en" b="1" i="1">
                <a:solidFill>
                  <a:srgbClr val="FF0000"/>
                </a:solidFill>
              </a:rPr>
              <a:t>wait</a:t>
            </a:r>
            <a:r>
              <a:rPr lang="en"/>
              <a:t>, it must obtain a </a:t>
            </a:r>
            <a:r>
              <a:rPr lang="en" b="1" i="1">
                <a:solidFill>
                  <a:srgbClr val="FF0000"/>
                </a:solidFill>
              </a:rPr>
              <a:t>mutually exclusive lock</a:t>
            </a:r>
            <a:r>
              <a:rPr lang="en"/>
              <a:t>. </a:t>
            </a:r>
            <a:endParaRPr/>
          </a:p>
        </p:txBody>
      </p:sp>
      <p:sp>
        <p:nvSpPr>
          <p:cNvPr id="621" name="Google Shape;621;p56"/>
          <p:cNvSpPr/>
          <p:nvPr/>
        </p:nvSpPr>
        <p:spPr>
          <a:xfrm>
            <a:off x="4930100" y="2139051"/>
            <a:ext cx="648603" cy="1199377"/>
          </a:xfrm>
          <a:custGeom>
            <a:avLst/>
            <a:gdLst/>
            <a:ahLst/>
            <a:cxnLst/>
            <a:rect l="l" t="t" r="r" b="b"/>
            <a:pathLst>
              <a:path w="45081" h="64448" extrusionOk="0">
                <a:moveTo>
                  <a:pt x="12306" y="64448"/>
                </a:moveTo>
                <a:cubicBezTo>
                  <a:pt x="10470" y="56140"/>
                  <a:pt x="-4173" y="25338"/>
                  <a:pt x="1289" y="14597"/>
                </a:cubicBezTo>
                <a:cubicBezTo>
                  <a:pt x="6752" y="3856"/>
                  <a:pt x="37782" y="2433"/>
                  <a:pt x="45081"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22" name="Google Shape;622;p56"/>
          <p:cNvSpPr txBox="1">
            <a:spLocks noGrp="1"/>
          </p:cNvSpPr>
          <p:nvPr>
            <p:ph type="body" idx="3"/>
          </p:nvPr>
        </p:nvSpPr>
        <p:spPr>
          <a:xfrm>
            <a:off x="5036125" y="309691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Once the lock is obtained, calling the </a:t>
            </a:r>
            <a:r>
              <a:rPr lang="en" dirty="0">
                <a:solidFill>
                  <a:srgbClr val="FF0000"/>
                </a:solidFill>
                <a:latin typeface="Courier New"/>
                <a:ea typeface="Courier New"/>
                <a:cs typeface="Courier New"/>
                <a:sym typeface="Courier New"/>
              </a:rPr>
              <a:t>lock()</a:t>
            </a:r>
            <a:r>
              <a:rPr lang="en" dirty="0">
                <a:solidFill>
                  <a:srgbClr val="FF0000"/>
                </a:solidFill>
              </a:rPr>
              <a:t> </a:t>
            </a:r>
            <a:r>
              <a:rPr lang="en" dirty="0"/>
              <a:t>method on a linked condition will </a:t>
            </a:r>
            <a:r>
              <a:rPr lang="en" b="1" i="1" dirty="0">
                <a:solidFill>
                  <a:srgbClr val="FF0000"/>
                </a:solidFill>
              </a:rPr>
              <a:t>suspend execution</a:t>
            </a:r>
            <a:r>
              <a:rPr lang="en" dirty="0"/>
              <a:t> of the current thread </a:t>
            </a:r>
            <a:r>
              <a:rPr lang="en" b="1" i="1" dirty="0">
                <a:solidFill>
                  <a:srgbClr val="FF0000"/>
                </a:solidFill>
              </a:rPr>
              <a:t>indefinitely</a:t>
            </a:r>
            <a:r>
              <a:rPr lang="en" dirty="0"/>
              <a:t>.</a:t>
            </a:r>
            <a:endParaRPr dirty="0"/>
          </a:p>
        </p:txBody>
      </p:sp>
      <p:sp>
        <p:nvSpPr>
          <p:cNvPr id="623" name="Google Shape;623;p56"/>
          <p:cNvSpPr txBox="1">
            <a:spLocks noGrp="1"/>
          </p:cNvSpPr>
          <p:nvPr>
            <p:ph type="body" idx="3"/>
          </p:nvPr>
        </p:nvSpPr>
        <p:spPr>
          <a:xfrm>
            <a:off x="5039825" y="391706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Waiting also </a:t>
            </a:r>
            <a:r>
              <a:rPr lang="en" b="1" i="1" dirty="0">
                <a:solidFill>
                  <a:srgbClr val="FF0000"/>
                </a:solidFill>
              </a:rPr>
              <a:t>gives up the lock</a:t>
            </a:r>
            <a:r>
              <a:rPr lang="en" dirty="0"/>
              <a:t> so that some other thread may now acquire it.</a:t>
            </a:r>
            <a:endParaRPr dirty="0"/>
          </a:p>
        </p:txBody>
      </p:sp>
      <p:sp>
        <p:nvSpPr>
          <p:cNvPr id="624" name="Google Shape;624;p56"/>
          <p:cNvSpPr/>
          <p:nvPr/>
        </p:nvSpPr>
        <p:spPr>
          <a:xfrm>
            <a:off x="7945975" y="2275927"/>
            <a:ext cx="1058000" cy="2540750"/>
          </a:xfrm>
          <a:custGeom>
            <a:avLst/>
            <a:gdLst/>
            <a:ahLst/>
            <a:cxnLst/>
            <a:rect l="l" t="t" r="r" b="b"/>
            <a:pathLst>
              <a:path w="42320" h="101630" extrusionOk="0">
                <a:moveTo>
                  <a:pt x="29745" y="101630"/>
                </a:moveTo>
                <a:cubicBezTo>
                  <a:pt x="31811" y="93735"/>
                  <a:pt x="41451" y="67983"/>
                  <a:pt x="42139" y="54258"/>
                </a:cubicBezTo>
                <a:cubicBezTo>
                  <a:pt x="42828" y="40533"/>
                  <a:pt x="40899" y="28322"/>
                  <a:pt x="33876" y="19279"/>
                </a:cubicBezTo>
                <a:cubicBezTo>
                  <a:pt x="26853" y="10236"/>
                  <a:pt x="5646" y="3213"/>
                  <a:pt x="0"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25" name="Google Shape;625;p56"/>
          <p:cNvSpPr txBox="1">
            <a:spLocks noGrp="1"/>
          </p:cNvSpPr>
          <p:nvPr>
            <p:ph type="body" idx="3"/>
          </p:nvPr>
        </p:nvSpPr>
        <p:spPr>
          <a:xfrm>
            <a:off x="5036125" y="4534303"/>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Conditions have an </a:t>
            </a:r>
            <a:r>
              <a:rPr lang="en" b="1" i="1" dirty="0">
                <a:solidFill>
                  <a:srgbClr val="FF0000"/>
                </a:solidFill>
                <a:highlight>
                  <a:srgbClr val="FFFF00"/>
                </a:highlight>
              </a:rPr>
              <a:t>uninterruptible</a:t>
            </a:r>
            <a:r>
              <a:rPr lang="en" b="1" i="1" dirty="0">
                <a:solidFill>
                  <a:srgbClr val="FF0000"/>
                </a:solidFill>
              </a:rPr>
              <a:t> </a:t>
            </a:r>
            <a:r>
              <a:rPr lang="en" dirty="0"/>
              <a:t>wait which eliminates the need for a checked exception.</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1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1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1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1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18">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20"/>
                                        </p:tgtEl>
                                        <p:attrNameLst>
                                          <p:attrName>style.visibility</p:attrName>
                                        </p:attrNameLst>
                                      </p:cBhvr>
                                      <p:to>
                                        <p:strVal val="visible"/>
                                      </p:to>
                                    </p:set>
                                    <p:animEffect transition="in" filter="fade">
                                      <p:cBhvr>
                                        <p:cTn id="51" dur="1000"/>
                                        <p:tgtEl>
                                          <p:spTgt spid="620"/>
                                        </p:tgtEl>
                                      </p:cBhvr>
                                    </p:animEffect>
                                  </p:childTnLst>
                                </p:cTn>
                              </p:par>
                              <p:par>
                                <p:cTn id="52" presetID="10" presetClass="entr" presetSubtype="0" fill="hold" nodeType="withEffect">
                                  <p:stCondLst>
                                    <p:cond delay="0"/>
                                  </p:stCondLst>
                                  <p:childTnLst>
                                    <p:set>
                                      <p:cBhvr>
                                        <p:cTn id="53" dur="1" fill="hold">
                                          <p:stCondLst>
                                            <p:cond delay="0"/>
                                          </p:stCondLst>
                                        </p:cTn>
                                        <p:tgtEl>
                                          <p:spTgt spid="617"/>
                                        </p:tgtEl>
                                        <p:attrNameLst>
                                          <p:attrName>style.visibility</p:attrName>
                                        </p:attrNameLst>
                                      </p:cBhvr>
                                      <p:to>
                                        <p:strVal val="visible"/>
                                      </p:to>
                                    </p:set>
                                    <p:animEffect transition="in" filter="fade">
                                      <p:cBhvr>
                                        <p:cTn id="54" dur="1000"/>
                                        <p:tgtEl>
                                          <p:spTgt spid="617"/>
                                        </p:tgtEl>
                                      </p:cBhvr>
                                    </p:animEffect>
                                  </p:childTnLst>
                                </p:cTn>
                              </p:par>
                            </p:childTnLst>
                          </p:cTn>
                        </p:par>
                        <p:par>
                          <p:cTn id="55" fill="hold">
                            <p:stCondLst>
                              <p:cond delay="1000"/>
                            </p:stCondLst>
                            <p:childTnLst>
                              <p:par>
                                <p:cTn id="56" presetID="10" presetClass="entr" presetSubtype="0" fill="hold" nodeType="afterEffect">
                                  <p:stCondLst>
                                    <p:cond delay="0"/>
                                  </p:stCondLst>
                                  <p:childTnLst>
                                    <p:set>
                                      <p:cBhvr>
                                        <p:cTn id="57" dur="1" fill="hold">
                                          <p:stCondLst>
                                            <p:cond delay="0"/>
                                          </p:stCondLst>
                                        </p:cTn>
                                        <p:tgtEl>
                                          <p:spTgt spid="619"/>
                                        </p:tgtEl>
                                        <p:attrNameLst>
                                          <p:attrName>style.visibility</p:attrName>
                                        </p:attrNameLst>
                                      </p:cBhvr>
                                      <p:to>
                                        <p:strVal val="visible"/>
                                      </p:to>
                                    </p:set>
                                    <p:animEffect transition="in" filter="fade">
                                      <p:cBhvr>
                                        <p:cTn id="58" dur="1000"/>
                                        <p:tgtEl>
                                          <p:spTgt spid="61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22"/>
                                        </p:tgtEl>
                                        <p:attrNameLst>
                                          <p:attrName>style.visibility</p:attrName>
                                        </p:attrNameLst>
                                      </p:cBhvr>
                                      <p:to>
                                        <p:strVal val="visible"/>
                                      </p:to>
                                    </p:set>
                                    <p:animEffect transition="in" filter="fade">
                                      <p:cBhvr>
                                        <p:cTn id="63" dur="1000"/>
                                        <p:tgtEl>
                                          <p:spTgt spid="622"/>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621"/>
                                        </p:tgtEl>
                                        <p:attrNameLst>
                                          <p:attrName>style.visibility</p:attrName>
                                        </p:attrNameLst>
                                      </p:cBhvr>
                                      <p:to>
                                        <p:strVal val="visible"/>
                                      </p:to>
                                    </p:set>
                                    <p:animEffect transition="in" filter="fade">
                                      <p:cBhvr>
                                        <p:cTn id="67" dur="1000"/>
                                        <p:tgtEl>
                                          <p:spTgt spid="62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3"/>
                                        </p:tgtEl>
                                        <p:attrNameLst>
                                          <p:attrName>style.visibility</p:attrName>
                                        </p:attrNameLst>
                                      </p:cBhvr>
                                      <p:to>
                                        <p:strVal val="visible"/>
                                      </p:to>
                                    </p:set>
                                    <p:animEffect transition="in" filter="fade">
                                      <p:cBhvr>
                                        <p:cTn id="72" dur="1000"/>
                                        <p:tgtEl>
                                          <p:spTgt spid="623"/>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625"/>
                                        </p:tgtEl>
                                        <p:attrNameLst>
                                          <p:attrName>style.visibility</p:attrName>
                                        </p:attrNameLst>
                                      </p:cBhvr>
                                      <p:to>
                                        <p:strVal val="visible"/>
                                      </p:to>
                                    </p:set>
                                    <p:animEffect transition="in" filter="fade">
                                      <p:cBhvr>
                                        <p:cTn id="77" dur="1000"/>
                                        <p:tgtEl>
                                          <p:spTgt spid="625"/>
                                        </p:tgtEl>
                                      </p:cBhvr>
                                    </p:animEffect>
                                  </p:childTnLst>
                                </p:cTn>
                              </p:par>
                            </p:childTnLst>
                          </p:cTn>
                        </p:par>
                        <p:par>
                          <p:cTn id="78" fill="hold">
                            <p:stCondLst>
                              <p:cond delay="1000"/>
                            </p:stCondLst>
                            <p:childTnLst>
                              <p:par>
                                <p:cTn id="79" presetID="10" presetClass="entr" presetSubtype="0" fill="hold" nodeType="afterEffect">
                                  <p:stCondLst>
                                    <p:cond delay="0"/>
                                  </p:stCondLst>
                                  <p:childTnLst>
                                    <p:set>
                                      <p:cBhvr>
                                        <p:cTn id="80" dur="1" fill="hold">
                                          <p:stCondLst>
                                            <p:cond delay="0"/>
                                          </p:stCondLst>
                                        </p:cTn>
                                        <p:tgtEl>
                                          <p:spTgt spid="624"/>
                                        </p:tgtEl>
                                        <p:attrNameLst>
                                          <p:attrName>style.visibility</p:attrName>
                                        </p:attrNameLst>
                                      </p:cBhvr>
                                      <p:to>
                                        <p:strVal val="visible"/>
                                      </p:to>
                                    </p:set>
                                    <p:animEffect transition="in" filter="fade">
                                      <p:cBhvr>
                                        <p:cTn id="81" dur="1000"/>
                                        <p:tgtEl>
                                          <p:spTgt spid="6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5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26</a:t>
            </a:fld>
            <a:endParaRPr/>
          </a:p>
        </p:txBody>
      </p:sp>
      <p:sp>
        <p:nvSpPr>
          <p:cNvPr id="631" name="Google Shape;631;p57"/>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Conditions in Detail</a:t>
            </a:r>
            <a:endParaRPr/>
          </a:p>
        </p:txBody>
      </p:sp>
      <p:sp>
        <p:nvSpPr>
          <p:cNvPr id="632" name="Google Shape;632;p57"/>
          <p:cNvSpPr txBox="1"/>
          <p:nvPr/>
        </p:nvSpPr>
        <p:spPr>
          <a:xfrm>
            <a:off x="3743475" y="1691600"/>
            <a:ext cx="4728900" cy="30003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050" dirty="0">
                <a:solidFill>
                  <a:schemeClr val="accent5"/>
                </a:solidFill>
                <a:latin typeface="Consolas"/>
                <a:ea typeface="Consolas"/>
                <a:cs typeface="Consolas"/>
                <a:sym typeface="Consolas"/>
              </a:rPr>
              <a:t>1</a:t>
            </a:r>
            <a:r>
              <a:rPr lang="en" sz="1050" dirty="0">
                <a:solidFill>
                  <a:srgbClr val="0000FF"/>
                </a:solidFill>
                <a:highlight>
                  <a:srgbClr val="FFFFFF"/>
                </a:highlight>
                <a:latin typeface="Consolas"/>
                <a:ea typeface="Consolas"/>
                <a:cs typeface="Consolas"/>
                <a:sym typeface="Consolas"/>
              </a:rPr>
              <a:t>  private</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static</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final</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Lock</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new</a:t>
            </a:r>
            <a:r>
              <a:rPr lang="en" sz="1050" dirty="0">
                <a:solidFill>
                  <a:srgbClr val="3B3B3B"/>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ReentrantLock</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2</a:t>
            </a:r>
            <a:r>
              <a:rPr lang="en" sz="1050" dirty="0">
                <a:solidFill>
                  <a:srgbClr val="0000FF"/>
                </a:solidFill>
                <a:highlight>
                  <a:srgbClr val="FFFFFF"/>
                </a:highlight>
                <a:latin typeface="Consolas"/>
                <a:ea typeface="Consolas"/>
                <a:cs typeface="Consolas"/>
                <a:sym typeface="Consolas"/>
              </a:rPr>
              <a:t>  private</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static</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final</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Condition</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open</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newCondition</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3</a:t>
            </a:r>
            <a:r>
              <a:rPr lang="en" sz="1050" dirty="0">
                <a:solidFill>
                  <a:srgbClr val="0000FF"/>
                </a:solidFill>
                <a:highlight>
                  <a:srgbClr val="FFFFFF"/>
                </a:highlight>
                <a:latin typeface="Consolas"/>
                <a:ea typeface="Consolas"/>
                <a:cs typeface="Consolas"/>
                <a:sym typeface="Consolas"/>
              </a:rPr>
              <a:t>  private</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static</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final</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Random</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random</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new</a:t>
            </a:r>
            <a:r>
              <a:rPr lang="en" sz="1050" dirty="0">
                <a:solidFill>
                  <a:srgbClr val="3B3B3B"/>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Random</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4</a:t>
            </a:r>
            <a:endParaRPr sz="1050" dirty="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5</a:t>
            </a:r>
            <a:r>
              <a:rPr lang="en" sz="1050" dirty="0">
                <a:solidFill>
                  <a:srgbClr val="0000FF"/>
                </a:solidFill>
                <a:highlight>
                  <a:srgbClr val="FFFFFF"/>
                </a:highlight>
                <a:latin typeface="Consolas"/>
                <a:ea typeface="Consolas"/>
                <a:cs typeface="Consolas"/>
                <a:sym typeface="Consolas"/>
              </a:rPr>
              <a:t>  private</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static</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class</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Car</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6</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private</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final</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String</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7</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public</a:t>
            </a:r>
            <a:r>
              <a:rPr lang="en" sz="1050" dirty="0">
                <a:solidFill>
                  <a:srgbClr val="3B3B3B"/>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Car</a:t>
            </a:r>
            <a:r>
              <a:rPr lang="en" sz="1050" dirty="0">
                <a:solidFill>
                  <a:srgbClr val="3B3B3B"/>
                </a:solidFill>
                <a:highlight>
                  <a:srgbClr val="FFFFFF"/>
                </a:highlight>
                <a:latin typeface="Consolas"/>
                <a:ea typeface="Consolas"/>
                <a:cs typeface="Consolas"/>
                <a:sym typeface="Consolas"/>
              </a:rPr>
              <a:t>(</a:t>
            </a:r>
            <a:r>
              <a:rPr lang="en" sz="1050" dirty="0">
                <a:solidFill>
                  <a:srgbClr val="267F99"/>
                </a:solidFill>
                <a:highlight>
                  <a:srgbClr val="FFFFFF"/>
                </a:highlight>
                <a:latin typeface="Consolas"/>
                <a:ea typeface="Consolas"/>
                <a:cs typeface="Consolas"/>
                <a:sym typeface="Consolas"/>
              </a:rPr>
              <a:t>String</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 { </a:t>
            </a:r>
            <a:r>
              <a:rPr lang="en" sz="1050" dirty="0">
                <a:solidFill>
                  <a:srgbClr val="0000FF"/>
                </a:solidFill>
                <a:highlight>
                  <a:srgbClr val="FFFFFF"/>
                </a:highlight>
                <a:latin typeface="Consolas"/>
                <a:ea typeface="Consolas"/>
                <a:cs typeface="Consolas"/>
                <a:sym typeface="Consolas"/>
              </a:rPr>
              <a:t>this</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1080"/>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8</a:t>
            </a:r>
            <a:endParaRPr sz="1050" dirty="0">
              <a:solidFill>
                <a:schemeClr val="accent5"/>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9</a:t>
            </a:r>
            <a:r>
              <a:rPr lang="en" sz="1050" dirty="0">
                <a:solidFill>
                  <a:srgbClr val="3B3B3B"/>
                </a:solidFill>
                <a:highlight>
                  <a:srgbClr val="FFFFFF"/>
                </a:highlight>
                <a:latin typeface="Consolas"/>
                <a:ea typeface="Consolas"/>
                <a:cs typeface="Consolas"/>
                <a:sym typeface="Consolas"/>
              </a:rPr>
              <a:t>     </a:t>
            </a:r>
            <a:r>
              <a:rPr lang="en" sz="1050" dirty="0">
                <a:solidFill>
                  <a:srgbClr val="0000FF"/>
                </a:solidFill>
                <a:highlight>
                  <a:srgbClr val="FFFFFF"/>
                </a:highlight>
                <a:latin typeface="Consolas"/>
                <a:ea typeface="Consolas"/>
                <a:cs typeface="Consolas"/>
                <a:sym typeface="Consolas"/>
              </a:rPr>
              <a:t>public</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void</a:t>
            </a:r>
            <a:r>
              <a:rPr lang="en" sz="1050" dirty="0">
                <a:solidFill>
                  <a:srgbClr val="3B3B3B"/>
                </a:solidFill>
                <a:highlight>
                  <a:srgbClr val="FFFFFF"/>
                </a:highlight>
                <a:latin typeface="Consolas"/>
                <a:ea typeface="Consolas"/>
                <a:cs typeface="Consolas"/>
                <a:sym typeface="Consolas"/>
              </a:rPr>
              <a:t> </a:t>
            </a:r>
            <a:r>
              <a:rPr lang="en" sz="1050" dirty="0">
                <a:solidFill>
                  <a:srgbClr val="795E26"/>
                </a:solidFill>
                <a:highlight>
                  <a:srgbClr val="FFFFFF"/>
                </a:highlight>
                <a:latin typeface="Consolas"/>
                <a:ea typeface="Consolas"/>
                <a:cs typeface="Consolas"/>
                <a:sym typeface="Consolas"/>
              </a:rPr>
              <a:t>payToll</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10</a:t>
            </a: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try</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11</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lock</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12</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System</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3B3B3B"/>
                </a:solidFill>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"Car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 payed."</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13</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open</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awaitUninterruptibly</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14</a:t>
            </a:r>
            <a:r>
              <a:rPr lang="en" sz="1050" dirty="0">
                <a:solidFill>
                  <a:srgbClr val="3B3B3B"/>
                </a:solidFill>
                <a:highlight>
                  <a:srgbClr val="FFFFFF"/>
                </a:highlight>
                <a:latin typeface="Consolas"/>
                <a:ea typeface="Consolas"/>
                <a:cs typeface="Consolas"/>
                <a:sym typeface="Consolas"/>
              </a:rPr>
              <a:t>          </a:t>
            </a:r>
            <a:r>
              <a:rPr lang="en" sz="1050" dirty="0">
                <a:solidFill>
                  <a:srgbClr val="267F99"/>
                </a:solidFill>
                <a:highlight>
                  <a:srgbClr val="FFFFFF"/>
                </a:highlight>
                <a:latin typeface="Consolas"/>
                <a:ea typeface="Consolas"/>
                <a:cs typeface="Consolas"/>
                <a:sym typeface="Consolas"/>
              </a:rPr>
              <a:t>System</a:t>
            </a:r>
            <a:r>
              <a:rPr lang="en" sz="1050" dirty="0">
                <a:solidFill>
                  <a:srgbClr val="3B3B3B"/>
                </a:solidFill>
                <a:highlight>
                  <a:srgbClr val="FFFFFF"/>
                </a:highlight>
                <a:latin typeface="Consolas"/>
                <a:ea typeface="Consolas"/>
                <a:cs typeface="Consolas"/>
                <a:sym typeface="Consolas"/>
              </a:rPr>
              <a:t>.</a:t>
            </a:r>
            <a:r>
              <a:rPr lang="en" sz="1050" dirty="0">
                <a:solidFill>
                  <a:srgbClr val="0070C1"/>
                </a:solidFill>
                <a:highlight>
                  <a:srgbClr val="FFFFFF"/>
                </a:highlight>
                <a:latin typeface="Consolas"/>
                <a:ea typeface="Consolas"/>
                <a:cs typeface="Consolas"/>
                <a:sym typeface="Consolas"/>
              </a:rPr>
              <a:t>out</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println</a:t>
            </a:r>
            <a:r>
              <a:rPr lang="en" sz="1050" dirty="0">
                <a:solidFill>
                  <a:srgbClr val="3B3B3B"/>
                </a:solidFill>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"Car "</a:t>
            </a:r>
            <a:r>
              <a:rPr lang="en" sz="1050" dirty="0">
                <a:highlight>
                  <a:srgbClr val="FFFFFF"/>
                </a:highlight>
                <a:latin typeface="Consolas"/>
                <a:ea typeface="Consolas"/>
                <a:cs typeface="Consolas"/>
                <a:sym typeface="Consolas"/>
              </a:rPr>
              <a:t>+</a:t>
            </a:r>
            <a:r>
              <a:rPr lang="en" sz="1050" dirty="0">
                <a:solidFill>
                  <a:srgbClr val="3B3B3B"/>
                </a:solidFill>
                <a:highlight>
                  <a:srgbClr val="FFFFFF"/>
                </a:highlight>
                <a:latin typeface="Consolas"/>
                <a:ea typeface="Consolas"/>
                <a:cs typeface="Consolas"/>
                <a:sym typeface="Consolas"/>
              </a:rPr>
              <a:t> </a:t>
            </a:r>
            <a:r>
              <a:rPr lang="en" sz="1050" dirty="0">
                <a:solidFill>
                  <a:srgbClr val="0070C1"/>
                </a:solidFill>
                <a:highlight>
                  <a:srgbClr val="FFFFFF"/>
                </a:highlight>
                <a:latin typeface="Consolas"/>
                <a:ea typeface="Consolas"/>
                <a:cs typeface="Consolas"/>
                <a:sym typeface="Consolas"/>
              </a:rPr>
              <a:t>plate</a:t>
            </a:r>
            <a:r>
              <a:rPr lang="en" sz="1050" dirty="0">
                <a:solidFill>
                  <a:srgbClr val="3B3B3B"/>
                </a:solidFill>
                <a:highlight>
                  <a:srgbClr val="FFFFFF"/>
                </a:highlight>
                <a:latin typeface="Consolas"/>
                <a:ea typeface="Consolas"/>
                <a:cs typeface="Consolas"/>
                <a:sym typeface="Consolas"/>
              </a:rPr>
              <a:t> </a:t>
            </a:r>
            <a:r>
              <a:rPr lang="en" sz="1050" dirty="0">
                <a:highlight>
                  <a:srgbClr val="FFFFFF"/>
                </a:highlight>
                <a:latin typeface="Consolas"/>
                <a:ea typeface="Consolas"/>
                <a:cs typeface="Consolas"/>
                <a:sym typeface="Consolas"/>
              </a:rPr>
              <a:t>+</a:t>
            </a:r>
            <a:r>
              <a:rPr lang="en" sz="1050" dirty="0">
                <a:solidFill>
                  <a:srgbClr val="A31515"/>
                </a:solidFill>
                <a:highlight>
                  <a:srgbClr val="FFFFFF"/>
                </a:highlight>
                <a:latin typeface="Consolas"/>
                <a:ea typeface="Consolas"/>
                <a:cs typeface="Consolas"/>
                <a:sym typeface="Consolas"/>
              </a:rPr>
              <a:t>" left."</a:t>
            </a:r>
            <a:r>
              <a:rPr lang="en" sz="1050" dirty="0">
                <a:solidFill>
                  <a:srgbClr val="3B3B3B"/>
                </a:solidFill>
                <a:highlight>
                  <a:srgbClr val="FFFFFF"/>
                </a:highlight>
                <a:latin typeface="Consolas"/>
                <a:ea typeface="Consolas"/>
                <a:cs typeface="Consolas"/>
                <a:sym typeface="Consolas"/>
              </a:rPr>
              <a:t>);</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15</a:t>
            </a:r>
            <a:r>
              <a:rPr lang="en" sz="1050" dirty="0">
                <a:solidFill>
                  <a:srgbClr val="3B3B3B"/>
                </a:solidFill>
                <a:highlight>
                  <a:srgbClr val="FFFFFF"/>
                </a:highlight>
                <a:latin typeface="Consolas"/>
                <a:ea typeface="Consolas"/>
                <a:cs typeface="Consolas"/>
                <a:sym typeface="Consolas"/>
              </a:rPr>
              <a:t>       }</a:t>
            </a:r>
            <a:r>
              <a:rPr lang="en" sz="1050" dirty="0">
                <a:solidFill>
                  <a:srgbClr val="AF00DB"/>
                </a:solidFill>
                <a:highlight>
                  <a:srgbClr val="FFFFFF"/>
                </a:highlight>
                <a:latin typeface="Consolas"/>
                <a:ea typeface="Consolas"/>
                <a:cs typeface="Consolas"/>
                <a:sym typeface="Consolas"/>
              </a:rPr>
              <a:t>finally</a:t>
            </a:r>
            <a:r>
              <a:rPr lang="en" sz="1050" dirty="0">
                <a:solidFill>
                  <a:srgbClr val="3B3B3B"/>
                </a:solidFill>
                <a:highlight>
                  <a:srgbClr val="FFFFFF"/>
                </a:highlight>
                <a:latin typeface="Consolas"/>
                <a:ea typeface="Consolas"/>
                <a:cs typeface="Consolas"/>
                <a:sym typeface="Consolas"/>
              </a:rPr>
              <a:t> { </a:t>
            </a:r>
            <a:r>
              <a:rPr lang="en" sz="1050" dirty="0">
                <a:solidFill>
                  <a:srgbClr val="0070C1"/>
                </a:solidFill>
                <a:highlight>
                  <a:srgbClr val="FFFFFF"/>
                </a:highlight>
                <a:latin typeface="Consolas"/>
                <a:ea typeface="Consolas"/>
                <a:cs typeface="Consolas"/>
                <a:sym typeface="Consolas"/>
              </a:rPr>
              <a:t>gate</a:t>
            </a:r>
            <a:r>
              <a:rPr lang="en" sz="1050" dirty="0">
                <a:solidFill>
                  <a:srgbClr val="3B3B3B"/>
                </a:solidFill>
                <a:highlight>
                  <a:srgbClr val="FFFFFF"/>
                </a:highlight>
                <a:latin typeface="Consolas"/>
                <a:ea typeface="Consolas"/>
                <a:cs typeface="Consolas"/>
                <a:sym typeface="Consolas"/>
              </a:rPr>
              <a:t>.</a:t>
            </a:r>
            <a:r>
              <a:rPr lang="en" sz="1050" dirty="0">
                <a:solidFill>
                  <a:srgbClr val="795E26"/>
                </a:solidFill>
                <a:highlight>
                  <a:srgbClr val="FFFFFF"/>
                </a:highlight>
                <a:latin typeface="Consolas"/>
                <a:ea typeface="Consolas"/>
                <a:cs typeface="Consolas"/>
                <a:sym typeface="Consolas"/>
              </a:rPr>
              <a:t>unlock</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16</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highlight>
                  <a:srgbClr val="FFFFFF"/>
                </a:highlight>
                <a:latin typeface="Consolas"/>
                <a:ea typeface="Consolas"/>
                <a:cs typeface="Consolas"/>
                <a:sym typeface="Consolas"/>
              </a:rPr>
              <a:t>17</a:t>
            </a:r>
            <a:r>
              <a:rPr lang="en" sz="1050" dirty="0">
                <a:solidFill>
                  <a:srgbClr val="3B3B3B"/>
                </a:solidFill>
                <a:highlight>
                  <a:srgbClr val="FFFFFF"/>
                </a:highlight>
                <a:latin typeface="Consolas"/>
                <a:ea typeface="Consolas"/>
                <a:cs typeface="Consolas"/>
                <a:sym typeface="Consolas"/>
              </a:rPr>
              <a:t>     }</a:t>
            </a:r>
            <a:endParaRPr sz="10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050" dirty="0">
                <a:solidFill>
                  <a:schemeClr val="accent5"/>
                </a:solidFill>
                <a:latin typeface="Consolas"/>
                <a:ea typeface="Consolas"/>
                <a:cs typeface="Consolas"/>
                <a:sym typeface="Consolas"/>
              </a:rPr>
              <a:t>18</a:t>
            </a:r>
            <a:r>
              <a:rPr lang="en" sz="1050" dirty="0">
                <a:solidFill>
                  <a:schemeClr val="dk2"/>
                </a:solidFill>
                <a:latin typeface="Consolas"/>
                <a:ea typeface="Consolas"/>
                <a:cs typeface="Consolas"/>
                <a:sym typeface="Consolas"/>
              </a:rPr>
              <a:t> </a:t>
            </a:r>
            <a:r>
              <a:rPr lang="en" sz="1050" dirty="0">
                <a:latin typeface="Consolas"/>
                <a:ea typeface="Consolas"/>
                <a:cs typeface="Consolas"/>
                <a:sym typeface="Consolas"/>
              </a:rPr>
              <a:t>}</a:t>
            </a:r>
            <a:endParaRPr sz="1050" dirty="0">
              <a:latin typeface="Consolas"/>
              <a:ea typeface="Consolas"/>
              <a:cs typeface="Consolas"/>
              <a:sym typeface="Consolas"/>
            </a:endParaRPr>
          </a:p>
        </p:txBody>
      </p:sp>
      <p:sp>
        <p:nvSpPr>
          <p:cNvPr id="633" name="Google Shape;633;p57"/>
          <p:cNvSpPr txBox="1">
            <a:spLocks noGrp="1"/>
          </p:cNvSpPr>
          <p:nvPr>
            <p:ph type="body" idx="4294967295"/>
          </p:nvPr>
        </p:nvSpPr>
        <p:spPr>
          <a:xfrm>
            <a:off x="176350" y="1691600"/>
            <a:ext cx="3162600" cy="61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1600"/>
              </a:spcAft>
              <a:buNone/>
            </a:pPr>
            <a:r>
              <a:rPr lang="en"/>
              <a:t>A </a:t>
            </a:r>
            <a:r>
              <a:rPr lang="en" b="1" i="1">
                <a:solidFill>
                  <a:srgbClr val="FF0000"/>
                </a:solidFill>
              </a:rPr>
              <a:t>condition</a:t>
            </a:r>
            <a:r>
              <a:rPr lang="en"/>
              <a:t> is associated with a </a:t>
            </a:r>
            <a:r>
              <a:rPr lang="en">
                <a:latin typeface="Courier New"/>
                <a:ea typeface="Courier New"/>
                <a:cs typeface="Courier New"/>
                <a:sym typeface="Courier New"/>
              </a:rPr>
              <a:t>Lock</a:t>
            </a:r>
            <a:r>
              <a:rPr lang="en"/>
              <a:t>. Each lock can have many conditions.</a:t>
            </a:r>
            <a:endParaRPr/>
          </a:p>
        </p:txBody>
      </p:sp>
      <p:sp>
        <p:nvSpPr>
          <p:cNvPr id="634" name="Google Shape;634;p57"/>
          <p:cNvSpPr/>
          <p:nvPr/>
        </p:nvSpPr>
        <p:spPr>
          <a:xfrm>
            <a:off x="5584750" y="1945151"/>
            <a:ext cx="2656200" cy="175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35" name="Google Shape;635;p57"/>
          <p:cNvCxnSpPr>
            <a:stCxn id="633" idx="3"/>
            <a:endCxn id="634" idx="3"/>
          </p:cNvCxnSpPr>
          <p:nvPr/>
        </p:nvCxnSpPr>
        <p:spPr>
          <a:xfrm>
            <a:off x="3338950" y="1999100"/>
            <a:ext cx="4902000" cy="33600"/>
          </a:xfrm>
          <a:prstGeom prst="bentConnector5">
            <a:avLst>
              <a:gd name="adj1" fmla="val 5543"/>
              <a:gd name="adj2" fmla="val -1508110"/>
              <a:gd name="adj3" fmla="val 110962"/>
            </a:avLst>
          </a:prstGeom>
          <a:noFill/>
          <a:ln w="19050" cap="flat" cmpd="sng">
            <a:solidFill>
              <a:srgbClr val="FF0000"/>
            </a:solidFill>
            <a:prstDash val="solid"/>
            <a:round/>
            <a:headEnd type="none" w="med" len="med"/>
            <a:tailEnd type="none" w="med" len="med"/>
          </a:ln>
        </p:spPr>
      </p:cxnSp>
      <p:sp>
        <p:nvSpPr>
          <p:cNvPr id="636" name="Google Shape;636;p57"/>
          <p:cNvSpPr txBox="1">
            <a:spLocks noGrp="1"/>
          </p:cNvSpPr>
          <p:nvPr>
            <p:ph type="body" idx="4294967295"/>
          </p:nvPr>
        </p:nvSpPr>
        <p:spPr>
          <a:xfrm>
            <a:off x="176350" y="2489975"/>
            <a:ext cx="3162600" cy="61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1600"/>
              </a:spcAft>
              <a:buNone/>
            </a:pPr>
            <a:r>
              <a:rPr lang="en" dirty="0"/>
              <a:t>Before a condition can be used, its associated </a:t>
            </a:r>
            <a:r>
              <a:rPr lang="en" dirty="0">
                <a:latin typeface="Courier New"/>
                <a:ea typeface="Courier New"/>
                <a:cs typeface="Courier New"/>
                <a:sym typeface="Courier New"/>
              </a:rPr>
              <a:t>Lock</a:t>
            </a:r>
            <a:r>
              <a:rPr lang="en" dirty="0"/>
              <a:t> must be </a:t>
            </a:r>
            <a:r>
              <a:rPr lang="en" b="1" i="1" dirty="0">
                <a:solidFill>
                  <a:srgbClr val="FF0000"/>
                </a:solidFill>
              </a:rPr>
              <a:t>locked</a:t>
            </a:r>
            <a:r>
              <a:rPr lang="en" dirty="0"/>
              <a:t>.</a:t>
            </a:r>
            <a:endParaRPr dirty="0"/>
          </a:p>
        </p:txBody>
      </p:sp>
      <p:sp>
        <p:nvSpPr>
          <p:cNvPr id="637" name="Google Shape;637;p57"/>
          <p:cNvSpPr/>
          <p:nvPr/>
        </p:nvSpPr>
        <p:spPr>
          <a:xfrm>
            <a:off x="4614252" y="3389450"/>
            <a:ext cx="1024800" cy="175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38" name="Google Shape;638;p57"/>
          <p:cNvCxnSpPr>
            <a:stCxn id="636" idx="3"/>
            <a:endCxn id="637" idx="1"/>
          </p:cNvCxnSpPr>
          <p:nvPr/>
        </p:nvCxnSpPr>
        <p:spPr>
          <a:xfrm>
            <a:off x="3338950" y="2797475"/>
            <a:ext cx="1275300" cy="679500"/>
          </a:xfrm>
          <a:prstGeom prst="bentConnector3">
            <a:avLst>
              <a:gd name="adj1" fmla="val 21779"/>
            </a:avLst>
          </a:prstGeom>
          <a:noFill/>
          <a:ln w="19050" cap="flat" cmpd="sng">
            <a:solidFill>
              <a:srgbClr val="FF0000"/>
            </a:solidFill>
            <a:prstDash val="solid"/>
            <a:round/>
            <a:headEnd type="none" w="med" len="med"/>
            <a:tailEnd type="none" w="med" len="med"/>
          </a:ln>
        </p:spPr>
      </p:cxnSp>
      <p:sp>
        <p:nvSpPr>
          <p:cNvPr id="639" name="Google Shape;639;p57"/>
          <p:cNvSpPr txBox="1">
            <a:spLocks noGrp="1"/>
          </p:cNvSpPr>
          <p:nvPr>
            <p:ph type="body" idx="4294967295"/>
          </p:nvPr>
        </p:nvSpPr>
        <p:spPr>
          <a:xfrm>
            <a:off x="176350" y="3288350"/>
            <a:ext cx="3162600" cy="6150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1600"/>
              </a:spcAft>
              <a:buNone/>
            </a:pPr>
            <a:r>
              <a:rPr lang="en" dirty="0"/>
              <a:t>Once locked, the condition can be used. In this case, to </a:t>
            </a:r>
            <a:r>
              <a:rPr lang="en" b="1" i="1" dirty="0">
                <a:solidFill>
                  <a:srgbClr val="FF0000"/>
                </a:solidFill>
              </a:rPr>
              <a:t>wait</a:t>
            </a:r>
            <a:r>
              <a:rPr lang="en" dirty="0"/>
              <a:t> for a signal.</a:t>
            </a:r>
            <a:endParaRPr dirty="0"/>
          </a:p>
        </p:txBody>
      </p:sp>
      <p:sp>
        <p:nvSpPr>
          <p:cNvPr id="640" name="Google Shape;640;p57"/>
          <p:cNvSpPr/>
          <p:nvPr/>
        </p:nvSpPr>
        <p:spPr>
          <a:xfrm>
            <a:off x="4614250" y="3710886"/>
            <a:ext cx="2202000" cy="175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41" name="Google Shape;641;p57"/>
          <p:cNvCxnSpPr>
            <a:stCxn id="639" idx="3"/>
            <a:endCxn id="640" idx="1"/>
          </p:cNvCxnSpPr>
          <p:nvPr/>
        </p:nvCxnSpPr>
        <p:spPr>
          <a:xfrm>
            <a:off x="3338950" y="3595850"/>
            <a:ext cx="1275300" cy="202500"/>
          </a:xfrm>
          <a:prstGeom prst="bentConnector3">
            <a:avLst>
              <a:gd name="adj1" fmla="val 21305"/>
            </a:avLst>
          </a:prstGeom>
          <a:noFill/>
          <a:ln w="19050" cap="flat" cmpd="sng">
            <a:solidFill>
              <a:srgbClr val="FF0000"/>
            </a:solidFill>
            <a:prstDash val="solid"/>
            <a:round/>
            <a:headEnd type="none" w="med" len="med"/>
            <a:tailEnd type="none" w="med" len="med"/>
          </a:ln>
        </p:spPr>
      </p:cxnSp>
      <p:sp>
        <p:nvSpPr>
          <p:cNvPr id="642" name="Google Shape;642;p57"/>
          <p:cNvSpPr txBox="1">
            <a:spLocks noGrp="1"/>
          </p:cNvSpPr>
          <p:nvPr>
            <p:ph type="body" idx="4294967295"/>
          </p:nvPr>
        </p:nvSpPr>
        <p:spPr>
          <a:xfrm>
            <a:off x="176350" y="4086725"/>
            <a:ext cx="3162600" cy="845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1600"/>
              </a:spcAft>
              <a:buNone/>
            </a:pPr>
            <a:r>
              <a:rPr lang="en" dirty="0"/>
              <a:t>Waiting releases the lock, but it will be </a:t>
            </a:r>
            <a:r>
              <a:rPr lang="en" b="1" i="1" dirty="0">
                <a:solidFill>
                  <a:srgbClr val="FF0000"/>
                </a:solidFill>
              </a:rPr>
              <a:t>relocked</a:t>
            </a:r>
            <a:r>
              <a:rPr lang="en" dirty="0"/>
              <a:t> after the wait. So the lock still must be </a:t>
            </a:r>
            <a:r>
              <a:rPr lang="en" b="1" i="1" dirty="0">
                <a:solidFill>
                  <a:srgbClr val="FF0000"/>
                </a:solidFill>
                <a:latin typeface="Arial"/>
                <a:ea typeface="Arial"/>
                <a:cs typeface="Arial"/>
                <a:sym typeface="Arial"/>
              </a:rPr>
              <a:t>unlocked</a:t>
            </a:r>
            <a:r>
              <a:rPr lang="en" dirty="0"/>
              <a:t> when finished.</a:t>
            </a:r>
            <a:endParaRPr dirty="0"/>
          </a:p>
        </p:txBody>
      </p:sp>
      <p:sp>
        <p:nvSpPr>
          <p:cNvPr id="643" name="Google Shape;643;p57"/>
          <p:cNvSpPr/>
          <p:nvPr/>
        </p:nvSpPr>
        <p:spPr>
          <a:xfrm>
            <a:off x="5243563" y="4026263"/>
            <a:ext cx="1113900" cy="1752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cxnSp>
        <p:nvCxnSpPr>
          <p:cNvPr id="644" name="Google Shape;644;p57"/>
          <p:cNvCxnSpPr>
            <a:stCxn id="642" idx="3"/>
            <a:endCxn id="643" idx="2"/>
          </p:cNvCxnSpPr>
          <p:nvPr/>
        </p:nvCxnSpPr>
        <p:spPr>
          <a:xfrm rot="10800000" flipH="1">
            <a:off x="3338950" y="4201475"/>
            <a:ext cx="2461500" cy="307800"/>
          </a:xfrm>
          <a:prstGeom prst="bentConnector2">
            <a:avLst/>
          </a:prstGeom>
          <a:noFill/>
          <a:ln w="19050" cap="flat" cmpd="sng">
            <a:solidFill>
              <a:srgbClr val="FF0000"/>
            </a:solidFill>
            <a:prstDash val="solid"/>
            <a:round/>
            <a:headEnd type="none" w="med" len="med"/>
            <a:tailEnd type="non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58"/>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Wait Before Printing</a:t>
            </a:r>
            <a:endParaRPr/>
          </a:p>
        </p:txBody>
      </p:sp>
      <p:sp>
        <p:nvSpPr>
          <p:cNvPr id="650" name="Google Shape;650;p58"/>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As the old saying goes: there's more than one way to shave a goat! Or, in this case, to make a thread pause its own execution until something interesting happens. Let's practice using the wait method!</a:t>
            </a:r>
            <a:endParaRPr/>
          </a:p>
        </p:txBody>
      </p:sp>
      <p:sp>
        <p:nvSpPr>
          <p:cNvPr id="651" name="Google Shape;651;p5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27</a:t>
            </a:fld>
            <a:endParaRPr/>
          </a:p>
        </p:txBody>
      </p:sp>
      <p:sp>
        <p:nvSpPr>
          <p:cNvPr id="652" name="Google Shape;652;p58"/>
          <p:cNvSpPr txBox="1">
            <a:spLocks noGrp="1"/>
          </p:cNvSpPr>
          <p:nvPr>
            <p:ph type="body" idx="2"/>
          </p:nvPr>
        </p:nvSpPr>
        <p:spPr>
          <a:xfrm>
            <a:off x="3170700" y="1632125"/>
            <a:ext cx="5806800" cy="2847600"/>
          </a:xfrm>
          <a:prstGeom prst="rect">
            <a:avLst/>
          </a:prstGeom>
        </p:spPr>
        <p:txBody>
          <a:bodyPr spcFirstLastPara="1" wrap="square" lIns="91425" tIns="91425" rIns="91425" bIns="91425" anchor="t" anchorCtr="0">
            <a:spAutoFit/>
          </a:bodyPr>
          <a:lstStyle/>
          <a:p>
            <a:pPr marL="457200" lvl="0" indent="-317500" algn="l" rtl="0">
              <a:spcBef>
                <a:spcPts val="0"/>
              </a:spcBef>
              <a:spcAft>
                <a:spcPts val="0"/>
              </a:spcAft>
              <a:buSzPts val="1400"/>
              <a:buChar char="●"/>
            </a:pPr>
            <a:r>
              <a:rPr lang="en" sz="1400" dirty="0"/>
              <a:t>Create a new Java class named "</a:t>
            </a:r>
            <a:r>
              <a:rPr lang="en" sz="1400" dirty="0">
                <a:latin typeface="Courier New"/>
                <a:ea typeface="Courier New"/>
                <a:cs typeface="Courier New"/>
                <a:sym typeface="Courier New"/>
              </a:rPr>
              <a:t>Waiter</a:t>
            </a:r>
            <a:r>
              <a:rPr lang="en" sz="1400" dirty="0"/>
              <a:t>" in the </a:t>
            </a:r>
            <a:r>
              <a:rPr lang="en" sz="1400" dirty="0">
                <a:latin typeface="Courier New"/>
                <a:ea typeface="Courier New"/>
                <a:cs typeface="Courier New"/>
                <a:sym typeface="Courier New"/>
              </a:rPr>
              <a:t>activities</a:t>
            </a:r>
            <a:r>
              <a:rPr lang="en" sz="1400" dirty="0"/>
              <a:t> package and use your preferred method to make to run it as a task.</a:t>
            </a:r>
            <a:endParaRPr sz="1400" dirty="0"/>
          </a:p>
          <a:p>
            <a:pPr marL="914400" lvl="1" indent="-304800" algn="l" rtl="0">
              <a:spcBef>
                <a:spcPts val="0"/>
              </a:spcBef>
              <a:spcAft>
                <a:spcPts val="0"/>
              </a:spcAft>
              <a:buSzPts val="1200"/>
              <a:buChar char="○"/>
            </a:pPr>
            <a:r>
              <a:rPr lang="en" sz="1200" dirty="0"/>
              <a:t>You will need to add a field for a </a:t>
            </a:r>
            <a:r>
              <a:rPr lang="en" sz="1200" dirty="0">
                <a:latin typeface="Courier New"/>
                <a:ea typeface="Courier New"/>
                <a:cs typeface="Courier New"/>
                <a:sym typeface="Courier New"/>
              </a:rPr>
              <a:t>Lock</a:t>
            </a:r>
            <a:r>
              <a:rPr lang="en" sz="1200" dirty="0"/>
              <a:t>, a </a:t>
            </a:r>
            <a:r>
              <a:rPr lang="en" sz="1200" dirty="0">
                <a:latin typeface="Courier New"/>
                <a:ea typeface="Courier New"/>
                <a:cs typeface="Courier New"/>
                <a:sym typeface="Courier New"/>
              </a:rPr>
              <a:t>Condition</a:t>
            </a:r>
            <a:r>
              <a:rPr lang="en" sz="1200" dirty="0"/>
              <a:t>,  and an initializing constructor.</a:t>
            </a:r>
            <a:endParaRPr sz="1200" dirty="0"/>
          </a:p>
          <a:p>
            <a:pPr marL="914400" lvl="1" indent="-304800" algn="l" rtl="0">
              <a:spcBef>
                <a:spcPts val="0"/>
              </a:spcBef>
              <a:spcAft>
                <a:spcPts val="0"/>
              </a:spcAft>
              <a:buSzPts val="1200"/>
              <a:buChar char="○"/>
            </a:pPr>
            <a:r>
              <a:rPr lang="en" sz="1200" dirty="0"/>
              <a:t>The </a:t>
            </a:r>
            <a:r>
              <a:rPr lang="en" sz="1200" dirty="0">
                <a:latin typeface="Courier New"/>
                <a:ea typeface="Courier New"/>
                <a:cs typeface="Courier New"/>
                <a:sym typeface="Courier New"/>
              </a:rPr>
              <a:t>run()</a:t>
            </a:r>
            <a:r>
              <a:rPr lang="en" sz="1200" dirty="0"/>
              <a:t> method should acquire the </a:t>
            </a:r>
            <a:r>
              <a:rPr lang="en" sz="1200" dirty="0">
                <a:latin typeface="Courier New"/>
                <a:ea typeface="Courier New"/>
                <a:cs typeface="Courier New"/>
                <a:sym typeface="Courier New"/>
              </a:rPr>
              <a:t>lock</a:t>
            </a:r>
            <a:r>
              <a:rPr lang="en" sz="1200" dirty="0"/>
              <a:t>, use </a:t>
            </a:r>
            <a:r>
              <a:rPr lang="en" sz="1200" dirty="0">
                <a:latin typeface="Courier New"/>
                <a:ea typeface="Courier New"/>
                <a:cs typeface="Courier New"/>
                <a:sym typeface="Courier New"/>
              </a:rPr>
              <a:t>condition.awaitUninterruptibly()</a:t>
            </a:r>
            <a:r>
              <a:rPr lang="en" sz="1200" dirty="0"/>
              <a:t> and then print a message of your choice.</a:t>
            </a:r>
            <a:endParaRPr dirty="0"/>
          </a:p>
          <a:p>
            <a:pPr marL="457200" lvl="0" indent="-317500" algn="l" rtl="0">
              <a:spcBef>
                <a:spcPts val="0"/>
              </a:spcBef>
              <a:spcAft>
                <a:spcPts val="0"/>
              </a:spcAft>
              <a:buSzPts val="1400"/>
              <a:buChar char="●"/>
            </a:pPr>
            <a:r>
              <a:rPr lang="en" sz="1400" dirty="0"/>
              <a:t>Define a </a:t>
            </a:r>
            <a:r>
              <a:rPr lang="en" sz="1400" dirty="0">
                <a:latin typeface="Courier New"/>
                <a:ea typeface="Courier New"/>
                <a:cs typeface="Courier New"/>
                <a:sym typeface="Courier New"/>
              </a:rPr>
              <a:t>main</a:t>
            </a:r>
            <a:r>
              <a:rPr lang="en" sz="1400" dirty="0"/>
              <a:t> method with the appropriate signature.</a:t>
            </a:r>
            <a:endParaRPr sz="1400" dirty="0"/>
          </a:p>
          <a:p>
            <a:pPr marL="914400" lvl="1" indent="-304800" algn="l" rtl="0">
              <a:spcBef>
                <a:spcPts val="0"/>
              </a:spcBef>
              <a:spcAft>
                <a:spcPts val="0"/>
              </a:spcAft>
              <a:buSzPts val="1200"/>
              <a:buChar char="○"/>
            </a:pPr>
            <a:r>
              <a:rPr lang="en" sz="1200" dirty="0"/>
              <a:t>Make an </a:t>
            </a:r>
            <a:r>
              <a:rPr lang="en" sz="1200" dirty="0">
                <a:latin typeface="Courier New"/>
                <a:ea typeface="Courier New"/>
                <a:cs typeface="Courier New"/>
                <a:sym typeface="Courier New"/>
              </a:rPr>
              <a:t>Object</a:t>
            </a:r>
            <a:r>
              <a:rPr lang="en" sz="1200" dirty="0"/>
              <a:t> </a:t>
            </a:r>
            <a:r>
              <a:rPr lang="en" sz="1200" dirty="0">
                <a:latin typeface="Courier New"/>
                <a:ea typeface="Courier New"/>
                <a:cs typeface="Courier New"/>
                <a:sym typeface="Courier New"/>
              </a:rPr>
              <a:t>lock</a:t>
            </a:r>
            <a:r>
              <a:rPr lang="en" sz="1200" dirty="0"/>
              <a:t> and use it to create and start one of your threads.</a:t>
            </a:r>
            <a:endParaRPr sz="1200" dirty="0"/>
          </a:p>
          <a:p>
            <a:pPr marL="914400" lvl="1" indent="-304800" algn="l" rtl="0">
              <a:spcBef>
                <a:spcPts val="0"/>
              </a:spcBef>
              <a:spcAft>
                <a:spcPts val="0"/>
              </a:spcAft>
              <a:buSzPts val="1200"/>
              <a:buChar char="○"/>
            </a:pPr>
            <a:r>
              <a:rPr lang="en" sz="1200" dirty="0"/>
              <a:t>What happens?</a:t>
            </a:r>
            <a:endParaRPr sz="1200" dirty="0"/>
          </a:p>
        </p:txBody>
      </p:sp>
      <p:sp>
        <p:nvSpPr>
          <p:cNvPr id="653" name="Google Shape;653;p58"/>
          <p:cNvSpPr txBox="1">
            <a:spLocks noGrp="1"/>
          </p:cNvSpPr>
          <p:nvPr>
            <p:ph type="title" idx="3"/>
          </p:nvPr>
        </p:nvSpPr>
        <p:spPr>
          <a:xfrm>
            <a:off x="65250" y="100"/>
            <a:ext cx="1253700" cy="596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SzPts val="990"/>
              <a:buNone/>
            </a:pPr>
            <a:r>
              <a:rPr lang="en"/>
              <a:t>11.8</a:t>
            </a:r>
            <a:endParaRPr/>
          </a:p>
        </p:txBody>
      </p:sp>
      <p:pic>
        <p:nvPicPr>
          <p:cNvPr id="654" name="Google Shape;654;p58"/>
          <p:cNvPicPr preferRelativeResize="0"/>
          <p:nvPr/>
        </p:nvPicPr>
        <p:blipFill>
          <a:blip r:embed="rId3">
            <a:alphaModFix/>
          </a:blip>
          <a:stretch>
            <a:fillRect/>
          </a:stretch>
        </p:blipFill>
        <p:spPr>
          <a:xfrm>
            <a:off x="854063" y="1630950"/>
            <a:ext cx="1617374" cy="1989099"/>
          </a:xfrm>
          <a:prstGeom prst="rect">
            <a:avLst/>
          </a:prstGeom>
          <a:noFill/>
          <a:ln>
            <a:noFill/>
          </a:ln>
        </p:spPr>
      </p:pic>
      <p:sp>
        <p:nvSpPr>
          <p:cNvPr id="655" name="Google Shape;655;p58"/>
          <p:cNvSpPr txBox="1">
            <a:spLocks noGrp="1"/>
          </p:cNvSpPr>
          <p:nvPr>
            <p:ph type="body" idx="4"/>
          </p:nvPr>
        </p:nvSpPr>
        <p:spPr>
          <a:xfrm>
            <a:off x="154800" y="3738725"/>
            <a:ext cx="3015900" cy="1043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35714"/>
              </a:lnSpc>
              <a:spcBef>
                <a:spcPts val="0"/>
              </a:spcBef>
              <a:spcAft>
                <a:spcPts val="0"/>
              </a:spcAft>
              <a:buNone/>
            </a:pPr>
            <a:r>
              <a:rPr lang="en" sz="1100">
                <a:solidFill>
                  <a:srgbClr val="AF00DB"/>
                </a:solidFill>
                <a:highlight>
                  <a:srgbClr val="FFFFFF"/>
                </a:highlight>
                <a:latin typeface="Consolas"/>
                <a:ea typeface="Consolas"/>
                <a:cs typeface="Consolas"/>
                <a:sym typeface="Consolas"/>
              </a:rPr>
              <a:t>try</a:t>
            </a:r>
            <a:r>
              <a:rPr lang="en" sz="1100">
                <a:solidFill>
                  <a:srgbClr val="3B3B3B"/>
                </a:solidFill>
                <a:highlight>
                  <a:srgbClr val="FFFFFF"/>
                </a:highlight>
                <a:latin typeface="Consolas"/>
                <a:ea typeface="Consolas"/>
                <a:cs typeface="Consolas"/>
                <a:sym typeface="Consolas"/>
              </a:rPr>
              <a:t> {</a:t>
            </a:r>
            <a:endParaRPr sz="11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3B3B3B"/>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lock</a:t>
            </a:r>
            <a:r>
              <a:rPr lang="en" sz="1100">
                <a:solidFill>
                  <a:srgbClr val="3B3B3B"/>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lock</a:t>
            </a:r>
            <a:r>
              <a:rPr lang="en" sz="1100">
                <a:solidFill>
                  <a:srgbClr val="3B3B3B"/>
                </a:solidFill>
                <a:highlight>
                  <a:srgbClr val="FFFFFF"/>
                </a:highlight>
                <a:latin typeface="Consolas"/>
                <a:ea typeface="Consolas"/>
                <a:cs typeface="Consolas"/>
                <a:sym typeface="Consolas"/>
              </a:rPr>
              <a:t>();</a:t>
            </a:r>
            <a:endParaRPr sz="11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3B3B3B"/>
                </a:solidFill>
                <a:highlight>
                  <a:srgbClr val="FFFFFF"/>
                </a:highlight>
                <a:latin typeface="Consolas"/>
                <a:ea typeface="Consolas"/>
                <a:cs typeface="Consolas"/>
                <a:sym typeface="Consolas"/>
              </a:rPr>
              <a:t>   </a:t>
            </a:r>
            <a:r>
              <a:rPr lang="en" sz="1100">
                <a:solidFill>
                  <a:srgbClr val="001080"/>
                </a:solidFill>
                <a:highlight>
                  <a:srgbClr val="FFFFFF"/>
                </a:highlight>
                <a:latin typeface="Consolas"/>
                <a:ea typeface="Consolas"/>
                <a:cs typeface="Consolas"/>
                <a:sym typeface="Consolas"/>
              </a:rPr>
              <a:t>condition</a:t>
            </a:r>
            <a:r>
              <a:rPr lang="en" sz="1100">
                <a:solidFill>
                  <a:srgbClr val="3B3B3B"/>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awaitUninterruptibly</a:t>
            </a:r>
            <a:r>
              <a:rPr lang="en" sz="1100">
                <a:solidFill>
                  <a:srgbClr val="3B3B3B"/>
                </a:solidFill>
                <a:highlight>
                  <a:srgbClr val="FFFFFF"/>
                </a:highlight>
                <a:latin typeface="Consolas"/>
                <a:ea typeface="Consolas"/>
                <a:cs typeface="Consolas"/>
                <a:sym typeface="Consolas"/>
              </a:rPr>
              <a:t>();</a:t>
            </a:r>
            <a:endParaRPr sz="1100">
              <a:solidFill>
                <a:srgbClr val="3B3B3B"/>
              </a:solidFill>
              <a:highlight>
                <a:srgbClr val="FFFFFF"/>
              </a:highlight>
              <a:latin typeface="Consolas"/>
              <a:ea typeface="Consolas"/>
              <a:cs typeface="Consolas"/>
              <a:sym typeface="Consolas"/>
            </a:endParaRPr>
          </a:p>
          <a:p>
            <a:pPr marL="0" lvl="0" indent="0" algn="l" rtl="0">
              <a:lnSpc>
                <a:spcPct val="135714"/>
              </a:lnSpc>
              <a:spcBef>
                <a:spcPts val="0"/>
              </a:spcBef>
              <a:spcAft>
                <a:spcPts val="0"/>
              </a:spcAft>
              <a:buNone/>
            </a:pPr>
            <a:r>
              <a:rPr lang="en" sz="1100">
                <a:solidFill>
                  <a:srgbClr val="3B3B3B"/>
                </a:solidFill>
                <a:highlight>
                  <a:srgbClr val="FFFFFF"/>
                </a:highlight>
                <a:latin typeface="Consolas"/>
                <a:ea typeface="Consolas"/>
                <a:cs typeface="Consolas"/>
                <a:sym typeface="Consolas"/>
              </a:rPr>
              <a:t>} </a:t>
            </a:r>
            <a:r>
              <a:rPr lang="en" sz="1100">
                <a:solidFill>
                  <a:srgbClr val="AF00DB"/>
                </a:solidFill>
                <a:highlight>
                  <a:srgbClr val="FFFFFF"/>
                </a:highlight>
                <a:latin typeface="Consolas"/>
                <a:ea typeface="Consolas"/>
                <a:cs typeface="Consolas"/>
                <a:sym typeface="Consolas"/>
              </a:rPr>
              <a:t>finally</a:t>
            </a:r>
            <a:r>
              <a:rPr lang="en" sz="1100">
                <a:solidFill>
                  <a:srgbClr val="3B3B3B"/>
                </a:solidFill>
                <a:highlight>
                  <a:srgbClr val="FFFFFF"/>
                </a:highlight>
                <a:latin typeface="Consolas"/>
                <a:ea typeface="Consolas"/>
                <a:cs typeface="Consolas"/>
                <a:sym typeface="Consolas"/>
              </a:rPr>
              <a:t> { </a:t>
            </a:r>
            <a:r>
              <a:rPr lang="en" sz="1100">
                <a:solidFill>
                  <a:srgbClr val="001080"/>
                </a:solidFill>
                <a:highlight>
                  <a:srgbClr val="FFFFFF"/>
                </a:highlight>
                <a:latin typeface="Consolas"/>
                <a:ea typeface="Consolas"/>
                <a:cs typeface="Consolas"/>
                <a:sym typeface="Consolas"/>
              </a:rPr>
              <a:t>lock</a:t>
            </a:r>
            <a:r>
              <a:rPr lang="en" sz="1100">
                <a:solidFill>
                  <a:srgbClr val="3B3B3B"/>
                </a:solidFill>
                <a:highlight>
                  <a:srgbClr val="FFFFFF"/>
                </a:highlight>
                <a:latin typeface="Consolas"/>
                <a:ea typeface="Consolas"/>
                <a:cs typeface="Consolas"/>
                <a:sym typeface="Consolas"/>
              </a:rPr>
              <a:t>.</a:t>
            </a:r>
            <a:r>
              <a:rPr lang="en" sz="1100">
                <a:solidFill>
                  <a:srgbClr val="795E26"/>
                </a:solidFill>
                <a:highlight>
                  <a:srgbClr val="FFFFFF"/>
                </a:highlight>
                <a:latin typeface="Consolas"/>
                <a:ea typeface="Consolas"/>
                <a:cs typeface="Consolas"/>
                <a:sym typeface="Consolas"/>
              </a:rPr>
              <a:t>unlock</a:t>
            </a:r>
            <a:r>
              <a:rPr lang="en" sz="1100">
                <a:solidFill>
                  <a:srgbClr val="3B3B3B"/>
                </a:solidFill>
                <a:highlight>
                  <a:srgbClr val="FFFFFF"/>
                </a:highlight>
                <a:latin typeface="Consolas"/>
                <a:ea typeface="Consolas"/>
                <a:cs typeface="Consolas"/>
                <a:sym typeface="Consolas"/>
              </a:rPr>
              <a:t>(); }</a:t>
            </a:r>
            <a:endParaRPr sz="800">
              <a:solidFill>
                <a:srgbClr val="0000FF"/>
              </a:solidFill>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59"/>
          <p:cNvSpPr txBox="1">
            <a:spLocks noGrp="1"/>
          </p:cNvSpPr>
          <p:nvPr>
            <p:ph type="title"/>
          </p:nvPr>
        </p:nvSpPr>
        <p:spPr>
          <a:xfrm>
            <a:off x="3117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Signal</a:t>
            </a:r>
            <a:endParaRPr/>
          </a:p>
        </p:txBody>
      </p:sp>
      <p:sp>
        <p:nvSpPr>
          <p:cNvPr id="661" name="Google Shape;661;p59"/>
          <p:cNvSpPr txBox="1">
            <a:spLocks noGrp="1"/>
          </p:cNvSpPr>
          <p:nvPr>
            <p:ph type="body" idx="1"/>
          </p:nvPr>
        </p:nvSpPr>
        <p:spPr>
          <a:xfrm>
            <a:off x="4352275" y="150950"/>
            <a:ext cx="4499400" cy="49614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OK, great! Instead of using a wasteful busy/wait or polling on some interval our thread is </a:t>
            </a:r>
            <a:r>
              <a:rPr lang="en" b="1" i="1" dirty="0">
                <a:solidFill>
                  <a:srgbClr val="FF0000"/>
                </a:solidFill>
              </a:rPr>
              <a:t>waiting</a:t>
            </a:r>
            <a:r>
              <a:rPr lang="en" dirty="0"/>
              <a:t>.</a:t>
            </a:r>
            <a:endParaRPr dirty="0"/>
          </a:p>
          <a:p>
            <a:pPr marL="457200" lvl="0" indent="-311150" algn="l" rtl="0">
              <a:lnSpc>
                <a:spcPct val="100000"/>
              </a:lnSpc>
              <a:spcBef>
                <a:spcPts val="1000"/>
              </a:spcBef>
              <a:spcAft>
                <a:spcPts val="0"/>
              </a:spcAft>
              <a:buSzPts val="1300"/>
              <a:buChar char="●"/>
            </a:pPr>
            <a:r>
              <a:rPr lang="en" b="1" i="1" dirty="0">
                <a:solidFill>
                  <a:srgbClr val="FF0000"/>
                </a:solidFill>
              </a:rPr>
              <a:t>Now what?</a:t>
            </a:r>
            <a:endParaRPr b="1" i="1" dirty="0">
              <a:solidFill>
                <a:srgbClr val="FF0000"/>
              </a:solidFill>
            </a:endParaRPr>
          </a:p>
          <a:p>
            <a:pPr marL="457200" lvl="0" indent="-311150" algn="l" rtl="0">
              <a:lnSpc>
                <a:spcPct val="100000"/>
              </a:lnSpc>
              <a:spcBef>
                <a:spcPts val="1000"/>
              </a:spcBef>
              <a:spcAft>
                <a:spcPts val="0"/>
              </a:spcAft>
              <a:buSzPts val="1300"/>
              <a:buChar char="●"/>
            </a:pPr>
            <a:r>
              <a:rPr lang="en" dirty="0"/>
              <a:t>A thread that uses </a:t>
            </a:r>
            <a:r>
              <a:rPr lang="en" dirty="0">
                <a:latin typeface="Courier New"/>
                <a:ea typeface="Courier New"/>
                <a:cs typeface="Courier New"/>
                <a:sym typeface="Courier New"/>
              </a:rPr>
              <a:t>condition.awaitUninterruptibly()</a:t>
            </a:r>
            <a:r>
              <a:rPr lang="en" dirty="0"/>
              <a:t> suspends </a:t>
            </a:r>
            <a:r>
              <a:rPr lang="en" dirty="0">
                <a:highlight>
                  <a:srgbClr val="FFFF00"/>
                </a:highlight>
              </a:rPr>
              <a:t>its execution </a:t>
            </a:r>
            <a:r>
              <a:rPr lang="en" b="1" i="1" dirty="0">
                <a:solidFill>
                  <a:srgbClr val="FF0000"/>
                </a:solidFill>
                <a:highlight>
                  <a:srgbClr val="FFFF00"/>
                </a:highlight>
              </a:rPr>
              <a:t>indefinitely</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is because it cannot continue working until some important event occurs.</a:t>
            </a:r>
            <a:endParaRPr dirty="0"/>
          </a:p>
          <a:p>
            <a:pPr marL="457200" lvl="0" indent="-311150" algn="l" rtl="0">
              <a:lnSpc>
                <a:spcPct val="100000"/>
              </a:lnSpc>
              <a:spcBef>
                <a:spcPts val="1000"/>
              </a:spcBef>
              <a:spcAft>
                <a:spcPts val="0"/>
              </a:spcAft>
              <a:buSzPts val="1300"/>
              <a:buChar char="●"/>
            </a:pPr>
            <a:r>
              <a:rPr lang="en" dirty="0"/>
              <a:t>This means that some other thread must </a:t>
            </a:r>
            <a:r>
              <a:rPr lang="en" b="1" i="1" dirty="0">
                <a:solidFill>
                  <a:srgbClr val="FF0000"/>
                </a:solidFill>
              </a:rPr>
              <a:t>signal</a:t>
            </a:r>
            <a:r>
              <a:rPr lang="en" dirty="0"/>
              <a:t> it after the important event occurs.</a:t>
            </a:r>
            <a:endParaRPr dirty="0"/>
          </a:p>
          <a:p>
            <a:pPr marL="457200" lvl="0" indent="-311150" algn="l" rtl="0">
              <a:lnSpc>
                <a:spcPct val="100000"/>
              </a:lnSpc>
              <a:spcBef>
                <a:spcPts val="0"/>
              </a:spcBef>
              <a:spcAft>
                <a:spcPts val="0"/>
              </a:spcAft>
              <a:buSzPts val="1300"/>
              <a:buChar char="●"/>
            </a:pPr>
            <a:r>
              <a:rPr lang="en" dirty="0">
                <a:highlight>
                  <a:srgbClr val="FFFF00"/>
                </a:highlight>
              </a:rPr>
              <a:t>This is done by first locking on the </a:t>
            </a:r>
            <a:r>
              <a:rPr lang="en" dirty="0">
                <a:solidFill>
                  <a:srgbClr val="FF0000"/>
                </a:solidFill>
                <a:highlight>
                  <a:srgbClr val="FFFF00"/>
                </a:highlight>
              </a:rPr>
              <a:t>same </a:t>
            </a:r>
            <a:r>
              <a:rPr lang="en" dirty="0">
                <a:solidFill>
                  <a:srgbClr val="FF0000"/>
                </a:solidFill>
                <a:highlight>
                  <a:srgbClr val="FFFF00"/>
                </a:highlight>
                <a:latin typeface="Courier New"/>
                <a:ea typeface="Courier New"/>
                <a:cs typeface="Courier New"/>
                <a:sym typeface="Courier New"/>
              </a:rPr>
              <a:t>lock</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Remember, any waiting </a:t>
            </a:r>
            <a:r>
              <a:rPr lang="en" dirty="0">
                <a:latin typeface="Courier New"/>
                <a:ea typeface="Courier New"/>
                <a:cs typeface="Courier New"/>
                <a:sym typeface="Courier New"/>
              </a:rPr>
              <a:t>Condition</a:t>
            </a:r>
            <a:r>
              <a:rPr lang="en" dirty="0"/>
              <a:t> has </a:t>
            </a:r>
            <a:r>
              <a:rPr lang="en" b="1" i="1" dirty="0">
                <a:solidFill>
                  <a:srgbClr val="FF0000"/>
                </a:solidFill>
              </a:rPr>
              <a:t>surrendered </a:t>
            </a:r>
            <a:r>
              <a:rPr lang="en" dirty="0"/>
              <a:t>its mutually exclusive hold on the </a:t>
            </a:r>
            <a:r>
              <a:rPr lang="en" dirty="0">
                <a:latin typeface="Courier New"/>
                <a:ea typeface="Courier New"/>
                <a:cs typeface="Courier New"/>
                <a:sym typeface="Courier New"/>
              </a:rPr>
              <a:t>lock</a:t>
            </a:r>
            <a:r>
              <a:rPr lang="en" dirty="0"/>
              <a:t>.</a:t>
            </a:r>
            <a:endParaRPr dirty="0"/>
          </a:p>
          <a:p>
            <a:pPr marL="457200" lvl="0" indent="-311150" algn="l" rtl="0">
              <a:lnSpc>
                <a:spcPct val="100000"/>
              </a:lnSpc>
              <a:spcBef>
                <a:spcPts val="1000"/>
              </a:spcBef>
              <a:spcAft>
                <a:spcPts val="0"/>
              </a:spcAft>
              <a:buSzPts val="1300"/>
              <a:buChar char="●"/>
            </a:pPr>
            <a:r>
              <a:rPr lang="en" dirty="0"/>
              <a:t>The</a:t>
            </a:r>
            <a:r>
              <a:rPr lang="en" dirty="0">
                <a:solidFill>
                  <a:srgbClr val="FF0000"/>
                </a:solidFill>
              </a:rPr>
              <a:t> </a:t>
            </a:r>
            <a:r>
              <a:rPr lang="en" dirty="0">
                <a:solidFill>
                  <a:srgbClr val="FF0000"/>
                </a:solidFill>
                <a:highlight>
                  <a:srgbClr val="FFFF00"/>
                </a:highlight>
                <a:latin typeface="Courier New"/>
                <a:ea typeface="Courier New"/>
                <a:cs typeface="Courier New"/>
                <a:sym typeface="Courier New"/>
              </a:rPr>
              <a:t>condition.signal()</a:t>
            </a:r>
            <a:r>
              <a:rPr lang="en" dirty="0">
                <a:highlight>
                  <a:srgbClr val="FFFF00"/>
                </a:highlight>
              </a:rPr>
              <a:t> </a:t>
            </a:r>
            <a:r>
              <a:rPr lang="en" dirty="0"/>
              <a:t>method can then be used to </a:t>
            </a:r>
            <a:r>
              <a:rPr lang="en" dirty="0">
                <a:highlight>
                  <a:srgbClr val="FFFF00"/>
                </a:highlight>
              </a:rPr>
              <a:t>notify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thread that is waiting on the same </a:t>
            </a:r>
            <a:r>
              <a:rPr lang="en" dirty="0">
                <a:highlight>
                  <a:srgbClr val="FFFF00"/>
                </a:highlight>
                <a:latin typeface="Courier New"/>
                <a:ea typeface="Courier New"/>
                <a:cs typeface="Courier New"/>
                <a:sym typeface="Courier New"/>
              </a:rPr>
              <a:t>condition</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The thread scheduler will choose</a:t>
            </a:r>
            <a:r>
              <a:rPr lang="en" dirty="0">
                <a:solidFill>
                  <a:srgbClr val="FF0000"/>
                </a:solidFill>
                <a:highlight>
                  <a:srgbClr val="FFFF00"/>
                </a:highlight>
              </a:rPr>
              <a:t> </a:t>
            </a:r>
            <a:r>
              <a:rPr lang="en" b="1" i="1" dirty="0">
                <a:solidFill>
                  <a:srgbClr val="FF0000"/>
                </a:solidFill>
                <a:highlight>
                  <a:srgbClr val="FFFF00"/>
                </a:highlight>
              </a:rPr>
              <a:t>exactly one</a:t>
            </a:r>
            <a:r>
              <a:rPr lang="en" dirty="0">
                <a:highlight>
                  <a:srgbClr val="FFFF00"/>
                </a:highlight>
              </a:rPr>
              <a:t> waiting thread and move it into the </a:t>
            </a:r>
            <a:r>
              <a:rPr lang="en" b="1" i="1" dirty="0">
                <a:solidFill>
                  <a:srgbClr val="FF0000"/>
                </a:solidFill>
                <a:highlight>
                  <a:srgbClr val="FFFF00"/>
                </a:highlight>
              </a:rPr>
              <a:t>blocked</a:t>
            </a:r>
            <a:r>
              <a:rPr lang="en" dirty="0">
                <a:solidFill>
                  <a:srgbClr val="FF0000"/>
                </a:solidFill>
                <a:highlight>
                  <a:srgbClr val="FFFF00"/>
                </a:highlight>
              </a:rPr>
              <a:t> </a:t>
            </a:r>
            <a:r>
              <a:rPr lang="en" dirty="0">
                <a:highlight>
                  <a:srgbClr val="FFFF00"/>
                </a:highlight>
              </a:rPr>
              <a:t>state.</a:t>
            </a:r>
            <a:endParaRPr dirty="0">
              <a:highlight>
                <a:srgbClr val="FFFF00"/>
              </a:highlight>
            </a:endParaRPr>
          </a:p>
          <a:p>
            <a:pPr marL="914400" lvl="1" indent="-298450" algn="l" rtl="0">
              <a:lnSpc>
                <a:spcPct val="100000"/>
              </a:lnSpc>
              <a:spcBef>
                <a:spcPts val="0"/>
              </a:spcBef>
              <a:spcAft>
                <a:spcPts val="0"/>
              </a:spcAft>
              <a:buSzPts val="1100"/>
              <a:buChar char="○"/>
            </a:pPr>
            <a:r>
              <a:rPr lang="en" dirty="0"/>
              <a:t>Calling </a:t>
            </a:r>
            <a:r>
              <a:rPr lang="en" dirty="0">
                <a:latin typeface="Courier New"/>
                <a:ea typeface="Courier New"/>
                <a:cs typeface="Courier New"/>
                <a:sym typeface="Courier New"/>
              </a:rPr>
              <a:t>condition.signal()</a:t>
            </a:r>
            <a:r>
              <a:rPr lang="en" dirty="0"/>
              <a:t> has </a:t>
            </a:r>
            <a:r>
              <a:rPr lang="en" b="1" i="1" dirty="0">
                <a:solidFill>
                  <a:srgbClr val="FF0000"/>
                </a:solidFill>
                <a:highlight>
                  <a:srgbClr val="FFFF00"/>
                </a:highlight>
              </a:rPr>
              <a:t>no effect</a:t>
            </a:r>
            <a:r>
              <a:rPr lang="en" dirty="0">
                <a:highlight>
                  <a:srgbClr val="FFFF00"/>
                </a:highlight>
              </a:rPr>
              <a:t> </a:t>
            </a:r>
            <a:r>
              <a:rPr lang="en" dirty="0"/>
              <a:t>if there aren't any threads waiting on the lock.</a:t>
            </a:r>
            <a:endParaRPr dirty="0"/>
          </a:p>
          <a:p>
            <a:pPr marL="914400" lvl="1" indent="-298450" algn="l" rtl="0">
              <a:lnSpc>
                <a:spcPct val="100000"/>
              </a:lnSpc>
              <a:spcBef>
                <a:spcPts val="0"/>
              </a:spcBef>
              <a:spcAft>
                <a:spcPts val="0"/>
              </a:spcAft>
              <a:buSzPts val="1100"/>
              <a:buChar char="○"/>
            </a:pPr>
            <a:r>
              <a:rPr lang="en" dirty="0"/>
              <a:t>Calling </a:t>
            </a:r>
            <a:r>
              <a:rPr lang="en" dirty="0">
                <a:latin typeface="Courier New"/>
                <a:ea typeface="Courier New"/>
                <a:cs typeface="Courier New"/>
                <a:sym typeface="Courier New"/>
              </a:rPr>
              <a:t>c</a:t>
            </a:r>
            <a:r>
              <a:rPr lang="en" dirty="0">
                <a:highlight>
                  <a:srgbClr val="FFFF00"/>
                </a:highlight>
                <a:latin typeface="Courier New"/>
                <a:ea typeface="Courier New"/>
                <a:cs typeface="Courier New"/>
                <a:sym typeface="Courier New"/>
              </a:rPr>
              <a:t>ondition.signal()</a:t>
            </a:r>
            <a:r>
              <a:rPr lang="en" dirty="0">
                <a:highlight>
                  <a:srgbClr val="FFFF00"/>
                </a:highlight>
              </a:rPr>
              <a:t> </a:t>
            </a:r>
            <a:r>
              <a:rPr lang="en" dirty="0"/>
              <a:t>also </a:t>
            </a:r>
            <a:r>
              <a:rPr lang="en" b="1" i="1" dirty="0">
                <a:solidFill>
                  <a:srgbClr val="FF0000"/>
                </a:solidFill>
                <a:highlight>
                  <a:srgbClr val="FFFF00"/>
                </a:highlight>
              </a:rPr>
              <a:t>does not</a:t>
            </a:r>
            <a:r>
              <a:rPr lang="en" dirty="0">
                <a:highlight>
                  <a:srgbClr val="FFFF00"/>
                </a:highlight>
              </a:rPr>
              <a:t> </a:t>
            </a:r>
            <a:r>
              <a:rPr lang="en" dirty="0"/>
              <a:t>surrender the lock! The calling thread must </a:t>
            </a:r>
            <a:r>
              <a:rPr lang="en" b="1" i="1" dirty="0">
                <a:solidFill>
                  <a:srgbClr val="FF0000"/>
                </a:solidFill>
              </a:rPr>
              <a:t>voluntarily </a:t>
            </a:r>
            <a:r>
              <a:rPr lang="en" dirty="0"/>
              <a:t>give up the lock by unlocking or waiting.</a:t>
            </a:r>
            <a:endParaRPr dirty="0"/>
          </a:p>
        </p:txBody>
      </p:sp>
      <p:sp>
        <p:nvSpPr>
          <p:cNvPr id="662" name="Google Shape;662;p5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28</a:t>
            </a:fld>
            <a:endParaRPr/>
          </a:p>
        </p:txBody>
      </p:sp>
      <p:sp>
        <p:nvSpPr>
          <p:cNvPr id="663" name="Google Shape;663;p59"/>
          <p:cNvSpPr txBox="1">
            <a:spLocks noGrp="1"/>
          </p:cNvSpPr>
          <p:nvPr>
            <p:ph type="body" idx="2"/>
          </p:nvPr>
        </p:nvSpPr>
        <p:spPr>
          <a:xfrm>
            <a:off x="315425" y="1743375"/>
            <a:ext cx="3706500" cy="11484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250" dirty="0">
                <a:solidFill>
                  <a:schemeClr val="accent5"/>
                </a:solidFill>
                <a:highlight>
                  <a:srgbClr val="FFFFFF"/>
                </a:highlight>
                <a:latin typeface="Consolas"/>
                <a:ea typeface="Consolas"/>
                <a:cs typeface="Consolas"/>
                <a:sym typeface="Consolas"/>
              </a:rPr>
              <a:t>1</a:t>
            </a:r>
            <a:r>
              <a:rPr lang="en" sz="1250" dirty="0">
                <a:solidFill>
                  <a:srgbClr val="AF00DB"/>
                </a:solidFill>
                <a:highlight>
                  <a:srgbClr val="FFFFFF"/>
                </a:highlight>
                <a:latin typeface="Consolas"/>
                <a:ea typeface="Consolas"/>
                <a:cs typeface="Consolas"/>
                <a:sym typeface="Consolas"/>
              </a:rPr>
              <a:t>  try</a:t>
            </a:r>
            <a:r>
              <a:rPr lang="en" sz="1250" dirty="0">
                <a:solidFill>
                  <a:srgbClr val="3B3B3B"/>
                </a:solidFill>
                <a:highlight>
                  <a:srgbClr val="FFFFFF"/>
                </a:highlight>
                <a:latin typeface="Consolas"/>
                <a:ea typeface="Consolas"/>
                <a:cs typeface="Consolas"/>
                <a:sym typeface="Consolas"/>
              </a:rPr>
              <a:t> {</a:t>
            </a:r>
            <a:endParaRPr sz="12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50" dirty="0">
                <a:solidFill>
                  <a:schemeClr val="accent5"/>
                </a:solidFill>
                <a:highlight>
                  <a:srgbClr val="FFFFFF"/>
                </a:highlight>
                <a:latin typeface="Consolas"/>
                <a:ea typeface="Consolas"/>
                <a:cs typeface="Consolas"/>
                <a:sym typeface="Consolas"/>
              </a:rPr>
              <a:t>2</a:t>
            </a:r>
            <a:r>
              <a:rPr lang="en" sz="1250" dirty="0">
                <a:solidFill>
                  <a:srgbClr val="001080"/>
                </a:solidFill>
                <a:highlight>
                  <a:srgbClr val="FFFFFF"/>
                </a:highlight>
                <a:latin typeface="Consolas"/>
                <a:ea typeface="Consolas"/>
                <a:cs typeface="Consolas"/>
                <a:sym typeface="Consolas"/>
              </a:rPr>
              <a:t>     lock</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lock</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50" dirty="0">
                <a:solidFill>
                  <a:schemeClr val="accent5"/>
                </a:solidFill>
                <a:highlight>
                  <a:srgbClr val="FFFFFF"/>
                </a:highlight>
                <a:latin typeface="Consolas"/>
                <a:ea typeface="Consolas"/>
                <a:cs typeface="Consolas"/>
                <a:sym typeface="Consolas"/>
              </a:rPr>
              <a:t>3</a:t>
            </a:r>
            <a:r>
              <a:rPr lang="en" sz="1250" dirty="0">
                <a:solidFill>
                  <a:srgbClr val="001080"/>
                </a:solidFill>
                <a:highlight>
                  <a:srgbClr val="FFFFFF"/>
                </a:highlight>
                <a:latin typeface="Consolas"/>
                <a:ea typeface="Consolas"/>
                <a:cs typeface="Consolas"/>
                <a:sym typeface="Consolas"/>
              </a:rPr>
              <a:t>     condition</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signal</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50" dirty="0">
                <a:solidFill>
                  <a:srgbClr val="267F99"/>
                </a:solidFill>
                <a:highlight>
                  <a:srgbClr val="FFFFFF"/>
                </a:highlight>
                <a:latin typeface="Consolas"/>
                <a:ea typeface="Consolas"/>
                <a:cs typeface="Consolas"/>
                <a:sym typeface="Consolas"/>
              </a:rPr>
              <a:t>4     System</a:t>
            </a:r>
            <a:r>
              <a:rPr lang="en" sz="1250" dirty="0">
                <a:solidFill>
                  <a:srgbClr val="3B3B3B"/>
                </a:solidFill>
                <a:highlight>
                  <a:srgbClr val="FFFFFF"/>
                </a:highlight>
                <a:latin typeface="Consolas"/>
                <a:ea typeface="Consolas"/>
                <a:cs typeface="Consolas"/>
                <a:sym typeface="Consolas"/>
              </a:rPr>
              <a:t>.</a:t>
            </a:r>
            <a:r>
              <a:rPr lang="en" sz="1250" dirty="0">
                <a:solidFill>
                  <a:srgbClr val="0070C1"/>
                </a:solidFill>
                <a:highlight>
                  <a:srgbClr val="FFFFFF"/>
                </a:highlight>
                <a:latin typeface="Consolas"/>
                <a:ea typeface="Consolas"/>
                <a:cs typeface="Consolas"/>
                <a:sym typeface="Consolas"/>
              </a:rPr>
              <a:t>out</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println</a:t>
            </a:r>
            <a:r>
              <a:rPr lang="en" sz="1250" dirty="0">
                <a:solidFill>
                  <a:srgbClr val="3B3B3B"/>
                </a:solidFill>
                <a:highlight>
                  <a:srgbClr val="FFFFFF"/>
                </a:highlight>
                <a:latin typeface="Consolas"/>
                <a:ea typeface="Consolas"/>
                <a:cs typeface="Consolas"/>
                <a:sym typeface="Consolas"/>
              </a:rPr>
              <a:t>(</a:t>
            </a:r>
            <a:r>
              <a:rPr lang="en" sz="1250" dirty="0">
                <a:solidFill>
                  <a:srgbClr val="A31515"/>
                </a:solidFill>
                <a:highlight>
                  <a:srgbClr val="FFFFFF"/>
                </a:highlight>
                <a:latin typeface="Consolas"/>
                <a:ea typeface="Consolas"/>
                <a:cs typeface="Consolas"/>
                <a:sym typeface="Consolas"/>
              </a:rPr>
              <a:t>"Notified!"</a:t>
            </a:r>
            <a:r>
              <a:rPr lang="en" sz="1250" dirty="0">
                <a:solidFill>
                  <a:srgbClr val="3B3B3B"/>
                </a:solidFill>
                <a:highlight>
                  <a:srgbClr val="FFFFFF"/>
                </a:highlight>
                <a:latin typeface="Consolas"/>
                <a:ea typeface="Consolas"/>
                <a:cs typeface="Consolas"/>
                <a:sym typeface="Consolas"/>
              </a:rPr>
              <a:t>);</a:t>
            </a:r>
            <a:endParaRPr sz="1250" dirty="0">
              <a:solidFill>
                <a:srgbClr val="3B3B3B"/>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n" sz="1250" dirty="0">
                <a:solidFill>
                  <a:schemeClr val="accent5"/>
                </a:solidFill>
                <a:highlight>
                  <a:srgbClr val="FFFFFF"/>
                </a:highlight>
                <a:latin typeface="Consolas"/>
                <a:ea typeface="Consolas"/>
                <a:cs typeface="Consolas"/>
                <a:sym typeface="Consolas"/>
              </a:rPr>
              <a:t>5</a:t>
            </a:r>
            <a:r>
              <a:rPr lang="en" sz="1250" dirty="0">
                <a:solidFill>
                  <a:srgbClr val="3B3B3B"/>
                </a:solidFill>
                <a:highlight>
                  <a:srgbClr val="FFFFFF"/>
                </a:highlight>
                <a:latin typeface="Consolas"/>
                <a:ea typeface="Consolas"/>
                <a:cs typeface="Consolas"/>
                <a:sym typeface="Consolas"/>
              </a:rPr>
              <a:t>  } </a:t>
            </a:r>
            <a:r>
              <a:rPr lang="en" sz="1250" dirty="0">
                <a:solidFill>
                  <a:srgbClr val="AF00DB"/>
                </a:solidFill>
                <a:highlight>
                  <a:srgbClr val="FFFFFF"/>
                </a:highlight>
                <a:latin typeface="Consolas"/>
                <a:ea typeface="Consolas"/>
                <a:cs typeface="Consolas"/>
                <a:sym typeface="Consolas"/>
              </a:rPr>
              <a:t>finally</a:t>
            </a:r>
            <a:r>
              <a:rPr lang="en" sz="1250" dirty="0">
                <a:solidFill>
                  <a:srgbClr val="3B3B3B"/>
                </a:solidFill>
                <a:highlight>
                  <a:srgbClr val="FFFFFF"/>
                </a:highlight>
                <a:latin typeface="Consolas"/>
                <a:ea typeface="Consolas"/>
                <a:cs typeface="Consolas"/>
                <a:sym typeface="Consolas"/>
              </a:rPr>
              <a:t> { </a:t>
            </a:r>
            <a:r>
              <a:rPr lang="en" sz="1250" dirty="0">
                <a:solidFill>
                  <a:srgbClr val="001080"/>
                </a:solidFill>
                <a:highlight>
                  <a:srgbClr val="FFFFFF"/>
                </a:highlight>
                <a:latin typeface="Consolas"/>
                <a:ea typeface="Consolas"/>
                <a:cs typeface="Consolas"/>
                <a:sym typeface="Consolas"/>
              </a:rPr>
              <a:t>lock</a:t>
            </a:r>
            <a:r>
              <a:rPr lang="en" sz="1250" dirty="0">
                <a:solidFill>
                  <a:srgbClr val="3B3B3B"/>
                </a:solidFill>
                <a:highlight>
                  <a:srgbClr val="FFFFFF"/>
                </a:highlight>
                <a:latin typeface="Consolas"/>
                <a:ea typeface="Consolas"/>
                <a:cs typeface="Consolas"/>
                <a:sym typeface="Consolas"/>
              </a:rPr>
              <a:t>.</a:t>
            </a:r>
            <a:r>
              <a:rPr lang="en" sz="1250" dirty="0">
                <a:solidFill>
                  <a:srgbClr val="795E26"/>
                </a:solidFill>
                <a:highlight>
                  <a:srgbClr val="FFFFFF"/>
                </a:highlight>
                <a:latin typeface="Consolas"/>
                <a:ea typeface="Consolas"/>
                <a:cs typeface="Consolas"/>
                <a:sym typeface="Consolas"/>
              </a:rPr>
              <a:t>unlock</a:t>
            </a:r>
            <a:r>
              <a:rPr lang="en" sz="1250" dirty="0">
                <a:solidFill>
                  <a:srgbClr val="3B3B3B"/>
                </a:solidFill>
                <a:highlight>
                  <a:srgbClr val="FFFFFF"/>
                </a:highlight>
                <a:latin typeface="Consolas"/>
                <a:ea typeface="Consolas"/>
                <a:cs typeface="Consolas"/>
                <a:sym typeface="Consolas"/>
              </a:rPr>
              <a:t>(); }</a:t>
            </a:r>
            <a:endParaRPr sz="1400" dirty="0">
              <a:solidFill>
                <a:srgbClr val="098658"/>
              </a:solidFill>
              <a:latin typeface="Consolas"/>
              <a:ea typeface="Consolas"/>
              <a:cs typeface="Consolas"/>
              <a:sym typeface="Consolas"/>
            </a:endParaRPr>
          </a:p>
        </p:txBody>
      </p:sp>
      <p:sp>
        <p:nvSpPr>
          <p:cNvPr id="664" name="Google Shape;664;p59"/>
          <p:cNvSpPr txBox="1">
            <a:spLocks noGrp="1"/>
          </p:cNvSpPr>
          <p:nvPr>
            <p:ph type="body" idx="3"/>
          </p:nvPr>
        </p:nvSpPr>
        <p:spPr>
          <a:xfrm>
            <a:off x="311725" y="3853225"/>
            <a:ext cx="3706500" cy="9234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highlight>
                  <a:srgbClr val="FFFF00"/>
                </a:highlight>
              </a:rPr>
              <a:t>Calling </a:t>
            </a:r>
            <a:r>
              <a:rPr lang="en" dirty="0">
                <a:highlight>
                  <a:srgbClr val="FFFF00"/>
                </a:highlight>
                <a:latin typeface="Courier New"/>
                <a:ea typeface="Courier New"/>
                <a:cs typeface="Courier New"/>
                <a:sym typeface="Courier New"/>
              </a:rPr>
              <a:t>condition.signal()</a:t>
            </a:r>
            <a:r>
              <a:rPr lang="en" dirty="0">
                <a:highlight>
                  <a:srgbClr val="FFFF00"/>
                </a:highlight>
              </a:rPr>
              <a:t> </a:t>
            </a:r>
            <a:r>
              <a:rPr lang="en" b="1" i="1" dirty="0">
                <a:solidFill>
                  <a:srgbClr val="FF0000"/>
                </a:solidFill>
                <a:highlight>
                  <a:srgbClr val="FFFF00"/>
                </a:highlight>
              </a:rPr>
              <a:t>does not</a:t>
            </a:r>
            <a:r>
              <a:rPr lang="en" dirty="0">
                <a:highlight>
                  <a:srgbClr val="FFFF00"/>
                </a:highlight>
              </a:rPr>
              <a:t> surrender the lock, and so a thread that has been notified will </a:t>
            </a:r>
            <a:r>
              <a:rPr lang="en" b="1" i="1" dirty="0">
                <a:solidFill>
                  <a:srgbClr val="FF0000"/>
                </a:solidFill>
                <a:highlight>
                  <a:srgbClr val="FFFF00"/>
                </a:highlight>
              </a:rPr>
              <a:t>continue to be blocked</a:t>
            </a:r>
            <a:r>
              <a:rPr lang="en" dirty="0">
                <a:highlight>
                  <a:srgbClr val="FFFF00"/>
                </a:highlight>
              </a:rPr>
              <a:t> until the calling thread gives up the lock.</a:t>
            </a:r>
            <a:endParaRPr dirty="0">
              <a:highlight>
                <a:srgbClr val="FFFF00"/>
              </a:highlight>
            </a:endParaRPr>
          </a:p>
        </p:txBody>
      </p:sp>
      <p:sp>
        <p:nvSpPr>
          <p:cNvPr id="665" name="Google Shape;665;p59"/>
          <p:cNvSpPr/>
          <p:nvPr/>
        </p:nvSpPr>
        <p:spPr>
          <a:xfrm flipH="1">
            <a:off x="1887999" y="1585825"/>
            <a:ext cx="407826" cy="528374"/>
          </a:xfrm>
          <a:custGeom>
            <a:avLst/>
            <a:gdLst/>
            <a:ahLst/>
            <a:cxnLst/>
            <a:rect l="l" t="t" r="r" b="b"/>
            <a:pathLst>
              <a:path w="9978" h="14322" extrusionOk="0">
                <a:moveTo>
                  <a:pt x="9978" y="0"/>
                </a:moveTo>
                <a:cubicBezTo>
                  <a:pt x="8326" y="918"/>
                  <a:pt x="568" y="3122"/>
                  <a:pt x="63" y="5509"/>
                </a:cubicBezTo>
                <a:cubicBezTo>
                  <a:pt x="-442" y="7896"/>
                  <a:pt x="5801" y="12853"/>
                  <a:pt x="6948" y="14322"/>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66" name="Google Shape;666;p59"/>
          <p:cNvSpPr txBox="1">
            <a:spLocks noGrp="1"/>
          </p:cNvSpPr>
          <p:nvPr>
            <p:ph type="body" idx="3"/>
          </p:nvPr>
        </p:nvSpPr>
        <p:spPr>
          <a:xfrm>
            <a:off x="311725" y="8745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highlight>
                  <a:srgbClr val="FFFF00"/>
                </a:highlight>
              </a:rPr>
              <a:t>Before a thread can </a:t>
            </a:r>
            <a:r>
              <a:rPr lang="en" b="1" i="1" dirty="0">
                <a:solidFill>
                  <a:srgbClr val="FF0000"/>
                </a:solidFill>
                <a:highlight>
                  <a:srgbClr val="FFFF00"/>
                </a:highlight>
              </a:rPr>
              <a:t>signal</a:t>
            </a:r>
            <a:r>
              <a:rPr lang="en" dirty="0">
                <a:highlight>
                  <a:srgbClr val="FFFF00"/>
                </a:highlight>
              </a:rPr>
              <a:t>, it must obtain a </a:t>
            </a:r>
            <a:r>
              <a:rPr lang="en" b="1" i="1" dirty="0">
                <a:solidFill>
                  <a:srgbClr val="FF0000"/>
                </a:solidFill>
                <a:highlight>
                  <a:srgbClr val="FFFF00"/>
                </a:highlight>
              </a:rPr>
              <a:t>mutually exclusive lock</a:t>
            </a:r>
            <a:r>
              <a:rPr lang="en" dirty="0">
                <a:solidFill>
                  <a:srgbClr val="FF0000"/>
                </a:solidFill>
                <a:highlight>
                  <a:srgbClr val="FFFF00"/>
                </a:highlight>
              </a:rPr>
              <a:t> </a:t>
            </a:r>
            <a:r>
              <a:rPr lang="en" dirty="0">
                <a:highlight>
                  <a:srgbClr val="FFFF00"/>
                </a:highlight>
              </a:rPr>
              <a:t>on some </a:t>
            </a:r>
            <a:r>
              <a:rPr lang="en" b="1" i="1" dirty="0">
                <a:solidFill>
                  <a:srgbClr val="FF0000"/>
                </a:solidFill>
                <a:highlight>
                  <a:srgbClr val="FFFF00"/>
                </a:highlight>
              </a:rPr>
              <a:t>conditions lock</a:t>
            </a:r>
            <a:r>
              <a:rPr lang="en" dirty="0">
                <a:highlight>
                  <a:srgbClr val="FFFF00"/>
                </a:highlight>
              </a:rPr>
              <a:t>. The lock is usually a </a:t>
            </a:r>
            <a:r>
              <a:rPr lang="en" b="1" i="1" dirty="0">
                <a:solidFill>
                  <a:srgbClr val="FF0000"/>
                </a:solidFill>
                <a:highlight>
                  <a:srgbClr val="FFFF00"/>
                </a:highlight>
              </a:rPr>
              <a:t>shared resource</a:t>
            </a:r>
            <a:r>
              <a:rPr lang="en" dirty="0">
                <a:highlight>
                  <a:srgbClr val="FFFF00"/>
                </a:highlight>
              </a:rPr>
              <a:t>.</a:t>
            </a:r>
            <a:endParaRPr dirty="0">
              <a:highlight>
                <a:srgbClr val="FFFF00"/>
              </a:highlight>
            </a:endParaRPr>
          </a:p>
        </p:txBody>
      </p:sp>
      <p:sp>
        <p:nvSpPr>
          <p:cNvPr id="667" name="Google Shape;667;p59"/>
          <p:cNvSpPr/>
          <p:nvPr/>
        </p:nvSpPr>
        <p:spPr>
          <a:xfrm>
            <a:off x="250735" y="2339164"/>
            <a:ext cx="662650" cy="752126"/>
          </a:xfrm>
          <a:custGeom>
            <a:avLst/>
            <a:gdLst/>
            <a:ahLst/>
            <a:cxnLst/>
            <a:rect l="l" t="t" r="r" b="b"/>
            <a:pathLst>
              <a:path w="26506" h="36631" extrusionOk="0">
                <a:moveTo>
                  <a:pt x="12735" y="36631"/>
                </a:moveTo>
                <a:cubicBezTo>
                  <a:pt x="10669" y="31673"/>
                  <a:pt x="-1954" y="12990"/>
                  <a:pt x="341" y="6885"/>
                </a:cubicBezTo>
                <a:cubicBezTo>
                  <a:pt x="2636" y="780"/>
                  <a:pt x="22145" y="1148"/>
                  <a:pt x="26506" y="0"/>
                </a:cubicBezTo>
              </a:path>
            </a:pathLst>
          </a:custGeom>
          <a:noFill/>
          <a:ln w="19050" cap="flat" cmpd="sng">
            <a:solidFill>
              <a:srgbClr val="FF0000"/>
            </a:solidFill>
            <a:prstDash val="solid"/>
            <a:round/>
            <a:headEnd type="none" w="med" len="med"/>
            <a:tailEnd type="triangle" w="med" len="med"/>
          </a:ln>
        </p:spPr>
        <p:txBody>
          <a:bodyPr/>
          <a:lstStyle/>
          <a:p>
            <a:endParaRPr lang="en-US"/>
          </a:p>
        </p:txBody>
      </p:sp>
      <p:sp>
        <p:nvSpPr>
          <p:cNvPr id="668" name="Google Shape;668;p59"/>
          <p:cNvSpPr txBox="1">
            <a:spLocks noGrp="1"/>
          </p:cNvSpPr>
          <p:nvPr>
            <p:ph type="body" idx="3"/>
          </p:nvPr>
        </p:nvSpPr>
        <p:spPr>
          <a:xfrm>
            <a:off x="311725" y="30081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dirty="0"/>
              <a:t>When the </a:t>
            </a:r>
            <a:r>
              <a:rPr lang="en" dirty="0">
                <a:solidFill>
                  <a:srgbClr val="FF0000"/>
                </a:solidFill>
                <a:highlight>
                  <a:srgbClr val="FFFF00"/>
                </a:highlight>
                <a:latin typeface="Courier New"/>
                <a:ea typeface="Courier New"/>
                <a:cs typeface="Courier New"/>
                <a:sym typeface="Courier New"/>
              </a:rPr>
              <a:t>condition.signal()</a:t>
            </a:r>
            <a:r>
              <a:rPr lang="en" dirty="0">
                <a:highlight>
                  <a:srgbClr val="FFFF00"/>
                </a:highlight>
              </a:rPr>
              <a:t> </a:t>
            </a:r>
            <a:r>
              <a:rPr lang="en" dirty="0"/>
              <a:t>method is then called, the </a:t>
            </a:r>
            <a:r>
              <a:rPr lang="en" b="1" i="1" dirty="0">
                <a:solidFill>
                  <a:srgbClr val="FF0000"/>
                </a:solidFill>
              </a:rPr>
              <a:t>thread scheduler</a:t>
            </a:r>
            <a:r>
              <a:rPr lang="en" dirty="0"/>
              <a:t> will choose </a:t>
            </a:r>
            <a:r>
              <a:rPr lang="en" b="1" i="1" dirty="0">
                <a:solidFill>
                  <a:srgbClr val="FF0000"/>
                </a:solidFill>
                <a:highlight>
                  <a:srgbClr val="FFFF00"/>
                </a:highlight>
              </a:rPr>
              <a:t>one</a:t>
            </a:r>
            <a:r>
              <a:rPr lang="en" dirty="0">
                <a:solidFill>
                  <a:srgbClr val="FF0000"/>
                </a:solidFill>
                <a:highlight>
                  <a:srgbClr val="FFFF00"/>
                </a:highlight>
              </a:rPr>
              <a:t> </a:t>
            </a:r>
            <a:r>
              <a:rPr lang="en" dirty="0">
                <a:highlight>
                  <a:srgbClr val="FFFF00"/>
                </a:highlight>
              </a:rPr>
              <a:t>waiting thread and move it into the blocked state.</a:t>
            </a:r>
            <a:endParaRPr dirty="0">
              <a:highlight>
                <a:srgbClr val="FFFF00"/>
              </a:high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6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6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6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6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6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6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6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6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6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66"/>
                                        </p:tgtEl>
                                        <p:attrNameLst>
                                          <p:attrName>style.visibility</p:attrName>
                                        </p:attrNameLst>
                                      </p:cBhvr>
                                      <p:to>
                                        <p:strVal val="visible"/>
                                      </p:to>
                                    </p:set>
                                    <p:animEffect transition="in" filter="fade">
                                      <p:cBhvr>
                                        <p:cTn id="51" dur="1000"/>
                                        <p:tgtEl>
                                          <p:spTgt spid="666"/>
                                        </p:tgtEl>
                                      </p:cBhvr>
                                    </p:animEffect>
                                  </p:childTnLst>
                                </p:cTn>
                              </p:par>
                            </p:childTnLst>
                          </p:cTn>
                        </p:par>
                        <p:par>
                          <p:cTn id="52" fill="hold">
                            <p:stCondLst>
                              <p:cond delay="1000"/>
                            </p:stCondLst>
                            <p:childTnLst>
                              <p:par>
                                <p:cTn id="53" presetID="10" presetClass="entr" presetSubtype="0" fill="hold" nodeType="afterEffect">
                                  <p:stCondLst>
                                    <p:cond delay="0"/>
                                  </p:stCondLst>
                                  <p:childTnLst>
                                    <p:set>
                                      <p:cBhvr>
                                        <p:cTn id="54" dur="1" fill="hold">
                                          <p:stCondLst>
                                            <p:cond delay="0"/>
                                          </p:stCondLst>
                                        </p:cTn>
                                        <p:tgtEl>
                                          <p:spTgt spid="665"/>
                                        </p:tgtEl>
                                        <p:attrNameLst>
                                          <p:attrName>style.visibility</p:attrName>
                                        </p:attrNameLst>
                                      </p:cBhvr>
                                      <p:to>
                                        <p:strVal val="visible"/>
                                      </p:to>
                                    </p:set>
                                    <p:animEffect transition="in" filter="fade">
                                      <p:cBhvr>
                                        <p:cTn id="55" dur="1000"/>
                                        <p:tgtEl>
                                          <p:spTgt spid="665"/>
                                        </p:tgtEl>
                                      </p:cBhvr>
                                    </p:animEffect>
                                  </p:childTnLst>
                                </p:cTn>
                              </p:par>
                              <p:par>
                                <p:cTn id="56" presetID="10" presetClass="entr" presetSubtype="0" fill="hold" nodeType="withEffect">
                                  <p:stCondLst>
                                    <p:cond delay="0"/>
                                  </p:stCondLst>
                                  <p:childTnLst>
                                    <p:set>
                                      <p:cBhvr>
                                        <p:cTn id="57" dur="1" fill="hold">
                                          <p:stCondLst>
                                            <p:cond delay="0"/>
                                          </p:stCondLst>
                                        </p:cTn>
                                        <p:tgtEl>
                                          <p:spTgt spid="663"/>
                                        </p:tgtEl>
                                        <p:attrNameLst>
                                          <p:attrName>style.visibility</p:attrName>
                                        </p:attrNameLst>
                                      </p:cBhvr>
                                      <p:to>
                                        <p:strVal val="visible"/>
                                      </p:to>
                                    </p:set>
                                    <p:animEffect transition="in" filter="fade">
                                      <p:cBhvr>
                                        <p:cTn id="58" dur="1000"/>
                                        <p:tgtEl>
                                          <p:spTgt spid="66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68"/>
                                        </p:tgtEl>
                                        <p:attrNameLst>
                                          <p:attrName>style.visibility</p:attrName>
                                        </p:attrNameLst>
                                      </p:cBhvr>
                                      <p:to>
                                        <p:strVal val="visible"/>
                                      </p:to>
                                    </p:set>
                                    <p:animEffect transition="in" filter="fade">
                                      <p:cBhvr>
                                        <p:cTn id="63" dur="1000"/>
                                        <p:tgtEl>
                                          <p:spTgt spid="668"/>
                                        </p:tgtEl>
                                      </p:cBhvr>
                                    </p:animEffect>
                                  </p:childTnLst>
                                </p:cTn>
                              </p:par>
                            </p:childTnLst>
                          </p:cTn>
                        </p:par>
                        <p:par>
                          <p:cTn id="64" fill="hold">
                            <p:stCondLst>
                              <p:cond delay="1000"/>
                            </p:stCondLst>
                            <p:childTnLst>
                              <p:par>
                                <p:cTn id="65" presetID="10" presetClass="entr" presetSubtype="0" fill="hold" nodeType="afterEffect">
                                  <p:stCondLst>
                                    <p:cond delay="0"/>
                                  </p:stCondLst>
                                  <p:childTnLst>
                                    <p:set>
                                      <p:cBhvr>
                                        <p:cTn id="66" dur="1" fill="hold">
                                          <p:stCondLst>
                                            <p:cond delay="0"/>
                                          </p:stCondLst>
                                        </p:cTn>
                                        <p:tgtEl>
                                          <p:spTgt spid="667"/>
                                        </p:tgtEl>
                                        <p:attrNameLst>
                                          <p:attrName>style.visibility</p:attrName>
                                        </p:attrNameLst>
                                      </p:cBhvr>
                                      <p:to>
                                        <p:strVal val="visible"/>
                                      </p:to>
                                    </p:set>
                                    <p:animEffect transition="in" filter="fade">
                                      <p:cBhvr>
                                        <p:cTn id="67" dur="1000"/>
                                        <p:tgtEl>
                                          <p:spTgt spid="66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64"/>
                                        </p:tgtEl>
                                        <p:attrNameLst>
                                          <p:attrName>style.visibility</p:attrName>
                                        </p:attrNameLst>
                                      </p:cBhvr>
                                      <p:to>
                                        <p:strVal val="visible"/>
                                      </p:to>
                                    </p:set>
                                    <p:animEffect transition="in" filter="fade">
                                      <p:cBhvr>
                                        <p:cTn id="72" dur="1000"/>
                                        <p:tgtEl>
                                          <p:spTgt spid="6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6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Signaling a Thread</a:t>
            </a:r>
            <a:endParaRPr/>
          </a:p>
        </p:txBody>
      </p:sp>
      <p:sp>
        <p:nvSpPr>
          <p:cNvPr id="674" name="Google Shape;674;p6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thread that awaits will wait forever unless some other thread </a:t>
            </a:r>
            <a:r>
              <a:rPr lang="en" b="1" i="1"/>
              <a:t>signals</a:t>
            </a:r>
            <a:r>
              <a:rPr lang="en"/>
              <a:t> it using the same condition. Let's update the class so that the main thread uses </a:t>
            </a:r>
            <a:r>
              <a:rPr lang="en">
                <a:latin typeface="Courier New"/>
                <a:ea typeface="Courier New"/>
                <a:cs typeface="Courier New"/>
                <a:sym typeface="Courier New"/>
              </a:rPr>
              <a:t>condition.signal()</a:t>
            </a:r>
            <a:r>
              <a:rPr lang="en"/>
              <a:t> to wake up the </a:t>
            </a:r>
            <a:r>
              <a:rPr lang="en">
                <a:latin typeface="Courier New"/>
                <a:ea typeface="Courier New"/>
                <a:cs typeface="Courier New"/>
                <a:sym typeface="Courier New"/>
              </a:rPr>
              <a:t>Waiter</a:t>
            </a:r>
            <a:r>
              <a:rPr lang="en"/>
              <a:t> thread.</a:t>
            </a:r>
            <a:endParaRPr/>
          </a:p>
        </p:txBody>
      </p:sp>
      <p:sp>
        <p:nvSpPr>
          <p:cNvPr id="675" name="Google Shape;675;p6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29</a:t>
            </a:fld>
            <a:endParaRPr/>
          </a:p>
        </p:txBody>
      </p:sp>
      <p:sp>
        <p:nvSpPr>
          <p:cNvPr id="676" name="Google Shape;676;p60"/>
          <p:cNvSpPr txBox="1">
            <a:spLocks noGrp="1"/>
          </p:cNvSpPr>
          <p:nvPr>
            <p:ph type="body" idx="2"/>
          </p:nvPr>
        </p:nvSpPr>
        <p:spPr>
          <a:xfrm>
            <a:off x="3797125" y="1784525"/>
            <a:ext cx="5144100" cy="30507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Open the </a:t>
            </a:r>
            <a:r>
              <a:rPr lang="en" sz="1800" dirty="0">
                <a:latin typeface="Courier New"/>
                <a:ea typeface="Courier New"/>
                <a:cs typeface="Courier New"/>
                <a:sym typeface="Courier New"/>
              </a:rPr>
              <a:t>Waiter</a:t>
            </a:r>
            <a:r>
              <a:rPr lang="en" sz="1800" dirty="0"/>
              <a:t> class and navigate to the </a:t>
            </a:r>
            <a:r>
              <a:rPr lang="en" sz="1800" dirty="0">
                <a:latin typeface="Courier New"/>
                <a:ea typeface="Courier New"/>
                <a:cs typeface="Courier New"/>
                <a:sym typeface="Courier New"/>
              </a:rPr>
              <a:t>main</a:t>
            </a:r>
            <a:r>
              <a:rPr lang="en" sz="1800" dirty="0"/>
              <a:t> method.</a:t>
            </a:r>
            <a:endParaRPr sz="1800" dirty="0"/>
          </a:p>
          <a:p>
            <a:pPr marL="914400" lvl="1" indent="-330200" algn="l" rtl="0">
              <a:spcBef>
                <a:spcPts val="0"/>
              </a:spcBef>
              <a:spcAft>
                <a:spcPts val="0"/>
              </a:spcAft>
              <a:buSzPts val="1600"/>
              <a:buChar char="○"/>
            </a:pPr>
            <a:r>
              <a:rPr lang="en" sz="1600" dirty="0"/>
              <a:t>After the thread has been started, synchronize on the same </a:t>
            </a:r>
            <a:r>
              <a:rPr lang="en" sz="1600" dirty="0">
                <a:latin typeface="Courier New"/>
                <a:ea typeface="Courier New"/>
                <a:cs typeface="Courier New"/>
                <a:sym typeface="Courier New"/>
              </a:rPr>
              <a:t>lock</a:t>
            </a:r>
            <a:r>
              <a:rPr lang="en" sz="1600" dirty="0"/>
              <a:t> and use </a:t>
            </a:r>
            <a:r>
              <a:rPr lang="en" sz="1600" dirty="0">
                <a:latin typeface="Courier New"/>
                <a:ea typeface="Courier New"/>
                <a:cs typeface="Courier New"/>
                <a:sym typeface="Courier New"/>
              </a:rPr>
              <a:t>condition.signal()</a:t>
            </a:r>
            <a:r>
              <a:rPr lang="en" sz="1600" dirty="0"/>
              <a:t> to signal the waiting thread.</a:t>
            </a:r>
            <a:endParaRPr sz="1600" dirty="0"/>
          </a:p>
          <a:p>
            <a:pPr marL="914400" lvl="1" indent="-330200" algn="l" rtl="0">
              <a:spcBef>
                <a:spcPts val="0"/>
              </a:spcBef>
              <a:spcAft>
                <a:spcPts val="0"/>
              </a:spcAft>
              <a:buSzPts val="1600"/>
              <a:buChar char="○"/>
            </a:pPr>
            <a:r>
              <a:rPr lang="en" sz="1600" dirty="0"/>
              <a:t>Run the class a few times.</a:t>
            </a:r>
            <a:endParaRPr sz="1600" dirty="0"/>
          </a:p>
          <a:p>
            <a:pPr marL="914400" lvl="1" indent="-330200" algn="l" rtl="0">
              <a:spcBef>
                <a:spcPts val="0"/>
              </a:spcBef>
              <a:spcAft>
                <a:spcPts val="0"/>
              </a:spcAft>
              <a:buSzPts val="1600"/>
              <a:buChar char="○"/>
            </a:pPr>
            <a:r>
              <a:rPr lang="en" sz="1600" dirty="0"/>
              <a:t>What happens?</a:t>
            </a:r>
            <a:endParaRPr sz="1600" dirty="0"/>
          </a:p>
          <a:p>
            <a:pPr marL="914400" lvl="1" indent="-330200" algn="l" rtl="0">
              <a:spcBef>
                <a:spcPts val="0"/>
              </a:spcBef>
              <a:spcAft>
                <a:spcPts val="0"/>
              </a:spcAft>
              <a:buSzPts val="1600"/>
              <a:buChar char="○"/>
            </a:pPr>
            <a:r>
              <a:rPr lang="en" sz="1600" dirty="0"/>
              <a:t>Why?</a:t>
            </a:r>
            <a:endParaRPr sz="1600" dirty="0"/>
          </a:p>
          <a:p>
            <a:pPr marL="914400" lvl="1" indent="-330200" algn="l" rtl="0">
              <a:spcBef>
                <a:spcPts val="0"/>
              </a:spcBef>
              <a:spcAft>
                <a:spcPts val="0"/>
              </a:spcAft>
              <a:buSzPts val="1600"/>
              <a:buChar char="○"/>
            </a:pPr>
            <a:r>
              <a:rPr lang="en" sz="1600" dirty="0"/>
              <a:t>Can you fix it?</a:t>
            </a:r>
            <a:endParaRPr sz="1600" dirty="0"/>
          </a:p>
        </p:txBody>
      </p:sp>
      <p:sp>
        <p:nvSpPr>
          <p:cNvPr id="677" name="Google Shape;677;p6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SzPts val="990"/>
              <a:buNone/>
            </a:pPr>
            <a:r>
              <a:rPr lang="en"/>
              <a:t>11.9</a:t>
            </a:r>
            <a:endParaRPr/>
          </a:p>
        </p:txBody>
      </p:sp>
      <p:pic>
        <p:nvPicPr>
          <p:cNvPr id="678" name="Google Shape;678;p60"/>
          <p:cNvPicPr preferRelativeResize="0"/>
          <p:nvPr/>
        </p:nvPicPr>
        <p:blipFill>
          <a:blip r:embed="rId3">
            <a:alphaModFix/>
          </a:blip>
          <a:stretch>
            <a:fillRect/>
          </a:stretch>
        </p:blipFill>
        <p:spPr>
          <a:xfrm>
            <a:off x="555475" y="1804362"/>
            <a:ext cx="1622905" cy="1995899"/>
          </a:xfrm>
          <a:prstGeom prst="rect">
            <a:avLst/>
          </a:prstGeom>
          <a:noFill/>
          <a:ln>
            <a:noFill/>
          </a:ln>
        </p:spPr>
      </p:pic>
      <p:sp>
        <p:nvSpPr>
          <p:cNvPr id="679" name="Google Shape;679;p60"/>
          <p:cNvSpPr/>
          <p:nvPr/>
        </p:nvSpPr>
        <p:spPr>
          <a:xfrm>
            <a:off x="2143275" y="1804363"/>
            <a:ext cx="1190400" cy="864600"/>
          </a:xfrm>
          <a:prstGeom prst="wedgeRoundRectCallout">
            <a:avLst>
              <a:gd name="adj1" fmla="val -51593"/>
              <a:gd name="adj2" fmla="val 59635"/>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rgbClr val="FF0000"/>
                </a:solidFill>
              </a:rPr>
              <a:t>WAKE UP!</a:t>
            </a:r>
            <a:endParaRPr sz="2200" b="1">
              <a:solidFill>
                <a:srgbClr val="FF0000"/>
              </a:solidFill>
            </a:endParaRPr>
          </a:p>
        </p:txBody>
      </p:sp>
      <p:sp>
        <p:nvSpPr>
          <p:cNvPr id="680" name="Google Shape;680;p60"/>
          <p:cNvSpPr txBox="1">
            <a:spLocks noGrp="1"/>
          </p:cNvSpPr>
          <p:nvPr>
            <p:ph type="body" idx="4"/>
          </p:nvPr>
        </p:nvSpPr>
        <p:spPr>
          <a:xfrm>
            <a:off x="330725" y="3875500"/>
            <a:ext cx="3227700" cy="11082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a:solidFill>
                  <a:srgbClr val="AF00DB"/>
                </a:solidFill>
                <a:latin typeface="Consolas"/>
                <a:ea typeface="Consolas"/>
                <a:cs typeface="Consolas"/>
                <a:sym typeface="Consolas"/>
              </a:rPr>
              <a:t>try </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00000"/>
              </a:lnSpc>
              <a:spcBef>
                <a:spcPts val="0"/>
              </a:spcBef>
              <a:spcAft>
                <a:spcPts val="0"/>
              </a:spcAft>
              <a:buNone/>
            </a:pPr>
            <a:r>
              <a:rPr lang="en">
                <a:latin typeface="Consolas"/>
                <a:ea typeface="Consolas"/>
                <a:cs typeface="Consolas"/>
                <a:sym typeface="Consolas"/>
              </a:rPr>
              <a:t>    </a:t>
            </a:r>
            <a:r>
              <a:rPr lang="en">
                <a:solidFill>
                  <a:srgbClr val="001080"/>
                </a:solidFill>
                <a:latin typeface="Consolas"/>
                <a:ea typeface="Consolas"/>
                <a:cs typeface="Consolas"/>
                <a:sym typeface="Consolas"/>
              </a:rPr>
              <a:t>lock</a:t>
            </a:r>
            <a:r>
              <a:rPr lang="en">
                <a:latin typeface="Consolas"/>
                <a:ea typeface="Consolas"/>
                <a:cs typeface="Consolas"/>
                <a:sym typeface="Consolas"/>
              </a:rPr>
              <a:t>.</a:t>
            </a:r>
            <a:r>
              <a:rPr lang="en">
                <a:solidFill>
                  <a:srgbClr val="795E26"/>
                </a:solidFill>
                <a:latin typeface="Consolas"/>
                <a:ea typeface="Consolas"/>
                <a:cs typeface="Consolas"/>
                <a:sym typeface="Consolas"/>
              </a:rPr>
              <a:t>lock</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1080"/>
                </a:solidFill>
                <a:latin typeface="Consolas"/>
                <a:ea typeface="Consolas"/>
                <a:cs typeface="Consolas"/>
                <a:sym typeface="Consolas"/>
              </a:rPr>
              <a:t>    condition</a:t>
            </a:r>
            <a:r>
              <a:rPr lang="en">
                <a:latin typeface="Consolas"/>
                <a:ea typeface="Consolas"/>
                <a:cs typeface="Consolas"/>
                <a:sym typeface="Consolas"/>
              </a:rPr>
              <a:t>.</a:t>
            </a:r>
            <a:r>
              <a:rPr lang="en">
                <a:solidFill>
                  <a:srgbClr val="795E26"/>
                </a:solidFill>
                <a:latin typeface="Consolas"/>
                <a:ea typeface="Consolas"/>
                <a:cs typeface="Consolas"/>
                <a:sym typeface="Consolas"/>
              </a:rPr>
              <a:t>signal</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267F99"/>
                </a:solidFill>
                <a:latin typeface="Consolas"/>
                <a:ea typeface="Consolas"/>
                <a:cs typeface="Consolas"/>
                <a:sym typeface="Consolas"/>
              </a:rPr>
              <a:t>    System</a:t>
            </a:r>
            <a:r>
              <a:rPr lang="en">
                <a:latin typeface="Consolas"/>
                <a:ea typeface="Consolas"/>
                <a:cs typeface="Consolas"/>
                <a:sym typeface="Consolas"/>
              </a:rPr>
              <a:t>.</a:t>
            </a:r>
            <a:r>
              <a:rPr lang="en">
                <a:solidFill>
                  <a:srgbClr val="0070C1"/>
                </a:solidFill>
                <a:latin typeface="Consolas"/>
                <a:ea typeface="Consolas"/>
                <a:cs typeface="Consolas"/>
                <a:sym typeface="Consolas"/>
              </a:rPr>
              <a:t>out</a:t>
            </a:r>
            <a:r>
              <a:rPr lang="en">
                <a:latin typeface="Consolas"/>
                <a:ea typeface="Consolas"/>
                <a:cs typeface="Consolas"/>
                <a:sym typeface="Consolas"/>
              </a:rPr>
              <a:t>.</a:t>
            </a:r>
            <a:r>
              <a:rPr lang="en">
                <a:solidFill>
                  <a:srgbClr val="795E26"/>
                </a:solidFill>
                <a:latin typeface="Consolas"/>
                <a:ea typeface="Consolas"/>
                <a:cs typeface="Consolas"/>
                <a:sym typeface="Consolas"/>
              </a:rPr>
              <a:t>println</a:t>
            </a:r>
            <a:r>
              <a:rPr lang="en">
                <a:latin typeface="Consolas"/>
                <a:ea typeface="Consolas"/>
                <a:cs typeface="Consolas"/>
                <a:sym typeface="Consolas"/>
              </a:rPr>
              <a:t>(</a:t>
            </a:r>
            <a:r>
              <a:rPr lang="en">
                <a:solidFill>
                  <a:srgbClr val="A31515"/>
                </a:solidFill>
                <a:latin typeface="Consolas"/>
                <a:ea typeface="Consolas"/>
                <a:cs typeface="Consolas"/>
                <a:sym typeface="Consolas"/>
              </a:rPr>
              <a:t>"Notified!"</a:t>
            </a:r>
            <a:r>
              <a:rPr lang="en">
                <a:latin typeface="Consolas"/>
                <a:ea typeface="Consolas"/>
                <a:cs typeface="Consolas"/>
                <a:sym typeface="Consolas"/>
              </a:rPr>
              <a:t>);</a:t>
            </a:r>
            <a:endParaRPr>
              <a:latin typeface="Consolas"/>
              <a:ea typeface="Consolas"/>
              <a:cs typeface="Consolas"/>
              <a:sym typeface="Consolas"/>
            </a:endParaRPr>
          </a:p>
          <a:p>
            <a:pPr marL="0" lvl="0" indent="0" algn="l" rtl="0">
              <a:lnSpc>
                <a:spcPct val="100000"/>
              </a:lnSpc>
              <a:spcBef>
                <a:spcPts val="0"/>
              </a:spcBef>
              <a:spcAft>
                <a:spcPts val="0"/>
              </a:spcAft>
              <a:buNone/>
            </a:pPr>
            <a:r>
              <a:rPr lang="en">
                <a:latin typeface="Consolas"/>
                <a:ea typeface="Consolas"/>
                <a:cs typeface="Consolas"/>
                <a:sym typeface="Consolas"/>
              </a:rPr>
              <a:t>} </a:t>
            </a:r>
            <a:r>
              <a:rPr lang="en">
                <a:solidFill>
                  <a:srgbClr val="AF00DB"/>
                </a:solidFill>
                <a:latin typeface="Consolas"/>
                <a:ea typeface="Consolas"/>
                <a:cs typeface="Consolas"/>
                <a:sym typeface="Consolas"/>
              </a:rPr>
              <a:t>finally </a:t>
            </a:r>
            <a:r>
              <a:rPr lang="en">
                <a:latin typeface="Consolas"/>
                <a:ea typeface="Consolas"/>
                <a:cs typeface="Consolas"/>
                <a:sym typeface="Consolas"/>
              </a:rPr>
              <a:t>{ </a:t>
            </a:r>
            <a:r>
              <a:rPr lang="en">
                <a:solidFill>
                  <a:srgbClr val="001080"/>
                </a:solidFill>
                <a:latin typeface="Consolas"/>
                <a:ea typeface="Consolas"/>
                <a:cs typeface="Consolas"/>
                <a:sym typeface="Consolas"/>
              </a:rPr>
              <a:t>lock</a:t>
            </a:r>
            <a:r>
              <a:rPr lang="en">
                <a:latin typeface="Consolas"/>
                <a:ea typeface="Consolas"/>
                <a:cs typeface="Consolas"/>
                <a:sym typeface="Consolas"/>
              </a:rPr>
              <a:t>.</a:t>
            </a:r>
            <a:r>
              <a:rPr lang="en">
                <a:solidFill>
                  <a:srgbClr val="795E26"/>
                </a:solidFill>
                <a:latin typeface="Consolas"/>
                <a:ea typeface="Consolas"/>
                <a:cs typeface="Consolas"/>
                <a:sym typeface="Consolas"/>
              </a:rPr>
              <a:t>unlock</a:t>
            </a:r>
            <a:r>
              <a:rPr lang="en">
                <a:latin typeface="Consolas"/>
                <a:ea typeface="Consolas"/>
                <a:cs typeface="Consolas"/>
                <a:sym typeface="Consolas"/>
              </a:rPr>
              <a:t>(); }</a:t>
            </a:r>
            <a:endParaRPr>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6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Lots of Waiters</a:t>
            </a:r>
            <a:endParaRPr/>
          </a:p>
        </p:txBody>
      </p:sp>
      <p:sp>
        <p:nvSpPr>
          <p:cNvPr id="686" name="Google Shape;686;p61"/>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Calling </a:t>
            </a:r>
            <a:r>
              <a:rPr lang="en">
                <a:latin typeface="Courier New"/>
                <a:ea typeface="Courier New"/>
                <a:cs typeface="Courier New"/>
                <a:sym typeface="Courier New"/>
              </a:rPr>
              <a:t>lock.notify()</a:t>
            </a:r>
            <a:r>
              <a:rPr lang="en"/>
              <a:t> from the main thread will notify one Waiter thread that is waiting on the same lock. What happens if we have more than one thread waiting on the same lock?</a:t>
            </a:r>
            <a:endParaRPr/>
          </a:p>
        </p:txBody>
      </p:sp>
      <p:sp>
        <p:nvSpPr>
          <p:cNvPr id="687" name="Google Shape;687;p6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30</a:t>
            </a:fld>
            <a:endParaRPr/>
          </a:p>
        </p:txBody>
      </p:sp>
      <p:sp>
        <p:nvSpPr>
          <p:cNvPr id="688" name="Google Shape;688;p61"/>
          <p:cNvSpPr txBox="1">
            <a:spLocks noGrp="1"/>
          </p:cNvSpPr>
          <p:nvPr>
            <p:ph type="body" idx="2"/>
          </p:nvPr>
        </p:nvSpPr>
        <p:spPr>
          <a:xfrm>
            <a:off x="2594450" y="1530950"/>
            <a:ext cx="6134400" cy="2125800"/>
          </a:xfrm>
          <a:prstGeom prst="rect">
            <a:avLst/>
          </a:prstGeom>
        </p:spPr>
        <p:txBody>
          <a:bodyPr spcFirstLastPara="1" wrap="square" lIns="91425" tIns="91425" rIns="91425" bIns="91425" anchor="t" anchorCtr="0">
            <a:spAutoFit/>
          </a:bodyPr>
          <a:lstStyle/>
          <a:p>
            <a:pPr marL="457200" lvl="0" indent="-355600" algn="l" rtl="0">
              <a:spcBef>
                <a:spcPts val="0"/>
              </a:spcBef>
              <a:spcAft>
                <a:spcPts val="0"/>
              </a:spcAft>
              <a:buSzPts val="2000"/>
              <a:buChar char="●"/>
            </a:pPr>
            <a:r>
              <a:rPr lang="en" sz="2000"/>
              <a:t>Open the </a:t>
            </a:r>
            <a:r>
              <a:rPr lang="en" sz="2000">
                <a:latin typeface="Courier New"/>
                <a:ea typeface="Courier New"/>
                <a:cs typeface="Courier New"/>
                <a:sym typeface="Courier New"/>
              </a:rPr>
              <a:t>Waiter</a:t>
            </a:r>
            <a:r>
              <a:rPr lang="en" sz="2000"/>
              <a:t> class and navigate to the </a:t>
            </a:r>
            <a:r>
              <a:rPr lang="en" sz="2000">
                <a:latin typeface="Courier New"/>
                <a:ea typeface="Courier New"/>
                <a:cs typeface="Courier New"/>
                <a:sym typeface="Courier New"/>
              </a:rPr>
              <a:t>main</a:t>
            </a:r>
            <a:r>
              <a:rPr lang="en" sz="2000"/>
              <a:t> method.</a:t>
            </a:r>
            <a:endParaRPr sz="2000"/>
          </a:p>
          <a:p>
            <a:pPr marL="914400" lvl="1" indent="-342900" algn="l" rtl="0">
              <a:spcBef>
                <a:spcPts val="0"/>
              </a:spcBef>
              <a:spcAft>
                <a:spcPts val="0"/>
              </a:spcAft>
              <a:buSzPts val="1800"/>
              <a:buChar char="○"/>
            </a:pPr>
            <a:r>
              <a:rPr lang="en" sz="1800"/>
              <a:t>Use a loop to create and start 10 </a:t>
            </a:r>
            <a:r>
              <a:rPr lang="en" sz="1800">
                <a:latin typeface="Courier New"/>
                <a:ea typeface="Courier New"/>
                <a:cs typeface="Courier New"/>
                <a:sym typeface="Courier New"/>
              </a:rPr>
              <a:t>Waiter</a:t>
            </a:r>
            <a:r>
              <a:rPr lang="en" sz="1800"/>
              <a:t> threads, all sharing the same </a:t>
            </a:r>
            <a:r>
              <a:rPr lang="en" sz="1800">
                <a:latin typeface="Courier New"/>
                <a:ea typeface="Courier New"/>
                <a:cs typeface="Courier New"/>
                <a:sym typeface="Courier New"/>
              </a:rPr>
              <a:t>lock</a:t>
            </a:r>
            <a:r>
              <a:rPr lang="en" sz="1800"/>
              <a:t>.</a:t>
            </a:r>
            <a:endParaRPr sz="1800"/>
          </a:p>
          <a:p>
            <a:pPr marL="914400" lvl="1" indent="-342900" algn="l" rtl="0">
              <a:spcBef>
                <a:spcPts val="0"/>
              </a:spcBef>
              <a:spcAft>
                <a:spcPts val="0"/>
              </a:spcAft>
              <a:buSzPts val="1800"/>
              <a:buChar char="○"/>
            </a:pPr>
            <a:r>
              <a:rPr lang="en" sz="1800"/>
              <a:t>Run the class.</a:t>
            </a:r>
            <a:endParaRPr sz="1800"/>
          </a:p>
          <a:p>
            <a:pPr marL="914400" lvl="1" indent="-342900" algn="l" rtl="0">
              <a:spcBef>
                <a:spcPts val="0"/>
              </a:spcBef>
              <a:spcAft>
                <a:spcPts val="0"/>
              </a:spcAft>
              <a:buSzPts val="1800"/>
              <a:buChar char="○"/>
            </a:pPr>
            <a:r>
              <a:rPr lang="en" sz="1800"/>
              <a:t>What happens?</a:t>
            </a:r>
            <a:endParaRPr sz="1800"/>
          </a:p>
        </p:txBody>
      </p:sp>
      <p:sp>
        <p:nvSpPr>
          <p:cNvPr id="689" name="Google Shape;689;p6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SzPts val="990"/>
              <a:buNone/>
            </a:pPr>
            <a:r>
              <a:rPr lang="en"/>
              <a:t>11.10</a:t>
            </a:r>
            <a:endParaRPr/>
          </a:p>
        </p:txBody>
      </p:sp>
      <p:pic>
        <p:nvPicPr>
          <p:cNvPr id="690" name="Google Shape;690;p61"/>
          <p:cNvPicPr preferRelativeResize="0"/>
          <p:nvPr/>
        </p:nvPicPr>
        <p:blipFill>
          <a:blip r:embed="rId3">
            <a:alphaModFix/>
          </a:blip>
          <a:stretch>
            <a:fillRect/>
          </a:stretch>
        </p:blipFill>
        <p:spPr>
          <a:xfrm>
            <a:off x="228600" y="2230375"/>
            <a:ext cx="2150175" cy="2644361"/>
          </a:xfrm>
          <a:prstGeom prst="rect">
            <a:avLst/>
          </a:prstGeom>
          <a:noFill/>
          <a:ln>
            <a:noFill/>
          </a:ln>
        </p:spPr>
      </p:pic>
      <p:sp>
        <p:nvSpPr>
          <p:cNvPr id="691" name="Google Shape;691;p61"/>
          <p:cNvSpPr/>
          <p:nvPr/>
        </p:nvSpPr>
        <p:spPr>
          <a:xfrm>
            <a:off x="358100" y="1556425"/>
            <a:ext cx="1797000" cy="523200"/>
          </a:xfrm>
          <a:prstGeom prst="wedgeRoundRectCallout">
            <a:avLst>
              <a:gd name="adj1" fmla="val -5552"/>
              <a:gd name="adj2" fmla="val 201367"/>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rgbClr val="FF0000"/>
                </a:solidFill>
              </a:rPr>
              <a:t>WAKE UP?</a:t>
            </a:r>
            <a:endParaRPr sz="2200" b="1">
              <a:solidFill>
                <a:srgbClr val="FF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6" name="Google Shape;696;p62"/>
          <p:cNvSpPr txBox="1"/>
          <p:nvPr/>
        </p:nvSpPr>
        <p:spPr>
          <a:xfrm>
            <a:off x="5361375" y="1733850"/>
            <a:ext cx="1729500" cy="604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lt1"/>
                </a:solidFill>
                <a:latin typeface="Consolas"/>
                <a:ea typeface="Consolas"/>
                <a:cs typeface="Consolas"/>
                <a:sym typeface="Consolas"/>
              </a:rPr>
              <a:t>condition.signal()</a:t>
            </a:r>
            <a:endParaRPr sz="1000">
              <a:solidFill>
                <a:srgbClr val="FFFFFF"/>
              </a:solidFill>
              <a:latin typeface="Consolas"/>
              <a:ea typeface="Consolas"/>
              <a:cs typeface="Consolas"/>
              <a:sym typeface="Consolas"/>
            </a:endParaRPr>
          </a:p>
          <a:p>
            <a:pPr marL="0" lvl="0" indent="0" algn="ctr" rtl="0">
              <a:spcBef>
                <a:spcPts val="0"/>
              </a:spcBef>
              <a:spcAft>
                <a:spcPts val="0"/>
              </a:spcAft>
              <a:buNone/>
            </a:pPr>
            <a:r>
              <a:rPr lang="en" sz="1000">
                <a:solidFill>
                  <a:srgbClr val="FFFFFF"/>
                </a:solidFill>
                <a:latin typeface="Consolas"/>
                <a:ea typeface="Consolas"/>
                <a:cs typeface="Consolas"/>
                <a:sym typeface="Consolas"/>
              </a:rPr>
              <a:t>or</a:t>
            </a:r>
            <a:endParaRPr sz="1000">
              <a:solidFill>
                <a:srgbClr val="FFFFFF"/>
              </a:solidFill>
              <a:latin typeface="Consolas"/>
              <a:ea typeface="Consolas"/>
              <a:cs typeface="Consolas"/>
              <a:sym typeface="Consolas"/>
            </a:endParaRPr>
          </a:p>
          <a:p>
            <a:pPr marL="0" lvl="0" indent="0" algn="ctr" rtl="0">
              <a:spcBef>
                <a:spcPts val="0"/>
              </a:spcBef>
              <a:spcAft>
                <a:spcPts val="0"/>
              </a:spcAft>
              <a:buNone/>
            </a:pPr>
            <a:r>
              <a:rPr lang="en" sz="1000">
                <a:solidFill>
                  <a:srgbClr val="FFFFFF"/>
                </a:solidFill>
                <a:latin typeface="Consolas"/>
                <a:ea typeface="Consolas"/>
                <a:cs typeface="Consolas"/>
                <a:sym typeface="Consolas"/>
              </a:rPr>
              <a:t>condition.signalAll()</a:t>
            </a:r>
            <a:endParaRPr sz="1000">
              <a:solidFill>
                <a:srgbClr val="FFFFFF"/>
              </a:solidFill>
              <a:latin typeface="Consolas"/>
              <a:ea typeface="Consolas"/>
              <a:cs typeface="Consolas"/>
              <a:sym typeface="Consolas"/>
            </a:endParaRPr>
          </a:p>
        </p:txBody>
      </p:sp>
      <p:sp>
        <p:nvSpPr>
          <p:cNvPr id="697" name="Google Shape;697;p62"/>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31</a:t>
            </a:fld>
            <a:endParaRPr/>
          </a:p>
        </p:txBody>
      </p:sp>
      <p:sp>
        <p:nvSpPr>
          <p:cNvPr id="698" name="Google Shape;698;p62"/>
          <p:cNvSpPr txBox="1">
            <a:spLocks noGrp="1"/>
          </p:cNvSpPr>
          <p:nvPr>
            <p:ph type="title"/>
          </p:nvPr>
        </p:nvSpPr>
        <p:spPr>
          <a:xfrm>
            <a:off x="5202296"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Signal All</a:t>
            </a:r>
            <a:endParaRPr/>
          </a:p>
        </p:txBody>
      </p:sp>
      <p:sp>
        <p:nvSpPr>
          <p:cNvPr id="699" name="Google Shape;699;p62"/>
          <p:cNvSpPr txBox="1">
            <a:spLocks noGrp="1"/>
          </p:cNvSpPr>
          <p:nvPr>
            <p:ph type="body" idx="1"/>
          </p:nvPr>
        </p:nvSpPr>
        <p:spPr>
          <a:xfrm>
            <a:off x="148875" y="119925"/>
            <a:ext cx="4423200" cy="46794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The purpose of writing </a:t>
            </a:r>
            <a:r>
              <a:rPr lang="en" b="1" i="1" dirty="0">
                <a:solidFill>
                  <a:srgbClr val="FF0000"/>
                </a:solidFill>
              </a:rPr>
              <a:t>multithreaded</a:t>
            </a:r>
            <a:r>
              <a:rPr lang="en" dirty="0">
                <a:solidFill>
                  <a:srgbClr val="FF0000"/>
                </a:solidFill>
              </a:rPr>
              <a:t> </a:t>
            </a:r>
            <a:r>
              <a:rPr lang="en" dirty="0"/>
              <a:t>code is so that a program can do </a:t>
            </a:r>
            <a:r>
              <a:rPr lang="en" b="1" i="1" dirty="0">
                <a:solidFill>
                  <a:srgbClr val="FF0000"/>
                </a:solidFill>
              </a:rPr>
              <a:t>more than one thing</a:t>
            </a:r>
            <a:r>
              <a:rPr lang="en" dirty="0"/>
              <a:t> at the same time.</a:t>
            </a:r>
            <a:endParaRPr dirty="0"/>
          </a:p>
          <a:p>
            <a:pPr marL="457200" lvl="0" indent="-311150" algn="l" rtl="0">
              <a:lnSpc>
                <a:spcPct val="100000"/>
              </a:lnSpc>
              <a:spcBef>
                <a:spcPts val="0"/>
              </a:spcBef>
              <a:spcAft>
                <a:spcPts val="0"/>
              </a:spcAft>
              <a:buSzPts val="1300"/>
              <a:buChar char="●"/>
            </a:pPr>
            <a:r>
              <a:rPr lang="en" dirty="0">
                <a:highlight>
                  <a:srgbClr val="FFFF00"/>
                </a:highlight>
              </a:rPr>
              <a:t>Programs often use multiple threads to </a:t>
            </a:r>
            <a:r>
              <a:rPr lang="en" dirty="0">
                <a:solidFill>
                  <a:srgbClr val="FF0000"/>
                </a:solidFill>
                <a:highlight>
                  <a:srgbClr val="FFFF00"/>
                </a:highlight>
              </a:rPr>
              <a:t>distribute </a:t>
            </a:r>
            <a:r>
              <a:rPr lang="en" dirty="0">
                <a:highlight>
                  <a:srgbClr val="FFFF00"/>
                </a:highlight>
              </a:rPr>
              <a:t>the same kind of work to take care of it </a:t>
            </a:r>
            <a:r>
              <a:rPr lang="en" dirty="0">
                <a:solidFill>
                  <a:srgbClr val="FF0000"/>
                </a:solidFill>
                <a:highlight>
                  <a:srgbClr val="FFFF00"/>
                </a:highlight>
              </a:rPr>
              <a:t>more quickly</a:t>
            </a:r>
            <a:r>
              <a:rPr lang="en" dirty="0">
                <a:highlight>
                  <a:srgbClr val="FFFF00"/>
                </a:highlight>
              </a:rPr>
              <a:t>.</a:t>
            </a:r>
            <a:endParaRPr dirty="0">
              <a:highlight>
                <a:srgbClr val="FFFF00"/>
              </a:highlight>
            </a:endParaRPr>
          </a:p>
          <a:p>
            <a:pPr marL="914400" lvl="1" indent="-298450" algn="l" rtl="0">
              <a:lnSpc>
                <a:spcPct val="100000"/>
              </a:lnSpc>
              <a:spcBef>
                <a:spcPts val="0"/>
              </a:spcBef>
              <a:spcAft>
                <a:spcPts val="0"/>
              </a:spcAft>
              <a:buSzPts val="1100"/>
              <a:buChar char="○"/>
            </a:pPr>
            <a:r>
              <a:rPr lang="en" dirty="0"/>
              <a:t>This is referred to as</a:t>
            </a:r>
            <a:r>
              <a:rPr lang="en" dirty="0">
                <a:solidFill>
                  <a:srgbClr val="FF0000"/>
                </a:solidFill>
              </a:rPr>
              <a:t> </a:t>
            </a:r>
            <a:r>
              <a:rPr lang="en" b="1" i="1" dirty="0">
                <a:solidFill>
                  <a:srgbClr val="FF0000"/>
                </a:solidFill>
                <a:highlight>
                  <a:srgbClr val="FFFF00"/>
                </a:highlight>
              </a:rPr>
              <a:t>parallel processing</a:t>
            </a:r>
            <a:r>
              <a:rPr lang="en" dirty="0">
                <a:highlight>
                  <a:srgbClr val="FFFF00"/>
                </a:highlight>
              </a:rPr>
              <a:t>. </a:t>
            </a:r>
            <a:r>
              <a:rPr lang="en" dirty="0"/>
              <a:t>It is a </a:t>
            </a:r>
            <a:r>
              <a:rPr lang="en" b="1" i="1" dirty="0">
                <a:solidFill>
                  <a:srgbClr val="FF0000"/>
                </a:solidFill>
              </a:rPr>
              <a:t>divide-and-conquer</a:t>
            </a:r>
            <a:r>
              <a:rPr lang="en" dirty="0"/>
              <a:t> technique for handling work that can be divided between multiple threads.</a:t>
            </a:r>
            <a:endParaRPr dirty="0"/>
          </a:p>
          <a:p>
            <a:pPr marL="457200" lvl="0" indent="-311150" algn="l" rtl="0">
              <a:lnSpc>
                <a:spcPct val="100000"/>
              </a:lnSpc>
              <a:spcBef>
                <a:spcPts val="0"/>
              </a:spcBef>
              <a:spcAft>
                <a:spcPts val="0"/>
              </a:spcAft>
              <a:buSzPts val="1300"/>
              <a:buChar char="●"/>
            </a:pPr>
            <a:r>
              <a:rPr lang="en" dirty="0"/>
              <a:t>Using </a:t>
            </a:r>
            <a:r>
              <a:rPr lang="en" dirty="0">
                <a:highlight>
                  <a:srgbClr val="FFFF00"/>
                </a:highlight>
                <a:latin typeface="Courier New"/>
                <a:ea typeface="Courier New"/>
                <a:cs typeface="Courier New"/>
                <a:sym typeface="Courier New"/>
              </a:rPr>
              <a:t>condition.signal()</a:t>
            </a:r>
            <a:r>
              <a:rPr lang="en" dirty="0">
                <a:highlight>
                  <a:srgbClr val="FFFF00"/>
                </a:highlight>
              </a:rPr>
              <a:t> </a:t>
            </a:r>
            <a:r>
              <a:rPr lang="en" dirty="0"/>
              <a:t>will cause the thread scheduler to choose </a:t>
            </a:r>
            <a:r>
              <a:rPr lang="en" b="1" i="1" dirty="0">
                <a:solidFill>
                  <a:srgbClr val="FF0000"/>
                </a:solidFill>
                <a:highlight>
                  <a:srgbClr val="FFFF00"/>
                </a:highlight>
              </a:rPr>
              <a:t>one</a:t>
            </a:r>
            <a:r>
              <a:rPr lang="en" dirty="0">
                <a:solidFill>
                  <a:srgbClr val="FF0000"/>
                </a:solidFill>
                <a:highlight>
                  <a:srgbClr val="FFFF00"/>
                </a:highlight>
              </a:rPr>
              <a:t> </a:t>
            </a:r>
            <a:r>
              <a:rPr lang="en" dirty="0"/>
              <a:t>waiting thread and notify it that there is work ready to do.</a:t>
            </a:r>
            <a:endParaRPr dirty="0"/>
          </a:p>
          <a:p>
            <a:pPr marL="914400" lvl="1" indent="-298450" algn="l" rtl="0">
              <a:lnSpc>
                <a:spcPct val="100000"/>
              </a:lnSpc>
              <a:spcBef>
                <a:spcPts val="0"/>
              </a:spcBef>
              <a:spcAft>
                <a:spcPts val="0"/>
              </a:spcAft>
              <a:buSzPts val="1100"/>
              <a:buChar char="○"/>
            </a:pPr>
            <a:r>
              <a:rPr lang="en" dirty="0"/>
              <a:t>But what if there is </a:t>
            </a:r>
            <a:r>
              <a:rPr lang="en" b="1" i="1" dirty="0">
                <a:solidFill>
                  <a:srgbClr val="FF0000"/>
                </a:solidFill>
              </a:rPr>
              <a:t>more than one task</a:t>
            </a:r>
            <a:r>
              <a:rPr lang="en" dirty="0"/>
              <a:t> that needs to be completed?</a:t>
            </a:r>
            <a:endParaRPr dirty="0"/>
          </a:p>
          <a:p>
            <a:pPr marL="914400" lvl="1" indent="-298450" algn="l" rtl="0">
              <a:lnSpc>
                <a:spcPct val="100000"/>
              </a:lnSpc>
              <a:spcBef>
                <a:spcPts val="0"/>
              </a:spcBef>
              <a:spcAft>
                <a:spcPts val="0"/>
              </a:spcAft>
              <a:buSzPts val="1100"/>
              <a:buChar char="○"/>
            </a:pPr>
            <a:r>
              <a:rPr lang="en" dirty="0"/>
              <a:t>What if </a:t>
            </a:r>
            <a:r>
              <a:rPr lang="en" b="1" i="1" dirty="0">
                <a:solidFill>
                  <a:srgbClr val="FF0000"/>
                </a:solidFill>
              </a:rPr>
              <a:t>more than one thread</a:t>
            </a:r>
            <a:r>
              <a:rPr lang="en" dirty="0"/>
              <a:t> is waiting for work?</a:t>
            </a:r>
            <a:endParaRPr dirty="0"/>
          </a:p>
          <a:p>
            <a:pPr marL="457200" lvl="0" indent="-311150" algn="l" rtl="0">
              <a:lnSpc>
                <a:spcPct val="100000"/>
              </a:lnSpc>
              <a:spcBef>
                <a:spcPts val="0"/>
              </a:spcBef>
              <a:spcAft>
                <a:spcPts val="0"/>
              </a:spcAft>
              <a:buSzPts val="1300"/>
              <a:buChar char="●"/>
            </a:pPr>
            <a:r>
              <a:rPr lang="en" dirty="0"/>
              <a:t>Alternatively, the </a:t>
            </a:r>
            <a:r>
              <a:rPr lang="en" dirty="0">
                <a:solidFill>
                  <a:srgbClr val="FF0000"/>
                </a:solidFill>
                <a:highlight>
                  <a:srgbClr val="FFFF00"/>
                </a:highlight>
                <a:latin typeface="Courier New"/>
                <a:ea typeface="Courier New"/>
                <a:cs typeface="Courier New"/>
                <a:sym typeface="Courier New"/>
              </a:rPr>
              <a:t>condition.signalAll()</a:t>
            </a:r>
            <a:r>
              <a:rPr lang="en" dirty="0">
                <a:highlight>
                  <a:srgbClr val="FFFF00"/>
                </a:highlight>
              </a:rPr>
              <a:t> </a:t>
            </a:r>
            <a:r>
              <a:rPr lang="en" dirty="0"/>
              <a:t>method can be used to move </a:t>
            </a:r>
            <a:r>
              <a:rPr lang="en" b="1" i="1" dirty="0">
                <a:solidFill>
                  <a:srgbClr val="FF0000"/>
                </a:solidFill>
              </a:rPr>
              <a:t>all</a:t>
            </a:r>
            <a:r>
              <a:rPr lang="en" dirty="0">
                <a:solidFill>
                  <a:srgbClr val="FF0000"/>
                </a:solidFill>
              </a:rPr>
              <a:t> </a:t>
            </a:r>
            <a:r>
              <a:rPr lang="en" dirty="0"/>
              <a:t>of the waiting threads into the </a:t>
            </a:r>
            <a:r>
              <a:rPr lang="en" b="1" i="1" dirty="0">
                <a:solidFill>
                  <a:srgbClr val="FF0000"/>
                </a:solidFill>
              </a:rPr>
              <a:t>blocked</a:t>
            </a:r>
            <a:r>
              <a:rPr lang="en" dirty="0">
                <a:solidFill>
                  <a:srgbClr val="FF0000"/>
                </a:solidFill>
              </a:rPr>
              <a:t> </a:t>
            </a:r>
            <a:r>
              <a:rPr lang="en" dirty="0"/>
              <a:t>state at the same time.</a:t>
            </a:r>
            <a:endParaRPr dirty="0"/>
          </a:p>
          <a:p>
            <a:pPr marL="914400" lvl="1" indent="-298450" algn="l" rtl="0">
              <a:lnSpc>
                <a:spcPct val="100000"/>
              </a:lnSpc>
              <a:spcBef>
                <a:spcPts val="0"/>
              </a:spcBef>
              <a:spcAft>
                <a:spcPts val="0"/>
              </a:spcAft>
              <a:buSzPts val="1100"/>
              <a:buChar char="○"/>
            </a:pPr>
            <a:r>
              <a:rPr lang="en" dirty="0">
                <a:highlight>
                  <a:srgbClr val="FFFF00"/>
                </a:highlight>
              </a:rPr>
              <a:t>As with </a:t>
            </a:r>
            <a:r>
              <a:rPr lang="en" dirty="0">
                <a:highlight>
                  <a:srgbClr val="FFFF00"/>
                </a:highlight>
                <a:latin typeface="Courier New"/>
                <a:ea typeface="Courier New"/>
                <a:cs typeface="Courier New"/>
                <a:sym typeface="Courier New"/>
              </a:rPr>
              <a:t>condition.signal()</a:t>
            </a:r>
            <a:r>
              <a:rPr lang="en" dirty="0">
                <a:highlight>
                  <a:srgbClr val="FFFF00"/>
                </a:highlight>
              </a:rPr>
              <a:t>, the calling thread does not immediately surrender the lock.</a:t>
            </a:r>
            <a:endParaRPr dirty="0">
              <a:highlight>
                <a:srgbClr val="FFFF00"/>
              </a:highlight>
            </a:endParaRPr>
          </a:p>
          <a:p>
            <a:pPr marL="457200" lvl="0" indent="-311150" algn="l" rtl="0">
              <a:lnSpc>
                <a:spcPct val="100000"/>
              </a:lnSpc>
              <a:spcBef>
                <a:spcPts val="0"/>
              </a:spcBef>
              <a:spcAft>
                <a:spcPts val="0"/>
              </a:spcAft>
              <a:buSzPts val="1300"/>
              <a:buChar char="●"/>
            </a:pPr>
            <a:r>
              <a:rPr lang="en" dirty="0"/>
              <a:t>Only </a:t>
            </a:r>
            <a:r>
              <a:rPr lang="en" b="1" i="1" dirty="0">
                <a:solidFill>
                  <a:srgbClr val="FF0000"/>
                </a:solidFill>
                <a:highlight>
                  <a:srgbClr val="FFFF00"/>
                </a:highlight>
              </a:rPr>
              <a:t>one</a:t>
            </a:r>
            <a:r>
              <a:rPr lang="en" b="1" i="1" dirty="0">
                <a:solidFill>
                  <a:srgbClr val="FF0000"/>
                </a:solidFill>
              </a:rPr>
              <a:t> </a:t>
            </a:r>
            <a:r>
              <a:rPr lang="en" dirty="0"/>
              <a:t>of the blocked threads will be able to acquire the lock when it is available.</a:t>
            </a:r>
            <a:endParaRPr dirty="0"/>
          </a:p>
          <a:p>
            <a:pPr marL="914400" lvl="1" indent="-298450" algn="l" rtl="0">
              <a:lnSpc>
                <a:spcPct val="100000"/>
              </a:lnSpc>
              <a:spcBef>
                <a:spcPts val="0"/>
              </a:spcBef>
              <a:spcAft>
                <a:spcPts val="0"/>
              </a:spcAft>
              <a:buSzPts val="1100"/>
              <a:buChar char="○"/>
            </a:pPr>
            <a:r>
              <a:rPr lang="en" dirty="0"/>
              <a:t>For this reason, cooperating threads should </a:t>
            </a:r>
            <a:r>
              <a:rPr lang="en" b="1" i="1" dirty="0">
                <a:solidFill>
                  <a:srgbClr val="FF0000"/>
                </a:solidFill>
              </a:rPr>
              <a:t>give up the lock</a:t>
            </a:r>
            <a:r>
              <a:rPr lang="en" dirty="0"/>
              <a:t> as soon as it is reasonable to do so.</a:t>
            </a:r>
            <a:endParaRPr dirty="0"/>
          </a:p>
        </p:txBody>
      </p:sp>
      <p:sp>
        <p:nvSpPr>
          <p:cNvPr id="700" name="Google Shape;700;p62"/>
          <p:cNvSpPr txBox="1">
            <a:spLocks noGrp="1"/>
          </p:cNvSpPr>
          <p:nvPr>
            <p:ph type="body" idx="3"/>
          </p:nvPr>
        </p:nvSpPr>
        <p:spPr>
          <a:xfrm>
            <a:off x="5192225" y="41658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a:t>
            </a:r>
            <a:r>
              <a:rPr lang="en" b="1" i="1">
                <a:solidFill>
                  <a:srgbClr val="FF0000"/>
                </a:solidFill>
              </a:rPr>
              <a:t>thread scheduler</a:t>
            </a:r>
            <a:r>
              <a:rPr lang="en">
                <a:solidFill>
                  <a:srgbClr val="FF0000"/>
                </a:solidFill>
              </a:rPr>
              <a:t> </a:t>
            </a:r>
            <a:r>
              <a:rPr lang="en"/>
              <a:t>is still in charge of choosing the thread that acquires the lock. Which thread is chosen is </a:t>
            </a:r>
            <a:r>
              <a:rPr lang="en" b="1" i="1">
                <a:solidFill>
                  <a:srgbClr val="FF0000"/>
                </a:solidFill>
              </a:rPr>
              <a:t>unpredictable</a:t>
            </a:r>
            <a:r>
              <a:rPr lang="en"/>
              <a:t>.</a:t>
            </a:r>
            <a:endParaRPr/>
          </a:p>
        </p:txBody>
      </p:sp>
      <p:grpSp>
        <p:nvGrpSpPr>
          <p:cNvPr id="701" name="Google Shape;701;p62"/>
          <p:cNvGrpSpPr/>
          <p:nvPr/>
        </p:nvGrpSpPr>
        <p:grpSpPr>
          <a:xfrm>
            <a:off x="7187014" y="1119113"/>
            <a:ext cx="1486500" cy="2952988"/>
            <a:chOff x="6958414" y="1195313"/>
            <a:chExt cx="1486500" cy="2952988"/>
          </a:xfrm>
        </p:grpSpPr>
        <p:sp>
          <p:nvSpPr>
            <p:cNvPr id="702" name="Google Shape;702;p62"/>
            <p:cNvSpPr/>
            <p:nvPr/>
          </p:nvSpPr>
          <p:spPr>
            <a:xfrm>
              <a:off x="6958414" y="1969300"/>
              <a:ext cx="1486500" cy="1411200"/>
            </a:xfrm>
            <a:prstGeom prst="roundRect">
              <a:avLst>
                <a:gd name="adj" fmla="val 9698"/>
              </a:avLst>
            </a:prstGeom>
            <a:solidFill>
              <a:srgbClr val="B6D7A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2"/>
            <p:cNvSpPr/>
            <p:nvPr/>
          </p:nvSpPr>
          <p:spPr>
            <a:xfrm>
              <a:off x="7286250" y="1195313"/>
              <a:ext cx="831900" cy="390600"/>
            </a:xfrm>
            <a:prstGeom prst="roundRect">
              <a:avLst>
                <a:gd name="adj" fmla="val 16667"/>
              </a:avLst>
            </a:prstGeom>
            <a:solidFill>
              <a:srgbClr val="CCA677"/>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704" name="Google Shape;704;p62"/>
            <p:cNvSpPr/>
            <p:nvPr/>
          </p:nvSpPr>
          <p:spPr>
            <a:xfrm>
              <a:off x="7029750" y="2049450"/>
              <a:ext cx="1344900" cy="390600"/>
            </a:xfrm>
            <a:prstGeom prst="roundRect">
              <a:avLst>
                <a:gd name="adj" fmla="val 16667"/>
              </a:avLst>
            </a:prstGeom>
            <a:solidFill>
              <a:srgbClr val="CCA677"/>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705" name="Google Shape;705;p62"/>
            <p:cNvSpPr/>
            <p:nvPr/>
          </p:nvSpPr>
          <p:spPr>
            <a:xfrm>
              <a:off x="7029750" y="2903575"/>
              <a:ext cx="1344900" cy="390600"/>
            </a:xfrm>
            <a:prstGeom prst="roundRect">
              <a:avLst>
                <a:gd name="adj" fmla="val 16667"/>
              </a:avLst>
            </a:prstGeom>
            <a:solidFill>
              <a:srgbClr val="CCA677"/>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706" name="Google Shape;706;p62"/>
            <p:cNvSpPr/>
            <p:nvPr/>
          </p:nvSpPr>
          <p:spPr>
            <a:xfrm>
              <a:off x="7057607" y="3757700"/>
              <a:ext cx="1302000" cy="390600"/>
            </a:xfrm>
            <a:prstGeom prst="roundRect">
              <a:avLst>
                <a:gd name="adj" fmla="val 16667"/>
              </a:avLst>
            </a:prstGeom>
            <a:solidFill>
              <a:srgbClr val="CCA677"/>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707" name="Google Shape;707;p62"/>
            <p:cNvCxnSpPr>
              <a:stCxn id="703" idx="2"/>
              <a:endCxn id="704" idx="0"/>
            </p:cNvCxnSpPr>
            <p:nvPr/>
          </p:nvCxnSpPr>
          <p:spPr>
            <a:xfrm>
              <a:off x="7702200" y="1585913"/>
              <a:ext cx="0" cy="463500"/>
            </a:xfrm>
            <a:prstGeom prst="straightConnector1">
              <a:avLst/>
            </a:prstGeom>
            <a:noFill/>
            <a:ln w="19050" cap="flat" cmpd="sng">
              <a:solidFill>
                <a:srgbClr val="FFFFFF"/>
              </a:solidFill>
              <a:prstDash val="solid"/>
              <a:round/>
              <a:headEnd type="none" w="med" len="med"/>
              <a:tailEnd type="triangle" w="med" len="med"/>
            </a:ln>
          </p:spPr>
        </p:cxnSp>
        <p:cxnSp>
          <p:nvCxnSpPr>
            <p:cNvPr id="708" name="Google Shape;708;p62"/>
            <p:cNvCxnSpPr>
              <a:stCxn id="705" idx="2"/>
              <a:endCxn id="706" idx="0"/>
            </p:cNvCxnSpPr>
            <p:nvPr/>
          </p:nvCxnSpPr>
          <p:spPr>
            <a:xfrm>
              <a:off x="7702200" y="3294175"/>
              <a:ext cx="6300" cy="463500"/>
            </a:xfrm>
            <a:prstGeom prst="straightConnector1">
              <a:avLst/>
            </a:prstGeom>
            <a:noFill/>
            <a:ln w="19050" cap="flat" cmpd="sng">
              <a:solidFill>
                <a:srgbClr val="FFFFFF"/>
              </a:solidFill>
              <a:prstDash val="solid"/>
              <a:round/>
              <a:headEnd type="none" w="med" len="med"/>
              <a:tailEnd type="triangle" w="med" len="med"/>
            </a:ln>
          </p:spPr>
        </p:cxnSp>
        <p:cxnSp>
          <p:nvCxnSpPr>
            <p:cNvPr id="709" name="Google Shape;709;p62"/>
            <p:cNvCxnSpPr/>
            <p:nvPr/>
          </p:nvCxnSpPr>
          <p:spPr>
            <a:xfrm>
              <a:off x="7333050" y="2445150"/>
              <a:ext cx="0" cy="470100"/>
            </a:xfrm>
            <a:prstGeom prst="straightConnector1">
              <a:avLst/>
            </a:prstGeom>
            <a:noFill/>
            <a:ln w="19050" cap="flat" cmpd="sng">
              <a:solidFill>
                <a:srgbClr val="FFFFFF"/>
              </a:solidFill>
              <a:prstDash val="solid"/>
              <a:round/>
              <a:headEnd type="none" w="med" len="med"/>
              <a:tailEnd type="triangle" w="med" len="med"/>
            </a:ln>
          </p:spPr>
        </p:cxnSp>
        <p:cxnSp>
          <p:nvCxnSpPr>
            <p:cNvPr id="710" name="Google Shape;710;p62"/>
            <p:cNvCxnSpPr/>
            <p:nvPr/>
          </p:nvCxnSpPr>
          <p:spPr>
            <a:xfrm rot="10800000">
              <a:off x="8094075" y="2445275"/>
              <a:ext cx="0" cy="470100"/>
            </a:xfrm>
            <a:prstGeom prst="straightConnector1">
              <a:avLst/>
            </a:prstGeom>
            <a:noFill/>
            <a:ln w="19050" cap="flat" cmpd="sng">
              <a:solidFill>
                <a:srgbClr val="FFFFFF"/>
              </a:solidFill>
              <a:prstDash val="solid"/>
              <a:round/>
              <a:headEnd type="none" w="med" len="med"/>
              <a:tailEnd type="triangle" w="med" len="med"/>
            </a:ln>
          </p:spPr>
        </p:cxnSp>
      </p:grpSp>
      <p:sp>
        <p:nvSpPr>
          <p:cNvPr id="711" name="Google Shape;711;p62"/>
          <p:cNvSpPr/>
          <p:nvPr/>
        </p:nvSpPr>
        <p:spPr>
          <a:xfrm>
            <a:off x="5271425" y="2436775"/>
            <a:ext cx="1344900" cy="390600"/>
          </a:xfrm>
          <a:prstGeom prst="roundRect">
            <a:avLst>
              <a:gd name="adj" fmla="val 16667"/>
            </a:avLst>
          </a:prstGeom>
          <a:solidFill>
            <a:srgbClr val="CCA677"/>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sp>
        <p:nvSpPr>
          <p:cNvPr id="712" name="Google Shape;712;p62"/>
          <p:cNvSpPr txBox="1"/>
          <p:nvPr/>
        </p:nvSpPr>
        <p:spPr>
          <a:xfrm>
            <a:off x="6530442" y="897621"/>
            <a:ext cx="879600" cy="435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rPr>
              <a:t>lock available</a:t>
            </a:r>
            <a:endParaRPr sz="1100">
              <a:solidFill>
                <a:srgbClr val="FFFFFF"/>
              </a:solidFill>
            </a:endParaRPr>
          </a:p>
        </p:txBody>
      </p:sp>
      <p:cxnSp>
        <p:nvCxnSpPr>
          <p:cNvPr id="713" name="Google Shape;713;p62"/>
          <p:cNvCxnSpPr>
            <a:stCxn id="705" idx="1"/>
            <a:endCxn id="711" idx="2"/>
          </p:cNvCxnSpPr>
          <p:nvPr/>
        </p:nvCxnSpPr>
        <p:spPr>
          <a:xfrm rot="10800000">
            <a:off x="5943750" y="2827375"/>
            <a:ext cx="1314600" cy="195300"/>
          </a:xfrm>
          <a:prstGeom prst="curvedConnector2">
            <a:avLst/>
          </a:prstGeom>
          <a:noFill/>
          <a:ln w="19050" cap="flat" cmpd="sng">
            <a:solidFill>
              <a:srgbClr val="FFFFFF"/>
            </a:solidFill>
            <a:prstDash val="solid"/>
            <a:round/>
            <a:headEnd type="none" w="med" len="med"/>
            <a:tailEnd type="triangle" w="med" len="med"/>
          </a:ln>
        </p:spPr>
      </p:cxnSp>
      <p:sp>
        <p:nvSpPr>
          <p:cNvPr id="714" name="Google Shape;714;p62"/>
          <p:cNvSpPr txBox="1"/>
          <p:nvPr/>
        </p:nvSpPr>
        <p:spPr>
          <a:xfrm>
            <a:off x="5156125" y="3022675"/>
            <a:ext cx="1974300" cy="927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FFFFFF"/>
                </a:solidFill>
                <a:latin typeface="Consolas"/>
                <a:ea typeface="Consolas"/>
                <a:cs typeface="Consolas"/>
                <a:sym typeface="Consolas"/>
              </a:rPr>
              <a:t>Thread.sleep()</a:t>
            </a:r>
            <a:endParaRPr sz="1100">
              <a:solidFill>
                <a:srgbClr val="FFFFFF"/>
              </a:solidFill>
              <a:latin typeface="Consolas"/>
              <a:ea typeface="Consolas"/>
              <a:cs typeface="Consolas"/>
              <a:sym typeface="Consolas"/>
            </a:endParaRPr>
          </a:p>
          <a:p>
            <a:pPr marL="0" lvl="0" indent="0" algn="ctr" rtl="0">
              <a:spcBef>
                <a:spcPts val="0"/>
              </a:spcBef>
              <a:spcAft>
                <a:spcPts val="0"/>
              </a:spcAft>
              <a:buNone/>
            </a:pPr>
            <a:r>
              <a:rPr lang="en" sz="1100">
                <a:solidFill>
                  <a:srgbClr val="FFFFFF"/>
                </a:solidFill>
              </a:rPr>
              <a:t>or</a:t>
            </a:r>
            <a:endParaRPr sz="1100">
              <a:solidFill>
                <a:srgbClr val="FFFFFF"/>
              </a:solidFill>
            </a:endParaRPr>
          </a:p>
          <a:p>
            <a:pPr marL="0" lvl="0" indent="0" algn="ctr" rtl="0">
              <a:spcBef>
                <a:spcPts val="0"/>
              </a:spcBef>
              <a:spcAft>
                <a:spcPts val="0"/>
              </a:spcAft>
              <a:buNone/>
            </a:pPr>
            <a:r>
              <a:rPr lang="en" sz="1100">
                <a:solidFill>
                  <a:srgbClr val="FFFFFF"/>
                </a:solidFill>
                <a:latin typeface="Consolas"/>
                <a:ea typeface="Consolas"/>
                <a:cs typeface="Consolas"/>
                <a:sym typeface="Consolas"/>
              </a:rPr>
              <a:t>es.awaitTermination()</a:t>
            </a:r>
            <a:endParaRPr sz="1100">
              <a:solidFill>
                <a:srgbClr val="FFFFFF"/>
              </a:solidFill>
              <a:latin typeface="Consolas"/>
              <a:ea typeface="Consolas"/>
              <a:cs typeface="Consolas"/>
              <a:sym typeface="Consolas"/>
            </a:endParaRPr>
          </a:p>
          <a:p>
            <a:pPr marL="0" lvl="0" indent="0" algn="ctr" rtl="0">
              <a:spcBef>
                <a:spcPts val="0"/>
              </a:spcBef>
              <a:spcAft>
                <a:spcPts val="0"/>
              </a:spcAft>
              <a:buNone/>
            </a:pPr>
            <a:r>
              <a:rPr lang="en" sz="1100">
                <a:solidFill>
                  <a:srgbClr val="FFFFFF"/>
                </a:solidFill>
              </a:rPr>
              <a:t>or</a:t>
            </a:r>
            <a:endParaRPr sz="1100">
              <a:solidFill>
                <a:srgbClr val="FFFFFF"/>
              </a:solidFill>
            </a:endParaRPr>
          </a:p>
          <a:p>
            <a:pPr marL="0" lvl="0" indent="0" algn="ctr" rtl="0">
              <a:spcBef>
                <a:spcPts val="0"/>
              </a:spcBef>
              <a:spcAft>
                <a:spcPts val="0"/>
              </a:spcAft>
              <a:buNone/>
            </a:pPr>
            <a:r>
              <a:rPr lang="en" sz="1100">
                <a:solidFill>
                  <a:srgbClr val="FFFFFF"/>
                </a:solidFill>
                <a:latin typeface="Consolas"/>
                <a:ea typeface="Consolas"/>
                <a:cs typeface="Consolas"/>
                <a:sym typeface="Consolas"/>
              </a:rPr>
              <a:t>condition.awaitUninterruptibly()</a:t>
            </a:r>
            <a:endParaRPr sz="1100">
              <a:solidFill>
                <a:srgbClr val="FFFFFF"/>
              </a:solidFill>
              <a:latin typeface="Consolas"/>
              <a:ea typeface="Consolas"/>
              <a:cs typeface="Consolas"/>
              <a:sym typeface="Consolas"/>
            </a:endParaRPr>
          </a:p>
        </p:txBody>
      </p:sp>
      <p:sp>
        <p:nvSpPr>
          <p:cNvPr id="715" name="Google Shape;715;p62"/>
          <p:cNvSpPr/>
          <p:nvPr/>
        </p:nvSpPr>
        <p:spPr>
          <a:xfrm>
            <a:off x="5271425" y="1119125"/>
            <a:ext cx="1344900" cy="390600"/>
          </a:xfrm>
          <a:prstGeom prst="roundRect">
            <a:avLst>
              <a:gd name="adj" fmla="val 16667"/>
            </a:avLst>
          </a:prstGeom>
          <a:solidFill>
            <a:srgbClr val="FF0000"/>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BLOCKED</a:t>
            </a:r>
            <a:endParaRPr>
              <a:solidFill>
                <a:srgbClr val="FFFFFF"/>
              </a:solidFill>
            </a:endParaRPr>
          </a:p>
        </p:txBody>
      </p:sp>
      <p:cxnSp>
        <p:nvCxnSpPr>
          <p:cNvPr id="716" name="Google Shape;716;p62"/>
          <p:cNvCxnSpPr>
            <a:stCxn id="715" idx="3"/>
            <a:endCxn id="704" idx="1"/>
          </p:cNvCxnSpPr>
          <p:nvPr/>
        </p:nvCxnSpPr>
        <p:spPr>
          <a:xfrm>
            <a:off x="6616325" y="1314425"/>
            <a:ext cx="642000" cy="854100"/>
          </a:xfrm>
          <a:prstGeom prst="curvedConnector3">
            <a:avLst>
              <a:gd name="adj1" fmla="val 50002"/>
            </a:avLst>
          </a:prstGeom>
          <a:noFill/>
          <a:ln w="19050" cap="flat" cmpd="sng">
            <a:solidFill>
              <a:srgbClr val="FFFFFF"/>
            </a:solidFill>
            <a:prstDash val="solid"/>
            <a:round/>
            <a:headEnd type="none" w="med" len="med"/>
            <a:tailEnd type="triangle" w="med" len="med"/>
          </a:ln>
        </p:spPr>
      </p:cxnSp>
      <p:cxnSp>
        <p:nvCxnSpPr>
          <p:cNvPr id="717" name="Google Shape;717;p62"/>
          <p:cNvCxnSpPr/>
          <p:nvPr/>
        </p:nvCxnSpPr>
        <p:spPr>
          <a:xfrm rot="10800000">
            <a:off x="5445892" y="1509775"/>
            <a:ext cx="0" cy="927000"/>
          </a:xfrm>
          <a:prstGeom prst="straightConnector1">
            <a:avLst/>
          </a:prstGeom>
          <a:noFill/>
          <a:ln w="9525" cap="flat" cmpd="sng">
            <a:solidFill>
              <a:srgbClr val="FFFFFF"/>
            </a:solidFill>
            <a:prstDash val="solid"/>
            <a:round/>
            <a:headEnd type="none" w="med" len="med"/>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0"/>
                                        </p:tgtEl>
                                        <p:attrNameLst>
                                          <p:attrName>style.visibility</p:attrName>
                                        </p:attrNameLst>
                                      </p:cBhvr>
                                      <p:to>
                                        <p:strVal val="visible"/>
                                      </p:to>
                                    </p:set>
                                    <p:animEffect transition="in" filter="fade">
                                      <p:cBhvr>
                                        <p:cTn id="7" dur="1000"/>
                                        <p:tgtEl>
                                          <p:spTgt spid="7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sp>
        <p:nvSpPr>
          <p:cNvPr id="722" name="Google Shape;722;p6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Lots of Waiters II</a:t>
            </a:r>
            <a:endParaRPr/>
          </a:p>
        </p:txBody>
      </p:sp>
      <p:sp>
        <p:nvSpPr>
          <p:cNvPr id="723" name="Google Shape;723;p63"/>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Calling </a:t>
            </a:r>
            <a:r>
              <a:rPr lang="en">
                <a:latin typeface="Courier New"/>
                <a:ea typeface="Courier New"/>
                <a:cs typeface="Courier New"/>
                <a:sym typeface="Courier New"/>
              </a:rPr>
              <a:t>condition.signal()</a:t>
            </a:r>
            <a:r>
              <a:rPr lang="en"/>
              <a:t> will only notify a single waiting thread (chosen by the thread scheduler). Any other threads will remain in the waiting state. Let's use </a:t>
            </a:r>
            <a:r>
              <a:rPr lang="en">
                <a:latin typeface="Courier New"/>
                <a:ea typeface="Courier New"/>
                <a:cs typeface="Courier New"/>
                <a:sym typeface="Courier New"/>
              </a:rPr>
              <a:t>condition.signalAll()</a:t>
            </a:r>
            <a:r>
              <a:rPr lang="en"/>
              <a:t> to notify </a:t>
            </a:r>
            <a:r>
              <a:rPr lang="en" i="1"/>
              <a:t>all</a:t>
            </a:r>
            <a:r>
              <a:rPr lang="en"/>
              <a:t> of the waiting threads instead!</a:t>
            </a:r>
            <a:endParaRPr/>
          </a:p>
        </p:txBody>
      </p:sp>
      <p:sp>
        <p:nvSpPr>
          <p:cNvPr id="724" name="Google Shape;724;p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32</a:t>
            </a:fld>
            <a:endParaRPr/>
          </a:p>
        </p:txBody>
      </p:sp>
      <p:sp>
        <p:nvSpPr>
          <p:cNvPr id="725" name="Google Shape;725;p63"/>
          <p:cNvSpPr txBox="1">
            <a:spLocks noGrp="1"/>
          </p:cNvSpPr>
          <p:nvPr>
            <p:ph type="body" idx="2"/>
          </p:nvPr>
        </p:nvSpPr>
        <p:spPr>
          <a:xfrm>
            <a:off x="3547500" y="1936925"/>
            <a:ext cx="5393700" cy="2444400"/>
          </a:xfrm>
          <a:prstGeom prst="rect">
            <a:avLst/>
          </a:prstGeom>
        </p:spPr>
        <p:txBody>
          <a:bodyPr spcFirstLastPara="1" wrap="square" lIns="91425" tIns="91425" rIns="91425" bIns="91425" anchor="t" anchorCtr="0">
            <a:spAutoFit/>
          </a:bodyPr>
          <a:lstStyle/>
          <a:p>
            <a:pPr marL="457200" lvl="0" indent="-355600" algn="l" rtl="0">
              <a:spcBef>
                <a:spcPts val="0"/>
              </a:spcBef>
              <a:spcAft>
                <a:spcPts val="0"/>
              </a:spcAft>
              <a:buSzPts val="2000"/>
              <a:buChar char="●"/>
            </a:pPr>
            <a:r>
              <a:rPr lang="en" sz="2000" dirty="0"/>
              <a:t>Open the </a:t>
            </a:r>
            <a:r>
              <a:rPr lang="en" sz="2000" dirty="0">
                <a:latin typeface="Courier New"/>
                <a:ea typeface="Courier New"/>
                <a:cs typeface="Courier New"/>
                <a:sym typeface="Courier New"/>
              </a:rPr>
              <a:t>Waiter</a:t>
            </a:r>
            <a:r>
              <a:rPr lang="en" sz="2000" dirty="0"/>
              <a:t> class and navigate to the </a:t>
            </a:r>
            <a:r>
              <a:rPr lang="en" sz="2000" dirty="0">
                <a:latin typeface="Courier New"/>
                <a:ea typeface="Courier New"/>
                <a:cs typeface="Courier New"/>
                <a:sym typeface="Courier New"/>
              </a:rPr>
              <a:t>main</a:t>
            </a:r>
            <a:r>
              <a:rPr lang="en" sz="2000" dirty="0"/>
              <a:t> method.</a:t>
            </a:r>
            <a:endParaRPr sz="2000" dirty="0"/>
          </a:p>
          <a:p>
            <a:pPr marL="914400" lvl="1" indent="-342900" algn="l" rtl="0">
              <a:spcBef>
                <a:spcPts val="0"/>
              </a:spcBef>
              <a:spcAft>
                <a:spcPts val="0"/>
              </a:spcAft>
              <a:buSzPts val="1800"/>
              <a:buChar char="○"/>
            </a:pPr>
            <a:r>
              <a:rPr lang="en" sz="1800" dirty="0"/>
              <a:t>Update the main to call </a:t>
            </a:r>
            <a:r>
              <a:rPr lang="en" sz="1800" dirty="0">
                <a:solidFill>
                  <a:srgbClr val="FF0000"/>
                </a:solidFill>
                <a:latin typeface="Courier New"/>
                <a:ea typeface="Courier New"/>
                <a:cs typeface="Courier New"/>
                <a:sym typeface="Courier New"/>
              </a:rPr>
              <a:t>condition.signalAll()</a:t>
            </a:r>
            <a:r>
              <a:rPr lang="en" sz="1800" dirty="0"/>
              <a:t> instead of </a:t>
            </a:r>
            <a:r>
              <a:rPr lang="en" sz="1800" dirty="0">
                <a:latin typeface="Courier New"/>
                <a:ea typeface="Courier New"/>
                <a:cs typeface="Courier New"/>
                <a:sym typeface="Courier New"/>
              </a:rPr>
              <a:t>condition.signal()</a:t>
            </a:r>
            <a:r>
              <a:rPr lang="en" sz="1800" dirty="0"/>
              <a:t>.</a:t>
            </a:r>
            <a:endParaRPr sz="1800" dirty="0"/>
          </a:p>
          <a:p>
            <a:pPr marL="914400" lvl="1" indent="-342900" algn="l" rtl="0">
              <a:spcBef>
                <a:spcPts val="0"/>
              </a:spcBef>
              <a:spcAft>
                <a:spcPts val="0"/>
              </a:spcAft>
              <a:buSzPts val="1800"/>
              <a:buChar char="○"/>
            </a:pPr>
            <a:r>
              <a:rPr lang="en" sz="1800" dirty="0"/>
              <a:t>Run the class.</a:t>
            </a:r>
            <a:endParaRPr sz="1800" dirty="0"/>
          </a:p>
          <a:p>
            <a:pPr marL="914400" lvl="1" indent="-342900" algn="l" rtl="0">
              <a:spcBef>
                <a:spcPts val="0"/>
              </a:spcBef>
              <a:spcAft>
                <a:spcPts val="0"/>
              </a:spcAft>
              <a:buSzPts val="1800"/>
              <a:buChar char="○"/>
            </a:pPr>
            <a:r>
              <a:rPr lang="en" sz="1800" dirty="0"/>
              <a:t>What happens?</a:t>
            </a:r>
            <a:endParaRPr sz="1800" dirty="0"/>
          </a:p>
        </p:txBody>
      </p:sp>
      <p:sp>
        <p:nvSpPr>
          <p:cNvPr id="726" name="Google Shape;726;p6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SzPts val="990"/>
              <a:buNone/>
            </a:pPr>
            <a:r>
              <a:rPr lang="en"/>
              <a:t>11.11</a:t>
            </a:r>
            <a:endParaRPr/>
          </a:p>
        </p:txBody>
      </p:sp>
      <p:pic>
        <p:nvPicPr>
          <p:cNvPr id="727" name="Google Shape;727;p63"/>
          <p:cNvPicPr preferRelativeResize="0"/>
          <p:nvPr/>
        </p:nvPicPr>
        <p:blipFill>
          <a:blip r:embed="rId3">
            <a:alphaModFix/>
          </a:blip>
          <a:stretch>
            <a:fillRect/>
          </a:stretch>
        </p:blipFill>
        <p:spPr>
          <a:xfrm>
            <a:off x="228600" y="2230375"/>
            <a:ext cx="2150175" cy="2644361"/>
          </a:xfrm>
          <a:prstGeom prst="rect">
            <a:avLst/>
          </a:prstGeom>
          <a:noFill/>
          <a:ln>
            <a:noFill/>
          </a:ln>
        </p:spPr>
      </p:pic>
      <p:sp>
        <p:nvSpPr>
          <p:cNvPr id="728" name="Google Shape;728;p63"/>
          <p:cNvSpPr/>
          <p:nvPr/>
        </p:nvSpPr>
        <p:spPr>
          <a:xfrm>
            <a:off x="1674225" y="1881675"/>
            <a:ext cx="1797000" cy="523200"/>
          </a:xfrm>
          <a:prstGeom prst="wedgeRoundRectCallout">
            <a:avLst>
              <a:gd name="adj1" fmla="val -42567"/>
              <a:gd name="adj2" fmla="val 155629"/>
              <a:gd name="adj3" fmla="val 0"/>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rgbClr val="FF0000"/>
                </a:solidFill>
              </a:rPr>
              <a:t>WAKE UP!</a:t>
            </a:r>
            <a:endParaRPr sz="2200" b="1">
              <a:solidFill>
                <a:srgbClr val="FF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32"/>
        <p:cNvGrpSpPr/>
        <p:nvPr/>
      </p:nvGrpSpPr>
      <p:grpSpPr>
        <a:xfrm>
          <a:off x="0" y="0"/>
          <a:ext cx="0" cy="0"/>
          <a:chOff x="0" y="0"/>
          <a:chExt cx="0" cy="0"/>
        </a:xfrm>
      </p:grpSpPr>
      <p:sp>
        <p:nvSpPr>
          <p:cNvPr id="733" name="Google Shape;733;p64"/>
          <p:cNvSpPr txBox="1">
            <a:spLocks noGrp="1"/>
          </p:cNvSpPr>
          <p:nvPr>
            <p:ph type="title"/>
          </p:nvPr>
        </p:nvSpPr>
        <p:spPr>
          <a:xfrm>
            <a:off x="5188525" y="437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Producer/Consumer</a:t>
            </a:r>
            <a:endParaRPr sz="2700"/>
          </a:p>
        </p:txBody>
      </p:sp>
      <p:sp>
        <p:nvSpPr>
          <p:cNvPr id="734" name="Google Shape;734;p64"/>
          <p:cNvSpPr txBox="1">
            <a:spLocks noGrp="1"/>
          </p:cNvSpPr>
          <p:nvPr>
            <p:ph type="body" idx="1"/>
          </p:nvPr>
        </p:nvSpPr>
        <p:spPr>
          <a:xfrm>
            <a:off x="377475" y="119925"/>
            <a:ext cx="4270800" cy="4617600"/>
          </a:xfrm>
          <a:prstGeom prst="rect">
            <a:avLst/>
          </a:prstGeom>
        </p:spPr>
        <p:txBody>
          <a:bodyPr spcFirstLastPara="1" wrap="square" lIns="91425" tIns="91425" rIns="91425" bIns="91425" anchor="t" anchorCtr="0">
            <a:spAutoFit/>
          </a:bodyPr>
          <a:lstStyle/>
          <a:p>
            <a:pPr marL="457200" lvl="0" indent="-311150" algn="l" rtl="0">
              <a:lnSpc>
                <a:spcPct val="100000"/>
              </a:lnSpc>
              <a:spcBef>
                <a:spcPts val="0"/>
              </a:spcBef>
              <a:spcAft>
                <a:spcPts val="0"/>
              </a:spcAft>
              <a:buSzPts val="1300"/>
              <a:buChar char="●"/>
            </a:pPr>
            <a:r>
              <a:rPr lang="en" dirty="0"/>
              <a:t>It is often the case that </a:t>
            </a:r>
            <a:r>
              <a:rPr lang="en" dirty="0">
                <a:highlight>
                  <a:srgbClr val="FFFF00"/>
                </a:highlight>
              </a:rPr>
              <a:t>a thread wants some work done, but does not want to take time away from its primary task to do the work itself.</a:t>
            </a:r>
            <a:endParaRPr dirty="0">
              <a:highlight>
                <a:srgbClr val="FFFF00"/>
              </a:highlight>
            </a:endParaRPr>
          </a:p>
          <a:p>
            <a:pPr marL="457200" lvl="0" indent="-311150" algn="l" rtl="0">
              <a:lnSpc>
                <a:spcPct val="100000"/>
              </a:lnSpc>
              <a:spcBef>
                <a:spcPts val="0"/>
              </a:spcBef>
              <a:spcAft>
                <a:spcPts val="0"/>
              </a:spcAft>
              <a:buSzPts val="1300"/>
              <a:buChar char="●"/>
            </a:pPr>
            <a:r>
              <a:rPr lang="en" dirty="0"/>
              <a:t>For example, consider a thread handling requests from internet browsers on a web server.</a:t>
            </a:r>
            <a:endParaRPr dirty="0"/>
          </a:p>
          <a:p>
            <a:pPr marL="914400" lvl="1" indent="-298450" algn="l" rtl="0">
              <a:lnSpc>
                <a:spcPct val="100000"/>
              </a:lnSpc>
              <a:spcBef>
                <a:spcPts val="0"/>
              </a:spcBef>
              <a:spcAft>
                <a:spcPts val="0"/>
              </a:spcAft>
              <a:buSzPts val="1100"/>
              <a:buChar char="○"/>
            </a:pPr>
            <a:r>
              <a:rPr lang="en" dirty="0"/>
              <a:t>It is important that requests are logged, but file I/O operations are slow and expensive.</a:t>
            </a:r>
            <a:endParaRPr dirty="0"/>
          </a:p>
          <a:p>
            <a:pPr marL="914400" lvl="1" indent="-298450" algn="l" rtl="0">
              <a:lnSpc>
                <a:spcPct val="100000"/>
              </a:lnSpc>
              <a:spcBef>
                <a:spcPts val="0"/>
              </a:spcBef>
              <a:spcAft>
                <a:spcPts val="0"/>
              </a:spcAft>
              <a:buSzPts val="1100"/>
              <a:buChar char="○"/>
            </a:pPr>
            <a:r>
              <a:rPr lang="en" dirty="0"/>
              <a:t>If the thread tried to perform the logging itself, it would slow down response times.</a:t>
            </a:r>
            <a:endParaRPr dirty="0"/>
          </a:p>
          <a:p>
            <a:pPr marL="457200" lvl="0" indent="-311150" algn="l" rtl="0">
              <a:lnSpc>
                <a:spcPct val="100000"/>
              </a:lnSpc>
              <a:spcBef>
                <a:spcPts val="0"/>
              </a:spcBef>
              <a:spcAft>
                <a:spcPts val="0"/>
              </a:spcAft>
              <a:buSzPts val="1300"/>
              <a:buChar char="●"/>
            </a:pPr>
            <a:r>
              <a:rPr lang="en" dirty="0"/>
              <a:t>Instead, the thread will create a job and place it in a queue.</a:t>
            </a:r>
            <a:endParaRPr dirty="0"/>
          </a:p>
          <a:p>
            <a:pPr marL="914400" lvl="1" indent="-298450" algn="l" rtl="0">
              <a:lnSpc>
                <a:spcPct val="100000"/>
              </a:lnSpc>
              <a:spcBef>
                <a:spcPts val="0"/>
              </a:spcBef>
              <a:spcAft>
                <a:spcPts val="0"/>
              </a:spcAft>
              <a:buSzPts val="1100"/>
              <a:buChar char="○"/>
            </a:pPr>
            <a:r>
              <a:rPr lang="en" dirty="0">
                <a:highlight>
                  <a:srgbClr val="FFFF00"/>
                </a:highlight>
              </a:rPr>
              <a:t>This enables it to stay focused on its primary task.</a:t>
            </a:r>
            <a:endParaRPr dirty="0">
              <a:highlight>
                <a:srgbClr val="FFFF00"/>
              </a:highlight>
            </a:endParaRPr>
          </a:p>
          <a:p>
            <a:pPr marL="914400" lvl="1" indent="-298450" algn="l" rtl="0">
              <a:lnSpc>
                <a:spcPct val="100000"/>
              </a:lnSpc>
              <a:spcBef>
                <a:spcPts val="0"/>
              </a:spcBef>
              <a:spcAft>
                <a:spcPts val="0"/>
              </a:spcAft>
              <a:buSzPts val="1100"/>
              <a:buChar char="○"/>
            </a:pPr>
            <a:r>
              <a:rPr lang="en" dirty="0">
                <a:highlight>
                  <a:srgbClr val="FFFF00"/>
                </a:highlight>
              </a:rPr>
              <a:t>We call this thread the </a:t>
            </a:r>
            <a:r>
              <a:rPr lang="en" b="1" i="1" dirty="0">
                <a:solidFill>
                  <a:srgbClr val="FF0000"/>
                </a:solidFill>
                <a:highlight>
                  <a:srgbClr val="FFFF00"/>
                </a:highlight>
              </a:rPr>
              <a:t>producer</a:t>
            </a:r>
            <a:r>
              <a:rPr lang="en" dirty="0">
                <a:solidFill>
                  <a:srgbClr val="FF0000"/>
                </a:solidFill>
                <a:highlight>
                  <a:srgbClr val="FFFF00"/>
                </a:highlight>
              </a:rPr>
              <a:t> </a:t>
            </a:r>
            <a:r>
              <a:rPr lang="en" dirty="0">
                <a:highlight>
                  <a:srgbClr val="FFFF00"/>
                </a:highlight>
              </a:rPr>
              <a:t>because it </a:t>
            </a:r>
            <a:r>
              <a:rPr lang="en" dirty="0"/>
              <a:t>produces jobs for some other thread to complete.</a:t>
            </a:r>
            <a:endParaRPr dirty="0"/>
          </a:p>
          <a:p>
            <a:pPr marL="457200" lvl="0" indent="-311150" algn="l" rtl="0">
              <a:lnSpc>
                <a:spcPct val="100000"/>
              </a:lnSpc>
              <a:spcBef>
                <a:spcPts val="0"/>
              </a:spcBef>
              <a:spcAft>
                <a:spcPts val="0"/>
              </a:spcAft>
              <a:buSzPts val="1300"/>
              <a:buChar char="●"/>
            </a:pPr>
            <a:r>
              <a:rPr lang="en" dirty="0"/>
              <a:t>Another thread will wait for notification that at least one job has been added to the queue, and then does the job.</a:t>
            </a:r>
            <a:endParaRPr dirty="0"/>
          </a:p>
          <a:p>
            <a:pPr marL="914400" lvl="1" indent="-298450" algn="l" rtl="0">
              <a:lnSpc>
                <a:spcPct val="100000"/>
              </a:lnSpc>
              <a:spcBef>
                <a:spcPts val="0"/>
              </a:spcBef>
              <a:spcAft>
                <a:spcPts val="0"/>
              </a:spcAft>
              <a:buSzPts val="1100"/>
              <a:buChar char="○"/>
            </a:pPr>
            <a:r>
              <a:rPr lang="en" dirty="0"/>
              <a:t>We call this thread the </a:t>
            </a:r>
            <a:r>
              <a:rPr lang="en" b="1" i="1" dirty="0">
                <a:solidFill>
                  <a:srgbClr val="FF0000"/>
                </a:solidFill>
              </a:rPr>
              <a:t>consumer</a:t>
            </a:r>
            <a:r>
              <a:rPr lang="en" dirty="0">
                <a:solidFill>
                  <a:srgbClr val="FF0000"/>
                </a:solidFill>
              </a:rPr>
              <a:t> </a:t>
            </a:r>
            <a:r>
              <a:rPr lang="en" dirty="0"/>
              <a:t>because it consumes jobs created by some other thread.</a:t>
            </a:r>
            <a:endParaRPr dirty="0"/>
          </a:p>
          <a:p>
            <a:pPr marL="457200" lvl="0" indent="-311150" algn="l" rtl="0">
              <a:lnSpc>
                <a:spcPct val="100000"/>
              </a:lnSpc>
              <a:spcBef>
                <a:spcPts val="0"/>
              </a:spcBef>
              <a:spcAft>
                <a:spcPts val="0"/>
              </a:spcAft>
              <a:buSzPts val="1300"/>
              <a:buChar char="●"/>
            </a:pPr>
            <a:r>
              <a:rPr lang="en" dirty="0"/>
              <a:t>This is known as the </a:t>
            </a:r>
            <a:r>
              <a:rPr lang="en" b="1" i="1" dirty="0">
                <a:solidFill>
                  <a:srgbClr val="FF0000"/>
                </a:solidFill>
              </a:rPr>
              <a:t>Producer/Consumer Problem</a:t>
            </a:r>
            <a:r>
              <a:rPr lang="en" dirty="0"/>
              <a:t>.</a:t>
            </a:r>
            <a:endParaRPr dirty="0"/>
          </a:p>
          <a:p>
            <a:pPr marL="914400" lvl="1" indent="-298450" algn="l" rtl="0">
              <a:lnSpc>
                <a:spcPct val="100000"/>
              </a:lnSpc>
              <a:spcBef>
                <a:spcPts val="0"/>
              </a:spcBef>
              <a:spcAft>
                <a:spcPts val="0"/>
              </a:spcAft>
              <a:buSzPts val="1100"/>
              <a:buChar char="○"/>
            </a:pPr>
            <a:r>
              <a:rPr lang="en" dirty="0"/>
              <a:t>It is a classic problem that requires synchronization and communication between threads.</a:t>
            </a:r>
            <a:endParaRPr dirty="0"/>
          </a:p>
        </p:txBody>
      </p:sp>
      <p:sp>
        <p:nvSpPr>
          <p:cNvPr id="735" name="Google Shape;735;p64"/>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grpSp>
        <p:nvGrpSpPr>
          <p:cNvPr id="736" name="Google Shape;736;p64"/>
          <p:cNvGrpSpPr/>
          <p:nvPr/>
        </p:nvGrpSpPr>
        <p:grpSpPr>
          <a:xfrm>
            <a:off x="6210800" y="659675"/>
            <a:ext cx="1688100" cy="1892973"/>
            <a:chOff x="6210800" y="659675"/>
            <a:chExt cx="1688100" cy="1892973"/>
          </a:xfrm>
        </p:grpSpPr>
        <p:sp>
          <p:nvSpPr>
            <p:cNvPr id="737" name="Google Shape;737;p64"/>
            <p:cNvSpPr/>
            <p:nvPr/>
          </p:nvSpPr>
          <p:spPr>
            <a:xfrm>
              <a:off x="6326750" y="659675"/>
              <a:ext cx="1446900" cy="529800"/>
            </a:xfrm>
            <a:prstGeom prst="rect">
              <a:avLst/>
            </a:prstGeom>
            <a:solidFill>
              <a:srgbClr val="FCE5CD"/>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Producer</a:t>
              </a:r>
              <a:endParaRPr/>
            </a:p>
          </p:txBody>
        </p:sp>
        <p:sp>
          <p:nvSpPr>
            <p:cNvPr id="738" name="Google Shape;738;p64"/>
            <p:cNvSpPr txBox="1"/>
            <p:nvPr/>
          </p:nvSpPr>
          <p:spPr>
            <a:xfrm>
              <a:off x="6210800" y="1562048"/>
              <a:ext cx="1688100" cy="990600"/>
            </a:xfrm>
            <a:prstGeom prst="rect">
              <a:avLst/>
            </a:prstGeom>
            <a:solidFill>
              <a:srgbClr val="4A86E8"/>
            </a:solidFill>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rgbClr val="FFFFFF"/>
                  </a:solidFill>
                </a:rPr>
                <a:t>Work Queue</a:t>
              </a:r>
              <a:endParaRPr sz="1200">
                <a:solidFill>
                  <a:srgbClr val="FFFFFF"/>
                </a:solidFill>
              </a:endParaRPr>
            </a:p>
          </p:txBody>
        </p:sp>
      </p:grpSp>
      <p:sp>
        <p:nvSpPr>
          <p:cNvPr id="739" name="Google Shape;739;p64"/>
          <p:cNvSpPr/>
          <p:nvPr/>
        </p:nvSpPr>
        <p:spPr>
          <a:xfrm>
            <a:off x="6326750" y="2847650"/>
            <a:ext cx="1446900" cy="529800"/>
          </a:xfrm>
          <a:prstGeom prst="rect">
            <a:avLst/>
          </a:prstGeom>
          <a:solidFill>
            <a:srgbClr val="FCE5CD"/>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Consumer</a:t>
            </a:r>
            <a:endParaRPr/>
          </a:p>
        </p:txBody>
      </p:sp>
      <p:sp>
        <p:nvSpPr>
          <p:cNvPr id="740" name="Google Shape;740;p64"/>
          <p:cNvSpPr/>
          <p:nvPr/>
        </p:nvSpPr>
        <p:spPr>
          <a:xfrm rot="-5400000">
            <a:off x="6169950" y="179752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sp>
        <p:nvSpPr>
          <p:cNvPr id="741" name="Google Shape;741;p64"/>
          <p:cNvSpPr/>
          <p:nvPr/>
        </p:nvSpPr>
        <p:spPr>
          <a:xfrm rot="-5400000">
            <a:off x="6474750" y="179752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sp>
        <p:nvSpPr>
          <p:cNvPr id="742" name="Google Shape;742;p64"/>
          <p:cNvSpPr/>
          <p:nvPr/>
        </p:nvSpPr>
        <p:spPr>
          <a:xfrm rot="-5400000">
            <a:off x="6779550" y="179752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sp>
        <p:nvSpPr>
          <p:cNvPr id="743" name="Google Shape;743;p64"/>
          <p:cNvSpPr/>
          <p:nvPr/>
        </p:nvSpPr>
        <p:spPr>
          <a:xfrm rot="-5400000">
            <a:off x="7084350" y="179752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sp>
        <p:nvSpPr>
          <p:cNvPr id="744" name="Google Shape;744;p64"/>
          <p:cNvSpPr/>
          <p:nvPr/>
        </p:nvSpPr>
        <p:spPr>
          <a:xfrm rot="-5400000">
            <a:off x="7389150" y="179752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grpSp>
        <p:nvGrpSpPr>
          <p:cNvPr id="745" name="Google Shape;745;p64"/>
          <p:cNvGrpSpPr/>
          <p:nvPr/>
        </p:nvGrpSpPr>
        <p:grpSpPr>
          <a:xfrm>
            <a:off x="7773650" y="924575"/>
            <a:ext cx="583150" cy="990600"/>
            <a:chOff x="7773650" y="924575"/>
            <a:chExt cx="583150" cy="990600"/>
          </a:xfrm>
        </p:grpSpPr>
        <p:cxnSp>
          <p:nvCxnSpPr>
            <p:cNvPr id="746" name="Google Shape;746;p64"/>
            <p:cNvCxnSpPr>
              <a:stCxn id="737" idx="3"/>
              <a:endCxn id="744" idx="2"/>
            </p:cNvCxnSpPr>
            <p:nvPr/>
          </p:nvCxnSpPr>
          <p:spPr>
            <a:xfrm>
              <a:off x="7773650" y="924575"/>
              <a:ext cx="600" cy="990600"/>
            </a:xfrm>
            <a:prstGeom prst="curvedConnector3">
              <a:avLst>
                <a:gd name="adj1" fmla="val 39687500"/>
              </a:avLst>
            </a:prstGeom>
            <a:noFill/>
            <a:ln w="19050" cap="flat" cmpd="sng">
              <a:solidFill>
                <a:srgbClr val="EA9999"/>
              </a:solidFill>
              <a:prstDash val="solid"/>
              <a:round/>
              <a:headEnd type="none" w="med" len="med"/>
              <a:tailEnd type="triangle" w="med" len="med"/>
            </a:ln>
          </p:spPr>
        </p:cxnSp>
        <p:sp>
          <p:nvSpPr>
            <p:cNvPr id="747" name="Google Shape;747;p64"/>
            <p:cNvSpPr/>
            <p:nvPr/>
          </p:nvSpPr>
          <p:spPr>
            <a:xfrm rot="-5400000">
              <a:off x="7972350" y="130227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grpSp>
      <p:grpSp>
        <p:nvGrpSpPr>
          <p:cNvPr id="748" name="Google Shape;748;p64"/>
          <p:cNvGrpSpPr/>
          <p:nvPr/>
        </p:nvGrpSpPr>
        <p:grpSpPr>
          <a:xfrm>
            <a:off x="5740013" y="1915125"/>
            <a:ext cx="586687" cy="1197300"/>
            <a:chOff x="5740013" y="1915125"/>
            <a:chExt cx="586687" cy="1197300"/>
          </a:xfrm>
        </p:grpSpPr>
        <p:cxnSp>
          <p:nvCxnSpPr>
            <p:cNvPr id="749" name="Google Shape;749;p64"/>
            <p:cNvCxnSpPr>
              <a:stCxn id="740" idx="0"/>
              <a:endCxn id="739" idx="1"/>
            </p:cNvCxnSpPr>
            <p:nvPr/>
          </p:nvCxnSpPr>
          <p:spPr>
            <a:xfrm>
              <a:off x="6319200" y="1915125"/>
              <a:ext cx="7500" cy="1197300"/>
            </a:xfrm>
            <a:prstGeom prst="curvedConnector3">
              <a:avLst>
                <a:gd name="adj1" fmla="val -3175000"/>
              </a:avLst>
            </a:prstGeom>
            <a:noFill/>
            <a:ln w="19050" cap="flat" cmpd="sng">
              <a:solidFill>
                <a:srgbClr val="EA9999"/>
              </a:solidFill>
              <a:prstDash val="solid"/>
              <a:round/>
              <a:headEnd type="none" w="med" len="med"/>
              <a:tailEnd type="triangle" w="med" len="med"/>
            </a:ln>
          </p:spPr>
        </p:cxnSp>
        <p:sp>
          <p:nvSpPr>
            <p:cNvPr id="750" name="Google Shape;750;p64"/>
            <p:cNvSpPr/>
            <p:nvPr/>
          </p:nvSpPr>
          <p:spPr>
            <a:xfrm rot="-5400000">
              <a:off x="5590763" y="2445275"/>
              <a:ext cx="533700" cy="235200"/>
            </a:xfrm>
            <a:prstGeom prst="rect">
              <a:avLst/>
            </a:prstGeom>
            <a:solidFill>
              <a:srgbClr val="E69138"/>
            </a:solid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Job</a:t>
              </a:r>
              <a:endParaRPr>
                <a:solidFill>
                  <a:srgbClr val="FFFFFF"/>
                </a:solidFill>
              </a:endParaRPr>
            </a:p>
          </p:txBody>
        </p:sp>
      </p:grpSp>
      <p:sp>
        <p:nvSpPr>
          <p:cNvPr id="751" name="Google Shape;751;p64"/>
          <p:cNvSpPr txBox="1"/>
          <p:nvPr/>
        </p:nvSpPr>
        <p:spPr>
          <a:xfrm>
            <a:off x="5115900" y="3479575"/>
            <a:ext cx="3829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In the </a:t>
            </a:r>
            <a:r>
              <a:rPr lang="en" sz="1200" b="1" i="1" dirty="0">
                <a:solidFill>
                  <a:srgbClr val="FF0000"/>
                </a:solidFill>
              </a:rPr>
              <a:t>Producer/Consumer</a:t>
            </a:r>
            <a:r>
              <a:rPr lang="en" sz="1200" dirty="0"/>
              <a:t> pattern, one or more </a:t>
            </a:r>
            <a:r>
              <a:rPr lang="en" sz="1200" b="1" i="1" dirty="0">
                <a:solidFill>
                  <a:srgbClr val="FF0000"/>
                </a:solidFill>
              </a:rPr>
              <a:t>producers </a:t>
            </a:r>
            <a:r>
              <a:rPr lang="en" sz="1200" dirty="0"/>
              <a:t>creates jobs and adds them to a queue before sending a notification.</a:t>
            </a:r>
            <a:endParaRPr sz="1200" dirty="0"/>
          </a:p>
        </p:txBody>
      </p:sp>
      <p:sp>
        <p:nvSpPr>
          <p:cNvPr id="752" name="Google Shape;752;p64"/>
          <p:cNvSpPr txBox="1"/>
          <p:nvPr/>
        </p:nvSpPr>
        <p:spPr>
          <a:xfrm>
            <a:off x="5116025" y="4301100"/>
            <a:ext cx="3829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spAutoFit/>
          </a:bodyPr>
          <a:lstStyle/>
          <a:p>
            <a:pPr marL="0" lvl="0" indent="0" algn="l" rtl="0">
              <a:spcBef>
                <a:spcPts val="0"/>
              </a:spcBef>
              <a:spcAft>
                <a:spcPts val="0"/>
              </a:spcAft>
              <a:buNone/>
            </a:pPr>
            <a:r>
              <a:rPr lang="en" sz="1200" dirty="0"/>
              <a:t>One or more </a:t>
            </a:r>
            <a:r>
              <a:rPr lang="en" sz="1200" b="1" i="1" dirty="0">
                <a:solidFill>
                  <a:srgbClr val="FF0000"/>
                </a:solidFill>
              </a:rPr>
              <a:t>consumers </a:t>
            </a:r>
            <a:r>
              <a:rPr lang="en" sz="1200" dirty="0"/>
              <a:t>waits for notification. When notified, a </a:t>
            </a:r>
            <a:r>
              <a:rPr lang="en" sz="1200" b="1" i="1" dirty="0">
                <a:solidFill>
                  <a:srgbClr val="FF0000"/>
                </a:solidFill>
              </a:rPr>
              <a:t>consumer </a:t>
            </a:r>
            <a:r>
              <a:rPr lang="en" sz="1200" dirty="0"/>
              <a:t>removes the next job from the queue and executes it.</a:t>
            </a: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1"/>
                                        </p:tgtEl>
                                        <p:attrNameLst>
                                          <p:attrName>style.visibility</p:attrName>
                                        </p:attrNameLst>
                                      </p:cBhvr>
                                      <p:to>
                                        <p:strVal val="visible"/>
                                      </p:to>
                                    </p:set>
                                    <p:animEffect transition="in" filter="fade">
                                      <p:cBhvr>
                                        <p:cTn id="7" dur="1000"/>
                                        <p:tgtEl>
                                          <p:spTgt spid="751"/>
                                        </p:tgtEl>
                                      </p:cBhvr>
                                    </p:animEffect>
                                  </p:childTnLst>
                                </p:cTn>
                              </p:par>
                              <p:par>
                                <p:cTn id="8" presetID="10" presetClass="entr" presetSubtype="0" fill="hold" nodeType="withEffect">
                                  <p:stCondLst>
                                    <p:cond delay="0"/>
                                  </p:stCondLst>
                                  <p:childTnLst>
                                    <p:set>
                                      <p:cBhvr>
                                        <p:cTn id="9" dur="1" fill="hold">
                                          <p:stCondLst>
                                            <p:cond delay="0"/>
                                          </p:stCondLst>
                                        </p:cTn>
                                        <p:tgtEl>
                                          <p:spTgt spid="736"/>
                                        </p:tgtEl>
                                        <p:attrNameLst>
                                          <p:attrName>style.visibility</p:attrName>
                                        </p:attrNameLst>
                                      </p:cBhvr>
                                      <p:to>
                                        <p:strVal val="visible"/>
                                      </p:to>
                                    </p:set>
                                    <p:animEffect transition="in" filter="fade">
                                      <p:cBhvr>
                                        <p:cTn id="10" dur="1000"/>
                                        <p:tgtEl>
                                          <p:spTgt spid="736"/>
                                        </p:tgtEl>
                                      </p:cBhvr>
                                    </p:animEffect>
                                  </p:childTnLst>
                                </p:cTn>
                              </p:par>
                            </p:childTnLst>
                          </p:cTn>
                        </p:par>
                        <p:par>
                          <p:cTn id="11" fill="hold">
                            <p:stCondLst>
                              <p:cond delay="1000"/>
                            </p:stCondLst>
                            <p:childTnLst>
                              <p:par>
                                <p:cTn id="12" presetID="10" presetClass="entr" presetSubtype="0" fill="hold" nodeType="afterEffect">
                                  <p:stCondLst>
                                    <p:cond delay="0"/>
                                  </p:stCondLst>
                                  <p:childTnLst>
                                    <p:set>
                                      <p:cBhvr>
                                        <p:cTn id="13" dur="1" fill="hold">
                                          <p:stCondLst>
                                            <p:cond delay="0"/>
                                          </p:stCondLst>
                                        </p:cTn>
                                        <p:tgtEl>
                                          <p:spTgt spid="745"/>
                                        </p:tgtEl>
                                        <p:attrNameLst>
                                          <p:attrName>style.visibility</p:attrName>
                                        </p:attrNameLst>
                                      </p:cBhvr>
                                      <p:to>
                                        <p:strVal val="visible"/>
                                      </p:to>
                                    </p:set>
                                    <p:animEffect transition="in" filter="fade">
                                      <p:cBhvr>
                                        <p:cTn id="14" dur="1000"/>
                                        <p:tgtEl>
                                          <p:spTgt spid="745"/>
                                        </p:tgtEl>
                                      </p:cBhvr>
                                    </p:animEffect>
                                  </p:childTnLst>
                                </p:cTn>
                              </p:par>
                            </p:childTnLst>
                          </p:cTn>
                        </p:par>
                        <p:par>
                          <p:cTn id="15" fill="hold">
                            <p:stCondLst>
                              <p:cond delay="2000"/>
                            </p:stCondLst>
                            <p:childTnLst>
                              <p:par>
                                <p:cTn id="16" presetID="10" presetClass="entr" presetSubtype="0" fill="hold" nodeType="afterEffect">
                                  <p:stCondLst>
                                    <p:cond delay="0"/>
                                  </p:stCondLst>
                                  <p:childTnLst>
                                    <p:set>
                                      <p:cBhvr>
                                        <p:cTn id="17" dur="1" fill="hold">
                                          <p:stCondLst>
                                            <p:cond delay="0"/>
                                          </p:stCondLst>
                                        </p:cTn>
                                        <p:tgtEl>
                                          <p:spTgt spid="740"/>
                                        </p:tgtEl>
                                        <p:attrNameLst>
                                          <p:attrName>style.visibility</p:attrName>
                                        </p:attrNameLst>
                                      </p:cBhvr>
                                      <p:to>
                                        <p:strVal val="visible"/>
                                      </p:to>
                                    </p:set>
                                    <p:animEffect transition="in" filter="fade">
                                      <p:cBhvr>
                                        <p:cTn id="18" dur="1000"/>
                                        <p:tgtEl>
                                          <p:spTgt spid="740"/>
                                        </p:tgtEl>
                                      </p:cBhvr>
                                    </p:animEffect>
                                  </p:childTnLst>
                                </p:cTn>
                              </p:par>
                            </p:childTnLst>
                          </p:cTn>
                        </p:par>
                        <p:par>
                          <p:cTn id="19" fill="hold">
                            <p:stCondLst>
                              <p:cond delay="3000"/>
                            </p:stCondLst>
                            <p:childTnLst>
                              <p:par>
                                <p:cTn id="20" presetID="10" presetClass="entr" presetSubtype="0" fill="hold" nodeType="afterEffect">
                                  <p:stCondLst>
                                    <p:cond delay="0"/>
                                  </p:stCondLst>
                                  <p:childTnLst>
                                    <p:set>
                                      <p:cBhvr>
                                        <p:cTn id="21" dur="1" fill="hold">
                                          <p:stCondLst>
                                            <p:cond delay="0"/>
                                          </p:stCondLst>
                                        </p:cTn>
                                        <p:tgtEl>
                                          <p:spTgt spid="741"/>
                                        </p:tgtEl>
                                        <p:attrNameLst>
                                          <p:attrName>style.visibility</p:attrName>
                                        </p:attrNameLst>
                                      </p:cBhvr>
                                      <p:to>
                                        <p:strVal val="visible"/>
                                      </p:to>
                                    </p:set>
                                    <p:animEffect transition="in" filter="fade">
                                      <p:cBhvr>
                                        <p:cTn id="22" dur="1000"/>
                                        <p:tgtEl>
                                          <p:spTgt spid="741"/>
                                        </p:tgtEl>
                                      </p:cBhvr>
                                    </p:animEffect>
                                  </p:childTnLst>
                                </p:cTn>
                              </p:par>
                            </p:childTnLst>
                          </p:cTn>
                        </p:par>
                        <p:par>
                          <p:cTn id="23" fill="hold">
                            <p:stCondLst>
                              <p:cond delay="4000"/>
                            </p:stCondLst>
                            <p:childTnLst>
                              <p:par>
                                <p:cTn id="24" presetID="10" presetClass="entr" presetSubtype="0" fill="hold" nodeType="afterEffect">
                                  <p:stCondLst>
                                    <p:cond delay="0"/>
                                  </p:stCondLst>
                                  <p:childTnLst>
                                    <p:set>
                                      <p:cBhvr>
                                        <p:cTn id="25" dur="1" fill="hold">
                                          <p:stCondLst>
                                            <p:cond delay="0"/>
                                          </p:stCondLst>
                                        </p:cTn>
                                        <p:tgtEl>
                                          <p:spTgt spid="742"/>
                                        </p:tgtEl>
                                        <p:attrNameLst>
                                          <p:attrName>style.visibility</p:attrName>
                                        </p:attrNameLst>
                                      </p:cBhvr>
                                      <p:to>
                                        <p:strVal val="visible"/>
                                      </p:to>
                                    </p:set>
                                    <p:animEffect transition="in" filter="fade">
                                      <p:cBhvr>
                                        <p:cTn id="26" dur="1000"/>
                                        <p:tgtEl>
                                          <p:spTgt spid="742"/>
                                        </p:tgtEl>
                                      </p:cBhvr>
                                    </p:animEffect>
                                  </p:childTnLst>
                                </p:cTn>
                              </p:par>
                            </p:childTnLst>
                          </p:cTn>
                        </p:par>
                        <p:par>
                          <p:cTn id="27" fill="hold">
                            <p:stCondLst>
                              <p:cond delay="5000"/>
                            </p:stCondLst>
                            <p:childTnLst>
                              <p:par>
                                <p:cTn id="28" presetID="10" presetClass="entr" presetSubtype="0" fill="hold" nodeType="afterEffect">
                                  <p:stCondLst>
                                    <p:cond delay="0"/>
                                  </p:stCondLst>
                                  <p:childTnLst>
                                    <p:set>
                                      <p:cBhvr>
                                        <p:cTn id="29" dur="1" fill="hold">
                                          <p:stCondLst>
                                            <p:cond delay="0"/>
                                          </p:stCondLst>
                                        </p:cTn>
                                        <p:tgtEl>
                                          <p:spTgt spid="743"/>
                                        </p:tgtEl>
                                        <p:attrNameLst>
                                          <p:attrName>style.visibility</p:attrName>
                                        </p:attrNameLst>
                                      </p:cBhvr>
                                      <p:to>
                                        <p:strVal val="visible"/>
                                      </p:to>
                                    </p:set>
                                    <p:animEffect transition="in" filter="fade">
                                      <p:cBhvr>
                                        <p:cTn id="30" dur="1000"/>
                                        <p:tgtEl>
                                          <p:spTgt spid="743"/>
                                        </p:tgtEl>
                                      </p:cBhvr>
                                    </p:animEffect>
                                  </p:childTnLst>
                                </p:cTn>
                              </p:par>
                            </p:childTnLst>
                          </p:cTn>
                        </p:par>
                        <p:par>
                          <p:cTn id="31" fill="hold">
                            <p:stCondLst>
                              <p:cond delay="6000"/>
                            </p:stCondLst>
                            <p:childTnLst>
                              <p:par>
                                <p:cTn id="32" presetID="10" presetClass="entr" presetSubtype="0" fill="hold" nodeType="afterEffect">
                                  <p:stCondLst>
                                    <p:cond delay="0"/>
                                  </p:stCondLst>
                                  <p:childTnLst>
                                    <p:set>
                                      <p:cBhvr>
                                        <p:cTn id="33" dur="1" fill="hold">
                                          <p:stCondLst>
                                            <p:cond delay="0"/>
                                          </p:stCondLst>
                                        </p:cTn>
                                        <p:tgtEl>
                                          <p:spTgt spid="744"/>
                                        </p:tgtEl>
                                        <p:attrNameLst>
                                          <p:attrName>style.visibility</p:attrName>
                                        </p:attrNameLst>
                                      </p:cBhvr>
                                      <p:to>
                                        <p:strVal val="visible"/>
                                      </p:to>
                                    </p:set>
                                    <p:animEffect transition="in" filter="fade">
                                      <p:cBhvr>
                                        <p:cTn id="34" dur="1000"/>
                                        <p:tgtEl>
                                          <p:spTgt spid="74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752"/>
                                        </p:tgtEl>
                                        <p:attrNameLst>
                                          <p:attrName>style.visibility</p:attrName>
                                        </p:attrNameLst>
                                      </p:cBhvr>
                                      <p:to>
                                        <p:strVal val="visible"/>
                                      </p:to>
                                    </p:set>
                                    <p:animEffect transition="in" filter="fade">
                                      <p:cBhvr>
                                        <p:cTn id="39" dur="1000"/>
                                        <p:tgtEl>
                                          <p:spTgt spid="752"/>
                                        </p:tgtEl>
                                      </p:cBhvr>
                                    </p:animEffect>
                                  </p:childTnLst>
                                </p:cTn>
                              </p:par>
                              <p:par>
                                <p:cTn id="40" presetID="10" presetClass="entr" presetSubtype="0" fill="hold" nodeType="withEffect">
                                  <p:stCondLst>
                                    <p:cond delay="0"/>
                                  </p:stCondLst>
                                  <p:childTnLst>
                                    <p:set>
                                      <p:cBhvr>
                                        <p:cTn id="41" dur="1" fill="hold">
                                          <p:stCondLst>
                                            <p:cond delay="0"/>
                                          </p:stCondLst>
                                        </p:cTn>
                                        <p:tgtEl>
                                          <p:spTgt spid="739"/>
                                        </p:tgtEl>
                                        <p:attrNameLst>
                                          <p:attrName>style.visibility</p:attrName>
                                        </p:attrNameLst>
                                      </p:cBhvr>
                                      <p:to>
                                        <p:strVal val="visible"/>
                                      </p:to>
                                    </p:set>
                                    <p:animEffect transition="in" filter="fade">
                                      <p:cBhvr>
                                        <p:cTn id="42" dur="1000"/>
                                        <p:tgtEl>
                                          <p:spTgt spid="739"/>
                                        </p:tgtEl>
                                      </p:cBhvr>
                                    </p:animEffect>
                                  </p:childTnLst>
                                </p:cTn>
                              </p:par>
                            </p:childTnLst>
                          </p:cTn>
                        </p:par>
                        <p:par>
                          <p:cTn id="43" fill="hold">
                            <p:stCondLst>
                              <p:cond delay="1000"/>
                            </p:stCondLst>
                            <p:childTnLst>
                              <p:par>
                                <p:cTn id="44" presetID="10" presetClass="entr" presetSubtype="0" fill="hold" nodeType="afterEffect">
                                  <p:stCondLst>
                                    <p:cond delay="0"/>
                                  </p:stCondLst>
                                  <p:childTnLst>
                                    <p:set>
                                      <p:cBhvr>
                                        <p:cTn id="45" dur="1" fill="hold">
                                          <p:stCondLst>
                                            <p:cond delay="0"/>
                                          </p:stCondLst>
                                        </p:cTn>
                                        <p:tgtEl>
                                          <p:spTgt spid="748"/>
                                        </p:tgtEl>
                                        <p:attrNameLst>
                                          <p:attrName>style.visibility</p:attrName>
                                        </p:attrNameLst>
                                      </p:cBhvr>
                                      <p:to>
                                        <p:strVal val="visible"/>
                                      </p:to>
                                    </p:set>
                                    <p:animEffect transition="in" filter="fade">
                                      <p:cBhvr>
                                        <p:cTn id="46" dur="1000"/>
                                        <p:tgtEl>
                                          <p:spTgt spid="748"/>
                                        </p:tgtEl>
                                      </p:cBhvr>
                                    </p:animEffect>
                                  </p:childTnLst>
                                </p:cTn>
                              </p:par>
                              <p:par>
                                <p:cTn id="47" presetID="10" presetClass="exit" presetSubtype="0" fill="hold" nodeType="withEffect">
                                  <p:stCondLst>
                                    <p:cond delay="0"/>
                                  </p:stCondLst>
                                  <p:childTnLst>
                                    <p:animEffect transition="out" filter="fade">
                                      <p:cBhvr>
                                        <p:cTn id="48" dur="1000"/>
                                        <p:tgtEl>
                                          <p:spTgt spid="744"/>
                                        </p:tgtEl>
                                      </p:cBhvr>
                                    </p:animEffect>
                                    <p:set>
                                      <p:cBhvr>
                                        <p:cTn id="49" dur="1" fill="hold">
                                          <p:stCondLst>
                                            <p:cond delay="1000"/>
                                          </p:stCondLst>
                                        </p:cTn>
                                        <p:tgtEl>
                                          <p:spTgt spid="744"/>
                                        </p:tgtEl>
                                        <p:attrNameLst>
                                          <p:attrName>style.visibility</p:attrName>
                                        </p:attrNameLst>
                                      </p:cBhvr>
                                      <p:to>
                                        <p:strVal val="hidden"/>
                                      </p:to>
                                    </p:set>
                                  </p:childTnLst>
                                </p:cTn>
                              </p:par>
                            </p:childTnLst>
                          </p:cTn>
                        </p:par>
                        <p:par>
                          <p:cTn id="50" fill="hold">
                            <p:stCondLst>
                              <p:cond delay="2000"/>
                            </p:stCondLst>
                            <p:childTnLst>
                              <p:par>
                                <p:cTn id="51" presetID="10" presetClass="exit" presetSubtype="0" fill="hold" nodeType="afterEffect">
                                  <p:stCondLst>
                                    <p:cond delay="0"/>
                                  </p:stCondLst>
                                  <p:childTnLst>
                                    <p:animEffect transition="out" filter="fade">
                                      <p:cBhvr>
                                        <p:cTn id="52" dur="1000"/>
                                        <p:tgtEl>
                                          <p:spTgt spid="743"/>
                                        </p:tgtEl>
                                      </p:cBhvr>
                                    </p:animEffect>
                                    <p:set>
                                      <p:cBhvr>
                                        <p:cTn id="53" dur="1" fill="hold">
                                          <p:stCondLst>
                                            <p:cond delay="1000"/>
                                          </p:stCondLst>
                                        </p:cTn>
                                        <p:tgtEl>
                                          <p:spTgt spid="743"/>
                                        </p:tgtEl>
                                        <p:attrNameLst>
                                          <p:attrName>style.visibility</p:attrName>
                                        </p:attrNameLst>
                                      </p:cBhvr>
                                      <p:to>
                                        <p:strVal val="hidden"/>
                                      </p:to>
                                    </p:set>
                                  </p:childTnLst>
                                </p:cTn>
                              </p:par>
                            </p:childTnLst>
                          </p:cTn>
                        </p:par>
                        <p:par>
                          <p:cTn id="54" fill="hold">
                            <p:stCondLst>
                              <p:cond delay="3000"/>
                            </p:stCondLst>
                            <p:childTnLst>
                              <p:par>
                                <p:cTn id="55" presetID="10" presetClass="exit" presetSubtype="0" fill="hold" nodeType="afterEffect">
                                  <p:stCondLst>
                                    <p:cond delay="0"/>
                                  </p:stCondLst>
                                  <p:childTnLst>
                                    <p:animEffect transition="out" filter="fade">
                                      <p:cBhvr>
                                        <p:cTn id="56" dur="1000"/>
                                        <p:tgtEl>
                                          <p:spTgt spid="742"/>
                                        </p:tgtEl>
                                      </p:cBhvr>
                                    </p:animEffect>
                                    <p:set>
                                      <p:cBhvr>
                                        <p:cTn id="57" dur="1" fill="hold">
                                          <p:stCondLst>
                                            <p:cond delay="1000"/>
                                          </p:stCondLst>
                                        </p:cTn>
                                        <p:tgtEl>
                                          <p:spTgt spid="742"/>
                                        </p:tgtEl>
                                        <p:attrNameLst>
                                          <p:attrName>style.visibility</p:attrName>
                                        </p:attrNameLst>
                                      </p:cBhvr>
                                      <p:to>
                                        <p:strVal val="hidden"/>
                                      </p:to>
                                    </p:set>
                                  </p:childTnLst>
                                </p:cTn>
                              </p:par>
                            </p:childTnLst>
                          </p:cTn>
                        </p:par>
                        <p:par>
                          <p:cTn id="58" fill="hold">
                            <p:stCondLst>
                              <p:cond delay="4000"/>
                            </p:stCondLst>
                            <p:childTnLst>
                              <p:par>
                                <p:cTn id="59" presetID="10" presetClass="exit" presetSubtype="0" fill="hold" nodeType="afterEffect">
                                  <p:stCondLst>
                                    <p:cond delay="0"/>
                                  </p:stCondLst>
                                  <p:childTnLst>
                                    <p:animEffect transition="out" filter="fade">
                                      <p:cBhvr>
                                        <p:cTn id="60" dur="1000"/>
                                        <p:tgtEl>
                                          <p:spTgt spid="741"/>
                                        </p:tgtEl>
                                      </p:cBhvr>
                                    </p:animEffect>
                                    <p:set>
                                      <p:cBhvr>
                                        <p:cTn id="61" dur="1" fill="hold">
                                          <p:stCondLst>
                                            <p:cond delay="1000"/>
                                          </p:stCondLst>
                                        </p:cTn>
                                        <p:tgtEl>
                                          <p:spTgt spid="741"/>
                                        </p:tgtEl>
                                        <p:attrNameLst>
                                          <p:attrName>style.visibility</p:attrName>
                                        </p:attrNameLst>
                                      </p:cBhvr>
                                      <p:to>
                                        <p:strVal val="hidden"/>
                                      </p:to>
                                    </p:set>
                                  </p:childTnLst>
                                </p:cTn>
                              </p:par>
                            </p:childTnLst>
                          </p:cTn>
                        </p:par>
                        <p:par>
                          <p:cTn id="62" fill="hold">
                            <p:stCondLst>
                              <p:cond delay="5000"/>
                            </p:stCondLst>
                            <p:childTnLst>
                              <p:par>
                                <p:cTn id="63" presetID="10" presetClass="exit" presetSubtype="0" fill="hold" nodeType="afterEffect">
                                  <p:stCondLst>
                                    <p:cond delay="0"/>
                                  </p:stCondLst>
                                  <p:childTnLst>
                                    <p:animEffect transition="out" filter="fade">
                                      <p:cBhvr>
                                        <p:cTn id="64" dur="1000"/>
                                        <p:tgtEl>
                                          <p:spTgt spid="740"/>
                                        </p:tgtEl>
                                      </p:cBhvr>
                                    </p:animEffect>
                                    <p:set>
                                      <p:cBhvr>
                                        <p:cTn id="65" dur="1" fill="hold">
                                          <p:stCondLst>
                                            <p:cond delay="1000"/>
                                          </p:stCondLst>
                                        </p:cTn>
                                        <p:tgtEl>
                                          <p:spTgt spid="7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6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Consumer</a:t>
            </a:r>
            <a:endParaRPr/>
          </a:p>
        </p:txBody>
      </p:sp>
      <p:sp>
        <p:nvSpPr>
          <p:cNvPr id="758" name="Google Shape;758;p65"/>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i="1"/>
              <a:t>consumer </a:t>
            </a:r>
            <a:r>
              <a:rPr lang="en"/>
              <a:t>in a </a:t>
            </a:r>
            <a:r>
              <a:rPr lang="en" i="1"/>
              <a:t>producer/consumer</a:t>
            </a:r>
            <a:r>
              <a:rPr lang="en"/>
              <a:t> pattern is a thread that waits for some work to do. Let's write a consumer that prints strings added to a queue to standard output. If the queue is empty, the consumer should wait. </a:t>
            </a:r>
            <a:endParaRPr/>
          </a:p>
        </p:txBody>
      </p:sp>
      <p:sp>
        <p:nvSpPr>
          <p:cNvPr id="759" name="Google Shape;759;p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34</a:t>
            </a:fld>
            <a:endParaRPr/>
          </a:p>
        </p:txBody>
      </p:sp>
      <p:sp>
        <p:nvSpPr>
          <p:cNvPr id="760" name="Google Shape;760;p65"/>
          <p:cNvSpPr txBox="1">
            <a:spLocks noGrp="1"/>
          </p:cNvSpPr>
          <p:nvPr>
            <p:ph type="body" idx="2"/>
          </p:nvPr>
        </p:nvSpPr>
        <p:spPr>
          <a:xfrm>
            <a:off x="2452275" y="1570875"/>
            <a:ext cx="6483000" cy="35757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Consumer</a:t>
            </a:r>
            <a:r>
              <a:rPr lang="en" dirty="0"/>
              <a:t>" in the </a:t>
            </a:r>
            <a:r>
              <a:rPr lang="en" dirty="0">
                <a:latin typeface="Courier New"/>
                <a:ea typeface="Courier New"/>
                <a:cs typeface="Courier New"/>
                <a:sym typeface="Courier New"/>
              </a:rPr>
              <a:t>activities</a:t>
            </a:r>
            <a:r>
              <a:rPr lang="en" dirty="0"/>
              <a:t> package and use your preferred method to make it a thread.</a:t>
            </a:r>
            <a:endParaRPr dirty="0"/>
          </a:p>
          <a:p>
            <a:pPr marL="914400" lvl="1" indent="-298450" algn="l" rtl="0">
              <a:spcBef>
                <a:spcPts val="0"/>
              </a:spcBef>
              <a:spcAft>
                <a:spcPts val="0"/>
              </a:spcAft>
              <a:buSzPts val="1100"/>
              <a:buChar char="○"/>
            </a:pPr>
            <a:r>
              <a:rPr lang="en" dirty="0"/>
              <a:t>The class should declare fields for a </a:t>
            </a:r>
            <a:r>
              <a:rPr lang="en" dirty="0">
                <a:solidFill>
                  <a:srgbClr val="FF0000"/>
                </a:solidFill>
                <a:latin typeface="Courier New"/>
                <a:ea typeface="Courier New"/>
                <a:cs typeface="Courier New"/>
                <a:sym typeface="Courier New"/>
              </a:rPr>
              <a:t>queue</a:t>
            </a:r>
            <a:r>
              <a:rPr lang="en" dirty="0">
                <a:solidFill>
                  <a:srgbClr val="FF0000"/>
                </a:solidFill>
              </a:rPr>
              <a:t> </a:t>
            </a:r>
            <a:r>
              <a:rPr lang="en" dirty="0"/>
              <a:t>of strings (a </a:t>
            </a:r>
            <a:r>
              <a:rPr lang="en" dirty="0">
                <a:latin typeface="Courier New"/>
                <a:ea typeface="Courier New"/>
                <a:cs typeface="Courier New"/>
                <a:sym typeface="Courier New"/>
              </a:rPr>
              <a:t>LinkedList</a:t>
            </a:r>
            <a:r>
              <a:rPr lang="en" dirty="0"/>
              <a:t>), a </a:t>
            </a:r>
            <a:r>
              <a:rPr lang="en" dirty="0">
                <a:solidFill>
                  <a:srgbClr val="FF0000"/>
                </a:solidFill>
                <a:latin typeface="Courier New"/>
                <a:ea typeface="Courier New"/>
                <a:cs typeface="Courier New"/>
                <a:sym typeface="Courier New"/>
              </a:rPr>
              <a:t>lock</a:t>
            </a:r>
            <a:r>
              <a:rPr lang="en" dirty="0"/>
              <a:t>, a </a:t>
            </a:r>
            <a:r>
              <a:rPr lang="en" dirty="0">
                <a:solidFill>
                  <a:srgbClr val="FF0000"/>
                </a:solidFill>
                <a:latin typeface="Courier New"/>
                <a:ea typeface="Courier New"/>
                <a:cs typeface="Courier New"/>
                <a:sym typeface="Courier New"/>
              </a:rPr>
              <a:t>condition</a:t>
            </a:r>
            <a:r>
              <a:rPr lang="en" dirty="0"/>
              <a:t>, and an </a:t>
            </a:r>
            <a:r>
              <a:rPr lang="en" dirty="0">
                <a:solidFill>
                  <a:srgbClr val="FF0000"/>
                </a:solidFill>
                <a:latin typeface="Courier New"/>
                <a:ea typeface="Courier New"/>
                <a:cs typeface="Courier New"/>
                <a:sym typeface="Courier New"/>
              </a:rPr>
              <a:t>id</a:t>
            </a:r>
            <a:r>
              <a:rPr lang="en" dirty="0"/>
              <a:t>.</a:t>
            </a:r>
            <a:endParaRPr dirty="0"/>
          </a:p>
          <a:p>
            <a:pPr marL="914400" lvl="1" indent="-298450" algn="l" rtl="0">
              <a:spcBef>
                <a:spcPts val="0"/>
              </a:spcBef>
              <a:spcAft>
                <a:spcPts val="0"/>
              </a:spcAft>
              <a:buSzPts val="1100"/>
              <a:buChar char="○"/>
            </a:pPr>
            <a:r>
              <a:rPr lang="en" dirty="0"/>
              <a:t>Write an </a:t>
            </a:r>
            <a:r>
              <a:rPr lang="en" b="1" i="1" dirty="0">
                <a:solidFill>
                  <a:srgbClr val="FF0000"/>
                </a:solidFill>
              </a:rPr>
              <a:t>initializing constructor</a:t>
            </a:r>
            <a:r>
              <a:rPr lang="en" dirty="0"/>
              <a:t>.</a:t>
            </a:r>
            <a:endParaRPr dirty="0"/>
          </a:p>
          <a:p>
            <a:pPr marL="914400" lvl="1" indent="-298450" algn="l" rtl="0">
              <a:spcBef>
                <a:spcPts val="0"/>
              </a:spcBef>
              <a:spcAft>
                <a:spcPts val="0"/>
              </a:spcAft>
              <a:buSzPts val="1100"/>
              <a:buChar char="○"/>
            </a:pPr>
            <a:r>
              <a:rPr lang="en" dirty="0"/>
              <a:t>The </a:t>
            </a:r>
            <a:r>
              <a:rPr lang="en" dirty="0">
                <a:solidFill>
                  <a:srgbClr val="FF0000"/>
                </a:solidFill>
                <a:highlight>
                  <a:srgbClr val="FFFF00"/>
                </a:highlight>
                <a:latin typeface="Courier New"/>
                <a:ea typeface="Courier New"/>
                <a:cs typeface="Courier New"/>
                <a:sym typeface="Courier New"/>
              </a:rPr>
              <a:t>run()</a:t>
            </a:r>
            <a:r>
              <a:rPr lang="en" dirty="0">
                <a:solidFill>
                  <a:srgbClr val="FF0000"/>
                </a:solidFill>
                <a:highlight>
                  <a:srgbClr val="FFFF00"/>
                </a:highlight>
              </a:rPr>
              <a:t> </a:t>
            </a:r>
            <a:r>
              <a:rPr lang="en" dirty="0"/>
              <a:t>method should use a </a:t>
            </a:r>
            <a:r>
              <a:rPr lang="en" dirty="0">
                <a:latin typeface="Courier New"/>
                <a:ea typeface="Courier New"/>
                <a:cs typeface="Courier New"/>
                <a:sym typeface="Courier New"/>
              </a:rPr>
              <a:t>while</a:t>
            </a:r>
            <a:r>
              <a:rPr lang="en" dirty="0"/>
              <a:t> loop to:</a:t>
            </a:r>
            <a:endParaRPr dirty="0"/>
          </a:p>
          <a:p>
            <a:pPr marL="1371600" lvl="2" indent="-298450" algn="l" rtl="0">
              <a:spcBef>
                <a:spcPts val="0"/>
              </a:spcBef>
              <a:spcAft>
                <a:spcPts val="0"/>
              </a:spcAft>
              <a:buSzPts val="1100"/>
              <a:buChar char="■"/>
            </a:pPr>
            <a:r>
              <a:rPr lang="en" b="1" i="1" dirty="0">
                <a:solidFill>
                  <a:srgbClr val="FF0000"/>
                </a:solidFill>
              </a:rPr>
              <a:t>Remove and print </a:t>
            </a:r>
            <a:r>
              <a:rPr lang="en" dirty="0"/>
              <a:t>any strings in the </a:t>
            </a:r>
            <a:r>
              <a:rPr lang="en" dirty="0">
                <a:latin typeface="Courier New"/>
                <a:ea typeface="Courier New"/>
                <a:cs typeface="Courier New"/>
                <a:sym typeface="Courier New"/>
              </a:rPr>
              <a:t>queue</a:t>
            </a:r>
            <a:r>
              <a:rPr lang="en" dirty="0"/>
              <a:t>. Make sure to include the Consumer's </a:t>
            </a:r>
            <a:r>
              <a:rPr lang="en" dirty="0">
                <a:latin typeface="Courier New"/>
                <a:ea typeface="Courier New"/>
                <a:cs typeface="Courier New"/>
                <a:sym typeface="Courier New"/>
              </a:rPr>
              <a:t>id</a:t>
            </a:r>
            <a:r>
              <a:rPr lang="en" dirty="0"/>
              <a:t> when printing.</a:t>
            </a:r>
            <a:endParaRPr dirty="0"/>
          </a:p>
          <a:p>
            <a:pPr marL="1371600" lvl="2" indent="-298450" algn="l" rtl="0">
              <a:spcBef>
                <a:spcPts val="0"/>
              </a:spcBef>
              <a:spcAft>
                <a:spcPts val="0"/>
              </a:spcAft>
              <a:buSzPts val="1100"/>
              <a:buChar char="■"/>
            </a:pPr>
            <a:r>
              <a:rPr lang="en" dirty="0"/>
              <a:t>If the </a:t>
            </a:r>
            <a:r>
              <a:rPr lang="en" dirty="0">
                <a:latin typeface="Courier New"/>
                <a:ea typeface="Courier New"/>
                <a:cs typeface="Courier New"/>
                <a:sym typeface="Courier New"/>
              </a:rPr>
              <a:t>queue</a:t>
            </a:r>
            <a:r>
              <a:rPr lang="en" dirty="0"/>
              <a:t> is </a:t>
            </a:r>
            <a:r>
              <a:rPr lang="en" b="1" i="1" dirty="0">
                <a:solidFill>
                  <a:srgbClr val="FF0000"/>
                </a:solidFill>
              </a:rPr>
              <a:t>empty</a:t>
            </a:r>
            <a:r>
              <a:rPr lang="en" dirty="0"/>
              <a:t>, print a message indicating that the consumer is waiting for more work, and then </a:t>
            </a:r>
            <a:r>
              <a:rPr lang="en" b="1" i="1" dirty="0">
                <a:solidFill>
                  <a:srgbClr val="FF0000"/>
                </a:solidFill>
              </a:rPr>
              <a:t>wait</a:t>
            </a:r>
            <a:r>
              <a:rPr lang="en" dirty="0"/>
              <a:t>.</a:t>
            </a:r>
            <a:endParaRPr dirty="0"/>
          </a:p>
          <a:p>
            <a:pPr marL="1371600" lvl="2" indent="-298450" algn="l" rtl="0">
              <a:spcBef>
                <a:spcPts val="0"/>
              </a:spcBef>
              <a:spcAft>
                <a:spcPts val="0"/>
              </a:spcAft>
              <a:buSzPts val="1100"/>
              <a:buChar char="■"/>
            </a:pPr>
            <a:r>
              <a:rPr lang="en" dirty="0"/>
              <a:t>Don't forget to </a:t>
            </a:r>
            <a:r>
              <a:rPr lang="en" b="1" i="1" dirty="0">
                <a:solidFill>
                  <a:srgbClr val="FF0000"/>
                </a:solidFill>
              </a:rPr>
              <a:t>lock </a:t>
            </a:r>
            <a:r>
              <a:rPr lang="en" dirty="0"/>
              <a:t>before removing from the </a:t>
            </a:r>
            <a:r>
              <a:rPr lang="en" dirty="0">
                <a:latin typeface="Courier New"/>
                <a:ea typeface="Courier New"/>
                <a:cs typeface="Courier New"/>
                <a:sym typeface="Courier New"/>
              </a:rPr>
              <a:t>queue</a:t>
            </a:r>
            <a:r>
              <a:rPr lang="en" dirty="0"/>
              <a:t> and before </a:t>
            </a:r>
            <a:r>
              <a:rPr lang="en" b="1" i="1" dirty="0">
                <a:solidFill>
                  <a:srgbClr val="FF0000"/>
                </a:solidFill>
              </a:rPr>
              <a:t>waiting</a:t>
            </a:r>
            <a:r>
              <a:rPr lang="en" dirty="0"/>
              <a:t> on a condition!</a:t>
            </a:r>
            <a:endParaRPr dirty="0"/>
          </a:p>
          <a:p>
            <a:pPr marL="457200" lvl="0" indent="-311150" algn="l" rtl="0">
              <a:spcBef>
                <a:spcPts val="0"/>
              </a:spcBef>
              <a:spcAft>
                <a:spcPts val="0"/>
              </a:spcAft>
              <a:buSzPts val="1300"/>
              <a:buChar char="●"/>
            </a:pPr>
            <a:r>
              <a:rPr lang="en" dirty="0"/>
              <a:t>Define a </a:t>
            </a:r>
            <a:r>
              <a:rPr lang="en" dirty="0">
                <a:solidFill>
                  <a:srgbClr val="FF0000"/>
                </a:solidFill>
                <a:latin typeface="Courier New"/>
                <a:ea typeface="Courier New"/>
                <a:cs typeface="Courier New"/>
                <a:sym typeface="Courier New"/>
              </a:rPr>
              <a:t>main</a:t>
            </a:r>
            <a:r>
              <a:rPr lang="en" dirty="0">
                <a:solidFill>
                  <a:srgbClr val="FF0000"/>
                </a:solidFill>
              </a:rPr>
              <a:t> </a:t>
            </a:r>
            <a:r>
              <a:rPr lang="en" dirty="0"/>
              <a:t>method with the appropriate signature and:</a:t>
            </a:r>
            <a:endParaRPr dirty="0"/>
          </a:p>
          <a:p>
            <a:pPr marL="914400" lvl="1" indent="-298450" algn="l" rtl="0">
              <a:spcBef>
                <a:spcPts val="0"/>
              </a:spcBef>
              <a:spcAft>
                <a:spcPts val="0"/>
              </a:spcAft>
              <a:buSzPts val="1100"/>
              <a:buChar char="○"/>
            </a:pPr>
            <a:r>
              <a:rPr lang="en" dirty="0"/>
              <a:t>Create a </a:t>
            </a:r>
            <a:r>
              <a:rPr lang="en" dirty="0">
                <a:latin typeface="Courier New"/>
                <a:ea typeface="Courier New"/>
                <a:cs typeface="Courier New"/>
                <a:sym typeface="Courier New"/>
              </a:rPr>
              <a:t>LinkedList</a:t>
            </a:r>
            <a:r>
              <a:rPr lang="en" dirty="0"/>
              <a:t> and add at least two of messages to it.</a:t>
            </a:r>
            <a:endParaRPr dirty="0"/>
          </a:p>
          <a:p>
            <a:pPr marL="914400" lvl="1" indent="-298450" algn="l" rtl="0">
              <a:spcBef>
                <a:spcPts val="0"/>
              </a:spcBef>
              <a:spcAft>
                <a:spcPts val="0"/>
              </a:spcAft>
              <a:buSzPts val="1100"/>
              <a:buChar char="○"/>
            </a:pPr>
            <a:r>
              <a:rPr lang="en" dirty="0"/>
              <a:t>Create the shared </a:t>
            </a:r>
            <a:r>
              <a:rPr lang="en" dirty="0">
                <a:solidFill>
                  <a:srgbClr val="666666"/>
                </a:solidFill>
                <a:latin typeface="Courier New"/>
                <a:ea typeface="Courier New"/>
                <a:cs typeface="Courier New"/>
                <a:sym typeface="Courier New"/>
              </a:rPr>
              <a:t>Lock</a:t>
            </a:r>
            <a:r>
              <a:rPr lang="en" dirty="0">
                <a:solidFill>
                  <a:srgbClr val="666666"/>
                </a:solidFill>
              </a:rPr>
              <a:t> </a:t>
            </a:r>
            <a:r>
              <a:rPr lang="en" dirty="0"/>
              <a:t>and notEmpty </a:t>
            </a:r>
            <a:r>
              <a:rPr lang="en" dirty="0">
                <a:solidFill>
                  <a:srgbClr val="666666"/>
                </a:solidFill>
                <a:latin typeface="Courier New"/>
                <a:ea typeface="Courier New"/>
                <a:cs typeface="Courier New"/>
                <a:sym typeface="Courier New"/>
              </a:rPr>
              <a:t>Condition</a:t>
            </a:r>
            <a:r>
              <a:rPr lang="en" dirty="0"/>
              <a:t>.</a:t>
            </a:r>
            <a:endParaRPr dirty="0"/>
          </a:p>
          <a:p>
            <a:pPr marL="914400" lvl="1" indent="-298450" algn="l" rtl="0">
              <a:spcBef>
                <a:spcPts val="0"/>
              </a:spcBef>
              <a:spcAft>
                <a:spcPts val="0"/>
              </a:spcAft>
              <a:buSzPts val="1100"/>
              <a:buChar char="○"/>
            </a:pPr>
            <a:r>
              <a:rPr lang="en" dirty="0"/>
              <a:t>Create an instance of your </a:t>
            </a:r>
            <a:r>
              <a:rPr lang="en" dirty="0">
                <a:latin typeface="Courier New"/>
                <a:ea typeface="Courier New"/>
                <a:cs typeface="Courier New"/>
                <a:sym typeface="Courier New"/>
              </a:rPr>
              <a:t>Consumer</a:t>
            </a:r>
            <a:r>
              <a:rPr lang="en" dirty="0"/>
              <a:t>  and run it in an </a:t>
            </a:r>
            <a:r>
              <a:rPr lang="en" dirty="0">
                <a:latin typeface="Courier New"/>
                <a:ea typeface="Courier New"/>
                <a:cs typeface="Courier New"/>
                <a:sym typeface="Courier New"/>
              </a:rPr>
              <a:t>ExecutorService</a:t>
            </a:r>
            <a:r>
              <a:rPr lang="en" dirty="0"/>
              <a:t>.</a:t>
            </a:r>
            <a:endParaRPr dirty="0"/>
          </a:p>
          <a:p>
            <a:pPr marL="914400" lvl="1" indent="-298450" algn="l" rtl="0">
              <a:spcBef>
                <a:spcPts val="0"/>
              </a:spcBef>
              <a:spcAft>
                <a:spcPts val="0"/>
              </a:spcAft>
              <a:buSzPts val="1100"/>
              <a:buChar char="○"/>
            </a:pPr>
            <a:r>
              <a:rPr lang="en" dirty="0"/>
              <a:t>What happens?</a:t>
            </a:r>
            <a:endParaRPr dirty="0"/>
          </a:p>
        </p:txBody>
      </p:sp>
      <p:sp>
        <p:nvSpPr>
          <p:cNvPr id="761" name="Google Shape;761;p6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11.12</a:t>
            </a:r>
            <a:endParaRPr/>
          </a:p>
        </p:txBody>
      </p:sp>
      <p:pic>
        <p:nvPicPr>
          <p:cNvPr id="762" name="Google Shape;762;p65" descr="Image result for sleeping z's"/>
          <p:cNvPicPr preferRelativeResize="0"/>
          <p:nvPr/>
        </p:nvPicPr>
        <p:blipFill>
          <a:blip r:embed="rId3">
            <a:alphaModFix/>
          </a:blip>
          <a:stretch>
            <a:fillRect/>
          </a:stretch>
        </p:blipFill>
        <p:spPr>
          <a:xfrm>
            <a:off x="503725" y="2851325"/>
            <a:ext cx="1640022" cy="1830025"/>
          </a:xfrm>
          <a:prstGeom prst="rect">
            <a:avLst/>
          </a:prstGeom>
          <a:noFill/>
          <a:ln>
            <a:noFill/>
          </a:ln>
        </p:spPr>
      </p:pic>
      <p:sp>
        <p:nvSpPr>
          <p:cNvPr id="763" name="Google Shape;763;p65"/>
          <p:cNvSpPr/>
          <p:nvPr/>
        </p:nvSpPr>
        <p:spPr>
          <a:xfrm>
            <a:off x="303475" y="1840575"/>
            <a:ext cx="2052000" cy="881400"/>
          </a:xfrm>
          <a:prstGeom prst="cloudCallout">
            <a:avLst>
              <a:gd name="adj1" fmla="val 9057"/>
              <a:gd name="adj2" fmla="val 74991"/>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Waiting for work...</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67"/>
        <p:cNvGrpSpPr/>
        <p:nvPr/>
      </p:nvGrpSpPr>
      <p:grpSpPr>
        <a:xfrm>
          <a:off x="0" y="0"/>
          <a:ext cx="0" cy="0"/>
          <a:chOff x="0" y="0"/>
          <a:chExt cx="0" cy="0"/>
        </a:xfrm>
      </p:grpSpPr>
      <p:sp>
        <p:nvSpPr>
          <p:cNvPr id="768" name="Google Shape;768;p6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Producer</a:t>
            </a:r>
            <a:endParaRPr/>
          </a:p>
        </p:txBody>
      </p:sp>
      <p:sp>
        <p:nvSpPr>
          <p:cNvPr id="769" name="Google Shape;769;p66"/>
          <p:cNvSpPr txBox="1">
            <a:spLocks noGrp="1"/>
          </p:cNvSpPr>
          <p:nvPr>
            <p:ph type="body" idx="1"/>
          </p:nvPr>
        </p:nvSpPr>
        <p:spPr>
          <a:xfrm>
            <a:off x="65250" y="6554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a:t>
            </a:r>
            <a:r>
              <a:rPr lang="en" i="1"/>
              <a:t>producer</a:t>
            </a:r>
            <a:r>
              <a:rPr lang="en"/>
              <a:t> in a </a:t>
            </a:r>
            <a:r>
              <a:rPr lang="en" i="1"/>
              <a:t>producer/consumer </a:t>
            </a:r>
            <a:r>
              <a:rPr lang="en"/>
              <a:t>pattern creates work meant to be done by the </a:t>
            </a:r>
            <a:r>
              <a:rPr lang="en" i="1"/>
              <a:t>consumers</a:t>
            </a:r>
            <a:r>
              <a:rPr lang="en"/>
              <a:t>. Usually this work is time-consuming and not directly related to the producer's core job. Let's make a producer that adds strings to the shared queue for the consumers to print. </a:t>
            </a:r>
            <a:endParaRPr/>
          </a:p>
        </p:txBody>
      </p:sp>
      <p:sp>
        <p:nvSpPr>
          <p:cNvPr id="770" name="Google Shape;770;p6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35</a:t>
            </a:fld>
            <a:endParaRPr/>
          </a:p>
        </p:txBody>
      </p:sp>
      <p:sp>
        <p:nvSpPr>
          <p:cNvPr id="771" name="Google Shape;771;p66"/>
          <p:cNvSpPr txBox="1">
            <a:spLocks noGrp="1"/>
          </p:cNvSpPr>
          <p:nvPr>
            <p:ph type="body" idx="2"/>
          </p:nvPr>
        </p:nvSpPr>
        <p:spPr>
          <a:xfrm>
            <a:off x="2511250" y="1708325"/>
            <a:ext cx="6429900" cy="33810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dirty="0"/>
              <a:t>Create a new Java class named "</a:t>
            </a:r>
            <a:r>
              <a:rPr lang="en" dirty="0">
                <a:solidFill>
                  <a:srgbClr val="FF0000"/>
                </a:solidFill>
                <a:latin typeface="Courier New"/>
                <a:ea typeface="Courier New"/>
                <a:cs typeface="Courier New"/>
                <a:sym typeface="Courier New"/>
              </a:rPr>
              <a:t>Producer.java</a:t>
            </a:r>
            <a:r>
              <a:rPr lang="en" dirty="0"/>
              <a:t>" in the </a:t>
            </a:r>
            <a:r>
              <a:rPr lang="en" dirty="0">
                <a:latin typeface="Courier New"/>
                <a:ea typeface="Courier New"/>
                <a:cs typeface="Courier New"/>
                <a:sym typeface="Courier New"/>
              </a:rPr>
              <a:t>activities</a:t>
            </a:r>
            <a:r>
              <a:rPr lang="en" dirty="0"/>
              <a:t> package and use your preferred method to make it a thread.</a:t>
            </a:r>
            <a:endParaRPr dirty="0"/>
          </a:p>
          <a:p>
            <a:pPr marL="914400" lvl="1" indent="-298450" algn="l" rtl="0">
              <a:spcBef>
                <a:spcPts val="0"/>
              </a:spcBef>
              <a:spcAft>
                <a:spcPts val="0"/>
              </a:spcAft>
              <a:buSzPts val="1100"/>
              <a:buChar char="○"/>
            </a:pPr>
            <a:r>
              <a:rPr lang="en" dirty="0"/>
              <a:t>The class should declare fields for a </a:t>
            </a:r>
            <a:r>
              <a:rPr lang="en" dirty="0">
                <a:solidFill>
                  <a:srgbClr val="FF0000"/>
                </a:solidFill>
                <a:latin typeface="Courier New"/>
                <a:ea typeface="Courier New"/>
                <a:cs typeface="Courier New"/>
                <a:sym typeface="Courier New"/>
              </a:rPr>
              <a:t>queue</a:t>
            </a:r>
            <a:r>
              <a:rPr lang="en" dirty="0">
                <a:solidFill>
                  <a:srgbClr val="FF0000"/>
                </a:solidFill>
              </a:rPr>
              <a:t> </a:t>
            </a:r>
            <a:r>
              <a:rPr lang="en" dirty="0"/>
              <a:t>of strings (a </a:t>
            </a:r>
            <a:r>
              <a:rPr lang="en" dirty="0">
                <a:latin typeface="Courier New"/>
                <a:ea typeface="Courier New"/>
                <a:cs typeface="Courier New"/>
                <a:sym typeface="Courier New"/>
              </a:rPr>
              <a:t>LinkedList</a:t>
            </a:r>
            <a:r>
              <a:rPr lang="en" dirty="0"/>
              <a:t>), a </a:t>
            </a:r>
            <a:r>
              <a:rPr lang="en" dirty="0">
                <a:solidFill>
                  <a:srgbClr val="FF0000"/>
                </a:solidFill>
                <a:latin typeface="Courier New"/>
                <a:ea typeface="Courier New"/>
                <a:cs typeface="Courier New"/>
                <a:sym typeface="Courier New"/>
              </a:rPr>
              <a:t>lock</a:t>
            </a:r>
            <a:r>
              <a:rPr lang="en" dirty="0"/>
              <a:t>, a </a:t>
            </a:r>
            <a:r>
              <a:rPr lang="en" dirty="0">
                <a:solidFill>
                  <a:srgbClr val="FF0000"/>
                </a:solidFill>
                <a:latin typeface="Courier New"/>
                <a:ea typeface="Courier New"/>
                <a:cs typeface="Courier New"/>
                <a:sym typeface="Courier New"/>
              </a:rPr>
              <a:t>condition</a:t>
            </a:r>
            <a:r>
              <a:rPr lang="en" dirty="0"/>
              <a:t>, and an </a:t>
            </a:r>
            <a:r>
              <a:rPr lang="en" dirty="0">
                <a:solidFill>
                  <a:srgbClr val="FF0000"/>
                </a:solidFill>
                <a:latin typeface="Courier New"/>
                <a:ea typeface="Courier New"/>
                <a:cs typeface="Courier New"/>
                <a:sym typeface="Courier New"/>
              </a:rPr>
              <a:t>id</a:t>
            </a:r>
            <a:r>
              <a:rPr lang="en" dirty="0"/>
              <a:t>.</a:t>
            </a:r>
            <a:endParaRPr dirty="0"/>
          </a:p>
          <a:p>
            <a:pPr marL="914400" lvl="1" indent="-298450" algn="l" rtl="0">
              <a:spcBef>
                <a:spcPts val="0"/>
              </a:spcBef>
              <a:spcAft>
                <a:spcPts val="0"/>
              </a:spcAft>
              <a:buSzPts val="1100"/>
              <a:buChar char="○"/>
            </a:pPr>
            <a:r>
              <a:rPr lang="en" dirty="0"/>
              <a:t>Write an </a:t>
            </a:r>
            <a:r>
              <a:rPr lang="en" b="1" i="1" dirty="0">
                <a:solidFill>
                  <a:srgbClr val="FF0000"/>
                </a:solidFill>
              </a:rPr>
              <a:t>initializing constructor</a:t>
            </a:r>
            <a:r>
              <a:rPr lang="en" dirty="0"/>
              <a:t>.</a:t>
            </a:r>
            <a:endParaRPr dirty="0"/>
          </a:p>
          <a:p>
            <a:pPr marL="914400" lvl="1" indent="-298450" algn="l" rtl="0">
              <a:spcBef>
                <a:spcPts val="0"/>
              </a:spcBef>
              <a:spcAft>
                <a:spcPts val="0"/>
              </a:spcAft>
              <a:buSzPts val="1100"/>
              <a:buChar char="○"/>
            </a:pPr>
            <a:r>
              <a:rPr lang="en" dirty="0"/>
              <a:t>The </a:t>
            </a:r>
            <a:r>
              <a:rPr lang="en" dirty="0">
                <a:solidFill>
                  <a:srgbClr val="FF0000"/>
                </a:solidFill>
                <a:latin typeface="Courier New"/>
                <a:ea typeface="Courier New"/>
                <a:cs typeface="Courier New"/>
                <a:sym typeface="Courier New"/>
              </a:rPr>
              <a:t>run()</a:t>
            </a:r>
            <a:r>
              <a:rPr lang="en" dirty="0">
                <a:solidFill>
                  <a:srgbClr val="FF0000"/>
                </a:solidFill>
              </a:rPr>
              <a:t> </a:t>
            </a:r>
            <a:r>
              <a:rPr lang="en" dirty="0"/>
              <a:t>method should use a </a:t>
            </a:r>
            <a:r>
              <a:rPr lang="en" dirty="0">
                <a:latin typeface="Courier New"/>
                <a:ea typeface="Courier New"/>
                <a:cs typeface="Courier New"/>
                <a:sym typeface="Courier New"/>
              </a:rPr>
              <a:t>while</a:t>
            </a:r>
            <a:r>
              <a:rPr lang="en" dirty="0"/>
              <a:t> loop to:</a:t>
            </a:r>
            <a:endParaRPr dirty="0"/>
          </a:p>
          <a:p>
            <a:pPr marL="1371600" lvl="2" indent="-298450" algn="l" rtl="0">
              <a:spcBef>
                <a:spcPts val="0"/>
              </a:spcBef>
              <a:spcAft>
                <a:spcPts val="0"/>
              </a:spcAft>
              <a:buSzPts val="1100"/>
              <a:buChar char="■"/>
            </a:pPr>
            <a:r>
              <a:rPr lang="en" b="1" i="1" dirty="0">
                <a:solidFill>
                  <a:srgbClr val="FF0000"/>
                </a:solidFill>
              </a:rPr>
              <a:t>Sleep</a:t>
            </a:r>
            <a:r>
              <a:rPr lang="en" dirty="0">
                <a:solidFill>
                  <a:srgbClr val="FF0000"/>
                </a:solidFill>
              </a:rPr>
              <a:t> </a:t>
            </a:r>
            <a:r>
              <a:rPr lang="en" dirty="0"/>
              <a:t>for 1000 milliseconds.</a:t>
            </a:r>
            <a:endParaRPr dirty="0"/>
          </a:p>
          <a:p>
            <a:pPr marL="1371600" lvl="2" indent="-298450" algn="l" rtl="0">
              <a:spcBef>
                <a:spcPts val="0"/>
              </a:spcBef>
              <a:spcAft>
                <a:spcPts val="0"/>
              </a:spcAft>
              <a:buSzPts val="1100"/>
              <a:buChar char="■"/>
            </a:pPr>
            <a:r>
              <a:rPr lang="en" b="1" i="1" dirty="0">
                <a:solidFill>
                  <a:srgbClr val="FF0000"/>
                </a:solidFill>
              </a:rPr>
              <a:t>Create </a:t>
            </a:r>
            <a:r>
              <a:rPr lang="en" dirty="0"/>
              <a:t>a random number of </a:t>
            </a:r>
            <a:r>
              <a:rPr lang="en" b="1" i="1" dirty="0">
                <a:solidFill>
                  <a:srgbClr val="FF0000"/>
                </a:solidFill>
              </a:rPr>
              <a:t>1-5 messages</a:t>
            </a:r>
            <a:r>
              <a:rPr lang="en" dirty="0"/>
              <a:t> of your choice. Each should include the </a:t>
            </a:r>
            <a:r>
              <a:rPr lang="en" dirty="0">
                <a:latin typeface="Courier New"/>
                <a:ea typeface="Courier New"/>
                <a:cs typeface="Courier New"/>
                <a:sym typeface="Courier New"/>
              </a:rPr>
              <a:t>id</a:t>
            </a:r>
            <a:r>
              <a:rPr lang="en" dirty="0"/>
              <a:t>.</a:t>
            </a:r>
            <a:endParaRPr dirty="0"/>
          </a:p>
          <a:p>
            <a:pPr marL="1371600" lvl="2" indent="-298450" algn="l" rtl="0">
              <a:spcBef>
                <a:spcPts val="0"/>
              </a:spcBef>
              <a:spcAft>
                <a:spcPts val="0"/>
              </a:spcAft>
              <a:buSzPts val="1100"/>
              <a:buChar char="■"/>
            </a:pPr>
            <a:r>
              <a:rPr lang="en" b="1" i="1" dirty="0">
                <a:solidFill>
                  <a:srgbClr val="FF0000"/>
                </a:solidFill>
              </a:rPr>
              <a:t>Add </a:t>
            </a:r>
            <a:r>
              <a:rPr lang="en" dirty="0"/>
              <a:t>the message(s) to the </a:t>
            </a:r>
            <a:r>
              <a:rPr lang="en" dirty="0">
                <a:latin typeface="Courier New"/>
                <a:ea typeface="Courier New"/>
                <a:cs typeface="Courier New"/>
                <a:sym typeface="Courier New"/>
              </a:rPr>
              <a:t>queue</a:t>
            </a:r>
            <a:r>
              <a:rPr lang="en" dirty="0"/>
              <a:t>.</a:t>
            </a:r>
            <a:endParaRPr dirty="0"/>
          </a:p>
          <a:p>
            <a:pPr marL="1371600" lvl="2" indent="-298450" algn="l" rtl="0">
              <a:spcBef>
                <a:spcPts val="0"/>
              </a:spcBef>
              <a:spcAft>
                <a:spcPts val="0"/>
              </a:spcAft>
              <a:buSzPts val="1100"/>
              <a:buChar char="■"/>
            </a:pPr>
            <a:r>
              <a:rPr lang="en" dirty="0"/>
              <a:t>Use the </a:t>
            </a:r>
            <a:r>
              <a:rPr lang="en" dirty="0">
                <a:latin typeface="Courier New"/>
                <a:ea typeface="Courier New"/>
                <a:cs typeface="Courier New"/>
                <a:sym typeface="Courier New"/>
              </a:rPr>
              <a:t>condition</a:t>
            </a:r>
            <a:r>
              <a:rPr lang="en" dirty="0"/>
              <a:t> to </a:t>
            </a:r>
            <a:r>
              <a:rPr lang="en" b="1" i="1" dirty="0">
                <a:solidFill>
                  <a:srgbClr val="FF0000"/>
                </a:solidFill>
              </a:rPr>
              <a:t>signal </a:t>
            </a:r>
            <a:r>
              <a:rPr lang="en" dirty="0"/>
              <a:t>any waiting threads.</a:t>
            </a:r>
            <a:endParaRPr dirty="0"/>
          </a:p>
          <a:p>
            <a:pPr marL="1371600" lvl="2" indent="-298450" algn="l" rtl="0">
              <a:spcBef>
                <a:spcPts val="0"/>
              </a:spcBef>
              <a:spcAft>
                <a:spcPts val="0"/>
              </a:spcAft>
              <a:buSzPts val="1100"/>
              <a:buChar char="■"/>
            </a:pPr>
            <a:r>
              <a:rPr lang="en" dirty="0"/>
              <a:t>Don't forget that you will have to </a:t>
            </a:r>
            <a:r>
              <a:rPr lang="en" b="1" i="1" dirty="0">
                <a:solidFill>
                  <a:srgbClr val="FF0000"/>
                </a:solidFill>
              </a:rPr>
              <a:t>lock</a:t>
            </a:r>
            <a:r>
              <a:rPr lang="en" dirty="0">
                <a:solidFill>
                  <a:srgbClr val="FF0000"/>
                </a:solidFill>
              </a:rPr>
              <a:t> </a:t>
            </a:r>
            <a:r>
              <a:rPr lang="en" dirty="0"/>
              <a:t>when adding to the </a:t>
            </a:r>
            <a:r>
              <a:rPr lang="en" dirty="0">
                <a:latin typeface="Courier New"/>
                <a:ea typeface="Courier New"/>
                <a:cs typeface="Courier New"/>
                <a:sym typeface="Courier New"/>
              </a:rPr>
              <a:t>queue</a:t>
            </a:r>
            <a:r>
              <a:rPr lang="en" dirty="0"/>
              <a:t> or signaling.</a:t>
            </a:r>
            <a:endParaRPr dirty="0"/>
          </a:p>
          <a:p>
            <a:pPr marL="457200" lvl="0" indent="-311150" algn="l" rtl="0">
              <a:spcBef>
                <a:spcPts val="0"/>
              </a:spcBef>
              <a:spcAft>
                <a:spcPts val="0"/>
              </a:spcAft>
              <a:buSzPts val="1300"/>
              <a:buChar char="●"/>
            </a:pPr>
            <a:r>
              <a:rPr lang="en" dirty="0"/>
              <a:t>Define a </a:t>
            </a:r>
            <a:r>
              <a:rPr lang="en" dirty="0">
                <a:latin typeface="Courier New"/>
                <a:ea typeface="Courier New"/>
                <a:cs typeface="Courier New"/>
                <a:sym typeface="Courier New"/>
              </a:rPr>
              <a:t>main</a:t>
            </a:r>
            <a:r>
              <a:rPr lang="en" dirty="0"/>
              <a:t> method with the appropriate signature.</a:t>
            </a:r>
            <a:endParaRPr dirty="0"/>
          </a:p>
          <a:p>
            <a:pPr marL="914400" lvl="1" indent="-298450" algn="l" rtl="0">
              <a:spcBef>
                <a:spcPts val="0"/>
              </a:spcBef>
              <a:spcAft>
                <a:spcPts val="0"/>
              </a:spcAft>
              <a:buSzPts val="1100"/>
              <a:buChar char="○"/>
            </a:pPr>
            <a:r>
              <a:rPr lang="en" dirty="0"/>
              <a:t>Create a </a:t>
            </a:r>
            <a:r>
              <a:rPr lang="en" b="1" i="1" dirty="0">
                <a:solidFill>
                  <a:srgbClr val="FF0000"/>
                </a:solidFill>
              </a:rPr>
              <a:t>shared</a:t>
            </a:r>
            <a:r>
              <a:rPr lang="en" dirty="0">
                <a:solidFill>
                  <a:srgbClr val="FF0000"/>
                </a:solidFill>
              </a:rPr>
              <a:t> </a:t>
            </a:r>
            <a:r>
              <a:rPr lang="en" dirty="0">
                <a:latin typeface="Courier New"/>
                <a:ea typeface="Courier New"/>
                <a:cs typeface="Courier New"/>
                <a:sym typeface="Courier New"/>
              </a:rPr>
              <a:t>LinkedList</a:t>
            </a:r>
            <a:r>
              <a:rPr lang="en" dirty="0"/>
              <a:t> to use as the </a:t>
            </a:r>
            <a:r>
              <a:rPr lang="en" dirty="0">
                <a:latin typeface="Courier New"/>
                <a:ea typeface="Courier New"/>
                <a:cs typeface="Courier New"/>
                <a:sym typeface="Courier New"/>
              </a:rPr>
              <a:t>queue</a:t>
            </a:r>
            <a:r>
              <a:rPr lang="en" dirty="0"/>
              <a:t>, </a:t>
            </a:r>
            <a:r>
              <a:rPr lang="en" dirty="0">
                <a:latin typeface="Courier New"/>
                <a:ea typeface="Courier New"/>
                <a:cs typeface="Courier New"/>
                <a:sym typeface="Courier New"/>
              </a:rPr>
              <a:t>lock</a:t>
            </a:r>
            <a:r>
              <a:rPr lang="en" dirty="0"/>
              <a:t>, and </a:t>
            </a:r>
            <a:r>
              <a:rPr lang="en" dirty="0">
                <a:latin typeface="Courier New"/>
                <a:ea typeface="Courier New"/>
                <a:cs typeface="Courier New"/>
                <a:sym typeface="Courier New"/>
              </a:rPr>
              <a:t>condition</a:t>
            </a:r>
            <a:r>
              <a:rPr lang="en" dirty="0"/>
              <a:t>.</a:t>
            </a:r>
            <a:endParaRPr dirty="0"/>
          </a:p>
          <a:p>
            <a:pPr marL="914400" lvl="1" indent="-298450" algn="l" rtl="0">
              <a:spcBef>
                <a:spcPts val="0"/>
              </a:spcBef>
              <a:spcAft>
                <a:spcPts val="0"/>
              </a:spcAft>
              <a:buSzPts val="1100"/>
              <a:buChar char="○"/>
            </a:pPr>
            <a:r>
              <a:rPr lang="en" dirty="0"/>
              <a:t>Create and run a </a:t>
            </a:r>
            <a:r>
              <a:rPr lang="en" dirty="0">
                <a:latin typeface="Courier New"/>
                <a:ea typeface="Courier New"/>
                <a:cs typeface="Courier New"/>
                <a:sym typeface="Courier New"/>
              </a:rPr>
              <a:t>Consumer</a:t>
            </a:r>
            <a:r>
              <a:rPr lang="en" dirty="0"/>
              <a:t> using an </a:t>
            </a:r>
            <a:r>
              <a:rPr lang="en" dirty="0">
                <a:latin typeface="Courier New"/>
                <a:ea typeface="Courier New"/>
                <a:cs typeface="Courier New"/>
                <a:sym typeface="Courier New"/>
              </a:rPr>
              <a:t>ExecutorService</a:t>
            </a:r>
            <a:r>
              <a:rPr lang="en" dirty="0"/>
              <a:t>.</a:t>
            </a:r>
            <a:endParaRPr dirty="0"/>
          </a:p>
          <a:p>
            <a:pPr marL="914400" lvl="1" indent="-298450" algn="l" rtl="0">
              <a:spcBef>
                <a:spcPts val="0"/>
              </a:spcBef>
              <a:spcAft>
                <a:spcPts val="0"/>
              </a:spcAft>
              <a:buSzPts val="1100"/>
              <a:buChar char="○"/>
            </a:pPr>
            <a:r>
              <a:rPr lang="en" dirty="0"/>
              <a:t>Create and run a </a:t>
            </a:r>
            <a:r>
              <a:rPr lang="en" dirty="0">
                <a:latin typeface="Courier New"/>
                <a:ea typeface="Courier New"/>
                <a:cs typeface="Courier New"/>
                <a:sym typeface="Courier New"/>
              </a:rPr>
              <a:t>Producer</a:t>
            </a:r>
            <a:r>
              <a:rPr lang="en" dirty="0"/>
              <a:t> using an </a:t>
            </a:r>
            <a:r>
              <a:rPr lang="en" dirty="0">
                <a:latin typeface="Courier New"/>
                <a:ea typeface="Courier New"/>
                <a:cs typeface="Courier New"/>
                <a:sym typeface="Courier New"/>
              </a:rPr>
              <a:t>ExecutorService</a:t>
            </a:r>
            <a:r>
              <a:rPr lang="en" dirty="0"/>
              <a:t>.</a:t>
            </a:r>
            <a:endParaRPr dirty="0"/>
          </a:p>
        </p:txBody>
      </p:sp>
      <p:sp>
        <p:nvSpPr>
          <p:cNvPr id="772" name="Google Shape;772;p6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a:t>11.13</a:t>
            </a:r>
            <a:endParaRPr/>
          </a:p>
        </p:txBody>
      </p:sp>
      <p:grpSp>
        <p:nvGrpSpPr>
          <p:cNvPr id="773" name="Google Shape;773;p66"/>
          <p:cNvGrpSpPr/>
          <p:nvPr/>
        </p:nvGrpSpPr>
        <p:grpSpPr>
          <a:xfrm>
            <a:off x="198350" y="2279400"/>
            <a:ext cx="2150175" cy="2479026"/>
            <a:chOff x="228600" y="1696975"/>
            <a:chExt cx="2150175" cy="2479026"/>
          </a:xfrm>
        </p:grpSpPr>
        <p:pic>
          <p:nvPicPr>
            <p:cNvPr id="774" name="Google Shape;774;p66"/>
            <p:cNvPicPr preferRelativeResize="0"/>
            <p:nvPr/>
          </p:nvPicPr>
          <p:blipFill>
            <a:blip r:embed="rId3">
              <a:alphaModFix/>
            </a:blip>
            <a:stretch>
              <a:fillRect/>
            </a:stretch>
          </p:blipFill>
          <p:spPr>
            <a:xfrm>
              <a:off x="228600" y="1696975"/>
              <a:ext cx="2150175" cy="2479026"/>
            </a:xfrm>
            <a:prstGeom prst="rect">
              <a:avLst/>
            </a:prstGeom>
            <a:noFill/>
            <a:ln>
              <a:noFill/>
            </a:ln>
          </p:spPr>
        </p:pic>
        <p:sp>
          <p:nvSpPr>
            <p:cNvPr id="775" name="Google Shape;775;p66"/>
            <p:cNvSpPr txBox="1"/>
            <p:nvPr/>
          </p:nvSpPr>
          <p:spPr>
            <a:xfrm>
              <a:off x="605521" y="1749218"/>
              <a:ext cx="14046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solidFill>
                    <a:srgbClr val="FFFFFF"/>
                  </a:solidFill>
                  <a:latin typeface="Permanent Marker"/>
                  <a:ea typeface="Permanent Marker"/>
                  <a:cs typeface="Permanent Marker"/>
                  <a:sym typeface="Permanent Marker"/>
                </a:rPr>
                <a:t>PRODUCER</a:t>
              </a:r>
              <a:endParaRPr>
                <a:solidFill>
                  <a:srgbClr val="FFFFFF"/>
                </a:solidFill>
                <a:latin typeface="Permanent Marker"/>
                <a:ea typeface="Permanent Marker"/>
                <a:cs typeface="Permanent Marker"/>
                <a:sym typeface="Permanent Marke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pic>
        <p:nvPicPr>
          <p:cNvPr id="780" name="Google Shape;780;p67" descr="Image result for sleeping z's"/>
          <p:cNvPicPr preferRelativeResize="0"/>
          <p:nvPr/>
        </p:nvPicPr>
        <p:blipFill>
          <a:blip r:embed="rId3">
            <a:alphaModFix/>
          </a:blip>
          <a:stretch>
            <a:fillRect/>
          </a:stretch>
        </p:blipFill>
        <p:spPr>
          <a:xfrm>
            <a:off x="1231297" y="4145116"/>
            <a:ext cx="671859" cy="749700"/>
          </a:xfrm>
          <a:prstGeom prst="rect">
            <a:avLst/>
          </a:prstGeom>
          <a:noFill/>
          <a:ln>
            <a:noFill/>
          </a:ln>
        </p:spPr>
      </p:pic>
      <p:pic>
        <p:nvPicPr>
          <p:cNvPr id="781" name="Google Shape;781;p67" descr="Image result for sleeping z's"/>
          <p:cNvPicPr preferRelativeResize="0"/>
          <p:nvPr/>
        </p:nvPicPr>
        <p:blipFill>
          <a:blip r:embed="rId3">
            <a:alphaModFix/>
          </a:blip>
          <a:stretch>
            <a:fillRect/>
          </a:stretch>
        </p:blipFill>
        <p:spPr>
          <a:xfrm>
            <a:off x="427525" y="3209600"/>
            <a:ext cx="671859" cy="749700"/>
          </a:xfrm>
          <a:prstGeom prst="rect">
            <a:avLst/>
          </a:prstGeom>
          <a:noFill/>
          <a:ln>
            <a:noFill/>
          </a:ln>
        </p:spPr>
      </p:pic>
      <p:sp>
        <p:nvSpPr>
          <p:cNvPr id="782" name="Google Shape;782;p6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Producers and Consumers</a:t>
            </a:r>
            <a:endParaRPr/>
          </a:p>
        </p:txBody>
      </p:sp>
      <p:sp>
        <p:nvSpPr>
          <p:cNvPr id="783" name="Google Shape;783;p67"/>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A typical producer/consumer pattern may have multiple producers and consumers all working together to complete a large amount of work. Now that we're reasonably certain that the threads are working as intended, let's start a  bunch of them and see how it goes! </a:t>
            </a:r>
            <a:endParaRPr/>
          </a:p>
        </p:txBody>
      </p:sp>
      <p:sp>
        <p:nvSpPr>
          <p:cNvPr id="784" name="Google Shape;784;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36</a:t>
            </a:fld>
            <a:endParaRPr/>
          </a:p>
        </p:txBody>
      </p:sp>
      <p:sp>
        <p:nvSpPr>
          <p:cNvPr id="785" name="Google Shape;785;p67"/>
          <p:cNvSpPr txBox="1">
            <a:spLocks noGrp="1"/>
          </p:cNvSpPr>
          <p:nvPr>
            <p:ph type="body" idx="2"/>
          </p:nvPr>
        </p:nvSpPr>
        <p:spPr>
          <a:xfrm>
            <a:off x="2617125" y="1814150"/>
            <a:ext cx="6309000" cy="2802900"/>
          </a:xfrm>
          <a:prstGeom prst="rect">
            <a:avLst/>
          </a:prstGeom>
        </p:spPr>
        <p:txBody>
          <a:bodyPr spcFirstLastPara="1" wrap="square" lIns="91425" tIns="91425" rIns="91425" bIns="91425" anchor="t" anchorCtr="0">
            <a:spAutoFit/>
          </a:bodyPr>
          <a:lstStyle/>
          <a:p>
            <a:pPr marL="457200" lvl="0" indent="-342900" algn="l" rtl="0">
              <a:spcBef>
                <a:spcPts val="0"/>
              </a:spcBef>
              <a:spcAft>
                <a:spcPts val="0"/>
              </a:spcAft>
              <a:buSzPts val="1800"/>
              <a:buChar char="●"/>
            </a:pPr>
            <a:r>
              <a:rPr lang="en" sz="1800" dirty="0"/>
              <a:t>Open the </a:t>
            </a:r>
            <a:r>
              <a:rPr lang="en" sz="1800" dirty="0">
                <a:latin typeface="Courier New"/>
                <a:ea typeface="Courier New"/>
                <a:cs typeface="Courier New"/>
                <a:sym typeface="Courier New"/>
              </a:rPr>
              <a:t>Producer</a:t>
            </a:r>
            <a:r>
              <a:rPr lang="en" sz="1800" dirty="0"/>
              <a:t> class and navigate to the </a:t>
            </a:r>
            <a:r>
              <a:rPr lang="en" sz="1800" dirty="0">
                <a:latin typeface="Courier New"/>
                <a:ea typeface="Courier New"/>
                <a:cs typeface="Courier New"/>
                <a:sym typeface="Courier New"/>
              </a:rPr>
              <a:t>main</a:t>
            </a:r>
            <a:r>
              <a:rPr lang="en" sz="1800" dirty="0"/>
              <a:t> method.</a:t>
            </a:r>
            <a:endParaRPr sz="1800" dirty="0"/>
          </a:p>
          <a:p>
            <a:pPr marL="914400" lvl="1" indent="-330200" algn="l" rtl="0">
              <a:spcBef>
                <a:spcPts val="0"/>
              </a:spcBef>
              <a:spcAft>
                <a:spcPts val="0"/>
              </a:spcAft>
              <a:buSzPts val="1600"/>
              <a:buChar char="○"/>
            </a:pPr>
            <a:r>
              <a:rPr lang="en" sz="1600" dirty="0"/>
              <a:t>Create and start </a:t>
            </a:r>
            <a:r>
              <a:rPr lang="en" sz="1600" b="1" i="1" dirty="0">
                <a:solidFill>
                  <a:srgbClr val="FF0000"/>
                </a:solidFill>
              </a:rPr>
              <a:t>at least 5</a:t>
            </a:r>
            <a:r>
              <a:rPr lang="en" sz="1600" dirty="0"/>
              <a:t> </a:t>
            </a:r>
            <a:r>
              <a:rPr lang="en" sz="1600" dirty="0">
                <a:latin typeface="Courier New"/>
                <a:ea typeface="Courier New"/>
                <a:cs typeface="Courier New"/>
                <a:sym typeface="Courier New"/>
              </a:rPr>
              <a:t>Consumer</a:t>
            </a:r>
            <a:r>
              <a:rPr lang="en" sz="1600" dirty="0"/>
              <a:t> threads that all use the same queue.</a:t>
            </a:r>
            <a:endParaRPr sz="1600" dirty="0"/>
          </a:p>
          <a:p>
            <a:pPr marL="914400" lvl="1" indent="-330200" algn="l" rtl="0">
              <a:spcBef>
                <a:spcPts val="0"/>
              </a:spcBef>
              <a:spcAft>
                <a:spcPts val="0"/>
              </a:spcAft>
              <a:buSzPts val="1600"/>
              <a:buChar char="○"/>
            </a:pPr>
            <a:r>
              <a:rPr lang="en" sz="1600" dirty="0"/>
              <a:t>Create and start </a:t>
            </a:r>
            <a:r>
              <a:rPr lang="en" sz="1600" b="1" i="1" dirty="0">
                <a:solidFill>
                  <a:srgbClr val="FF0000"/>
                </a:solidFill>
              </a:rPr>
              <a:t>at least 2</a:t>
            </a:r>
            <a:r>
              <a:rPr lang="en" sz="1600" dirty="0"/>
              <a:t> </a:t>
            </a:r>
            <a:r>
              <a:rPr lang="en" sz="1600" dirty="0">
                <a:latin typeface="Courier New"/>
                <a:ea typeface="Courier New"/>
                <a:cs typeface="Courier New"/>
                <a:sym typeface="Courier New"/>
              </a:rPr>
              <a:t>Producer</a:t>
            </a:r>
            <a:r>
              <a:rPr lang="en" sz="1600" dirty="0"/>
              <a:t> threads that use the same queue.</a:t>
            </a:r>
            <a:endParaRPr sz="1600" dirty="0"/>
          </a:p>
          <a:p>
            <a:pPr marL="457200" lvl="0" indent="-342900" algn="l" rtl="0">
              <a:spcBef>
                <a:spcPts val="0"/>
              </a:spcBef>
              <a:spcAft>
                <a:spcPts val="0"/>
              </a:spcAft>
              <a:buSzPts val="1800"/>
              <a:buChar char="●"/>
            </a:pPr>
            <a:r>
              <a:rPr lang="en" sz="1800" b="1" i="1" dirty="0">
                <a:solidFill>
                  <a:srgbClr val="FF0000"/>
                </a:solidFill>
              </a:rPr>
              <a:t>Run </a:t>
            </a:r>
            <a:r>
              <a:rPr lang="en" sz="1800" dirty="0"/>
              <a:t>your class.</a:t>
            </a:r>
            <a:endParaRPr sz="1800" dirty="0"/>
          </a:p>
          <a:p>
            <a:pPr marL="914400" lvl="1" indent="-330200" algn="l" rtl="0">
              <a:spcBef>
                <a:spcPts val="0"/>
              </a:spcBef>
              <a:spcAft>
                <a:spcPts val="0"/>
              </a:spcAft>
              <a:buSzPts val="1600"/>
              <a:buChar char="○"/>
            </a:pPr>
            <a:r>
              <a:rPr lang="en" sz="1600" dirty="0"/>
              <a:t>Does it behave as you expected?</a:t>
            </a:r>
            <a:endParaRPr sz="1600" dirty="0"/>
          </a:p>
          <a:p>
            <a:pPr marL="914400" lvl="1" indent="-330200" algn="l" rtl="0">
              <a:spcBef>
                <a:spcPts val="0"/>
              </a:spcBef>
              <a:spcAft>
                <a:spcPts val="0"/>
              </a:spcAft>
              <a:buSzPts val="1600"/>
              <a:buChar char="○"/>
            </a:pPr>
            <a:r>
              <a:rPr lang="en" sz="1600" dirty="0"/>
              <a:t>If not, can you correct the behavior?</a:t>
            </a:r>
            <a:endParaRPr sz="1600" dirty="0"/>
          </a:p>
        </p:txBody>
      </p:sp>
      <p:sp>
        <p:nvSpPr>
          <p:cNvPr id="786" name="Google Shape;786;p67"/>
          <p:cNvSpPr txBox="1">
            <a:spLocks noGrp="1"/>
          </p:cNvSpPr>
          <p:nvPr>
            <p:ph type="title" idx="3"/>
          </p:nvPr>
        </p:nvSpPr>
        <p:spPr>
          <a:xfrm>
            <a:off x="65250" y="100"/>
            <a:ext cx="1253700" cy="596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SzPts val="990"/>
              <a:buNone/>
            </a:pPr>
            <a:r>
              <a:rPr lang="en"/>
              <a:t>11.14</a:t>
            </a:r>
            <a:endParaRPr/>
          </a:p>
        </p:txBody>
      </p:sp>
      <p:grpSp>
        <p:nvGrpSpPr>
          <p:cNvPr id="787" name="Google Shape;787;p67"/>
          <p:cNvGrpSpPr/>
          <p:nvPr/>
        </p:nvGrpSpPr>
        <p:grpSpPr>
          <a:xfrm>
            <a:off x="533389" y="1831658"/>
            <a:ext cx="933821" cy="1094243"/>
            <a:chOff x="228600" y="1656445"/>
            <a:chExt cx="2150175" cy="2519556"/>
          </a:xfrm>
        </p:grpSpPr>
        <p:pic>
          <p:nvPicPr>
            <p:cNvPr id="788" name="Google Shape;788;p67"/>
            <p:cNvPicPr preferRelativeResize="0"/>
            <p:nvPr/>
          </p:nvPicPr>
          <p:blipFill>
            <a:blip r:embed="rId4">
              <a:alphaModFix/>
            </a:blip>
            <a:stretch>
              <a:fillRect/>
            </a:stretch>
          </p:blipFill>
          <p:spPr>
            <a:xfrm>
              <a:off x="228600" y="1696975"/>
              <a:ext cx="2150175" cy="2479026"/>
            </a:xfrm>
            <a:prstGeom prst="rect">
              <a:avLst/>
            </a:prstGeom>
            <a:noFill/>
            <a:ln>
              <a:noFill/>
            </a:ln>
          </p:spPr>
        </p:pic>
        <p:sp>
          <p:nvSpPr>
            <p:cNvPr id="789" name="Google Shape;789;p67"/>
            <p:cNvSpPr txBox="1"/>
            <p:nvPr/>
          </p:nvSpPr>
          <p:spPr>
            <a:xfrm>
              <a:off x="605521" y="1656445"/>
              <a:ext cx="1404600" cy="637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rgbClr val="FFFFFF"/>
                  </a:solidFill>
                  <a:latin typeface="Permanent Marker"/>
                  <a:ea typeface="Permanent Marker"/>
                  <a:cs typeface="Permanent Marker"/>
                  <a:sym typeface="Permanent Marker"/>
                </a:rPr>
                <a:t>PRODUCER</a:t>
              </a:r>
              <a:endParaRPr sz="600">
                <a:solidFill>
                  <a:srgbClr val="FFFFFF"/>
                </a:solidFill>
                <a:latin typeface="Permanent Marker"/>
                <a:ea typeface="Permanent Marker"/>
                <a:cs typeface="Permanent Marker"/>
                <a:sym typeface="Permanent Marker"/>
              </a:endParaRPr>
            </a:p>
          </p:txBody>
        </p:sp>
      </p:grpSp>
      <p:grpSp>
        <p:nvGrpSpPr>
          <p:cNvPr id="790" name="Google Shape;790;p67"/>
          <p:cNvGrpSpPr/>
          <p:nvPr/>
        </p:nvGrpSpPr>
        <p:grpSpPr>
          <a:xfrm>
            <a:off x="1447789" y="2060258"/>
            <a:ext cx="933821" cy="1094243"/>
            <a:chOff x="228600" y="1656445"/>
            <a:chExt cx="2150175" cy="2519556"/>
          </a:xfrm>
        </p:grpSpPr>
        <p:pic>
          <p:nvPicPr>
            <p:cNvPr id="791" name="Google Shape;791;p67"/>
            <p:cNvPicPr preferRelativeResize="0"/>
            <p:nvPr/>
          </p:nvPicPr>
          <p:blipFill>
            <a:blip r:embed="rId4">
              <a:alphaModFix/>
            </a:blip>
            <a:stretch>
              <a:fillRect/>
            </a:stretch>
          </p:blipFill>
          <p:spPr>
            <a:xfrm>
              <a:off x="228600" y="1696975"/>
              <a:ext cx="2150175" cy="2479026"/>
            </a:xfrm>
            <a:prstGeom prst="rect">
              <a:avLst/>
            </a:prstGeom>
            <a:noFill/>
            <a:ln>
              <a:noFill/>
            </a:ln>
          </p:spPr>
        </p:pic>
        <p:sp>
          <p:nvSpPr>
            <p:cNvPr id="792" name="Google Shape;792;p67"/>
            <p:cNvSpPr txBox="1"/>
            <p:nvPr/>
          </p:nvSpPr>
          <p:spPr>
            <a:xfrm>
              <a:off x="605521" y="1656445"/>
              <a:ext cx="1404600" cy="637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600">
                  <a:solidFill>
                    <a:srgbClr val="FFFFFF"/>
                  </a:solidFill>
                  <a:latin typeface="Permanent Marker"/>
                  <a:ea typeface="Permanent Marker"/>
                  <a:cs typeface="Permanent Marker"/>
                  <a:sym typeface="Permanent Marker"/>
                </a:rPr>
                <a:t>PRODUCER</a:t>
              </a:r>
              <a:endParaRPr sz="600">
                <a:solidFill>
                  <a:srgbClr val="FFFFFF"/>
                </a:solidFill>
                <a:latin typeface="Permanent Marker"/>
                <a:ea typeface="Permanent Marker"/>
                <a:cs typeface="Permanent Marker"/>
                <a:sym typeface="Permanent Marker"/>
              </a:endParaRPr>
            </a:p>
          </p:txBody>
        </p:sp>
      </p:grpSp>
      <p:pic>
        <p:nvPicPr>
          <p:cNvPr id="793" name="Google Shape;793;p67" descr="Image result for sleeping z's"/>
          <p:cNvPicPr preferRelativeResize="0"/>
          <p:nvPr/>
        </p:nvPicPr>
        <p:blipFill>
          <a:blip r:embed="rId3">
            <a:alphaModFix/>
          </a:blip>
          <a:stretch>
            <a:fillRect/>
          </a:stretch>
        </p:blipFill>
        <p:spPr>
          <a:xfrm>
            <a:off x="1113325" y="3362000"/>
            <a:ext cx="671859" cy="749700"/>
          </a:xfrm>
          <a:prstGeom prst="rect">
            <a:avLst/>
          </a:prstGeom>
          <a:noFill/>
          <a:ln>
            <a:noFill/>
          </a:ln>
        </p:spPr>
      </p:pic>
      <p:pic>
        <p:nvPicPr>
          <p:cNvPr id="794" name="Google Shape;794;p67" descr="Image result for sleeping z's"/>
          <p:cNvPicPr preferRelativeResize="0"/>
          <p:nvPr/>
        </p:nvPicPr>
        <p:blipFill>
          <a:blip r:embed="rId3">
            <a:alphaModFix/>
          </a:blip>
          <a:stretch>
            <a:fillRect/>
          </a:stretch>
        </p:blipFill>
        <p:spPr>
          <a:xfrm>
            <a:off x="1799125" y="3514400"/>
            <a:ext cx="671859" cy="749700"/>
          </a:xfrm>
          <a:prstGeom prst="rect">
            <a:avLst/>
          </a:prstGeom>
          <a:noFill/>
          <a:ln>
            <a:noFill/>
          </a:ln>
        </p:spPr>
      </p:pic>
      <p:pic>
        <p:nvPicPr>
          <p:cNvPr id="795" name="Google Shape;795;p67" descr="Image result for sleeping z's"/>
          <p:cNvPicPr preferRelativeResize="0"/>
          <p:nvPr/>
        </p:nvPicPr>
        <p:blipFill>
          <a:blip r:embed="rId3">
            <a:alphaModFix/>
          </a:blip>
          <a:stretch>
            <a:fillRect/>
          </a:stretch>
        </p:blipFill>
        <p:spPr>
          <a:xfrm>
            <a:off x="503725" y="4047800"/>
            <a:ext cx="671859" cy="7497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68"/>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Thread States</a:t>
            </a:r>
            <a:endParaRPr/>
          </a:p>
        </p:txBody>
      </p:sp>
      <p:sp>
        <p:nvSpPr>
          <p:cNvPr id="801" name="Google Shape;801;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37</a:t>
            </a:fld>
            <a:endParaRPr/>
          </a:p>
        </p:txBody>
      </p:sp>
      <p:grpSp>
        <p:nvGrpSpPr>
          <p:cNvPr id="802" name="Google Shape;802;p68"/>
          <p:cNvGrpSpPr/>
          <p:nvPr/>
        </p:nvGrpSpPr>
        <p:grpSpPr>
          <a:xfrm>
            <a:off x="4062814" y="1652513"/>
            <a:ext cx="1486500" cy="2959163"/>
            <a:chOff x="6958414" y="1195313"/>
            <a:chExt cx="1486500" cy="2959163"/>
          </a:xfrm>
        </p:grpSpPr>
        <p:sp>
          <p:nvSpPr>
            <p:cNvPr id="803" name="Google Shape;803;p68"/>
            <p:cNvSpPr/>
            <p:nvPr/>
          </p:nvSpPr>
          <p:spPr>
            <a:xfrm>
              <a:off x="6958414" y="1969300"/>
              <a:ext cx="1486500" cy="1411200"/>
            </a:xfrm>
            <a:prstGeom prst="roundRect">
              <a:avLst>
                <a:gd name="adj" fmla="val 9698"/>
              </a:avLst>
            </a:prstGeom>
            <a:solidFill>
              <a:srgbClr val="B6D7A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68"/>
            <p:cNvSpPr/>
            <p:nvPr/>
          </p:nvSpPr>
          <p:spPr>
            <a:xfrm>
              <a:off x="7286250" y="1195313"/>
              <a:ext cx="831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805" name="Google Shape;805;p68"/>
            <p:cNvSpPr/>
            <p:nvPr/>
          </p:nvSpPr>
          <p:spPr>
            <a:xfrm>
              <a:off x="7029750" y="2049450"/>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806" name="Google Shape;806;p68"/>
            <p:cNvSpPr/>
            <p:nvPr/>
          </p:nvSpPr>
          <p:spPr>
            <a:xfrm>
              <a:off x="7029750" y="29035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807" name="Google Shape;807;p68"/>
            <p:cNvSpPr/>
            <p:nvPr/>
          </p:nvSpPr>
          <p:spPr>
            <a:xfrm>
              <a:off x="7050682" y="3763875"/>
              <a:ext cx="13020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808" name="Google Shape;808;p68"/>
            <p:cNvCxnSpPr>
              <a:stCxn id="804" idx="2"/>
              <a:endCxn id="805" idx="0"/>
            </p:cNvCxnSpPr>
            <p:nvPr/>
          </p:nvCxnSpPr>
          <p:spPr>
            <a:xfrm>
              <a:off x="7702200" y="1585913"/>
              <a:ext cx="0" cy="463500"/>
            </a:xfrm>
            <a:prstGeom prst="straightConnector1">
              <a:avLst/>
            </a:prstGeom>
            <a:noFill/>
            <a:ln w="9525" cap="flat" cmpd="sng">
              <a:solidFill>
                <a:srgbClr val="000000"/>
              </a:solidFill>
              <a:prstDash val="solid"/>
              <a:round/>
              <a:headEnd type="none" w="med" len="med"/>
              <a:tailEnd type="triangle" w="med" len="med"/>
            </a:ln>
          </p:spPr>
        </p:cxnSp>
        <p:cxnSp>
          <p:nvCxnSpPr>
            <p:cNvPr id="809" name="Google Shape;809;p68"/>
            <p:cNvCxnSpPr>
              <a:stCxn id="806" idx="2"/>
              <a:endCxn id="807" idx="0"/>
            </p:cNvCxnSpPr>
            <p:nvPr/>
          </p:nvCxnSpPr>
          <p:spPr>
            <a:xfrm flipH="1">
              <a:off x="7701600" y="3294175"/>
              <a:ext cx="600" cy="469800"/>
            </a:xfrm>
            <a:prstGeom prst="straightConnector1">
              <a:avLst/>
            </a:prstGeom>
            <a:noFill/>
            <a:ln w="9525" cap="flat" cmpd="sng">
              <a:solidFill>
                <a:srgbClr val="000000"/>
              </a:solidFill>
              <a:prstDash val="solid"/>
              <a:round/>
              <a:headEnd type="none" w="med" len="med"/>
              <a:tailEnd type="triangle" w="med" len="med"/>
            </a:ln>
          </p:spPr>
        </p:cxnSp>
        <p:cxnSp>
          <p:nvCxnSpPr>
            <p:cNvPr id="810" name="Google Shape;810;p68"/>
            <p:cNvCxnSpPr/>
            <p:nvPr/>
          </p:nvCxnSpPr>
          <p:spPr>
            <a:xfrm>
              <a:off x="7333050" y="2445150"/>
              <a:ext cx="0" cy="470100"/>
            </a:xfrm>
            <a:prstGeom prst="straightConnector1">
              <a:avLst/>
            </a:prstGeom>
            <a:noFill/>
            <a:ln w="9525" cap="flat" cmpd="sng">
              <a:solidFill>
                <a:srgbClr val="000000"/>
              </a:solidFill>
              <a:prstDash val="solid"/>
              <a:round/>
              <a:headEnd type="none" w="med" len="med"/>
              <a:tailEnd type="triangle" w="med" len="med"/>
            </a:ln>
          </p:spPr>
        </p:cxnSp>
        <p:cxnSp>
          <p:nvCxnSpPr>
            <p:cNvPr id="811" name="Google Shape;811;p68"/>
            <p:cNvCxnSpPr/>
            <p:nvPr/>
          </p:nvCxnSpPr>
          <p:spPr>
            <a:xfrm rot="10800000">
              <a:off x="8094075" y="2445275"/>
              <a:ext cx="0" cy="470100"/>
            </a:xfrm>
            <a:prstGeom prst="straightConnector1">
              <a:avLst/>
            </a:prstGeom>
            <a:noFill/>
            <a:ln w="9525" cap="flat" cmpd="sng">
              <a:solidFill>
                <a:srgbClr val="000000"/>
              </a:solidFill>
              <a:prstDash val="solid"/>
              <a:round/>
              <a:headEnd type="none" w="med" len="med"/>
              <a:tailEnd type="triangle" w="med" len="med"/>
            </a:ln>
          </p:spPr>
        </p:cxnSp>
      </p:grpSp>
      <p:sp>
        <p:nvSpPr>
          <p:cNvPr id="812" name="Google Shape;812;p68"/>
          <p:cNvSpPr/>
          <p:nvPr/>
        </p:nvSpPr>
        <p:spPr>
          <a:xfrm>
            <a:off x="2299625" y="29701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cxnSp>
        <p:nvCxnSpPr>
          <p:cNvPr id="813" name="Google Shape;813;p68"/>
          <p:cNvCxnSpPr>
            <a:stCxn id="806" idx="1"/>
            <a:endCxn id="812" idx="2"/>
          </p:cNvCxnSpPr>
          <p:nvPr/>
        </p:nvCxnSpPr>
        <p:spPr>
          <a:xfrm rot="10800000">
            <a:off x="2971950" y="3360775"/>
            <a:ext cx="1162200" cy="195300"/>
          </a:xfrm>
          <a:prstGeom prst="curvedConnector2">
            <a:avLst/>
          </a:prstGeom>
          <a:noFill/>
          <a:ln w="9525" cap="flat" cmpd="sng">
            <a:solidFill>
              <a:srgbClr val="000000"/>
            </a:solidFill>
            <a:prstDash val="solid"/>
            <a:round/>
            <a:headEnd type="none" w="med" len="med"/>
            <a:tailEnd type="triangle" w="med" len="med"/>
          </a:ln>
        </p:spPr>
      </p:cxnSp>
      <p:sp>
        <p:nvSpPr>
          <p:cNvPr id="814" name="Google Shape;814;p68"/>
          <p:cNvSpPr txBox="1"/>
          <p:nvPr/>
        </p:nvSpPr>
        <p:spPr>
          <a:xfrm>
            <a:off x="2780150" y="3556075"/>
            <a:ext cx="10731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sleep()</a:t>
            </a:r>
            <a:endParaRPr sz="800" b="1"/>
          </a:p>
          <a:p>
            <a:pPr marL="0" lvl="0" indent="0" algn="ctr" rtl="0">
              <a:spcBef>
                <a:spcPts val="0"/>
              </a:spcBef>
              <a:spcAft>
                <a:spcPts val="0"/>
              </a:spcAft>
              <a:buNone/>
            </a:pPr>
            <a:r>
              <a:rPr lang="en" sz="800" b="1"/>
              <a:t>join()</a:t>
            </a:r>
            <a:endParaRPr sz="800" b="1"/>
          </a:p>
        </p:txBody>
      </p:sp>
      <p:grpSp>
        <p:nvGrpSpPr>
          <p:cNvPr id="815" name="Google Shape;815;p68"/>
          <p:cNvGrpSpPr/>
          <p:nvPr/>
        </p:nvGrpSpPr>
        <p:grpSpPr>
          <a:xfrm>
            <a:off x="5473125" y="2578351"/>
            <a:ext cx="1599150" cy="1137946"/>
            <a:chOff x="7149525" y="2044951"/>
            <a:chExt cx="1599150" cy="1137946"/>
          </a:xfrm>
        </p:grpSpPr>
        <p:sp>
          <p:nvSpPr>
            <p:cNvPr id="816" name="Google Shape;816;p68"/>
            <p:cNvSpPr/>
            <p:nvPr/>
          </p:nvSpPr>
          <p:spPr>
            <a:xfrm>
              <a:off x="7660575" y="2410450"/>
              <a:ext cx="1088100" cy="390600"/>
            </a:xfrm>
            <a:prstGeom prst="roundRect">
              <a:avLst>
                <a:gd name="adj" fmla="val 16667"/>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BLOCKED</a:t>
              </a:r>
              <a:endParaRPr>
                <a:solidFill>
                  <a:srgbClr val="FFFFFF"/>
                </a:solidFill>
              </a:endParaRPr>
            </a:p>
          </p:txBody>
        </p:sp>
        <p:cxnSp>
          <p:nvCxnSpPr>
            <p:cNvPr id="817" name="Google Shape;817;p68"/>
            <p:cNvCxnSpPr>
              <a:endCxn id="816" idx="2"/>
            </p:cNvCxnSpPr>
            <p:nvPr/>
          </p:nvCxnSpPr>
          <p:spPr>
            <a:xfrm rot="10800000" flipH="1">
              <a:off x="7149525" y="2801050"/>
              <a:ext cx="1055100" cy="231600"/>
            </a:xfrm>
            <a:prstGeom prst="curvedConnector2">
              <a:avLst/>
            </a:prstGeom>
            <a:noFill/>
            <a:ln w="9525" cap="flat" cmpd="sng">
              <a:solidFill>
                <a:srgbClr val="000000"/>
              </a:solidFill>
              <a:prstDash val="solid"/>
              <a:round/>
              <a:headEnd type="none" w="med" len="med"/>
              <a:tailEnd type="triangle" w="med" len="med"/>
            </a:ln>
          </p:spPr>
        </p:cxnSp>
        <p:sp>
          <p:nvSpPr>
            <p:cNvPr id="818" name="Google Shape;818;p68"/>
            <p:cNvSpPr txBox="1"/>
            <p:nvPr/>
          </p:nvSpPr>
          <p:spPr>
            <a:xfrm>
              <a:off x="7386150" y="2987597"/>
              <a:ext cx="1073100" cy="19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unavailable</a:t>
              </a:r>
              <a:endParaRPr sz="800" b="1"/>
            </a:p>
          </p:txBody>
        </p:sp>
        <p:cxnSp>
          <p:nvCxnSpPr>
            <p:cNvPr id="819" name="Google Shape;819;p68"/>
            <p:cNvCxnSpPr>
              <a:stCxn id="816" idx="0"/>
            </p:cNvCxnSpPr>
            <p:nvPr/>
          </p:nvCxnSpPr>
          <p:spPr>
            <a:xfrm rot="5400000" flipH="1">
              <a:off x="7561125" y="1766950"/>
              <a:ext cx="231900" cy="1055100"/>
            </a:xfrm>
            <a:prstGeom prst="curvedConnector2">
              <a:avLst/>
            </a:prstGeom>
            <a:noFill/>
            <a:ln w="9525" cap="flat" cmpd="sng">
              <a:solidFill>
                <a:srgbClr val="000000"/>
              </a:solidFill>
              <a:prstDash val="solid"/>
              <a:round/>
              <a:headEnd type="none" w="med" len="med"/>
              <a:tailEnd type="triangle" w="med" len="med"/>
            </a:ln>
          </p:spPr>
        </p:cxnSp>
        <p:sp>
          <p:nvSpPr>
            <p:cNvPr id="820" name="Google Shape;820;p68"/>
            <p:cNvSpPr txBox="1"/>
            <p:nvPr/>
          </p:nvSpPr>
          <p:spPr>
            <a:xfrm>
              <a:off x="7463450" y="2044951"/>
              <a:ext cx="1073100" cy="23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obtained</a:t>
              </a:r>
              <a:endParaRPr sz="800" b="1"/>
            </a:p>
          </p:txBody>
        </p:sp>
      </p:grpSp>
      <p:cxnSp>
        <p:nvCxnSpPr>
          <p:cNvPr id="821" name="Google Shape;821;p68"/>
          <p:cNvCxnSpPr>
            <a:stCxn id="812" idx="1"/>
            <a:endCxn id="816" idx="3"/>
          </p:cNvCxnSpPr>
          <p:nvPr/>
        </p:nvCxnSpPr>
        <p:spPr>
          <a:xfrm rot="10800000" flipH="1">
            <a:off x="2299625" y="3139075"/>
            <a:ext cx="4772700" cy="26400"/>
          </a:xfrm>
          <a:prstGeom prst="curvedConnector5">
            <a:avLst>
              <a:gd name="adj1" fmla="val -4989"/>
              <a:gd name="adj2" fmla="val 6799053"/>
              <a:gd name="adj3" fmla="val 104988"/>
            </a:avLst>
          </a:prstGeom>
          <a:noFill/>
          <a:ln w="9525" cap="flat" cmpd="sng">
            <a:solidFill>
              <a:srgbClr val="FF0000"/>
            </a:solidFill>
            <a:prstDash val="dash"/>
            <a:round/>
            <a:headEnd type="none" w="med" len="med"/>
            <a:tailEnd type="triangle" w="med" len="med"/>
          </a:ln>
        </p:spPr>
      </p:cxnSp>
      <p:sp>
        <p:nvSpPr>
          <p:cNvPr id="822" name="Google Shape;822;p68"/>
          <p:cNvSpPr txBox="1"/>
          <p:nvPr/>
        </p:nvSpPr>
        <p:spPr>
          <a:xfrm>
            <a:off x="1002254" y="2395047"/>
            <a:ext cx="1073100" cy="39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interrupt</a:t>
            </a:r>
            <a:endParaRPr sz="800" b="1"/>
          </a:p>
          <a:p>
            <a:pPr marL="0" lvl="0" indent="0" algn="ctr" rtl="0">
              <a:spcBef>
                <a:spcPts val="0"/>
              </a:spcBef>
              <a:spcAft>
                <a:spcPts val="0"/>
              </a:spcAft>
              <a:buNone/>
            </a:pPr>
            <a:r>
              <a:rPr lang="en" sz="800" b="1"/>
              <a:t>notify/notifyAll</a:t>
            </a:r>
            <a:endParaRPr sz="800" b="1"/>
          </a:p>
        </p:txBody>
      </p:sp>
      <p:cxnSp>
        <p:nvCxnSpPr>
          <p:cNvPr id="823" name="Google Shape;823;p68"/>
          <p:cNvCxnSpPr>
            <a:stCxn id="805" idx="1"/>
            <a:endCxn id="812" idx="0"/>
          </p:cNvCxnSpPr>
          <p:nvPr/>
        </p:nvCxnSpPr>
        <p:spPr>
          <a:xfrm flipH="1">
            <a:off x="2971950" y="2701950"/>
            <a:ext cx="1162200" cy="268200"/>
          </a:xfrm>
          <a:prstGeom prst="curvedConnector2">
            <a:avLst/>
          </a:prstGeom>
          <a:noFill/>
          <a:ln w="9525" cap="flat" cmpd="sng">
            <a:solidFill>
              <a:srgbClr val="000000"/>
            </a:solidFill>
            <a:prstDash val="solid"/>
            <a:round/>
            <a:headEnd type="triangle" w="med" len="med"/>
            <a:tailEnd type="none" w="med" len="med"/>
          </a:ln>
        </p:spPr>
      </p:cxnSp>
      <p:sp>
        <p:nvSpPr>
          <p:cNvPr id="824" name="Google Shape;824;p68"/>
          <p:cNvSpPr txBox="1"/>
          <p:nvPr/>
        </p:nvSpPr>
        <p:spPr>
          <a:xfrm>
            <a:off x="4822000" y="3884400"/>
            <a:ext cx="8688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t>run() returns</a:t>
            </a:r>
            <a:endParaRPr sz="800"/>
          </a:p>
        </p:txBody>
      </p:sp>
      <p:sp>
        <p:nvSpPr>
          <p:cNvPr id="825" name="Google Shape;825;p68"/>
          <p:cNvSpPr txBox="1"/>
          <p:nvPr/>
        </p:nvSpPr>
        <p:spPr>
          <a:xfrm>
            <a:off x="3016500" y="2311350"/>
            <a:ext cx="1073100" cy="39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timer expires</a:t>
            </a:r>
            <a:endParaRPr sz="800" b="1"/>
          </a:p>
          <a:p>
            <a:pPr marL="0" lvl="0" indent="0" algn="ctr" rtl="0">
              <a:spcBef>
                <a:spcPts val="0"/>
              </a:spcBef>
              <a:spcAft>
                <a:spcPts val="0"/>
              </a:spcAft>
              <a:buNone/>
            </a:pPr>
            <a:r>
              <a:rPr lang="en" sz="800" b="1"/>
              <a:t>interrupt</a:t>
            </a:r>
            <a:endParaRPr sz="800" b="1"/>
          </a:p>
          <a:p>
            <a:pPr marL="0" lvl="0" indent="0" algn="ctr" rtl="0">
              <a:spcBef>
                <a:spcPts val="0"/>
              </a:spcBef>
              <a:spcAft>
                <a:spcPts val="0"/>
              </a:spcAft>
              <a:buNone/>
            </a:pPr>
            <a:r>
              <a:rPr lang="en" sz="800" b="1"/>
              <a:t>thread dies</a:t>
            </a:r>
            <a:endParaRPr sz="800" b="1"/>
          </a:p>
        </p:txBody>
      </p:sp>
      <p:sp>
        <p:nvSpPr>
          <p:cNvPr id="826" name="Google Shape;826;p68"/>
          <p:cNvSpPr txBox="1"/>
          <p:nvPr/>
        </p:nvSpPr>
        <p:spPr>
          <a:xfrm>
            <a:off x="4861925" y="2129425"/>
            <a:ext cx="5697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start()</a:t>
            </a:r>
            <a:endParaRPr sz="800" b="1"/>
          </a:p>
        </p:txBody>
      </p:sp>
      <p:sp>
        <p:nvSpPr>
          <p:cNvPr id="827" name="Google Shape;827;p68"/>
          <p:cNvSpPr txBox="1"/>
          <p:nvPr/>
        </p:nvSpPr>
        <p:spPr>
          <a:xfrm>
            <a:off x="5171225" y="2970175"/>
            <a:ext cx="5697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timeout</a:t>
            </a:r>
            <a:endParaRPr sz="800" b="1"/>
          </a:p>
        </p:txBody>
      </p:sp>
      <p:sp>
        <p:nvSpPr>
          <p:cNvPr id="828" name="Google Shape;828;p68"/>
          <p:cNvSpPr txBox="1"/>
          <p:nvPr/>
        </p:nvSpPr>
        <p:spPr>
          <a:xfrm>
            <a:off x="3773860" y="3034063"/>
            <a:ext cx="7173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scheduled</a:t>
            </a:r>
            <a:endParaRPr sz="800" b="1"/>
          </a:p>
        </p:txBody>
      </p:sp>
      <p:sp>
        <p:nvSpPr>
          <p:cNvPr id="829" name="Google Shape;829;p68"/>
          <p:cNvSpPr/>
          <p:nvPr/>
        </p:nvSpPr>
        <p:spPr>
          <a:xfrm>
            <a:off x="2759275" y="3371500"/>
            <a:ext cx="1379600" cy="1216575"/>
          </a:xfrm>
          <a:custGeom>
            <a:avLst/>
            <a:gdLst/>
            <a:ahLst/>
            <a:cxnLst/>
            <a:rect l="l" t="t" r="r" b="b"/>
            <a:pathLst>
              <a:path w="55184" h="48663" extrusionOk="0">
                <a:moveTo>
                  <a:pt x="55184" y="7497"/>
                </a:moveTo>
                <a:cubicBezTo>
                  <a:pt x="47336" y="14345"/>
                  <a:pt x="17295" y="49835"/>
                  <a:pt x="8098" y="48585"/>
                </a:cubicBezTo>
                <a:cubicBezTo>
                  <a:pt x="-1099" y="47336"/>
                  <a:pt x="1350" y="8098"/>
                  <a:pt x="0" y="0"/>
                </a:cubicBezTo>
              </a:path>
            </a:pathLst>
          </a:custGeom>
          <a:noFill/>
          <a:ln w="9525" cap="flat" cmpd="sng">
            <a:solidFill>
              <a:srgbClr val="FF0000"/>
            </a:solidFill>
            <a:prstDash val="dash"/>
            <a:round/>
            <a:headEnd type="none" w="med" len="med"/>
            <a:tailEnd type="triangle" w="med" len="med"/>
          </a:ln>
        </p:spPr>
        <p:txBody>
          <a:bodyPr/>
          <a:lstStyle/>
          <a:p>
            <a:endParaRPr lang="en-US"/>
          </a:p>
        </p:txBody>
      </p:sp>
      <p:sp>
        <p:nvSpPr>
          <p:cNvPr id="830" name="Google Shape;830;p68"/>
          <p:cNvSpPr txBox="1"/>
          <p:nvPr/>
        </p:nvSpPr>
        <p:spPr>
          <a:xfrm>
            <a:off x="2759275" y="4598800"/>
            <a:ext cx="7173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lock.lock()</a:t>
            </a:r>
            <a:endParaRPr sz="800" b="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34"/>
        <p:cNvGrpSpPr/>
        <p:nvPr/>
      </p:nvGrpSpPr>
      <p:grpSpPr>
        <a:xfrm>
          <a:off x="0" y="0"/>
          <a:ext cx="0" cy="0"/>
          <a:chOff x="0" y="0"/>
          <a:chExt cx="0" cy="0"/>
        </a:xfrm>
      </p:grpSpPr>
      <p:sp>
        <p:nvSpPr>
          <p:cNvPr id="835" name="Google Shape;835;p69"/>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WAITING is not BLOCKED (and Vice Versa)</a:t>
            </a:r>
            <a:endParaRPr/>
          </a:p>
        </p:txBody>
      </p:sp>
      <p:sp>
        <p:nvSpPr>
          <p:cNvPr id="836" name="Google Shape;836;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38</a:t>
            </a:fld>
            <a:endParaRPr/>
          </a:p>
        </p:txBody>
      </p:sp>
      <p:pic>
        <p:nvPicPr>
          <p:cNvPr id="837" name="Google Shape;837;p69"/>
          <p:cNvPicPr preferRelativeResize="0"/>
          <p:nvPr/>
        </p:nvPicPr>
        <p:blipFill>
          <a:blip r:embed="rId3">
            <a:alphaModFix/>
          </a:blip>
          <a:stretch>
            <a:fillRect/>
          </a:stretch>
        </p:blipFill>
        <p:spPr>
          <a:xfrm>
            <a:off x="1285125" y="1375825"/>
            <a:ext cx="1830025" cy="1830025"/>
          </a:xfrm>
          <a:prstGeom prst="rect">
            <a:avLst/>
          </a:prstGeom>
          <a:noFill/>
          <a:ln>
            <a:noFill/>
          </a:ln>
        </p:spPr>
      </p:pic>
      <p:pic>
        <p:nvPicPr>
          <p:cNvPr id="838" name="Google Shape;838;p69" descr="Image result for sleeping z's"/>
          <p:cNvPicPr preferRelativeResize="0"/>
          <p:nvPr/>
        </p:nvPicPr>
        <p:blipFill>
          <a:blip r:embed="rId4">
            <a:alphaModFix/>
          </a:blip>
          <a:stretch>
            <a:fillRect/>
          </a:stretch>
        </p:blipFill>
        <p:spPr>
          <a:xfrm>
            <a:off x="6346650" y="1375825"/>
            <a:ext cx="1640022" cy="1830025"/>
          </a:xfrm>
          <a:prstGeom prst="rect">
            <a:avLst/>
          </a:prstGeom>
          <a:noFill/>
          <a:ln>
            <a:noFill/>
          </a:ln>
        </p:spPr>
      </p:pic>
      <p:sp>
        <p:nvSpPr>
          <p:cNvPr id="839" name="Google Shape;839;p69"/>
          <p:cNvSpPr txBox="1">
            <a:spLocks noGrp="1"/>
          </p:cNvSpPr>
          <p:nvPr>
            <p:ph type="body" idx="1"/>
          </p:nvPr>
        </p:nvSpPr>
        <p:spPr>
          <a:xfrm>
            <a:off x="311700" y="3259975"/>
            <a:ext cx="3999900" cy="16908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highlight>
                  <a:srgbClr val="FFFF00"/>
                </a:highlight>
              </a:rPr>
              <a:t>A </a:t>
            </a:r>
            <a:r>
              <a:rPr lang="en" b="1" i="1" dirty="0">
                <a:solidFill>
                  <a:srgbClr val="FF0000"/>
                </a:solidFill>
                <a:highlight>
                  <a:srgbClr val="FFFF00"/>
                </a:highlight>
              </a:rPr>
              <a:t>blocked</a:t>
            </a:r>
            <a:r>
              <a:rPr lang="en" dirty="0">
                <a:solidFill>
                  <a:srgbClr val="FF0000"/>
                </a:solidFill>
                <a:highlight>
                  <a:srgbClr val="FFFF00"/>
                </a:highlight>
              </a:rPr>
              <a:t> </a:t>
            </a:r>
            <a:r>
              <a:rPr lang="en" dirty="0">
                <a:highlight>
                  <a:srgbClr val="FFFF00"/>
                </a:highlight>
              </a:rPr>
              <a:t>thread is </a:t>
            </a:r>
            <a:r>
              <a:rPr lang="en" b="1" i="1" dirty="0">
                <a:solidFill>
                  <a:srgbClr val="FF0000"/>
                </a:solidFill>
                <a:highlight>
                  <a:srgbClr val="FFFF00"/>
                </a:highlight>
              </a:rPr>
              <a:t>not</a:t>
            </a:r>
            <a:r>
              <a:rPr lang="en" dirty="0">
                <a:solidFill>
                  <a:srgbClr val="FF0000"/>
                </a:solidFill>
                <a:highlight>
                  <a:srgbClr val="FFFF00"/>
                </a:highlight>
              </a:rPr>
              <a:t> </a:t>
            </a:r>
            <a:r>
              <a:rPr lang="en" dirty="0">
                <a:highlight>
                  <a:srgbClr val="FFFF00"/>
                </a:highlight>
              </a:rPr>
              <a:t>waiting.</a:t>
            </a:r>
            <a:endParaRPr dirty="0">
              <a:highlight>
                <a:srgbClr val="FFFF00"/>
              </a:highlight>
            </a:endParaRPr>
          </a:p>
          <a:p>
            <a:pPr marL="914400" lvl="1" indent="-298450" algn="l" rtl="0">
              <a:lnSpc>
                <a:spcPct val="100000"/>
              </a:lnSpc>
              <a:spcBef>
                <a:spcPts val="0"/>
              </a:spcBef>
              <a:spcAft>
                <a:spcPts val="0"/>
              </a:spcAft>
              <a:buSzPts val="1100"/>
              <a:buChar char="○"/>
            </a:pPr>
            <a:r>
              <a:rPr lang="en" dirty="0"/>
              <a:t>A blocked thread is </a:t>
            </a:r>
            <a:r>
              <a:rPr lang="en" b="1" i="1" dirty="0">
                <a:solidFill>
                  <a:srgbClr val="FF0000"/>
                </a:solidFill>
              </a:rPr>
              <a:t>actively</a:t>
            </a:r>
            <a:r>
              <a:rPr lang="en" dirty="0">
                <a:solidFill>
                  <a:srgbClr val="FF0000"/>
                </a:solidFill>
              </a:rPr>
              <a:t> </a:t>
            </a:r>
            <a:r>
              <a:rPr lang="en" dirty="0"/>
              <a:t>trying to get into a locked block of code and is </a:t>
            </a:r>
            <a:r>
              <a:rPr lang="en" b="1" i="1" dirty="0">
                <a:solidFill>
                  <a:srgbClr val="FF0000"/>
                </a:solidFill>
              </a:rPr>
              <a:t>prevented</a:t>
            </a:r>
            <a:r>
              <a:rPr lang="en" dirty="0">
                <a:solidFill>
                  <a:srgbClr val="FF0000"/>
                </a:solidFill>
              </a:rPr>
              <a:t> </a:t>
            </a:r>
            <a:r>
              <a:rPr lang="en" dirty="0"/>
              <a:t>from doing so.</a:t>
            </a:r>
            <a:endParaRPr dirty="0"/>
          </a:p>
          <a:p>
            <a:pPr marL="457200" lvl="0" indent="-311150" algn="l" rtl="0">
              <a:lnSpc>
                <a:spcPct val="100000"/>
              </a:lnSpc>
              <a:spcBef>
                <a:spcPts val="0"/>
              </a:spcBef>
              <a:spcAft>
                <a:spcPts val="0"/>
              </a:spcAft>
              <a:buSzPts val="1300"/>
              <a:buChar char="●"/>
            </a:pPr>
            <a:r>
              <a:rPr lang="en" dirty="0"/>
              <a:t>If and when the thread scheduler chooses it, it will </a:t>
            </a:r>
            <a:r>
              <a:rPr lang="en" b="1" i="1" dirty="0">
                <a:solidFill>
                  <a:srgbClr val="FF0000"/>
                </a:solidFill>
              </a:rPr>
              <a:t>immediately</a:t>
            </a:r>
            <a:r>
              <a:rPr lang="en" dirty="0">
                <a:solidFill>
                  <a:srgbClr val="FF0000"/>
                </a:solidFill>
              </a:rPr>
              <a:t> </a:t>
            </a:r>
            <a:r>
              <a:rPr lang="en" dirty="0"/>
              <a:t>transition to the </a:t>
            </a:r>
            <a:r>
              <a:rPr lang="en" b="1" i="1" dirty="0">
                <a:solidFill>
                  <a:srgbClr val="FF0000"/>
                </a:solidFill>
              </a:rPr>
              <a:t>runnable</a:t>
            </a:r>
            <a:r>
              <a:rPr lang="en" dirty="0">
                <a:solidFill>
                  <a:srgbClr val="FF0000"/>
                </a:solidFill>
              </a:rPr>
              <a:t> </a:t>
            </a:r>
            <a:r>
              <a:rPr lang="en" dirty="0"/>
              <a:t>state.</a:t>
            </a:r>
            <a:endParaRPr dirty="0"/>
          </a:p>
          <a:p>
            <a:pPr marL="457200" lvl="0" indent="-311150" algn="l" rtl="0">
              <a:lnSpc>
                <a:spcPct val="100000"/>
              </a:lnSpc>
              <a:spcBef>
                <a:spcPts val="0"/>
              </a:spcBef>
              <a:spcAft>
                <a:spcPts val="0"/>
              </a:spcAft>
              <a:buSzPts val="1300"/>
              <a:buChar char="●"/>
            </a:pPr>
            <a:r>
              <a:rPr lang="en" dirty="0"/>
              <a:t>A blocked thread </a:t>
            </a:r>
            <a:r>
              <a:rPr lang="en" b="1" i="1" dirty="0">
                <a:solidFill>
                  <a:srgbClr val="FF0000"/>
                </a:solidFill>
              </a:rPr>
              <a:t>cannot</a:t>
            </a:r>
            <a:r>
              <a:rPr lang="en" dirty="0">
                <a:solidFill>
                  <a:srgbClr val="FF0000"/>
                </a:solidFill>
              </a:rPr>
              <a:t> </a:t>
            </a:r>
            <a:r>
              <a:rPr lang="en" dirty="0"/>
              <a:t>be interrupted.</a:t>
            </a:r>
            <a:endParaRPr dirty="0"/>
          </a:p>
        </p:txBody>
      </p:sp>
      <p:sp>
        <p:nvSpPr>
          <p:cNvPr id="840" name="Google Shape;840;p69"/>
          <p:cNvSpPr txBox="1">
            <a:spLocks noGrp="1"/>
          </p:cNvSpPr>
          <p:nvPr>
            <p:ph type="body" idx="2"/>
          </p:nvPr>
        </p:nvSpPr>
        <p:spPr>
          <a:xfrm>
            <a:off x="4832400" y="3260100"/>
            <a:ext cx="3999900" cy="1690800"/>
          </a:xfrm>
          <a:prstGeom prst="rect">
            <a:avLst/>
          </a:prstGeom>
        </p:spPr>
        <p:txBody>
          <a:bodyPr spcFirstLastPara="1" wrap="square" lIns="91425" tIns="91425" rIns="91425" bIns="91425" anchor="ctr" anchorCtr="0">
            <a:noAutofit/>
          </a:bodyPr>
          <a:lstStyle/>
          <a:p>
            <a:pPr marL="457200" lvl="0" indent="-311150" algn="l" rtl="0">
              <a:lnSpc>
                <a:spcPct val="100000"/>
              </a:lnSpc>
              <a:spcBef>
                <a:spcPts val="0"/>
              </a:spcBef>
              <a:spcAft>
                <a:spcPts val="0"/>
              </a:spcAft>
              <a:buSzPts val="1300"/>
              <a:buChar char="●"/>
            </a:pPr>
            <a:r>
              <a:rPr lang="en" dirty="0"/>
              <a:t>A </a:t>
            </a:r>
            <a:r>
              <a:rPr lang="en" b="1" i="1" dirty="0">
                <a:solidFill>
                  <a:srgbClr val="FF0000"/>
                </a:solidFill>
              </a:rPr>
              <a:t>waiting</a:t>
            </a:r>
            <a:r>
              <a:rPr lang="en" dirty="0">
                <a:solidFill>
                  <a:srgbClr val="FF0000"/>
                </a:solidFill>
              </a:rPr>
              <a:t> </a:t>
            </a:r>
            <a:r>
              <a:rPr lang="en" dirty="0"/>
              <a:t>thread is waiting for some </a:t>
            </a:r>
            <a:r>
              <a:rPr lang="en" b="1" i="1" dirty="0">
                <a:solidFill>
                  <a:srgbClr val="FF0000"/>
                </a:solidFill>
              </a:rPr>
              <a:t>event</a:t>
            </a:r>
            <a:r>
              <a:rPr lang="en" dirty="0">
                <a:solidFill>
                  <a:srgbClr val="FF0000"/>
                </a:solidFill>
              </a:rPr>
              <a:t> </a:t>
            </a:r>
            <a:r>
              <a:rPr lang="en" dirty="0"/>
              <a:t>to occur.</a:t>
            </a:r>
            <a:endParaRPr dirty="0"/>
          </a:p>
          <a:p>
            <a:pPr marL="914400" lvl="1" indent="-298450" algn="l" rtl="0">
              <a:lnSpc>
                <a:spcPct val="100000"/>
              </a:lnSpc>
              <a:spcBef>
                <a:spcPts val="0"/>
              </a:spcBef>
              <a:spcAft>
                <a:spcPts val="0"/>
              </a:spcAft>
              <a:buSzPts val="1100"/>
              <a:buChar char="○"/>
            </a:pPr>
            <a:r>
              <a:rPr lang="en" dirty="0"/>
              <a:t>Another thread to </a:t>
            </a:r>
            <a:r>
              <a:rPr lang="en" b="1" i="1" dirty="0">
                <a:solidFill>
                  <a:srgbClr val="FF0000"/>
                </a:solidFill>
              </a:rPr>
              <a:t>die</a:t>
            </a:r>
            <a:r>
              <a:rPr lang="en" dirty="0"/>
              <a:t>.</a:t>
            </a:r>
            <a:endParaRPr dirty="0"/>
          </a:p>
          <a:p>
            <a:pPr marL="914400" lvl="1" indent="-298450" algn="l" rtl="0">
              <a:lnSpc>
                <a:spcPct val="100000"/>
              </a:lnSpc>
              <a:spcBef>
                <a:spcPts val="0"/>
              </a:spcBef>
              <a:spcAft>
                <a:spcPts val="0"/>
              </a:spcAft>
              <a:buSzPts val="1100"/>
              <a:buChar char="○"/>
            </a:pPr>
            <a:r>
              <a:rPr lang="en" dirty="0"/>
              <a:t>A </a:t>
            </a:r>
            <a:r>
              <a:rPr lang="en" b="1" i="1" dirty="0">
                <a:solidFill>
                  <a:srgbClr val="FF0000"/>
                </a:solidFill>
              </a:rPr>
              <a:t>timer</a:t>
            </a:r>
            <a:r>
              <a:rPr lang="en" dirty="0">
                <a:solidFill>
                  <a:srgbClr val="FF0000"/>
                </a:solidFill>
              </a:rPr>
              <a:t> </a:t>
            </a:r>
            <a:r>
              <a:rPr lang="en" dirty="0"/>
              <a:t>to expire.</a:t>
            </a:r>
            <a:endParaRPr dirty="0"/>
          </a:p>
          <a:p>
            <a:pPr marL="914400" lvl="1" indent="-298450" algn="l" rtl="0">
              <a:lnSpc>
                <a:spcPct val="100000"/>
              </a:lnSpc>
              <a:spcBef>
                <a:spcPts val="0"/>
              </a:spcBef>
              <a:spcAft>
                <a:spcPts val="0"/>
              </a:spcAft>
              <a:buSzPts val="1100"/>
              <a:buChar char="○"/>
            </a:pPr>
            <a:r>
              <a:rPr lang="en" dirty="0"/>
              <a:t>To be </a:t>
            </a:r>
            <a:r>
              <a:rPr lang="en" b="1" i="1" dirty="0">
                <a:solidFill>
                  <a:srgbClr val="FF0000"/>
                </a:solidFill>
              </a:rPr>
              <a:t>notified</a:t>
            </a:r>
            <a:r>
              <a:rPr lang="en" dirty="0"/>
              <a:t>.</a:t>
            </a:r>
            <a:endParaRPr dirty="0"/>
          </a:p>
          <a:p>
            <a:pPr marL="457200" lvl="0" indent="-311150" algn="l" rtl="0">
              <a:lnSpc>
                <a:spcPct val="100000"/>
              </a:lnSpc>
              <a:spcBef>
                <a:spcPts val="0"/>
              </a:spcBef>
              <a:spcAft>
                <a:spcPts val="0"/>
              </a:spcAft>
              <a:buSzPts val="1300"/>
              <a:buChar char="●"/>
            </a:pPr>
            <a:r>
              <a:rPr lang="en" dirty="0"/>
              <a:t>A waiting (for a lock) thread will </a:t>
            </a:r>
            <a:r>
              <a:rPr lang="en" b="1" i="1" dirty="0">
                <a:solidFill>
                  <a:srgbClr val="FF0000"/>
                </a:solidFill>
              </a:rPr>
              <a:t>not</a:t>
            </a:r>
            <a:r>
              <a:rPr lang="en" dirty="0">
                <a:solidFill>
                  <a:srgbClr val="FF0000"/>
                </a:solidFill>
              </a:rPr>
              <a:t> </a:t>
            </a:r>
            <a:r>
              <a:rPr lang="en" dirty="0"/>
              <a:t>transition to the runnable state even if an object key is available.</a:t>
            </a:r>
            <a:endParaRPr dirty="0"/>
          </a:p>
          <a:p>
            <a:pPr marL="457200" lvl="0" indent="-311150" algn="l" rtl="0">
              <a:lnSpc>
                <a:spcPct val="100000"/>
              </a:lnSpc>
              <a:spcBef>
                <a:spcPts val="0"/>
              </a:spcBef>
              <a:spcAft>
                <a:spcPts val="0"/>
              </a:spcAft>
              <a:buSzPts val="1300"/>
              <a:buChar char="●"/>
            </a:pPr>
            <a:r>
              <a:rPr lang="en" dirty="0"/>
              <a:t>A waiting thread </a:t>
            </a:r>
            <a:r>
              <a:rPr lang="en" b="1" i="1" dirty="0">
                <a:solidFill>
                  <a:srgbClr val="FF0000"/>
                </a:solidFill>
              </a:rPr>
              <a:t>can</a:t>
            </a:r>
            <a:r>
              <a:rPr lang="en" dirty="0">
                <a:solidFill>
                  <a:srgbClr val="FF0000"/>
                </a:solidFill>
              </a:rPr>
              <a:t> </a:t>
            </a:r>
            <a:r>
              <a:rPr lang="en" dirty="0"/>
              <a:t>be interrupted.</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9">
                                            <p:txEl>
                                              <p:pRg st="0" end="0"/>
                                            </p:txEl>
                                          </p:spTgt>
                                        </p:tgtEl>
                                        <p:attrNameLst>
                                          <p:attrName>style.visibility</p:attrName>
                                        </p:attrNameLst>
                                      </p:cBhvr>
                                      <p:to>
                                        <p:strVal val="visible"/>
                                      </p:to>
                                    </p:set>
                                    <p:animEffect transition="in" filter="fade">
                                      <p:cBhvr>
                                        <p:cTn id="7" dur="1000"/>
                                        <p:tgtEl>
                                          <p:spTgt spid="83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39">
                                            <p:txEl>
                                              <p:pRg st="1" end="1"/>
                                            </p:txEl>
                                          </p:spTgt>
                                        </p:tgtEl>
                                        <p:attrNameLst>
                                          <p:attrName>style.visibility</p:attrName>
                                        </p:attrNameLst>
                                      </p:cBhvr>
                                      <p:to>
                                        <p:strVal val="visible"/>
                                      </p:to>
                                    </p:set>
                                    <p:animEffect transition="in" filter="fade">
                                      <p:cBhvr>
                                        <p:cTn id="12" dur="1000"/>
                                        <p:tgtEl>
                                          <p:spTgt spid="83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39">
                                            <p:txEl>
                                              <p:pRg st="2" end="2"/>
                                            </p:txEl>
                                          </p:spTgt>
                                        </p:tgtEl>
                                        <p:attrNameLst>
                                          <p:attrName>style.visibility</p:attrName>
                                        </p:attrNameLst>
                                      </p:cBhvr>
                                      <p:to>
                                        <p:strVal val="visible"/>
                                      </p:to>
                                    </p:set>
                                    <p:animEffect transition="in" filter="fade">
                                      <p:cBhvr>
                                        <p:cTn id="17" dur="1000"/>
                                        <p:tgtEl>
                                          <p:spTgt spid="83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39">
                                            <p:txEl>
                                              <p:pRg st="3" end="3"/>
                                            </p:txEl>
                                          </p:spTgt>
                                        </p:tgtEl>
                                        <p:attrNameLst>
                                          <p:attrName>style.visibility</p:attrName>
                                        </p:attrNameLst>
                                      </p:cBhvr>
                                      <p:to>
                                        <p:strVal val="visible"/>
                                      </p:to>
                                    </p:set>
                                    <p:animEffect transition="in" filter="fade">
                                      <p:cBhvr>
                                        <p:cTn id="22" dur="1000"/>
                                        <p:tgtEl>
                                          <p:spTgt spid="83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40">
                                            <p:txEl>
                                              <p:pRg st="0" end="0"/>
                                            </p:txEl>
                                          </p:spTgt>
                                        </p:tgtEl>
                                        <p:attrNameLst>
                                          <p:attrName>style.visibility</p:attrName>
                                        </p:attrNameLst>
                                      </p:cBhvr>
                                      <p:to>
                                        <p:strVal val="visible"/>
                                      </p:to>
                                    </p:set>
                                    <p:animEffect transition="in" filter="fade">
                                      <p:cBhvr>
                                        <p:cTn id="27" dur="1000"/>
                                        <p:tgtEl>
                                          <p:spTgt spid="840">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40">
                                            <p:txEl>
                                              <p:pRg st="1" end="1"/>
                                            </p:txEl>
                                          </p:spTgt>
                                        </p:tgtEl>
                                        <p:attrNameLst>
                                          <p:attrName>style.visibility</p:attrName>
                                        </p:attrNameLst>
                                      </p:cBhvr>
                                      <p:to>
                                        <p:strVal val="visible"/>
                                      </p:to>
                                    </p:set>
                                    <p:animEffect transition="in" filter="fade">
                                      <p:cBhvr>
                                        <p:cTn id="32" dur="1000"/>
                                        <p:tgtEl>
                                          <p:spTgt spid="840">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840">
                                            <p:txEl>
                                              <p:pRg st="2" end="2"/>
                                            </p:txEl>
                                          </p:spTgt>
                                        </p:tgtEl>
                                        <p:attrNameLst>
                                          <p:attrName>style.visibility</p:attrName>
                                        </p:attrNameLst>
                                      </p:cBhvr>
                                      <p:to>
                                        <p:strVal val="visible"/>
                                      </p:to>
                                    </p:set>
                                    <p:animEffect transition="in" filter="fade">
                                      <p:cBhvr>
                                        <p:cTn id="37" dur="1000"/>
                                        <p:tgtEl>
                                          <p:spTgt spid="840">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840">
                                            <p:txEl>
                                              <p:pRg st="3" end="3"/>
                                            </p:txEl>
                                          </p:spTgt>
                                        </p:tgtEl>
                                        <p:attrNameLst>
                                          <p:attrName>style.visibility</p:attrName>
                                        </p:attrNameLst>
                                      </p:cBhvr>
                                      <p:to>
                                        <p:strVal val="visible"/>
                                      </p:to>
                                    </p:set>
                                    <p:animEffect transition="in" filter="fade">
                                      <p:cBhvr>
                                        <p:cTn id="42" dur="1000"/>
                                        <p:tgtEl>
                                          <p:spTgt spid="840">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840">
                                            <p:txEl>
                                              <p:pRg st="4" end="4"/>
                                            </p:txEl>
                                          </p:spTgt>
                                        </p:tgtEl>
                                        <p:attrNameLst>
                                          <p:attrName>style.visibility</p:attrName>
                                        </p:attrNameLst>
                                      </p:cBhvr>
                                      <p:to>
                                        <p:strVal val="visible"/>
                                      </p:to>
                                    </p:set>
                                    <p:animEffect transition="in" filter="fade">
                                      <p:cBhvr>
                                        <p:cTn id="47" dur="1000"/>
                                        <p:tgtEl>
                                          <p:spTgt spid="840">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840">
                                            <p:txEl>
                                              <p:pRg st="5" end="5"/>
                                            </p:txEl>
                                          </p:spTgt>
                                        </p:tgtEl>
                                        <p:attrNameLst>
                                          <p:attrName>style.visibility</p:attrName>
                                        </p:attrNameLst>
                                      </p:cBhvr>
                                      <p:to>
                                        <p:strVal val="visible"/>
                                      </p:to>
                                    </p:set>
                                    <p:animEffect transition="in" filter="fade">
                                      <p:cBhvr>
                                        <p:cTn id="52" dur="1000"/>
                                        <p:tgtEl>
                                          <p:spTgt spid="84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39</a:t>
            </a:fld>
            <a:endParaRPr/>
          </a:p>
        </p:txBody>
      </p:sp>
      <p:sp>
        <p:nvSpPr>
          <p:cNvPr id="846" name="Google Shape;846;p70"/>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Hypothetical Scenario</a:t>
            </a:r>
            <a:endParaRPr/>
          </a:p>
        </p:txBody>
      </p:sp>
      <p:grpSp>
        <p:nvGrpSpPr>
          <p:cNvPr id="847" name="Google Shape;847;p70"/>
          <p:cNvGrpSpPr/>
          <p:nvPr/>
        </p:nvGrpSpPr>
        <p:grpSpPr>
          <a:xfrm>
            <a:off x="4461255" y="1347325"/>
            <a:ext cx="1474863" cy="1590557"/>
            <a:chOff x="5899532" y="1516100"/>
            <a:chExt cx="1094843" cy="1180726"/>
          </a:xfrm>
        </p:grpSpPr>
        <p:pic>
          <p:nvPicPr>
            <p:cNvPr id="848" name="Google Shape;848;p70"/>
            <p:cNvPicPr preferRelativeResize="0"/>
            <p:nvPr/>
          </p:nvPicPr>
          <p:blipFill>
            <a:blip r:embed="rId3">
              <a:alphaModFix/>
            </a:blip>
            <a:stretch>
              <a:fillRect/>
            </a:stretch>
          </p:blipFill>
          <p:spPr>
            <a:xfrm>
              <a:off x="5899532" y="1516100"/>
              <a:ext cx="695500" cy="947075"/>
            </a:xfrm>
            <a:prstGeom prst="rect">
              <a:avLst/>
            </a:prstGeom>
            <a:noFill/>
            <a:ln>
              <a:noFill/>
            </a:ln>
          </p:spPr>
        </p:pic>
        <p:pic>
          <p:nvPicPr>
            <p:cNvPr id="849" name="Google Shape;849;p70"/>
            <p:cNvPicPr preferRelativeResize="0"/>
            <p:nvPr/>
          </p:nvPicPr>
          <p:blipFill>
            <a:blip r:embed="rId4">
              <a:alphaModFix/>
            </a:blip>
            <a:stretch>
              <a:fillRect/>
            </a:stretch>
          </p:blipFill>
          <p:spPr>
            <a:xfrm>
              <a:off x="6162100" y="1896225"/>
              <a:ext cx="832275" cy="800601"/>
            </a:xfrm>
            <a:prstGeom prst="rect">
              <a:avLst/>
            </a:prstGeom>
            <a:noFill/>
            <a:ln>
              <a:noFill/>
            </a:ln>
          </p:spPr>
        </p:pic>
      </p:grpSp>
      <p:sp>
        <p:nvSpPr>
          <p:cNvPr id="850" name="Google Shape;850;p70"/>
          <p:cNvSpPr txBox="1"/>
          <p:nvPr/>
        </p:nvSpPr>
        <p:spPr>
          <a:xfrm>
            <a:off x="275900" y="1473775"/>
            <a:ext cx="2980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Imagine a scenario where a thread </a:t>
            </a:r>
            <a:r>
              <a:rPr lang="en" sz="1200" b="1" i="1">
                <a:solidFill>
                  <a:srgbClr val="FF0000"/>
                </a:solidFill>
              </a:rPr>
              <a:t>T1</a:t>
            </a:r>
            <a:r>
              <a:rPr lang="en" sz="1200"/>
              <a:t> has obtained a lock on resource </a:t>
            </a:r>
            <a:r>
              <a:rPr lang="en" sz="1200" b="1" i="1">
                <a:solidFill>
                  <a:srgbClr val="FF0000"/>
                </a:solidFill>
              </a:rPr>
              <a:t>R1</a:t>
            </a:r>
            <a:r>
              <a:rPr lang="en" sz="1200"/>
              <a:t>.</a:t>
            </a:r>
            <a:endParaRPr sz="1200"/>
          </a:p>
        </p:txBody>
      </p:sp>
      <p:sp>
        <p:nvSpPr>
          <p:cNvPr id="851" name="Google Shape;851;p70"/>
          <p:cNvSpPr txBox="1"/>
          <p:nvPr/>
        </p:nvSpPr>
        <p:spPr>
          <a:xfrm>
            <a:off x="275900" y="2159575"/>
            <a:ext cx="2980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And thread </a:t>
            </a:r>
            <a:r>
              <a:rPr lang="en" sz="1200" b="1" i="1">
                <a:solidFill>
                  <a:srgbClr val="FF0000"/>
                </a:solidFill>
              </a:rPr>
              <a:t>T2</a:t>
            </a:r>
            <a:r>
              <a:rPr lang="en" sz="1200"/>
              <a:t> has obtained a lock on resource </a:t>
            </a:r>
            <a:r>
              <a:rPr lang="en" sz="1200" b="1" i="1">
                <a:solidFill>
                  <a:srgbClr val="FF0000"/>
                </a:solidFill>
              </a:rPr>
              <a:t>R2</a:t>
            </a:r>
            <a:r>
              <a:rPr lang="en" sz="1200"/>
              <a:t>.</a:t>
            </a:r>
            <a:endParaRPr sz="1200"/>
          </a:p>
        </p:txBody>
      </p:sp>
      <p:grpSp>
        <p:nvGrpSpPr>
          <p:cNvPr id="852" name="Google Shape;852;p70"/>
          <p:cNvGrpSpPr/>
          <p:nvPr/>
        </p:nvGrpSpPr>
        <p:grpSpPr>
          <a:xfrm>
            <a:off x="4414266" y="3451597"/>
            <a:ext cx="1568852" cy="1590578"/>
            <a:chOff x="7017755" y="3146919"/>
            <a:chExt cx="1129321" cy="1144959"/>
          </a:xfrm>
        </p:grpSpPr>
        <p:pic>
          <p:nvPicPr>
            <p:cNvPr id="853" name="Google Shape;853;p70"/>
            <p:cNvPicPr preferRelativeResize="0"/>
            <p:nvPr/>
          </p:nvPicPr>
          <p:blipFill>
            <a:blip r:embed="rId5">
              <a:alphaModFix/>
            </a:blip>
            <a:stretch>
              <a:fillRect/>
            </a:stretch>
          </p:blipFill>
          <p:spPr>
            <a:xfrm>
              <a:off x="7451575" y="3146919"/>
              <a:ext cx="695500" cy="947101"/>
            </a:xfrm>
            <a:prstGeom prst="rect">
              <a:avLst/>
            </a:prstGeom>
            <a:noFill/>
            <a:ln>
              <a:noFill/>
            </a:ln>
          </p:spPr>
        </p:pic>
        <p:pic>
          <p:nvPicPr>
            <p:cNvPr id="854" name="Google Shape;854;p70"/>
            <p:cNvPicPr preferRelativeResize="0"/>
            <p:nvPr/>
          </p:nvPicPr>
          <p:blipFill>
            <a:blip r:embed="rId6">
              <a:alphaModFix/>
            </a:blip>
            <a:stretch>
              <a:fillRect/>
            </a:stretch>
          </p:blipFill>
          <p:spPr>
            <a:xfrm>
              <a:off x="7017755" y="3491269"/>
              <a:ext cx="832275" cy="800610"/>
            </a:xfrm>
            <a:prstGeom prst="rect">
              <a:avLst/>
            </a:prstGeom>
            <a:noFill/>
            <a:ln>
              <a:noFill/>
            </a:ln>
          </p:spPr>
        </p:pic>
      </p:grpSp>
      <p:sp>
        <p:nvSpPr>
          <p:cNvPr id="855" name="Google Shape;855;p70"/>
          <p:cNvSpPr txBox="1"/>
          <p:nvPr/>
        </p:nvSpPr>
        <p:spPr>
          <a:xfrm>
            <a:off x="275900" y="2845375"/>
            <a:ext cx="2980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What happens if </a:t>
            </a:r>
            <a:r>
              <a:rPr lang="en" sz="1200" b="1" i="1">
                <a:solidFill>
                  <a:srgbClr val="FF0000"/>
                </a:solidFill>
              </a:rPr>
              <a:t>T1</a:t>
            </a:r>
            <a:r>
              <a:rPr lang="en" sz="1200"/>
              <a:t> then tries to obtain a synchronization lock on </a:t>
            </a:r>
            <a:r>
              <a:rPr lang="en" sz="1200" b="1" i="1">
                <a:solidFill>
                  <a:srgbClr val="FF0000"/>
                </a:solidFill>
              </a:rPr>
              <a:t>R2</a:t>
            </a:r>
            <a:r>
              <a:rPr lang="en" sz="1200"/>
              <a:t>...</a:t>
            </a:r>
            <a:endParaRPr sz="1200" b="1" i="1"/>
          </a:p>
        </p:txBody>
      </p:sp>
      <p:sp>
        <p:nvSpPr>
          <p:cNvPr id="856" name="Google Shape;856;p70"/>
          <p:cNvSpPr txBox="1"/>
          <p:nvPr/>
        </p:nvSpPr>
        <p:spPr>
          <a:xfrm>
            <a:off x="275900" y="3531179"/>
            <a:ext cx="2980200" cy="5541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...and at the </a:t>
            </a:r>
            <a:r>
              <a:rPr lang="en" sz="1200" b="1" i="1">
                <a:solidFill>
                  <a:srgbClr val="FF0000"/>
                </a:solidFill>
              </a:rPr>
              <a:t>same exact time T2</a:t>
            </a:r>
            <a:r>
              <a:rPr lang="en" sz="1200"/>
              <a:t> tries to obtain a synchronization lock on </a:t>
            </a:r>
            <a:r>
              <a:rPr lang="en" sz="1200" b="1" i="1">
                <a:solidFill>
                  <a:srgbClr val="FF0000"/>
                </a:solidFill>
              </a:rPr>
              <a:t>R1</a:t>
            </a:r>
            <a:r>
              <a:rPr lang="en" sz="1200"/>
              <a:t>.</a:t>
            </a:r>
            <a:endParaRPr sz="1200"/>
          </a:p>
        </p:txBody>
      </p:sp>
      <p:pic>
        <p:nvPicPr>
          <p:cNvPr id="857" name="Google Shape;857;p70"/>
          <p:cNvPicPr preferRelativeResize="0"/>
          <p:nvPr/>
        </p:nvPicPr>
        <p:blipFill>
          <a:blip r:embed="rId7">
            <a:alphaModFix/>
          </a:blip>
          <a:stretch>
            <a:fillRect/>
          </a:stretch>
        </p:blipFill>
        <p:spPr>
          <a:xfrm>
            <a:off x="4303750" y="3967300"/>
            <a:ext cx="492175" cy="492175"/>
          </a:xfrm>
          <a:prstGeom prst="rect">
            <a:avLst/>
          </a:prstGeom>
          <a:noFill/>
          <a:ln>
            <a:noFill/>
          </a:ln>
        </p:spPr>
      </p:pic>
      <p:sp>
        <p:nvSpPr>
          <p:cNvPr id="858" name="Google Shape;858;p70"/>
          <p:cNvSpPr/>
          <p:nvPr/>
        </p:nvSpPr>
        <p:spPr>
          <a:xfrm>
            <a:off x="3656809" y="2417587"/>
            <a:ext cx="820675" cy="1624975"/>
          </a:xfrm>
          <a:custGeom>
            <a:avLst/>
            <a:gdLst/>
            <a:ahLst/>
            <a:cxnLst/>
            <a:rect l="l" t="t" r="r" b="b"/>
            <a:pathLst>
              <a:path w="32827" h="64999" extrusionOk="0">
                <a:moveTo>
                  <a:pt x="32827" y="0"/>
                </a:moveTo>
                <a:cubicBezTo>
                  <a:pt x="27365" y="4590"/>
                  <a:pt x="878" y="16709"/>
                  <a:pt x="52" y="27542"/>
                </a:cubicBezTo>
                <a:cubicBezTo>
                  <a:pt x="-774" y="38375"/>
                  <a:pt x="23234" y="58756"/>
                  <a:pt x="27870" y="64999"/>
                </a:cubicBezTo>
              </a:path>
            </a:pathLst>
          </a:custGeom>
          <a:noFill/>
          <a:ln w="38100" cap="flat" cmpd="sng">
            <a:solidFill>
              <a:srgbClr val="FF0000"/>
            </a:solidFill>
            <a:prstDash val="solid"/>
            <a:round/>
            <a:headEnd type="none" w="med" len="med"/>
            <a:tailEnd type="triangle" w="med" len="med"/>
          </a:ln>
        </p:spPr>
        <p:txBody>
          <a:bodyPr/>
          <a:lstStyle/>
          <a:p>
            <a:endParaRPr lang="en-US"/>
          </a:p>
        </p:txBody>
      </p:sp>
      <p:pic>
        <p:nvPicPr>
          <p:cNvPr id="859" name="Google Shape;859;p70"/>
          <p:cNvPicPr preferRelativeResize="0"/>
          <p:nvPr/>
        </p:nvPicPr>
        <p:blipFill>
          <a:blip r:embed="rId7">
            <a:alphaModFix/>
          </a:blip>
          <a:stretch>
            <a:fillRect/>
          </a:stretch>
        </p:blipFill>
        <p:spPr>
          <a:xfrm>
            <a:off x="5550507" y="2244642"/>
            <a:ext cx="492175" cy="492175"/>
          </a:xfrm>
          <a:prstGeom prst="rect">
            <a:avLst/>
          </a:prstGeom>
          <a:noFill/>
          <a:ln>
            <a:noFill/>
          </a:ln>
        </p:spPr>
      </p:pic>
      <p:sp>
        <p:nvSpPr>
          <p:cNvPr id="860" name="Google Shape;860;p70"/>
          <p:cNvSpPr/>
          <p:nvPr/>
        </p:nvSpPr>
        <p:spPr>
          <a:xfrm rot="10800000">
            <a:off x="5942809" y="2569987"/>
            <a:ext cx="820675" cy="1624975"/>
          </a:xfrm>
          <a:custGeom>
            <a:avLst/>
            <a:gdLst/>
            <a:ahLst/>
            <a:cxnLst/>
            <a:rect l="l" t="t" r="r" b="b"/>
            <a:pathLst>
              <a:path w="32827" h="64999" extrusionOk="0">
                <a:moveTo>
                  <a:pt x="32827" y="0"/>
                </a:moveTo>
                <a:cubicBezTo>
                  <a:pt x="27365" y="4590"/>
                  <a:pt x="878" y="16709"/>
                  <a:pt x="52" y="27542"/>
                </a:cubicBezTo>
                <a:cubicBezTo>
                  <a:pt x="-774" y="38375"/>
                  <a:pt x="23234" y="58756"/>
                  <a:pt x="27870" y="64999"/>
                </a:cubicBezTo>
              </a:path>
            </a:pathLst>
          </a:custGeom>
          <a:noFill/>
          <a:ln w="38100" cap="flat" cmpd="sng">
            <a:solidFill>
              <a:srgbClr val="FF0000"/>
            </a:solidFill>
            <a:prstDash val="solid"/>
            <a:round/>
            <a:headEnd type="none" w="med" len="med"/>
            <a:tailEnd type="triangle" w="med" len="med"/>
          </a:ln>
        </p:spPr>
        <p:txBody>
          <a:bodyPr/>
          <a:lstStyle/>
          <a:p>
            <a:endParaRPr lang="en-US"/>
          </a:p>
        </p:txBody>
      </p:sp>
      <p:sp>
        <p:nvSpPr>
          <p:cNvPr id="861" name="Google Shape;861;p70"/>
          <p:cNvSpPr txBox="1"/>
          <p:nvPr/>
        </p:nvSpPr>
        <p:spPr>
          <a:xfrm>
            <a:off x="275900" y="4216979"/>
            <a:ext cx="2980200" cy="7389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b="1" i="1">
                <a:solidFill>
                  <a:srgbClr val="FF0000"/>
                </a:solidFill>
              </a:rPr>
              <a:t>Both</a:t>
            </a:r>
            <a:r>
              <a:rPr lang="en" sz="1200">
                <a:solidFill>
                  <a:srgbClr val="FF0000"/>
                </a:solidFill>
              </a:rPr>
              <a:t> </a:t>
            </a:r>
            <a:r>
              <a:rPr lang="en" sz="1200"/>
              <a:t>threads are stuck in the </a:t>
            </a:r>
            <a:r>
              <a:rPr lang="en" sz="1200" b="1" i="1">
                <a:solidFill>
                  <a:srgbClr val="FF0000"/>
                </a:solidFill>
              </a:rPr>
              <a:t>blocked</a:t>
            </a:r>
            <a:r>
              <a:rPr lang="en" sz="1200">
                <a:solidFill>
                  <a:srgbClr val="FF0000"/>
                </a:solidFill>
              </a:rPr>
              <a:t> </a:t>
            </a:r>
            <a:r>
              <a:rPr lang="en" sz="1200"/>
              <a:t>state waiting for the other thread to give up its lock...which will </a:t>
            </a:r>
            <a:r>
              <a:rPr lang="en" sz="1200" b="1" i="1">
                <a:solidFill>
                  <a:srgbClr val="FF0000"/>
                </a:solidFill>
              </a:rPr>
              <a:t>never happen</a:t>
            </a:r>
            <a:r>
              <a:rPr lang="en" sz="1200"/>
              <a:t>.</a:t>
            </a:r>
            <a:endParaRPr sz="1200"/>
          </a:p>
        </p:txBody>
      </p:sp>
      <p:sp>
        <p:nvSpPr>
          <p:cNvPr id="862" name="Google Shape;862;p70"/>
          <p:cNvSpPr txBox="1"/>
          <p:nvPr/>
        </p:nvSpPr>
        <p:spPr>
          <a:xfrm>
            <a:off x="6857600" y="3099700"/>
            <a:ext cx="20382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latin typeface="Roboto"/>
                <a:ea typeface="Roboto"/>
                <a:cs typeface="Roboto"/>
                <a:sym typeface="Roboto"/>
              </a:rPr>
              <a:t>These threads are </a:t>
            </a:r>
            <a:r>
              <a:rPr lang="en" b="1" i="1">
                <a:solidFill>
                  <a:srgbClr val="FF0000"/>
                </a:solidFill>
                <a:latin typeface="Roboto"/>
                <a:ea typeface="Roboto"/>
                <a:cs typeface="Roboto"/>
                <a:sym typeface="Roboto"/>
              </a:rPr>
              <a:t>permanently blocked</a:t>
            </a:r>
            <a:r>
              <a:rPr lang="en">
                <a:latin typeface="Roboto"/>
                <a:ea typeface="Roboto"/>
                <a:cs typeface="Roboto"/>
                <a:sym typeface="Roboto"/>
              </a:rPr>
              <a:t>.</a:t>
            </a:r>
            <a:endParaRPr>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0"/>
                                        </p:tgtEl>
                                        <p:attrNameLst>
                                          <p:attrName>style.visibility</p:attrName>
                                        </p:attrNameLst>
                                      </p:cBhvr>
                                      <p:to>
                                        <p:strVal val="visible"/>
                                      </p:to>
                                    </p:set>
                                    <p:animEffect transition="in" filter="fade">
                                      <p:cBhvr>
                                        <p:cTn id="7" dur="1000"/>
                                        <p:tgtEl>
                                          <p:spTgt spid="850"/>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847"/>
                                        </p:tgtEl>
                                        <p:attrNameLst>
                                          <p:attrName>style.visibility</p:attrName>
                                        </p:attrNameLst>
                                      </p:cBhvr>
                                      <p:to>
                                        <p:strVal val="visible"/>
                                      </p:to>
                                    </p:set>
                                    <p:animEffect transition="in" filter="fade">
                                      <p:cBhvr>
                                        <p:cTn id="11" dur="1000"/>
                                        <p:tgtEl>
                                          <p:spTgt spid="84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851"/>
                                        </p:tgtEl>
                                        <p:attrNameLst>
                                          <p:attrName>style.visibility</p:attrName>
                                        </p:attrNameLst>
                                      </p:cBhvr>
                                      <p:to>
                                        <p:strVal val="visible"/>
                                      </p:to>
                                    </p:set>
                                    <p:animEffect transition="in" filter="fade">
                                      <p:cBhvr>
                                        <p:cTn id="16" dur="1000"/>
                                        <p:tgtEl>
                                          <p:spTgt spid="851"/>
                                        </p:tgtEl>
                                      </p:cBhvr>
                                    </p:animEffect>
                                  </p:childTnLst>
                                </p:cTn>
                              </p:par>
                            </p:childTnLst>
                          </p:cTn>
                        </p:par>
                        <p:par>
                          <p:cTn id="17" fill="hold">
                            <p:stCondLst>
                              <p:cond delay="1000"/>
                            </p:stCondLst>
                            <p:childTnLst>
                              <p:par>
                                <p:cTn id="18" presetID="10" presetClass="entr" presetSubtype="0" fill="hold" nodeType="afterEffect">
                                  <p:stCondLst>
                                    <p:cond delay="0"/>
                                  </p:stCondLst>
                                  <p:childTnLst>
                                    <p:set>
                                      <p:cBhvr>
                                        <p:cTn id="19" dur="1" fill="hold">
                                          <p:stCondLst>
                                            <p:cond delay="0"/>
                                          </p:stCondLst>
                                        </p:cTn>
                                        <p:tgtEl>
                                          <p:spTgt spid="852"/>
                                        </p:tgtEl>
                                        <p:attrNameLst>
                                          <p:attrName>style.visibility</p:attrName>
                                        </p:attrNameLst>
                                      </p:cBhvr>
                                      <p:to>
                                        <p:strVal val="visible"/>
                                      </p:to>
                                    </p:set>
                                    <p:animEffect transition="in" filter="fade">
                                      <p:cBhvr>
                                        <p:cTn id="20" dur="1000"/>
                                        <p:tgtEl>
                                          <p:spTgt spid="8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55"/>
                                        </p:tgtEl>
                                        <p:attrNameLst>
                                          <p:attrName>style.visibility</p:attrName>
                                        </p:attrNameLst>
                                      </p:cBhvr>
                                      <p:to>
                                        <p:strVal val="visible"/>
                                      </p:to>
                                    </p:set>
                                    <p:animEffect transition="in" filter="fade">
                                      <p:cBhvr>
                                        <p:cTn id="25" dur="1000"/>
                                        <p:tgtEl>
                                          <p:spTgt spid="855"/>
                                        </p:tgtEl>
                                      </p:cBhvr>
                                    </p:animEffect>
                                  </p:childTnLst>
                                </p:cTn>
                              </p:par>
                            </p:childTnLst>
                          </p:cTn>
                        </p:par>
                        <p:par>
                          <p:cTn id="26" fill="hold">
                            <p:stCondLst>
                              <p:cond delay="1000"/>
                            </p:stCondLst>
                            <p:childTnLst>
                              <p:par>
                                <p:cTn id="27" presetID="10" presetClass="entr" presetSubtype="0" fill="hold" nodeType="afterEffect">
                                  <p:stCondLst>
                                    <p:cond delay="0"/>
                                  </p:stCondLst>
                                  <p:childTnLst>
                                    <p:set>
                                      <p:cBhvr>
                                        <p:cTn id="28" dur="1" fill="hold">
                                          <p:stCondLst>
                                            <p:cond delay="0"/>
                                          </p:stCondLst>
                                        </p:cTn>
                                        <p:tgtEl>
                                          <p:spTgt spid="858"/>
                                        </p:tgtEl>
                                        <p:attrNameLst>
                                          <p:attrName>style.visibility</p:attrName>
                                        </p:attrNameLst>
                                      </p:cBhvr>
                                      <p:to>
                                        <p:strVal val="visible"/>
                                      </p:to>
                                    </p:set>
                                    <p:animEffect transition="in" filter="fade">
                                      <p:cBhvr>
                                        <p:cTn id="29" dur="1000"/>
                                        <p:tgtEl>
                                          <p:spTgt spid="858"/>
                                        </p:tgtEl>
                                      </p:cBhvr>
                                    </p:animEffect>
                                  </p:childTnLst>
                                </p:cTn>
                              </p:par>
                            </p:childTnLst>
                          </p:cTn>
                        </p:par>
                        <p:par>
                          <p:cTn id="30" fill="hold">
                            <p:stCondLst>
                              <p:cond delay="2000"/>
                            </p:stCondLst>
                            <p:childTnLst>
                              <p:par>
                                <p:cTn id="31" presetID="10" presetClass="entr" presetSubtype="0" fill="hold" nodeType="afterEffect">
                                  <p:stCondLst>
                                    <p:cond delay="0"/>
                                  </p:stCondLst>
                                  <p:childTnLst>
                                    <p:set>
                                      <p:cBhvr>
                                        <p:cTn id="32" dur="1" fill="hold">
                                          <p:stCondLst>
                                            <p:cond delay="0"/>
                                          </p:stCondLst>
                                        </p:cTn>
                                        <p:tgtEl>
                                          <p:spTgt spid="857"/>
                                        </p:tgtEl>
                                        <p:attrNameLst>
                                          <p:attrName>style.visibility</p:attrName>
                                        </p:attrNameLst>
                                      </p:cBhvr>
                                      <p:to>
                                        <p:strVal val="visible"/>
                                      </p:to>
                                    </p:set>
                                    <p:animEffect transition="in" filter="fade">
                                      <p:cBhvr>
                                        <p:cTn id="33" dur="1000"/>
                                        <p:tgtEl>
                                          <p:spTgt spid="85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856"/>
                                        </p:tgtEl>
                                        <p:attrNameLst>
                                          <p:attrName>style.visibility</p:attrName>
                                        </p:attrNameLst>
                                      </p:cBhvr>
                                      <p:to>
                                        <p:strVal val="visible"/>
                                      </p:to>
                                    </p:set>
                                    <p:animEffect transition="in" filter="fade">
                                      <p:cBhvr>
                                        <p:cTn id="38" dur="1000"/>
                                        <p:tgtEl>
                                          <p:spTgt spid="856"/>
                                        </p:tgtEl>
                                      </p:cBhvr>
                                    </p:animEffect>
                                  </p:childTnLst>
                                </p:cTn>
                              </p:par>
                            </p:childTnLst>
                          </p:cTn>
                        </p:par>
                        <p:par>
                          <p:cTn id="39" fill="hold">
                            <p:stCondLst>
                              <p:cond delay="1000"/>
                            </p:stCondLst>
                            <p:childTnLst>
                              <p:par>
                                <p:cTn id="40" presetID="10" presetClass="entr" presetSubtype="0" fill="hold" nodeType="afterEffect">
                                  <p:stCondLst>
                                    <p:cond delay="0"/>
                                  </p:stCondLst>
                                  <p:childTnLst>
                                    <p:set>
                                      <p:cBhvr>
                                        <p:cTn id="41" dur="1" fill="hold">
                                          <p:stCondLst>
                                            <p:cond delay="0"/>
                                          </p:stCondLst>
                                        </p:cTn>
                                        <p:tgtEl>
                                          <p:spTgt spid="860"/>
                                        </p:tgtEl>
                                        <p:attrNameLst>
                                          <p:attrName>style.visibility</p:attrName>
                                        </p:attrNameLst>
                                      </p:cBhvr>
                                      <p:to>
                                        <p:strVal val="visible"/>
                                      </p:to>
                                    </p:set>
                                    <p:animEffect transition="in" filter="fade">
                                      <p:cBhvr>
                                        <p:cTn id="42" dur="1000"/>
                                        <p:tgtEl>
                                          <p:spTgt spid="860"/>
                                        </p:tgtEl>
                                      </p:cBhvr>
                                    </p:animEffect>
                                  </p:childTnLst>
                                </p:cTn>
                              </p:par>
                            </p:childTnLst>
                          </p:cTn>
                        </p:par>
                        <p:par>
                          <p:cTn id="43" fill="hold">
                            <p:stCondLst>
                              <p:cond delay="2000"/>
                            </p:stCondLst>
                            <p:childTnLst>
                              <p:par>
                                <p:cTn id="44" presetID="10" presetClass="entr" presetSubtype="0" fill="hold" nodeType="afterEffect">
                                  <p:stCondLst>
                                    <p:cond delay="0"/>
                                  </p:stCondLst>
                                  <p:childTnLst>
                                    <p:set>
                                      <p:cBhvr>
                                        <p:cTn id="45" dur="1" fill="hold">
                                          <p:stCondLst>
                                            <p:cond delay="0"/>
                                          </p:stCondLst>
                                        </p:cTn>
                                        <p:tgtEl>
                                          <p:spTgt spid="859"/>
                                        </p:tgtEl>
                                        <p:attrNameLst>
                                          <p:attrName>style.visibility</p:attrName>
                                        </p:attrNameLst>
                                      </p:cBhvr>
                                      <p:to>
                                        <p:strVal val="visible"/>
                                      </p:to>
                                    </p:set>
                                    <p:animEffect transition="in" filter="fade">
                                      <p:cBhvr>
                                        <p:cTn id="46" dur="1000"/>
                                        <p:tgtEl>
                                          <p:spTgt spid="859"/>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61"/>
                                        </p:tgtEl>
                                        <p:attrNameLst>
                                          <p:attrName>style.visibility</p:attrName>
                                        </p:attrNameLst>
                                      </p:cBhvr>
                                      <p:to>
                                        <p:strVal val="visible"/>
                                      </p:to>
                                    </p:set>
                                    <p:animEffect transition="in" filter="fade">
                                      <p:cBhvr>
                                        <p:cTn id="51" dur="1000"/>
                                        <p:tgtEl>
                                          <p:spTgt spid="861"/>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62"/>
                                        </p:tgtEl>
                                        <p:attrNameLst>
                                          <p:attrName>style.visibility</p:attrName>
                                        </p:attrNameLst>
                                      </p:cBhvr>
                                      <p:to>
                                        <p:strVal val="visible"/>
                                      </p:to>
                                    </p:set>
                                    <p:animEffect transition="in" filter="fade">
                                      <p:cBhvr>
                                        <p:cTn id="56" dur="1000"/>
                                        <p:tgtEl>
                                          <p:spTgt spid="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sp>
        <p:nvSpPr>
          <p:cNvPr id="867" name="Google Shape;867;p71"/>
          <p:cNvSpPr txBox="1">
            <a:spLocks noGrp="1"/>
          </p:cNvSpPr>
          <p:nvPr>
            <p:ph type="title"/>
          </p:nvPr>
        </p:nvSpPr>
        <p:spPr>
          <a:xfrm>
            <a:off x="5188525" y="1961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Deadlock</a:t>
            </a:r>
            <a:endParaRPr/>
          </a:p>
        </p:txBody>
      </p:sp>
      <p:sp>
        <p:nvSpPr>
          <p:cNvPr id="868" name="Google Shape;868;p71"/>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40</a:t>
            </a:fld>
            <a:endParaRPr/>
          </a:p>
        </p:txBody>
      </p:sp>
      <p:sp>
        <p:nvSpPr>
          <p:cNvPr id="869" name="Google Shape;869;p71"/>
          <p:cNvSpPr txBox="1">
            <a:spLocks noGrp="1"/>
          </p:cNvSpPr>
          <p:nvPr>
            <p:ph type="body" idx="1"/>
          </p:nvPr>
        </p:nvSpPr>
        <p:spPr>
          <a:xfrm>
            <a:off x="377475" y="2723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A thread that obtains a lock only gives up the lock under two circumstances:</a:t>
            </a:r>
            <a:endParaRPr dirty="0"/>
          </a:p>
          <a:p>
            <a:pPr marL="914400" lvl="1" indent="-298450" algn="l" rtl="0">
              <a:spcBef>
                <a:spcPts val="0"/>
              </a:spcBef>
              <a:spcAft>
                <a:spcPts val="0"/>
              </a:spcAft>
              <a:buSzPts val="1100"/>
              <a:buChar char="○"/>
            </a:pPr>
            <a:r>
              <a:rPr lang="en" dirty="0">
                <a:highlight>
                  <a:srgbClr val="FFFF00"/>
                </a:highlight>
              </a:rPr>
              <a:t>It calls </a:t>
            </a:r>
            <a:r>
              <a:rPr lang="en" dirty="0">
                <a:solidFill>
                  <a:srgbClr val="FF0000"/>
                </a:solidFill>
                <a:highlight>
                  <a:srgbClr val="FFFF00"/>
                </a:highlight>
                <a:latin typeface="Courier New"/>
                <a:ea typeface="Courier New"/>
                <a:cs typeface="Courier New"/>
                <a:sym typeface="Courier New"/>
              </a:rPr>
              <a:t>awaitUninterruptibly()</a:t>
            </a:r>
            <a:r>
              <a:rPr lang="en" dirty="0">
                <a:highlight>
                  <a:srgbClr val="FFFF00"/>
                </a:highlight>
              </a:rPr>
              <a:t> on an associated condition.</a:t>
            </a:r>
            <a:endParaRPr dirty="0">
              <a:highlight>
                <a:srgbClr val="FFFF00"/>
              </a:highlight>
            </a:endParaRPr>
          </a:p>
          <a:p>
            <a:pPr marL="914400" lvl="1" indent="-298450" algn="l" rtl="0">
              <a:spcBef>
                <a:spcPts val="0"/>
              </a:spcBef>
              <a:spcAft>
                <a:spcPts val="0"/>
              </a:spcAft>
              <a:buSzPts val="1100"/>
              <a:buChar char="○"/>
            </a:pPr>
            <a:r>
              <a:rPr lang="en" dirty="0">
                <a:highlight>
                  <a:srgbClr val="FFFF00"/>
                </a:highlight>
              </a:rPr>
              <a:t>It </a:t>
            </a:r>
            <a:r>
              <a:rPr lang="en" b="1" i="1" dirty="0">
                <a:solidFill>
                  <a:srgbClr val="FF0000"/>
                </a:solidFill>
                <a:highlight>
                  <a:srgbClr val="FFFF00"/>
                </a:highlight>
              </a:rPr>
              <a:t>unlocks</a:t>
            </a:r>
            <a:r>
              <a:rPr lang="en" dirty="0">
                <a:highlight>
                  <a:srgbClr val="FFFF00"/>
                </a:highlight>
              </a:rPr>
              <a:t>.</a:t>
            </a:r>
            <a:endParaRPr dirty="0">
              <a:highlight>
                <a:srgbClr val="FFFF00"/>
              </a:highlight>
            </a:endParaRPr>
          </a:p>
          <a:p>
            <a:pPr marL="457200" lvl="0" indent="-311150" algn="l" rtl="0">
              <a:spcBef>
                <a:spcPts val="0"/>
              </a:spcBef>
              <a:spcAft>
                <a:spcPts val="0"/>
              </a:spcAft>
              <a:buSzPts val="1300"/>
              <a:buChar char="●"/>
            </a:pPr>
            <a:r>
              <a:rPr lang="en" dirty="0"/>
              <a:t>A thread that is holding one lock may try to lock a different </a:t>
            </a:r>
            <a:r>
              <a:rPr lang="en" dirty="0">
                <a:latin typeface="Courier New"/>
                <a:ea typeface="Courier New"/>
                <a:cs typeface="Courier New"/>
                <a:sym typeface="Courier New"/>
              </a:rPr>
              <a:t>Lock</a:t>
            </a:r>
            <a:r>
              <a:rPr lang="en" dirty="0"/>
              <a:t> at the same time.</a:t>
            </a:r>
            <a:endParaRPr dirty="0"/>
          </a:p>
          <a:p>
            <a:pPr marL="457200" lvl="0" indent="-311150" algn="l" rtl="0">
              <a:spcBef>
                <a:spcPts val="0"/>
              </a:spcBef>
              <a:spcAft>
                <a:spcPts val="0"/>
              </a:spcAft>
              <a:buSzPts val="1300"/>
              <a:buChar char="●"/>
            </a:pPr>
            <a:r>
              <a:rPr lang="en" dirty="0"/>
              <a:t>The previous scenario involved two locks and two threads. Each thread held one lock while trying to obtain the other.</a:t>
            </a:r>
            <a:endParaRPr dirty="0"/>
          </a:p>
          <a:p>
            <a:pPr marL="914400" lvl="1" indent="-298450" algn="l" rtl="0">
              <a:spcBef>
                <a:spcPts val="0"/>
              </a:spcBef>
              <a:spcAft>
                <a:spcPts val="0"/>
              </a:spcAft>
              <a:buSzPts val="1100"/>
              <a:buChar char="○"/>
            </a:pPr>
            <a:r>
              <a:rPr lang="en" dirty="0"/>
              <a:t>Neither thread gives up the lock that it already holds.</a:t>
            </a:r>
            <a:endParaRPr dirty="0"/>
          </a:p>
          <a:p>
            <a:pPr marL="914400" lvl="1" indent="-298450" algn="l" rtl="0">
              <a:spcBef>
                <a:spcPts val="0"/>
              </a:spcBef>
              <a:spcAft>
                <a:spcPts val="0"/>
              </a:spcAft>
              <a:buSzPts val="1100"/>
              <a:buChar char="○"/>
            </a:pPr>
            <a:r>
              <a:rPr lang="en" dirty="0"/>
              <a:t>Both threads became </a:t>
            </a:r>
            <a:r>
              <a:rPr lang="en" b="1" i="1" dirty="0">
                <a:solidFill>
                  <a:srgbClr val="FF0000"/>
                </a:solidFill>
                <a:highlight>
                  <a:srgbClr val="FFFF00"/>
                </a:highlight>
              </a:rPr>
              <a:t>permanently blocked</a:t>
            </a:r>
            <a:r>
              <a:rPr lang="en" dirty="0">
                <a:solidFill>
                  <a:srgbClr val="FF0000"/>
                </a:solidFill>
                <a:highlight>
                  <a:srgbClr val="FFFF00"/>
                </a:highlight>
              </a:rPr>
              <a:t> </a:t>
            </a:r>
            <a:r>
              <a:rPr lang="en" dirty="0"/>
              <a:t>while waiting for the other thread to give up its lock.</a:t>
            </a:r>
            <a:endParaRPr dirty="0"/>
          </a:p>
          <a:p>
            <a:pPr marL="457200" lvl="0" indent="-311150" algn="l" rtl="0">
              <a:spcBef>
                <a:spcPts val="0"/>
              </a:spcBef>
              <a:spcAft>
                <a:spcPts val="0"/>
              </a:spcAft>
              <a:buSzPts val="1300"/>
              <a:buChar char="●"/>
            </a:pPr>
            <a:r>
              <a:rPr lang="en" dirty="0"/>
              <a:t>This is a condition called </a:t>
            </a:r>
            <a:r>
              <a:rPr lang="en" b="1" i="1" dirty="0">
                <a:solidFill>
                  <a:srgbClr val="FF0000"/>
                </a:solidFill>
                <a:highlight>
                  <a:srgbClr val="FFFF00"/>
                </a:highlight>
              </a:rPr>
              <a:t>deadlock</a:t>
            </a:r>
            <a:r>
              <a:rPr lang="en" dirty="0">
                <a:highlight>
                  <a:srgbClr val="FFFF00"/>
                </a:highlight>
              </a:rPr>
              <a:t>.</a:t>
            </a:r>
            <a:endParaRPr dirty="0">
              <a:highlight>
                <a:srgbClr val="FFFF00"/>
              </a:highlight>
            </a:endParaRPr>
          </a:p>
          <a:p>
            <a:pPr marL="457200" lvl="0" indent="-311150" algn="l" rtl="0">
              <a:spcBef>
                <a:spcPts val="0"/>
              </a:spcBef>
              <a:spcAft>
                <a:spcPts val="0"/>
              </a:spcAft>
              <a:buSzPts val="1300"/>
              <a:buChar char="●"/>
            </a:pPr>
            <a:r>
              <a:rPr lang="en" dirty="0"/>
              <a:t>Deadlock is really, really </a:t>
            </a:r>
            <a:r>
              <a:rPr lang="en" b="1" i="1" dirty="0">
                <a:solidFill>
                  <a:srgbClr val="FF0000"/>
                </a:solidFill>
              </a:rPr>
              <a:t>bad</a:t>
            </a:r>
            <a:r>
              <a:rPr lang="en" dirty="0"/>
              <a:t>: once deadlocked the threads involved </a:t>
            </a:r>
            <a:r>
              <a:rPr lang="en" b="1" i="1" dirty="0">
                <a:solidFill>
                  <a:srgbClr val="FF0000"/>
                </a:solidFill>
                <a:highlight>
                  <a:srgbClr val="FFFF00"/>
                </a:highlight>
              </a:rPr>
              <a:t>will never recover</a:t>
            </a:r>
            <a:r>
              <a:rPr lang="en" dirty="0">
                <a:highlight>
                  <a:srgbClr val="FFFF00"/>
                </a:highlight>
              </a:rPr>
              <a:t>.</a:t>
            </a:r>
            <a:endParaRPr dirty="0">
              <a:highlight>
                <a:srgbClr val="FFFF00"/>
              </a:highlight>
            </a:endParaRPr>
          </a:p>
          <a:p>
            <a:pPr marL="457200" lvl="0" indent="-311150" algn="l" rtl="0">
              <a:spcBef>
                <a:spcPts val="0"/>
              </a:spcBef>
              <a:spcAft>
                <a:spcPts val="0"/>
              </a:spcAft>
              <a:buSzPts val="1300"/>
              <a:buChar char="●"/>
            </a:pPr>
            <a:r>
              <a:rPr lang="en" dirty="0"/>
              <a:t>Deadlock is possible whenever a thread tries to </a:t>
            </a:r>
            <a:r>
              <a:rPr lang="en" dirty="0">
                <a:highlight>
                  <a:srgbClr val="FFFF00"/>
                </a:highlight>
              </a:rPr>
              <a:t>obtain </a:t>
            </a:r>
            <a:r>
              <a:rPr lang="en" b="1" i="1" dirty="0">
                <a:solidFill>
                  <a:srgbClr val="FF0000"/>
                </a:solidFill>
                <a:highlight>
                  <a:srgbClr val="FFFF00"/>
                </a:highlight>
              </a:rPr>
              <a:t>more than one</a:t>
            </a:r>
            <a:r>
              <a:rPr lang="en" dirty="0">
                <a:highlight>
                  <a:srgbClr val="FFFF00"/>
                </a:highlight>
              </a:rPr>
              <a:t> lock at the</a:t>
            </a:r>
            <a:r>
              <a:rPr lang="en" dirty="0">
                <a:solidFill>
                  <a:srgbClr val="FF0000"/>
                </a:solidFill>
                <a:highlight>
                  <a:srgbClr val="FFFF00"/>
                </a:highlight>
              </a:rPr>
              <a:t> </a:t>
            </a:r>
            <a:r>
              <a:rPr lang="en" b="1" i="1" dirty="0">
                <a:solidFill>
                  <a:srgbClr val="FF0000"/>
                </a:solidFill>
                <a:highlight>
                  <a:srgbClr val="FFFF00"/>
                </a:highlight>
              </a:rPr>
              <a:t>same time</a:t>
            </a:r>
            <a:r>
              <a:rPr lang="en" dirty="0">
                <a:highlight>
                  <a:srgbClr val="FFFF00"/>
                </a:highlight>
              </a:rPr>
              <a:t>.</a:t>
            </a:r>
            <a:endParaRPr dirty="0">
              <a:highlight>
                <a:srgbClr val="FFFF00"/>
              </a:highlight>
            </a:endParaRPr>
          </a:p>
        </p:txBody>
      </p:sp>
      <p:sp>
        <p:nvSpPr>
          <p:cNvPr id="870" name="Google Shape;870;p71"/>
          <p:cNvSpPr txBox="1">
            <a:spLocks noGrp="1"/>
          </p:cNvSpPr>
          <p:nvPr>
            <p:ph type="body" idx="3"/>
          </p:nvPr>
        </p:nvSpPr>
        <p:spPr>
          <a:xfrm>
            <a:off x="5192225" y="41658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thread may </a:t>
            </a:r>
            <a:r>
              <a:rPr lang="en" b="1" i="1">
                <a:solidFill>
                  <a:srgbClr val="FF0000"/>
                </a:solidFill>
              </a:rPr>
              <a:t>try</a:t>
            </a:r>
            <a:r>
              <a:rPr lang="en">
                <a:solidFill>
                  <a:srgbClr val="FF0000"/>
                </a:solidFill>
              </a:rPr>
              <a:t> </a:t>
            </a:r>
            <a:r>
              <a:rPr lang="en"/>
              <a:t>to obtain more than one lock at the same time, but this risks causing a </a:t>
            </a:r>
            <a:r>
              <a:rPr lang="en" b="1" i="1">
                <a:solidFill>
                  <a:srgbClr val="FF0000"/>
                </a:solidFill>
              </a:rPr>
              <a:t>circular hold and wait</a:t>
            </a:r>
            <a:r>
              <a:rPr lang="en"/>
              <a:t>, which could lead to deadlock.</a:t>
            </a:r>
            <a:endParaRPr/>
          </a:p>
        </p:txBody>
      </p:sp>
      <p:grpSp>
        <p:nvGrpSpPr>
          <p:cNvPr id="871" name="Google Shape;871;p71"/>
          <p:cNvGrpSpPr/>
          <p:nvPr/>
        </p:nvGrpSpPr>
        <p:grpSpPr>
          <a:xfrm>
            <a:off x="5065921" y="890882"/>
            <a:ext cx="3773067" cy="3059778"/>
            <a:chOff x="5065921" y="890882"/>
            <a:chExt cx="3773067" cy="3059778"/>
          </a:xfrm>
        </p:grpSpPr>
        <p:grpSp>
          <p:nvGrpSpPr>
            <p:cNvPr id="872" name="Google Shape;872;p71"/>
            <p:cNvGrpSpPr/>
            <p:nvPr/>
          </p:nvGrpSpPr>
          <p:grpSpPr>
            <a:xfrm>
              <a:off x="6460934" y="890882"/>
              <a:ext cx="910362" cy="981774"/>
              <a:chOff x="5899532" y="1516100"/>
              <a:chExt cx="1094843" cy="1180726"/>
            </a:xfrm>
          </p:grpSpPr>
          <p:pic>
            <p:nvPicPr>
              <p:cNvPr id="873" name="Google Shape;873;p71"/>
              <p:cNvPicPr preferRelativeResize="0"/>
              <p:nvPr/>
            </p:nvPicPr>
            <p:blipFill>
              <a:blip r:embed="rId3">
                <a:alphaModFix/>
              </a:blip>
              <a:stretch>
                <a:fillRect/>
              </a:stretch>
            </p:blipFill>
            <p:spPr>
              <a:xfrm>
                <a:off x="5899532" y="1516100"/>
                <a:ext cx="695500" cy="947075"/>
              </a:xfrm>
              <a:prstGeom prst="rect">
                <a:avLst/>
              </a:prstGeom>
              <a:noFill/>
              <a:ln>
                <a:noFill/>
              </a:ln>
            </p:spPr>
          </p:pic>
          <p:pic>
            <p:nvPicPr>
              <p:cNvPr id="874" name="Google Shape;874;p71"/>
              <p:cNvPicPr preferRelativeResize="0"/>
              <p:nvPr/>
            </p:nvPicPr>
            <p:blipFill>
              <a:blip r:embed="rId4">
                <a:alphaModFix/>
              </a:blip>
              <a:stretch>
                <a:fillRect/>
              </a:stretch>
            </p:blipFill>
            <p:spPr>
              <a:xfrm>
                <a:off x="6162100" y="1896225"/>
                <a:ext cx="832275" cy="800601"/>
              </a:xfrm>
              <a:prstGeom prst="rect">
                <a:avLst/>
              </a:prstGeom>
              <a:noFill/>
              <a:ln>
                <a:noFill/>
              </a:ln>
            </p:spPr>
          </p:pic>
        </p:grpSp>
        <p:grpSp>
          <p:nvGrpSpPr>
            <p:cNvPr id="875" name="Google Shape;875;p71"/>
            <p:cNvGrpSpPr/>
            <p:nvPr/>
          </p:nvGrpSpPr>
          <p:grpSpPr>
            <a:xfrm>
              <a:off x="7870595" y="1971047"/>
              <a:ext cx="968393" cy="981803"/>
              <a:chOff x="7498770" y="2646984"/>
              <a:chExt cx="968393" cy="981803"/>
            </a:xfrm>
          </p:grpSpPr>
          <p:pic>
            <p:nvPicPr>
              <p:cNvPr id="876" name="Google Shape;876;p71"/>
              <p:cNvPicPr preferRelativeResize="0"/>
              <p:nvPr/>
            </p:nvPicPr>
            <p:blipFill>
              <a:blip r:embed="rId5">
                <a:alphaModFix/>
              </a:blip>
              <a:stretch>
                <a:fillRect/>
              </a:stretch>
            </p:blipFill>
            <p:spPr>
              <a:xfrm>
                <a:off x="7870771" y="2646984"/>
                <a:ext cx="596392" cy="812139"/>
              </a:xfrm>
              <a:prstGeom prst="rect">
                <a:avLst/>
              </a:prstGeom>
              <a:noFill/>
              <a:ln>
                <a:noFill/>
              </a:ln>
            </p:spPr>
          </p:pic>
          <p:pic>
            <p:nvPicPr>
              <p:cNvPr id="877" name="Google Shape;877;p71"/>
              <p:cNvPicPr preferRelativeResize="0"/>
              <p:nvPr/>
            </p:nvPicPr>
            <p:blipFill>
              <a:blip r:embed="rId6">
                <a:alphaModFix/>
              </a:blip>
              <a:stretch>
                <a:fillRect/>
              </a:stretch>
            </p:blipFill>
            <p:spPr>
              <a:xfrm>
                <a:off x="7498770" y="2942264"/>
                <a:ext cx="713677" cy="686523"/>
              </a:xfrm>
              <a:prstGeom prst="rect">
                <a:avLst/>
              </a:prstGeom>
              <a:noFill/>
              <a:ln>
                <a:noFill/>
              </a:ln>
            </p:spPr>
          </p:pic>
        </p:grpSp>
        <p:grpSp>
          <p:nvGrpSpPr>
            <p:cNvPr id="878" name="Google Shape;878;p71"/>
            <p:cNvGrpSpPr/>
            <p:nvPr/>
          </p:nvGrpSpPr>
          <p:grpSpPr>
            <a:xfrm>
              <a:off x="6440263" y="2928492"/>
              <a:ext cx="951695" cy="1022168"/>
              <a:chOff x="6279400" y="2942267"/>
              <a:chExt cx="951695" cy="1022168"/>
            </a:xfrm>
          </p:grpSpPr>
          <p:pic>
            <p:nvPicPr>
              <p:cNvPr id="879" name="Google Shape;879;p71"/>
              <p:cNvPicPr preferRelativeResize="0"/>
              <p:nvPr/>
            </p:nvPicPr>
            <p:blipFill>
              <a:blip r:embed="rId7">
                <a:alphaModFix/>
              </a:blip>
              <a:stretch>
                <a:fillRect/>
              </a:stretch>
            </p:blipFill>
            <p:spPr>
              <a:xfrm>
                <a:off x="6279400" y="2942267"/>
                <a:ext cx="596400" cy="812183"/>
              </a:xfrm>
              <a:prstGeom prst="rect">
                <a:avLst/>
              </a:prstGeom>
              <a:noFill/>
              <a:ln>
                <a:noFill/>
              </a:ln>
            </p:spPr>
          </p:pic>
          <p:pic>
            <p:nvPicPr>
              <p:cNvPr id="880" name="Google Shape;880;p71"/>
              <p:cNvPicPr preferRelativeResize="0"/>
              <p:nvPr/>
            </p:nvPicPr>
            <p:blipFill>
              <a:blip r:embed="rId8">
                <a:alphaModFix/>
              </a:blip>
              <a:stretch>
                <a:fillRect/>
              </a:stretch>
            </p:blipFill>
            <p:spPr>
              <a:xfrm>
                <a:off x="6517420" y="3277884"/>
                <a:ext cx="713675" cy="686551"/>
              </a:xfrm>
              <a:prstGeom prst="rect">
                <a:avLst/>
              </a:prstGeom>
              <a:noFill/>
              <a:ln>
                <a:noFill/>
              </a:ln>
            </p:spPr>
          </p:pic>
        </p:grpSp>
        <p:grpSp>
          <p:nvGrpSpPr>
            <p:cNvPr id="881" name="Google Shape;881;p71"/>
            <p:cNvGrpSpPr/>
            <p:nvPr/>
          </p:nvGrpSpPr>
          <p:grpSpPr>
            <a:xfrm>
              <a:off x="5065921" y="1943725"/>
              <a:ext cx="928765" cy="1063700"/>
              <a:chOff x="5142121" y="1181725"/>
              <a:chExt cx="928765" cy="1063700"/>
            </a:xfrm>
          </p:grpSpPr>
          <p:pic>
            <p:nvPicPr>
              <p:cNvPr id="882" name="Google Shape;882;p71"/>
              <p:cNvPicPr preferRelativeResize="0"/>
              <p:nvPr/>
            </p:nvPicPr>
            <p:blipFill>
              <a:blip r:embed="rId9">
                <a:alphaModFix/>
              </a:blip>
              <a:stretch>
                <a:fillRect/>
              </a:stretch>
            </p:blipFill>
            <p:spPr>
              <a:xfrm>
                <a:off x="5142121" y="1181725"/>
                <a:ext cx="596400" cy="812151"/>
              </a:xfrm>
              <a:prstGeom prst="rect">
                <a:avLst/>
              </a:prstGeom>
              <a:noFill/>
              <a:ln>
                <a:noFill/>
              </a:ln>
            </p:spPr>
          </p:pic>
          <p:pic>
            <p:nvPicPr>
              <p:cNvPr id="883" name="Google Shape;883;p71"/>
              <p:cNvPicPr preferRelativeResize="0"/>
              <p:nvPr/>
            </p:nvPicPr>
            <p:blipFill>
              <a:blip r:embed="rId10">
                <a:alphaModFix/>
              </a:blip>
              <a:stretch>
                <a:fillRect/>
              </a:stretch>
            </p:blipFill>
            <p:spPr>
              <a:xfrm>
                <a:off x="5357210" y="1558893"/>
                <a:ext cx="713675" cy="686531"/>
              </a:xfrm>
              <a:prstGeom prst="rect">
                <a:avLst/>
              </a:prstGeom>
              <a:noFill/>
              <a:ln>
                <a:noFill/>
              </a:ln>
            </p:spPr>
          </p:pic>
        </p:grpSp>
      </p:grpSp>
      <p:pic>
        <p:nvPicPr>
          <p:cNvPr id="884" name="Google Shape;884;p71"/>
          <p:cNvPicPr preferRelativeResize="0"/>
          <p:nvPr/>
        </p:nvPicPr>
        <p:blipFill>
          <a:blip r:embed="rId11">
            <a:alphaModFix/>
          </a:blip>
          <a:stretch>
            <a:fillRect/>
          </a:stretch>
        </p:blipFill>
        <p:spPr>
          <a:xfrm>
            <a:off x="7740577" y="2217548"/>
            <a:ext cx="369300" cy="369300"/>
          </a:xfrm>
          <a:prstGeom prst="rect">
            <a:avLst/>
          </a:prstGeom>
          <a:noFill/>
          <a:ln>
            <a:noFill/>
          </a:ln>
        </p:spPr>
      </p:pic>
      <p:pic>
        <p:nvPicPr>
          <p:cNvPr id="885" name="Google Shape;885;p71"/>
          <p:cNvPicPr preferRelativeResize="0"/>
          <p:nvPr/>
        </p:nvPicPr>
        <p:blipFill>
          <a:blip r:embed="rId11">
            <a:alphaModFix/>
          </a:blip>
          <a:stretch>
            <a:fillRect/>
          </a:stretch>
        </p:blipFill>
        <p:spPr>
          <a:xfrm>
            <a:off x="7124091" y="3208148"/>
            <a:ext cx="369300" cy="369300"/>
          </a:xfrm>
          <a:prstGeom prst="rect">
            <a:avLst/>
          </a:prstGeom>
          <a:noFill/>
          <a:ln>
            <a:noFill/>
          </a:ln>
        </p:spPr>
      </p:pic>
      <p:pic>
        <p:nvPicPr>
          <p:cNvPr id="886" name="Google Shape;886;p71"/>
          <p:cNvPicPr preferRelativeResize="0"/>
          <p:nvPr/>
        </p:nvPicPr>
        <p:blipFill>
          <a:blip r:embed="rId11">
            <a:alphaModFix/>
          </a:blip>
          <a:stretch>
            <a:fillRect/>
          </a:stretch>
        </p:blipFill>
        <p:spPr>
          <a:xfrm>
            <a:off x="5752491" y="2522348"/>
            <a:ext cx="369300" cy="369300"/>
          </a:xfrm>
          <a:prstGeom prst="rect">
            <a:avLst/>
          </a:prstGeom>
          <a:noFill/>
          <a:ln>
            <a:noFill/>
          </a:ln>
        </p:spPr>
      </p:pic>
      <p:pic>
        <p:nvPicPr>
          <p:cNvPr id="887" name="Google Shape;887;p71"/>
          <p:cNvPicPr preferRelativeResize="0"/>
          <p:nvPr/>
        </p:nvPicPr>
        <p:blipFill>
          <a:blip r:embed="rId11">
            <a:alphaModFix/>
          </a:blip>
          <a:stretch>
            <a:fillRect/>
          </a:stretch>
        </p:blipFill>
        <p:spPr>
          <a:xfrm>
            <a:off x="6514491" y="1455548"/>
            <a:ext cx="369300" cy="369300"/>
          </a:xfrm>
          <a:prstGeom prst="rect">
            <a:avLst/>
          </a:prstGeom>
          <a:noFill/>
          <a:ln>
            <a:noFill/>
          </a:ln>
        </p:spPr>
      </p:pic>
      <p:sp>
        <p:nvSpPr>
          <p:cNvPr id="888" name="Google Shape;888;p71"/>
          <p:cNvSpPr/>
          <p:nvPr/>
        </p:nvSpPr>
        <p:spPr>
          <a:xfrm>
            <a:off x="6940675" y="1155353"/>
            <a:ext cx="950200" cy="1041425"/>
          </a:xfrm>
          <a:custGeom>
            <a:avLst/>
            <a:gdLst/>
            <a:ahLst/>
            <a:cxnLst/>
            <a:rect l="l" t="t" r="r" b="b"/>
            <a:pathLst>
              <a:path w="38008" h="41657" extrusionOk="0">
                <a:moveTo>
                  <a:pt x="0" y="69"/>
                </a:moveTo>
                <a:cubicBezTo>
                  <a:pt x="4866" y="849"/>
                  <a:pt x="22860" y="-2180"/>
                  <a:pt x="29195" y="4751"/>
                </a:cubicBezTo>
                <a:cubicBezTo>
                  <a:pt x="35530" y="11682"/>
                  <a:pt x="36539" y="35506"/>
                  <a:pt x="38008" y="41657"/>
                </a:cubicBezTo>
              </a:path>
            </a:pathLst>
          </a:custGeom>
          <a:noFill/>
          <a:ln w="28575" cap="flat" cmpd="sng">
            <a:solidFill>
              <a:srgbClr val="EA9999"/>
            </a:solidFill>
            <a:prstDash val="solid"/>
            <a:round/>
            <a:headEnd type="none" w="med" len="med"/>
            <a:tailEnd type="triangle" w="med" len="med"/>
          </a:ln>
        </p:spPr>
        <p:txBody>
          <a:bodyPr/>
          <a:lstStyle/>
          <a:p>
            <a:endParaRPr lang="en-US"/>
          </a:p>
        </p:txBody>
      </p:sp>
      <p:sp>
        <p:nvSpPr>
          <p:cNvPr id="889" name="Google Shape;889;p71"/>
          <p:cNvSpPr/>
          <p:nvPr/>
        </p:nvSpPr>
        <p:spPr>
          <a:xfrm>
            <a:off x="7553475" y="2747625"/>
            <a:ext cx="1156600" cy="633475"/>
          </a:xfrm>
          <a:custGeom>
            <a:avLst/>
            <a:gdLst/>
            <a:ahLst/>
            <a:cxnLst/>
            <a:rect l="l" t="t" r="r" b="b"/>
            <a:pathLst>
              <a:path w="46264" h="25339" extrusionOk="0">
                <a:moveTo>
                  <a:pt x="43242" y="0"/>
                </a:moveTo>
                <a:cubicBezTo>
                  <a:pt x="43196" y="2249"/>
                  <a:pt x="50173" y="9273"/>
                  <a:pt x="42966" y="13496"/>
                </a:cubicBezTo>
                <a:cubicBezTo>
                  <a:pt x="35759" y="17719"/>
                  <a:pt x="7161" y="23365"/>
                  <a:pt x="0" y="25339"/>
                </a:cubicBezTo>
              </a:path>
            </a:pathLst>
          </a:custGeom>
          <a:noFill/>
          <a:ln w="28575" cap="flat" cmpd="sng">
            <a:solidFill>
              <a:srgbClr val="EA9999"/>
            </a:solidFill>
            <a:prstDash val="solid"/>
            <a:round/>
            <a:headEnd type="none" w="med" len="med"/>
            <a:tailEnd type="triangle" w="med" len="med"/>
          </a:ln>
        </p:spPr>
        <p:txBody>
          <a:bodyPr/>
          <a:lstStyle/>
          <a:p>
            <a:endParaRPr lang="en-US"/>
          </a:p>
        </p:txBody>
      </p:sp>
      <p:sp>
        <p:nvSpPr>
          <p:cNvPr id="890" name="Google Shape;890;p71"/>
          <p:cNvSpPr/>
          <p:nvPr/>
        </p:nvSpPr>
        <p:spPr>
          <a:xfrm>
            <a:off x="6024900" y="2906000"/>
            <a:ext cx="509525" cy="513405"/>
          </a:xfrm>
          <a:custGeom>
            <a:avLst/>
            <a:gdLst/>
            <a:ahLst/>
            <a:cxnLst/>
            <a:rect l="l" t="t" r="r" b="b"/>
            <a:pathLst>
              <a:path w="20381" h="29350" extrusionOk="0">
                <a:moveTo>
                  <a:pt x="20381" y="28920"/>
                </a:moveTo>
                <a:cubicBezTo>
                  <a:pt x="18637" y="28507"/>
                  <a:pt x="13312" y="31261"/>
                  <a:pt x="9915" y="26441"/>
                </a:cubicBezTo>
                <a:cubicBezTo>
                  <a:pt x="6518" y="21621"/>
                  <a:pt x="1653" y="4407"/>
                  <a:pt x="0" y="0"/>
                </a:cubicBezTo>
              </a:path>
            </a:pathLst>
          </a:custGeom>
          <a:noFill/>
          <a:ln w="28575" cap="flat" cmpd="sng">
            <a:solidFill>
              <a:srgbClr val="EA9999"/>
            </a:solidFill>
            <a:prstDash val="solid"/>
            <a:round/>
            <a:headEnd type="none" w="med" len="med"/>
            <a:tailEnd type="triangle" w="med" len="med"/>
          </a:ln>
        </p:spPr>
        <p:txBody>
          <a:bodyPr/>
          <a:lstStyle/>
          <a:p>
            <a:endParaRPr lang="en-US"/>
          </a:p>
        </p:txBody>
      </p:sp>
      <p:sp>
        <p:nvSpPr>
          <p:cNvPr id="891" name="Google Shape;891;p71"/>
          <p:cNvSpPr/>
          <p:nvPr/>
        </p:nvSpPr>
        <p:spPr>
          <a:xfrm>
            <a:off x="5618650" y="1625275"/>
            <a:ext cx="846925" cy="316750"/>
          </a:xfrm>
          <a:custGeom>
            <a:avLst/>
            <a:gdLst/>
            <a:ahLst/>
            <a:cxnLst/>
            <a:rect l="l" t="t" r="r" b="b"/>
            <a:pathLst>
              <a:path w="33877" h="12670" extrusionOk="0">
                <a:moveTo>
                  <a:pt x="0" y="12670"/>
                </a:moveTo>
                <a:cubicBezTo>
                  <a:pt x="1744" y="10880"/>
                  <a:pt x="4820" y="4040"/>
                  <a:pt x="10466" y="1928"/>
                </a:cubicBezTo>
                <a:cubicBezTo>
                  <a:pt x="16112" y="-184"/>
                  <a:pt x="29975" y="321"/>
                  <a:pt x="33877" y="0"/>
                </a:cubicBezTo>
              </a:path>
            </a:pathLst>
          </a:custGeom>
          <a:noFill/>
          <a:ln w="28575" cap="flat" cmpd="sng">
            <a:solidFill>
              <a:srgbClr val="EA9999"/>
            </a:solidFill>
            <a:prstDash val="solid"/>
            <a:round/>
            <a:headEnd type="none" w="med" len="med"/>
            <a:tailEnd type="triangl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70"/>
                                        </p:tgtEl>
                                        <p:attrNameLst>
                                          <p:attrName>style.visibility</p:attrName>
                                        </p:attrNameLst>
                                      </p:cBhvr>
                                      <p:to>
                                        <p:strVal val="visible"/>
                                      </p:to>
                                    </p:set>
                                    <p:animEffect transition="in" filter="fade">
                                      <p:cBhvr>
                                        <p:cTn id="7" dur="1000"/>
                                        <p:tgtEl>
                                          <p:spTgt spid="870"/>
                                        </p:tgtEl>
                                      </p:cBhvr>
                                    </p:animEffect>
                                  </p:childTnLst>
                                </p:cTn>
                              </p:par>
                              <p:par>
                                <p:cTn id="8" presetID="10" presetClass="entr" presetSubtype="0" fill="hold" nodeType="withEffect">
                                  <p:stCondLst>
                                    <p:cond delay="0"/>
                                  </p:stCondLst>
                                  <p:childTnLst>
                                    <p:set>
                                      <p:cBhvr>
                                        <p:cTn id="9" dur="1" fill="hold">
                                          <p:stCondLst>
                                            <p:cond delay="0"/>
                                          </p:stCondLst>
                                        </p:cTn>
                                        <p:tgtEl>
                                          <p:spTgt spid="871"/>
                                        </p:tgtEl>
                                        <p:attrNameLst>
                                          <p:attrName>style.visibility</p:attrName>
                                        </p:attrNameLst>
                                      </p:cBhvr>
                                      <p:to>
                                        <p:strVal val="visible"/>
                                      </p:to>
                                    </p:set>
                                    <p:animEffect transition="in" filter="fade">
                                      <p:cBhvr>
                                        <p:cTn id="10" dur="1000"/>
                                        <p:tgtEl>
                                          <p:spTgt spid="87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88"/>
                                        </p:tgtEl>
                                        <p:attrNameLst>
                                          <p:attrName>style.visibility</p:attrName>
                                        </p:attrNameLst>
                                      </p:cBhvr>
                                      <p:to>
                                        <p:strVal val="visible"/>
                                      </p:to>
                                    </p:set>
                                    <p:animEffect transition="in" filter="fade">
                                      <p:cBhvr>
                                        <p:cTn id="15" dur="1000"/>
                                        <p:tgtEl>
                                          <p:spTgt spid="888"/>
                                        </p:tgtEl>
                                      </p:cBhvr>
                                    </p:animEffect>
                                  </p:childTnLst>
                                </p:cTn>
                              </p:par>
                            </p:childTnLst>
                          </p:cTn>
                        </p:par>
                        <p:par>
                          <p:cTn id="16" fill="hold">
                            <p:stCondLst>
                              <p:cond delay="1000"/>
                            </p:stCondLst>
                            <p:childTnLst>
                              <p:par>
                                <p:cTn id="17" presetID="10" presetClass="entr" presetSubtype="0" fill="hold" nodeType="afterEffect">
                                  <p:stCondLst>
                                    <p:cond delay="0"/>
                                  </p:stCondLst>
                                  <p:childTnLst>
                                    <p:set>
                                      <p:cBhvr>
                                        <p:cTn id="18" dur="1" fill="hold">
                                          <p:stCondLst>
                                            <p:cond delay="0"/>
                                          </p:stCondLst>
                                        </p:cTn>
                                        <p:tgtEl>
                                          <p:spTgt spid="884"/>
                                        </p:tgtEl>
                                        <p:attrNameLst>
                                          <p:attrName>style.visibility</p:attrName>
                                        </p:attrNameLst>
                                      </p:cBhvr>
                                      <p:to>
                                        <p:strVal val="visible"/>
                                      </p:to>
                                    </p:set>
                                    <p:animEffect transition="in" filter="fade">
                                      <p:cBhvr>
                                        <p:cTn id="19" dur="1000"/>
                                        <p:tgtEl>
                                          <p:spTgt spid="884"/>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889"/>
                                        </p:tgtEl>
                                        <p:attrNameLst>
                                          <p:attrName>style.visibility</p:attrName>
                                        </p:attrNameLst>
                                      </p:cBhvr>
                                      <p:to>
                                        <p:strVal val="visible"/>
                                      </p:to>
                                    </p:set>
                                    <p:animEffect transition="in" filter="fade">
                                      <p:cBhvr>
                                        <p:cTn id="23" dur="1000"/>
                                        <p:tgtEl>
                                          <p:spTgt spid="889"/>
                                        </p:tgtEl>
                                      </p:cBhvr>
                                    </p:animEffect>
                                  </p:childTnLst>
                                </p:cTn>
                              </p:par>
                            </p:childTnLst>
                          </p:cTn>
                        </p:par>
                        <p:par>
                          <p:cTn id="24" fill="hold">
                            <p:stCondLst>
                              <p:cond delay="3000"/>
                            </p:stCondLst>
                            <p:childTnLst>
                              <p:par>
                                <p:cTn id="25" presetID="10" presetClass="entr" presetSubtype="0" fill="hold" nodeType="afterEffect">
                                  <p:stCondLst>
                                    <p:cond delay="0"/>
                                  </p:stCondLst>
                                  <p:childTnLst>
                                    <p:set>
                                      <p:cBhvr>
                                        <p:cTn id="26" dur="1" fill="hold">
                                          <p:stCondLst>
                                            <p:cond delay="0"/>
                                          </p:stCondLst>
                                        </p:cTn>
                                        <p:tgtEl>
                                          <p:spTgt spid="885"/>
                                        </p:tgtEl>
                                        <p:attrNameLst>
                                          <p:attrName>style.visibility</p:attrName>
                                        </p:attrNameLst>
                                      </p:cBhvr>
                                      <p:to>
                                        <p:strVal val="visible"/>
                                      </p:to>
                                    </p:set>
                                    <p:animEffect transition="in" filter="fade">
                                      <p:cBhvr>
                                        <p:cTn id="27" dur="1000"/>
                                        <p:tgtEl>
                                          <p:spTgt spid="885"/>
                                        </p:tgtEl>
                                      </p:cBhvr>
                                    </p:animEffect>
                                  </p:childTnLst>
                                </p:cTn>
                              </p:par>
                            </p:childTnLst>
                          </p:cTn>
                        </p:par>
                        <p:par>
                          <p:cTn id="28" fill="hold">
                            <p:stCondLst>
                              <p:cond delay="4000"/>
                            </p:stCondLst>
                            <p:childTnLst>
                              <p:par>
                                <p:cTn id="29" presetID="10" presetClass="entr" presetSubtype="0" fill="hold" nodeType="afterEffect">
                                  <p:stCondLst>
                                    <p:cond delay="0"/>
                                  </p:stCondLst>
                                  <p:childTnLst>
                                    <p:set>
                                      <p:cBhvr>
                                        <p:cTn id="30" dur="1" fill="hold">
                                          <p:stCondLst>
                                            <p:cond delay="0"/>
                                          </p:stCondLst>
                                        </p:cTn>
                                        <p:tgtEl>
                                          <p:spTgt spid="890"/>
                                        </p:tgtEl>
                                        <p:attrNameLst>
                                          <p:attrName>style.visibility</p:attrName>
                                        </p:attrNameLst>
                                      </p:cBhvr>
                                      <p:to>
                                        <p:strVal val="visible"/>
                                      </p:to>
                                    </p:set>
                                    <p:animEffect transition="in" filter="fade">
                                      <p:cBhvr>
                                        <p:cTn id="31" dur="1000"/>
                                        <p:tgtEl>
                                          <p:spTgt spid="890"/>
                                        </p:tgtEl>
                                      </p:cBhvr>
                                    </p:animEffect>
                                  </p:childTnLst>
                                </p:cTn>
                              </p:par>
                            </p:childTnLst>
                          </p:cTn>
                        </p:par>
                        <p:par>
                          <p:cTn id="32" fill="hold">
                            <p:stCondLst>
                              <p:cond delay="5000"/>
                            </p:stCondLst>
                            <p:childTnLst>
                              <p:par>
                                <p:cTn id="33" presetID="10" presetClass="entr" presetSubtype="0" fill="hold" nodeType="afterEffect">
                                  <p:stCondLst>
                                    <p:cond delay="0"/>
                                  </p:stCondLst>
                                  <p:childTnLst>
                                    <p:set>
                                      <p:cBhvr>
                                        <p:cTn id="34" dur="1" fill="hold">
                                          <p:stCondLst>
                                            <p:cond delay="0"/>
                                          </p:stCondLst>
                                        </p:cTn>
                                        <p:tgtEl>
                                          <p:spTgt spid="886"/>
                                        </p:tgtEl>
                                        <p:attrNameLst>
                                          <p:attrName>style.visibility</p:attrName>
                                        </p:attrNameLst>
                                      </p:cBhvr>
                                      <p:to>
                                        <p:strVal val="visible"/>
                                      </p:to>
                                    </p:set>
                                    <p:animEffect transition="in" filter="fade">
                                      <p:cBhvr>
                                        <p:cTn id="35" dur="1000"/>
                                        <p:tgtEl>
                                          <p:spTgt spid="88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891"/>
                                        </p:tgtEl>
                                        <p:attrNameLst>
                                          <p:attrName>style.visibility</p:attrName>
                                        </p:attrNameLst>
                                      </p:cBhvr>
                                      <p:to>
                                        <p:strVal val="visible"/>
                                      </p:to>
                                    </p:set>
                                    <p:animEffect transition="in" filter="fade">
                                      <p:cBhvr>
                                        <p:cTn id="40" dur="1000"/>
                                        <p:tgtEl>
                                          <p:spTgt spid="891"/>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87"/>
                                        </p:tgtEl>
                                        <p:attrNameLst>
                                          <p:attrName>style.visibility</p:attrName>
                                        </p:attrNameLst>
                                      </p:cBhvr>
                                      <p:to>
                                        <p:strVal val="visible"/>
                                      </p:to>
                                    </p:set>
                                    <p:animEffect transition="in" filter="fade">
                                      <p:cBhvr>
                                        <p:cTn id="44" dur="1000"/>
                                        <p:tgtEl>
                                          <p:spTgt spid="8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7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Deadlock</a:t>
            </a:r>
            <a:endParaRPr/>
          </a:p>
        </p:txBody>
      </p:sp>
      <p:sp>
        <p:nvSpPr>
          <p:cNvPr id="897" name="Google Shape;897;p72"/>
          <p:cNvSpPr txBox="1">
            <a:spLocks noGrp="1"/>
          </p:cNvSpPr>
          <p:nvPr>
            <p:ph type="body" idx="1"/>
          </p:nvPr>
        </p:nvSpPr>
        <p:spPr>
          <a:xfrm>
            <a:off x="65250" y="731625"/>
            <a:ext cx="8955900" cy="12807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We've already seen that multi-threaded programs may corrupt shared resources if care is not taken to protect the resource. But protecting shared resources may lead to </a:t>
            </a:r>
            <a:r>
              <a:rPr lang="en" b="1" i="1"/>
              <a:t>deadlock</a:t>
            </a:r>
            <a:r>
              <a:rPr lang="en"/>
              <a:t>, a condition from which there is no recovery. Try writing a new thread that is very likely to produce deadlock. Can you </a:t>
            </a:r>
            <a:r>
              <a:rPr lang="en" i="1"/>
              <a:t>guarantee</a:t>
            </a:r>
            <a:r>
              <a:rPr lang="en"/>
              <a:t> that it will deadlock?</a:t>
            </a:r>
            <a:endParaRPr/>
          </a:p>
        </p:txBody>
      </p:sp>
      <p:sp>
        <p:nvSpPr>
          <p:cNvPr id="898" name="Google Shape;898;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41</a:t>
            </a:fld>
            <a:endParaRPr/>
          </a:p>
        </p:txBody>
      </p:sp>
      <p:sp>
        <p:nvSpPr>
          <p:cNvPr id="899" name="Google Shape;899;p72"/>
          <p:cNvSpPr txBox="1">
            <a:spLocks noGrp="1"/>
          </p:cNvSpPr>
          <p:nvPr>
            <p:ph type="body" idx="2"/>
          </p:nvPr>
        </p:nvSpPr>
        <p:spPr>
          <a:xfrm>
            <a:off x="2518800" y="2013125"/>
            <a:ext cx="6422400" cy="27921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Create a new Java class named "</a:t>
            </a:r>
            <a:r>
              <a:rPr lang="en" sz="1500">
                <a:solidFill>
                  <a:srgbClr val="FF0000"/>
                </a:solidFill>
                <a:latin typeface="Courier New"/>
                <a:ea typeface="Courier New"/>
                <a:cs typeface="Courier New"/>
                <a:sym typeface="Courier New"/>
              </a:rPr>
              <a:t>Deadlock</a:t>
            </a:r>
            <a:r>
              <a:rPr lang="en" sz="1500"/>
              <a:t>" and use your preferred method to make it a thread.</a:t>
            </a:r>
            <a:endParaRPr sz="1500"/>
          </a:p>
          <a:p>
            <a:pPr marL="914400" lvl="1" indent="-311150" algn="l" rtl="0">
              <a:spcBef>
                <a:spcPts val="0"/>
              </a:spcBef>
              <a:spcAft>
                <a:spcPts val="0"/>
              </a:spcAft>
              <a:buSzPts val="1300"/>
              <a:buChar char="○"/>
            </a:pPr>
            <a:r>
              <a:rPr lang="en" sz="1300"/>
              <a:t>Remember that you need at least </a:t>
            </a:r>
            <a:r>
              <a:rPr lang="en" sz="1300" b="1" i="1">
                <a:solidFill>
                  <a:srgbClr val="FF0000"/>
                </a:solidFill>
              </a:rPr>
              <a:t>two</a:t>
            </a:r>
            <a:r>
              <a:rPr lang="en" sz="1300">
                <a:solidFill>
                  <a:srgbClr val="FF0000"/>
                </a:solidFill>
              </a:rPr>
              <a:t> </a:t>
            </a:r>
            <a:r>
              <a:rPr lang="en" sz="1300"/>
              <a:t>different object keys and </a:t>
            </a:r>
            <a:r>
              <a:rPr lang="en" sz="1300" b="1" i="1">
                <a:solidFill>
                  <a:srgbClr val="FF0000"/>
                </a:solidFill>
              </a:rPr>
              <a:t>two</a:t>
            </a:r>
            <a:r>
              <a:rPr lang="en" sz="1300">
                <a:solidFill>
                  <a:srgbClr val="FF0000"/>
                </a:solidFill>
              </a:rPr>
              <a:t> </a:t>
            </a:r>
            <a:r>
              <a:rPr lang="en" sz="1300"/>
              <a:t>different threads to produce deadlock.</a:t>
            </a:r>
            <a:endParaRPr sz="1300"/>
          </a:p>
          <a:p>
            <a:pPr marL="914400" lvl="1" indent="-311150" algn="l" rtl="0">
              <a:spcBef>
                <a:spcPts val="0"/>
              </a:spcBef>
              <a:spcAft>
                <a:spcPts val="0"/>
              </a:spcAft>
              <a:buSzPts val="1300"/>
              <a:buChar char="○"/>
            </a:pPr>
            <a:r>
              <a:rPr lang="en" sz="1300"/>
              <a:t>Declare any fields and constructors that you think you might need.</a:t>
            </a:r>
            <a:endParaRPr sz="1300"/>
          </a:p>
          <a:p>
            <a:pPr marL="914400" lvl="1" indent="-311150" algn="l" rtl="0">
              <a:spcBef>
                <a:spcPts val="0"/>
              </a:spcBef>
              <a:spcAft>
                <a:spcPts val="0"/>
              </a:spcAft>
              <a:buSzPts val="1300"/>
              <a:buChar char="○"/>
            </a:pPr>
            <a:r>
              <a:rPr lang="en" sz="1300"/>
              <a:t>Implement a </a:t>
            </a:r>
            <a:r>
              <a:rPr lang="en" sz="1300">
                <a:latin typeface="Courier New"/>
                <a:ea typeface="Courier New"/>
                <a:cs typeface="Courier New"/>
                <a:sym typeface="Courier New"/>
              </a:rPr>
              <a:t>run()</a:t>
            </a:r>
            <a:r>
              <a:rPr lang="en" sz="1300"/>
              <a:t> method that is </a:t>
            </a:r>
            <a:r>
              <a:rPr lang="en" sz="1300">
                <a:solidFill>
                  <a:srgbClr val="FF0000"/>
                </a:solidFill>
              </a:rPr>
              <a:t>likely </a:t>
            </a:r>
            <a:r>
              <a:rPr lang="en" sz="1300"/>
              <a:t>to produce deadlock. Print messages to indicate what is happening.</a:t>
            </a:r>
            <a:endParaRPr sz="1300"/>
          </a:p>
          <a:p>
            <a:pPr marL="457200" lvl="0" indent="-323850" algn="l" rtl="0">
              <a:spcBef>
                <a:spcPts val="0"/>
              </a:spcBef>
              <a:spcAft>
                <a:spcPts val="0"/>
              </a:spcAft>
              <a:buSzPts val="1500"/>
              <a:buChar char="●"/>
            </a:pPr>
            <a:r>
              <a:rPr lang="en" sz="1500"/>
              <a:t>Define a </a:t>
            </a:r>
            <a:r>
              <a:rPr lang="en" sz="1500">
                <a:latin typeface="Courier New"/>
                <a:ea typeface="Courier New"/>
                <a:cs typeface="Courier New"/>
                <a:sym typeface="Courier New"/>
              </a:rPr>
              <a:t>main</a:t>
            </a:r>
            <a:r>
              <a:rPr lang="en" sz="1500"/>
              <a:t> method with the appropriate signature.</a:t>
            </a:r>
            <a:endParaRPr sz="1500"/>
          </a:p>
          <a:p>
            <a:pPr marL="914400" lvl="1" indent="-311150" algn="l" rtl="0">
              <a:spcBef>
                <a:spcPts val="0"/>
              </a:spcBef>
              <a:spcAft>
                <a:spcPts val="0"/>
              </a:spcAft>
              <a:buSzPts val="1300"/>
              <a:buChar char="○"/>
            </a:pPr>
            <a:r>
              <a:rPr lang="en" sz="1300"/>
              <a:t>Create and start two of your threads.</a:t>
            </a:r>
            <a:endParaRPr sz="1300"/>
          </a:p>
          <a:p>
            <a:pPr marL="914400" lvl="1" indent="-311150" algn="l" rtl="0">
              <a:spcBef>
                <a:spcPts val="0"/>
              </a:spcBef>
              <a:spcAft>
                <a:spcPts val="0"/>
              </a:spcAft>
              <a:buSzPts val="1300"/>
              <a:buChar char="○"/>
            </a:pPr>
            <a:r>
              <a:rPr lang="en" sz="1300"/>
              <a:t>Does deadlock occur?</a:t>
            </a:r>
            <a:endParaRPr sz="1300"/>
          </a:p>
          <a:p>
            <a:pPr marL="914400" lvl="1" indent="-311150" algn="l" rtl="0">
              <a:spcBef>
                <a:spcPts val="0"/>
              </a:spcBef>
              <a:spcAft>
                <a:spcPts val="0"/>
              </a:spcAft>
              <a:buSzPts val="1300"/>
              <a:buChar char="○"/>
            </a:pPr>
            <a:r>
              <a:rPr lang="en" sz="1300"/>
              <a:t>If so, is it guaranteed to occur </a:t>
            </a:r>
            <a:r>
              <a:rPr lang="en" sz="1300" b="1" i="1">
                <a:solidFill>
                  <a:srgbClr val="FF0000"/>
                </a:solidFill>
              </a:rPr>
              <a:t>every time</a:t>
            </a:r>
            <a:r>
              <a:rPr lang="en" sz="1300"/>
              <a:t>?</a:t>
            </a:r>
            <a:endParaRPr sz="1300"/>
          </a:p>
        </p:txBody>
      </p:sp>
      <p:sp>
        <p:nvSpPr>
          <p:cNvPr id="900" name="Google Shape;900;p72"/>
          <p:cNvSpPr txBox="1">
            <a:spLocks noGrp="1"/>
          </p:cNvSpPr>
          <p:nvPr>
            <p:ph type="title" idx="3"/>
          </p:nvPr>
        </p:nvSpPr>
        <p:spPr>
          <a:xfrm>
            <a:off x="65250" y="100"/>
            <a:ext cx="1253700" cy="596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SzPts val="990"/>
              <a:buNone/>
            </a:pPr>
            <a:r>
              <a:rPr lang="en"/>
              <a:t>11.15</a:t>
            </a:r>
            <a:endParaRPr/>
          </a:p>
        </p:txBody>
      </p:sp>
      <p:pic>
        <p:nvPicPr>
          <p:cNvPr id="901" name="Google Shape;901;p72"/>
          <p:cNvPicPr preferRelativeResize="0"/>
          <p:nvPr/>
        </p:nvPicPr>
        <p:blipFill>
          <a:blip r:embed="rId3">
            <a:alphaModFix/>
          </a:blip>
          <a:stretch>
            <a:fillRect/>
          </a:stretch>
        </p:blipFill>
        <p:spPr>
          <a:xfrm>
            <a:off x="228600" y="2154175"/>
            <a:ext cx="2150175" cy="2150175"/>
          </a:xfrm>
          <a:prstGeom prst="rect">
            <a:avLst/>
          </a:prstGeom>
          <a:noFill/>
          <a:ln w="19050" cap="flat" cmpd="sng">
            <a:solidFill>
              <a:schemeClr val="dk2"/>
            </a:solidFill>
            <a:prstDash val="solid"/>
            <a:round/>
            <a:headEnd type="none" w="sm" len="sm"/>
            <a:tailEnd type="none" w="sm" len="sm"/>
          </a:ln>
        </p:spPr>
      </p:pic>
      <p:sp>
        <p:nvSpPr>
          <p:cNvPr id="902" name="Google Shape;902;p72"/>
          <p:cNvSpPr txBox="1"/>
          <p:nvPr/>
        </p:nvSpPr>
        <p:spPr>
          <a:xfrm>
            <a:off x="228637" y="4436850"/>
            <a:ext cx="2150100" cy="3693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200"/>
              <a:t>No, these are </a:t>
            </a:r>
            <a:r>
              <a:rPr lang="en" sz="1200" b="1" i="1"/>
              <a:t>dread</a:t>
            </a:r>
            <a:r>
              <a:rPr lang="en" sz="1200"/>
              <a:t>locks.</a:t>
            </a:r>
            <a:endParaRPr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42</a:t>
            </a:fld>
            <a:endParaRPr/>
          </a:p>
        </p:txBody>
      </p:sp>
      <p:sp>
        <p:nvSpPr>
          <p:cNvPr id="908" name="Google Shape;908;p73"/>
          <p:cNvSpPr txBox="1">
            <a:spLocks noGrp="1"/>
          </p:cNvSpPr>
          <p:nvPr>
            <p:ph type="title"/>
          </p:nvPr>
        </p:nvSpPr>
        <p:spPr>
          <a:xfrm>
            <a:off x="311725" y="348525"/>
            <a:ext cx="3706500" cy="63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700"/>
              <a:t>Deadlock Conditions</a:t>
            </a:r>
            <a:endParaRPr sz="2700"/>
          </a:p>
        </p:txBody>
      </p:sp>
      <p:sp>
        <p:nvSpPr>
          <p:cNvPr id="909" name="Google Shape;909;p73"/>
          <p:cNvSpPr txBox="1">
            <a:spLocks noGrp="1"/>
          </p:cNvSpPr>
          <p:nvPr>
            <p:ph type="body" idx="1"/>
          </p:nvPr>
        </p:nvSpPr>
        <p:spPr>
          <a:xfrm>
            <a:off x="4644675" y="272325"/>
            <a:ext cx="41664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dirty="0"/>
              <a:t>There are </a:t>
            </a:r>
            <a:r>
              <a:rPr lang="en" b="1" i="1" dirty="0">
                <a:solidFill>
                  <a:srgbClr val="FF0000"/>
                </a:solidFill>
              </a:rPr>
              <a:t>four</a:t>
            </a:r>
            <a:r>
              <a:rPr lang="en" dirty="0">
                <a:solidFill>
                  <a:srgbClr val="FF0000"/>
                </a:solidFill>
              </a:rPr>
              <a:t> </a:t>
            </a:r>
            <a:r>
              <a:rPr lang="en" dirty="0"/>
              <a:t>conditions that must be true </a:t>
            </a:r>
            <a:r>
              <a:rPr lang="en" b="1" i="1" dirty="0">
                <a:solidFill>
                  <a:srgbClr val="FF0000"/>
                </a:solidFill>
              </a:rPr>
              <a:t>simultaneously</a:t>
            </a:r>
            <a:r>
              <a:rPr lang="en" dirty="0">
                <a:solidFill>
                  <a:srgbClr val="FF0000"/>
                </a:solidFill>
              </a:rPr>
              <a:t> </a:t>
            </a:r>
            <a:r>
              <a:rPr lang="en" dirty="0"/>
              <a:t>for deadlock to occur.</a:t>
            </a:r>
            <a:endParaRPr dirty="0"/>
          </a:p>
          <a:p>
            <a:pPr marL="457200" lvl="0" indent="-311150" algn="l" rtl="0">
              <a:spcBef>
                <a:spcPts val="0"/>
              </a:spcBef>
              <a:spcAft>
                <a:spcPts val="0"/>
              </a:spcAft>
              <a:buSzPts val="1300"/>
              <a:buChar char="●"/>
            </a:pPr>
            <a:r>
              <a:rPr lang="en" b="1" i="1" dirty="0">
                <a:solidFill>
                  <a:srgbClr val="FF0000"/>
                </a:solidFill>
              </a:rPr>
              <a:t>Mutual Exclusion</a:t>
            </a:r>
            <a:r>
              <a:rPr lang="en" dirty="0"/>
              <a:t> - at least one resource must be in a mode where it cannot be shared among processes.</a:t>
            </a:r>
            <a:endParaRPr dirty="0"/>
          </a:p>
          <a:p>
            <a:pPr marL="914400" lvl="1" indent="-298450" algn="l" rtl="0">
              <a:spcBef>
                <a:spcPts val="0"/>
              </a:spcBef>
              <a:spcAft>
                <a:spcPts val="0"/>
              </a:spcAft>
              <a:buSzPts val="1100"/>
              <a:buChar char="○"/>
            </a:pPr>
            <a:r>
              <a:rPr lang="en" dirty="0"/>
              <a:t>In Java this occurs whenever a thread synchronizes on an object key.</a:t>
            </a:r>
            <a:endParaRPr dirty="0"/>
          </a:p>
          <a:p>
            <a:pPr marL="457200" lvl="0" indent="-311150" algn="l" rtl="0">
              <a:spcBef>
                <a:spcPts val="0"/>
              </a:spcBef>
              <a:spcAft>
                <a:spcPts val="0"/>
              </a:spcAft>
              <a:buSzPts val="1300"/>
              <a:buChar char="●"/>
            </a:pPr>
            <a:r>
              <a:rPr lang="en" b="1" i="1" dirty="0">
                <a:solidFill>
                  <a:srgbClr val="FF0000"/>
                </a:solidFill>
              </a:rPr>
              <a:t>Hold and Wait</a:t>
            </a:r>
            <a:r>
              <a:rPr lang="en" dirty="0">
                <a:solidFill>
                  <a:srgbClr val="FF0000"/>
                </a:solidFill>
              </a:rPr>
              <a:t> </a:t>
            </a:r>
            <a:r>
              <a:rPr lang="en" dirty="0"/>
              <a:t>- a process must hold a lock on one resource while waiting for a lock on some other resource.</a:t>
            </a:r>
            <a:endParaRPr dirty="0"/>
          </a:p>
          <a:p>
            <a:pPr marL="914400" lvl="1" indent="-298450" algn="l" rtl="0">
              <a:spcBef>
                <a:spcPts val="0"/>
              </a:spcBef>
              <a:spcAft>
                <a:spcPts val="0"/>
              </a:spcAft>
              <a:buSzPts val="1100"/>
              <a:buChar char="○"/>
            </a:pPr>
            <a:r>
              <a:rPr lang="en" dirty="0"/>
              <a:t>This is caused when a process attempts to synchronize on two object keys at the same time.</a:t>
            </a:r>
            <a:endParaRPr dirty="0"/>
          </a:p>
          <a:p>
            <a:pPr marL="457200" lvl="0" indent="-311150" algn="l" rtl="0">
              <a:spcBef>
                <a:spcPts val="0"/>
              </a:spcBef>
              <a:spcAft>
                <a:spcPts val="0"/>
              </a:spcAft>
              <a:buSzPts val="1300"/>
              <a:buChar char="●"/>
            </a:pPr>
            <a:r>
              <a:rPr lang="en" b="1" i="1" dirty="0">
                <a:solidFill>
                  <a:srgbClr val="FF0000"/>
                </a:solidFill>
              </a:rPr>
              <a:t>No Preemption</a:t>
            </a:r>
            <a:r>
              <a:rPr lang="en" dirty="0"/>
              <a:t> - there is no mechanism to force a process to relinquish a lock that it holds.</a:t>
            </a:r>
            <a:endParaRPr dirty="0"/>
          </a:p>
          <a:p>
            <a:pPr marL="914400" lvl="1" indent="-298450" algn="l" rtl="0">
              <a:spcBef>
                <a:spcPts val="0"/>
              </a:spcBef>
              <a:spcAft>
                <a:spcPts val="0"/>
              </a:spcAft>
              <a:buSzPts val="1100"/>
              <a:buChar char="○"/>
            </a:pPr>
            <a:r>
              <a:rPr lang="en" dirty="0"/>
              <a:t>In Java there is no mechanism to force a thread that holds a lock to release it.</a:t>
            </a:r>
            <a:endParaRPr dirty="0"/>
          </a:p>
          <a:p>
            <a:pPr marL="457200" lvl="0" indent="-311150" algn="l" rtl="0">
              <a:spcBef>
                <a:spcPts val="0"/>
              </a:spcBef>
              <a:spcAft>
                <a:spcPts val="0"/>
              </a:spcAft>
              <a:buSzPts val="1300"/>
              <a:buChar char="●"/>
            </a:pPr>
            <a:r>
              <a:rPr lang="en" b="1" i="1" dirty="0">
                <a:solidFill>
                  <a:srgbClr val="FF0000"/>
                </a:solidFill>
              </a:rPr>
              <a:t>Circular Wait</a:t>
            </a:r>
            <a:r>
              <a:rPr lang="en" dirty="0"/>
              <a:t> - A process must be waiting for a resource that is being held by another process which in turn is </a:t>
            </a:r>
            <a:r>
              <a:rPr lang="en" b="1" i="1" dirty="0">
                <a:solidFill>
                  <a:srgbClr val="FF0000"/>
                </a:solidFill>
              </a:rPr>
              <a:t>also</a:t>
            </a:r>
            <a:r>
              <a:rPr lang="en" dirty="0">
                <a:solidFill>
                  <a:srgbClr val="FF0000"/>
                </a:solidFill>
              </a:rPr>
              <a:t> </a:t>
            </a:r>
            <a:r>
              <a:rPr lang="en" dirty="0"/>
              <a:t>waiting for a resource held by another process.</a:t>
            </a:r>
            <a:endParaRPr dirty="0"/>
          </a:p>
        </p:txBody>
      </p:sp>
      <p:sp>
        <p:nvSpPr>
          <p:cNvPr id="910" name="Google Shape;910;p73"/>
          <p:cNvSpPr txBox="1">
            <a:spLocks noGrp="1"/>
          </p:cNvSpPr>
          <p:nvPr>
            <p:ph type="body" idx="2"/>
          </p:nvPr>
        </p:nvSpPr>
        <p:spPr>
          <a:xfrm>
            <a:off x="315425" y="1667175"/>
            <a:ext cx="3706500" cy="1828500"/>
          </a:xfrm>
          <a:prstGeom prst="rect">
            <a:avLst/>
          </a:prstGeom>
        </p:spPr>
        <p:txBody>
          <a:bodyPr spcFirstLastPara="1" wrap="square" lIns="91425" tIns="91425" rIns="91425" bIns="91425" anchor="t" anchorCtr="0">
            <a:spAutoFit/>
          </a:bodyPr>
          <a:lstStyle/>
          <a:p>
            <a:pPr marL="457200" lvl="0" indent="-381000" algn="l" rtl="0">
              <a:spcBef>
                <a:spcPts val="0"/>
              </a:spcBef>
              <a:spcAft>
                <a:spcPts val="0"/>
              </a:spcAft>
              <a:buSzPts val="2400"/>
              <a:buChar char="●"/>
            </a:pPr>
            <a:r>
              <a:rPr lang="en" sz="2400" dirty="0"/>
              <a:t>Mutual Exclusion</a:t>
            </a:r>
            <a:endParaRPr sz="2400" dirty="0"/>
          </a:p>
          <a:p>
            <a:pPr marL="457200" lvl="0" indent="-381000" algn="l" rtl="0">
              <a:spcBef>
                <a:spcPts val="0"/>
              </a:spcBef>
              <a:spcAft>
                <a:spcPts val="0"/>
              </a:spcAft>
              <a:buSzPts val="2400"/>
              <a:buChar char="●"/>
            </a:pPr>
            <a:r>
              <a:rPr lang="en" sz="2400" dirty="0"/>
              <a:t>Hold and Wait</a:t>
            </a:r>
            <a:endParaRPr sz="2400" dirty="0"/>
          </a:p>
          <a:p>
            <a:pPr marL="457200" lvl="0" indent="-381000" algn="l" rtl="0">
              <a:spcBef>
                <a:spcPts val="0"/>
              </a:spcBef>
              <a:spcAft>
                <a:spcPts val="0"/>
              </a:spcAft>
              <a:buSzPts val="2400"/>
              <a:buChar char="●"/>
            </a:pPr>
            <a:r>
              <a:rPr lang="en" sz="2400" dirty="0"/>
              <a:t>No Preemption</a:t>
            </a:r>
            <a:endParaRPr sz="2400" dirty="0"/>
          </a:p>
          <a:p>
            <a:pPr marL="457200" lvl="0" indent="-381000" algn="l" rtl="0">
              <a:spcBef>
                <a:spcPts val="0"/>
              </a:spcBef>
              <a:spcAft>
                <a:spcPts val="0"/>
              </a:spcAft>
              <a:buSzPts val="2400"/>
              <a:buChar char="●"/>
            </a:pPr>
            <a:r>
              <a:rPr lang="en" sz="2400" dirty="0"/>
              <a:t>Circular Wait</a:t>
            </a:r>
            <a:endParaRPr sz="2400" dirty="0"/>
          </a:p>
        </p:txBody>
      </p:sp>
      <p:sp>
        <p:nvSpPr>
          <p:cNvPr id="911" name="Google Shape;911;p73"/>
          <p:cNvSpPr txBox="1">
            <a:spLocks noGrp="1"/>
          </p:cNvSpPr>
          <p:nvPr>
            <p:ph type="body" idx="3"/>
          </p:nvPr>
        </p:nvSpPr>
        <p:spPr>
          <a:xfrm>
            <a:off x="315425" y="10416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For deadlock to occur, </a:t>
            </a:r>
            <a:r>
              <a:rPr lang="en" b="1" i="1">
                <a:solidFill>
                  <a:srgbClr val="FF0000"/>
                </a:solidFill>
              </a:rPr>
              <a:t>four </a:t>
            </a:r>
            <a:r>
              <a:rPr lang="en"/>
              <a:t>conditions must be true </a:t>
            </a:r>
            <a:r>
              <a:rPr lang="en" b="1" i="1">
                <a:solidFill>
                  <a:srgbClr val="FF0000"/>
                </a:solidFill>
              </a:rPr>
              <a:t>simultaneously</a:t>
            </a:r>
            <a:r>
              <a:rPr lang="en"/>
              <a:t>.</a:t>
            </a:r>
            <a:endParaRPr/>
          </a:p>
        </p:txBody>
      </p:sp>
      <p:sp>
        <p:nvSpPr>
          <p:cNvPr id="912" name="Google Shape;912;p73"/>
          <p:cNvSpPr txBox="1">
            <a:spLocks noGrp="1"/>
          </p:cNvSpPr>
          <p:nvPr>
            <p:ph type="body" idx="3"/>
          </p:nvPr>
        </p:nvSpPr>
        <p:spPr>
          <a:xfrm>
            <a:off x="315425" y="3556250"/>
            <a:ext cx="3706500" cy="7389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Preventing deadlock means designing a system in which </a:t>
            </a:r>
            <a:r>
              <a:rPr lang="en" b="1" i="1">
                <a:solidFill>
                  <a:srgbClr val="FF0000"/>
                </a:solidFill>
              </a:rPr>
              <a:t>at least one</a:t>
            </a:r>
            <a:r>
              <a:rPr lang="en">
                <a:solidFill>
                  <a:srgbClr val="FF0000"/>
                </a:solidFill>
              </a:rPr>
              <a:t> </a:t>
            </a:r>
            <a:r>
              <a:rPr lang="en"/>
              <a:t>of these conditions is false </a:t>
            </a:r>
            <a:r>
              <a:rPr lang="en" b="1" i="1">
                <a:solidFill>
                  <a:srgbClr val="FF0000"/>
                </a:solidFill>
              </a:rPr>
              <a:t>at all times</a:t>
            </a:r>
            <a:r>
              <a:rPr lang="en"/>
              <a:t>.</a:t>
            </a:r>
            <a:endParaRPr/>
          </a:p>
        </p:txBody>
      </p:sp>
      <p:sp>
        <p:nvSpPr>
          <p:cNvPr id="913" name="Google Shape;913;p73"/>
          <p:cNvSpPr txBox="1">
            <a:spLocks noGrp="1"/>
          </p:cNvSpPr>
          <p:nvPr>
            <p:ph type="body" idx="3"/>
          </p:nvPr>
        </p:nvSpPr>
        <p:spPr>
          <a:xfrm>
            <a:off x="315425" y="43944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best way to accomplish this depends on the problem.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1"/>
                                        </p:tgtEl>
                                        <p:attrNameLst>
                                          <p:attrName>style.visibility</p:attrName>
                                        </p:attrNameLst>
                                      </p:cBhvr>
                                      <p:to>
                                        <p:strVal val="visible"/>
                                      </p:to>
                                    </p:set>
                                    <p:animEffect transition="in" filter="fade">
                                      <p:cBhvr>
                                        <p:cTn id="7" dur="1000"/>
                                        <p:tgtEl>
                                          <p:spTgt spid="911"/>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910">
                                            <p:txEl>
                                              <p:pRg st="0" end="0"/>
                                            </p:txEl>
                                          </p:spTgt>
                                        </p:tgtEl>
                                        <p:attrNameLst>
                                          <p:attrName>style.visibility</p:attrName>
                                        </p:attrNameLst>
                                      </p:cBhvr>
                                      <p:to>
                                        <p:strVal val="visible"/>
                                      </p:to>
                                    </p:set>
                                    <p:animEffect transition="in" filter="fade">
                                      <p:cBhvr>
                                        <p:cTn id="11" dur="1000"/>
                                        <p:tgtEl>
                                          <p:spTgt spid="910">
                                            <p:txEl>
                                              <p:pRg st="0" end="0"/>
                                            </p:txEl>
                                          </p:spTgt>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910">
                                            <p:txEl>
                                              <p:pRg st="1" end="1"/>
                                            </p:txEl>
                                          </p:spTgt>
                                        </p:tgtEl>
                                        <p:attrNameLst>
                                          <p:attrName>style.visibility</p:attrName>
                                        </p:attrNameLst>
                                      </p:cBhvr>
                                      <p:to>
                                        <p:strVal val="visible"/>
                                      </p:to>
                                    </p:set>
                                    <p:animEffect transition="in" filter="fade">
                                      <p:cBhvr>
                                        <p:cTn id="15" dur="1000"/>
                                        <p:tgtEl>
                                          <p:spTgt spid="910">
                                            <p:txEl>
                                              <p:pRg st="1" end="1"/>
                                            </p:txEl>
                                          </p:spTgt>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910">
                                            <p:txEl>
                                              <p:pRg st="2" end="2"/>
                                            </p:txEl>
                                          </p:spTgt>
                                        </p:tgtEl>
                                        <p:attrNameLst>
                                          <p:attrName>style.visibility</p:attrName>
                                        </p:attrNameLst>
                                      </p:cBhvr>
                                      <p:to>
                                        <p:strVal val="visible"/>
                                      </p:to>
                                    </p:set>
                                    <p:animEffect transition="in" filter="fade">
                                      <p:cBhvr>
                                        <p:cTn id="19" dur="1000"/>
                                        <p:tgtEl>
                                          <p:spTgt spid="910">
                                            <p:txEl>
                                              <p:pRg st="2" end="2"/>
                                            </p:txEl>
                                          </p:spTgt>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910">
                                            <p:txEl>
                                              <p:pRg st="3" end="3"/>
                                            </p:txEl>
                                          </p:spTgt>
                                        </p:tgtEl>
                                        <p:attrNameLst>
                                          <p:attrName>style.visibility</p:attrName>
                                        </p:attrNameLst>
                                      </p:cBhvr>
                                      <p:to>
                                        <p:strVal val="visible"/>
                                      </p:to>
                                    </p:set>
                                    <p:animEffect transition="in" filter="fade">
                                      <p:cBhvr>
                                        <p:cTn id="23" dur="1000"/>
                                        <p:tgtEl>
                                          <p:spTgt spid="910">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12"/>
                                        </p:tgtEl>
                                        <p:attrNameLst>
                                          <p:attrName>style.visibility</p:attrName>
                                        </p:attrNameLst>
                                      </p:cBhvr>
                                      <p:to>
                                        <p:strVal val="visible"/>
                                      </p:to>
                                    </p:set>
                                    <p:animEffect transition="in" filter="fade">
                                      <p:cBhvr>
                                        <p:cTn id="28" dur="1000"/>
                                        <p:tgtEl>
                                          <p:spTgt spid="91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913"/>
                                        </p:tgtEl>
                                        <p:attrNameLst>
                                          <p:attrName>style.visibility</p:attrName>
                                        </p:attrNameLst>
                                      </p:cBhvr>
                                      <p:to>
                                        <p:strVal val="visible"/>
                                      </p:to>
                                    </p:set>
                                    <p:animEffect transition="in" filter="fade">
                                      <p:cBhvr>
                                        <p:cTn id="33" dur="1000"/>
                                        <p:tgtEl>
                                          <p:spTgt spid="9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17"/>
        <p:cNvGrpSpPr/>
        <p:nvPr/>
      </p:nvGrpSpPr>
      <p:grpSpPr>
        <a:xfrm>
          <a:off x="0" y="0"/>
          <a:ext cx="0" cy="0"/>
          <a:chOff x="0" y="0"/>
          <a:chExt cx="0" cy="0"/>
        </a:xfrm>
      </p:grpSpPr>
      <p:sp>
        <p:nvSpPr>
          <p:cNvPr id="918" name="Google Shape;918;p74"/>
          <p:cNvSpPr txBox="1">
            <a:spLocks noGrp="1"/>
          </p:cNvSpPr>
          <p:nvPr>
            <p:ph type="title"/>
          </p:nvPr>
        </p:nvSpPr>
        <p:spPr>
          <a:xfrm>
            <a:off x="186407" y="57496"/>
            <a:ext cx="3928800" cy="923400"/>
          </a:xfrm>
          <a:prstGeom prst="rect">
            <a:avLst/>
          </a:prstGeom>
        </p:spPr>
        <p:txBody>
          <a:bodyPr spcFirstLastPara="1" wrap="square" lIns="91425" tIns="91425" rIns="91425" bIns="91425" anchor="t" anchorCtr="0">
            <a:spAutoFit/>
          </a:bodyPr>
          <a:lstStyle/>
          <a:p>
            <a:pPr marL="0" lvl="0" indent="0" algn="l" rtl="0">
              <a:spcBef>
                <a:spcPts val="0"/>
              </a:spcBef>
              <a:spcAft>
                <a:spcPts val="0"/>
              </a:spcAft>
              <a:buNone/>
            </a:pPr>
            <a:r>
              <a:rPr lang="en" sz="2400"/>
              <a:t>Deadlock and The Dining Philosophers*</a:t>
            </a:r>
            <a:endParaRPr sz="2400"/>
          </a:p>
        </p:txBody>
      </p:sp>
      <p:sp>
        <p:nvSpPr>
          <p:cNvPr id="919" name="Google Shape;919;p74"/>
          <p:cNvSpPr txBox="1">
            <a:spLocks noGrp="1"/>
          </p:cNvSpPr>
          <p:nvPr>
            <p:ph type="sldNum" idx="12"/>
          </p:nvPr>
        </p:nvSpPr>
        <p:spPr>
          <a:xfrm>
            <a:off x="8611087" y="47394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43</a:t>
            </a:fld>
            <a:endParaRPr/>
          </a:p>
        </p:txBody>
      </p:sp>
      <p:sp>
        <p:nvSpPr>
          <p:cNvPr id="920" name="Google Shape;920;p74"/>
          <p:cNvSpPr txBox="1">
            <a:spLocks noGrp="1"/>
          </p:cNvSpPr>
          <p:nvPr>
            <p:ph type="body" idx="1"/>
          </p:nvPr>
        </p:nvSpPr>
        <p:spPr>
          <a:xfrm>
            <a:off x="4496300" y="348525"/>
            <a:ext cx="4303500" cy="44322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b="1" i="1" dirty="0">
                <a:solidFill>
                  <a:srgbClr val="FF0000"/>
                </a:solidFill>
                <a:highlight>
                  <a:srgbClr val="FFFF00"/>
                </a:highlight>
              </a:rPr>
              <a:t>Starvation</a:t>
            </a:r>
            <a:r>
              <a:rPr lang="en" dirty="0">
                <a:solidFill>
                  <a:srgbClr val="FF0000"/>
                </a:solidFill>
              </a:rPr>
              <a:t> </a:t>
            </a:r>
            <a:r>
              <a:rPr lang="en" dirty="0"/>
              <a:t>refers to a thread that gets so little time on the processor that it is unable to do its work.</a:t>
            </a:r>
            <a:endParaRPr dirty="0"/>
          </a:p>
          <a:p>
            <a:pPr marL="914400" lvl="1" indent="-298450" algn="l" rtl="0">
              <a:spcBef>
                <a:spcPts val="0"/>
              </a:spcBef>
              <a:spcAft>
                <a:spcPts val="0"/>
              </a:spcAft>
              <a:buSzPts val="1100"/>
              <a:buChar char="○"/>
            </a:pPr>
            <a:r>
              <a:rPr lang="en" b="1" i="1" dirty="0">
                <a:solidFill>
                  <a:srgbClr val="FF0000"/>
                </a:solidFill>
                <a:highlight>
                  <a:srgbClr val="FFFF00"/>
                </a:highlight>
              </a:rPr>
              <a:t>Deadlock</a:t>
            </a:r>
            <a:r>
              <a:rPr lang="en" dirty="0">
                <a:solidFill>
                  <a:srgbClr val="FF0000"/>
                </a:solidFill>
              </a:rPr>
              <a:t> </a:t>
            </a:r>
            <a:r>
              <a:rPr lang="en" dirty="0"/>
              <a:t>is the ultimate form of starvation because a thread is permanently blocked and </a:t>
            </a:r>
            <a:r>
              <a:rPr lang="en" b="1" i="1" dirty="0">
                <a:solidFill>
                  <a:srgbClr val="FF0000"/>
                </a:solidFill>
              </a:rPr>
              <a:t>never</a:t>
            </a:r>
            <a:r>
              <a:rPr lang="en" dirty="0">
                <a:solidFill>
                  <a:srgbClr val="FF0000"/>
                </a:solidFill>
              </a:rPr>
              <a:t> </a:t>
            </a:r>
            <a:r>
              <a:rPr lang="en" dirty="0"/>
              <a:t>gets time on the processor.</a:t>
            </a:r>
            <a:endParaRPr dirty="0"/>
          </a:p>
          <a:p>
            <a:pPr marL="457200" lvl="0" indent="-311150" algn="l" rtl="0">
              <a:spcBef>
                <a:spcPts val="0"/>
              </a:spcBef>
              <a:spcAft>
                <a:spcPts val="0"/>
              </a:spcAft>
              <a:buSzPts val="1300"/>
              <a:buChar char="●"/>
            </a:pPr>
            <a:r>
              <a:rPr lang="en" dirty="0"/>
              <a:t>The </a:t>
            </a:r>
            <a:r>
              <a:rPr lang="en" b="1" i="1" dirty="0">
                <a:solidFill>
                  <a:srgbClr val="FF0000"/>
                </a:solidFill>
              </a:rPr>
              <a:t>Dining Philosopher Problem</a:t>
            </a:r>
            <a:r>
              <a:rPr lang="en" dirty="0"/>
              <a:t> is a classic problem involving starvation and deadlock.</a:t>
            </a:r>
            <a:endParaRPr dirty="0"/>
          </a:p>
          <a:p>
            <a:pPr marL="914400" lvl="1" indent="-298450" algn="l" rtl="0">
              <a:spcBef>
                <a:spcPts val="0"/>
              </a:spcBef>
              <a:spcAft>
                <a:spcPts val="0"/>
              </a:spcAft>
              <a:buSzPts val="1100"/>
              <a:buChar char="○"/>
            </a:pPr>
            <a:r>
              <a:rPr lang="en" dirty="0"/>
              <a:t>There are </a:t>
            </a:r>
            <a:r>
              <a:rPr lang="en" b="1" i="1" dirty="0">
                <a:solidFill>
                  <a:srgbClr val="FF0000"/>
                </a:solidFill>
              </a:rPr>
              <a:t>five philosophers</a:t>
            </a:r>
            <a:r>
              <a:rPr lang="en" dirty="0"/>
              <a:t> seated around a table.</a:t>
            </a:r>
            <a:endParaRPr dirty="0"/>
          </a:p>
          <a:p>
            <a:pPr marL="914400" lvl="1" indent="-298450" algn="l" rtl="0">
              <a:spcBef>
                <a:spcPts val="0"/>
              </a:spcBef>
              <a:spcAft>
                <a:spcPts val="0"/>
              </a:spcAft>
              <a:buSzPts val="1100"/>
              <a:buChar char="○"/>
            </a:pPr>
            <a:r>
              <a:rPr lang="en" dirty="0"/>
              <a:t>Each philosopher has a </a:t>
            </a:r>
            <a:r>
              <a:rPr lang="en" b="1" i="1" dirty="0">
                <a:solidFill>
                  <a:srgbClr val="FF0000"/>
                </a:solidFill>
              </a:rPr>
              <a:t>bowl of rice</a:t>
            </a:r>
            <a:r>
              <a:rPr lang="en" dirty="0"/>
              <a:t> in front of them and needs </a:t>
            </a:r>
            <a:r>
              <a:rPr lang="en" b="1" i="1" dirty="0">
                <a:solidFill>
                  <a:srgbClr val="FF0000"/>
                </a:solidFill>
              </a:rPr>
              <a:t>two chopsticks</a:t>
            </a:r>
            <a:r>
              <a:rPr lang="en" dirty="0"/>
              <a:t> to eat some of the rice.</a:t>
            </a:r>
            <a:endParaRPr dirty="0"/>
          </a:p>
          <a:p>
            <a:pPr marL="914400" lvl="1" indent="-298450" algn="l" rtl="0">
              <a:spcBef>
                <a:spcPts val="0"/>
              </a:spcBef>
              <a:spcAft>
                <a:spcPts val="0"/>
              </a:spcAft>
              <a:buSzPts val="1100"/>
              <a:buChar char="○"/>
            </a:pPr>
            <a:r>
              <a:rPr lang="en" dirty="0"/>
              <a:t>There is </a:t>
            </a:r>
            <a:r>
              <a:rPr lang="en" b="1" i="1" dirty="0">
                <a:solidFill>
                  <a:srgbClr val="FF0000"/>
                </a:solidFill>
              </a:rPr>
              <a:t>one chopstick</a:t>
            </a:r>
            <a:r>
              <a:rPr lang="en" i="1" dirty="0"/>
              <a:t> </a:t>
            </a:r>
            <a:r>
              <a:rPr lang="en" dirty="0"/>
              <a:t>between each pair of philosophers, meaning that the philosophers must </a:t>
            </a:r>
            <a:r>
              <a:rPr lang="en" b="1" i="1" dirty="0">
                <a:solidFill>
                  <a:srgbClr val="FF0000"/>
                </a:solidFill>
              </a:rPr>
              <a:t>share</a:t>
            </a:r>
            <a:r>
              <a:rPr lang="en" dirty="0"/>
              <a:t>.</a:t>
            </a:r>
            <a:endParaRPr dirty="0"/>
          </a:p>
          <a:p>
            <a:pPr marL="914400" lvl="1" indent="-298450" algn="l" rtl="0">
              <a:spcBef>
                <a:spcPts val="0"/>
              </a:spcBef>
              <a:spcAft>
                <a:spcPts val="0"/>
              </a:spcAft>
              <a:buSzPts val="1100"/>
              <a:buChar char="○"/>
            </a:pPr>
            <a:r>
              <a:rPr lang="en" dirty="0"/>
              <a:t>If a philosopher goes too long without eating, they will </a:t>
            </a:r>
            <a:r>
              <a:rPr lang="en" b="1" i="1" dirty="0">
                <a:solidFill>
                  <a:srgbClr val="FF0000"/>
                </a:solidFill>
              </a:rPr>
              <a:t>starve</a:t>
            </a:r>
            <a:r>
              <a:rPr lang="en" dirty="0"/>
              <a:t>.</a:t>
            </a:r>
            <a:endParaRPr dirty="0"/>
          </a:p>
          <a:p>
            <a:pPr marL="457200" lvl="0" indent="-311150" algn="l" rtl="0">
              <a:spcBef>
                <a:spcPts val="0"/>
              </a:spcBef>
              <a:spcAft>
                <a:spcPts val="0"/>
              </a:spcAft>
              <a:buSzPts val="1300"/>
              <a:buChar char="●"/>
            </a:pPr>
            <a:r>
              <a:rPr lang="en" dirty="0"/>
              <a:t>How do the philosophers choose chopsticks in a way that will not cause one or more of their fellow philosophers to </a:t>
            </a:r>
            <a:r>
              <a:rPr lang="en" b="1" i="1" dirty="0">
                <a:solidFill>
                  <a:srgbClr val="FF0000"/>
                </a:solidFill>
              </a:rPr>
              <a:t>starve</a:t>
            </a:r>
            <a:r>
              <a:rPr lang="en" dirty="0"/>
              <a:t>?</a:t>
            </a:r>
            <a:endParaRPr dirty="0"/>
          </a:p>
          <a:p>
            <a:pPr marL="0" lvl="0" indent="0" algn="l" rtl="0">
              <a:spcBef>
                <a:spcPts val="1600"/>
              </a:spcBef>
              <a:spcAft>
                <a:spcPts val="1600"/>
              </a:spcAft>
              <a:buNone/>
            </a:pPr>
            <a:endParaRPr dirty="0"/>
          </a:p>
        </p:txBody>
      </p:sp>
      <p:sp>
        <p:nvSpPr>
          <p:cNvPr id="921" name="Google Shape;921;p74"/>
          <p:cNvSpPr txBox="1">
            <a:spLocks noGrp="1"/>
          </p:cNvSpPr>
          <p:nvPr>
            <p:ph type="body" idx="3"/>
          </p:nvPr>
        </p:nvSpPr>
        <p:spPr>
          <a:xfrm>
            <a:off x="315425" y="4394450"/>
            <a:ext cx="3706500" cy="5541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If you are interested in the solution to this problem, you should check out </a:t>
            </a:r>
            <a:r>
              <a:rPr lang="en" u="sng">
                <a:solidFill>
                  <a:srgbClr val="4A86E8"/>
                </a:solidFill>
                <a:hlinkClick r:id="rId3">
                  <a:extLst>
                    <a:ext uri="{A12FA001-AC4F-418D-AE19-62706E023703}">
                      <ahyp:hlinkClr xmlns:ahyp="http://schemas.microsoft.com/office/drawing/2018/hyperlinkcolor" val="tx"/>
                    </a:ext>
                  </a:extLst>
                </a:hlinkClick>
              </a:rPr>
              <a:t>this great explanation</a:t>
            </a:r>
            <a:r>
              <a:rPr lang="en"/>
              <a:t>.</a:t>
            </a:r>
            <a:endParaRPr/>
          </a:p>
        </p:txBody>
      </p:sp>
      <p:sp>
        <p:nvSpPr>
          <p:cNvPr id="922" name="Google Shape;922;p74"/>
          <p:cNvSpPr/>
          <p:nvPr/>
        </p:nvSpPr>
        <p:spPr>
          <a:xfrm>
            <a:off x="974250" y="1345280"/>
            <a:ext cx="2318700" cy="2203800"/>
          </a:xfrm>
          <a:prstGeom prst="pentagon">
            <a:avLst>
              <a:gd name="hf" fmla="val 105146"/>
              <a:gd name="vf" fmla="val 110557"/>
            </a:avLst>
          </a:prstGeom>
          <a:solidFill>
            <a:srgbClr val="999999"/>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3" name="Google Shape;923;p74"/>
          <p:cNvGrpSpPr/>
          <p:nvPr/>
        </p:nvGrpSpPr>
        <p:grpSpPr>
          <a:xfrm>
            <a:off x="473525" y="1160205"/>
            <a:ext cx="3265750" cy="3115250"/>
            <a:chOff x="1540325" y="1367250"/>
            <a:chExt cx="3265750" cy="3115250"/>
          </a:xfrm>
        </p:grpSpPr>
        <p:sp>
          <p:nvSpPr>
            <p:cNvPr id="924" name="Google Shape;924;p74"/>
            <p:cNvSpPr/>
            <p:nvPr/>
          </p:nvSpPr>
          <p:spPr>
            <a:xfrm>
              <a:off x="3793650" y="1367250"/>
              <a:ext cx="566100" cy="566100"/>
            </a:xfrm>
            <a:prstGeom prst="smileyFace">
              <a:avLst>
                <a:gd name="adj" fmla="val 4653"/>
              </a:avLst>
            </a:prstGeom>
            <a:solidFill>
              <a:srgbClr val="FFFF00"/>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74"/>
            <p:cNvSpPr/>
            <p:nvPr/>
          </p:nvSpPr>
          <p:spPr>
            <a:xfrm>
              <a:off x="4239975" y="2910650"/>
              <a:ext cx="566100" cy="566100"/>
            </a:xfrm>
            <a:prstGeom prst="smileyFace">
              <a:avLst>
                <a:gd name="adj" fmla="val 4653"/>
              </a:avLst>
            </a:prstGeom>
            <a:solidFill>
              <a:srgbClr val="FFFF00"/>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 name="Google Shape;926;p74"/>
            <p:cNvSpPr/>
            <p:nvPr/>
          </p:nvSpPr>
          <p:spPr>
            <a:xfrm>
              <a:off x="2890150" y="3916400"/>
              <a:ext cx="566100" cy="566100"/>
            </a:xfrm>
            <a:prstGeom prst="smileyFace">
              <a:avLst>
                <a:gd name="adj" fmla="val 4653"/>
              </a:avLst>
            </a:prstGeom>
            <a:solidFill>
              <a:srgbClr val="FFFF00"/>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74"/>
            <p:cNvSpPr/>
            <p:nvPr/>
          </p:nvSpPr>
          <p:spPr>
            <a:xfrm>
              <a:off x="1540325" y="2967450"/>
              <a:ext cx="566100" cy="566100"/>
            </a:xfrm>
            <a:prstGeom prst="smileyFace">
              <a:avLst>
                <a:gd name="adj" fmla="val 4653"/>
              </a:avLst>
            </a:prstGeom>
            <a:solidFill>
              <a:srgbClr val="FFFF00"/>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74"/>
            <p:cNvSpPr/>
            <p:nvPr/>
          </p:nvSpPr>
          <p:spPr>
            <a:xfrm>
              <a:off x="1975725" y="1367250"/>
              <a:ext cx="566100" cy="566100"/>
            </a:xfrm>
            <a:prstGeom prst="smileyFace">
              <a:avLst>
                <a:gd name="adj" fmla="val 4653"/>
              </a:avLst>
            </a:prstGeom>
            <a:solidFill>
              <a:srgbClr val="FFFF00"/>
            </a:solidFill>
            <a:ln w="9525" cap="flat" cmpd="sng">
              <a:solidFill>
                <a:srgbClr val="42424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 name="Google Shape;929;p74"/>
          <p:cNvGrpSpPr/>
          <p:nvPr/>
        </p:nvGrpSpPr>
        <p:grpSpPr>
          <a:xfrm>
            <a:off x="1195164" y="1812373"/>
            <a:ext cx="1869799" cy="1607050"/>
            <a:chOff x="2261964" y="2019419"/>
            <a:chExt cx="1869799" cy="1607050"/>
          </a:xfrm>
        </p:grpSpPr>
        <p:pic>
          <p:nvPicPr>
            <p:cNvPr id="930" name="Google Shape;930;p74" descr="bowl of rice.png"/>
            <p:cNvPicPr preferRelativeResize="0"/>
            <p:nvPr/>
          </p:nvPicPr>
          <p:blipFill>
            <a:blip r:embed="rId4">
              <a:alphaModFix/>
            </a:blip>
            <a:stretch>
              <a:fillRect/>
            </a:stretch>
          </p:blipFill>
          <p:spPr>
            <a:xfrm>
              <a:off x="2261964" y="2722219"/>
              <a:ext cx="499675" cy="419150"/>
            </a:xfrm>
            <a:prstGeom prst="rect">
              <a:avLst/>
            </a:prstGeom>
            <a:noFill/>
            <a:ln>
              <a:noFill/>
            </a:ln>
          </p:spPr>
        </p:pic>
        <p:pic>
          <p:nvPicPr>
            <p:cNvPr id="931" name="Google Shape;931;p74" descr="bowl of rice.png"/>
            <p:cNvPicPr preferRelativeResize="0"/>
            <p:nvPr/>
          </p:nvPicPr>
          <p:blipFill>
            <a:blip r:embed="rId4">
              <a:alphaModFix/>
            </a:blip>
            <a:stretch>
              <a:fillRect/>
            </a:stretch>
          </p:blipFill>
          <p:spPr>
            <a:xfrm>
              <a:off x="2923351" y="3207319"/>
              <a:ext cx="499675" cy="419150"/>
            </a:xfrm>
            <a:prstGeom prst="rect">
              <a:avLst/>
            </a:prstGeom>
            <a:noFill/>
            <a:ln>
              <a:noFill/>
            </a:ln>
          </p:spPr>
        </p:pic>
        <p:pic>
          <p:nvPicPr>
            <p:cNvPr id="932" name="Google Shape;932;p74" descr="bowl of rice.png"/>
            <p:cNvPicPr preferRelativeResize="0"/>
            <p:nvPr/>
          </p:nvPicPr>
          <p:blipFill>
            <a:blip r:embed="rId4">
              <a:alphaModFix/>
            </a:blip>
            <a:stretch>
              <a:fillRect/>
            </a:stretch>
          </p:blipFill>
          <p:spPr>
            <a:xfrm>
              <a:off x="3632088" y="2731211"/>
              <a:ext cx="499675" cy="419150"/>
            </a:xfrm>
            <a:prstGeom prst="rect">
              <a:avLst/>
            </a:prstGeom>
            <a:noFill/>
            <a:ln>
              <a:noFill/>
            </a:ln>
          </p:spPr>
        </p:pic>
        <p:pic>
          <p:nvPicPr>
            <p:cNvPr id="933" name="Google Shape;933;p74" descr="bowl of rice.png"/>
            <p:cNvPicPr preferRelativeResize="0"/>
            <p:nvPr/>
          </p:nvPicPr>
          <p:blipFill>
            <a:blip r:embed="rId4">
              <a:alphaModFix/>
            </a:blip>
            <a:stretch>
              <a:fillRect/>
            </a:stretch>
          </p:blipFill>
          <p:spPr>
            <a:xfrm>
              <a:off x="3423014" y="2019419"/>
              <a:ext cx="499675" cy="419150"/>
            </a:xfrm>
            <a:prstGeom prst="rect">
              <a:avLst/>
            </a:prstGeom>
            <a:noFill/>
            <a:ln>
              <a:noFill/>
            </a:ln>
          </p:spPr>
        </p:pic>
        <p:pic>
          <p:nvPicPr>
            <p:cNvPr id="934" name="Google Shape;934;p74" descr="bowl of rice.png"/>
            <p:cNvPicPr preferRelativeResize="0"/>
            <p:nvPr/>
          </p:nvPicPr>
          <p:blipFill>
            <a:blip r:embed="rId4">
              <a:alphaModFix/>
            </a:blip>
            <a:stretch>
              <a:fillRect/>
            </a:stretch>
          </p:blipFill>
          <p:spPr>
            <a:xfrm>
              <a:off x="2475914" y="2019419"/>
              <a:ext cx="499675" cy="419150"/>
            </a:xfrm>
            <a:prstGeom prst="rect">
              <a:avLst/>
            </a:prstGeom>
            <a:noFill/>
            <a:ln>
              <a:noFill/>
            </a:ln>
          </p:spPr>
        </p:pic>
      </p:grpSp>
      <p:grpSp>
        <p:nvGrpSpPr>
          <p:cNvPr id="935" name="Google Shape;935;p74"/>
          <p:cNvGrpSpPr/>
          <p:nvPr/>
        </p:nvGrpSpPr>
        <p:grpSpPr>
          <a:xfrm>
            <a:off x="743436" y="1004017"/>
            <a:ext cx="2777250" cy="2896544"/>
            <a:chOff x="1810236" y="1211062"/>
            <a:chExt cx="2777250" cy="2896544"/>
          </a:xfrm>
        </p:grpSpPr>
        <p:pic>
          <p:nvPicPr>
            <p:cNvPr id="936" name="Google Shape;936;p74" descr="chopstick.png"/>
            <p:cNvPicPr preferRelativeResize="0"/>
            <p:nvPr/>
          </p:nvPicPr>
          <p:blipFill>
            <a:blip r:embed="rId5">
              <a:alphaModFix/>
            </a:blip>
            <a:stretch>
              <a:fillRect/>
            </a:stretch>
          </p:blipFill>
          <p:spPr>
            <a:xfrm rot="-7380993">
              <a:off x="4241875" y="2078925"/>
              <a:ext cx="114600" cy="613201"/>
            </a:xfrm>
            <a:prstGeom prst="rect">
              <a:avLst/>
            </a:prstGeom>
            <a:noFill/>
            <a:ln>
              <a:noFill/>
            </a:ln>
          </p:spPr>
        </p:pic>
        <p:pic>
          <p:nvPicPr>
            <p:cNvPr id="937" name="Google Shape;937;p74" descr="chopstick.png"/>
            <p:cNvPicPr preferRelativeResize="0"/>
            <p:nvPr/>
          </p:nvPicPr>
          <p:blipFill>
            <a:blip r:embed="rId5">
              <a:alphaModFix/>
            </a:blip>
            <a:stretch>
              <a:fillRect/>
            </a:stretch>
          </p:blipFill>
          <p:spPr>
            <a:xfrm rot="-2017497">
              <a:off x="3898350" y="3513975"/>
              <a:ext cx="114600" cy="613201"/>
            </a:xfrm>
            <a:prstGeom prst="rect">
              <a:avLst/>
            </a:prstGeom>
            <a:noFill/>
            <a:ln>
              <a:noFill/>
            </a:ln>
          </p:spPr>
        </p:pic>
        <p:pic>
          <p:nvPicPr>
            <p:cNvPr id="938" name="Google Shape;938;p74" descr="chopstick.png"/>
            <p:cNvPicPr preferRelativeResize="0"/>
            <p:nvPr/>
          </p:nvPicPr>
          <p:blipFill>
            <a:blip r:embed="rId5">
              <a:alphaModFix/>
            </a:blip>
            <a:stretch>
              <a:fillRect/>
            </a:stretch>
          </p:blipFill>
          <p:spPr>
            <a:xfrm rot="2245405">
              <a:off x="2387525" y="3513962"/>
              <a:ext cx="114600" cy="613202"/>
            </a:xfrm>
            <a:prstGeom prst="rect">
              <a:avLst/>
            </a:prstGeom>
            <a:noFill/>
            <a:ln>
              <a:noFill/>
            </a:ln>
          </p:spPr>
        </p:pic>
        <p:pic>
          <p:nvPicPr>
            <p:cNvPr id="939" name="Google Shape;939;p74" descr="chopstick.png"/>
            <p:cNvPicPr preferRelativeResize="0"/>
            <p:nvPr/>
          </p:nvPicPr>
          <p:blipFill>
            <a:blip r:embed="rId5">
              <a:alphaModFix/>
            </a:blip>
            <a:stretch>
              <a:fillRect/>
            </a:stretch>
          </p:blipFill>
          <p:spPr>
            <a:xfrm rot="7530493">
              <a:off x="2035800" y="2021187"/>
              <a:ext cx="114600" cy="613202"/>
            </a:xfrm>
            <a:prstGeom prst="rect">
              <a:avLst/>
            </a:prstGeom>
            <a:noFill/>
            <a:ln>
              <a:noFill/>
            </a:ln>
          </p:spPr>
        </p:pic>
        <p:pic>
          <p:nvPicPr>
            <p:cNvPr id="940" name="Google Shape;940;p74" descr="chopstick.png"/>
            <p:cNvPicPr preferRelativeResize="0"/>
            <p:nvPr/>
          </p:nvPicPr>
          <p:blipFill>
            <a:blip r:embed="rId5">
              <a:alphaModFix/>
            </a:blip>
            <a:stretch>
              <a:fillRect/>
            </a:stretch>
          </p:blipFill>
          <p:spPr>
            <a:xfrm rot="10799996">
              <a:off x="3143100" y="1211062"/>
              <a:ext cx="114600" cy="613202"/>
            </a:xfrm>
            <a:prstGeom prst="rect">
              <a:avLst/>
            </a:prstGeom>
            <a:noFill/>
            <a:ln>
              <a:noFill/>
            </a:ln>
          </p:spPr>
        </p:pic>
      </p:grpSp>
      <p:sp>
        <p:nvSpPr>
          <p:cNvPr id="941" name="Google Shape;941;p74"/>
          <p:cNvSpPr txBox="1"/>
          <p:nvPr/>
        </p:nvSpPr>
        <p:spPr>
          <a:xfrm>
            <a:off x="6612000" y="4778875"/>
            <a:ext cx="2223900" cy="3387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1000">
                <a:latin typeface="Roboto"/>
                <a:ea typeface="Roboto"/>
                <a:cs typeface="Roboto"/>
                <a:sym typeface="Roboto"/>
              </a:rPr>
              <a:t>* A great name for a band.</a:t>
            </a:r>
            <a:endParaRPr sz="1000">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21"/>
                                        </p:tgtEl>
                                        <p:attrNameLst>
                                          <p:attrName>style.visibility</p:attrName>
                                        </p:attrNameLst>
                                      </p:cBhvr>
                                      <p:to>
                                        <p:strVal val="visible"/>
                                      </p:to>
                                    </p:set>
                                    <p:animEffect transition="in" filter="fade">
                                      <p:cBhvr>
                                        <p:cTn id="7" dur="1000"/>
                                        <p:tgtEl>
                                          <p:spTgt spid="9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45"/>
        <p:cNvGrpSpPr/>
        <p:nvPr/>
      </p:nvGrpSpPr>
      <p:grpSpPr>
        <a:xfrm>
          <a:off x="0" y="0"/>
          <a:ext cx="0" cy="0"/>
          <a:chOff x="0" y="0"/>
          <a:chExt cx="0" cy="0"/>
        </a:xfrm>
      </p:grpSpPr>
      <p:sp>
        <p:nvSpPr>
          <p:cNvPr id="946" name="Google Shape;946;p7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Sleep vs. AwaitTermination vs. Wait vs. Notify</a:t>
            </a:r>
            <a:endParaRPr/>
          </a:p>
        </p:txBody>
      </p:sp>
      <p:sp>
        <p:nvSpPr>
          <p:cNvPr id="947" name="Google Shape;947;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44</a:t>
            </a:fld>
            <a:endParaRPr/>
          </a:p>
        </p:txBody>
      </p:sp>
      <p:graphicFrame>
        <p:nvGraphicFramePr>
          <p:cNvPr id="948" name="Google Shape;948;p75"/>
          <p:cNvGraphicFramePr/>
          <p:nvPr/>
        </p:nvGraphicFramePr>
        <p:xfrm>
          <a:off x="125725" y="1541200"/>
          <a:ext cx="8816750" cy="2986835"/>
        </p:xfrm>
        <a:graphic>
          <a:graphicData uri="http://schemas.openxmlformats.org/drawingml/2006/table">
            <a:tbl>
              <a:tblPr>
                <a:noFill/>
                <a:tableStyleId>{A3C27BF0-B3C6-4F0B-BACD-D61DAA286B7A}</a:tableStyleId>
              </a:tblPr>
              <a:tblGrid>
                <a:gridCol w="1763350">
                  <a:extLst>
                    <a:ext uri="{9D8B030D-6E8A-4147-A177-3AD203B41FA5}">
                      <a16:colId xmlns:a16="http://schemas.microsoft.com/office/drawing/2014/main" val="20000"/>
                    </a:ext>
                  </a:extLst>
                </a:gridCol>
                <a:gridCol w="1763350">
                  <a:extLst>
                    <a:ext uri="{9D8B030D-6E8A-4147-A177-3AD203B41FA5}">
                      <a16:colId xmlns:a16="http://schemas.microsoft.com/office/drawing/2014/main" val="20001"/>
                    </a:ext>
                  </a:extLst>
                </a:gridCol>
                <a:gridCol w="1763350">
                  <a:extLst>
                    <a:ext uri="{9D8B030D-6E8A-4147-A177-3AD203B41FA5}">
                      <a16:colId xmlns:a16="http://schemas.microsoft.com/office/drawing/2014/main" val="20002"/>
                    </a:ext>
                  </a:extLst>
                </a:gridCol>
                <a:gridCol w="1763350">
                  <a:extLst>
                    <a:ext uri="{9D8B030D-6E8A-4147-A177-3AD203B41FA5}">
                      <a16:colId xmlns:a16="http://schemas.microsoft.com/office/drawing/2014/main" val="20003"/>
                    </a:ext>
                  </a:extLst>
                </a:gridCol>
                <a:gridCol w="1763350">
                  <a:extLst>
                    <a:ext uri="{9D8B030D-6E8A-4147-A177-3AD203B41FA5}">
                      <a16:colId xmlns:a16="http://schemas.microsoft.com/office/drawing/2014/main" val="20004"/>
                    </a:ext>
                  </a:extLst>
                </a:gridCol>
              </a:tblGrid>
              <a:tr h="396200">
                <a:tc>
                  <a:txBody>
                    <a:bodyPr/>
                    <a:lstStyle/>
                    <a:p>
                      <a:pPr marL="0" lvl="0" indent="0" algn="l" rtl="0">
                        <a:spcBef>
                          <a:spcPts val="0"/>
                        </a:spcBef>
                        <a:spcAft>
                          <a:spcPts val="0"/>
                        </a:spcAft>
                        <a:buNone/>
                      </a:pP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solidFill>
                            <a:srgbClr val="FFFFFF"/>
                          </a:solidFill>
                        </a:rPr>
                        <a:t>Sleep</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solidFill>
                            <a:srgbClr val="FFFFFF"/>
                          </a:solidFill>
                        </a:rPr>
                        <a:t>AwaitTermination</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dirty="0">
                          <a:solidFill>
                            <a:srgbClr val="FFFFFF"/>
                          </a:solidFill>
                        </a:rPr>
                        <a:t>Wait</a:t>
                      </a:r>
                      <a:endParaRPr dirty="0">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solidFill>
                            <a:srgbClr val="FFFFFF"/>
                          </a:solidFill>
                        </a:rPr>
                        <a:t>Notify</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96200">
                <a:tc>
                  <a:txBody>
                    <a:bodyPr/>
                    <a:lstStyle/>
                    <a:p>
                      <a:pPr marL="0" lvl="0" indent="0" algn="l" rtl="0">
                        <a:spcBef>
                          <a:spcPts val="0"/>
                        </a:spcBef>
                        <a:spcAft>
                          <a:spcPts val="0"/>
                        </a:spcAft>
                        <a:buNone/>
                      </a:pPr>
                      <a:r>
                        <a:rPr lang="en">
                          <a:solidFill>
                            <a:srgbClr val="FFFFFF"/>
                          </a:solidFill>
                        </a:rPr>
                        <a:t>Called on...</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dirty="0"/>
                        <a:t>Thread class</a:t>
                      </a:r>
                      <a:endParaRPr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dirty="0"/>
                        <a:t>Executor</a:t>
                      </a:r>
                      <a:endParaRPr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dirty="0"/>
                        <a:t>A Condition</a:t>
                      </a:r>
                      <a:endParaRPr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a:t>A Condition</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09575">
                <a:tc>
                  <a:txBody>
                    <a:bodyPr/>
                    <a:lstStyle/>
                    <a:p>
                      <a:pPr marL="0" lvl="0" indent="0" algn="l" rtl="0">
                        <a:spcBef>
                          <a:spcPts val="0"/>
                        </a:spcBef>
                        <a:spcAft>
                          <a:spcPts val="0"/>
                        </a:spcAft>
                        <a:buNone/>
                      </a:pPr>
                      <a:r>
                        <a:rPr lang="en">
                          <a:solidFill>
                            <a:srgbClr val="FFFFFF"/>
                          </a:solidFill>
                        </a:rPr>
                        <a:t>For Example</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sz="1200">
                          <a:latin typeface="Courier New"/>
                          <a:ea typeface="Courier New"/>
                          <a:cs typeface="Courier New"/>
                          <a:sym typeface="Courier New"/>
                        </a:rPr>
                        <a:t>Thread.sleep(5)</a:t>
                      </a:r>
                      <a:endParaRPr sz="1200">
                        <a:latin typeface="Courier New"/>
                        <a:ea typeface="Courier New"/>
                        <a:cs typeface="Courier New"/>
                        <a:sym typeface="Courier New"/>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50" dirty="0">
                          <a:latin typeface="Courier New"/>
                          <a:ea typeface="Courier New"/>
                          <a:cs typeface="Courier New"/>
                          <a:sym typeface="Courier New"/>
                        </a:rPr>
                        <a:t>es.</a:t>
                      </a:r>
                      <a:endParaRPr sz="1150" dirty="0">
                        <a:latin typeface="Courier New"/>
                        <a:ea typeface="Courier New"/>
                        <a:cs typeface="Courier New"/>
                        <a:sym typeface="Courier New"/>
                      </a:endParaRPr>
                    </a:p>
                    <a:p>
                      <a:pPr marL="0" lvl="0" indent="0" algn="ctr" rtl="0">
                        <a:spcBef>
                          <a:spcPts val="0"/>
                        </a:spcBef>
                        <a:spcAft>
                          <a:spcPts val="0"/>
                        </a:spcAft>
                        <a:buNone/>
                      </a:pPr>
                      <a:r>
                        <a:rPr lang="en" sz="1150" dirty="0">
                          <a:latin typeface="Courier New"/>
                          <a:ea typeface="Courier New"/>
                          <a:cs typeface="Courier New"/>
                          <a:sym typeface="Courier New"/>
                        </a:rPr>
                        <a:t>awaitTermination()</a:t>
                      </a:r>
                      <a:endParaRPr sz="1150" dirty="0">
                        <a:latin typeface="Courier New"/>
                        <a:ea typeface="Courier New"/>
                        <a:cs typeface="Courier New"/>
                        <a:sym typeface="Courier New"/>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200" dirty="0">
                          <a:latin typeface="Courier New"/>
                          <a:ea typeface="Courier New"/>
                          <a:cs typeface="Courier New"/>
                          <a:sym typeface="Courier New"/>
                        </a:rPr>
                        <a:t>condition.awaitUninterruptibly()</a:t>
                      </a:r>
                      <a:endParaRPr sz="1200" dirty="0">
                        <a:latin typeface="Courier New"/>
                        <a:ea typeface="Courier New"/>
                        <a:cs typeface="Courier New"/>
                        <a:sym typeface="Courier New"/>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50" dirty="0">
                          <a:latin typeface="Courier New"/>
                          <a:ea typeface="Courier New"/>
                          <a:cs typeface="Courier New"/>
                          <a:sym typeface="Courier New"/>
                        </a:rPr>
                        <a:t>condtn.signal()</a:t>
                      </a:r>
                      <a:endParaRPr sz="1150" dirty="0">
                        <a:latin typeface="Courier New"/>
                        <a:ea typeface="Courier New"/>
                        <a:cs typeface="Courier New"/>
                        <a:sym typeface="Courier New"/>
                      </a:endParaRPr>
                    </a:p>
                    <a:p>
                      <a:pPr marL="0" lvl="0" indent="0" algn="ctr" rtl="0">
                        <a:spcBef>
                          <a:spcPts val="0"/>
                        </a:spcBef>
                        <a:spcAft>
                          <a:spcPts val="0"/>
                        </a:spcAft>
                        <a:buNone/>
                      </a:pPr>
                      <a:r>
                        <a:rPr lang="en" sz="1150" dirty="0">
                          <a:latin typeface="Courier New"/>
                          <a:ea typeface="Courier New"/>
                          <a:cs typeface="Courier New"/>
                          <a:sym typeface="Courier New"/>
                        </a:rPr>
                        <a:t>condtn.signalAll()</a:t>
                      </a:r>
                      <a:endParaRPr sz="1150" dirty="0">
                        <a:latin typeface="Courier New"/>
                        <a:ea typeface="Courier New"/>
                        <a:cs typeface="Courier New"/>
                        <a:sym typeface="Courier New"/>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r>
                        <a:rPr lang="en">
                          <a:solidFill>
                            <a:srgbClr val="FFFFFF"/>
                          </a:solidFill>
                        </a:rPr>
                        <a:t>Waiting for...</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a:t>Time to pass</a:t>
                      </a: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dirty="0"/>
                        <a:t>Thread to die</a:t>
                      </a:r>
                      <a:endParaRPr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dirty="0"/>
                        <a:t>Notify/Notify All</a:t>
                      </a:r>
                      <a:endParaRPr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i="1" dirty="0"/>
                        <a:t>NA</a:t>
                      </a:r>
                      <a:endParaRPr i="1"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B7B7B7"/>
                    </a:solidFill>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r>
                        <a:rPr lang="en">
                          <a:solidFill>
                            <a:srgbClr val="FFFFFF"/>
                          </a:solidFill>
                        </a:rPr>
                        <a:t>Requires a lock?</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0000"/>
                          </a:solidFill>
                        </a:rPr>
                        <a:t>No</a:t>
                      </a:r>
                      <a:endParaRPr b="1">
                        <a:solidFill>
                          <a:srgbClr val="FF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rgbClr val="FF0000"/>
                          </a:solidFill>
                        </a:rPr>
                        <a:t>No</a:t>
                      </a:r>
                      <a:endParaRPr b="1">
                        <a:solidFill>
                          <a:srgbClr val="FF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rgbClr val="6AA84F"/>
                          </a:solidFill>
                        </a:rPr>
                        <a:t>Yes</a:t>
                      </a:r>
                      <a:endParaRPr b="1">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dirty="0">
                          <a:solidFill>
                            <a:srgbClr val="6AA84F"/>
                          </a:solidFill>
                        </a:rPr>
                        <a:t>Yes</a:t>
                      </a:r>
                      <a:endParaRPr b="1" dirty="0">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r>
                        <a:rPr lang="en">
                          <a:solidFill>
                            <a:srgbClr val="FFFFFF"/>
                          </a:solidFill>
                        </a:rPr>
                        <a:t>Gives up the lock?</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a:solidFill>
                            <a:srgbClr val="FF0000"/>
                          </a:solidFill>
                        </a:rPr>
                        <a:t>No</a:t>
                      </a:r>
                      <a:endParaRPr b="1">
                        <a:solidFill>
                          <a:srgbClr val="FF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rgbClr val="FF0000"/>
                          </a:solidFill>
                        </a:rPr>
                        <a:t>No</a:t>
                      </a:r>
                      <a:endParaRPr b="1">
                        <a:solidFill>
                          <a:srgbClr val="FF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dirty="0">
                          <a:solidFill>
                            <a:srgbClr val="6AA84F"/>
                          </a:solidFill>
                        </a:rPr>
                        <a:t>Yes</a:t>
                      </a:r>
                      <a:endParaRPr b="1" dirty="0">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dirty="0">
                          <a:solidFill>
                            <a:srgbClr val="FF0000"/>
                          </a:solidFill>
                        </a:rPr>
                        <a:t>No</a:t>
                      </a:r>
                      <a:endParaRPr b="1" dirty="0">
                        <a:solidFill>
                          <a:srgbClr val="FF0000"/>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n">
                          <a:solidFill>
                            <a:srgbClr val="FFFFFF"/>
                          </a:solidFill>
                        </a:rPr>
                        <a:t>Interruptible?</a:t>
                      </a:r>
                      <a:endParaRPr>
                        <a:solidFill>
                          <a:srgbClr val="FFFFFF"/>
                        </a:solidFill>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4A86E8"/>
                    </a:solidFill>
                  </a:tcPr>
                </a:tc>
                <a:tc>
                  <a:txBody>
                    <a:bodyPr/>
                    <a:lstStyle/>
                    <a:p>
                      <a:pPr marL="0" lvl="0" indent="0" algn="ctr" rtl="0">
                        <a:spcBef>
                          <a:spcPts val="0"/>
                        </a:spcBef>
                        <a:spcAft>
                          <a:spcPts val="0"/>
                        </a:spcAft>
                        <a:buNone/>
                      </a:pPr>
                      <a:r>
                        <a:rPr lang="en" b="1" dirty="0">
                          <a:solidFill>
                            <a:srgbClr val="6AA84F"/>
                          </a:solidFill>
                        </a:rPr>
                        <a:t>Yes</a:t>
                      </a:r>
                      <a:endParaRPr b="1" dirty="0">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dirty="0">
                          <a:solidFill>
                            <a:srgbClr val="6AA84F"/>
                          </a:solidFill>
                        </a:rPr>
                        <a:t>Yes</a:t>
                      </a:r>
                      <a:endParaRPr b="1" dirty="0">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solidFill>
                            <a:srgbClr val="6AA84F"/>
                          </a:solidFill>
                        </a:rPr>
                        <a:t>Yes</a:t>
                      </a:r>
                      <a:endParaRPr b="1">
                        <a:solidFill>
                          <a:srgbClr val="6AA84F"/>
                        </a:solidFill>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i="1" dirty="0"/>
                        <a:t>NA</a:t>
                      </a:r>
                      <a:endParaRPr i="1" dirty="0"/>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B7B7B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7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Thread States</a:t>
            </a:r>
            <a:endParaRPr/>
          </a:p>
        </p:txBody>
      </p:sp>
      <p:sp>
        <p:nvSpPr>
          <p:cNvPr id="954" name="Google Shape;954;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45</a:t>
            </a:fld>
            <a:endParaRPr/>
          </a:p>
        </p:txBody>
      </p:sp>
      <p:grpSp>
        <p:nvGrpSpPr>
          <p:cNvPr id="955" name="Google Shape;955;p76"/>
          <p:cNvGrpSpPr/>
          <p:nvPr/>
        </p:nvGrpSpPr>
        <p:grpSpPr>
          <a:xfrm>
            <a:off x="4062814" y="1652513"/>
            <a:ext cx="1486500" cy="2959163"/>
            <a:chOff x="6958414" y="1195313"/>
            <a:chExt cx="1486500" cy="2959163"/>
          </a:xfrm>
        </p:grpSpPr>
        <p:sp>
          <p:nvSpPr>
            <p:cNvPr id="956" name="Google Shape;956;p76"/>
            <p:cNvSpPr/>
            <p:nvPr/>
          </p:nvSpPr>
          <p:spPr>
            <a:xfrm>
              <a:off x="6958414" y="1969300"/>
              <a:ext cx="1486500" cy="1411200"/>
            </a:xfrm>
            <a:prstGeom prst="roundRect">
              <a:avLst>
                <a:gd name="adj" fmla="val 9698"/>
              </a:avLst>
            </a:prstGeom>
            <a:solidFill>
              <a:srgbClr val="B6D7A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76"/>
            <p:cNvSpPr/>
            <p:nvPr/>
          </p:nvSpPr>
          <p:spPr>
            <a:xfrm>
              <a:off x="7286250" y="1195313"/>
              <a:ext cx="831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NEW</a:t>
              </a:r>
              <a:endParaRPr>
                <a:solidFill>
                  <a:srgbClr val="FFFFFF"/>
                </a:solidFill>
              </a:endParaRPr>
            </a:p>
          </p:txBody>
        </p:sp>
        <p:sp>
          <p:nvSpPr>
            <p:cNvPr id="958" name="Google Shape;958;p76"/>
            <p:cNvSpPr/>
            <p:nvPr/>
          </p:nvSpPr>
          <p:spPr>
            <a:xfrm>
              <a:off x="7029750" y="2049450"/>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RUNNABLE</a:t>
              </a:r>
              <a:endParaRPr>
                <a:solidFill>
                  <a:srgbClr val="FFFFFF"/>
                </a:solidFill>
              </a:endParaRPr>
            </a:p>
          </p:txBody>
        </p:sp>
        <p:sp>
          <p:nvSpPr>
            <p:cNvPr id="959" name="Google Shape;959;p76"/>
            <p:cNvSpPr/>
            <p:nvPr/>
          </p:nvSpPr>
          <p:spPr>
            <a:xfrm>
              <a:off x="7029750" y="29035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i="1">
                  <a:solidFill>
                    <a:srgbClr val="FFFFFF"/>
                  </a:solidFill>
                </a:rPr>
                <a:t>RUNNING</a:t>
              </a:r>
              <a:endParaRPr i="1">
                <a:solidFill>
                  <a:srgbClr val="FFFFFF"/>
                </a:solidFill>
              </a:endParaRPr>
            </a:p>
          </p:txBody>
        </p:sp>
        <p:sp>
          <p:nvSpPr>
            <p:cNvPr id="960" name="Google Shape;960;p76"/>
            <p:cNvSpPr/>
            <p:nvPr/>
          </p:nvSpPr>
          <p:spPr>
            <a:xfrm>
              <a:off x="7050682" y="3763875"/>
              <a:ext cx="13020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300">
                  <a:solidFill>
                    <a:srgbClr val="FFFFFF"/>
                  </a:solidFill>
                </a:rPr>
                <a:t>DEAD</a:t>
              </a:r>
              <a:endParaRPr sz="1300">
                <a:solidFill>
                  <a:srgbClr val="FFFFFF"/>
                </a:solidFill>
              </a:endParaRPr>
            </a:p>
          </p:txBody>
        </p:sp>
        <p:cxnSp>
          <p:nvCxnSpPr>
            <p:cNvPr id="961" name="Google Shape;961;p76"/>
            <p:cNvCxnSpPr>
              <a:stCxn id="957" idx="2"/>
              <a:endCxn id="958" idx="0"/>
            </p:cNvCxnSpPr>
            <p:nvPr/>
          </p:nvCxnSpPr>
          <p:spPr>
            <a:xfrm>
              <a:off x="7702200" y="1585913"/>
              <a:ext cx="0" cy="463500"/>
            </a:xfrm>
            <a:prstGeom prst="straightConnector1">
              <a:avLst/>
            </a:prstGeom>
            <a:noFill/>
            <a:ln w="9525" cap="flat" cmpd="sng">
              <a:solidFill>
                <a:srgbClr val="000000"/>
              </a:solidFill>
              <a:prstDash val="solid"/>
              <a:round/>
              <a:headEnd type="none" w="med" len="med"/>
              <a:tailEnd type="triangle" w="med" len="med"/>
            </a:ln>
          </p:spPr>
        </p:cxnSp>
        <p:cxnSp>
          <p:nvCxnSpPr>
            <p:cNvPr id="962" name="Google Shape;962;p76"/>
            <p:cNvCxnSpPr>
              <a:stCxn id="959" idx="2"/>
              <a:endCxn id="960" idx="0"/>
            </p:cNvCxnSpPr>
            <p:nvPr/>
          </p:nvCxnSpPr>
          <p:spPr>
            <a:xfrm flipH="1">
              <a:off x="7701600" y="3294175"/>
              <a:ext cx="600" cy="469800"/>
            </a:xfrm>
            <a:prstGeom prst="straightConnector1">
              <a:avLst/>
            </a:prstGeom>
            <a:noFill/>
            <a:ln w="9525" cap="flat" cmpd="sng">
              <a:solidFill>
                <a:srgbClr val="000000"/>
              </a:solidFill>
              <a:prstDash val="solid"/>
              <a:round/>
              <a:headEnd type="none" w="med" len="med"/>
              <a:tailEnd type="triangle" w="med" len="med"/>
            </a:ln>
          </p:spPr>
        </p:cxnSp>
        <p:cxnSp>
          <p:nvCxnSpPr>
            <p:cNvPr id="963" name="Google Shape;963;p76"/>
            <p:cNvCxnSpPr/>
            <p:nvPr/>
          </p:nvCxnSpPr>
          <p:spPr>
            <a:xfrm>
              <a:off x="7333050" y="2445150"/>
              <a:ext cx="0" cy="470100"/>
            </a:xfrm>
            <a:prstGeom prst="straightConnector1">
              <a:avLst/>
            </a:prstGeom>
            <a:noFill/>
            <a:ln w="9525" cap="flat" cmpd="sng">
              <a:solidFill>
                <a:srgbClr val="000000"/>
              </a:solidFill>
              <a:prstDash val="solid"/>
              <a:round/>
              <a:headEnd type="none" w="med" len="med"/>
              <a:tailEnd type="triangle" w="med" len="med"/>
            </a:ln>
          </p:spPr>
        </p:cxnSp>
        <p:cxnSp>
          <p:nvCxnSpPr>
            <p:cNvPr id="964" name="Google Shape;964;p76"/>
            <p:cNvCxnSpPr/>
            <p:nvPr/>
          </p:nvCxnSpPr>
          <p:spPr>
            <a:xfrm rot="10800000">
              <a:off x="8094075" y="2445275"/>
              <a:ext cx="0" cy="470100"/>
            </a:xfrm>
            <a:prstGeom prst="straightConnector1">
              <a:avLst/>
            </a:prstGeom>
            <a:noFill/>
            <a:ln w="9525" cap="flat" cmpd="sng">
              <a:solidFill>
                <a:srgbClr val="000000"/>
              </a:solidFill>
              <a:prstDash val="solid"/>
              <a:round/>
              <a:headEnd type="none" w="med" len="med"/>
              <a:tailEnd type="triangle" w="med" len="med"/>
            </a:ln>
          </p:spPr>
        </p:cxnSp>
      </p:grpSp>
      <p:sp>
        <p:nvSpPr>
          <p:cNvPr id="965" name="Google Shape;965;p76"/>
          <p:cNvSpPr/>
          <p:nvPr/>
        </p:nvSpPr>
        <p:spPr>
          <a:xfrm>
            <a:off x="2299625" y="2970175"/>
            <a:ext cx="1344900" cy="390600"/>
          </a:xfrm>
          <a:prstGeom prst="roundRect">
            <a:avLst>
              <a:gd name="adj" fmla="val 16667"/>
            </a:avLst>
          </a:prstGeom>
          <a:solidFill>
            <a:srgbClr val="CCA677"/>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WAITING*</a:t>
            </a:r>
            <a:endParaRPr>
              <a:solidFill>
                <a:srgbClr val="FFFFFF"/>
              </a:solidFill>
            </a:endParaRPr>
          </a:p>
        </p:txBody>
      </p:sp>
      <p:cxnSp>
        <p:nvCxnSpPr>
          <p:cNvPr id="966" name="Google Shape;966;p76"/>
          <p:cNvCxnSpPr>
            <a:stCxn id="959" idx="1"/>
            <a:endCxn id="965" idx="2"/>
          </p:cNvCxnSpPr>
          <p:nvPr/>
        </p:nvCxnSpPr>
        <p:spPr>
          <a:xfrm rot="10800000">
            <a:off x="2971950" y="3360775"/>
            <a:ext cx="1162200" cy="195300"/>
          </a:xfrm>
          <a:prstGeom prst="curvedConnector2">
            <a:avLst/>
          </a:prstGeom>
          <a:noFill/>
          <a:ln w="9525" cap="flat" cmpd="sng">
            <a:solidFill>
              <a:srgbClr val="000000"/>
            </a:solidFill>
            <a:prstDash val="solid"/>
            <a:round/>
            <a:headEnd type="none" w="med" len="med"/>
            <a:tailEnd type="triangle" w="med" len="med"/>
          </a:ln>
        </p:spPr>
      </p:cxnSp>
      <p:sp>
        <p:nvSpPr>
          <p:cNvPr id="967" name="Google Shape;967;p76"/>
          <p:cNvSpPr txBox="1"/>
          <p:nvPr/>
        </p:nvSpPr>
        <p:spPr>
          <a:xfrm>
            <a:off x="2759275" y="3556075"/>
            <a:ext cx="10941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sleep()</a:t>
            </a:r>
            <a:endParaRPr sz="800" b="1"/>
          </a:p>
          <a:p>
            <a:pPr marL="0" lvl="0" indent="0" algn="ctr" rtl="0">
              <a:spcBef>
                <a:spcPts val="0"/>
              </a:spcBef>
              <a:spcAft>
                <a:spcPts val="0"/>
              </a:spcAft>
              <a:buNone/>
            </a:pPr>
            <a:r>
              <a:rPr lang="en" sz="800" b="1"/>
              <a:t>awaitTermination()</a:t>
            </a:r>
            <a:endParaRPr sz="800" b="1"/>
          </a:p>
        </p:txBody>
      </p:sp>
      <p:grpSp>
        <p:nvGrpSpPr>
          <p:cNvPr id="968" name="Google Shape;968;p76"/>
          <p:cNvGrpSpPr/>
          <p:nvPr/>
        </p:nvGrpSpPr>
        <p:grpSpPr>
          <a:xfrm>
            <a:off x="5473125" y="2578351"/>
            <a:ext cx="1599150" cy="1137946"/>
            <a:chOff x="7149525" y="2044951"/>
            <a:chExt cx="1599150" cy="1137946"/>
          </a:xfrm>
        </p:grpSpPr>
        <p:sp>
          <p:nvSpPr>
            <p:cNvPr id="969" name="Google Shape;969;p76"/>
            <p:cNvSpPr/>
            <p:nvPr/>
          </p:nvSpPr>
          <p:spPr>
            <a:xfrm>
              <a:off x="7660575" y="2410450"/>
              <a:ext cx="1088100" cy="390600"/>
            </a:xfrm>
            <a:prstGeom prst="roundRect">
              <a:avLst>
                <a:gd name="adj" fmla="val 16667"/>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rPr>
                <a:t>BLOCKED</a:t>
              </a:r>
              <a:endParaRPr>
                <a:solidFill>
                  <a:srgbClr val="FFFFFF"/>
                </a:solidFill>
              </a:endParaRPr>
            </a:p>
          </p:txBody>
        </p:sp>
        <p:cxnSp>
          <p:nvCxnSpPr>
            <p:cNvPr id="970" name="Google Shape;970;p76"/>
            <p:cNvCxnSpPr>
              <a:endCxn id="969" idx="2"/>
            </p:cNvCxnSpPr>
            <p:nvPr/>
          </p:nvCxnSpPr>
          <p:spPr>
            <a:xfrm rot="10800000" flipH="1">
              <a:off x="7149525" y="2801050"/>
              <a:ext cx="1055100" cy="231600"/>
            </a:xfrm>
            <a:prstGeom prst="curvedConnector2">
              <a:avLst/>
            </a:prstGeom>
            <a:noFill/>
            <a:ln w="9525" cap="flat" cmpd="sng">
              <a:solidFill>
                <a:srgbClr val="000000"/>
              </a:solidFill>
              <a:prstDash val="solid"/>
              <a:round/>
              <a:headEnd type="none" w="med" len="med"/>
              <a:tailEnd type="triangle" w="med" len="med"/>
            </a:ln>
          </p:spPr>
        </p:cxnSp>
        <p:sp>
          <p:nvSpPr>
            <p:cNvPr id="971" name="Google Shape;971;p76"/>
            <p:cNvSpPr txBox="1"/>
            <p:nvPr/>
          </p:nvSpPr>
          <p:spPr>
            <a:xfrm>
              <a:off x="7386150" y="2987597"/>
              <a:ext cx="1073100" cy="195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unavailable</a:t>
              </a:r>
              <a:endParaRPr sz="800" b="1"/>
            </a:p>
          </p:txBody>
        </p:sp>
        <p:cxnSp>
          <p:nvCxnSpPr>
            <p:cNvPr id="972" name="Google Shape;972;p76"/>
            <p:cNvCxnSpPr>
              <a:stCxn id="969" idx="0"/>
            </p:cNvCxnSpPr>
            <p:nvPr/>
          </p:nvCxnSpPr>
          <p:spPr>
            <a:xfrm rot="5400000" flipH="1">
              <a:off x="7561125" y="1766950"/>
              <a:ext cx="231900" cy="1055100"/>
            </a:xfrm>
            <a:prstGeom prst="curvedConnector2">
              <a:avLst/>
            </a:prstGeom>
            <a:noFill/>
            <a:ln w="9525" cap="flat" cmpd="sng">
              <a:solidFill>
                <a:srgbClr val="000000"/>
              </a:solidFill>
              <a:prstDash val="solid"/>
              <a:round/>
              <a:headEnd type="none" w="med" len="med"/>
              <a:tailEnd type="triangle" w="med" len="med"/>
            </a:ln>
          </p:spPr>
        </p:cxnSp>
        <p:sp>
          <p:nvSpPr>
            <p:cNvPr id="973" name="Google Shape;973;p76"/>
            <p:cNvSpPr txBox="1"/>
            <p:nvPr/>
          </p:nvSpPr>
          <p:spPr>
            <a:xfrm>
              <a:off x="7463450" y="2044951"/>
              <a:ext cx="1073100" cy="231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lock obtained</a:t>
              </a:r>
              <a:endParaRPr sz="800" b="1"/>
            </a:p>
          </p:txBody>
        </p:sp>
      </p:grpSp>
      <p:cxnSp>
        <p:nvCxnSpPr>
          <p:cNvPr id="974" name="Google Shape;974;p76"/>
          <p:cNvCxnSpPr>
            <a:stCxn id="965" idx="1"/>
            <a:endCxn id="969" idx="3"/>
          </p:cNvCxnSpPr>
          <p:nvPr/>
        </p:nvCxnSpPr>
        <p:spPr>
          <a:xfrm rot="10800000" flipH="1">
            <a:off x="2299625" y="3139075"/>
            <a:ext cx="4772700" cy="26400"/>
          </a:xfrm>
          <a:prstGeom prst="curvedConnector5">
            <a:avLst>
              <a:gd name="adj1" fmla="val -4989"/>
              <a:gd name="adj2" fmla="val 6802083"/>
              <a:gd name="adj3" fmla="val 104988"/>
            </a:avLst>
          </a:prstGeom>
          <a:noFill/>
          <a:ln w="9525" cap="flat" cmpd="sng">
            <a:solidFill>
              <a:srgbClr val="FF0000"/>
            </a:solidFill>
            <a:prstDash val="dash"/>
            <a:round/>
            <a:headEnd type="none" w="med" len="med"/>
            <a:tailEnd type="triangle" w="med" len="med"/>
          </a:ln>
        </p:spPr>
      </p:cxnSp>
      <p:sp>
        <p:nvSpPr>
          <p:cNvPr id="975" name="Google Shape;975;p76"/>
          <p:cNvSpPr txBox="1"/>
          <p:nvPr/>
        </p:nvSpPr>
        <p:spPr>
          <a:xfrm>
            <a:off x="1002254" y="2395047"/>
            <a:ext cx="1073100" cy="39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timer expires</a:t>
            </a:r>
            <a:endParaRPr sz="800" b="1"/>
          </a:p>
          <a:p>
            <a:pPr marL="0" lvl="0" indent="0" algn="ctr" rtl="0">
              <a:spcBef>
                <a:spcPts val="0"/>
              </a:spcBef>
              <a:spcAft>
                <a:spcPts val="0"/>
              </a:spcAft>
              <a:buNone/>
            </a:pPr>
            <a:r>
              <a:rPr lang="en" sz="800" b="1"/>
              <a:t>interrupt</a:t>
            </a:r>
            <a:endParaRPr sz="800" b="1"/>
          </a:p>
          <a:p>
            <a:pPr marL="0" lvl="0" indent="0" algn="ctr" rtl="0">
              <a:spcBef>
                <a:spcPts val="0"/>
              </a:spcBef>
              <a:spcAft>
                <a:spcPts val="0"/>
              </a:spcAft>
              <a:buNone/>
            </a:pPr>
            <a:r>
              <a:rPr lang="en" sz="800" b="1"/>
              <a:t>notify/notifyAll</a:t>
            </a:r>
            <a:endParaRPr sz="800" b="1"/>
          </a:p>
        </p:txBody>
      </p:sp>
      <p:cxnSp>
        <p:nvCxnSpPr>
          <p:cNvPr id="976" name="Google Shape;976;p76"/>
          <p:cNvCxnSpPr>
            <a:stCxn id="958" idx="1"/>
            <a:endCxn id="965" idx="0"/>
          </p:cNvCxnSpPr>
          <p:nvPr/>
        </p:nvCxnSpPr>
        <p:spPr>
          <a:xfrm flipH="1">
            <a:off x="2971950" y="2701950"/>
            <a:ext cx="1162200" cy="268200"/>
          </a:xfrm>
          <a:prstGeom prst="curvedConnector2">
            <a:avLst/>
          </a:prstGeom>
          <a:noFill/>
          <a:ln w="9525" cap="flat" cmpd="sng">
            <a:solidFill>
              <a:srgbClr val="000000"/>
            </a:solidFill>
            <a:prstDash val="solid"/>
            <a:round/>
            <a:headEnd type="triangle" w="med" len="med"/>
            <a:tailEnd type="none" w="med" len="med"/>
          </a:ln>
        </p:spPr>
      </p:cxnSp>
      <p:sp>
        <p:nvSpPr>
          <p:cNvPr id="977" name="Google Shape;977;p76"/>
          <p:cNvSpPr txBox="1"/>
          <p:nvPr/>
        </p:nvSpPr>
        <p:spPr>
          <a:xfrm>
            <a:off x="4822000" y="3884400"/>
            <a:ext cx="8688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a:t>run() returns</a:t>
            </a:r>
            <a:endParaRPr sz="800"/>
          </a:p>
        </p:txBody>
      </p:sp>
      <p:sp>
        <p:nvSpPr>
          <p:cNvPr id="978" name="Google Shape;978;p76"/>
          <p:cNvSpPr txBox="1"/>
          <p:nvPr/>
        </p:nvSpPr>
        <p:spPr>
          <a:xfrm>
            <a:off x="3016500" y="2311350"/>
            <a:ext cx="1073100" cy="390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timer expires</a:t>
            </a:r>
            <a:endParaRPr sz="800" b="1"/>
          </a:p>
          <a:p>
            <a:pPr marL="0" lvl="0" indent="0" algn="ctr" rtl="0">
              <a:spcBef>
                <a:spcPts val="0"/>
              </a:spcBef>
              <a:spcAft>
                <a:spcPts val="0"/>
              </a:spcAft>
              <a:buNone/>
            </a:pPr>
            <a:r>
              <a:rPr lang="en" sz="800" b="1"/>
              <a:t>interrupt</a:t>
            </a:r>
            <a:endParaRPr sz="800" b="1"/>
          </a:p>
          <a:p>
            <a:pPr marL="0" lvl="0" indent="0" algn="ctr" rtl="0">
              <a:spcBef>
                <a:spcPts val="0"/>
              </a:spcBef>
              <a:spcAft>
                <a:spcPts val="0"/>
              </a:spcAft>
              <a:buNone/>
            </a:pPr>
            <a:r>
              <a:rPr lang="en" sz="800" b="1"/>
              <a:t>thread dies</a:t>
            </a:r>
            <a:endParaRPr sz="800" b="1"/>
          </a:p>
        </p:txBody>
      </p:sp>
      <p:sp>
        <p:nvSpPr>
          <p:cNvPr id="979" name="Google Shape;979;p76"/>
          <p:cNvSpPr txBox="1"/>
          <p:nvPr/>
        </p:nvSpPr>
        <p:spPr>
          <a:xfrm>
            <a:off x="4861925" y="2129425"/>
            <a:ext cx="5697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start()</a:t>
            </a:r>
            <a:endParaRPr sz="800" b="1"/>
          </a:p>
        </p:txBody>
      </p:sp>
      <p:sp>
        <p:nvSpPr>
          <p:cNvPr id="980" name="Google Shape;980;p76"/>
          <p:cNvSpPr txBox="1"/>
          <p:nvPr/>
        </p:nvSpPr>
        <p:spPr>
          <a:xfrm>
            <a:off x="5171225" y="2970175"/>
            <a:ext cx="569700" cy="33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timeout</a:t>
            </a:r>
            <a:endParaRPr sz="800" b="1"/>
          </a:p>
        </p:txBody>
      </p:sp>
      <p:sp>
        <p:nvSpPr>
          <p:cNvPr id="981" name="Google Shape;981;p76"/>
          <p:cNvSpPr txBox="1"/>
          <p:nvPr/>
        </p:nvSpPr>
        <p:spPr>
          <a:xfrm>
            <a:off x="3773860" y="3034063"/>
            <a:ext cx="717300" cy="189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scheduled</a:t>
            </a:r>
            <a:endParaRPr sz="800" b="1"/>
          </a:p>
        </p:txBody>
      </p:sp>
      <p:sp>
        <p:nvSpPr>
          <p:cNvPr id="982" name="Google Shape;982;p76"/>
          <p:cNvSpPr/>
          <p:nvPr/>
        </p:nvSpPr>
        <p:spPr>
          <a:xfrm>
            <a:off x="2759275" y="3371500"/>
            <a:ext cx="1379600" cy="1216575"/>
          </a:xfrm>
          <a:custGeom>
            <a:avLst/>
            <a:gdLst/>
            <a:ahLst/>
            <a:cxnLst/>
            <a:rect l="l" t="t" r="r" b="b"/>
            <a:pathLst>
              <a:path w="55184" h="48663" extrusionOk="0">
                <a:moveTo>
                  <a:pt x="55184" y="7497"/>
                </a:moveTo>
                <a:cubicBezTo>
                  <a:pt x="47336" y="14345"/>
                  <a:pt x="17295" y="49835"/>
                  <a:pt x="8098" y="48585"/>
                </a:cubicBezTo>
                <a:cubicBezTo>
                  <a:pt x="-1099" y="47336"/>
                  <a:pt x="1350" y="8098"/>
                  <a:pt x="0" y="0"/>
                </a:cubicBezTo>
              </a:path>
            </a:pathLst>
          </a:custGeom>
          <a:noFill/>
          <a:ln w="9525" cap="flat" cmpd="sng">
            <a:solidFill>
              <a:srgbClr val="FF0000"/>
            </a:solidFill>
            <a:prstDash val="dash"/>
            <a:round/>
            <a:headEnd type="none" w="med" len="med"/>
            <a:tailEnd type="triangle" w="med" len="med"/>
          </a:ln>
        </p:spPr>
        <p:txBody>
          <a:bodyPr/>
          <a:lstStyle/>
          <a:p>
            <a:endParaRPr lang="en-US"/>
          </a:p>
        </p:txBody>
      </p:sp>
      <p:sp>
        <p:nvSpPr>
          <p:cNvPr id="983" name="Google Shape;983;p76"/>
          <p:cNvSpPr txBox="1"/>
          <p:nvPr/>
        </p:nvSpPr>
        <p:spPr>
          <a:xfrm>
            <a:off x="2132405" y="4617740"/>
            <a:ext cx="1803600" cy="268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800" b="1"/>
              <a:t>condition.awaitUninterruptibly()</a:t>
            </a:r>
            <a:endParaRPr sz="800" b="1"/>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77"/>
          <p:cNvSpPr txBox="1">
            <a:spLocks noGrp="1"/>
          </p:cNvSpPr>
          <p:nvPr>
            <p:ph type="title"/>
          </p:nvPr>
        </p:nvSpPr>
        <p:spPr>
          <a:xfrm>
            <a:off x="311725" y="196125"/>
            <a:ext cx="8520600" cy="62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900"/>
              <a:t>Summary &amp; Reflection</a:t>
            </a:r>
            <a:endParaRPr sz="3900"/>
          </a:p>
        </p:txBody>
      </p:sp>
      <p:sp>
        <p:nvSpPr>
          <p:cNvPr id="989" name="Google Shape;989;p77"/>
          <p:cNvSpPr/>
          <p:nvPr/>
        </p:nvSpPr>
        <p:spPr>
          <a:xfrm>
            <a:off x="3934950" y="1656500"/>
            <a:ext cx="1905000" cy="1233000"/>
          </a:xfrm>
          <a:prstGeom prst="cloudCallout">
            <a:avLst>
              <a:gd name="adj1" fmla="val 60382"/>
              <a:gd name="adj2" fmla="val 60947"/>
            </a:avLst>
          </a:prstGeom>
          <a:solidFill>
            <a:srgbClr val="C9DAF8"/>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is one new thing that you learned today?</a:t>
            </a:r>
            <a:endParaRPr sz="1200"/>
          </a:p>
        </p:txBody>
      </p:sp>
      <p:pic>
        <p:nvPicPr>
          <p:cNvPr id="990" name="Google Shape;990;p77"/>
          <p:cNvPicPr preferRelativeResize="0"/>
          <p:nvPr/>
        </p:nvPicPr>
        <p:blipFill>
          <a:blip r:embed="rId3">
            <a:alphaModFix/>
          </a:blip>
          <a:stretch>
            <a:fillRect/>
          </a:stretch>
        </p:blipFill>
        <p:spPr>
          <a:xfrm>
            <a:off x="5651400" y="3077250"/>
            <a:ext cx="1504525" cy="1504525"/>
          </a:xfrm>
          <a:prstGeom prst="rect">
            <a:avLst/>
          </a:prstGeom>
          <a:noFill/>
          <a:ln>
            <a:noFill/>
          </a:ln>
        </p:spPr>
      </p:pic>
      <p:sp>
        <p:nvSpPr>
          <p:cNvPr id="991" name="Google Shape;991;p77"/>
          <p:cNvSpPr/>
          <p:nvPr/>
        </p:nvSpPr>
        <p:spPr>
          <a:xfrm>
            <a:off x="5992350" y="1351700"/>
            <a:ext cx="1905000" cy="1233000"/>
          </a:xfrm>
          <a:prstGeom prst="cloudCallout">
            <a:avLst>
              <a:gd name="adj1" fmla="val -15427"/>
              <a:gd name="adj2" fmla="val 82691"/>
            </a:avLst>
          </a:prstGeom>
          <a:solidFill>
            <a:srgbClr val="D9EAD3"/>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What is one thing that you wish you knew more about as we move forward?</a:t>
            </a:r>
            <a:endParaRPr sz="1000"/>
          </a:p>
        </p:txBody>
      </p:sp>
      <p:sp>
        <p:nvSpPr>
          <p:cNvPr id="992" name="Google Shape;992;p77"/>
          <p:cNvSpPr/>
          <p:nvPr/>
        </p:nvSpPr>
        <p:spPr>
          <a:xfrm>
            <a:off x="7003525" y="2549050"/>
            <a:ext cx="1905000" cy="1233000"/>
          </a:xfrm>
          <a:prstGeom prst="cloudCallout">
            <a:avLst>
              <a:gd name="adj1" fmla="val -66241"/>
              <a:gd name="adj2" fmla="val 20639"/>
            </a:avLst>
          </a:prstGeom>
          <a:solidFill>
            <a:srgbClr val="FCE5CD"/>
          </a:solid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t>What one question do you have about today’s class?</a:t>
            </a:r>
            <a:endParaRPr sz="1200"/>
          </a:p>
        </p:txBody>
      </p:sp>
      <p:sp>
        <p:nvSpPr>
          <p:cNvPr id="993" name="Google Shape;993;p77"/>
          <p:cNvSpPr txBox="1"/>
          <p:nvPr/>
        </p:nvSpPr>
        <p:spPr>
          <a:xfrm>
            <a:off x="4107225" y="4689650"/>
            <a:ext cx="4667100" cy="2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2"/>
                </a:solidFill>
                <a:latin typeface="Roboto"/>
                <a:ea typeface="Roboto"/>
                <a:cs typeface="Roboto"/>
                <a:sym typeface="Roboto"/>
              </a:rPr>
              <a:t>Please answer the questions above in your notes for today.</a:t>
            </a:r>
            <a:endParaRPr sz="1200">
              <a:solidFill>
                <a:schemeClr val="dk2"/>
              </a:solidFill>
              <a:latin typeface="Roboto"/>
              <a:ea typeface="Roboto"/>
              <a:cs typeface="Roboto"/>
              <a:sym typeface="Roboto"/>
            </a:endParaRPr>
          </a:p>
        </p:txBody>
      </p:sp>
      <p:pic>
        <p:nvPicPr>
          <p:cNvPr id="994" name="Google Shape;994;p77"/>
          <p:cNvPicPr preferRelativeResize="0"/>
          <p:nvPr/>
        </p:nvPicPr>
        <p:blipFill>
          <a:blip r:embed="rId4">
            <a:alphaModFix/>
          </a:blip>
          <a:stretch>
            <a:fillRect/>
          </a:stretch>
        </p:blipFill>
        <p:spPr>
          <a:xfrm rot="-1172163">
            <a:off x="798432" y="944685"/>
            <a:ext cx="2945835" cy="3808755"/>
          </a:xfrm>
          <a:prstGeom prst="rect">
            <a:avLst/>
          </a:prstGeom>
          <a:noFill/>
          <a:ln>
            <a:noFill/>
          </a:ln>
        </p:spPr>
      </p:pic>
      <p:sp>
        <p:nvSpPr>
          <p:cNvPr id="995" name="Google Shape;995;p77"/>
          <p:cNvSpPr txBox="1">
            <a:spLocks noGrp="1"/>
          </p:cNvSpPr>
          <p:nvPr>
            <p:ph type="body" idx="1"/>
          </p:nvPr>
        </p:nvSpPr>
        <p:spPr>
          <a:xfrm rot="-1168295">
            <a:off x="1011648" y="1531349"/>
            <a:ext cx="2569455" cy="2929916"/>
          </a:xfrm>
          <a:prstGeom prst="rect">
            <a:avLst/>
          </a:prstGeom>
        </p:spPr>
        <p:txBody>
          <a:bodyPr spcFirstLastPara="1" wrap="square" lIns="91425" tIns="91425" rIns="91425" bIns="91425" anchor="ctr" anchorCtr="0">
            <a:noAutofit/>
          </a:bodyPr>
          <a:lstStyle/>
          <a:p>
            <a:pPr marL="457200" lvl="0" indent="-342900" algn="l" rtl="0">
              <a:lnSpc>
                <a:spcPct val="100000"/>
              </a:lnSpc>
              <a:spcBef>
                <a:spcPts val="0"/>
              </a:spcBef>
              <a:spcAft>
                <a:spcPts val="0"/>
              </a:spcAft>
              <a:buClr>
                <a:srgbClr val="FF0000"/>
              </a:buClr>
              <a:buSzPts val="1800"/>
              <a:buFont typeface="Shadows Into Light"/>
              <a:buChar char="●"/>
            </a:pPr>
            <a:r>
              <a:rPr lang="en" sz="1800">
                <a:solidFill>
                  <a:srgbClr val="FF0000"/>
                </a:solidFill>
                <a:latin typeface="Shadows Into Light"/>
                <a:ea typeface="Shadows Into Light"/>
                <a:cs typeface="Shadows Into Light"/>
                <a:sym typeface="Shadows Into Light"/>
              </a:rPr>
              <a:t>Shared Resources &amp; Critical Regions</a:t>
            </a:r>
            <a:endParaRPr sz="1800">
              <a:solidFill>
                <a:srgbClr val="FF0000"/>
              </a:solidFill>
              <a:latin typeface="Shadows Into Light"/>
              <a:ea typeface="Shadows Into Light"/>
              <a:cs typeface="Shadows Into Light"/>
              <a:sym typeface="Shadows Into Light"/>
            </a:endParaRPr>
          </a:p>
          <a:p>
            <a:pPr marL="457200" lvl="0" indent="-342900" algn="l" rtl="0">
              <a:lnSpc>
                <a:spcPct val="100000"/>
              </a:lnSpc>
              <a:spcBef>
                <a:spcPts val="0"/>
              </a:spcBef>
              <a:spcAft>
                <a:spcPts val="0"/>
              </a:spcAft>
              <a:buClr>
                <a:srgbClr val="FF0000"/>
              </a:buClr>
              <a:buSzPts val="1800"/>
              <a:buFont typeface="Shadows Into Light"/>
              <a:buChar char="●"/>
            </a:pPr>
            <a:r>
              <a:rPr lang="en" sz="1800">
                <a:solidFill>
                  <a:srgbClr val="FF0000"/>
                </a:solidFill>
                <a:latin typeface="Shadows Into Light"/>
                <a:ea typeface="Shadows Into Light"/>
                <a:cs typeface="Shadows Into Light"/>
                <a:sym typeface="Shadows Into Light"/>
              </a:rPr>
              <a:t>Synchronization</a:t>
            </a:r>
            <a:endParaRPr sz="1800">
              <a:solidFill>
                <a:srgbClr val="FF0000"/>
              </a:solidFill>
              <a:latin typeface="Shadows Into Light"/>
              <a:ea typeface="Shadows Into Light"/>
              <a:cs typeface="Shadows Into Light"/>
              <a:sym typeface="Shadows Into Light"/>
            </a:endParaRPr>
          </a:p>
          <a:p>
            <a:pPr marL="457200" lvl="0" indent="-342900" algn="l" rtl="0">
              <a:lnSpc>
                <a:spcPct val="100000"/>
              </a:lnSpc>
              <a:spcBef>
                <a:spcPts val="0"/>
              </a:spcBef>
              <a:spcAft>
                <a:spcPts val="0"/>
              </a:spcAft>
              <a:buClr>
                <a:srgbClr val="FF0000"/>
              </a:buClr>
              <a:buSzPts val="1800"/>
              <a:buFont typeface="Shadows Into Light"/>
              <a:buChar char="●"/>
            </a:pPr>
            <a:r>
              <a:rPr lang="en" sz="1800">
                <a:solidFill>
                  <a:srgbClr val="FF0000"/>
                </a:solidFill>
                <a:latin typeface="Shadows Into Light"/>
                <a:ea typeface="Shadows Into Light"/>
                <a:cs typeface="Shadows Into Light"/>
                <a:sym typeface="Shadows Into Light"/>
              </a:rPr>
              <a:t>wait/notify/notify all</a:t>
            </a:r>
            <a:endParaRPr sz="1800">
              <a:solidFill>
                <a:srgbClr val="FF0000"/>
              </a:solidFill>
              <a:latin typeface="Shadows Into Light"/>
              <a:ea typeface="Shadows Into Light"/>
              <a:cs typeface="Shadows Into Light"/>
              <a:sym typeface="Shadows Into Light"/>
            </a:endParaRPr>
          </a:p>
          <a:p>
            <a:pPr marL="457200" lvl="0" indent="-342900" algn="l" rtl="0">
              <a:lnSpc>
                <a:spcPct val="100000"/>
              </a:lnSpc>
              <a:spcBef>
                <a:spcPts val="0"/>
              </a:spcBef>
              <a:spcAft>
                <a:spcPts val="0"/>
              </a:spcAft>
              <a:buClr>
                <a:srgbClr val="FF0000"/>
              </a:buClr>
              <a:buSzPts val="1800"/>
              <a:buFont typeface="Shadows Into Light"/>
              <a:buChar char="●"/>
            </a:pPr>
            <a:r>
              <a:rPr lang="en" sz="1800">
                <a:solidFill>
                  <a:srgbClr val="FF0000"/>
                </a:solidFill>
                <a:latin typeface="Shadows Into Light"/>
                <a:ea typeface="Shadows Into Light"/>
                <a:cs typeface="Shadows Into Light"/>
                <a:sym typeface="Shadows Into Light"/>
              </a:rPr>
              <a:t>Producer/Consumer</a:t>
            </a:r>
            <a:endParaRPr sz="1800">
              <a:solidFill>
                <a:srgbClr val="FF0000"/>
              </a:solidFill>
              <a:latin typeface="Shadows Into Light"/>
              <a:ea typeface="Shadows Into Light"/>
              <a:cs typeface="Shadows Into Light"/>
              <a:sym typeface="Shadows Into Light"/>
            </a:endParaRPr>
          </a:p>
          <a:p>
            <a:pPr marL="457200" lvl="0" indent="-342900" algn="l" rtl="0">
              <a:lnSpc>
                <a:spcPct val="100000"/>
              </a:lnSpc>
              <a:spcBef>
                <a:spcPts val="0"/>
              </a:spcBef>
              <a:spcAft>
                <a:spcPts val="0"/>
              </a:spcAft>
              <a:buClr>
                <a:srgbClr val="FF0000"/>
              </a:buClr>
              <a:buSzPts val="1800"/>
              <a:buFont typeface="Shadows Into Light"/>
              <a:buChar char="●"/>
            </a:pPr>
            <a:r>
              <a:rPr lang="en" sz="1800">
                <a:solidFill>
                  <a:srgbClr val="FF0000"/>
                </a:solidFill>
                <a:latin typeface="Shadows Into Light"/>
                <a:ea typeface="Shadows Into Light"/>
                <a:cs typeface="Shadows Into Light"/>
                <a:sym typeface="Shadows Into Light"/>
              </a:rPr>
              <a:t>Deadlock</a:t>
            </a:r>
            <a:endParaRPr sz="1800">
              <a:solidFill>
                <a:srgbClr val="FF0000"/>
              </a:solidFill>
              <a:latin typeface="Shadows Into Light"/>
              <a:ea typeface="Shadows Into Light"/>
              <a:cs typeface="Shadows Into Light"/>
              <a:sym typeface="Shadows Into Light"/>
            </a:endParaRPr>
          </a:p>
        </p:txBody>
      </p:sp>
      <p:sp>
        <p:nvSpPr>
          <p:cNvPr id="996" name="Google Shape;996;p7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46</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000"/>
        <p:cNvGrpSpPr/>
        <p:nvPr/>
      </p:nvGrpSpPr>
      <p:grpSpPr>
        <a:xfrm>
          <a:off x="0" y="0"/>
          <a:ext cx="0" cy="0"/>
          <a:chOff x="0" y="0"/>
          <a:chExt cx="0" cy="0"/>
        </a:xfrm>
      </p:grpSpPr>
      <p:pic>
        <p:nvPicPr>
          <p:cNvPr id="1001" name="Google Shape;1001;p78"/>
          <p:cNvPicPr preferRelativeResize="0"/>
          <p:nvPr/>
        </p:nvPicPr>
        <p:blipFill>
          <a:blip r:embed="rId3">
            <a:alphaModFix/>
          </a:blip>
          <a:stretch>
            <a:fillRect/>
          </a:stretch>
        </p:blipFill>
        <p:spPr>
          <a:xfrm>
            <a:off x="5160250" y="80945"/>
            <a:ext cx="3706501" cy="2963079"/>
          </a:xfrm>
          <a:prstGeom prst="rect">
            <a:avLst/>
          </a:prstGeom>
          <a:noFill/>
          <a:ln>
            <a:noFill/>
          </a:ln>
        </p:spPr>
      </p:pic>
      <p:sp>
        <p:nvSpPr>
          <p:cNvPr id="1002" name="Google Shape;1002;p78"/>
          <p:cNvSpPr txBox="1">
            <a:spLocks noGrp="1"/>
          </p:cNvSpPr>
          <p:nvPr>
            <p:ph type="sldNum" idx="12"/>
          </p:nvPr>
        </p:nvSpPr>
        <p:spPr>
          <a:xfrm>
            <a:off x="90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47</a:t>
            </a:fld>
            <a:endParaRPr/>
          </a:p>
        </p:txBody>
      </p:sp>
      <p:sp>
        <p:nvSpPr>
          <p:cNvPr id="1003" name="Google Shape;1003;p78"/>
          <p:cNvSpPr txBox="1">
            <a:spLocks noGrp="1"/>
          </p:cNvSpPr>
          <p:nvPr>
            <p:ph type="body" idx="1"/>
          </p:nvPr>
        </p:nvSpPr>
        <p:spPr>
          <a:xfrm>
            <a:off x="301275" y="577125"/>
            <a:ext cx="4166400" cy="4212300"/>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Char char="●"/>
            </a:pPr>
            <a:r>
              <a:rPr lang="en" b="1" i="1">
                <a:solidFill>
                  <a:srgbClr val="FF0000"/>
                </a:solidFill>
              </a:rPr>
              <a:t>Club Chèvre*</a:t>
            </a:r>
            <a:r>
              <a:rPr lang="en">
                <a:solidFill>
                  <a:srgbClr val="FF0000"/>
                </a:solidFill>
              </a:rPr>
              <a:t> </a:t>
            </a:r>
            <a:r>
              <a:rPr lang="en"/>
              <a:t>is the hottest new nightclub in Goatsville.</a:t>
            </a:r>
            <a:endParaRPr/>
          </a:p>
          <a:p>
            <a:pPr marL="457200" lvl="0" indent="-311150" algn="l" rtl="0">
              <a:spcBef>
                <a:spcPts val="0"/>
              </a:spcBef>
              <a:spcAft>
                <a:spcPts val="0"/>
              </a:spcAft>
              <a:buSzPts val="1300"/>
              <a:buChar char="●"/>
            </a:pPr>
            <a:r>
              <a:rPr lang="en"/>
              <a:t>It’s so popular that they had to hire a </a:t>
            </a:r>
            <a:r>
              <a:rPr lang="en" b="1" i="1">
                <a:solidFill>
                  <a:srgbClr val="FF0000"/>
                </a:solidFill>
              </a:rPr>
              <a:t>Troll Bouncer</a:t>
            </a:r>
            <a:r>
              <a:rPr lang="en"/>
              <a:t> to make sure that the number of goats on the dance floor at any one time did not exceed the maximum occupancy mandated by the Goatsville fire code.</a:t>
            </a:r>
            <a:endParaRPr/>
          </a:p>
          <a:p>
            <a:pPr marL="457200" lvl="0" indent="-311150" algn="l" rtl="0">
              <a:spcBef>
                <a:spcPts val="0"/>
              </a:spcBef>
              <a:spcAft>
                <a:spcPts val="0"/>
              </a:spcAft>
              <a:buSzPts val="1300"/>
              <a:buChar char="●"/>
            </a:pPr>
            <a:r>
              <a:rPr lang="en"/>
              <a:t>The bouncer’s job is to make sure that the club is safe and fun for everyone, but he’s also paid to make sure that the </a:t>
            </a:r>
            <a:r>
              <a:rPr lang="en" b="1" i="1">
                <a:solidFill>
                  <a:srgbClr val="FF0000"/>
                </a:solidFill>
              </a:rPr>
              <a:t>coolest</a:t>
            </a:r>
            <a:r>
              <a:rPr lang="en">
                <a:solidFill>
                  <a:srgbClr val="FF0000"/>
                </a:solidFill>
              </a:rPr>
              <a:t> </a:t>
            </a:r>
            <a:r>
              <a:rPr lang="en"/>
              <a:t>goats get into the club first.</a:t>
            </a:r>
            <a:endParaRPr/>
          </a:p>
          <a:p>
            <a:pPr marL="457200" lvl="0" indent="-311150" algn="l" rtl="0">
              <a:spcBef>
                <a:spcPts val="0"/>
              </a:spcBef>
              <a:spcAft>
                <a:spcPts val="0"/>
              </a:spcAft>
              <a:buSzPts val="1300"/>
              <a:buChar char="●"/>
            </a:pPr>
            <a:r>
              <a:rPr lang="en"/>
              <a:t>Once inside the club, the goats </a:t>
            </a:r>
            <a:r>
              <a:rPr lang="en" b="1" i="1">
                <a:solidFill>
                  <a:srgbClr val="FF0000"/>
                </a:solidFill>
              </a:rPr>
              <a:t>dance</a:t>
            </a:r>
            <a:r>
              <a:rPr lang="en">
                <a:solidFill>
                  <a:srgbClr val="FF0000"/>
                </a:solidFill>
              </a:rPr>
              <a:t> </a:t>
            </a:r>
            <a:r>
              <a:rPr lang="en"/>
              <a:t>until they run out of stamina. </a:t>
            </a:r>
            <a:endParaRPr/>
          </a:p>
          <a:p>
            <a:pPr marL="457200" lvl="0" indent="-311150" algn="l" rtl="0">
              <a:spcBef>
                <a:spcPts val="0"/>
              </a:spcBef>
              <a:spcAft>
                <a:spcPts val="0"/>
              </a:spcAft>
              <a:buSzPts val="1300"/>
              <a:buChar char="●"/>
            </a:pPr>
            <a:r>
              <a:rPr lang="en"/>
              <a:t>Exhausted goats may decide to </a:t>
            </a:r>
            <a:r>
              <a:rPr lang="en" b="1" i="1">
                <a:solidFill>
                  <a:srgbClr val="FF0000"/>
                </a:solidFill>
              </a:rPr>
              <a:t>leave </a:t>
            </a:r>
            <a:r>
              <a:rPr lang="en"/>
              <a:t>or hang out at the </a:t>
            </a:r>
            <a:r>
              <a:rPr lang="en" b="1" i="1">
                <a:solidFill>
                  <a:srgbClr val="FF0000"/>
                </a:solidFill>
              </a:rPr>
              <a:t>bar </a:t>
            </a:r>
            <a:r>
              <a:rPr lang="en"/>
              <a:t>until they recover their energy.</a:t>
            </a:r>
            <a:endParaRPr/>
          </a:p>
          <a:p>
            <a:pPr marL="457200" lvl="0" indent="-311150" algn="l" rtl="0">
              <a:spcBef>
                <a:spcPts val="0"/>
              </a:spcBef>
              <a:spcAft>
                <a:spcPts val="0"/>
              </a:spcAft>
              <a:buSzPts val="1300"/>
              <a:buChar char="●"/>
            </a:pPr>
            <a:r>
              <a:rPr lang="en"/>
              <a:t>Today we'll be implementing a </a:t>
            </a:r>
            <a:r>
              <a:rPr lang="en" b="1" i="1">
                <a:solidFill>
                  <a:srgbClr val="FF0000"/>
                </a:solidFill>
              </a:rPr>
              <a:t>simulation</a:t>
            </a:r>
            <a:r>
              <a:rPr lang="en">
                <a:solidFill>
                  <a:srgbClr val="FF0000"/>
                </a:solidFill>
              </a:rPr>
              <a:t> </a:t>
            </a:r>
            <a:r>
              <a:rPr lang="en"/>
              <a:t>of the famous night club using </a:t>
            </a:r>
            <a:r>
              <a:rPr lang="en" b="1" i="1">
                <a:solidFill>
                  <a:srgbClr val="FF0000"/>
                </a:solidFill>
              </a:rPr>
              <a:t>threads</a:t>
            </a:r>
            <a:r>
              <a:rPr lang="en"/>
              <a:t>.</a:t>
            </a:r>
            <a:endParaRPr/>
          </a:p>
          <a:p>
            <a:pPr marL="0" lvl="0" indent="0" algn="l" rtl="0">
              <a:spcBef>
                <a:spcPts val="1600"/>
              </a:spcBef>
              <a:spcAft>
                <a:spcPts val="1600"/>
              </a:spcAft>
              <a:buNone/>
            </a:pPr>
            <a:endParaRPr/>
          </a:p>
        </p:txBody>
      </p:sp>
      <p:grpSp>
        <p:nvGrpSpPr>
          <p:cNvPr id="1004" name="Google Shape;1004;p78"/>
          <p:cNvGrpSpPr/>
          <p:nvPr/>
        </p:nvGrpSpPr>
        <p:grpSpPr>
          <a:xfrm>
            <a:off x="5455942" y="872495"/>
            <a:ext cx="4088560" cy="2359447"/>
            <a:chOff x="5455942" y="872495"/>
            <a:chExt cx="4088560" cy="2359447"/>
          </a:xfrm>
        </p:grpSpPr>
        <p:pic>
          <p:nvPicPr>
            <p:cNvPr id="1005" name="Google Shape;1005;p78"/>
            <p:cNvPicPr preferRelativeResize="0"/>
            <p:nvPr/>
          </p:nvPicPr>
          <p:blipFill>
            <a:blip r:embed="rId4">
              <a:alphaModFix/>
            </a:blip>
            <a:stretch>
              <a:fillRect/>
            </a:stretch>
          </p:blipFill>
          <p:spPr>
            <a:xfrm>
              <a:off x="6948952" y="901875"/>
              <a:ext cx="2595549" cy="2011550"/>
            </a:xfrm>
            <a:prstGeom prst="rect">
              <a:avLst/>
            </a:prstGeom>
            <a:noFill/>
            <a:ln>
              <a:noFill/>
            </a:ln>
          </p:spPr>
        </p:pic>
        <p:pic>
          <p:nvPicPr>
            <p:cNvPr id="1006" name="Google Shape;1006;p78"/>
            <p:cNvPicPr preferRelativeResize="0"/>
            <p:nvPr/>
          </p:nvPicPr>
          <p:blipFill>
            <a:blip r:embed="rId5">
              <a:alphaModFix/>
            </a:blip>
            <a:stretch>
              <a:fillRect/>
            </a:stretch>
          </p:blipFill>
          <p:spPr>
            <a:xfrm flipH="1">
              <a:off x="7735922" y="872495"/>
              <a:ext cx="904240" cy="714300"/>
            </a:xfrm>
            <a:prstGeom prst="rect">
              <a:avLst/>
            </a:prstGeom>
            <a:noFill/>
            <a:ln>
              <a:noFill/>
            </a:ln>
          </p:spPr>
        </p:pic>
        <p:grpSp>
          <p:nvGrpSpPr>
            <p:cNvPr id="1007" name="Google Shape;1007;p78"/>
            <p:cNvGrpSpPr/>
            <p:nvPr/>
          </p:nvGrpSpPr>
          <p:grpSpPr>
            <a:xfrm>
              <a:off x="5688409" y="932011"/>
              <a:ext cx="1872894" cy="1591319"/>
              <a:chOff x="99126" y="2442482"/>
              <a:chExt cx="1567800" cy="1332094"/>
            </a:xfrm>
          </p:grpSpPr>
          <p:sp>
            <p:nvSpPr>
              <p:cNvPr id="1008" name="Google Shape;1008;p78"/>
              <p:cNvSpPr/>
              <p:nvPr/>
            </p:nvSpPr>
            <p:spPr>
              <a:xfrm>
                <a:off x="311700" y="2468675"/>
                <a:ext cx="1247400" cy="733500"/>
              </a:xfrm>
              <a:prstGeom prst="triangle">
                <a:avLst>
                  <a:gd name="adj" fmla="val 50000"/>
                </a:avLst>
              </a:prstGeom>
              <a:no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78"/>
              <p:cNvSpPr txBox="1"/>
              <p:nvPr/>
            </p:nvSpPr>
            <p:spPr>
              <a:xfrm rot="-762906">
                <a:off x="152460" y="2974929"/>
                <a:ext cx="1461132" cy="646793"/>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sz="1700">
                    <a:solidFill>
                      <a:srgbClr val="FF0000"/>
                    </a:solidFill>
                    <a:latin typeface="Shadows Into Light"/>
                    <a:ea typeface="Shadows Into Light"/>
                    <a:cs typeface="Shadows Into Light"/>
                    <a:sym typeface="Shadows Into Light"/>
                  </a:rPr>
                  <a:t>BEWARE of the Troll Bouncer</a:t>
                </a:r>
                <a:endParaRPr sz="1700">
                  <a:solidFill>
                    <a:srgbClr val="FF0000"/>
                  </a:solidFill>
                  <a:latin typeface="Shadows Into Light"/>
                  <a:ea typeface="Shadows Into Light"/>
                  <a:cs typeface="Shadows Into Light"/>
                  <a:sym typeface="Shadows Into Light"/>
                </a:endParaRPr>
              </a:p>
            </p:txBody>
          </p:sp>
          <p:sp>
            <p:nvSpPr>
              <p:cNvPr id="1010" name="Google Shape;1010;p78"/>
              <p:cNvSpPr/>
              <p:nvPr/>
            </p:nvSpPr>
            <p:spPr>
              <a:xfrm>
                <a:off x="885532" y="2442482"/>
                <a:ext cx="105300" cy="105300"/>
              </a:xfrm>
              <a:prstGeom prst="ellipse">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11" name="Google Shape;1011;p78"/>
            <p:cNvPicPr preferRelativeResize="0"/>
            <p:nvPr/>
          </p:nvPicPr>
          <p:blipFill>
            <a:blip r:embed="rId6">
              <a:alphaModFix/>
            </a:blip>
            <a:stretch>
              <a:fillRect/>
            </a:stretch>
          </p:blipFill>
          <p:spPr>
            <a:xfrm flipH="1">
              <a:off x="5455942" y="1601426"/>
              <a:ext cx="1132303" cy="1630516"/>
            </a:xfrm>
            <a:prstGeom prst="rect">
              <a:avLst/>
            </a:prstGeom>
            <a:noFill/>
            <a:ln>
              <a:noFill/>
            </a:ln>
          </p:spPr>
        </p:pic>
        <p:pic>
          <p:nvPicPr>
            <p:cNvPr id="1012" name="Google Shape;1012;p78"/>
            <p:cNvPicPr preferRelativeResize="0"/>
            <p:nvPr/>
          </p:nvPicPr>
          <p:blipFill>
            <a:blip r:embed="rId6">
              <a:alphaModFix/>
            </a:blip>
            <a:stretch>
              <a:fillRect/>
            </a:stretch>
          </p:blipFill>
          <p:spPr>
            <a:xfrm flipH="1">
              <a:off x="6462310" y="1601426"/>
              <a:ext cx="1132303" cy="1630516"/>
            </a:xfrm>
            <a:prstGeom prst="rect">
              <a:avLst/>
            </a:prstGeom>
            <a:noFill/>
            <a:ln>
              <a:noFill/>
            </a:ln>
          </p:spPr>
        </p:pic>
      </p:grpSp>
      <p:sp>
        <p:nvSpPr>
          <p:cNvPr id="1013" name="Google Shape;1013;p78"/>
          <p:cNvSpPr txBox="1">
            <a:spLocks noGrp="1"/>
          </p:cNvSpPr>
          <p:nvPr>
            <p:ph type="body" idx="3"/>
          </p:nvPr>
        </p:nvSpPr>
        <p:spPr>
          <a:xfrm>
            <a:off x="5161450" y="2919670"/>
            <a:ext cx="3706500" cy="54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The Goatsville Troll's mom said that, if he wants to keep living in the basement, he needs to pay rent.</a:t>
            </a:r>
            <a:endParaRPr/>
          </a:p>
        </p:txBody>
      </p:sp>
      <p:sp>
        <p:nvSpPr>
          <p:cNvPr id="1014" name="Google Shape;1014;p78"/>
          <p:cNvSpPr txBox="1">
            <a:spLocks noGrp="1"/>
          </p:cNvSpPr>
          <p:nvPr>
            <p:ph type="body" idx="3"/>
          </p:nvPr>
        </p:nvSpPr>
        <p:spPr>
          <a:xfrm>
            <a:off x="5161450" y="3547718"/>
            <a:ext cx="3706500" cy="676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He decided to get swole and work as a bouncer (because there's nothing that he likes more than beating up goats).</a:t>
            </a:r>
            <a:endParaRPr/>
          </a:p>
        </p:txBody>
      </p:sp>
      <p:sp>
        <p:nvSpPr>
          <p:cNvPr id="1015" name="Google Shape;1015;p78"/>
          <p:cNvSpPr txBox="1">
            <a:spLocks noGrp="1"/>
          </p:cNvSpPr>
          <p:nvPr>
            <p:ph type="body" idx="3"/>
          </p:nvPr>
        </p:nvSpPr>
        <p:spPr>
          <a:xfrm>
            <a:off x="5161450" y="4309720"/>
            <a:ext cx="3706500" cy="542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But he takes his job (and the fire code!) very seriously.</a:t>
            </a:r>
            <a:endParaRPr/>
          </a:p>
        </p:txBody>
      </p:sp>
      <p:sp>
        <p:nvSpPr>
          <p:cNvPr id="1016" name="Google Shape;1016;p78"/>
          <p:cNvSpPr txBox="1"/>
          <p:nvPr/>
        </p:nvSpPr>
        <p:spPr>
          <a:xfrm>
            <a:off x="7426000" y="4922275"/>
            <a:ext cx="1621500" cy="190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1000">
                <a:solidFill>
                  <a:srgbClr val="FFFFFF"/>
                </a:solidFill>
                <a:latin typeface="Roboto"/>
                <a:ea typeface="Roboto"/>
                <a:cs typeface="Roboto"/>
                <a:sym typeface="Roboto"/>
              </a:rPr>
              <a:t>* Pronounced "Sheh-vrah"</a:t>
            </a:r>
            <a:endParaRPr sz="1000">
              <a:solidFill>
                <a:srgbClr val="FFFFFF"/>
              </a:solidFill>
              <a:latin typeface="Roboto"/>
              <a:ea typeface="Roboto"/>
              <a:cs typeface="Roboto"/>
              <a:sym typeface="Robot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3">
                                            <p:txEl>
                                              <p:pRg st="0" end="0"/>
                                            </p:txEl>
                                          </p:spTgt>
                                        </p:tgtEl>
                                        <p:attrNameLst>
                                          <p:attrName>style.visibility</p:attrName>
                                        </p:attrNameLst>
                                      </p:cBhvr>
                                      <p:to>
                                        <p:strVal val="visible"/>
                                      </p:to>
                                    </p:set>
                                    <p:animEffect transition="in" filter="fade">
                                      <p:cBhvr>
                                        <p:cTn id="7" dur="1000"/>
                                        <p:tgtEl>
                                          <p:spTgt spid="100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3">
                                            <p:txEl>
                                              <p:pRg st="1" end="1"/>
                                            </p:txEl>
                                          </p:spTgt>
                                        </p:tgtEl>
                                        <p:attrNameLst>
                                          <p:attrName>style.visibility</p:attrName>
                                        </p:attrNameLst>
                                      </p:cBhvr>
                                      <p:to>
                                        <p:strVal val="visible"/>
                                      </p:to>
                                    </p:set>
                                    <p:animEffect transition="in" filter="fade">
                                      <p:cBhvr>
                                        <p:cTn id="12" dur="1000"/>
                                        <p:tgtEl>
                                          <p:spTgt spid="100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03">
                                            <p:txEl>
                                              <p:pRg st="2" end="2"/>
                                            </p:txEl>
                                          </p:spTgt>
                                        </p:tgtEl>
                                        <p:attrNameLst>
                                          <p:attrName>style.visibility</p:attrName>
                                        </p:attrNameLst>
                                      </p:cBhvr>
                                      <p:to>
                                        <p:strVal val="visible"/>
                                      </p:to>
                                    </p:set>
                                    <p:animEffect transition="in" filter="fade">
                                      <p:cBhvr>
                                        <p:cTn id="17" dur="1000"/>
                                        <p:tgtEl>
                                          <p:spTgt spid="100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03">
                                            <p:txEl>
                                              <p:pRg st="3" end="3"/>
                                            </p:txEl>
                                          </p:spTgt>
                                        </p:tgtEl>
                                        <p:attrNameLst>
                                          <p:attrName>style.visibility</p:attrName>
                                        </p:attrNameLst>
                                      </p:cBhvr>
                                      <p:to>
                                        <p:strVal val="visible"/>
                                      </p:to>
                                    </p:set>
                                    <p:animEffect transition="in" filter="fade">
                                      <p:cBhvr>
                                        <p:cTn id="22" dur="1000"/>
                                        <p:tgtEl>
                                          <p:spTgt spid="100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03">
                                            <p:txEl>
                                              <p:pRg st="4" end="4"/>
                                            </p:txEl>
                                          </p:spTgt>
                                        </p:tgtEl>
                                        <p:attrNameLst>
                                          <p:attrName>style.visibility</p:attrName>
                                        </p:attrNameLst>
                                      </p:cBhvr>
                                      <p:to>
                                        <p:strVal val="visible"/>
                                      </p:to>
                                    </p:set>
                                    <p:animEffect transition="in" filter="fade">
                                      <p:cBhvr>
                                        <p:cTn id="27" dur="1000"/>
                                        <p:tgtEl>
                                          <p:spTgt spid="100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03">
                                            <p:txEl>
                                              <p:pRg st="5" end="5"/>
                                            </p:txEl>
                                          </p:spTgt>
                                        </p:tgtEl>
                                        <p:attrNameLst>
                                          <p:attrName>style.visibility</p:attrName>
                                        </p:attrNameLst>
                                      </p:cBhvr>
                                      <p:to>
                                        <p:strVal val="visible"/>
                                      </p:to>
                                    </p:set>
                                    <p:animEffect transition="in" filter="fade">
                                      <p:cBhvr>
                                        <p:cTn id="32" dur="1000"/>
                                        <p:tgtEl>
                                          <p:spTgt spid="100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03">
                                            <p:txEl>
                                              <p:pRg st="6" end="6"/>
                                            </p:txEl>
                                          </p:spTgt>
                                        </p:tgtEl>
                                        <p:attrNameLst>
                                          <p:attrName>style.visibility</p:attrName>
                                        </p:attrNameLst>
                                      </p:cBhvr>
                                      <p:to>
                                        <p:strVal val="visible"/>
                                      </p:to>
                                    </p:set>
                                    <p:animEffect transition="in" filter="fade">
                                      <p:cBhvr>
                                        <p:cTn id="37" dur="1000"/>
                                        <p:tgtEl>
                                          <p:spTgt spid="1003">
                                            <p:txEl>
                                              <p:pRg st="6" end="6"/>
                                            </p:txEl>
                                          </p:spTgt>
                                        </p:tgtEl>
                                      </p:cBhvr>
                                    </p:animEffect>
                                  </p:childTnLst>
                                </p:cTn>
                              </p:par>
                            </p:childTnLst>
                          </p:cTn>
                        </p:par>
                        <p:par>
                          <p:cTn id="38" fill="hold">
                            <p:stCondLst>
                              <p:cond delay="1000"/>
                            </p:stCondLst>
                            <p:childTnLst>
                              <p:par>
                                <p:cTn id="39" presetID="1" presetClass="entr" presetSubtype="0" fill="hold" nodeType="afterEffect">
                                  <p:stCondLst>
                                    <p:cond delay="0"/>
                                  </p:stCondLst>
                                  <p:childTnLst>
                                    <p:set>
                                      <p:cBhvr>
                                        <p:cTn id="40" dur="1" fill="hold">
                                          <p:stCondLst>
                                            <p:cond delay="0"/>
                                          </p:stCondLst>
                                        </p:cTn>
                                        <p:tgtEl>
                                          <p:spTgt spid="100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013"/>
                                        </p:tgtEl>
                                        <p:attrNameLst>
                                          <p:attrName>style.visibility</p:attrName>
                                        </p:attrNameLst>
                                      </p:cBhvr>
                                      <p:to>
                                        <p:strVal val="visible"/>
                                      </p:to>
                                    </p:set>
                                    <p:animEffect transition="in" filter="fade">
                                      <p:cBhvr>
                                        <p:cTn id="45" dur="1000"/>
                                        <p:tgtEl>
                                          <p:spTgt spid="101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014"/>
                                        </p:tgtEl>
                                        <p:attrNameLst>
                                          <p:attrName>style.visibility</p:attrName>
                                        </p:attrNameLst>
                                      </p:cBhvr>
                                      <p:to>
                                        <p:strVal val="visible"/>
                                      </p:to>
                                    </p:set>
                                    <p:animEffect transition="in" filter="fade">
                                      <p:cBhvr>
                                        <p:cTn id="50" dur="1000"/>
                                        <p:tgtEl>
                                          <p:spTgt spid="101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015"/>
                                        </p:tgtEl>
                                        <p:attrNameLst>
                                          <p:attrName>style.visibility</p:attrName>
                                        </p:attrNameLst>
                                      </p:cBhvr>
                                      <p:to>
                                        <p:strVal val="visible"/>
                                      </p:to>
                                    </p:set>
                                    <p:animEffect transition="in" filter="fade">
                                      <p:cBhvr>
                                        <p:cTn id="55" dur="1000"/>
                                        <p:tgtEl>
                                          <p:spTgt spid="10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020"/>
        <p:cNvGrpSpPr/>
        <p:nvPr/>
      </p:nvGrpSpPr>
      <p:grpSpPr>
        <a:xfrm>
          <a:off x="0" y="0"/>
          <a:ext cx="0" cy="0"/>
          <a:chOff x="0" y="0"/>
          <a:chExt cx="0" cy="0"/>
        </a:xfrm>
      </p:grpSpPr>
      <p:sp>
        <p:nvSpPr>
          <p:cNvPr id="1021" name="Google Shape;1021;p79"/>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Inspecting the Club</a:t>
            </a:r>
            <a:endParaRPr/>
          </a:p>
        </p:txBody>
      </p:sp>
      <p:sp>
        <p:nvSpPr>
          <p:cNvPr id="1022" name="Google Shape;1022;p79"/>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Club Chévre. has been provided to you in the chevre package of your repository. It uses several different data structures to keep track of the goats that are in and around the club. Spend a few minutes inspecting the code. If you have any questions, raise your hand!</a:t>
            </a:r>
            <a:endParaRPr/>
          </a:p>
        </p:txBody>
      </p:sp>
      <p:sp>
        <p:nvSpPr>
          <p:cNvPr id="1023" name="Google Shape;1023;p7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48</a:t>
            </a:fld>
            <a:endParaRPr/>
          </a:p>
        </p:txBody>
      </p:sp>
      <p:sp>
        <p:nvSpPr>
          <p:cNvPr id="1024" name="Google Shape;1024;p79"/>
          <p:cNvSpPr txBox="1">
            <a:spLocks noGrp="1"/>
          </p:cNvSpPr>
          <p:nvPr>
            <p:ph type="body" idx="2"/>
          </p:nvPr>
        </p:nvSpPr>
        <p:spPr>
          <a:xfrm>
            <a:off x="3660975" y="1770725"/>
            <a:ext cx="5310300" cy="30222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provided </a:t>
            </a:r>
            <a:r>
              <a:rPr lang="en" sz="1500">
                <a:solidFill>
                  <a:srgbClr val="FF0000"/>
                </a:solidFill>
                <a:latin typeface="Courier New"/>
                <a:ea typeface="Courier New"/>
                <a:cs typeface="Courier New"/>
                <a:sym typeface="Courier New"/>
              </a:rPr>
              <a:t>ClubChevre</a:t>
            </a:r>
            <a:r>
              <a:rPr lang="en" sz="1500">
                <a:solidFill>
                  <a:srgbClr val="FF0000"/>
                </a:solidFill>
              </a:rPr>
              <a:t> </a:t>
            </a:r>
            <a:r>
              <a:rPr lang="en" sz="1500"/>
              <a:t>class and spend a few moments inspecting the code and consider the following questions:</a:t>
            </a:r>
            <a:endParaRPr sz="1500"/>
          </a:p>
          <a:p>
            <a:pPr marL="914400" lvl="1" indent="-311150" algn="l" rtl="0">
              <a:spcBef>
                <a:spcPts val="0"/>
              </a:spcBef>
              <a:spcAft>
                <a:spcPts val="0"/>
              </a:spcAft>
              <a:buSzPts val="1300"/>
              <a:buChar char="○"/>
            </a:pPr>
            <a:r>
              <a:rPr lang="en" sz="1300"/>
              <a:t>How are the </a:t>
            </a:r>
            <a:r>
              <a:rPr lang="en" sz="1300" b="1" i="1">
                <a:solidFill>
                  <a:srgbClr val="FF0000"/>
                </a:solidFill>
              </a:rPr>
              <a:t>line</a:t>
            </a:r>
            <a:r>
              <a:rPr lang="en" sz="1300"/>
              <a:t>, </a:t>
            </a:r>
            <a:r>
              <a:rPr lang="en" sz="1300" b="1" i="1">
                <a:solidFill>
                  <a:srgbClr val="FF0000"/>
                </a:solidFill>
              </a:rPr>
              <a:t>dance floor</a:t>
            </a:r>
            <a:r>
              <a:rPr lang="en" sz="1300"/>
              <a:t>, and </a:t>
            </a:r>
            <a:r>
              <a:rPr lang="en" sz="1300" b="1" i="1">
                <a:solidFill>
                  <a:srgbClr val="FF0000"/>
                </a:solidFill>
              </a:rPr>
              <a:t>bar</a:t>
            </a:r>
            <a:r>
              <a:rPr lang="en" sz="1300">
                <a:solidFill>
                  <a:srgbClr val="FF0000"/>
                </a:solidFill>
              </a:rPr>
              <a:t> </a:t>
            </a:r>
            <a:r>
              <a:rPr lang="en" sz="1300"/>
              <a:t>represented in the class?</a:t>
            </a:r>
            <a:endParaRPr sz="1300"/>
          </a:p>
          <a:p>
            <a:pPr marL="1371600" lvl="2" indent="-311150" algn="l" rtl="0">
              <a:spcBef>
                <a:spcPts val="0"/>
              </a:spcBef>
              <a:spcAft>
                <a:spcPts val="0"/>
              </a:spcAft>
              <a:buSzPts val="1300"/>
              <a:buChar char="■"/>
            </a:pPr>
            <a:r>
              <a:rPr lang="en" sz="1300" b="1" i="1">
                <a:solidFill>
                  <a:srgbClr val="FF0000"/>
                </a:solidFill>
              </a:rPr>
              <a:t>Why</a:t>
            </a:r>
            <a:r>
              <a:rPr lang="en" sz="1300">
                <a:solidFill>
                  <a:srgbClr val="FF0000"/>
                </a:solidFill>
              </a:rPr>
              <a:t> </a:t>
            </a:r>
            <a:r>
              <a:rPr lang="en" sz="1300"/>
              <a:t>do you think these data structures were chosen?</a:t>
            </a:r>
            <a:endParaRPr sz="1300"/>
          </a:p>
          <a:p>
            <a:pPr marL="914400" lvl="1" indent="-311150" algn="l" rtl="0">
              <a:spcBef>
                <a:spcPts val="0"/>
              </a:spcBef>
              <a:spcAft>
                <a:spcPts val="0"/>
              </a:spcAft>
              <a:buSzPts val="1300"/>
              <a:buChar char="○"/>
            </a:pPr>
            <a:r>
              <a:rPr lang="en" sz="1300"/>
              <a:t>How does a goat get </a:t>
            </a:r>
            <a:r>
              <a:rPr lang="en" sz="1300" b="1" i="1">
                <a:solidFill>
                  <a:srgbClr val="FF0000"/>
                </a:solidFill>
              </a:rPr>
              <a:t>into </a:t>
            </a:r>
            <a:r>
              <a:rPr lang="en" sz="1300"/>
              <a:t>and</a:t>
            </a:r>
            <a:r>
              <a:rPr lang="en" sz="1300">
                <a:solidFill>
                  <a:srgbClr val="FF0000"/>
                </a:solidFill>
              </a:rPr>
              <a:t> </a:t>
            </a:r>
            <a:r>
              <a:rPr lang="en" sz="1300" b="1" i="1">
                <a:solidFill>
                  <a:srgbClr val="FF0000"/>
                </a:solidFill>
              </a:rPr>
              <a:t>out of</a:t>
            </a:r>
            <a:r>
              <a:rPr lang="en" sz="1300"/>
              <a:t> the line?</a:t>
            </a:r>
            <a:endParaRPr sz="1300"/>
          </a:p>
          <a:p>
            <a:pPr marL="914400" lvl="1" indent="-311150" algn="l" rtl="0">
              <a:spcBef>
                <a:spcPts val="0"/>
              </a:spcBef>
              <a:spcAft>
                <a:spcPts val="0"/>
              </a:spcAft>
              <a:buSzPts val="1300"/>
              <a:buChar char="○"/>
            </a:pPr>
            <a:r>
              <a:rPr lang="en" sz="1300"/>
              <a:t>How does a goat get </a:t>
            </a:r>
            <a:r>
              <a:rPr lang="en" sz="1300" b="1" i="1">
                <a:solidFill>
                  <a:srgbClr val="FF0000"/>
                </a:solidFill>
              </a:rPr>
              <a:t>on</a:t>
            </a:r>
            <a:r>
              <a:rPr lang="en" sz="1300">
                <a:solidFill>
                  <a:srgbClr val="FF0000"/>
                </a:solidFill>
              </a:rPr>
              <a:t> </a:t>
            </a:r>
            <a:r>
              <a:rPr lang="en" sz="1300"/>
              <a:t>or </a:t>
            </a:r>
            <a:r>
              <a:rPr lang="en" sz="1300" b="1" i="1">
                <a:solidFill>
                  <a:srgbClr val="FF0000"/>
                </a:solidFill>
              </a:rPr>
              <a:t>off</a:t>
            </a:r>
            <a:r>
              <a:rPr lang="en" sz="1300">
                <a:solidFill>
                  <a:srgbClr val="FF0000"/>
                </a:solidFill>
              </a:rPr>
              <a:t> </a:t>
            </a:r>
            <a:r>
              <a:rPr lang="en" sz="1300"/>
              <a:t>the dance floor?</a:t>
            </a:r>
            <a:endParaRPr sz="1300"/>
          </a:p>
          <a:p>
            <a:pPr marL="914400" lvl="1" indent="-311150" algn="l" rtl="0">
              <a:spcBef>
                <a:spcPts val="0"/>
              </a:spcBef>
              <a:spcAft>
                <a:spcPts val="0"/>
              </a:spcAft>
              <a:buSzPts val="1300"/>
              <a:buChar char="○"/>
            </a:pPr>
            <a:r>
              <a:rPr lang="en" sz="1300"/>
              <a:t>How does a goat </a:t>
            </a:r>
            <a:r>
              <a:rPr lang="en" sz="1300" b="1" i="1">
                <a:solidFill>
                  <a:srgbClr val="FF0000"/>
                </a:solidFill>
              </a:rPr>
              <a:t>sit</a:t>
            </a:r>
            <a:r>
              <a:rPr lang="en" sz="1300">
                <a:solidFill>
                  <a:srgbClr val="FF0000"/>
                </a:solidFill>
              </a:rPr>
              <a:t> </a:t>
            </a:r>
            <a:r>
              <a:rPr lang="en" sz="1300" b="1" i="1">
                <a:solidFill>
                  <a:srgbClr val="FF0000"/>
                </a:solidFill>
              </a:rPr>
              <a:t>at</a:t>
            </a:r>
            <a:r>
              <a:rPr lang="en" sz="1300"/>
              <a:t> or </a:t>
            </a:r>
            <a:r>
              <a:rPr lang="en" sz="1300" b="1" i="1">
                <a:solidFill>
                  <a:srgbClr val="FF0000"/>
                </a:solidFill>
              </a:rPr>
              <a:t>leave</a:t>
            </a:r>
            <a:r>
              <a:rPr lang="en" sz="1300">
                <a:solidFill>
                  <a:srgbClr val="FF0000"/>
                </a:solidFill>
              </a:rPr>
              <a:t> </a:t>
            </a:r>
            <a:r>
              <a:rPr lang="en" sz="1300"/>
              <a:t>the bar?</a:t>
            </a:r>
            <a:endParaRPr sz="1300"/>
          </a:p>
          <a:p>
            <a:pPr marL="914400" lvl="1" indent="-311150" algn="l" rtl="0">
              <a:spcBef>
                <a:spcPts val="0"/>
              </a:spcBef>
              <a:spcAft>
                <a:spcPts val="0"/>
              </a:spcAft>
              <a:buSzPts val="1300"/>
              <a:buChar char="○"/>
            </a:pPr>
            <a:r>
              <a:rPr lang="en" sz="1300"/>
              <a:t>How does the Troll know if there is </a:t>
            </a:r>
            <a:r>
              <a:rPr lang="en" sz="1300" b="1" i="1">
                <a:solidFill>
                  <a:srgbClr val="FF0000"/>
                </a:solidFill>
              </a:rPr>
              <a:t>room for more goats</a:t>
            </a:r>
            <a:r>
              <a:rPr lang="en" sz="1300"/>
              <a:t> in the club?</a:t>
            </a:r>
            <a:endParaRPr sz="1300"/>
          </a:p>
        </p:txBody>
      </p:sp>
      <p:sp>
        <p:nvSpPr>
          <p:cNvPr id="1025" name="Google Shape;1025;p79"/>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11.16</a:t>
            </a:r>
            <a:endParaRPr u="sng"/>
          </a:p>
        </p:txBody>
      </p:sp>
      <p:grpSp>
        <p:nvGrpSpPr>
          <p:cNvPr id="1026" name="Google Shape;1026;p79"/>
          <p:cNvGrpSpPr/>
          <p:nvPr/>
        </p:nvGrpSpPr>
        <p:grpSpPr>
          <a:xfrm>
            <a:off x="134175" y="1770725"/>
            <a:ext cx="3423625" cy="2570825"/>
            <a:chOff x="210375" y="1923125"/>
            <a:chExt cx="3423625" cy="2570825"/>
          </a:xfrm>
        </p:grpSpPr>
        <p:pic>
          <p:nvPicPr>
            <p:cNvPr id="1027" name="Google Shape;1027;p79"/>
            <p:cNvPicPr preferRelativeResize="0"/>
            <p:nvPr/>
          </p:nvPicPr>
          <p:blipFill>
            <a:blip r:embed="rId3">
              <a:alphaModFix/>
            </a:blip>
            <a:stretch>
              <a:fillRect/>
            </a:stretch>
          </p:blipFill>
          <p:spPr>
            <a:xfrm>
              <a:off x="210375" y="1923125"/>
              <a:ext cx="3423625" cy="2570825"/>
            </a:xfrm>
            <a:prstGeom prst="rect">
              <a:avLst/>
            </a:prstGeom>
            <a:noFill/>
            <a:ln w="19050" cap="flat" cmpd="sng">
              <a:solidFill>
                <a:srgbClr val="000000"/>
              </a:solidFill>
              <a:prstDash val="solid"/>
              <a:round/>
              <a:headEnd type="none" w="sm" len="sm"/>
              <a:tailEnd type="none" w="sm" len="sm"/>
            </a:ln>
          </p:spPr>
        </p:pic>
        <p:pic>
          <p:nvPicPr>
            <p:cNvPr id="1028" name="Google Shape;1028;p79"/>
            <p:cNvPicPr preferRelativeResize="0"/>
            <p:nvPr/>
          </p:nvPicPr>
          <p:blipFill rotWithShape="1">
            <a:blip r:embed="rId4">
              <a:alphaModFix/>
            </a:blip>
            <a:srcRect/>
            <a:stretch/>
          </p:blipFill>
          <p:spPr>
            <a:xfrm>
              <a:off x="806450" y="2652000"/>
              <a:ext cx="993924" cy="1458851"/>
            </a:xfrm>
            <a:prstGeom prst="rect">
              <a:avLst/>
            </a:prstGeom>
            <a:noFill/>
            <a:ln>
              <a:noFill/>
            </a:ln>
          </p:spPr>
        </p:pic>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032"/>
        <p:cNvGrpSpPr/>
        <p:nvPr/>
      </p:nvGrpSpPr>
      <p:grpSpPr>
        <a:xfrm>
          <a:off x="0" y="0"/>
          <a:ext cx="0" cy="0"/>
          <a:chOff x="0" y="0"/>
          <a:chExt cx="0" cy="0"/>
        </a:xfrm>
      </p:grpSpPr>
      <p:sp>
        <p:nvSpPr>
          <p:cNvPr id="1033" name="Google Shape;1033;p80"/>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Party Goats</a:t>
            </a:r>
            <a:endParaRPr/>
          </a:p>
        </p:txBody>
      </p:sp>
      <p:sp>
        <p:nvSpPr>
          <p:cNvPr id="1034" name="Google Shape;1034;p80"/>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Each of the goats in Club Chèvre will be represented as a thread. Goats may be waiting in line outside of the club, dancing on the dance floor inside the club, or relaxing at the bar. Begin implementing a class to represent a </a:t>
            </a:r>
            <a:r>
              <a:rPr lang="en">
                <a:latin typeface="Courier New"/>
                <a:ea typeface="Courier New"/>
                <a:cs typeface="Courier New"/>
                <a:sym typeface="Courier New"/>
              </a:rPr>
              <a:t>Goat</a:t>
            </a:r>
            <a:r>
              <a:rPr lang="en"/>
              <a:t> dancing the night away at world famous Club Chèvre.</a:t>
            </a:r>
            <a:endParaRPr/>
          </a:p>
        </p:txBody>
      </p:sp>
      <p:sp>
        <p:nvSpPr>
          <p:cNvPr id="1035" name="Google Shape;1035;p8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49</a:t>
            </a:fld>
            <a:endParaRPr/>
          </a:p>
        </p:txBody>
      </p:sp>
      <p:sp>
        <p:nvSpPr>
          <p:cNvPr id="1036" name="Google Shape;1036;p80"/>
          <p:cNvSpPr txBox="1">
            <a:spLocks noGrp="1"/>
          </p:cNvSpPr>
          <p:nvPr>
            <p:ph type="body" idx="2"/>
          </p:nvPr>
        </p:nvSpPr>
        <p:spPr>
          <a:xfrm>
            <a:off x="3623150" y="1784525"/>
            <a:ext cx="5317800" cy="2827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provided </a:t>
            </a:r>
            <a:r>
              <a:rPr lang="en" sz="1500">
                <a:solidFill>
                  <a:srgbClr val="FF0000"/>
                </a:solidFill>
                <a:latin typeface="Courier New"/>
                <a:ea typeface="Courier New"/>
                <a:cs typeface="Courier New"/>
                <a:sym typeface="Courier New"/>
              </a:rPr>
              <a:t>Goat</a:t>
            </a:r>
            <a:r>
              <a:rPr lang="en" sz="1500">
                <a:solidFill>
                  <a:srgbClr val="FF0000"/>
                </a:solidFill>
              </a:rPr>
              <a:t> </a:t>
            </a:r>
            <a:r>
              <a:rPr lang="en" sz="1500"/>
              <a:t>class and add the following attributes (use the provided </a:t>
            </a:r>
            <a:r>
              <a:rPr lang="en" sz="1500">
                <a:solidFill>
                  <a:srgbClr val="FF0000"/>
                </a:solidFill>
                <a:latin typeface="Courier New"/>
                <a:ea typeface="Courier New"/>
                <a:cs typeface="Courier New"/>
                <a:sym typeface="Courier New"/>
              </a:rPr>
              <a:t>chevre.Utils</a:t>
            </a:r>
            <a:r>
              <a:rPr lang="en" sz="1500"/>
              <a:t> class to help with the </a:t>
            </a:r>
            <a:r>
              <a:rPr lang="en" sz="1500" b="1" i="1">
                <a:solidFill>
                  <a:srgbClr val="FF0000"/>
                </a:solidFill>
              </a:rPr>
              <a:t>random </a:t>
            </a:r>
            <a:r>
              <a:rPr lang="en" sz="1500"/>
              <a:t>stuff).</a:t>
            </a:r>
            <a:endParaRPr sz="1500"/>
          </a:p>
          <a:p>
            <a:pPr marL="914400" lvl="1" indent="-311150" algn="l" rtl="0">
              <a:spcBef>
                <a:spcPts val="0"/>
              </a:spcBef>
              <a:spcAft>
                <a:spcPts val="0"/>
              </a:spcAft>
              <a:buSzPts val="1300"/>
              <a:buChar char="○"/>
            </a:pPr>
            <a:r>
              <a:rPr lang="en" sz="1300"/>
              <a:t>A random </a:t>
            </a:r>
            <a:r>
              <a:rPr lang="en" sz="1300">
                <a:solidFill>
                  <a:srgbClr val="FF0000"/>
                </a:solidFill>
                <a:latin typeface="Courier New"/>
                <a:ea typeface="Courier New"/>
                <a:cs typeface="Courier New"/>
                <a:sym typeface="Courier New"/>
              </a:rPr>
              <a:t>name</a:t>
            </a:r>
            <a:r>
              <a:rPr lang="en" sz="1300"/>
              <a:t>.</a:t>
            </a:r>
            <a:endParaRPr sz="1300"/>
          </a:p>
          <a:p>
            <a:pPr marL="914400" lvl="1" indent="-311150" algn="l" rtl="0">
              <a:spcBef>
                <a:spcPts val="0"/>
              </a:spcBef>
              <a:spcAft>
                <a:spcPts val="0"/>
              </a:spcAft>
              <a:buSzPts val="1300"/>
              <a:buChar char="○"/>
            </a:pPr>
            <a:r>
              <a:rPr lang="en" sz="1300"/>
              <a:t>A random </a:t>
            </a:r>
            <a:r>
              <a:rPr lang="en" sz="1300">
                <a:solidFill>
                  <a:srgbClr val="FF0000"/>
                </a:solidFill>
                <a:latin typeface="Courier New"/>
                <a:ea typeface="Courier New"/>
                <a:cs typeface="Courier New"/>
                <a:sym typeface="Courier New"/>
              </a:rPr>
              <a:t>coolness</a:t>
            </a:r>
            <a:r>
              <a:rPr lang="en" sz="1300">
                <a:solidFill>
                  <a:srgbClr val="FF0000"/>
                </a:solidFill>
              </a:rPr>
              <a:t> </a:t>
            </a:r>
            <a:r>
              <a:rPr lang="en" sz="1300"/>
              <a:t>factor between </a:t>
            </a:r>
            <a:r>
              <a:rPr lang="en" sz="1300">
                <a:latin typeface="Courier New"/>
                <a:ea typeface="Courier New"/>
                <a:cs typeface="Courier New"/>
                <a:sym typeface="Courier New"/>
              </a:rPr>
              <a:t>1</a:t>
            </a:r>
            <a:r>
              <a:rPr lang="en" sz="1300"/>
              <a:t> and </a:t>
            </a:r>
            <a:r>
              <a:rPr lang="en" sz="1300">
                <a:latin typeface="Courier New"/>
                <a:ea typeface="Courier New"/>
                <a:cs typeface="Courier New"/>
                <a:sym typeface="Courier New"/>
              </a:rPr>
              <a:t>100</a:t>
            </a:r>
            <a:r>
              <a:rPr lang="en" sz="1300"/>
              <a:t>.</a:t>
            </a:r>
            <a:endParaRPr sz="1300"/>
          </a:p>
          <a:p>
            <a:pPr marL="914400" lvl="1" indent="-311150" algn="l" rtl="0">
              <a:spcBef>
                <a:spcPts val="0"/>
              </a:spcBef>
              <a:spcAft>
                <a:spcPts val="0"/>
              </a:spcAft>
              <a:buSzPts val="1300"/>
              <a:buChar char="○"/>
            </a:pPr>
            <a:r>
              <a:rPr lang="en" sz="1300"/>
              <a:t>A random </a:t>
            </a:r>
            <a:r>
              <a:rPr lang="en" sz="1300">
                <a:solidFill>
                  <a:srgbClr val="FF0000"/>
                </a:solidFill>
                <a:latin typeface="Courier New"/>
                <a:ea typeface="Courier New"/>
                <a:cs typeface="Courier New"/>
                <a:sym typeface="Courier New"/>
              </a:rPr>
              <a:t>stamina</a:t>
            </a:r>
            <a:r>
              <a:rPr lang="en" sz="1300">
                <a:solidFill>
                  <a:srgbClr val="FF0000"/>
                </a:solidFill>
              </a:rPr>
              <a:t> </a:t>
            </a:r>
            <a:r>
              <a:rPr lang="en" sz="1300"/>
              <a:t>between </a:t>
            </a:r>
            <a:r>
              <a:rPr lang="en" sz="1300">
                <a:latin typeface="Courier New"/>
                <a:ea typeface="Courier New"/>
                <a:cs typeface="Courier New"/>
                <a:sym typeface="Courier New"/>
              </a:rPr>
              <a:t>5</a:t>
            </a:r>
            <a:r>
              <a:rPr lang="en" sz="1300"/>
              <a:t> and </a:t>
            </a:r>
            <a:r>
              <a:rPr lang="en" sz="1300">
                <a:latin typeface="Courier New"/>
                <a:ea typeface="Courier New"/>
                <a:cs typeface="Courier New"/>
                <a:sym typeface="Courier New"/>
              </a:rPr>
              <a:t>10</a:t>
            </a:r>
            <a:r>
              <a:rPr lang="en" sz="1300"/>
              <a:t>. The goat's stamina indicates the number of seconds that the goat can party on the dance floor.</a:t>
            </a:r>
            <a:endParaRPr sz="1300"/>
          </a:p>
          <a:p>
            <a:pPr marL="457200" lvl="0" indent="-323850" algn="l" rtl="0">
              <a:spcBef>
                <a:spcPts val="0"/>
              </a:spcBef>
              <a:spcAft>
                <a:spcPts val="0"/>
              </a:spcAft>
              <a:buSzPts val="1500"/>
              <a:buChar char="●"/>
            </a:pPr>
            <a:r>
              <a:rPr lang="en" sz="1500"/>
              <a:t>Make the </a:t>
            </a:r>
            <a:r>
              <a:rPr lang="en" sz="1500">
                <a:latin typeface="Courier New"/>
                <a:ea typeface="Courier New"/>
                <a:cs typeface="Courier New"/>
                <a:sym typeface="Courier New"/>
              </a:rPr>
              <a:t>Goat</a:t>
            </a:r>
            <a:r>
              <a:rPr lang="en" sz="1500"/>
              <a:t> class.</a:t>
            </a:r>
            <a:endParaRPr sz="1500"/>
          </a:p>
          <a:p>
            <a:pPr marL="914400" lvl="1" indent="-311150" algn="l" rtl="0">
              <a:spcBef>
                <a:spcPts val="0"/>
              </a:spcBef>
              <a:spcAft>
                <a:spcPts val="0"/>
              </a:spcAft>
              <a:buSzPts val="1300"/>
              <a:buChar char="○"/>
            </a:pPr>
            <a:r>
              <a:rPr lang="en" sz="1300"/>
              <a:t>Don't worry about the </a:t>
            </a:r>
            <a:r>
              <a:rPr lang="en" sz="1300">
                <a:solidFill>
                  <a:srgbClr val="FF0000"/>
                </a:solidFill>
                <a:latin typeface="Courier New"/>
                <a:ea typeface="Courier New"/>
                <a:cs typeface="Courier New"/>
                <a:sym typeface="Courier New"/>
              </a:rPr>
              <a:t>run()</a:t>
            </a:r>
            <a:r>
              <a:rPr lang="en" sz="1300"/>
              <a:t> method yet; just stub it out for now.</a:t>
            </a:r>
            <a:endParaRPr sz="1300"/>
          </a:p>
        </p:txBody>
      </p:sp>
      <p:sp>
        <p:nvSpPr>
          <p:cNvPr id="1037" name="Google Shape;1037;p80"/>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11.17</a:t>
            </a:r>
            <a:endParaRPr u="sng"/>
          </a:p>
        </p:txBody>
      </p:sp>
      <p:grpSp>
        <p:nvGrpSpPr>
          <p:cNvPr id="1038" name="Google Shape;1038;p80"/>
          <p:cNvGrpSpPr/>
          <p:nvPr/>
        </p:nvGrpSpPr>
        <p:grpSpPr>
          <a:xfrm>
            <a:off x="134175" y="1923125"/>
            <a:ext cx="3423625" cy="2570825"/>
            <a:chOff x="134175" y="1465925"/>
            <a:chExt cx="3423625" cy="2570825"/>
          </a:xfrm>
        </p:grpSpPr>
        <p:pic>
          <p:nvPicPr>
            <p:cNvPr id="1039" name="Google Shape;1039;p80"/>
            <p:cNvPicPr preferRelativeResize="0"/>
            <p:nvPr/>
          </p:nvPicPr>
          <p:blipFill>
            <a:blip r:embed="rId3">
              <a:alphaModFix/>
            </a:blip>
            <a:stretch>
              <a:fillRect/>
            </a:stretch>
          </p:blipFill>
          <p:spPr>
            <a:xfrm>
              <a:off x="134175" y="1465925"/>
              <a:ext cx="3423625" cy="2570825"/>
            </a:xfrm>
            <a:prstGeom prst="rect">
              <a:avLst/>
            </a:prstGeom>
            <a:noFill/>
            <a:ln w="19050" cap="flat" cmpd="sng">
              <a:solidFill>
                <a:srgbClr val="000000"/>
              </a:solidFill>
              <a:prstDash val="solid"/>
              <a:round/>
              <a:headEnd type="none" w="sm" len="sm"/>
              <a:tailEnd type="none" w="sm" len="sm"/>
            </a:ln>
          </p:spPr>
        </p:pic>
        <p:pic>
          <p:nvPicPr>
            <p:cNvPr id="1040" name="Google Shape;1040;p80"/>
            <p:cNvPicPr preferRelativeResize="0"/>
            <p:nvPr/>
          </p:nvPicPr>
          <p:blipFill rotWithShape="1">
            <a:blip r:embed="rId4">
              <a:alphaModFix/>
            </a:blip>
            <a:srcRect t="32116"/>
            <a:stretch/>
          </p:blipFill>
          <p:spPr>
            <a:xfrm>
              <a:off x="2417075" y="2532975"/>
              <a:ext cx="657175" cy="642425"/>
            </a:xfrm>
            <a:prstGeom prst="rect">
              <a:avLst/>
            </a:prstGeom>
            <a:noFill/>
            <a:ln>
              <a:noFill/>
            </a:ln>
          </p:spPr>
        </p:pic>
        <p:pic>
          <p:nvPicPr>
            <p:cNvPr id="1041" name="Google Shape;1041;p80"/>
            <p:cNvPicPr preferRelativeResize="0"/>
            <p:nvPr/>
          </p:nvPicPr>
          <p:blipFill rotWithShape="1">
            <a:blip r:embed="rId4">
              <a:alphaModFix/>
            </a:blip>
            <a:srcRect t="32116"/>
            <a:stretch/>
          </p:blipFill>
          <p:spPr>
            <a:xfrm>
              <a:off x="1077725" y="2279900"/>
              <a:ext cx="657175" cy="642425"/>
            </a:xfrm>
            <a:prstGeom prst="rect">
              <a:avLst/>
            </a:prstGeom>
            <a:noFill/>
            <a:ln>
              <a:noFill/>
            </a:ln>
          </p:spPr>
        </p:pic>
        <p:pic>
          <p:nvPicPr>
            <p:cNvPr id="1042" name="Google Shape;1042;p80"/>
            <p:cNvPicPr preferRelativeResize="0"/>
            <p:nvPr/>
          </p:nvPicPr>
          <p:blipFill rotWithShape="1">
            <a:blip r:embed="rId4">
              <a:alphaModFix/>
            </a:blip>
            <a:srcRect t="32116"/>
            <a:stretch/>
          </p:blipFill>
          <p:spPr>
            <a:xfrm flipH="1">
              <a:off x="1768925" y="2432300"/>
              <a:ext cx="657175" cy="642425"/>
            </a:xfrm>
            <a:prstGeom prst="rect">
              <a:avLst/>
            </a:prstGeom>
            <a:noFill/>
            <a:ln>
              <a:noFill/>
            </a:ln>
          </p:spPr>
        </p:pic>
        <p:pic>
          <p:nvPicPr>
            <p:cNvPr id="1043" name="Google Shape;1043;p80"/>
            <p:cNvPicPr preferRelativeResize="0"/>
            <p:nvPr/>
          </p:nvPicPr>
          <p:blipFill rotWithShape="1">
            <a:blip r:embed="rId4">
              <a:alphaModFix/>
            </a:blip>
            <a:srcRect t="32116"/>
            <a:stretch/>
          </p:blipFill>
          <p:spPr>
            <a:xfrm>
              <a:off x="2455275" y="2985300"/>
              <a:ext cx="657175" cy="642425"/>
            </a:xfrm>
            <a:prstGeom prst="rect">
              <a:avLst/>
            </a:prstGeom>
            <a:noFill/>
            <a:ln>
              <a:noFill/>
            </a:ln>
          </p:spPr>
        </p:pic>
        <p:pic>
          <p:nvPicPr>
            <p:cNvPr id="1044" name="Google Shape;1044;p80"/>
            <p:cNvPicPr preferRelativeResize="0"/>
            <p:nvPr/>
          </p:nvPicPr>
          <p:blipFill rotWithShape="1">
            <a:blip r:embed="rId4">
              <a:alphaModFix/>
            </a:blip>
            <a:srcRect t="32116"/>
            <a:stretch/>
          </p:blipFill>
          <p:spPr>
            <a:xfrm flipH="1">
              <a:off x="558050" y="2562475"/>
              <a:ext cx="657175" cy="642425"/>
            </a:xfrm>
            <a:prstGeom prst="rect">
              <a:avLst/>
            </a:prstGeom>
            <a:noFill/>
            <a:ln>
              <a:noFill/>
            </a:ln>
          </p:spPr>
        </p:pic>
        <p:pic>
          <p:nvPicPr>
            <p:cNvPr id="1045" name="Google Shape;1045;p80"/>
            <p:cNvPicPr preferRelativeResize="0"/>
            <p:nvPr/>
          </p:nvPicPr>
          <p:blipFill rotWithShape="1">
            <a:blip r:embed="rId4">
              <a:alphaModFix/>
            </a:blip>
            <a:srcRect t="32116"/>
            <a:stretch/>
          </p:blipFill>
          <p:spPr>
            <a:xfrm>
              <a:off x="785750" y="2985300"/>
              <a:ext cx="657175" cy="642425"/>
            </a:xfrm>
            <a:prstGeom prst="rect">
              <a:avLst/>
            </a:prstGeom>
            <a:noFill/>
            <a:ln>
              <a:noFill/>
            </a:ln>
          </p:spPr>
        </p:pic>
        <p:pic>
          <p:nvPicPr>
            <p:cNvPr id="1046" name="Google Shape;1046;p80"/>
            <p:cNvPicPr preferRelativeResize="0"/>
            <p:nvPr/>
          </p:nvPicPr>
          <p:blipFill rotWithShape="1">
            <a:blip r:embed="rId4">
              <a:alphaModFix/>
            </a:blip>
            <a:srcRect t="32116"/>
            <a:stretch/>
          </p:blipFill>
          <p:spPr>
            <a:xfrm flipH="1">
              <a:off x="1605600" y="3074725"/>
              <a:ext cx="657175" cy="642425"/>
            </a:xfrm>
            <a:prstGeom prst="rect">
              <a:avLst/>
            </a:prstGeom>
            <a:noFill/>
            <a:ln>
              <a:noFill/>
            </a:ln>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1050"/>
        <p:cNvGrpSpPr/>
        <p:nvPr/>
      </p:nvGrpSpPr>
      <p:grpSpPr>
        <a:xfrm>
          <a:off x="0" y="0"/>
          <a:ext cx="0" cy="0"/>
          <a:chOff x="0" y="0"/>
          <a:chExt cx="0" cy="0"/>
        </a:xfrm>
      </p:grpSpPr>
      <p:sp>
        <p:nvSpPr>
          <p:cNvPr id="1051" name="Google Shape;1051;p81"/>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Goat Lineup</a:t>
            </a:r>
            <a:endParaRPr/>
          </a:p>
        </p:txBody>
      </p:sp>
      <p:sp>
        <p:nvSpPr>
          <p:cNvPr id="1052" name="Google Shape;1052;p81"/>
          <p:cNvSpPr txBox="1">
            <a:spLocks noGrp="1"/>
          </p:cNvSpPr>
          <p:nvPr>
            <p:ph type="body" idx="1"/>
          </p:nvPr>
        </p:nvSpPr>
        <p:spPr>
          <a:xfrm>
            <a:off x="65250" y="655425"/>
            <a:ext cx="8955900" cy="923400"/>
          </a:xfrm>
          <a:prstGeom prst="rect">
            <a:avLst/>
          </a:prstGeom>
        </p:spPr>
        <p:txBody>
          <a:bodyPr spcFirstLastPara="1" wrap="square" lIns="91425" tIns="91425" rIns="91425" bIns="91425" anchor="t" anchorCtr="0">
            <a:spAutoFit/>
          </a:bodyPr>
          <a:lstStyle/>
          <a:p>
            <a:pPr marL="0" lvl="0" indent="0" algn="l" rtl="0">
              <a:lnSpc>
                <a:spcPct val="100000"/>
              </a:lnSpc>
              <a:spcBef>
                <a:spcPts val="0"/>
              </a:spcBef>
              <a:spcAft>
                <a:spcPts val="1600"/>
              </a:spcAft>
              <a:buNone/>
            </a:pPr>
            <a:r>
              <a:rPr lang="en"/>
              <a:t>Club Chèvre itself will be the resource shared by all of the goat threads in this simulation. Goats will use it to help decide when to wait, when to dance, and when to recover. Let's continue implementing the </a:t>
            </a:r>
            <a:r>
              <a:rPr lang="en">
                <a:latin typeface="Courier New"/>
                <a:ea typeface="Courier New"/>
                <a:cs typeface="Courier New"/>
                <a:sym typeface="Courier New"/>
              </a:rPr>
              <a:t>Goat</a:t>
            </a:r>
            <a:r>
              <a:rPr lang="en"/>
              <a:t> class.</a:t>
            </a:r>
            <a:endParaRPr/>
          </a:p>
        </p:txBody>
      </p:sp>
      <p:sp>
        <p:nvSpPr>
          <p:cNvPr id="1053" name="Google Shape;1053;p8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50</a:t>
            </a:fld>
            <a:endParaRPr/>
          </a:p>
        </p:txBody>
      </p:sp>
      <p:sp>
        <p:nvSpPr>
          <p:cNvPr id="1054" name="Google Shape;1054;p81"/>
          <p:cNvSpPr txBox="1">
            <a:spLocks noGrp="1"/>
          </p:cNvSpPr>
          <p:nvPr>
            <p:ph type="body" idx="2"/>
          </p:nvPr>
        </p:nvSpPr>
        <p:spPr>
          <a:xfrm>
            <a:off x="3214125" y="1632125"/>
            <a:ext cx="5650800" cy="31815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Open the </a:t>
            </a:r>
            <a:r>
              <a:rPr lang="en">
                <a:solidFill>
                  <a:srgbClr val="FF0000"/>
                </a:solidFill>
                <a:latin typeface="Courier New"/>
                <a:ea typeface="Courier New"/>
                <a:cs typeface="Courier New"/>
                <a:sym typeface="Courier New"/>
              </a:rPr>
              <a:t>Goat</a:t>
            </a:r>
            <a:r>
              <a:rPr lang="en">
                <a:solidFill>
                  <a:srgbClr val="FF0000"/>
                </a:solidFill>
              </a:rPr>
              <a:t> </a:t>
            </a:r>
            <a:r>
              <a:rPr lang="en"/>
              <a:t>class and update it to meet the following requirements:</a:t>
            </a:r>
            <a:endParaRPr/>
          </a:p>
          <a:p>
            <a:pPr marL="914400" lvl="1" indent="-298450" algn="l" rtl="0">
              <a:spcBef>
                <a:spcPts val="0"/>
              </a:spcBef>
              <a:spcAft>
                <a:spcPts val="0"/>
              </a:spcAft>
              <a:buSzPts val="1100"/>
              <a:buChar char="○"/>
            </a:pPr>
            <a:r>
              <a:rPr lang="en"/>
              <a:t>Pass an instance of </a:t>
            </a:r>
            <a:r>
              <a:rPr lang="en">
                <a:solidFill>
                  <a:srgbClr val="FF0000"/>
                </a:solidFill>
                <a:latin typeface="Courier New"/>
                <a:ea typeface="Courier New"/>
                <a:cs typeface="Courier New"/>
                <a:sym typeface="Courier New"/>
              </a:rPr>
              <a:t>ClubChevre</a:t>
            </a:r>
            <a:r>
              <a:rPr lang="en">
                <a:solidFill>
                  <a:srgbClr val="FF0000"/>
                </a:solidFill>
              </a:rPr>
              <a:t> </a:t>
            </a:r>
            <a:r>
              <a:rPr lang="en"/>
              <a:t>into the </a:t>
            </a:r>
            <a:r>
              <a:rPr lang="en">
                <a:latin typeface="Courier New"/>
                <a:ea typeface="Courier New"/>
                <a:cs typeface="Courier New"/>
                <a:sym typeface="Courier New"/>
              </a:rPr>
              <a:t>Goat</a:t>
            </a:r>
            <a:r>
              <a:rPr lang="en"/>
              <a:t> </a:t>
            </a:r>
            <a:r>
              <a:rPr lang="en" b="1" i="1">
                <a:solidFill>
                  <a:srgbClr val="FF0000"/>
                </a:solidFill>
              </a:rPr>
              <a:t>constructor</a:t>
            </a:r>
            <a:r>
              <a:rPr lang="en"/>
              <a:t>.</a:t>
            </a:r>
            <a:endParaRPr/>
          </a:p>
          <a:p>
            <a:pPr marL="914400" lvl="1" indent="-298450" algn="l" rtl="0">
              <a:spcBef>
                <a:spcPts val="0"/>
              </a:spcBef>
              <a:spcAft>
                <a:spcPts val="0"/>
              </a:spcAft>
              <a:buSzPts val="1100"/>
              <a:buChar char="○"/>
            </a:pPr>
            <a:r>
              <a:rPr lang="en"/>
              <a:t>Update the </a:t>
            </a:r>
            <a:r>
              <a:rPr lang="en">
                <a:solidFill>
                  <a:srgbClr val="FF0000"/>
                </a:solidFill>
                <a:latin typeface="Courier New"/>
                <a:ea typeface="Courier New"/>
                <a:cs typeface="Courier New"/>
                <a:sym typeface="Courier New"/>
              </a:rPr>
              <a:t>run()</a:t>
            </a:r>
            <a:r>
              <a:rPr lang="en"/>
              <a:t> method so that:</a:t>
            </a:r>
            <a:endParaRPr/>
          </a:p>
          <a:p>
            <a:pPr marL="1371600" lvl="2" indent="-298450" algn="l" rtl="0">
              <a:spcBef>
                <a:spcPts val="0"/>
              </a:spcBef>
              <a:spcAft>
                <a:spcPts val="0"/>
              </a:spcAft>
              <a:buSzPts val="1100"/>
              <a:buChar char="■"/>
            </a:pPr>
            <a:r>
              <a:rPr lang="en"/>
              <a:t>The </a:t>
            </a:r>
            <a:r>
              <a:rPr lang="en">
                <a:latin typeface="Courier New"/>
                <a:ea typeface="Courier New"/>
                <a:cs typeface="Courier New"/>
                <a:sym typeface="Courier New"/>
              </a:rPr>
              <a:t>Goat</a:t>
            </a:r>
            <a:r>
              <a:rPr lang="en"/>
              <a:t> </a:t>
            </a:r>
            <a:r>
              <a:rPr lang="en" b="1" i="1">
                <a:solidFill>
                  <a:srgbClr val="FF0000"/>
                </a:solidFill>
              </a:rPr>
              <a:t>prints </a:t>
            </a:r>
            <a:r>
              <a:rPr lang="en"/>
              <a:t>a message that it is getting into line behind </a:t>
            </a:r>
            <a:r>
              <a:rPr lang="en" b="1" i="1">
                <a:solidFill>
                  <a:srgbClr val="FF0000"/>
                </a:solidFill>
              </a:rPr>
              <a:t>N</a:t>
            </a:r>
            <a:r>
              <a:rPr lang="en"/>
              <a:t> other goats (where </a:t>
            </a:r>
            <a:r>
              <a:rPr lang="en" b="1" i="1">
                <a:solidFill>
                  <a:srgbClr val="FF0000"/>
                </a:solidFill>
              </a:rPr>
              <a:t>N</a:t>
            </a:r>
            <a:r>
              <a:rPr lang="en"/>
              <a:t> is the number of goats already in line).</a:t>
            </a:r>
            <a:endParaRPr/>
          </a:p>
          <a:p>
            <a:pPr marL="1371600" lvl="2" indent="-298450" algn="l" rtl="0">
              <a:spcBef>
                <a:spcPts val="0"/>
              </a:spcBef>
              <a:spcAft>
                <a:spcPts val="0"/>
              </a:spcAft>
              <a:buSzPts val="1100"/>
              <a:buChar char="■"/>
            </a:pPr>
            <a:r>
              <a:rPr lang="en"/>
              <a:t>The </a:t>
            </a:r>
            <a:r>
              <a:rPr lang="en">
                <a:latin typeface="Courier New"/>
                <a:ea typeface="Courier New"/>
                <a:cs typeface="Courier New"/>
                <a:sym typeface="Courier New"/>
              </a:rPr>
              <a:t>Goat</a:t>
            </a:r>
            <a:r>
              <a:rPr lang="en"/>
              <a:t> </a:t>
            </a:r>
            <a:r>
              <a:rPr lang="en" b="1" i="1">
                <a:solidFill>
                  <a:srgbClr val="FF0000"/>
                </a:solidFill>
              </a:rPr>
              <a:t>gets into line</a:t>
            </a:r>
            <a:r>
              <a:rPr lang="en"/>
              <a:t> outside the club.</a:t>
            </a:r>
            <a:endParaRPr/>
          </a:p>
          <a:p>
            <a:pPr marL="1371600" lvl="2" indent="-298450" algn="l" rtl="0">
              <a:spcBef>
                <a:spcPts val="0"/>
              </a:spcBef>
              <a:spcAft>
                <a:spcPts val="0"/>
              </a:spcAft>
              <a:buSzPts val="1100"/>
              <a:buChar char="■"/>
            </a:pPr>
            <a:r>
              <a:rPr lang="en"/>
              <a:t>The </a:t>
            </a:r>
            <a:r>
              <a:rPr lang="en">
                <a:latin typeface="Courier New"/>
                <a:ea typeface="Courier New"/>
                <a:cs typeface="Courier New"/>
                <a:sym typeface="Courier New"/>
              </a:rPr>
              <a:t>Goat</a:t>
            </a:r>
            <a:r>
              <a:rPr lang="en"/>
              <a:t> </a:t>
            </a:r>
            <a:r>
              <a:rPr lang="en" b="1" i="1">
                <a:solidFill>
                  <a:srgbClr val="FF0000"/>
                </a:solidFill>
              </a:rPr>
              <a:t>waits </a:t>
            </a:r>
            <a:r>
              <a:rPr lang="en"/>
              <a:t>to be selected by the Troll Bouncer to enter the club.</a:t>
            </a:r>
            <a:endParaRPr/>
          </a:p>
          <a:p>
            <a:pPr marL="1371600" lvl="2" indent="-298450" algn="l" rtl="0">
              <a:spcBef>
                <a:spcPts val="0"/>
              </a:spcBef>
              <a:spcAft>
                <a:spcPts val="0"/>
              </a:spcAft>
              <a:buSzPts val="1100"/>
              <a:buChar char="■"/>
            </a:pPr>
            <a:r>
              <a:rPr lang="en"/>
              <a:t>The </a:t>
            </a:r>
            <a:r>
              <a:rPr lang="en">
                <a:latin typeface="Courier New"/>
                <a:ea typeface="Courier New"/>
                <a:cs typeface="Courier New"/>
                <a:sym typeface="Courier New"/>
              </a:rPr>
              <a:t>Goat</a:t>
            </a:r>
            <a:r>
              <a:rPr lang="en"/>
              <a:t> </a:t>
            </a:r>
            <a:r>
              <a:rPr lang="en" b="1" i="1">
                <a:solidFill>
                  <a:srgbClr val="FF0000"/>
                </a:solidFill>
              </a:rPr>
              <a:t>prints </a:t>
            </a:r>
            <a:r>
              <a:rPr lang="en"/>
              <a:t>a message with its name after it is selected by the Troll Bouncer to enter the club. It's the Troll's job to escort the Goat into the club.</a:t>
            </a:r>
            <a:endParaRPr/>
          </a:p>
          <a:p>
            <a:pPr marL="914400" lvl="1" indent="-298450" algn="l" rtl="0">
              <a:spcBef>
                <a:spcPts val="0"/>
              </a:spcBef>
              <a:spcAft>
                <a:spcPts val="0"/>
              </a:spcAft>
              <a:buSzPts val="1100"/>
              <a:buChar char="○"/>
            </a:pPr>
            <a:r>
              <a:rPr lang="en"/>
              <a:t>Add a </a:t>
            </a:r>
            <a:r>
              <a:rPr lang="en">
                <a:solidFill>
                  <a:srgbClr val="FF0000"/>
                </a:solidFill>
                <a:latin typeface="Courier New"/>
                <a:ea typeface="Courier New"/>
                <a:cs typeface="Courier New"/>
                <a:sym typeface="Courier New"/>
              </a:rPr>
              <a:t>main</a:t>
            </a:r>
            <a:r>
              <a:rPr lang="en">
                <a:solidFill>
                  <a:srgbClr val="FF0000"/>
                </a:solidFill>
              </a:rPr>
              <a:t> </a:t>
            </a:r>
            <a:r>
              <a:rPr lang="en"/>
              <a:t>method with the appropriate signature to </a:t>
            </a:r>
            <a:r>
              <a:rPr lang="en" b="1" i="1">
                <a:solidFill>
                  <a:srgbClr val="FF0000"/>
                </a:solidFill>
              </a:rPr>
              <a:t>create and start</a:t>
            </a:r>
            <a:r>
              <a:rPr lang="en"/>
              <a:t> one of your </a:t>
            </a:r>
            <a:r>
              <a:rPr lang="en">
                <a:latin typeface="Courier New"/>
                <a:ea typeface="Courier New"/>
                <a:cs typeface="Courier New"/>
                <a:sym typeface="Courier New"/>
              </a:rPr>
              <a:t>Goat</a:t>
            </a:r>
            <a:r>
              <a:rPr lang="en"/>
              <a:t> threads.</a:t>
            </a:r>
            <a:endParaRPr/>
          </a:p>
          <a:p>
            <a:pPr marL="457200" lvl="0" indent="-311150" algn="l" rtl="0">
              <a:spcBef>
                <a:spcPts val="0"/>
              </a:spcBef>
              <a:spcAft>
                <a:spcPts val="0"/>
              </a:spcAft>
              <a:buSzPts val="1300"/>
              <a:buChar char="●"/>
            </a:pPr>
            <a:r>
              <a:rPr lang="en" b="1" i="1">
                <a:solidFill>
                  <a:srgbClr val="FF0000"/>
                </a:solidFill>
              </a:rPr>
              <a:t>Run</a:t>
            </a:r>
            <a:r>
              <a:rPr lang="en">
                <a:solidFill>
                  <a:srgbClr val="FF0000"/>
                </a:solidFill>
              </a:rPr>
              <a:t> </a:t>
            </a:r>
            <a:r>
              <a:rPr lang="en"/>
              <a:t>your class.</a:t>
            </a:r>
            <a:endParaRPr/>
          </a:p>
        </p:txBody>
      </p:sp>
      <p:sp>
        <p:nvSpPr>
          <p:cNvPr id="1055" name="Google Shape;1055;p81"/>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11.18</a:t>
            </a:r>
            <a:endParaRPr u="sng"/>
          </a:p>
        </p:txBody>
      </p:sp>
      <p:sp>
        <p:nvSpPr>
          <p:cNvPr id="1056" name="Google Shape;1056;p81"/>
          <p:cNvSpPr txBox="1"/>
          <p:nvPr/>
        </p:nvSpPr>
        <p:spPr>
          <a:xfrm>
            <a:off x="276850" y="4245500"/>
            <a:ext cx="2766900" cy="77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If we have no control over which waiting thread is picked when </a:t>
            </a:r>
            <a:r>
              <a:rPr lang="en" sz="1100">
                <a:latin typeface="Courier New"/>
                <a:ea typeface="Courier New"/>
                <a:cs typeface="Courier New"/>
                <a:sym typeface="Courier New"/>
              </a:rPr>
              <a:t>notify</a:t>
            </a:r>
            <a:r>
              <a:rPr lang="en" sz="1100"/>
              <a:t> or </a:t>
            </a:r>
            <a:r>
              <a:rPr lang="en" sz="1100">
                <a:latin typeface="Courier New"/>
                <a:ea typeface="Courier New"/>
                <a:cs typeface="Courier New"/>
                <a:sym typeface="Courier New"/>
              </a:rPr>
              <a:t>notifyAll</a:t>
            </a:r>
            <a:r>
              <a:rPr lang="en" sz="1100"/>
              <a:t> is used, how can we make sure to notify the exact right </a:t>
            </a:r>
            <a:r>
              <a:rPr lang="en" sz="1100">
                <a:latin typeface="Courier New"/>
                <a:ea typeface="Courier New"/>
                <a:cs typeface="Courier New"/>
                <a:sym typeface="Courier New"/>
              </a:rPr>
              <a:t>Goat</a:t>
            </a:r>
            <a:r>
              <a:rPr lang="en" sz="1100"/>
              <a:t>?!</a:t>
            </a:r>
            <a:endParaRPr sz="1100"/>
          </a:p>
        </p:txBody>
      </p:sp>
      <p:grpSp>
        <p:nvGrpSpPr>
          <p:cNvPr id="1057" name="Google Shape;1057;p81"/>
          <p:cNvGrpSpPr/>
          <p:nvPr/>
        </p:nvGrpSpPr>
        <p:grpSpPr>
          <a:xfrm>
            <a:off x="276738" y="1625856"/>
            <a:ext cx="2767048" cy="2568564"/>
            <a:chOff x="276725" y="1469825"/>
            <a:chExt cx="2934926" cy="2724400"/>
          </a:xfrm>
        </p:grpSpPr>
        <p:sp>
          <p:nvSpPr>
            <p:cNvPr id="1058" name="Google Shape;1058;p81"/>
            <p:cNvSpPr/>
            <p:nvPr/>
          </p:nvSpPr>
          <p:spPr>
            <a:xfrm>
              <a:off x="276725" y="3193425"/>
              <a:ext cx="2934900" cy="1000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59" name="Google Shape;1059;p81"/>
            <p:cNvPicPr preferRelativeResize="0"/>
            <p:nvPr/>
          </p:nvPicPr>
          <p:blipFill>
            <a:blip r:embed="rId3">
              <a:alphaModFix/>
            </a:blip>
            <a:stretch>
              <a:fillRect/>
            </a:stretch>
          </p:blipFill>
          <p:spPr>
            <a:xfrm>
              <a:off x="276850" y="1469825"/>
              <a:ext cx="2934801" cy="2346161"/>
            </a:xfrm>
            <a:prstGeom prst="rect">
              <a:avLst/>
            </a:prstGeom>
            <a:noFill/>
            <a:ln>
              <a:noFill/>
            </a:ln>
          </p:spPr>
        </p:pic>
        <p:grpSp>
          <p:nvGrpSpPr>
            <p:cNvPr id="1060" name="Google Shape;1060;p81"/>
            <p:cNvGrpSpPr/>
            <p:nvPr/>
          </p:nvGrpSpPr>
          <p:grpSpPr>
            <a:xfrm>
              <a:off x="395462" y="2841485"/>
              <a:ext cx="2770655" cy="1352672"/>
              <a:chOff x="149800" y="2065525"/>
              <a:chExt cx="3499185" cy="1708351"/>
            </a:xfrm>
          </p:grpSpPr>
          <p:pic>
            <p:nvPicPr>
              <p:cNvPr id="1061" name="Google Shape;1061;p81"/>
              <p:cNvPicPr preferRelativeResize="0"/>
              <p:nvPr/>
            </p:nvPicPr>
            <p:blipFill>
              <a:blip r:embed="rId4">
                <a:alphaModFix/>
              </a:blip>
              <a:stretch>
                <a:fillRect/>
              </a:stretch>
            </p:blipFill>
            <p:spPr>
              <a:xfrm flipH="1">
                <a:off x="998488" y="2065525"/>
                <a:ext cx="947888" cy="1364950"/>
              </a:xfrm>
              <a:prstGeom prst="rect">
                <a:avLst/>
              </a:prstGeom>
              <a:noFill/>
              <a:ln>
                <a:noFill/>
              </a:ln>
            </p:spPr>
          </p:pic>
          <p:pic>
            <p:nvPicPr>
              <p:cNvPr id="1062" name="Google Shape;1062;p81"/>
              <p:cNvPicPr preferRelativeResize="0"/>
              <p:nvPr/>
            </p:nvPicPr>
            <p:blipFill>
              <a:blip r:embed="rId4">
                <a:alphaModFix/>
              </a:blip>
              <a:stretch>
                <a:fillRect/>
              </a:stretch>
            </p:blipFill>
            <p:spPr>
              <a:xfrm flipH="1">
                <a:off x="156025" y="2065525"/>
                <a:ext cx="947888" cy="1364950"/>
              </a:xfrm>
              <a:prstGeom prst="rect">
                <a:avLst/>
              </a:prstGeom>
              <a:noFill/>
              <a:ln>
                <a:noFill/>
              </a:ln>
            </p:spPr>
          </p:pic>
          <p:pic>
            <p:nvPicPr>
              <p:cNvPr id="1063" name="Google Shape;1063;p81"/>
              <p:cNvPicPr preferRelativeResize="0"/>
              <p:nvPr/>
            </p:nvPicPr>
            <p:blipFill>
              <a:blip r:embed="rId4">
                <a:alphaModFix/>
              </a:blip>
              <a:stretch>
                <a:fillRect/>
              </a:stretch>
            </p:blipFill>
            <p:spPr>
              <a:xfrm flipH="1">
                <a:off x="1847798" y="2065525"/>
                <a:ext cx="947888" cy="1364950"/>
              </a:xfrm>
              <a:prstGeom prst="rect">
                <a:avLst/>
              </a:prstGeom>
              <a:noFill/>
              <a:ln>
                <a:noFill/>
              </a:ln>
            </p:spPr>
          </p:pic>
          <p:pic>
            <p:nvPicPr>
              <p:cNvPr id="1064" name="Google Shape;1064;p81"/>
              <p:cNvPicPr preferRelativeResize="0"/>
              <p:nvPr/>
            </p:nvPicPr>
            <p:blipFill>
              <a:blip r:embed="rId4">
                <a:alphaModFix/>
              </a:blip>
              <a:stretch>
                <a:fillRect/>
              </a:stretch>
            </p:blipFill>
            <p:spPr>
              <a:xfrm flipH="1">
                <a:off x="2701098" y="2065525"/>
                <a:ext cx="947888" cy="1364950"/>
              </a:xfrm>
              <a:prstGeom prst="rect">
                <a:avLst/>
              </a:prstGeom>
              <a:noFill/>
              <a:ln>
                <a:noFill/>
              </a:ln>
            </p:spPr>
          </p:pic>
          <p:pic>
            <p:nvPicPr>
              <p:cNvPr id="1065" name="Google Shape;1065;p81"/>
              <p:cNvPicPr preferRelativeResize="0"/>
              <p:nvPr/>
            </p:nvPicPr>
            <p:blipFill rotWithShape="1">
              <a:blip r:embed="rId5">
                <a:alphaModFix/>
              </a:blip>
              <a:srcRect l="20213" r="14708"/>
              <a:stretch/>
            </p:blipFill>
            <p:spPr>
              <a:xfrm>
                <a:off x="149800" y="2537025"/>
                <a:ext cx="1724676" cy="1236851"/>
              </a:xfrm>
              <a:prstGeom prst="rect">
                <a:avLst/>
              </a:prstGeom>
              <a:noFill/>
              <a:ln>
                <a:noFill/>
              </a:ln>
            </p:spPr>
          </p:pic>
          <p:pic>
            <p:nvPicPr>
              <p:cNvPr id="1066" name="Google Shape;1066;p81"/>
              <p:cNvPicPr preferRelativeResize="0"/>
              <p:nvPr/>
            </p:nvPicPr>
            <p:blipFill rotWithShape="1">
              <a:blip r:embed="rId5">
                <a:alphaModFix/>
              </a:blip>
              <a:srcRect l="20213" r="14708"/>
              <a:stretch/>
            </p:blipFill>
            <p:spPr>
              <a:xfrm>
                <a:off x="1673800" y="2537025"/>
                <a:ext cx="1724676" cy="1236851"/>
              </a:xfrm>
              <a:prstGeom prst="rect">
                <a:avLst/>
              </a:prstGeom>
              <a:noFill/>
              <a:ln>
                <a:noFill/>
              </a:ln>
            </p:spPr>
          </p:pic>
        </p:gr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070"/>
        <p:cNvGrpSpPr/>
        <p:nvPr/>
      </p:nvGrpSpPr>
      <p:grpSpPr>
        <a:xfrm>
          <a:off x="0" y="0"/>
          <a:ext cx="0" cy="0"/>
          <a:chOff x="0" y="0"/>
          <a:chExt cx="0" cy="0"/>
        </a:xfrm>
      </p:grpSpPr>
      <p:sp>
        <p:nvSpPr>
          <p:cNvPr id="1071" name="Google Shape;1071;p82"/>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Main Program</a:t>
            </a:r>
            <a:endParaRPr/>
          </a:p>
        </p:txBody>
      </p:sp>
      <p:sp>
        <p:nvSpPr>
          <p:cNvPr id="1072" name="Google Shape;1072;p82"/>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main program will create the club, all of the goats, and (eventually) the troll bouncer that manages the crowd inside and outside of the club. Begin implementing the main Club Chévre simulation.</a:t>
            </a:r>
            <a:endParaRPr/>
          </a:p>
        </p:txBody>
      </p:sp>
      <p:sp>
        <p:nvSpPr>
          <p:cNvPr id="1073" name="Google Shape;1073;p8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51</a:t>
            </a:fld>
            <a:endParaRPr/>
          </a:p>
        </p:txBody>
      </p:sp>
      <p:sp>
        <p:nvSpPr>
          <p:cNvPr id="1074" name="Google Shape;1074;p82"/>
          <p:cNvSpPr txBox="1">
            <a:spLocks noGrp="1"/>
          </p:cNvSpPr>
          <p:nvPr>
            <p:ph type="body" idx="2"/>
          </p:nvPr>
        </p:nvSpPr>
        <p:spPr>
          <a:xfrm>
            <a:off x="3161750" y="1694875"/>
            <a:ext cx="5628000" cy="3020100"/>
          </a:xfrm>
          <a:prstGeom prst="rect">
            <a:avLst/>
          </a:prstGeom>
        </p:spPr>
        <p:txBody>
          <a:bodyPr spcFirstLastPara="1" wrap="square" lIns="91425" tIns="91425" rIns="91425" bIns="91425" anchor="t" anchorCtr="0">
            <a:spAutoFit/>
          </a:bodyPr>
          <a:lstStyle/>
          <a:p>
            <a:pPr marL="457200" lvl="0" indent="-330200" algn="l" rtl="0">
              <a:spcBef>
                <a:spcPts val="0"/>
              </a:spcBef>
              <a:spcAft>
                <a:spcPts val="0"/>
              </a:spcAft>
              <a:buSzPts val="1600"/>
              <a:buChar char="●"/>
            </a:pPr>
            <a:r>
              <a:rPr lang="en" sz="1600"/>
              <a:t>Create a new Java class in the </a:t>
            </a:r>
            <a:r>
              <a:rPr lang="en" sz="1600">
                <a:latin typeface="Courier New"/>
                <a:ea typeface="Courier New"/>
                <a:cs typeface="Courier New"/>
                <a:sym typeface="Courier New"/>
              </a:rPr>
              <a:t>chevre</a:t>
            </a:r>
            <a:r>
              <a:rPr lang="en" sz="1600"/>
              <a:t> package named "</a:t>
            </a:r>
            <a:r>
              <a:rPr lang="en" sz="1600">
                <a:solidFill>
                  <a:srgbClr val="FF0000"/>
                </a:solidFill>
                <a:latin typeface="Courier New"/>
                <a:ea typeface="Courier New"/>
                <a:cs typeface="Courier New"/>
                <a:sym typeface="Courier New"/>
              </a:rPr>
              <a:t>Main</a:t>
            </a:r>
            <a:r>
              <a:rPr lang="en" sz="1600"/>
              <a:t>" and define a </a:t>
            </a:r>
            <a:r>
              <a:rPr lang="en" sz="1600">
                <a:solidFill>
                  <a:srgbClr val="FF0000"/>
                </a:solidFill>
                <a:latin typeface="Courier New"/>
                <a:ea typeface="Courier New"/>
                <a:cs typeface="Courier New"/>
                <a:sym typeface="Courier New"/>
              </a:rPr>
              <a:t>main</a:t>
            </a:r>
            <a:r>
              <a:rPr lang="en" sz="1600">
                <a:solidFill>
                  <a:srgbClr val="FF0000"/>
                </a:solidFill>
              </a:rPr>
              <a:t> </a:t>
            </a:r>
            <a:r>
              <a:rPr lang="en" sz="1600"/>
              <a:t>method with an appropriate signature that does the following:</a:t>
            </a:r>
            <a:endParaRPr sz="1600"/>
          </a:p>
          <a:p>
            <a:pPr marL="914400" lvl="1" indent="-317500" algn="l" rtl="0">
              <a:spcBef>
                <a:spcPts val="0"/>
              </a:spcBef>
              <a:spcAft>
                <a:spcPts val="0"/>
              </a:spcAft>
              <a:buSzPts val="1400"/>
              <a:buChar char="○"/>
            </a:pPr>
            <a:r>
              <a:rPr lang="en" sz="1400" b="1" i="1">
                <a:solidFill>
                  <a:srgbClr val="FF0000"/>
                </a:solidFill>
              </a:rPr>
              <a:t>Creates </a:t>
            </a:r>
            <a:r>
              <a:rPr lang="en" sz="1400"/>
              <a:t>an instance of </a:t>
            </a:r>
            <a:r>
              <a:rPr lang="en" sz="1400">
                <a:solidFill>
                  <a:srgbClr val="FF0000"/>
                </a:solidFill>
                <a:latin typeface="Courier New"/>
                <a:ea typeface="Courier New"/>
                <a:cs typeface="Courier New"/>
                <a:sym typeface="Courier New"/>
              </a:rPr>
              <a:t>ClubChevre</a:t>
            </a:r>
            <a:r>
              <a:rPr lang="en" sz="1400"/>
              <a:t>.</a:t>
            </a:r>
            <a:endParaRPr sz="1400"/>
          </a:p>
          <a:p>
            <a:pPr marL="914400" lvl="1" indent="-317500" algn="l" rtl="0">
              <a:spcBef>
                <a:spcPts val="0"/>
              </a:spcBef>
              <a:spcAft>
                <a:spcPts val="0"/>
              </a:spcAft>
              <a:buSzPts val="1400"/>
              <a:buChar char="○"/>
            </a:pPr>
            <a:r>
              <a:rPr lang="en" sz="1400"/>
              <a:t>In a </a:t>
            </a:r>
            <a:r>
              <a:rPr lang="en" sz="1400" b="1" i="1">
                <a:solidFill>
                  <a:srgbClr val="FF0000"/>
                </a:solidFill>
              </a:rPr>
              <a:t>loop</a:t>
            </a:r>
            <a:r>
              <a:rPr lang="en" sz="1400"/>
              <a:t>, repeat the following 1000 times:</a:t>
            </a:r>
            <a:endParaRPr sz="1400"/>
          </a:p>
          <a:p>
            <a:pPr marL="1371600" lvl="2" indent="-317500" algn="l" rtl="0">
              <a:spcBef>
                <a:spcPts val="0"/>
              </a:spcBef>
              <a:spcAft>
                <a:spcPts val="0"/>
              </a:spcAft>
              <a:buSzPts val="1400"/>
              <a:buChar char="■"/>
            </a:pPr>
            <a:r>
              <a:rPr lang="en" sz="1400" b="1" i="1">
                <a:solidFill>
                  <a:srgbClr val="FF0000"/>
                </a:solidFill>
              </a:rPr>
              <a:t>Make</a:t>
            </a:r>
            <a:r>
              <a:rPr lang="en" sz="1400">
                <a:solidFill>
                  <a:srgbClr val="FF0000"/>
                </a:solidFill>
              </a:rPr>
              <a:t> </a:t>
            </a:r>
            <a:r>
              <a:rPr lang="en" sz="1400"/>
              <a:t>a </a:t>
            </a:r>
            <a:r>
              <a:rPr lang="en" sz="1400">
                <a:latin typeface="Courier New"/>
                <a:ea typeface="Courier New"/>
                <a:cs typeface="Courier New"/>
                <a:sym typeface="Courier New"/>
              </a:rPr>
              <a:t>Goat</a:t>
            </a:r>
            <a:r>
              <a:rPr lang="en" sz="1400"/>
              <a:t>.</a:t>
            </a:r>
            <a:endParaRPr sz="1400"/>
          </a:p>
          <a:p>
            <a:pPr marL="1371600" lvl="2" indent="-317500" algn="l" rtl="0">
              <a:spcBef>
                <a:spcPts val="0"/>
              </a:spcBef>
              <a:spcAft>
                <a:spcPts val="0"/>
              </a:spcAft>
              <a:buSzPts val="1400"/>
              <a:buChar char="■"/>
            </a:pPr>
            <a:r>
              <a:rPr lang="en" sz="1400" b="1" i="1">
                <a:solidFill>
                  <a:srgbClr val="FF0000"/>
                </a:solidFill>
              </a:rPr>
              <a:t>Create</a:t>
            </a:r>
            <a:r>
              <a:rPr lang="en" sz="1400">
                <a:solidFill>
                  <a:srgbClr val="FF0000"/>
                </a:solidFill>
              </a:rPr>
              <a:t> </a:t>
            </a:r>
            <a:r>
              <a:rPr lang="en" sz="1400"/>
              <a:t>and </a:t>
            </a:r>
            <a:r>
              <a:rPr lang="en" sz="1400" b="1" i="1">
                <a:solidFill>
                  <a:srgbClr val="FF0000"/>
                </a:solidFill>
              </a:rPr>
              <a:t>start</a:t>
            </a:r>
            <a:r>
              <a:rPr lang="en" sz="1400">
                <a:solidFill>
                  <a:srgbClr val="FF0000"/>
                </a:solidFill>
              </a:rPr>
              <a:t> </a:t>
            </a:r>
            <a:r>
              <a:rPr lang="en" sz="1400"/>
              <a:t>a thread for that </a:t>
            </a:r>
            <a:r>
              <a:rPr lang="en" sz="1400">
                <a:latin typeface="Courier New"/>
                <a:ea typeface="Courier New"/>
                <a:cs typeface="Courier New"/>
                <a:sym typeface="Courier New"/>
              </a:rPr>
              <a:t>Goat</a:t>
            </a:r>
            <a:r>
              <a:rPr lang="en" sz="1400"/>
              <a:t>.</a:t>
            </a:r>
            <a:endParaRPr sz="1400"/>
          </a:p>
          <a:p>
            <a:pPr marL="457200" lvl="0" indent="-330200" algn="l" rtl="0">
              <a:spcBef>
                <a:spcPts val="0"/>
              </a:spcBef>
              <a:spcAft>
                <a:spcPts val="0"/>
              </a:spcAft>
              <a:buSzPts val="1600"/>
              <a:buChar char="●"/>
            </a:pPr>
            <a:r>
              <a:rPr lang="en" sz="1600" b="1" i="1">
                <a:solidFill>
                  <a:srgbClr val="FF0000"/>
                </a:solidFill>
              </a:rPr>
              <a:t>Run</a:t>
            </a:r>
            <a:r>
              <a:rPr lang="en" sz="1600">
                <a:solidFill>
                  <a:srgbClr val="FF0000"/>
                </a:solidFill>
              </a:rPr>
              <a:t> </a:t>
            </a:r>
            <a:r>
              <a:rPr lang="en" sz="1600"/>
              <a:t>your simulation.</a:t>
            </a:r>
            <a:endParaRPr sz="1600"/>
          </a:p>
          <a:p>
            <a:pPr marL="914400" lvl="1" indent="-317500" algn="l" rtl="0">
              <a:spcBef>
                <a:spcPts val="0"/>
              </a:spcBef>
              <a:spcAft>
                <a:spcPts val="0"/>
              </a:spcAft>
              <a:buSzPts val="1400"/>
              <a:buChar char="○"/>
            </a:pPr>
            <a:r>
              <a:rPr lang="en" sz="1400"/>
              <a:t>At this point you should just see the goats getting into line. By the time the loop finishes, how many goats are in line?</a:t>
            </a:r>
            <a:endParaRPr sz="1600"/>
          </a:p>
        </p:txBody>
      </p:sp>
      <p:sp>
        <p:nvSpPr>
          <p:cNvPr id="1075" name="Google Shape;1075;p82"/>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11.19</a:t>
            </a:r>
            <a:endParaRPr u="sng"/>
          </a:p>
        </p:txBody>
      </p:sp>
      <p:grpSp>
        <p:nvGrpSpPr>
          <p:cNvPr id="1076" name="Google Shape;1076;p82"/>
          <p:cNvGrpSpPr/>
          <p:nvPr/>
        </p:nvGrpSpPr>
        <p:grpSpPr>
          <a:xfrm>
            <a:off x="124325" y="1774625"/>
            <a:ext cx="2934926" cy="2724400"/>
            <a:chOff x="276725" y="1469825"/>
            <a:chExt cx="2934926" cy="2724400"/>
          </a:xfrm>
        </p:grpSpPr>
        <p:sp>
          <p:nvSpPr>
            <p:cNvPr id="1077" name="Google Shape;1077;p82"/>
            <p:cNvSpPr/>
            <p:nvPr/>
          </p:nvSpPr>
          <p:spPr>
            <a:xfrm>
              <a:off x="276725" y="3193425"/>
              <a:ext cx="2934900" cy="1000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8" name="Google Shape;1078;p82"/>
            <p:cNvPicPr preferRelativeResize="0"/>
            <p:nvPr/>
          </p:nvPicPr>
          <p:blipFill>
            <a:blip r:embed="rId3">
              <a:alphaModFix/>
            </a:blip>
            <a:stretch>
              <a:fillRect/>
            </a:stretch>
          </p:blipFill>
          <p:spPr>
            <a:xfrm>
              <a:off x="276850" y="1469825"/>
              <a:ext cx="2934801" cy="2346161"/>
            </a:xfrm>
            <a:prstGeom prst="rect">
              <a:avLst/>
            </a:prstGeom>
            <a:noFill/>
            <a:ln>
              <a:noFill/>
            </a:ln>
          </p:spPr>
        </p:pic>
      </p:grpSp>
      <p:grpSp>
        <p:nvGrpSpPr>
          <p:cNvPr id="1079" name="Google Shape;1079;p82"/>
          <p:cNvGrpSpPr/>
          <p:nvPr/>
        </p:nvGrpSpPr>
        <p:grpSpPr>
          <a:xfrm>
            <a:off x="243062" y="3146285"/>
            <a:ext cx="2770655" cy="1352672"/>
            <a:chOff x="149800" y="2065525"/>
            <a:chExt cx="3499185" cy="1708351"/>
          </a:xfrm>
        </p:grpSpPr>
        <p:pic>
          <p:nvPicPr>
            <p:cNvPr id="1080" name="Google Shape;1080;p82"/>
            <p:cNvPicPr preferRelativeResize="0"/>
            <p:nvPr/>
          </p:nvPicPr>
          <p:blipFill>
            <a:blip r:embed="rId4">
              <a:alphaModFix/>
            </a:blip>
            <a:stretch>
              <a:fillRect/>
            </a:stretch>
          </p:blipFill>
          <p:spPr>
            <a:xfrm flipH="1">
              <a:off x="998488" y="2065525"/>
              <a:ext cx="947888" cy="1364950"/>
            </a:xfrm>
            <a:prstGeom prst="rect">
              <a:avLst/>
            </a:prstGeom>
            <a:noFill/>
            <a:ln>
              <a:noFill/>
            </a:ln>
          </p:spPr>
        </p:pic>
        <p:pic>
          <p:nvPicPr>
            <p:cNvPr id="1081" name="Google Shape;1081;p82"/>
            <p:cNvPicPr preferRelativeResize="0"/>
            <p:nvPr/>
          </p:nvPicPr>
          <p:blipFill>
            <a:blip r:embed="rId4">
              <a:alphaModFix/>
            </a:blip>
            <a:stretch>
              <a:fillRect/>
            </a:stretch>
          </p:blipFill>
          <p:spPr>
            <a:xfrm flipH="1">
              <a:off x="156025" y="2065525"/>
              <a:ext cx="947888" cy="1364950"/>
            </a:xfrm>
            <a:prstGeom prst="rect">
              <a:avLst/>
            </a:prstGeom>
            <a:noFill/>
            <a:ln>
              <a:noFill/>
            </a:ln>
          </p:spPr>
        </p:pic>
        <p:pic>
          <p:nvPicPr>
            <p:cNvPr id="1082" name="Google Shape;1082;p82"/>
            <p:cNvPicPr preferRelativeResize="0"/>
            <p:nvPr/>
          </p:nvPicPr>
          <p:blipFill>
            <a:blip r:embed="rId4">
              <a:alphaModFix/>
            </a:blip>
            <a:stretch>
              <a:fillRect/>
            </a:stretch>
          </p:blipFill>
          <p:spPr>
            <a:xfrm flipH="1">
              <a:off x="1847798" y="2065525"/>
              <a:ext cx="947888" cy="1364950"/>
            </a:xfrm>
            <a:prstGeom prst="rect">
              <a:avLst/>
            </a:prstGeom>
            <a:noFill/>
            <a:ln>
              <a:noFill/>
            </a:ln>
          </p:spPr>
        </p:pic>
        <p:pic>
          <p:nvPicPr>
            <p:cNvPr id="1083" name="Google Shape;1083;p82"/>
            <p:cNvPicPr preferRelativeResize="0"/>
            <p:nvPr/>
          </p:nvPicPr>
          <p:blipFill>
            <a:blip r:embed="rId4">
              <a:alphaModFix/>
            </a:blip>
            <a:stretch>
              <a:fillRect/>
            </a:stretch>
          </p:blipFill>
          <p:spPr>
            <a:xfrm flipH="1">
              <a:off x="2701098" y="2065525"/>
              <a:ext cx="947888" cy="1364950"/>
            </a:xfrm>
            <a:prstGeom prst="rect">
              <a:avLst/>
            </a:prstGeom>
            <a:noFill/>
            <a:ln>
              <a:noFill/>
            </a:ln>
          </p:spPr>
        </p:pic>
        <p:pic>
          <p:nvPicPr>
            <p:cNvPr id="1084" name="Google Shape;1084;p82"/>
            <p:cNvPicPr preferRelativeResize="0"/>
            <p:nvPr/>
          </p:nvPicPr>
          <p:blipFill rotWithShape="1">
            <a:blip r:embed="rId5">
              <a:alphaModFix/>
            </a:blip>
            <a:srcRect l="20213" r="14708"/>
            <a:stretch/>
          </p:blipFill>
          <p:spPr>
            <a:xfrm>
              <a:off x="149800" y="2537025"/>
              <a:ext cx="1724676" cy="1236851"/>
            </a:xfrm>
            <a:prstGeom prst="rect">
              <a:avLst/>
            </a:prstGeom>
            <a:noFill/>
            <a:ln>
              <a:noFill/>
            </a:ln>
          </p:spPr>
        </p:pic>
        <p:pic>
          <p:nvPicPr>
            <p:cNvPr id="1085" name="Google Shape;1085;p82"/>
            <p:cNvPicPr preferRelativeResize="0"/>
            <p:nvPr/>
          </p:nvPicPr>
          <p:blipFill rotWithShape="1">
            <a:blip r:embed="rId5">
              <a:alphaModFix/>
            </a:blip>
            <a:srcRect l="20213" r="14708"/>
            <a:stretch/>
          </p:blipFill>
          <p:spPr>
            <a:xfrm>
              <a:off x="1673800" y="2537025"/>
              <a:ext cx="1724676" cy="1236851"/>
            </a:xfrm>
            <a:prstGeom prst="rect">
              <a:avLst/>
            </a:prstGeom>
            <a:noFill/>
            <a:ln>
              <a:noFill/>
            </a:ln>
          </p:spPr>
        </p:pic>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1089"/>
        <p:cNvGrpSpPr/>
        <p:nvPr/>
      </p:nvGrpSpPr>
      <p:grpSpPr>
        <a:xfrm>
          <a:off x="0" y="0"/>
          <a:ext cx="0" cy="0"/>
          <a:chOff x="0" y="0"/>
          <a:chExt cx="0" cy="0"/>
        </a:xfrm>
      </p:grpSpPr>
      <p:sp>
        <p:nvSpPr>
          <p:cNvPr id="1090" name="Google Shape;1090;p83"/>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 Calamity of Goats</a:t>
            </a:r>
            <a:endParaRPr/>
          </a:p>
        </p:txBody>
      </p:sp>
      <p:sp>
        <p:nvSpPr>
          <p:cNvPr id="1091" name="Google Shape;1091;p83"/>
          <p:cNvSpPr txBox="1">
            <a:spLocks noGrp="1"/>
          </p:cNvSpPr>
          <p:nvPr>
            <p:ph type="body" idx="1"/>
          </p:nvPr>
        </p:nvSpPr>
        <p:spPr>
          <a:xfrm>
            <a:off x="65250" y="6554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Hundreds of goats are crashing into the line at the same time, and this potentially causes problems. We need to fix this.</a:t>
            </a:r>
            <a:endParaRPr/>
          </a:p>
        </p:txBody>
      </p:sp>
      <p:sp>
        <p:nvSpPr>
          <p:cNvPr id="1092" name="Google Shape;1092;p8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52</a:t>
            </a:fld>
            <a:endParaRPr/>
          </a:p>
        </p:txBody>
      </p:sp>
      <p:sp>
        <p:nvSpPr>
          <p:cNvPr id="1093" name="Google Shape;1093;p83"/>
          <p:cNvSpPr txBox="1">
            <a:spLocks noGrp="1"/>
          </p:cNvSpPr>
          <p:nvPr>
            <p:ph type="body" idx="2"/>
          </p:nvPr>
        </p:nvSpPr>
        <p:spPr>
          <a:xfrm>
            <a:off x="3291750" y="1445925"/>
            <a:ext cx="5729400" cy="3513300"/>
          </a:xfrm>
          <a:prstGeom prst="rect">
            <a:avLst/>
          </a:prstGeom>
        </p:spPr>
        <p:txBody>
          <a:bodyPr spcFirstLastPara="1" wrap="square" lIns="91425" tIns="91425" rIns="91425" bIns="91425" anchor="t" anchorCtr="0">
            <a:spAutoFit/>
          </a:bodyPr>
          <a:lstStyle/>
          <a:p>
            <a:pPr marL="457200" lvl="0" indent="-336550" algn="l" rtl="0">
              <a:spcBef>
                <a:spcPts val="0"/>
              </a:spcBef>
              <a:spcAft>
                <a:spcPts val="0"/>
              </a:spcAft>
              <a:buSzPts val="1700"/>
              <a:buChar char="●"/>
            </a:pPr>
            <a:r>
              <a:rPr lang="en" sz="1700"/>
              <a:t>Open the </a:t>
            </a:r>
            <a:r>
              <a:rPr lang="en" sz="1700">
                <a:solidFill>
                  <a:srgbClr val="FF0000"/>
                </a:solidFill>
                <a:latin typeface="Courier New"/>
                <a:ea typeface="Courier New"/>
                <a:cs typeface="Courier New"/>
                <a:sym typeface="Courier New"/>
              </a:rPr>
              <a:t>Goat</a:t>
            </a:r>
            <a:r>
              <a:rPr lang="en" sz="1700">
                <a:solidFill>
                  <a:srgbClr val="FF0000"/>
                </a:solidFill>
              </a:rPr>
              <a:t> </a:t>
            </a:r>
            <a:r>
              <a:rPr lang="en" sz="1700"/>
              <a:t>class and navigate to the</a:t>
            </a:r>
            <a:r>
              <a:rPr lang="en" sz="1700">
                <a:solidFill>
                  <a:srgbClr val="FF0000"/>
                </a:solidFill>
              </a:rPr>
              <a:t> </a:t>
            </a:r>
            <a:r>
              <a:rPr lang="en" sz="1700">
                <a:solidFill>
                  <a:srgbClr val="FF0000"/>
                </a:solidFill>
                <a:latin typeface="Courier New"/>
                <a:ea typeface="Courier New"/>
                <a:cs typeface="Courier New"/>
                <a:sym typeface="Courier New"/>
              </a:rPr>
              <a:t>run()</a:t>
            </a:r>
            <a:r>
              <a:rPr lang="en" sz="1700"/>
              <a:t>method.</a:t>
            </a:r>
            <a:endParaRPr sz="1700"/>
          </a:p>
          <a:p>
            <a:pPr marL="914400" lvl="1" indent="-323850" algn="l" rtl="0">
              <a:spcBef>
                <a:spcPts val="0"/>
              </a:spcBef>
              <a:spcAft>
                <a:spcPts val="0"/>
              </a:spcAft>
              <a:buSzPts val="1500"/>
              <a:buChar char="○"/>
            </a:pPr>
            <a:r>
              <a:rPr lang="en" sz="1500"/>
              <a:t>Can you identify what the</a:t>
            </a:r>
            <a:r>
              <a:rPr lang="en" sz="1500">
                <a:solidFill>
                  <a:srgbClr val="FF0000"/>
                </a:solidFill>
              </a:rPr>
              <a:t> </a:t>
            </a:r>
            <a:r>
              <a:rPr lang="en" sz="1500" b="1" i="1">
                <a:solidFill>
                  <a:srgbClr val="FF0000"/>
                </a:solidFill>
              </a:rPr>
              <a:t>possible problem</a:t>
            </a:r>
            <a:r>
              <a:rPr lang="en" sz="1500" b="1" i="1"/>
              <a:t> </a:t>
            </a:r>
            <a:r>
              <a:rPr lang="en" sz="1500"/>
              <a:t>is?</a:t>
            </a:r>
            <a:endParaRPr sz="1500"/>
          </a:p>
          <a:p>
            <a:pPr marL="914400" lvl="1" indent="-323850" algn="l" rtl="0">
              <a:spcBef>
                <a:spcPts val="0"/>
              </a:spcBef>
              <a:spcAft>
                <a:spcPts val="0"/>
              </a:spcAft>
              <a:buSzPts val="1500"/>
              <a:buChar char="○"/>
            </a:pPr>
            <a:r>
              <a:rPr lang="en" sz="1500"/>
              <a:t>What do you call a block of code that is </a:t>
            </a:r>
            <a:r>
              <a:rPr lang="en" sz="1500" b="1" i="1">
                <a:solidFill>
                  <a:srgbClr val="FF0000"/>
                </a:solidFill>
              </a:rPr>
              <a:t>vulnerable </a:t>
            </a:r>
            <a:r>
              <a:rPr lang="en" sz="1500"/>
              <a:t>when executed by more than one thread at the same time?</a:t>
            </a:r>
            <a:endParaRPr sz="1500"/>
          </a:p>
          <a:p>
            <a:pPr marL="914400" lvl="1" indent="-323850" algn="l" rtl="0">
              <a:spcBef>
                <a:spcPts val="0"/>
              </a:spcBef>
              <a:spcAft>
                <a:spcPts val="0"/>
              </a:spcAft>
              <a:buSzPts val="1500"/>
              <a:buChar char="○"/>
            </a:pPr>
            <a:r>
              <a:rPr lang="en" sz="1500"/>
              <a:t>What do you call the </a:t>
            </a:r>
            <a:r>
              <a:rPr lang="en" sz="1500" b="1" i="1">
                <a:solidFill>
                  <a:srgbClr val="FF0000"/>
                </a:solidFill>
              </a:rPr>
              <a:t>error</a:t>
            </a:r>
            <a:r>
              <a:rPr lang="en" sz="1500">
                <a:solidFill>
                  <a:srgbClr val="FF0000"/>
                </a:solidFill>
              </a:rPr>
              <a:t> </a:t>
            </a:r>
            <a:r>
              <a:rPr lang="en" sz="1500"/>
              <a:t>that may occur if two threads </a:t>
            </a:r>
            <a:r>
              <a:rPr lang="en" sz="1500" b="1" i="1">
                <a:solidFill>
                  <a:srgbClr val="FF0000"/>
                </a:solidFill>
              </a:rPr>
              <a:t>do</a:t>
            </a:r>
            <a:r>
              <a:rPr lang="en" sz="1500">
                <a:solidFill>
                  <a:srgbClr val="FF0000"/>
                </a:solidFill>
              </a:rPr>
              <a:t> </a:t>
            </a:r>
            <a:r>
              <a:rPr lang="en" sz="1500"/>
              <a:t>execute such a block of code?</a:t>
            </a:r>
            <a:endParaRPr sz="1500"/>
          </a:p>
          <a:p>
            <a:pPr marL="457200" lvl="0" indent="-336550" algn="l" rtl="0">
              <a:spcBef>
                <a:spcPts val="0"/>
              </a:spcBef>
              <a:spcAft>
                <a:spcPts val="0"/>
              </a:spcAft>
              <a:buSzPts val="1700"/>
              <a:buChar char="●"/>
            </a:pPr>
            <a:r>
              <a:rPr lang="en" sz="1700" b="1" i="1">
                <a:solidFill>
                  <a:srgbClr val="FF0000"/>
                </a:solidFill>
              </a:rPr>
              <a:t>Modify </a:t>
            </a:r>
            <a:r>
              <a:rPr lang="en" sz="1700"/>
              <a:t>the </a:t>
            </a:r>
            <a:r>
              <a:rPr lang="en" sz="1700">
                <a:latin typeface="Courier New"/>
                <a:ea typeface="Courier New"/>
                <a:cs typeface="Courier New"/>
                <a:sym typeface="Courier New"/>
              </a:rPr>
              <a:t>run()</a:t>
            </a:r>
            <a:r>
              <a:rPr lang="en" sz="1700"/>
              <a:t> method to </a:t>
            </a:r>
            <a:r>
              <a:rPr lang="en" sz="1700" b="1" i="1">
                <a:solidFill>
                  <a:srgbClr val="FF0000"/>
                </a:solidFill>
              </a:rPr>
              <a:t>prevent </a:t>
            </a:r>
            <a:r>
              <a:rPr lang="en" sz="1700"/>
              <a:t>errors from occurring.</a:t>
            </a:r>
            <a:endParaRPr sz="1700"/>
          </a:p>
          <a:p>
            <a:pPr marL="457200" lvl="0" indent="-336550" algn="l" rtl="0">
              <a:spcBef>
                <a:spcPts val="0"/>
              </a:spcBef>
              <a:spcAft>
                <a:spcPts val="0"/>
              </a:spcAft>
              <a:buSzPts val="1700"/>
              <a:buChar char="●"/>
            </a:pPr>
            <a:r>
              <a:rPr lang="en" sz="1700" b="1" i="1">
                <a:solidFill>
                  <a:srgbClr val="FF0000"/>
                </a:solidFill>
              </a:rPr>
              <a:t>Compile</a:t>
            </a:r>
            <a:r>
              <a:rPr lang="en" sz="1700">
                <a:solidFill>
                  <a:srgbClr val="FF0000"/>
                </a:solidFill>
              </a:rPr>
              <a:t> </a:t>
            </a:r>
            <a:r>
              <a:rPr lang="en" sz="1700"/>
              <a:t>and </a:t>
            </a:r>
            <a:r>
              <a:rPr lang="en" sz="1700" b="1" i="1">
                <a:solidFill>
                  <a:srgbClr val="FF0000"/>
                </a:solidFill>
              </a:rPr>
              <a:t>run</a:t>
            </a:r>
            <a:r>
              <a:rPr lang="en" sz="1700">
                <a:solidFill>
                  <a:srgbClr val="FF0000"/>
                </a:solidFill>
              </a:rPr>
              <a:t> </a:t>
            </a:r>
            <a:r>
              <a:rPr lang="en" sz="1700"/>
              <a:t>your </a:t>
            </a:r>
            <a:r>
              <a:rPr lang="en" sz="1700">
                <a:latin typeface="Courier New"/>
                <a:ea typeface="Courier New"/>
                <a:cs typeface="Courier New"/>
                <a:sym typeface="Courier New"/>
              </a:rPr>
              <a:t>Main</a:t>
            </a:r>
            <a:r>
              <a:rPr lang="en" sz="1700"/>
              <a:t> program again.</a:t>
            </a:r>
            <a:endParaRPr sz="1700"/>
          </a:p>
          <a:p>
            <a:pPr marL="914400" lvl="1" indent="-323850" algn="l" rtl="0">
              <a:spcBef>
                <a:spcPts val="0"/>
              </a:spcBef>
              <a:spcAft>
                <a:spcPts val="0"/>
              </a:spcAft>
              <a:buSzPts val="1500"/>
              <a:buChar char="○"/>
            </a:pPr>
            <a:r>
              <a:rPr lang="en" sz="1500"/>
              <a:t>Do all of the goats now successfully get into line?</a:t>
            </a:r>
            <a:endParaRPr sz="1500"/>
          </a:p>
        </p:txBody>
      </p:sp>
      <p:sp>
        <p:nvSpPr>
          <p:cNvPr id="1094" name="Google Shape;1094;p83"/>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11.20</a:t>
            </a:r>
            <a:endParaRPr u="sng"/>
          </a:p>
        </p:txBody>
      </p:sp>
      <p:grpSp>
        <p:nvGrpSpPr>
          <p:cNvPr id="1095" name="Google Shape;1095;p83"/>
          <p:cNvGrpSpPr/>
          <p:nvPr/>
        </p:nvGrpSpPr>
        <p:grpSpPr>
          <a:xfrm>
            <a:off x="276854" y="1455132"/>
            <a:ext cx="2934926" cy="2724400"/>
            <a:chOff x="276725" y="1469825"/>
            <a:chExt cx="2934926" cy="2724400"/>
          </a:xfrm>
        </p:grpSpPr>
        <p:grpSp>
          <p:nvGrpSpPr>
            <p:cNvPr id="1096" name="Google Shape;1096;p83"/>
            <p:cNvGrpSpPr/>
            <p:nvPr/>
          </p:nvGrpSpPr>
          <p:grpSpPr>
            <a:xfrm>
              <a:off x="276725" y="1469825"/>
              <a:ext cx="2934926" cy="2724400"/>
              <a:chOff x="276725" y="1469825"/>
              <a:chExt cx="2934926" cy="2724400"/>
            </a:xfrm>
          </p:grpSpPr>
          <p:sp>
            <p:nvSpPr>
              <p:cNvPr id="1097" name="Google Shape;1097;p83"/>
              <p:cNvSpPr/>
              <p:nvPr/>
            </p:nvSpPr>
            <p:spPr>
              <a:xfrm>
                <a:off x="276725" y="3193425"/>
                <a:ext cx="2934900" cy="1000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98" name="Google Shape;1098;p83"/>
              <p:cNvPicPr preferRelativeResize="0"/>
              <p:nvPr/>
            </p:nvPicPr>
            <p:blipFill>
              <a:blip r:embed="rId3">
                <a:alphaModFix/>
              </a:blip>
              <a:stretch>
                <a:fillRect/>
              </a:stretch>
            </p:blipFill>
            <p:spPr>
              <a:xfrm>
                <a:off x="276850" y="1469825"/>
                <a:ext cx="2934801" cy="2346161"/>
              </a:xfrm>
              <a:prstGeom prst="rect">
                <a:avLst/>
              </a:prstGeom>
              <a:noFill/>
              <a:ln>
                <a:noFill/>
              </a:ln>
            </p:spPr>
          </p:pic>
        </p:grpSp>
        <p:pic>
          <p:nvPicPr>
            <p:cNvPr id="1099" name="Google Shape;1099;p83"/>
            <p:cNvPicPr preferRelativeResize="0"/>
            <p:nvPr/>
          </p:nvPicPr>
          <p:blipFill>
            <a:blip r:embed="rId4">
              <a:alphaModFix/>
            </a:blip>
            <a:stretch>
              <a:fillRect/>
            </a:stretch>
          </p:blipFill>
          <p:spPr>
            <a:xfrm rot="-1501581" flipH="1">
              <a:off x="881014" y="2351238"/>
              <a:ext cx="749805" cy="1079721"/>
            </a:xfrm>
            <a:prstGeom prst="rect">
              <a:avLst/>
            </a:prstGeom>
            <a:noFill/>
            <a:ln>
              <a:noFill/>
            </a:ln>
          </p:spPr>
        </p:pic>
        <p:pic>
          <p:nvPicPr>
            <p:cNvPr id="1100" name="Google Shape;1100;p83"/>
            <p:cNvPicPr preferRelativeResize="0"/>
            <p:nvPr/>
          </p:nvPicPr>
          <p:blipFill>
            <a:blip r:embed="rId4">
              <a:alphaModFix/>
            </a:blip>
            <a:stretch>
              <a:fillRect/>
            </a:stretch>
          </p:blipFill>
          <p:spPr>
            <a:xfrm flipH="1">
              <a:off x="973536" y="2803511"/>
              <a:ext cx="749804" cy="1079722"/>
            </a:xfrm>
            <a:prstGeom prst="rect">
              <a:avLst/>
            </a:prstGeom>
            <a:noFill/>
            <a:ln>
              <a:noFill/>
            </a:ln>
          </p:spPr>
        </p:pic>
        <p:pic>
          <p:nvPicPr>
            <p:cNvPr id="1101" name="Google Shape;1101;p83"/>
            <p:cNvPicPr preferRelativeResize="0"/>
            <p:nvPr/>
          </p:nvPicPr>
          <p:blipFill>
            <a:blip r:embed="rId4">
              <a:alphaModFix/>
            </a:blip>
            <a:stretch>
              <a:fillRect/>
            </a:stretch>
          </p:blipFill>
          <p:spPr>
            <a:xfrm flipH="1">
              <a:off x="1645362" y="2803511"/>
              <a:ext cx="749804" cy="1079722"/>
            </a:xfrm>
            <a:prstGeom prst="rect">
              <a:avLst/>
            </a:prstGeom>
            <a:noFill/>
            <a:ln>
              <a:noFill/>
            </a:ln>
          </p:spPr>
        </p:pic>
        <p:pic>
          <p:nvPicPr>
            <p:cNvPr id="1102" name="Google Shape;1102;p83"/>
            <p:cNvPicPr preferRelativeResize="0"/>
            <p:nvPr/>
          </p:nvPicPr>
          <p:blipFill>
            <a:blip r:embed="rId4">
              <a:alphaModFix/>
            </a:blip>
            <a:stretch>
              <a:fillRect/>
            </a:stretch>
          </p:blipFill>
          <p:spPr>
            <a:xfrm flipH="1">
              <a:off x="2320346" y="2803511"/>
              <a:ext cx="749804" cy="1079722"/>
            </a:xfrm>
            <a:prstGeom prst="rect">
              <a:avLst/>
            </a:prstGeom>
            <a:noFill/>
            <a:ln>
              <a:noFill/>
            </a:ln>
          </p:spPr>
        </p:pic>
        <p:pic>
          <p:nvPicPr>
            <p:cNvPr id="1103" name="Google Shape;1103;p83"/>
            <p:cNvPicPr preferRelativeResize="0"/>
            <p:nvPr/>
          </p:nvPicPr>
          <p:blipFill>
            <a:blip r:embed="rId4">
              <a:alphaModFix/>
            </a:blip>
            <a:stretch>
              <a:fillRect/>
            </a:stretch>
          </p:blipFill>
          <p:spPr>
            <a:xfrm rot="2089065" flipH="1">
              <a:off x="1585067" y="2421008"/>
              <a:ext cx="749807" cy="1079719"/>
            </a:xfrm>
            <a:prstGeom prst="rect">
              <a:avLst/>
            </a:prstGeom>
            <a:noFill/>
            <a:ln>
              <a:noFill/>
            </a:ln>
          </p:spPr>
        </p:pic>
        <p:pic>
          <p:nvPicPr>
            <p:cNvPr id="1104" name="Google Shape;1104;p83"/>
            <p:cNvPicPr preferRelativeResize="0"/>
            <p:nvPr/>
          </p:nvPicPr>
          <p:blipFill>
            <a:blip r:embed="rId4">
              <a:alphaModFix/>
            </a:blip>
            <a:stretch>
              <a:fillRect/>
            </a:stretch>
          </p:blipFill>
          <p:spPr>
            <a:xfrm rot="-1644063" flipH="1">
              <a:off x="538459" y="2803512"/>
              <a:ext cx="749806" cy="1079719"/>
            </a:xfrm>
            <a:prstGeom prst="rect">
              <a:avLst/>
            </a:prstGeom>
            <a:noFill/>
            <a:ln>
              <a:noFill/>
            </a:ln>
          </p:spPr>
        </p:pic>
        <p:pic>
          <p:nvPicPr>
            <p:cNvPr id="1105" name="Google Shape;1105;p83"/>
            <p:cNvPicPr preferRelativeResize="0"/>
            <p:nvPr/>
          </p:nvPicPr>
          <p:blipFill>
            <a:blip r:embed="rId4">
              <a:alphaModFix/>
            </a:blip>
            <a:stretch>
              <a:fillRect/>
            </a:stretch>
          </p:blipFill>
          <p:spPr>
            <a:xfrm rot="472178" flipH="1">
              <a:off x="1998221" y="2736827"/>
              <a:ext cx="749805" cy="1079721"/>
            </a:xfrm>
            <a:prstGeom prst="rect">
              <a:avLst/>
            </a:prstGeom>
            <a:noFill/>
            <a:ln>
              <a:noFill/>
            </a:ln>
          </p:spPr>
        </p:pic>
        <p:pic>
          <p:nvPicPr>
            <p:cNvPr id="1106" name="Google Shape;1106;p83"/>
            <p:cNvPicPr preferRelativeResize="0"/>
            <p:nvPr/>
          </p:nvPicPr>
          <p:blipFill rotWithShape="1">
            <a:blip r:embed="rId5">
              <a:alphaModFix/>
            </a:blip>
            <a:srcRect l="20213" r="14708"/>
            <a:stretch/>
          </p:blipFill>
          <p:spPr>
            <a:xfrm>
              <a:off x="302200" y="3176483"/>
              <a:ext cx="1364264" cy="978391"/>
            </a:xfrm>
            <a:prstGeom prst="rect">
              <a:avLst/>
            </a:prstGeom>
            <a:noFill/>
            <a:ln>
              <a:noFill/>
            </a:ln>
          </p:spPr>
        </p:pic>
        <p:pic>
          <p:nvPicPr>
            <p:cNvPr id="1107" name="Google Shape;1107;p83"/>
            <p:cNvPicPr preferRelativeResize="0"/>
            <p:nvPr/>
          </p:nvPicPr>
          <p:blipFill rotWithShape="1">
            <a:blip r:embed="rId5">
              <a:alphaModFix/>
            </a:blip>
            <a:srcRect l="20213" r="14708"/>
            <a:stretch/>
          </p:blipFill>
          <p:spPr>
            <a:xfrm>
              <a:off x="1507725" y="3176483"/>
              <a:ext cx="1364264" cy="978391"/>
            </a:xfrm>
            <a:prstGeom prst="rect">
              <a:avLst/>
            </a:prstGeom>
            <a:noFill/>
            <a:ln>
              <a:noFill/>
            </a:ln>
          </p:spPr>
        </p:pic>
      </p:grpSp>
      <p:sp>
        <p:nvSpPr>
          <p:cNvPr id="1108" name="Google Shape;1108;p83"/>
          <p:cNvSpPr txBox="1"/>
          <p:nvPr/>
        </p:nvSpPr>
        <p:spPr>
          <a:xfrm>
            <a:off x="276850" y="4236300"/>
            <a:ext cx="2934900" cy="778200"/>
          </a:xfrm>
          <a:prstGeom prst="rect">
            <a:avLst/>
          </a:prstGeom>
          <a:solidFill>
            <a:srgbClr val="FFF2CC"/>
          </a:solid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100"/>
              <a:t>Due to the nature of multi-threaded code, you </a:t>
            </a:r>
            <a:r>
              <a:rPr lang="en" sz="1100" b="1" i="1">
                <a:solidFill>
                  <a:srgbClr val="FF0000"/>
                </a:solidFill>
              </a:rPr>
              <a:t>may not</a:t>
            </a:r>
            <a:r>
              <a:rPr lang="en" sz="1100"/>
              <a:t> see this problem on your computer! You should still protect your code in case it is executed on another computer.</a:t>
            </a:r>
            <a:endParaRPr sz="11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Shape 1112"/>
        <p:cNvGrpSpPr/>
        <p:nvPr/>
      </p:nvGrpSpPr>
      <p:grpSpPr>
        <a:xfrm>
          <a:off x="0" y="0"/>
          <a:ext cx="0" cy="0"/>
          <a:chOff x="0" y="0"/>
          <a:chExt cx="0" cy="0"/>
        </a:xfrm>
      </p:grpSpPr>
      <p:sp>
        <p:nvSpPr>
          <p:cNvPr id="1113" name="Google Shape;1113;p84"/>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The Troll Bouncer</a:t>
            </a:r>
            <a:endParaRPr/>
          </a:p>
        </p:txBody>
      </p:sp>
      <p:sp>
        <p:nvSpPr>
          <p:cNvPr id="1114" name="Google Shape;1114;p84"/>
          <p:cNvSpPr txBox="1">
            <a:spLocks noGrp="1"/>
          </p:cNvSpPr>
          <p:nvPr>
            <p:ph type="body" idx="1"/>
          </p:nvPr>
        </p:nvSpPr>
        <p:spPr>
          <a:xfrm>
            <a:off x="65250" y="731625"/>
            <a:ext cx="8955900" cy="9975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Once the goats have managed to line up without crashing into each other and destroying the line, it's time for the Troll Bouncer to get to work! It's the troll's job to make sure that Club Chévre is at maximum occupancy at all times (until there are no Goats left in line). </a:t>
            </a:r>
            <a:endParaRPr/>
          </a:p>
        </p:txBody>
      </p:sp>
      <p:sp>
        <p:nvSpPr>
          <p:cNvPr id="1115" name="Google Shape;1115;p8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53</a:t>
            </a:fld>
            <a:endParaRPr/>
          </a:p>
        </p:txBody>
      </p:sp>
      <p:sp>
        <p:nvSpPr>
          <p:cNvPr id="1116" name="Google Shape;1116;p84"/>
          <p:cNvSpPr txBox="1">
            <a:spLocks noGrp="1"/>
          </p:cNvSpPr>
          <p:nvPr>
            <p:ph type="body" idx="2"/>
          </p:nvPr>
        </p:nvSpPr>
        <p:spPr>
          <a:xfrm>
            <a:off x="3207125" y="1860725"/>
            <a:ext cx="5733900" cy="2956200"/>
          </a:xfrm>
          <a:prstGeom prst="rect">
            <a:avLst/>
          </a:prstGeom>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a:t>Create a new Java class named "</a:t>
            </a:r>
            <a:r>
              <a:rPr lang="en">
                <a:solidFill>
                  <a:srgbClr val="FF0000"/>
                </a:solidFill>
                <a:latin typeface="Courier New"/>
                <a:ea typeface="Courier New"/>
                <a:cs typeface="Courier New"/>
                <a:sym typeface="Courier New"/>
              </a:rPr>
              <a:t>TrollBouncer</a:t>
            </a:r>
            <a:r>
              <a:rPr lang="en"/>
              <a:t>" that meets the following requirements:</a:t>
            </a:r>
            <a:endParaRPr/>
          </a:p>
          <a:p>
            <a:pPr marL="914400" lvl="1" indent="-298450" algn="l" rtl="0">
              <a:spcBef>
                <a:spcPts val="0"/>
              </a:spcBef>
              <a:spcAft>
                <a:spcPts val="0"/>
              </a:spcAft>
              <a:buSzPts val="1100"/>
              <a:buChar char="○"/>
            </a:pPr>
            <a:r>
              <a:rPr lang="en"/>
              <a:t>It will need a reference to the </a:t>
            </a:r>
            <a:r>
              <a:rPr lang="en" b="1" i="1">
                <a:solidFill>
                  <a:srgbClr val="FF0000"/>
                </a:solidFill>
              </a:rPr>
              <a:t>same </a:t>
            </a:r>
            <a:r>
              <a:rPr lang="en">
                <a:solidFill>
                  <a:srgbClr val="FF0000"/>
                </a:solidFill>
                <a:latin typeface="Courier New"/>
                <a:ea typeface="Courier New"/>
                <a:cs typeface="Courier New"/>
                <a:sym typeface="Courier New"/>
              </a:rPr>
              <a:t>ClubChevre</a:t>
            </a:r>
            <a:r>
              <a:rPr lang="en"/>
              <a:t> shared by the goats.</a:t>
            </a:r>
            <a:endParaRPr/>
          </a:p>
          <a:p>
            <a:pPr marL="914400" lvl="1" indent="-298450" algn="l" rtl="0">
              <a:spcBef>
                <a:spcPts val="0"/>
              </a:spcBef>
              <a:spcAft>
                <a:spcPts val="0"/>
              </a:spcAft>
              <a:buSzPts val="1100"/>
              <a:buChar char="○"/>
            </a:pPr>
            <a:r>
              <a:rPr lang="en"/>
              <a:t>The </a:t>
            </a:r>
            <a:r>
              <a:rPr lang="en">
                <a:latin typeface="Courier New"/>
                <a:ea typeface="Courier New"/>
                <a:cs typeface="Courier New"/>
                <a:sym typeface="Courier New"/>
              </a:rPr>
              <a:t>TrollBouncer</a:t>
            </a:r>
            <a:r>
              <a:rPr lang="en"/>
              <a:t> should be a </a:t>
            </a:r>
            <a:r>
              <a:rPr lang="en" b="1" i="1">
                <a:solidFill>
                  <a:srgbClr val="FF0000"/>
                </a:solidFill>
              </a:rPr>
              <a:t>task</a:t>
            </a:r>
            <a:r>
              <a:rPr lang="en"/>
              <a:t>, and use its </a:t>
            </a:r>
            <a:r>
              <a:rPr lang="en">
                <a:solidFill>
                  <a:srgbClr val="FF0000"/>
                </a:solidFill>
                <a:latin typeface="Courier New"/>
                <a:ea typeface="Courier New"/>
                <a:cs typeface="Courier New"/>
                <a:sym typeface="Courier New"/>
              </a:rPr>
              <a:t>run()</a:t>
            </a:r>
            <a:r>
              <a:rPr lang="en">
                <a:solidFill>
                  <a:srgbClr val="FF0000"/>
                </a:solidFill>
              </a:rPr>
              <a:t> </a:t>
            </a:r>
            <a:r>
              <a:rPr lang="en"/>
              <a:t>method to do its best to ensure that the club remains at max capacity at all times.</a:t>
            </a:r>
            <a:endParaRPr/>
          </a:p>
          <a:p>
            <a:pPr marL="1371600" lvl="2" indent="-298450" algn="l" rtl="0">
              <a:spcBef>
                <a:spcPts val="0"/>
              </a:spcBef>
              <a:spcAft>
                <a:spcPts val="0"/>
              </a:spcAft>
              <a:buSzPts val="1100"/>
              <a:buChar char="■"/>
            </a:pPr>
            <a:r>
              <a:rPr lang="en"/>
              <a:t>Once the </a:t>
            </a:r>
            <a:r>
              <a:rPr lang="en">
                <a:latin typeface="Courier New"/>
                <a:ea typeface="Courier New"/>
                <a:cs typeface="Courier New"/>
                <a:sym typeface="Courier New"/>
              </a:rPr>
              <a:t>TrollBouncer</a:t>
            </a:r>
            <a:r>
              <a:rPr lang="en"/>
              <a:t> selects a </a:t>
            </a:r>
            <a:r>
              <a:rPr lang="en">
                <a:latin typeface="Courier New"/>
                <a:ea typeface="Courier New"/>
                <a:cs typeface="Courier New"/>
                <a:sym typeface="Courier New"/>
              </a:rPr>
              <a:t>Goat</a:t>
            </a:r>
            <a:r>
              <a:rPr lang="en"/>
              <a:t> from the line, he should </a:t>
            </a:r>
            <a:r>
              <a:rPr lang="en" b="1" i="1">
                <a:solidFill>
                  <a:srgbClr val="FF0000"/>
                </a:solidFill>
              </a:rPr>
              <a:t>escort </a:t>
            </a:r>
            <a:r>
              <a:rPr lang="en"/>
              <a:t>the </a:t>
            </a:r>
            <a:r>
              <a:rPr lang="en">
                <a:latin typeface="Courier New"/>
                <a:ea typeface="Courier New"/>
                <a:cs typeface="Courier New"/>
                <a:sym typeface="Courier New"/>
              </a:rPr>
              <a:t>Goat</a:t>
            </a:r>
            <a:r>
              <a:rPr lang="en"/>
              <a:t> to the dance floor.</a:t>
            </a:r>
            <a:endParaRPr/>
          </a:p>
          <a:p>
            <a:pPr marL="1828800" lvl="3" indent="-298450" algn="l" rtl="0">
              <a:spcBef>
                <a:spcPts val="0"/>
              </a:spcBef>
              <a:spcAft>
                <a:spcPts val="0"/>
              </a:spcAft>
              <a:buSzPts val="1100"/>
              <a:buChar char="●"/>
            </a:pPr>
            <a:r>
              <a:rPr lang="en" b="1" i="1">
                <a:solidFill>
                  <a:srgbClr val="FF0000"/>
                </a:solidFill>
              </a:rPr>
              <a:t>For now</a:t>
            </a:r>
            <a:r>
              <a:rPr lang="en"/>
              <a:t>, the </a:t>
            </a:r>
            <a:r>
              <a:rPr lang="en">
                <a:latin typeface="Courier New"/>
                <a:ea typeface="Courier New"/>
                <a:cs typeface="Courier New"/>
                <a:sym typeface="Courier New"/>
              </a:rPr>
              <a:t>TrollBouncer</a:t>
            </a:r>
            <a:r>
              <a:rPr lang="en"/>
              <a:t> will always pick the </a:t>
            </a:r>
            <a:r>
              <a:rPr lang="en" b="1" i="1">
                <a:solidFill>
                  <a:srgbClr val="FF0000"/>
                </a:solidFill>
              </a:rPr>
              <a:t>first</a:t>
            </a:r>
            <a:r>
              <a:rPr lang="en">
                <a:solidFill>
                  <a:srgbClr val="FF0000"/>
                </a:solidFill>
              </a:rPr>
              <a:t> </a:t>
            </a:r>
            <a:r>
              <a:rPr lang="en">
                <a:latin typeface="Courier New"/>
                <a:ea typeface="Courier New"/>
                <a:cs typeface="Courier New"/>
                <a:sym typeface="Courier New"/>
              </a:rPr>
              <a:t>Goat</a:t>
            </a:r>
            <a:r>
              <a:rPr lang="en"/>
              <a:t> in line.</a:t>
            </a:r>
            <a:endParaRPr/>
          </a:p>
          <a:p>
            <a:pPr marL="1828800" lvl="3" indent="-298450" algn="l" rtl="0">
              <a:spcBef>
                <a:spcPts val="0"/>
              </a:spcBef>
              <a:spcAft>
                <a:spcPts val="0"/>
              </a:spcAft>
              <a:buSzPts val="1100"/>
              <a:buChar char="●"/>
            </a:pPr>
            <a:r>
              <a:rPr lang="en"/>
              <a:t>How does the </a:t>
            </a:r>
            <a:r>
              <a:rPr lang="en">
                <a:latin typeface="Courier New"/>
                <a:ea typeface="Courier New"/>
                <a:cs typeface="Courier New"/>
                <a:sym typeface="Courier New"/>
              </a:rPr>
              <a:t>TrollBouncer</a:t>
            </a:r>
            <a:r>
              <a:rPr lang="en"/>
              <a:t> inform a </a:t>
            </a:r>
            <a:r>
              <a:rPr lang="en">
                <a:latin typeface="Courier New"/>
                <a:ea typeface="Courier New"/>
                <a:cs typeface="Courier New"/>
                <a:sym typeface="Courier New"/>
              </a:rPr>
              <a:t>Goat</a:t>
            </a:r>
            <a:r>
              <a:rPr lang="en"/>
              <a:t> that it is safely on the dance floor and can begin dancing?</a:t>
            </a:r>
            <a:endParaRPr/>
          </a:p>
          <a:p>
            <a:pPr marL="1371600" lvl="2" indent="-298450" algn="l" rtl="0">
              <a:spcBef>
                <a:spcPts val="0"/>
              </a:spcBef>
              <a:spcAft>
                <a:spcPts val="0"/>
              </a:spcAft>
              <a:buSzPts val="1100"/>
              <a:buChar char="■"/>
            </a:pPr>
            <a:r>
              <a:rPr lang="en"/>
              <a:t>The </a:t>
            </a:r>
            <a:r>
              <a:rPr lang="en">
                <a:latin typeface="Courier New"/>
                <a:ea typeface="Courier New"/>
                <a:cs typeface="Courier New"/>
                <a:sym typeface="Courier New"/>
              </a:rPr>
              <a:t>TrollBouncer</a:t>
            </a:r>
            <a:r>
              <a:rPr lang="en"/>
              <a:t> takes short naps whenever the club is full. He should wake up immediately whenever a </a:t>
            </a:r>
            <a:r>
              <a:rPr lang="en">
                <a:latin typeface="Courier New"/>
                <a:ea typeface="Courier New"/>
                <a:cs typeface="Courier New"/>
                <a:sym typeface="Courier New"/>
              </a:rPr>
              <a:t>Goat</a:t>
            </a:r>
            <a:r>
              <a:rPr lang="en"/>
              <a:t> leaves the club or joins the line so that he can take appropriate action.</a:t>
            </a:r>
            <a:endParaRPr/>
          </a:p>
        </p:txBody>
      </p:sp>
      <p:sp>
        <p:nvSpPr>
          <p:cNvPr id="1117" name="Google Shape;1117;p84"/>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11.21</a:t>
            </a:r>
            <a:endParaRPr u="sng"/>
          </a:p>
        </p:txBody>
      </p:sp>
      <p:grpSp>
        <p:nvGrpSpPr>
          <p:cNvPr id="1118" name="Google Shape;1118;p84"/>
          <p:cNvGrpSpPr/>
          <p:nvPr/>
        </p:nvGrpSpPr>
        <p:grpSpPr>
          <a:xfrm>
            <a:off x="187750" y="1843175"/>
            <a:ext cx="2887675" cy="2206751"/>
            <a:chOff x="187756" y="1690834"/>
            <a:chExt cx="2795426" cy="2136255"/>
          </a:xfrm>
        </p:grpSpPr>
        <p:pic>
          <p:nvPicPr>
            <p:cNvPr id="1119" name="Google Shape;1119;p84"/>
            <p:cNvPicPr preferRelativeResize="0"/>
            <p:nvPr/>
          </p:nvPicPr>
          <p:blipFill rotWithShape="1">
            <a:blip r:embed="rId3">
              <a:alphaModFix/>
            </a:blip>
            <a:srcRect b="4407"/>
            <a:stretch/>
          </p:blipFill>
          <p:spPr>
            <a:xfrm>
              <a:off x="187756" y="1690834"/>
              <a:ext cx="2795426" cy="2136253"/>
            </a:xfrm>
            <a:prstGeom prst="rect">
              <a:avLst/>
            </a:prstGeom>
            <a:noFill/>
            <a:ln>
              <a:noFill/>
            </a:ln>
          </p:spPr>
        </p:pic>
        <p:pic>
          <p:nvPicPr>
            <p:cNvPr id="1120" name="Google Shape;1120;p84"/>
            <p:cNvPicPr preferRelativeResize="0"/>
            <p:nvPr/>
          </p:nvPicPr>
          <p:blipFill rotWithShape="1">
            <a:blip r:embed="rId4">
              <a:alphaModFix/>
            </a:blip>
            <a:srcRect r="26112"/>
            <a:stretch/>
          </p:blipFill>
          <p:spPr>
            <a:xfrm>
              <a:off x="1536788" y="2309978"/>
              <a:ext cx="1446393" cy="1517111"/>
            </a:xfrm>
            <a:prstGeom prst="rect">
              <a:avLst/>
            </a:prstGeom>
            <a:noFill/>
            <a:ln>
              <a:noFill/>
            </a:ln>
          </p:spPr>
        </p:pic>
        <p:grpSp>
          <p:nvGrpSpPr>
            <p:cNvPr id="1121" name="Google Shape;1121;p84"/>
            <p:cNvGrpSpPr/>
            <p:nvPr/>
          </p:nvGrpSpPr>
          <p:grpSpPr>
            <a:xfrm>
              <a:off x="586090" y="2287812"/>
              <a:ext cx="2226212" cy="1245060"/>
              <a:chOff x="5688409" y="872495"/>
              <a:chExt cx="2951753" cy="1650835"/>
            </a:xfrm>
          </p:grpSpPr>
          <p:pic>
            <p:nvPicPr>
              <p:cNvPr id="1122" name="Google Shape;1122;p84"/>
              <p:cNvPicPr preferRelativeResize="0"/>
              <p:nvPr/>
            </p:nvPicPr>
            <p:blipFill>
              <a:blip r:embed="rId5">
                <a:alphaModFix/>
              </a:blip>
              <a:stretch>
                <a:fillRect/>
              </a:stretch>
            </p:blipFill>
            <p:spPr>
              <a:xfrm flipH="1">
                <a:off x="7735922" y="872495"/>
                <a:ext cx="904240" cy="714300"/>
              </a:xfrm>
              <a:prstGeom prst="rect">
                <a:avLst/>
              </a:prstGeom>
              <a:noFill/>
              <a:ln>
                <a:noFill/>
              </a:ln>
            </p:spPr>
          </p:pic>
          <p:grpSp>
            <p:nvGrpSpPr>
              <p:cNvPr id="1123" name="Google Shape;1123;p84"/>
              <p:cNvGrpSpPr/>
              <p:nvPr/>
            </p:nvGrpSpPr>
            <p:grpSpPr>
              <a:xfrm>
                <a:off x="5688409" y="932011"/>
                <a:ext cx="1872894" cy="1591319"/>
                <a:chOff x="99126" y="2442482"/>
                <a:chExt cx="1567800" cy="1332094"/>
              </a:xfrm>
            </p:grpSpPr>
            <p:sp>
              <p:nvSpPr>
                <p:cNvPr id="1124" name="Google Shape;1124;p84"/>
                <p:cNvSpPr/>
                <p:nvPr/>
              </p:nvSpPr>
              <p:spPr>
                <a:xfrm>
                  <a:off x="311700" y="2468675"/>
                  <a:ext cx="1247400" cy="733500"/>
                </a:xfrm>
                <a:prstGeom prst="triangle">
                  <a:avLst>
                    <a:gd name="adj" fmla="val 50000"/>
                  </a:avLst>
                </a:prstGeom>
                <a:no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84"/>
                <p:cNvSpPr txBox="1"/>
                <p:nvPr/>
              </p:nvSpPr>
              <p:spPr>
                <a:xfrm rot="-762906">
                  <a:off x="152460" y="2974929"/>
                  <a:ext cx="1461132" cy="646793"/>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rgbClr val="FF0000"/>
                      </a:solidFill>
                      <a:latin typeface="Shadows Into Light"/>
                      <a:ea typeface="Shadows Into Light"/>
                      <a:cs typeface="Shadows Into Light"/>
                      <a:sym typeface="Shadows Into Light"/>
                    </a:rPr>
                    <a:t>BEWARE of the Troll Bouncer</a:t>
                  </a:r>
                  <a:endParaRPr>
                    <a:solidFill>
                      <a:srgbClr val="FF0000"/>
                    </a:solidFill>
                    <a:latin typeface="Shadows Into Light"/>
                    <a:ea typeface="Shadows Into Light"/>
                    <a:cs typeface="Shadows Into Light"/>
                    <a:sym typeface="Shadows Into Light"/>
                  </a:endParaRPr>
                </a:p>
              </p:txBody>
            </p:sp>
            <p:sp>
              <p:nvSpPr>
                <p:cNvPr id="1126" name="Google Shape;1126;p84"/>
                <p:cNvSpPr/>
                <p:nvPr/>
              </p:nvSpPr>
              <p:spPr>
                <a:xfrm>
                  <a:off x="885532" y="2442482"/>
                  <a:ext cx="105300" cy="105300"/>
                </a:xfrm>
                <a:prstGeom prst="ellipse">
                  <a:avLst/>
                </a:prstGeom>
                <a:solidFill>
                  <a:srgbClr val="FF000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1130"/>
        <p:cNvGrpSpPr/>
        <p:nvPr/>
      </p:nvGrpSpPr>
      <p:grpSpPr>
        <a:xfrm>
          <a:off x="0" y="0"/>
          <a:ext cx="0" cy="0"/>
          <a:chOff x="0" y="0"/>
          <a:chExt cx="0" cy="0"/>
        </a:xfrm>
      </p:grpSpPr>
      <p:sp>
        <p:nvSpPr>
          <p:cNvPr id="1131" name="Google Shape;1131;p85"/>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Trolls Gonna Troll</a:t>
            </a:r>
            <a:endParaRPr/>
          </a:p>
        </p:txBody>
      </p:sp>
      <p:sp>
        <p:nvSpPr>
          <p:cNvPr id="1132" name="Google Shape;1132;p85"/>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Once you are reasonably certain that your Troll Bouncer is ready to get to work, integrate the class into the main Club Chévre program. </a:t>
            </a:r>
            <a:endParaRPr/>
          </a:p>
        </p:txBody>
      </p:sp>
      <p:sp>
        <p:nvSpPr>
          <p:cNvPr id="1133" name="Google Shape;1133;p8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54</a:t>
            </a:fld>
            <a:endParaRPr/>
          </a:p>
        </p:txBody>
      </p:sp>
      <p:sp>
        <p:nvSpPr>
          <p:cNvPr id="1134" name="Google Shape;1134;p85"/>
          <p:cNvSpPr txBox="1">
            <a:spLocks noGrp="1"/>
          </p:cNvSpPr>
          <p:nvPr>
            <p:ph type="body" idx="2"/>
          </p:nvPr>
        </p:nvSpPr>
        <p:spPr>
          <a:xfrm>
            <a:off x="3328150" y="1550100"/>
            <a:ext cx="5620500" cy="2658900"/>
          </a:xfrm>
          <a:prstGeom prst="rect">
            <a:avLst/>
          </a:prstGeom>
        </p:spPr>
        <p:txBody>
          <a:bodyPr spcFirstLastPara="1" wrap="square" lIns="91425" tIns="91425" rIns="91425" bIns="91425" anchor="t" anchorCtr="0">
            <a:spAutoFit/>
          </a:bodyPr>
          <a:lstStyle/>
          <a:p>
            <a:pPr marL="457200" lvl="0" indent="-349250" algn="l" rtl="0">
              <a:spcBef>
                <a:spcPts val="0"/>
              </a:spcBef>
              <a:spcAft>
                <a:spcPts val="0"/>
              </a:spcAft>
              <a:buSzPts val="1900"/>
              <a:buChar char="●"/>
            </a:pPr>
            <a:r>
              <a:rPr lang="en" sz="1900"/>
              <a:t>Open the </a:t>
            </a:r>
            <a:r>
              <a:rPr lang="en" sz="1900">
                <a:solidFill>
                  <a:srgbClr val="FF0000"/>
                </a:solidFill>
                <a:latin typeface="Courier New"/>
                <a:ea typeface="Courier New"/>
                <a:cs typeface="Courier New"/>
                <a:sym typeface="Courier New"/>
              </a:rPr>
              <a:t>Main</a:t>
            </a:r>
            <a:r>
              <a:rPr lang="en" sz="1900">
                <a:solidFill>
                  <a:srgbClr val="FF0000"/>
                </a:solidFill>
              </a:rPr>
              <a:t> </a:t>
            </a:r>
            <a:r>
              <a:rPr lang="en" sz="1900"/>
              <a:t>class and update it to </a:t>
            </a:r>
            <a:r>
              <a:rPr lang="en" sz="1900" b="1" i="1">
                <a:solidFill>
                  <a:srgbClr val="FF0000"/>
                </a:solidFill>
              </a:rPr>
              <a:t>create </a:t>
            </a:r>
            <a:r>
              <a:rPr lang="en" sz="1900"/>
              <a:t>and </a:t>
            </a:r>
            <a:r>
              <a:rPr lang="en" sz="1900" b="1" i="1">
                <a:solidFill>
                  <a:srgbClr val="FF0000"/>
                </a:solidFill>
              </a:rPr>
              <a:t>start </a:t>
            </a:r>
            <a:r>
              <a:rPr lang="en" sz="1900"/>
              <a:t>a </a:t>
            </a:r>
            <a:r>
              <a:rPr lang="en" sz="1900">
                <a:latin typeface="Courier New"/>
                <a:ea typeface="Courier New"/>
                <a:cs typeface="Courier New"/>
                <a:sym typeface="Courier New"/>
              </a:rPr>
              <a:t>TrollBouncer</a:t>
            </a:r>
            <a:r>
              <a:rPr lang="en" sz="1900"/>
              <a:t> thread.</a:t>
            </a:r>
            <a:endParaRPr sz="1900"/>
          </a:p>
          <a:p>
            <a:pPr marL="457200" lvl="0" indent="-349250" algn="l" rtl="0">
              <a:spcBef>
                <a:spcPts val="0"/>
              </a:spcBef>
              <a:spcAft>
                <a:spcPts val="0"/>
              </a:spcAft>
              <a:buSzPts val="1900"/>
              <a:buChar char="●"/>
            </a:pPr>
            <a:r>
              <a:rPr lang="en" sz="1900" b="1" i="1">
                <a:solidFill>
                  <a:srgbClr val="FF0000"/>
                </a:solidFill>
              </a:rPr>
              <a:t>Run</a:t>
            </a:r>
            <a:r>
              <a:rPr lang="en" sz="1900">
                <a:solidFill>
                  <a:srgbClr val="FF0000"/>
                </a:solidFill>
              </a:rPr>
              <a:t> </a:t>
            </a:r>
            <a:r>
              <a:rPr lang="en" sz="1900"/>
              <a:t>your simulation.</a:t>
            </a:r>
            <a:endParaRPr sz="1900"/>
          </a:p>
          <a:p>
            <a:pPr marL="914400" lvl="1" indent="-336550" algn="l" rtl="0">
              <a:spcBef>
                <a:spcPts val="0"/>
              </a:spcBef>
              <a:spcAft>
                <a:spcPts val="0"/>
              </a:spcAft>
              <a:buSzPts val="1700"/>
              <a:buChar char="○"/>
            </a:pPr>
            <a:r>
              <a:rPr lang="en" sz="1700"/>
              <a:t>You </a:t>
            </a:r>
            <a:r>
              <a:rPr lang="en" sz="1700" b="1" i="1">
                <a:solidFill>
                  <a:srgbClr val="FF0000"/>
                </a:solidFill>
              </a:rPr>
              <a:t>should </a:t>
            </a:r>
            <a:r>
              <a:rPr lang="en" sz="1700"/>
              <a:t>see the </a:t>
            </a:r>
            <a:r>
              <a:rPr lang="en" sz="1700">
                <a:latin typeface="Courier New"/>
                <a:ea typeface="Courier New"/>
                <a:cs typeface="Courier New"/>
                <a:sym typeface="Courier New"/>
              </a:rPr>
              <a:t>TrollBouncer</a:t>
            </a:r>
            <a:r>
              <a:rPr lang="en" sz="1700"/>
              <a:t> </a:t>
            </a:r>
            <a:r>
              <a:rPr lang="en" sz="1700" b="1" i="1">
                <a:solidFill>
                  <a:srgbClr val="FF0000"/>
                </a:solidFill>
              </a:rPr>
              <a:t>selecting </a:t>
            </a:r>
            <a:r>
              <a:rPr lang="en" sz="1700"/>
              <a:t>goats from the line and </a:t>
            </a:r>
            <a:r>
              <a:rPr lang="en" sz="1700" b="1" i="1">
                <a:solidFill>
                  <a:srgbClr val="FF0000"/>
                </a:solidFill>
              </a:rPr>
              <a:t>escorting </a:t>
            </a:r>
            <a:r>
              <a:rPr lang="en" sz="1700"/>
              <a:t>them to the dance floor.</a:t>
            </a:r>
            <a:endParaRPr sz="1700"/>
          </a:p>
          <a:p>
            <a:pPr marL="914400" lvl="1" indent="-336550" algn="l" rtl="0">
              <a:spcBef>
                <a:spcPts val="0"/>
              </a:spcBef>
              <a:spcAft>
                <a:spcPts val="0"/>
              </a:spcAft>
              <a:buSzPts val="1700"/>
              <a:buChar char="○"/>
            </a:pPr>
            <a:r>
              <a:rPr lang="en" sz="1700"/>
              <a:t>What happens when the club </a:t>
            </a:r>
            <a:r>
              <a:rPr lang="en" sz="1700" b="1" i="1">
                <a:solidFill>
                  <a:srgbClr val="FF0000"/>
                </a:solidFill>
              </a:rPr>
              <a:t>fills up</a:t>
            </a:r>
            <a:r>
              <a:rPr lang="en" sz="1700"/>
              <a:t> with goats?</a:t>
            </a:r>
            <a:endParaRPr sz="1700"/>
          </a:p>
        </p:txBody>
      </p:sp>
      <p:sp>
        <p:nvSpPr>
          <p:cNvPr id="1135" name="Google Shape;1135;p85"/>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11.22</a:t>
            </a:r>
            <a:endParaRPr u="sng"/>
          </a:p>
        </p:txBody>
      </p:sp>
      <p:grpSp>
        <p:nvGrpSpPr>
          <p:cNvPr id="1136" name="Google Shape;1136;p85"/>
          <p:cNvGrpSpPr/>
          <p:nvPr/>
        </p:nvGrpSpPr>
        <p:grpSpPr>
          <a:xfrm>
            <a:off x="276725" y="1609920"/>
            <a:ext cx="2934926" cy="2724400"/>
            <a:chOff x="276725" y="1469825"/>
            <a:chExt cx="2934926" cy="2724400"/>
          </a:xfrm>
        </p:grpSpPr>
        <p:sp>
          <p:nvSpPr>
            <p:cNvPr id="1137" name="Google Shape;1137;p85"/>
            <p:cNvSpPr/>
            <p:nvPr/>
          </p:nvSpPr>
          <p:spPr>
            <a:xfrm>
              <a:off x="276725" y="3193425"/>
              <a:ext cx="2934900" cy="1000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38" name="Google Shape;1138;p85"/>
            <p:cNvPicPr preferRelativeResize="0"/>
            <p:nvPr/>
          </p:nvPicPr>
          <p:blipFill>
            <a:blip r:embed="rId3">
              <a:alphaModFix/>
            </a:blip>
            <a:stretch>
              <a:fillRect/>
            </a:stretch>
          </p:blipFill>
          <p:spPr>
            <a:xfrm>
              <a:off x="276850" y="1469825"/>
              <a:ext cx="2934801" cy="2346161"/>
            </a:xfrm>
            <a:prstGeom prst="rect">
              <a:avLst/>
            </a:prstGeom>
            <a:noFill/>
            <a:ln>
              <a:noFill/>
            </a:ln>
          </p:spPr>
        </p:pic>
      </p:grpSp>
      <p:grpSp>
        <p:nvGrpSpPr>
          <p:cNvPr id="1139" name="Google Shape;1139;p85"/>
          <p:cNvGrpSpPr/>
          <p:nvPr/>
        </p:nvGrpSpPr>
        <p:grpSpPr>
          <a:xfrm>
            <a:off x="395462" y="2981580"/>
            <a:ext cx="2770655" cy="1352672"/>
            <a:chOff x="149800" y="2065525"/>
            <a:chExt cx="3499185" cy="1708351"/>
          </a:xfrm>
        </p:grpSpPr>
        <p:pic>
          <p:nvPicPr>
            <p:cNvPr id="1140" name="Google Shape;1140;p85"/>
            <p:cNvPicPr preferRelativeResize="0"/>
            <p:nvPr/>
          </p:nvPicPr>
          <p:blipFill>
            <a:blip r:embed="rId4">
              <a:alphaModFix/>
            </a:blip>
            <a:stretch>
              <a:fillRect/>
            </a:stretch>
          </p:blipFill>
          <p:spPr>
            <a:xfrm flipH="1">
              <a:off x="998488" y="2065525"/>
              <a:ext cx="947888" cy="1364950"/>
            </a:xfrm>
            <a:prstGeom prst="rect">
              <a:avLst/>
            </a:prstGeom>
            <a:noFill/>
            <a:ln>
              <a:noFill/>
            </a:ln>
          </p:spPr>
        </p:pic>
        <p:pic>
          <p:nvPicPr>
            <p:cNvPr id="1141" name="Google Shape;1141;p85"/>
            <p:cNvPicPr preferRelativeResize="0"/>
            <p:nvPr/>
          </p:nvPicPr>
          <p:blipFill>
            <a:blip r:embed="rId4">
              <a:alphaModFix/>
            </a:blip>
            <a:stretch>
              <a:fillRect/>
            </a:stretch>
          </p:blipFill>
          <p:spPr>
            <a:xfrm flipH="1">
              <a:off x="156025" y="2065525"/>
              <a:ext cx="947888" cy="1364950"/>
            </a:xfrm>
            <a:prstGeom prst="rect">
              <a:avLst/>
            </a:prstGeom>
            <a:noFill/>
            <a:ln>
              <a:noFill/>
            </a:ln>
          </p:spPr>
        </p:pic>
        <p:pic>
          <p:nvPicPr>
            <p:cNvPr id="1142" name="Google Shape;1142;p85"/>
            <p:cNvPicPr preferRelativeResize="0"/>
            <p:nvPr/>
          </p:nvPicPr>
          <p:blipFill>
            <a:blip r:embed="rId4">
              <a:alphaModFix/>
            </a:blip>
            <a:stretch>
              <a:fillRect/>
            </a:stretch>
          </p:blipFill>
          <p:spPr>
            <a:xfrm flipH="1">
              <a:off x="1847798" y="2065525"/>
              <a:ext cx="947888" cy="1364950"/>
            </a:xfrm>
            <a:prstGeom prst="rect">
              <a:avLst/>
            </a:prstGeom>
            <a:noFill/>
            <a:ln>
              <a:noFill/>
            </a:ln>
          </p:spPr>
        </p:pic>
        <p:pic>
          <p:nvPicPr>
            <p:cNvPr id="1143" name="Google Shape;1143;p85"/>
            <p:cNvPicPr preferRelativeResize="0"/>
            <p:nvPr/>
          </p:nvPicPr>
          <p:blipFill>
            <a:blip r:embed="rId4">
              <a:alphaModFix/>
            </a:blip>
            <a:stretch>
              <a:fillRect/>
            </a:stretch>
          </p:blipFill>
          <p:spPr>
            <a:xfrm flipH="1">
              <a:off x="2701098" y="2065525"/>
              <a:ext cx="947888" cy="1364950"/>
            </a:xfrm>
            <a:prstGeom prst="rect">
              <a:avLst/>
            </a:prstGeom>
            <a:noFill/>
            <a:ln>
              <a:noFill/>
            </a:ln>
          </p:spPr>
        </p:pic>
        <p:pic>
          <p:nvPicPr>
            <p:cNvPr id="1144" name="Google Shape;1144;p85"/>
            <p:cNvPicPr preferRelativeResize="0"/>
            <p:nvPr/>
          </p:nvPicPr>
          <p:blipFill rotWithShape="1">
            <a:blip r:embed="rId5">
              <a:alphaModFix/>
            </a:blip>
            <a:srcRect l="20213" r="14708"/>
            <a:stretch/>
          </p:blipFill>
          <p:spPr>
            <a:xfrm>
              <a:off x="149800" y="2537025"/>
              <a:ext cx="1724676" cy="1236851"/>
            </a:xfrm>
            <a:prstGeom prst="rect">
              <a:avLst/>
            </a:prstGeom>
            <a:noFill/>
            <a:ln>
              <a:noFill/>
            </a:ln>
          </p:spPr>
        </p:pic>
        <p:pic>
          <p:nvPicPr>
            <p:cNvPr id="1145" name="Google Shape;1145;p85"/>
            <p:cNvPicPr preferRelativeResize="0"/>
            <p:nvPr/>
          </p:nvPicPr>
          <p:blipFill rotWithShape="1">
            <a:blip r:embed="rId5">
              <a:alphaModFix/>
            </a:blip>
            <a:srcRect l="20213" r="14708"/>
            <a:stretch/>
          </p:blipFill>
          <p:spPr>
            <a:xfrm>
              <a:off x="1673800" y="2537025"/>
              <a:ext cx="1724676" cy="1236851"/>
            </a:xfrm>
            <a:prstGeom prst="rect">
              <a:avLst/>
            </a:prstGeom>
            <a:noFill/>
            <a:ln>
              <a:noFill/>
            </a:ln>
          </p:spPr>
        </p:pic>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1149"/>
        <p:cNvGrpSpPr/>
        <p:nvPr/>
      </p:nvGrpSpPr>
      <p:grpSpPr>
        <a:xfrm>
          <a:off x="0" y="0"/>
          <a:ext cx="0" cy="0"/>
          <a:chOff x="0" y="0"/>
          <a:chExt cx="0" cy="0"/>
        </a:xfrm>
      </p:grpSpPr>
      <p:sp>
        <p:nvSpPr>
          <p:cNvPr id="1150" name="Google Shape;1150;p86"/>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a:t>Ain't no Party...</a:t>
            </a:r>
            <a:endParaRPr/>
          </a:p>
        </p:txBody>
      </p:sp>
      <p:sp>
        <p:nvSpPr>
          <p:cNvPr id="1151" name="Google Shape;1151;p86"/>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The party hasn't started until the goats start dancing. Exhausted goats should also exit the club to make room for those that are waiting in line. </a:t>
            </a:r>
            <a:endParaRPr/>
          </a:p>
        </p:txBody>
      </p:sp>
      <p:sp>
        <p:nvSpPr>
          <p:cNvPr id="1152" name="Google Shape;1152;p8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55</a:t>
            </a:fld>
            <a:endParaRPr/>
          </a:p>
        </p:txBody>
      </p:sp>
      <p:sp>
        <p:nvSpPr>
          <p:cNvPr id="1153" name="Google Shape;1153;p86"/>
          <p:cNvSpPr txBox="1">
            <a:spLocks noGrp="1"/>
          </p:cNvSpPr>
          <p:nvPr>
            <p:ph type="body" idx="2"/>
          </p:nvPr>
        </p:nvSpPr>
        <p:spPr>
          <a:xfrm>
            <a:off x="3660425" y="1496750"/>
            <a:ext cx="5144100" cy="34470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Open the </a:t>
            </a:r>
            <a:r>
              <a:rPr lang="en" sz="1500">
                <a:solidFill>
                  <a:srgbClr val="FF0000"/>
                </a:solidFill>
                <a:latin typeface="Courier New"/>
                <a:ea typeface="Courier New"/>
                <a:cs typeface="Courier New"/>
                <a:sym typeface="Courier New"/>
              </a:rPr>
              <a:t>Goat</a:t>
            </a:r>
            <a:r>
              <a:rPr lang="en" sz="1500">
                <a:solidFill>
                  <a:srgbClr val="FF0000"/>
                </a:solidFill>
              </a:rPr>
              <a:t> </a:t>
            </a:r>
            <a:r>
              <a:rPr lang="en" sz="1500"/>
              <a:t>class and navigate to the </a:t>
            </a:r>
            <a:r>
              <a:rPr lang="en" sz="1500">
                <a:solidFill>
                  <a:srgbClr val="FF0000"/>
                </a:solidFill>
                <a:latin typeface="Courier New"/>
                <a:ea typeface="Courier New"/>
                <a:cs typeface="Courier New"/>
                <a:sym typeface="Courier New"/>
              </a:rPr>
              <a:t>run()</a:t>
            </a:r>
            <a:r>
              <a:rPr lang="en" sz="1500"/>
              <a:t> method to make the following improvements:</a:t>
            </a:r>
            <a:endParaRPr sz="1500"/>
          </a:p>
          <a:p>
            <a:pPr marL="914400" lvl="1" indent="-311150" algn="l" rtl="0">
              <a:spcBef>
                <a:spcPts val="0"/>
              </a:spcBef>
              <a:spcAft>
                <a:spcPts val="0"/>
              </a:spcAft>
              <a:buSzPts val="1300"/>
              <a:buChar char="○"/>
            </a:pPr>
            <a:r>
              <a:rPr lang="en" sz="1300"/>
              <a:t>The </a:t>
            </a:r>
            <a:r>
              <a:rPr lang="en" sz="1300">
                <a:latin typeface="Courier New"/>
                <a:ea typeface="Courier New"/>
                <a:cs typeface="Courier New"/>
                <a:sym typeface="Courier New"/>
              </a:rPr>
              <a:t>Goat</a:t>
            </a:r>
            <a:r>
              <a:rPr lang="en" sz="1300"/>
              <a:t> should </a:t>
            </a:r>
            <a:r>
              <a:rPr lang="en" sz="1300" b="1" i="1">
                <a:solidFill>
                  <a:srgbClr val="FF0000"/>
                </a:solidFill>
              </a:rPr>
              <a:t>start dancing</a:t>
            </a:r>
            <a:r>
              <a:rPr lang="en" sz="1300">
                <a:solidFill>
                  <a:srgbClr val="FF0000"/>
                </a:solidFill>
              </a:rPr>
              <a:t> </a:t>
            </a:r>
            <a:r>
              <a:rPr lang="en" sz="1300"/>
              <a:t>once it is on the dance floor.</a:t>
            </a:r>
            <a:endParaRPr sz="1300"/>
          </a:p>
          <a:p>
            <a:pPr marL="1371600" lvl="2" indent="-311150" algn="l" rtl="0">
              <a:spcBef>
                <a:spcPts val="0"/>
              </a:spcBef>
              <a:spcAft>
                <a:spcPts val="0"/>
              </a:spcAft>
              <a:buSzPts val="1300"/>
              <a:buChar char="■"/>
            </a:pPr>
            <a:r>
              <a:rPr lang="en" sz="1300"/>
              <a:t>The </a:t>
            </a:r>
            <a:r>
              <a:rPr lang="en" sz="1300">
                <a:latin typeface="Courier New"/>
                <a:ea typeface="Courier New"/>
                <a:cs typeface="Courier New"/>
                <a:sym typeface="Courier New"/>
              </a:rPr>
              <a:t>Goat</a:t>
            </a:r>
            <a:r>
              <a:rPr lang="en" sz="1300"/>
              <a:t> should dance for a number of </a:t>
            </a:r>
            <a:r>
              <a:rPr lang="en" sz="1300" b="1" i="1">
                <a:solidFill>
                  <a:srgbClr val="FF0000"/>
                </a:solidFill>
              </a:rPr>
              <a:t>seconds</a:t>
            </a:r>
            <a:r>
              <a:rPr lang="en" sz="1300">
                <a:solidFill>
                  <a:srgbClr val="FF0000"/>
                </a:solidFill>
              </a:rPr>
              <a:t> </a:t>
            </a:r>
            <a:r>
              <a:rPr lang="en" sz="1300"/>
              <a:t>equal to the </a:t>
            </a:r>
            <a:r>
              <a:rPr lang="en" sz="1300">
                <a:solidFill>
                  <a:srgbClr val="FF0000"/>
                </a:solidFill>
                <a:latin typeface="Courier New"/>
                <a:ea typeface="Courier New"/>
                <a:cs typeface="Courier New"/>
                <a:sym typeface="Courier New"/>
              </a:rPr>
              <a:t>Goat</a:t>
            </a:r>
            <a:r>
              <a:rPr lang="en" sz="1300" b="1" i="1">
                <a:solidFill>
                  <a:srgbClr val="FF0000"/>
                </a:solidFill>
              </a:rPr>
              <a:t>'s</a:t>
            </a:r>
            <a:r>
              <a:rPr lang="en" sz="1300">
                <a:solidFill>
                  <a:srgbClr val="FF0000"/>
                </a:solidFill>
              </a:rPr>
              <a:t> </a:t>
            </a:r>
            <a:r>
              <a:rPr lang="en" sz="1300">
                <a:solidFill>
                  <a:srgbClr val="FF0000"/>
                </a:solidFill>
                <a:latin typeface="Courier New"/>
                <a:ea typeface="Courier New"/>
                <a:cs typeface="Courier New"/>
                <a:sym typeface="Courier New"/>
              </a:rPr>
              <a:t>stamina</a:t>
            </a:r>
            <a:r>
              <a:rPr lang="en" sz="1300"/>
              <a:t>. </a:t>
            </a:r>
            <a:endParaRPr sz="1300"/>
          </a:p>
          <a:p>
            <a:pPr marL="1371600" lvl="2" indent="-311150" algn="l" rtl="0">
              <a:spcBef>
                <a:spcPts val="0"/>
              </a:spcBef>
              <a:spcAft>
                <a:spcPts val="0"/>
              </a:spcAft>
              <a:buSzPts val="1300"/>
              <a:buChar char="■"/>
            </a:pPr>
            <a:r>
              <a:rPr lang="en" sz="1300"/>
              <a:t>The </a:t>
            </a:r>
            <a:r>
              <a:rPr lang="en" sz="1300">
                <a:latin typeface="Courier New"/>
                <a:ea typeface="Courier New"/>
                <a:cs typeface="Courier New"/>
                <a:sym typeface="Courier New"/>
              </a:rPr>
              <a:t>Goat</a:t>
            </a:r>
            <a:r>
              <a:rPr lang="en" sz="1300"/>
              <a:t> should </a:t>
            </a:r>
            <a:r>
              <a:rPr lang="en" sz="1300" b="1" i="1">
                <a:solidFill>
                  <a:srgbClr val="FF0000"/>
                </a:solidFill>
              </a:rPr>
              <a:t>print</a:t>
            </a:r>
            <a:r>
              <a:rPr lang="en" sz="1300">
                <a:solidFill>
                  <a:srgbClr val="FF0000"/>
                </a:solidFill>
              </a:rPr>
              <a:t> </a:t>
            </a:r>
            <a:r>
              <a:rPr lang="en" sz="1300"/>
              <a:t>a message </a:t>
            </a:r>
            <a:r>
              <a:rPr lang="en" sz="1300" b="1" i="1">
                <a:solidFill>
                  <a:srgbClr val="FF0000"/>
                </a:solidFill>
              </a:rPr>
              <a:t>once per second</a:t>
            </a:r>
            <a:r>
              <a:rPr lang="en" sz="1300">
                <a:solidFill>
                  <a:srgbClr val="FF0000"/>
                </a:solidFill>
              </a:rPr>
              <a:t> </a:t>
            </a:r>
            <a:r>
              <a:rPr lang="en" sz="1300"/>
              <a:t>indicating that it is dancing.</a:t>
            </a:r>
            <a:endParaRPr sz="1300"/>
          </a:p>
          <a:p>
            <a:pPr marL="914400" lvl="1" indent="-311150" algn="l" rtl="0">
              <a:spcBef>
                <a:spcPts val="0"/>
              </a:spcBef>
              <a:spcAft>
                <a:spcPts val="0"/>
              </a:spcAft>
              <a:buSzPts val="1300"/>
              <a:buChar char="○"/>
            </a:pPr>
            <a:r>
              <a:rPr lang="en" sz="1300"/>
              <a:t>Once the </a:t>
            </a:r>
            <a:r>
              <a:rPr lang="en" sz="1300">
                <a:latin typeface="Courier New"/>
                <a:ea typeface="Courier New"/>
                <a:cs typeface="Courier New"/>
                <a:sym typeface="Courier New"/>
              </a:rPr>
              <a:t>Goat</a:t>
            </a:r>
            <a:r>
              <a:rPr lang="en" sz="1300"/>
              <a:t> runs out of stamina, it should </a:t>
            </a:r>
            <a:r>
              <a:rPr lang="en" sz="1300" b="1" i="1">
                <a:solidFill>
                  <a:srgbClr val="FF0000"/>
                </a:solidFill>
              </a:rPr>
              <a:t>leave </a:t>
            </a:r>
            <a:r>
              <a:rPr lang="en" sz="1300"/>
              <a:t>the dance floor and head home.</a:t>
            </a:r>
            <a:endParaRPr sz="1300"/>
          </a:p>
          <a:p>
            <a:pPr marL="1371600" lvl="2" indent="-311150" algn="l" rtl="0">
              <a:spcBef>
                <a:spcPts val="0"/>
              </a:spcBef>
              <a:spcAft>
                <a:spcPts val="0"/>
              </a:spcAft>
              <a:buSzPts val="1300"/>
              <a:buChar char="■"/>
            </a:pPr>
            <a:r>
              <a:rPr lang="en" sz="1300"/>
              <a:t>More than one </a:t>
            </a:r>
            <a:r>
              <a:rPr lang="en" sz="1300">
                <a:latin typeface="Courier New"/>
                <a:ea typeface="Courier New"/>
                <a:cs typeface="Courier New"/>
                <a:sym typeface="Courier New"/>
              </a:rPr>
              <a:t>Goat</a:t>
            </a:r>
            <a:r>
              <a:rPr lang="en" sz="1300"/>
              <a:t> may try to leave at the same time! Make sure that they do it </a:t>
            </a:r>
            <a:r>
              <a:rPr lang="en" sz="1300" b="1" i="1">
                <a:solidFill>
                  <a:srgbClr val="FF0000"/>
                </a:solidFill>
              </a:rPr>
              <a:t>safely</a:t>
            </a:r>
            <a:r>
              <a:rPr lang="en" sz="1300"/>
              <a:t>!</a:t>
            </a:r>
            <a:endParaRPr sz="1300"/>
          </a:p>
          <a:p>
            <a:pPr marL="914400" lvl="1" indent="-311150" algn="l" rtl="0">
              <a:spcBef>
                <a:spcPts val="0"/>
              </a:spcBef>
              <a:spcAft>
                <a:spcPts val="0"/>
              </a:spcAft>
              <a:buSzPts val="1300"/>
              <a:buChar char="○"/>
            </a:pPr>
            <a:r>
              <a:rPr lang="en" sz="1300"/>
              <a:t>Every time a </a:t>
            </a:r>
            <a:r>
              <a:rPr lang="en" sz="1300">
                <a:latin typeface="Courier New"/>
                <a:ea typeface="Courier New"/>
                <a:cs typeface="Courier New"/>
                <a:sym typeface="Courier New"/>
              </a:rPr>
              <a:t>Goat</a:t>
            </a:r>
            <a:r>
              <a:rPr lang="en" sz="1300"/>
              <a:t> leaves, the </a:t>
            </a:r>
            <a:r>
              <a:rPr lang="en" sz="1300">
                <a:latin typeface="Courier New"/>
                <a:ea typeface="Courier New"/>
                <a:cs typeface="Courier New"/>
                <a:sym typeface="Courier New"/>
              </a:rPr>
              <a:t>TrollBouncer</a:t>
            </a:r>
            <a:r>
              <a:rPr lang="en" sz="1300"/>
              <a:t> should</a:t>
            </a:r>
            <a:r>
              <a:rPr lang="en" sz="1300" b="1" i="1">
                <a:solidFill>
                  <a:srgbClr val="FF0000"/>
                </a:solidFill>
              </a:rPr>
              <a:t> wake up</a:t>
            </a:r>
            <a:r>
              <a:rPr lang="en" sz="1300"/>
              <a:t> to escort the next </a:t>
            </a:r>
            <a:r>
              <a:rPr lang="en" sz="1300">
                <a:latin typeface="Courier New"/>
                <a:ea typeface="Courier New"/>
                <a:cs typeface="Courier New"/>
                <a:sym typeface="Courier New"/>
              </a:rPr>
              <a:t>Goat</a:t>
            </a:r>
            <a:r>
              <a:rPr lang="en" sz="1300"/>
              <a:t> into the club.</a:t>
            </a:r>
            <a:endParaRPr sz="1300"/>
          </a:p>
        </p:txBody>
      </p:sp>
      <p:sp>
        <p:nvSpPr>
          <p:cNvPr id="1154" name="Google Shape;1154;p86"/>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11.23</a:t>
            </a:r>
            <a:endParaRPr u="sng"/>
          </a:p>
        </p:txBody>
      </p:sp>
      <p:grpSp>
        <p:nvGrpSpPr>
          <p:cNvPr id="1155" name="Google Shape;1155;p86"/>
          <p:cNvGrpSpPr/>
          <p:nvPr/>
        </p:nvGrpSpPr>
        <p:grpSpPr>
          <a:xfrm>
            <a:off x="210375" y="1683350"/>
            <a:ext cx="3423625" cy="2570825"/>
            <a:chOff x="134175" y="1465925"/>
            <a:chExt cx="3423625" cy="2570825"/>
          </a:xfrm>
        </p:grpSpPr>
        <p:pic>
          <p:nvPicPr>
            <p:cNvPr id="1156" name="Google Shape;1156;p86"/>
            <p:cNvPicPr preferRelativeResize="0"/>
            <p:nvPr/>
          </p:nvPicPr>
          <p:blipFill>
            <a:blip r:embed="rId3">
              <a:alphaModFix/>
            </a:blip>
            <a:stretch>
              <a:fillRect/>
            </a:stretch>
          </p:blipFill>
          <p:spPr>
            <a:xfrm>
              <a:off x="134175" y="1465925"/>
              <a:ext cx="3423625" cy="2570825"/>
            </a:xfrm>
            <a:prstGeom prst="rect">
              <a:avLst/>
            </a:prstGeom>
            <a:noFill/>
            <a:ln w="19050" cap="flat" cmpd="sng">
              <a:solidFill>
                <a:srgbClr val="000000"/>
              </a:solidFill>
              <a:prstDash val="solid"/>
              <a:round/>
              <a:headEnd type="none" w="sm" len="sm"/>
              <a:tailEnd type="none" w="sm" len="sm"/>
            </a:ln>
          </p:spPr>
        </p:pic>
        <p:pic>
          <p:nvPicPr>
            <p:cNvPr id="1157" name="Google Shape;1157;p86"/>
            <p:cNvPicPr preferRelativeResize="0"/>
            <p:nvPr/>
          </p:nvPicPr>
          <p:blipFill rotWithShape="1">
            <a:blip r:embed="rId4">
              <a:alphaModFix/>
            </a:blip>
            <a:srcRect t="32116"/>
            <a:stretch/>
          </p:blipFill>
          <p:spPr>
            <a:xfrm>
              <a:off x="2417075" y="2532975"/>
              <a:ext cx="657175" cy="642425"/>
            </a:xfrm>
            <a:prstGeom prst="rect">
              <a:avLst/>
            </a:prstGeom>
            <a:noFill/>
            <a:ln>
              <a:noFill/>
            </a:ln>
          </p:spPr>
        </p:pic>
        <p:pic>
          <p:nvPicPr>
            <p:cNvPr id="1158" name="Google Shape;1158;p86"/>
            <p:cNvPicPr preferRelativeResize="0"/>
            <p:nvPr/>
          </p:nvPicPr>
          <p:blipFill rotWithShape="1">
            <a:blip r:embed="rId4">
              <a:alphaModFix/>
            </a:blip>
            <a:srcRect t="32116"/>
            <a:stretch/>
          </p:blipFill>
          <p:spPr>
            <a:xfrm>
              <a:off x="1077725" y="2279900"/>
              <a:ext cx="657175" cy="642425"/>
            </a:xfrm>
            <a:prstGeom prst="rect">
              <a:avLst/>
            </a:prstGeom>
            <a:noFill/>
            <a:ln>
              <a:noFill/>
            </a:ln>
          </p:spPr>
        </p:pic>
        <p:pic>
          <p:nvPicPr>
            <p:cNvPr id="1159" name="Google Shape;1159;p86"/>
            <p:cNvPicPr preferRelativeResize="0"/>
            <p:nvPr/>
          </p:nvPicPr>
          <p:blipFill rotWithShape="1">
            <a:blip r:embed="rId4">
              <a:alphaModFix/>
            </a:blip>
            <a:srcRect t="32116"/>
            <a:stretch/>
          </p:blipFill>
          <p:spPr>
            <a:xfrm flipH="1">
              <a:off x="1768925" y="2432300"/>
              <a:ext cx="657175" cy="642425"/>
            </a:xfrm>
            <a:prstGeom prst="rect">
              <a:avLst/>
            </a:prstGeom>
            <a:noFill/>
            <a:ln>
              <a:noFill/>
            </a:ln>
          </p:spPr>
        </p:pic>
        <p:pic>
          <p:nvPicPr>
            <p:cNvPr id="1160" name="Google Shape;1160;p86"/>
            <p:cNvPicPr preferRelativeResize="0"/>
            <p:nvPr/>
          </p:nvPicPr>
          <p:blipFill rotWithShape="1">
            <a:blip r:embed="rId4">
              <a:alphaModFix/>
            </a:blip>
            <a:srcRect t="32116"/>
            <a:stretch/>
          </p:blipFill>
          <p:spPr>
            <a:xfrm>
              <a:off x="2455275" y="2985300"/>
              <a:ext cx="657175" cy="642425"/>
            </a:xfrm>
            <a:prstGeom prst="rect">
              <a:avLst/>
            </a:prstGeom>
            <a:noFill/>
            <a:ln>
              <a:noFill/>
            </a:ln>
          </p:spPr>
        </p:pic>
        <p:pic>
          <p:nvPicPr>
            <p:cNvPr id="1161" name="Google Shape;1161;p86"/>
            <p:cNvPicPr preferRelativeResize="0"/>
            <p:nvPr/>
          </p:nvPicPr>
          <p:blipFill rotWithShape="1">
            <a:blip r:embed="rId4">
              <a:alphaModFix/>
            </a:blip>
            <a:srcRect t="32116"/>
            <a:stretch/>
          </p:blipFill>
          <p:spPr>
            <a:xfrm flipH="1">
              <a:off x="558050" y="2562475"/>
              <a:ext cx="657175" cy="642425"/>
            </a:xfrm>
            <a:prstGeom prst="rect">
              <a:avLst/>
            </a:prstGeom>
            <a:noFill/>
            <a:ln>
              <a:noFill/>
            </a:ln>
          </p:spPr>
        </p:pic>
        <p:pic>
          <p:nvPicPr>
            <p:cNvPr id="1162" name="Google Shape;1162;p86"/>
            <p:cNvPicPr preferRelativeResize="0"/>
            <p:nvPr/>
          </p:nvPicPr>
          <p:blipFill rotWithShape="1">
            <a:blip r:embed="rId4">
              <a:alphaModFix/>
            </a:blip>
            <a:srcRect t="32116"/>
            <a:stretch/>
          </p:blipFill>
          <p:spPr>
            <a:xfrm>
              <a:off x="785750" y="2985300"/>
              <a:ext cx="657175" cy="642425"/>
            </a:xfrm>
            <a:prstGeom prst="rect">
              <a:avLst/>
            </a:prstGeom>
            <a:noFill/>
            <a:ln>
              <a:noFill/>
            </a:ln>
          </p:spPr>
        </p:pic>
        <p:pic>
          <p:nvPicPr>
            <p:cNvPr id="1163" name="Google Shape;1163;p86"/>
            <p:cNvPicPr preferRelativeResize="0"/>
            <p:nvPr/>
          </p:nvPicPr>
          <p:blipFill rotWithShape="1">
            <a:blip r:embed="rId4">
              <a:alphaModFix/>
            </a:blip>
            <a:srcRect t="32116"/>
            <a:stretch/>
          </p:blipFill>
          <p:spPr>
            <a:xfrm flipH="1">
              <a:off x="1605600" y="3074725"/>
              <a:ext cx="657175" cy="642425"/>
            </a:xfrm>
            <a:prstGeom prst="rect">
              <a:avLst/>
            </a:prstGeom>
            <a:noFill/>
            <a:ln>
              <a:noFill/>
            </a:ln>
          </p:spPr>
        </p:pic>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1167"/>
        <p:cNvGrpSpPr/>
        <p:nvPr/>
      </p:nvGrpSpPr>
      <p:grpSpPr>
        <a:xfrm>
          <a:off x="0" y="0"/>
          <a:ext cx="0" cy="0"/>
          <a:chOff x="0" y="0"/>
          <a:chExt cx="0" cy="0"/>
        </a:xfrm>
      </p:grpSpPr>
      <p:sp>
        <p:nvSpPr>
          <p:cNvPr id="1168" name="Google Shape;1168;p8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56</a:t>
            </a:fld>
            <a:endParaRPr/>
          </a:p>
        </p:txBody>
      </p:sp>
      <p:sp>
        <p:nvSpPr>
          <p:cNvPr id="1169" name="Google Shape;1169;p87"/>
          <p:cNvSpPr txBox="1">
            <a:spLocks noGrp="1"/>
          </p:cNvSpPr>
          <p:nvPr>
            <p:ph type="title" idx="3"/>
          </p:nvPr>
        </p:nvSpPr>
        <p:spPr>
          <a:xfrm>
            <a:off x="65250" y="100"/>
            <a:ext cx="1253700" cy="646500"/>
          </a:xfrm>
          <a:prstGeom prst="rect">
            <a:avLst/>
          </a:prstGeom>
        </p:spPr>
        <p:txBody>
          <a:bodyPr spcFirstLastPara="1" wrap="square" lIns="91425" tIns="91425" rIns="91425" bIns="91425" anchor="ctr" anchorCtr="0">
            <a:spAutoFit/>
          </a:bodyPr>
          <a:lstStyle/>
          <a:p>
            <a:pPr marL="0" lvl="0" indent="0" algn="r" rtl="0">
              <a:spcBef>
                <a:spcPts val="0"/>
              </a:spcBef>
              <a:spcAft>
                <a:spcPts val="0"/>
              </a:spcAft>
              <a:buNone/>
            </a:pPr>
            <a:r>
              <a:rPr lang="en" u="sng"/>
              <a:t>11.24</a:t>
            </a:r>
            <a:endParaRPr u="sng"/>
          </a:p>
        </p:txBody>
      </p:sp>
      <p:grpSp>
        <p:nvGrpSpPr>
          <p:cNvPr id="1170" name="Google Shape;1170;p87"/>
          <p:cNvGrpSpPr/>
          <p:nvPr/>
        </p:nvGrpSpPr>
        <p:grpSpPr>
          <a:xfrm>
            <a:off x="134175" y="1542125"/>
            <a:ext cx="3423625" cy="2570825"/>
            <a:chOff x="134175" y="1465925"/>
            <a:chExt cx="3423625" cy="2570825"/>
          </a:xfrm>
        </p:grpSpPr>
        <p:pic>
          <p:nvPicPr>
            <p:cNvPr id="1171" name="Google Shape;1171;p87"/>
            <p:cNvPicPr preferRelativeResize="0"/>
            <p:nvPr/>
          </p:nvPicPr>
          <p:blipFill>
            <a:blip r:embed="rId3">
              <a:alphaModFix/>
            </a:blip>
            <a:stretch>
              <a:fillRect/>
            </a:stretch>
          </p:blipFill>
          <p:spPr>
            <a:xfrm>
              <a:off x="134175" y="1465925"/>
              <a:ext cx="3423625" cy="2570825"/>
            </a:xfrm>
            <a:prstGeom prst="rect">
              <a:avLst/>
            </a:prstGeom>
            <a:noFill/>
            <a:ln w="19050" cap="flat" cmpd="sng">
              <a:solidFill>
                <a:srgbClr val="000000"/>
              </a:solidFill>
              <a:prstDash val="solid"/>
              <a:round/>
              <a:headEnd type="none" w="sm" len="sm"/>
              <a:tailEnd type="none" w="sm" len="sm"/>
            </a:ln>
          </p:spPr>
        </p:pic>
        <p:pic>
          <p:nvPicPr>
            <p:cNvPr id="1172" name="Google Shape;1172;p87"/>
            <p:cNvPicPr preferRelativeResize="0"/>
            <p:nvPr/>
          </p:nvPicPr>
          <p:blipFill rotWithShape="1">
            <a:blip r:embed="rId4">
              <a:alphaModFix/>
            </a:blip>
            <a:srcRect t="32116"/>
            <a:stretch/>
          </p:blipFill>
          <p:spPr>
            <a:xfrm>
              <a:off x="2417075" y="2532975"/>
              <a:ext cx="657175" cy="642425"/>
            </a:xfrm>
            <a:prstGeom prst="rect">
              <a:avLst/>
            </a:prstGeom>
            <a:noFill/>
            <a:ln>
              <a:noFill/>
            </a:ln>
          </p:spPr>
        </p:pic>
        <p:pic>
          <p:nvPicPr>
            <p:cNvPr id="1173" name="Google Shape;1173;p87"/>
            <p:cNvPicPr preferRelativeResize="0"/>
            <p:nvPr/>
          </p:nvPicPr>
          <p:blipFill rotWithShape="1">
            <a:blip r:embed="rId4">
              <a:alphaModFix/>
            </a:blip>
            <a:srcRect t="32116"/>
            <a:stretch/>
          </p:blipFill>
          <p:spPr>
            <a:xfrm>
              <a:off x="1077725" y="2279900"/>
              <a:ext cx="657175" cy="642425"/>
            </a:xfrm>
            <a:prstGeom prst="rect">
              <a:avLst/>
            </a:prstGeom>
            <a:noFill/>
            <a:ln>
              <a:noFill/>
            </a:ln>
          </p:spPr>
        </p:pic>
        <p:pic>
          <p:nvPicPr>
            <p:cNvPr id="1174" name="Google Shape;1174;p87"/>
            <p:cNvPicPr preferRelativeResize="0"/>
            <p:nvPr/>
          </p:nvPicPr>
          <p:blipFill rotWithShape="1">
            <a:blip r:embed="rId4">
              <a:alphaModFix/>
            </a:blip>
            <a:srcRect t="32116"/>
            <a:stretch/>
          </p:blipFill>
          <p:spPr>
            <a:xfrm flipH="1">
              <a:off x="1768925" y="2432300"/>
              <a:ext cx="657175" cy="642425"/>
            </a:xfrm>
            <a:prstGeom prst="rect">
              <a:avLst/>
            </a:prstGeom>
            <a:noFill/>
            <a:ln>
              <a:noFill/>
            </a:ln>
          </p:spPr>
        </p:pic>
        <p:pic>
          <p:nvPicPr>
            <p:cNvPr id="1175" name="Google Shape;1175;p87"/>
            <p:cNvPicPr preferRelativeResize="0"/>
            <p:nvPr/>
          </p:nvPicPr>
          <p:blipFill rotWithShape="1">
            <a:blip r:embed="rId4">
              <a:alphaModFix/>
            </a:blip>
            <a:srcRect t="32116"/>
            <a:stretch/>
          </p:blipFill>
          <p:spPr>
            <a:xfrm>
              <a:off x="2455275" y="2985300"/>
              <a:ext cx="657175" cy="642425"/>
            </a:xfrm>
            <a:prstGeom prst="rect">
              <a:avLst/>
            </a:prstGeom>
            <a:noFill/>
            <a:ln>
              <a:noFill/>
            </a:ln>
          </p:spPr>
        </p:pic>
        <p:pic>
          <p:nvPicPr>
            <p:cNvPr id="1176" name="Google Shape;1176;p87"/>
            <p:cNvPicPr preferRelativeResize="0"/>
            <p:nvPr/>
          </p:nvPicPr>
          <p:blipFill rotWithShape="1">
            <a:blip r:embed="rId4">
              <a:alphaModFix/>
            </a:blip>
            <a:srcRect t="32116"/>
            <a:stretch/>
          </p:blipFill>
          <p:spPr>
            <a:xfrm flipH="1">
              <a:off x="558050" y="2562475"/>
              <a:ext cx="657175" cy="642425"/>
            </a:xfrm>
            <a:prstGeom prst="rect">
              <a:avLst/>
            </a:prstGeom>
            <a:noFill/>
            <a:ln>
              <a:noFill/>
            </a:ln>
          </p:spPr>
        </p:pic>
        <p:pic>
          <p:nvPicPr>
            <p:cNvPr id="1177" name="Google Shape;1177;p87"/>
            <p:cNvPicPr preferRelativeResize="0"/>
            <p:nvPr/>
          </p:nvPicPr>
          <p:blipFill rotWithShape="1">
            <a:blip r:embed="rId4">
              <a:alphaModFix/>
            </a:blip>
            <a:srcRect t="32116"/>
            <a:stretch/>
          </p:blipFill>
          <p:spPr>
            <a:xfrm>
              <a:off x="785750" y="2985300"/>
              <a:ext cx="657175" cy="642425"/>
            </a:xfrm>
            <a:prstGeom prst="rect">
              <a:avLst/>
            </a:prstGeom>
            <a:noFill/>
            <a:ln>
              <a:noFill/>
            </a:ln>
          </p:spPr>
        </p:pic>
        <p:pic>
          <p:nvPicPr>
            <p:cNvPr id="1178" name="Google Shape;1178;p87"/>
            <p:cNvPicPr preferRelativeResize="0"/>
            <p:nvPr/>
          </p:nvPicPr>
          <p:blipFill rotWithShape="1">
            <a:blip r:embed="rId4">
              <a:alphaModFix/>
            </a:blip>
            <a:srcRect t="32116"/>
            <a:stretch/>
          </p:blipFill>
          <p:spPr>
            <a:xfrm flipH="1">
              <a:off x="1605600" y="3074725"/>
              <a:ext cx="657175" cy="642425"/>
            </a:xfrm>
            <a:prstGeom prst="rect">
              <a:avLst/>
            </a:prstGeom>
            <a:noFill/>
            <a:ln>
              <a:noFill/>
            </a:ln>
          </p:spPr>
        </p:pic>
      </p:grpSp>
      <p:sp>
        <p:nvSpPr>
          <p:cNvPr id="1179" name="Google Shape;1179;p87"/>
          <p:cNvSpPr txBox="1">
            <a:spLocks noGrp="1"/>
          </p:cNvSpPr>
          <p:nvPr>
            <p:ph type="title"/>
          </p:nvPr>
        </p:nvSpPr>
        <p:spPr>
          <a:xfrm>
            <a:off x="1436850" y="100"/>
            <a:ext cx="7642500" cy="646500"/>
          </a:xfrm>
          <a:prstGeom prst="rect">
            <a:avLst/>
          </a:prstGeom>
        </p:spPr>
        <p:txBody>
          <a:bodyPr spcFirstLastPara="1" wrap="square" lIns="91425" tIns="91425" rIns="91425" bIns="91425" anchor="ctr" anchorCtr="0">
            <a:spAutoFit/>
          </a:bodyPr>
          <a:lstStyle/>
          <a:p>
            <a:pPr marL="0" lvl="0" indent="0" algn="l" rtl="0">
              <a:spcBef>
                <a:spcPts val="0"/>
              </a:spcBef>
              <a:spcAft>
                <a:spcPts val="0"/>
              </a:spcAft>
              <a:buNone/>
            </a:pPr>
            <a:r>
              <a:rPr lang="en" sz="3000"/>
              <a:t>Be Excellent to Each Other</a:t>
            </a:r>
            <a:endParaRPr sz="3000"/>
          </a:p>
        </p:txBody>
      </p:sp>
      <p:sp>
        <p:nvSpPr>
          <p:cNvPr id="1180" name="Google Shape;1180;p87"/>
          <p:cNvSpPr txBox="1">
            <a:spLocks noGrp="1"/>
          </p:cNvSpPr>
          <p:nvPr>
            <p:ph type="body" idx="1"/>
          </p:nvPr>
        </p:nvSpPr>
        <p:spPr>
          <a:xfrm>
            <a:off x="65250" y="731625"/>
            <a:ext cx="8955900" cy="714300"/>
          </a:xfrm>
          <a:prstGeom prst="rect">
            <a:avLst/>
          </a:prstGeom>
        </p:spPr>
        <p:txBody>
          <a:bodyPr spcFirstLastPara="1" wrap="square" lIns="91425" tIns="91425" rIns="91425" bIns="91425" anchor="t" anchorCtr="0">
            <a:spAutoFit/>
          </a:bodyPr>
          <a:lstStyle/>
          <a:p>
            <a:pPr marL="0" lvl="0" indent="0" algn="l" rtl="0">
              <a:spcBef>
                <a:spcPts val="0"/>
              </a:spcBef>
              <a:spcAft>
                <a:spcPts val="1600"/>
              </a:spcAft>
              <a:buNone/>
            </a:pPr>
            <a:r>
              <a:rPr lang="en"/>
              <a:t>Construction on Club Chévre isn't over yet! There is lots of room for improvement. Let's get to work.</a:t>
            </a:r>
            <a:endParaRPr/>
          </a:p>
        </p:txBody>
      </p:sp>
      <p:sp>
        <p:nvSpPr>
          <p:cNvPr id="1181" name="Google Shape;1181;p87"/>
          <p:cNvSpPr txBox="1">
            <a:spLocks noGrp="1"/>
          </p:cNvSpPr>
          <p:nvPr>
            <p:ph type="body" idx="2"/>
          </p:nvPr>
        </p:nvSpPr>
        <p:spPr>
          <a:xfrm>
            <a:off x="3645825" y="1389725"/>
            <a:ext cx="5234400" cy="3181500"/>
          </a:xfrm>
          <a:prstGeom prst="rect">
            <a:avLst/>
          </a:prstGeom>
        </p:spPr>
        <p:txBody>
          <a:bodyPr spcFirstLastPara="1" wrap="square" lIns="91425" tIns="91425" rIns="91425" bIns="91425" anchor="t" anchorCtr="0">
            <a:spAutoFit/>
          </a:bodyPr>
          <a:lstStyle/>
          <a:p>
            <a:pPr marL="457200" lvl="0" indent="-323850" algn="l" rtl="0">
              <a:spcBef>
                <a:spcPts val="0"/>
              </a:spcBef>
              <a:spcAft>
                <a:spcPts val="0"/>
              </a:spcAft>
              <a:buSzPts val="1500"/>
              <a:buChar char="●"/>
            </a:pPr>
            <a:r>
              <a:rPr lang="en" sz="1500"/>
              <a:t>Make the following enhancements to the simulation:</a:t>
            </a:r>
            <a:endParaRPr sz="1500"/>
          </a:p>
          <a:p>
            <a:pPr marL="914400" lvl="1" indent="-311150" algn="l" rtl="0">
              <a:spcBef>
                <a:spcPts val="0"/>
              </a:spcBef>
              <a:spcAft>
                <a:spcPts val="0"/>
              </a:spcAft>
              <a:buSzPts val="1300"/>
              <a:buChar char="○"/>
            </a:pPr>
            <a:r>
              <a:rPr lang="en" sz="1300"/>
              <a:t>Print each different kind of message in its own color (check out the </a:t>
            </a:r>
            <a:r>
              <a:rPr lang="en" sz="1300">
                <a:latin typeface="Courier New"/>
                <a:ea typeface="Courier New"/>
                <a:cs typeface="Courier New"/>
                <a:sym typeface="Courier New"/>
              </a:rPr>
              <a:t>TextColor</a:t>
            </a:r>
            <a:r>
              <a:rPr lang="en" sz="1300"/>
              <a:t> enumeration for help).</a:t>
            </a:r>
            <a:endParaRPr sz="1300"/>
          </a:p>
          <a:p>
            <a:pPr marL="914400" lvl="1" indent="-311150" algn="l" rtl="0">
              <a:spcBef>
                <a:spcPts val="0"/>
              </a:spcBef>
              <a:spcAft>
                <a:spcPts val="0"/>
              </a:spcAft>
              <a:buSzPts val="1300"/>
              <a:buChar char="○"/>
            </a:pPr>
            <a:r>
              <a:rPr lang="en" sz="1300"/>
              <a:t>The </a:t>
            </a:r>
            <a:r>
              <a:rPr lang="en" sz="1300">
                <a:latin typeface="Courier New"/>
                <a:ea typeface="Courier New"/>
                <a:cs typeface="Courier New"/>
                <a:sym typeface="Courier New"/>
              </a:rPr>
              <a:t>TrollBouncer</a:t>
            </a:r>
            <a:r>
              <a:rPr lang="en" sz="1300"/>
              <a:t> should only pick the best </a:t>
            </a:r>
            <a:r>
              <a:rPr lang="en" sz="1300">
                <a:latin typeface="Courier New"/>
                <a:ea typeface="Courier New"/>
                <a:cs typeface="Courier New"/>
                <a:sym typeface="Courier New"/>
              </a:rPr>
              <a:t>Goat</a:t>
            </a:r>
            <a:r>
              <a:rPr lang="en" sz="1300"/>
              <a:t> each time using the following simple formula:</a:t>
            </a:r>
            <a:endParaRPr sz="1300"/>
          </a:p>
          <a:p>
            <a:pPr marL="1371600" lvl="2" indent="-311150" algn="l" rtl="0">
              <a:spcBef>
                <a:spcPts val="0"/>
              </a:spcBef>
              <a:spcAft>
                <a:spcPts val="0"/>
              </a:spcAft>
              <a:buSzPts val="1300"/>
              <a:buFont typeface="Courier New"/>
              <a:buChar char="■"/>
            </a:pPr>
            <a:r>
              <a:rPr lang="en" sz="1300">
                <a:latin typeface="Courier New"/>
                <a:ea typeface="Courier New"/>
                <a:cs typeface="Courier New"/>
                <a:sym typeface="Courier New"/>
              </a:rPr>
              <a:t>length / (positionInLine + 1) * coolness</a:t>
            </a:r>
            <a:endParaRPr sz="1300">
              <a:latin typeface="Courier New"/>
              <a:ea typeface="Courier New"/>
              <a:cs typeface="Courier New"/>
              <a:sym typeface="Courier New"/>
            </a:endParaRPr>
          </a:p>
          <a:p>
            <a:pPr marL="914400" lvl="1" indent="-311150" algn="l" rtl="0">
              <a:spcBef>
                <a:spcPts val="0"/>
              </a:spcBef>
              <a:spcAft>
                <a:spcPts val="0"/>
              </a:spcAft>
              <a:buSzPts val="1300"/>
              <a:buChar char="○"/>
            </a:pPr>
            <a:r>
              <a:rPr lang="en" sz="1300"/>
              <a:t>Exhausted goats have a 50% chance of deciding to go to the bar instead of heading home. If they rest a number of seconds equal to their stamina, they will be able to head back to the dance floor!</a:t>
            </a:r>
            <a:endParaRPr sz="1300"/>
          </a:p>
          <a:p>
            <a:pPr marL="914400" lvl="1" indent="-311150" algn="l" rtl="0">
              <a:spcBef>
                <a:spcPts val="0"/>
              </a:spcBef>
              <a:spcAft>
                <a:spcPts val="0"/>
              </a:spcAft>
              <a:buSzPts val="1300"/>
              <a:buChar char="○"/>
            </a:pPr>
            <a:r>
              <a:rPr lang="en" sz="1300"/>
              <a:t>The main thread should wait until the simulation is finished before printing a goodbye message.</a:t>
            </a:r>
            <a:endParaRPr sz="1300"/>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1118</TotalTime>
  <Words>10939</Words>
  <Application>Microsoft Office PowerPoint</Application>
  <PresentationFormat>On-screen Show (16:9)</PresentationFormat>
  <Paragraphs>1107</Paragraphs>
  <Slides>56</Slides>
  <Notes>56</Notes>
  <HiddenSlides>10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56</vt:i4>
      </vt:variant>
    </vt:vector>
  </HeadingPairs>
  <TitlesOfParts>
    <vt:vector size="68" baseType="lpstr">
      <vt:lpstr>Arial</vt:lpstr>
      <vt:lpstr>Calibri</vt:lpstr>
      <vt:lpstr>Consolas</vt:lpstr>
      <vt:lpstr>Courier New</vt:lpstr>
      <vt:lpstr>Impact</vt:lpstr>
      <vt:lpstr>Merriweather</vt:lpstr>
      <vt:lpstr>Permanent Marker</vt:lpstr>
      <vt:lpstr>Roboto</vt:lpstr>
      <vt:lpstr>Shadows Into Light</vt:lpstr>
      <vt:lpstr>Wingdings</vt:lpstr>
      <vt:lpstr>Paradigm</vt:lpstr>
      <vt:lpstr>Paradigm</vt:lpstr>
      <vt:lpstr>GCIS-124 Software Development &amp; Problem Solving</vt:lpstr>
      <vt:lpstr>Thread Cooperation</vt:lpstr>
      <vt:lpstr>Review: Processes &amp; Concurrency </vt:lpstr>
      <vt:lpstr>Review: Java Threads</vt:lpstr>
      <vt:lpstr>Hello, Worlds!</vt:lpstr>
      <vt:lpstr>Review: ExecutorService</vt:lpstr>
      <vt:lpstr>Review: Sleep &amp; AwaitTermination</vt:lpstr>
      <vt:lpstr>A Counting Thread</vt:lpstr>
      <vt:lpstr>10 Counting Threads</vt:lpstr>
      <vt:lpstr>Resource Contention</vt:lpstr>
      <vt:lpstr>Context Switching</vt:lpstr>
      <vt:lpstr>Locks</vt:lpstr>
      <vt:lpstr>An Illustrated Example A Story in 3 Parts</vt:lpstr>
      <vt:lpstr>An Illustrated Example A Story in 3 Parts</vt:lpstr>
      <vt:lpstr>An Illustrated Example A Story in 3 Parts</vt:lpstr>
      <vt:lpstr>ReentrantLock</vt:lpstr>
      <vt:lpstr>Thread-Safe Counting</vt:lpstr>
      <vt:lpstr>Surgical Locking</vt:lpstr>
      <vt:lpstr>Surgical Locking</vt:lpstr>
      <vt:lpstr>Why Do I Care?</vt:lpstr>
      <vt:lpstr>Threads and Networking</vt:lpstr>
      <vt:lpstr>Multi-Threaded HttpWebServer</vt:lpstr>
      <vt:lpstr>To Lock or Not To Lock?</vt:lpstr>
      <vt:lpstr>Fun1 Fact!</vt:lpstr>
      <vt:lpstr>Waiting</vt:lpstr>
      <vt:lpstr>Conditions in Detail</vt:lpstr>
      <vt:lpstr>Wait Before Printing</vt:lpstr>
      <vt:lpstr>Signal</vt:lpstr>
      <vt:lpstr>Signaling a Thread</vt:lpstr>
      <vt:lpstr>Lots of Waiters</vt:lpstr>
      <vt:lpstr>Signal All</vt:lpstr>
      <vt:lpstr>Lots of Waiters II</vt:lpstr>
      <vt:lpstr>Producer/Consumer</vt:lpstr>
      <vt:lpstr>A Consumer</vt:lpstr>
      <vt:lpstr>A Producer</vt:lpstr>
      <vt:lpstr>Producers and Consumers</vt:lpstr>
      <vt:lpstr>Thread States</vt:lpstr>
      <vt:lpstr>WAITING is not BLOCKED (and Vice Versa)</vt:lpstr>
      <vt:lpstr>A Hypothetical Scenario</vt:lpstr>
      <vt:lpstr>Deadlock</vt:lpstr>
      <vt:lpstr>Deadlock</vt:lpstr>
      <vt:lpstr>Deadlock Conditions</vt:lpstr>
      <vt:lpstr>Deadlock and The Dining Philosophers*</vt:lpstr>
      <vt:lpstr>Sleep vs. AwaitTermination vs. Wait vs. Notify</vt:lpstr>
      <vt:lpstr>Thread States</vt:lpstr>
      <vt:lpstr>Summary &amp; Reflection</vt:lpstr>
      <vt:lpstr>PowerPoint Presentation</vt:lpstr>
      <vt:lpstr>Inspecting the Club</vt:lpstr>
      <vt:lpstr>Party Goats</vt:lpstr>
      <vt:lpstr>A Goat Lineup</vt:lpstr>
      <vt:lpstr>The Main Program</vt:lpstr>
      <vt:lpstr>A Calamity of Goats</vt:lpstr>
      <vt:lpstr>The Troll Bouncer</vt:lpstr>
      <vt:lpstr>Trolls Gonna Troll</vt:lpstr>
      <vt:lpstr>Ain't no Party...</vt:lpstr>
      <vt:lpstr>11.24</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Tanweer Alam</cp:lastModifiedBy>
  <cp:revision>32</cp:revision>
  <dcterms:modified xsi:type="dcterms:W3CDTF">2026-04-02T20:00:55Z</dcterms:modified>
</cp:coreProperties>
</file>