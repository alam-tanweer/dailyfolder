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y="5143500" cx="9144000"/>
  <p:notesSz cx="6858000" cy="9144000"/>
  <p:embeddedFontLst>
    <p:embeddedFont>
      <p:font typeface="Roboto"/>
      <p:regular r:id="rId64"/>
      <p:bold r:id="rId65"/>
      <p:italic r:id="rId66"/>
      <p:boldItalic r:id="rId67"/>
    </p:embeddedFont>
    <p:embeddedFont>
      <p:font typeface="Permanent Marker"/>
      <p:regular r:id="rId68"/>
    </p:embeddedFont>
    <p:embeddedFont>
      <p:font typeface="Shadows Into Light"/>
      <p:regular r:id="rId69"/>
    </p:embeddedFont>
    <p:embeddedFont>
      <p:font typeface="Merriweather"/>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3D5EA2-2314-425E-90A0-23183F944CD3}">
  <a:tblStyle styleId="{903D5EA2-2314-425E-90A0-23183F944CD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Merriweather-boldItalic.fntdata"/><Relationship Id="rId72" Type="http://schemas.openxmlformats.org/officeDocument/2006/relationships/font" Target="fonts/Merriweather-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Merriweather-bold.fntdata"/><Relationship Id="rId70" Type="http://schemas.openxmlformats.org/officeDocument/2006/relationships/font" Target="fonts/Merriweather-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Roboto-regular.fntdata"/><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font" Target="fonts/Roboto-italic.fntdata"/><Relationship Id="rId21" Type="http://schemas.openxmlformats.org/officeDocument/2006/relationships/slide" Target="slides/slide14.xml"/><Relationship Id="rId65" Type="http://schemas.openxmlformats.org/officeDocument/2006/relationships/font" Target="fonts/Roboto-bold.fntdata"/><Relationship Id="rId24" Type="http://schemas.openxmlformats.org/officeDocument/2006/relationships/slide" Target="slides/slide17.xml"/><Relationship Id="rId68" Type="http://schemas.openxmlformats.org/officeDocument/2006/relationships/font" Target="fonts/PermanentMarker-regular.fntdata"/><Relationship Id="rId23" Type="http://schemas.openxmlformats.org/officeDocument/2006/relationships/slide" Target="slides/slide16.xml"/><Relationship Id="rId67" Type="http://schemas.openxmlformats.org/officeDocument/2006/relationships/font" Target="fonts/Roboto-boldItalic.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ShadowsIntoLight-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3d3c908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3d3c908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b21e7e554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b21e7e554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b561e0d4c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b561e0d4c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b21e7e554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b21e7e554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f9a77586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cf9a77586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b21e7e554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b21e7e554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7958703a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7958703a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7958703aa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7958703aa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b21e7e554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b21e7e554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ce62f00d7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ce62f00d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b714e58e5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b714e58e5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7958703aa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7958703aa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7958703aa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7958703aa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7958703aa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7958703aa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ceb8f15a6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ceb8f15a6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b21e7e554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b21e7e554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b21e7e554b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b21e7e554b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7958703aae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7958703aa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b21e7e554b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b21e7e554b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cf9a775865_0_170:notes"/>
          <p:cNvSpPr/>
          <p:nvPr>
            <p:ph idx="2" type="sldImg"/>
          </p:nvPr>
        </p:nvSpPr>
        <p:spPr>
          <a:xfrm>
            <a:off x="187386" y="217716"/>
            <a:ext cx="6483000" cy="3705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cf9a775865_0_170: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cf9a77586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cf9a77586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b21e7e554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b21e7e554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7958703aae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7958703aae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is skippable if you are short on time.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21e55936f0b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21e55936f0b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ceb8f15a69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ceb8f15a69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21e55936f0b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21e55936f0b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1e55936f0b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21e55936f0b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1e55936f0b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1e55936f0b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1e55936f0b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1e55936f0b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1e55936f0b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1e55936f0b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1e55936f0b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1e55936f0b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1e55936f0b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21e55936f0b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1e55936f0b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1e55936f0b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1e55936f0b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1e55936f0b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1e55936f0b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1e55936f0b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1e55936f0b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1e55936f0b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1e55936f0b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1e55936f0b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21e55936f0b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21e55936f0b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1e55936f0b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21e55936f0b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1e55936f0b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1e55936f0b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1e55936f0b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1e55936f0b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21e55936f0b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21e55936f0b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21e55936f0b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21e55936f0b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1e55936f0b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21e55936f0b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1e55936f0b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1e55936f0b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1e55936f0b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1e55936f0b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1e55936f0b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21e55936f0b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1e55936f0b_0_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1e55936f0b_0_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1e55936f0b_0_9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1e55936f0b_0_9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21e55936f0b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21e55936f0b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21e55936f0b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21e55936f0b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1e55936f0b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1e55936f0b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21e55936f0b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21e55936f0b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21e55936f0b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21e55936f0b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1e55936f0b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21e55936f0b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is a good chance that you will run out of time before finishing this. Make sure to save enough time for PSS.</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64" name="Shape 64"/>
        <p:cNvGrpSpPr/>
        <p:nvPr/>
      </p:nvGrpSpPr>
      <p:grpSpPr>
        <a:xfrm>
          <a:off x="0" y="0"/>
          <a:ext cx="0" cy="0"/>
          <a:chOff x="0" y="0"/>
          <a:chExt cx="0" cy="0"/>
        </a:xfrm>
      </p:grpSpPr>
      <p:sp>
        <p:nvSpPr>
          <p:cNvPr id="65" name="Google Shape;65;p13"/>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67" name="Google Shape;67;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3"/>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9" name="Google Shape;69;p13"/>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71" name="Google Shape;71;p13"/>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73" name="Google Shape;73;p13"/>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4" name="Shape 74"/>
        <p:cNvGrpSpPr/>
        <p:nvPr/>
      </p:nvGrpSpPr>
      <p:grpSpPr>
        <a:xfrm>
          <a:off x="0" y="0"/>
          <a:ext cx="0" cy="0"/>
          <a:chOff x="0" y="0"/>
          <a:chExt cx="0" cy="0"/>
        </a:xfrm>
      </p:grpSpPr>
      <p:sp>
        <p:nvSpPr>
          <p:cNvPr id="75" name="Google Shape;75;p1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8" name="Google Shape;7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2" name="Google Shape;8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7" name="Shape 87"/>
        <p:cNvGrpSpPr/>
        <p:nvPr/>
      </p:nvGrpSpPr>
      <p:grpSpPr>
        <a:xfrm>
          <a:off x="0" y="0"/>
          <a:ext cx="0" cy="0"/>
          <a:chOff x="0" y="0"/>
          <a:chExt cx="0" cy="0"/>
        </a:xfrm>
      </p:grpSpPr>
      <p:sp>
        <p:nvSpPr>
          <p:cNvPr id="88" name="Google Shape;88;p17"/>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89" name="Google Shape;89;p17"/>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90" name="Google Shape;90;p17"/>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92" name="Shape 92"/>
        <p:cNvGrpSpPr/>
        <p:nvPr/>
      </p:nvGrpSpPr>
      <p:grpSpPr>
        <a:xfrm>
          <a:off x="0" y="0"/>
          <a:ext cx="0" cy="0"/>
          <a:chOff x="0" y="0"/>
          <a:chExt cx="0" cy="0"/>
        </a:xfrm>
      </p:grpSpPr>
      <p:sp>
        <p:nvSpPr>
          <p:cNvPr id="93" name="Google Shape;93;p18"/>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94" name="Google Shape;94;p18"/>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95" name="Google Shape;95;p18"/>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7" name="Shape 97"/>
        <p:cNvGrpSpPr/>
        <p:nvPr/>
      </p:nvGrpSpPr>
      <p:grpSpPr>
        <a:xfrm>
          <a:off x="0" y="0"/>
          <a:ext cx="0" cy="0"/>
          <a:chOff x="0" y="0"/>
          <a:chExt cx="0" cy="0"/>
        </a:xfrm>
      </p:grpSpPr>
      <p:sp>
        <p:nvSpPr>
          <p:cNvPr id="98" name="Google Shape;98;p19"/>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99" name="Google Shape;99;p19"/>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9"/>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01" name="Google Shape;101;p19"/>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9"/>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04" name="Google Shape;104;p19"/>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5" name="Shape 105"/>
        <p:cNvGrpSpPr/>
        <p:nvPr/>
      </p:nvGrpSpPr>
      <p:grpSpPr>
        <a:xfrm>
          <a:off x="0" y="0"/>
          <a:ext cx="0" cy="0"/>
          <a:chOff x="0" y="0"/>
          <a:chExt cx="0" cy="0"/>
        </a:xfrm>
      </p:grpSpPr>
      <p:sp>
        <p:nvSpPr>
          <p:cNvPr id="106" name="Google Shape;106;p20"/>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08" name="Google Shape;108;p20"/>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9" name="Google Shape;109;p20"/>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0" name="Google Shape;11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2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4" name="Google Shape;114;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5" name="Shape 115"/>
        <p:cNvGrpSpPr/>
        <p:nvPr/>
      </p:nvGrpSpPr>
      <p:grpSpPr>
        <a:xfrm>
          <a:off x="0" y="0"/>
          <a:ext cx="0" cy="0"/>
          <a:chOff x="0" y="0"/>
          <a:chExt cx="0" cy="0"/>
        </a:xfrm>
      </p:grpSpPr>
      <p:sp>
        <p:nvSpPr>
          <p:cNvPr id="116" name="Google Shape;116;p22"/>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18" name="Google Shape;118;p2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2"/>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0" name="Google Shape;120;p22"/>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21" name="Google Shape;121;p22"/>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22" name="Google Shape;122;p22"/>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23" name="Shape 123"/>
        <p:cNvGrpSpPr/>
        <p:nvPr/>
      </p:nvGrpSpPr>
      <p:grpSpPr>
        <a:xfrm>
          <a:off x="0" y="0"/>
          <a:ext cx="0" cy="0"/>
          <a:chOff x="0" y="0"/>
          <a:chExt cx="0" cy="0"/>
        </a:xfrm>
      </p:grpSpPr>
      <p:sp>
        <p:nvSpPr>
          <p:cNvPr id="124" name="Google Shape;124;p23"/>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25" name="Google Shape;125;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6" name="Shape 126"/>
        <p:cNvGrpSpPr/>
        <p:nvPr/>
      </p:nvGrpSpPr>
      <p:grpSpPr>
        <a:xfrm>
          <a:off x="0" y="0"/>
          <a:ext cx="0" cy="0"/>
          <a:chOff x="0" y="0"/>
          <a:chExt cx="0" cy="0"/>
        </a:xfrm>
      </p:grpSpPr>
      <p:sp>
        <p:nvSpPr>
          <p:cNvPr id="127" name="Google Shape;127;p24"/>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4"/>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9" name="Google Shape;129;p24"/>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130" name="Google Shape;130;p24"/>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25"/>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5"/>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135" name="Google Shape;135;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36" name="Shape 136"/>
        <p:cNvGrpSpPr/>
        <p:nvPr/>
      </p:nvGrpSpPr>
      <p:grpSpPr>
        <a:xfrm>
          <a:off x="0" y="0"/>
          <a:ext cx="0" cy="0"/>
          <a:chOff x="0" y="0"/>
          <a:chExt cx="0" cy="0"/>
        </a:xfrm>
      </p:grpSpPr>
      <p:sp>
        <p:nvSpPr>
          <p:cNvPr id="137" name="Google Shape;137;p26"/>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38" name="Google Shape;138;p26"/>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139" name="Google Shape;13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142" name="Shape 142"/>
        <p:cNvGrpSpPr/>
        <p:nvPr/>
      </p:nvGrpSpPr>
      <p:grpSpPr>
        <a:xfrm>
          <a:off x="0" y="0"/>
          <a:ext cx="0" cy="0"/>
          <a:chOff x="0" y="0"/>
          <a:chExt cx="0" cy="0"/>
        </a:xfrm>
      </p:grpSpPr>
      <p:sp>
        <p:nvSpPr>
          <p:cNvPr id="143" name="Google Shape;143;p28"/>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8"/>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45" name="Google Shape;145;p28"/>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8"/>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7" name="Google Shape;147;p28"/>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8"/>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49" name="Google Shape;149;p28"/>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8"/>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51" name="Google Shape;151;p28"/>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52" name="Shape 152"/>
        <p:cNvGrpSpPr/>
        <p:nvPr/>
      </p:nvGrpSpPr>
      <p:grpSpPr>
        <a:xfrm>
          <a:off x="0" y="0"/>
          <a:ext cx="0" cy="0"/>
          <a:chOff x="0" y="0"/>
          <a:chExt cx="0" cy="0"/>
        </a:xfrm>
      </p:grpSpPr>
      <p:sp>
        <p:nvSpPr>
          <p:cNvPr id="153" name="Google Shape;153;p29"/>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9"/>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5" name="Google Shape;155;p2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56" name="Google Shape;156;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60" name="Google Shape;160;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161" name="Shape 161"/>
        <p:cNvGrpSpPr/>
        <p:nvPr/>
      </p:nvGrpSpPr>
      <p:grpSpPr>
        <a:xfrm>
          <a:off x="0" y="0"/>
          <a:ext cx="0" cy="0"/>
          <a:chOff x="0" y="0"/>
          <a:chExt cx="0" cy="0"/>
        </a:xfrm>
      </p:grpSpPr>
      <p:sp>
        <p:nvSpPr>
          <p:cNvPr id="162" name="Google Shape;162;p3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63" name="Google Shape;163;p3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1"/>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5" name="Google Shape;165;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6" Type="http://schemas.openxmlformats.org/officeDocument/2006/relationships/theme" Target="../theme/theme1.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85" name="Google Shape;85;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6" name="Google Shape;8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docs.oracle.com/en/java/javase/15/docs/api/java.base/java/lang/Thread.html" TargetMode="External"/><Relationship Id="rId4" Type="http://schemas.openxmlformats.org/officeDocument/2006/relationships/hyperlink" Target="https://docs.oracle.com/en/java/javase/15/docs/api/java.base/java/lang/Runnable.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ocs.oracle.com/en/java/javase/21/docs/api/java.base/java/util/concurrent/Executors.html#newCachedThreadPool()" TargetMode="External"/><Relationship Id="rId4" Type="http://schemas.openxmlformats.org/officeDocument/2006/relationships/hyperlink" Target="https://docs.oracle.com/en/java/javase/21/docs/api/java.base/java/util/concurrent/Executors.html#newFixedThreadPool(int)" TargetMode="External"/><Relationship Id="rId5" Type="http://schemas.openxmlformats.org/officeDocument/2006/relationships/hyperlink" Target="https://docs.oracle.com/en/java/javase/21/docs/api/java.base/java/util/concurrent/Executors.html#newSingleThreadExecuto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43.png"/><Relationship Id="rId7" Type="http://schemas.openxmlformats.org/officeDocument/2006/relationships/image" Target="../media/image13.png"/><Relationship Id="rId8"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 Id="rId3"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 Id="rId3" Type="http://schemas.openxmlformats.org/officeDocument/2006/relationships/image" Target="../media/image24.jpg"/><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2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2.png"/></Relationships>
</file>

<file path=ppt/slides/_rels/slide40.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34.png"/><Relationship Id="rId1" Type="http://schemas.openxmlformats.org/officeDocument/2006/relationships/slideLayout" Target="../slideLayouts/slideLayout20.xml"/><Relationship Id="rId2" Type="http://schemas.openxmlformats.org/officeDocument/2006/relationships/notesSlide" Target="../notesSlides/notesSlide40.xml"/><Relationship Id="rId3"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30.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 Id="rId3" Type="http://schemas.openxmlformats.org/officeDocument/2006/relationships/hyperlink" Target="https://adit.io/posts/2013-05-11-The-Dining-Philosophers-Problem-With-Ron-Swanson.html" TargetMode="External"/><Relationship Id="rId4" Type="http://schemas.openxmlformats.org/officeDocument/2006/relationships/image" Target="../media/image31.png"/><Relationship Id="rId5"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6.xml"/><Relationship Id="rId3" Type="http://schemas.openxmlformats.org/officeDocument/2006/relationships/image" Target="../media/image39.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7.xml"/><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1.png"/><Relationship Id="rId6"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0.xml"/><Relationship Id="rId3" Type="http://schemas.openxmlformats.org/officeDocument/2006/relationships/image" Target="../media/image38.png"/><Relationship Id="rId4" Type="http://schemas.openxmlformats.org/officeDocument/2006/relationships/image" Target="../media/image3.png"/><Relationship Id="rId5"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 Id="rId3" Type="http://schemas.openxmlformats.org/officeDocument/2006/relationships/image" Target="../media/image38.png"/><Relationship Id="rId4" Type="http://schemas.openxmlformats.org/officeDocument/2006/relationships/image" Target="../media/image3.png"/><Relationship Id="rId5"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2.xml"/><Relationship Id="rId3" Type="http://schemas.openxmlformats.org/officeDocument/2006/relationships/image" Target="../media/image38.png"/><Relationship Id="rId4" Type="http://schemas.openxmlformats.org/officeDocument/2006/relationships/image" Target="../media/image3.png"/><Relationship Id="rId5"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3.xml"/><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4.xml"/><Relationship Id="rId3" Type="http://schemas.openxmlformats.org/officeDocument/2006/relationships/image" Target="../media/image38.png"/><Relationship Id="rId4" Type="http://schemas.openxmlformats.org/officeDocument/2006/relationships/image" Target="../media/image3.png"/><Relationship Id="rId5"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5.xml"/><Relationship Id="rId3" Type="http://schemas.openxmlformats.org/officeDocument/2006/relationships/image" Target="../media/image5.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6.xml"/><Relationship Id="rId3"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ctrTitle"/>
          </p:nvPr>
        </p:nvSpPr>
        <p:spPr>
          <a:xfrm>
            <a:off x="311700" y="539725"/>
            <a:ext cx="8520600" cy="121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171" name="Google Shape;171;p32"/>
          <p:cNvSpPr txBox="1"/>
          <p:nvPr>
            <p:ph idx="1" type="subTitle"/>
          </p:nvPr>
        </p:nvSpPr>
        <p:spPr>
          <a:xfrm>
            <a:off x="311700" y="1878550"/>
            <a:ext cx="4741200" cy="58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2600"/>
              <a:t>11: Thread Cooperation</a:t>
            </a:r>
            <a:endParaRPr i="1" sz="2600">
              <a:solidFill>
                <a:srgbClr val="FF0000"/>
              </a:solidFill>
            </a:endParaRPr>
          </a:p>
        </p:txBody>
      </p:sp>
      <p:grpSp>
        <p:nvGrpSpPr>
          <p:cNvPr id="172" name="Google Shape;172;p32"/>
          <p:cNvGrpSpPr/>
          <p:nvPr/>
        </p:nvGrpSpPr>
        <p:grpSpPr>
          <a:xfrm>
            <a:off x="5001999" y="4264475"/>
            <a:ext cx="3908400" cy="738300"/>
            <a:chOff x="5001999" y="4264475"/>
            <a:chExt cx="3908400" cy="738300"/>
          </a:xfrm>
        </p:grpSpPr>
        <p:sp>
          <p:nvSpPr>
            <p:cNvPr id="173" name="Google Shape;173;p32"/>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4" name="Google Shape;174;p32"/>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235525" y="348525"/>
            <a:ext cx="37065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Thread Cooperation</a:t>
            </a:r>
            <a:endParaRPr/>
          </a:p>
        </p:txBody>
      </p:sp>
      <p:sp>
        <p:nvSpPr>
          <p:cNvPr id="180" name="Google Shape;180;p33"/>
          <p:cNvSpPr txBox="1"/>
          <p:nvPr>
            <p:ph idx="1" type="body"/>
          </p:nvPr>
        </p:nvSpPr>
        <p:spPr>
          <a:xfrm>
            <a:off x="4460800" y="43725"/>
            <a:ext cx="4350300" cy="49824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Previously, we explored </a:t>
            </a:r>
            <a:r>
              <a:rPr b="1" i="1" lang="en">
                <a:solidFill>
                  <a:srgbClr val="FF0000"/>
                </a:solidFill>
              </a:rPr>
              <a:t>concurrent programming</a:t>
            </a:r>
            <a:r>
              <a:rPr lang="en"/>
              <a:t> in Java using </a:t>
            </a:r>
            <a:r>
              <a:rPr b="1" i="1" lang="en">
                <a:solidFill>
                  <a:srgbClr val="FF0000"/>
                </a:solidFill>
              </a:rPr>
              <a:t>threads</a:t>
            </a:r>
            <a:r>
              <a:rPr lang="en"/>
              <a:t>.</a:t>
            </a:r>
            <a:endParaRPr/>
          </a:p>
          <a:p>
            <a:pPr indent="-311150" lvl="0" marL="457200" rtl="0" algn="l">
              <a:spcBef>
                <a:spcPts val="1000"/>
              </a:spcBef>
              <a:spcAft>
                <a:spcPts val="0"/>
              </a:spcAft>
              <a:buSzPts val="1300"/>
              <a:buChar char="●"/>
            </a:pPr>
            <a:r>
              <a:rPr lang="en"/>
              <a:t>During this unit, we will continue to explore </a:t>
            </a:r>
            <a:r>
              <a:rPr b="1" i="1" lang="en">
                <a:solidFill>
                  <a:srgbClr val="FF0000"/>
                </a:solidFill>
              </a:rPr>
              <a:t>multi-threaded programming</a:t>
            </a:r>
            <a:r>
              <a:rPr lang="en"/>
              <a:t> with a focus on </a:t>
            </a:r>
            <a:r>
              <a:rPr b="1" i="1" lang="en">
                <a:solidFill>
                  <a:srgbClr val="FF0000"/>
                </a:solidFill>
              </a:rPr>
              <a:t>thread cooperation</a:t>
            </a:r>
            <a:r>
              <a:rPr lang="en"/>
              <a:t>.</a:t>
            </a:r>
            <a:endParaRPr/>
          </a:p>
          <a:p>
            <a:pPr indent="-298450" lvl="1" marL="914400" rtl="0" algn="l">
              <a:spcBef>
                <a:spcPts val="0"/>
              </a:spcBef>
              <a:spcAft>
                <a:spcPts val="0"/>
              </a:spcAft>
              <a:buSzPts val="1100"/>
              <a:buChar char="○"/>
            </a:pPr>
            <a:r>
              <a:rPr lang="en"/>
              <a:t>It is often the case that multiple threads </a:t>
            </a:r>
            <a:r>
              <a:rPr b="1" i="1" lang="en">
                <a:solidFill>
                  <a:srgbClr val="FF0000"/>
                </a:solidFill>
              </a:rPr>
              <a:t>work together</a:t>
            </a:r>
            <a:r>
              <a:rPr lang="en">
                <a:solidFill>
                  <a:srgbClr val="FF0000"/>
                </a:solidFill>
              </a:rPr>
              <a:t> </a:t>
            </a:r>
            <a:r>
              <a:rPr lang="en"/>
              <a:t>to complete a larger task.</a:t>
            </a:r>
            <a:endParaRPr/>
          </a:p>
          <a:p>
            <a:pPr indent="-298450" lvl="1" marL="914400" rtl="0" algn="l">
              <a:spcBef>
                <a:spcPts val="0"/>
              </a:spcBef>
              <a:spcAft>
                <a:spcPts val="0"/>
              </a:spcAft>
              <a:buSzPts val="1100"/>
              <a:buChar char="○"/>
            </a:pPr>
            <a:r>
              <a:rPr lang="en"/>
              <a:t>We will discuss how to ensure that threads can manipulate </a:t>
            </a:r>
            <a:r>
              <a:rPr b="1" i="1" lang="en">
                <a:solidFill>
                  <a:srgbClr val="FF0000"/>
                </a:solidFill>
              </a:rPr>
              <a:t>shared resources</a:t>
            </a:r>
            <a:r>
              <a:rPr lang="en">
                <a:solidFill>
                  <a:srgbClr val="FF0000"/>
                </a:solidFill>
              </a:rPr>
              <a:t> </a:t>
            </a:r>
            <a:r>
              <a:rPr lang="en"/>
              <a:t>without data loss or corruption.</a:t>
            </a:r>
            <a:endParaRPr/>
          </a:p>
          <a:p>
            <a:pPr indent="-298450" lvl="1" marL="914400" rtl="0" algn="l">
              <a:spcBef>
                <a:spcPts val="0"/>
              </a:spcBef>
              <a:spcAft>
                <a:spcPts val="0"/>
              </a:spcAft>
              <a:buSzPts val="1100"/>
              <a:buChar char="○"/>
            </a:pPr>
            <a:r>
              <a:rPr lang="en"/>
              <a:t>We will also discuss </a:t>
            </a:r>
            <a:r>
              <a:rPr b="1" i="1" lang="en">
                <a:solidFill>
                  <a:srgbClr val="FF0000"/>
                </a:solidFill>
              </a:rPr>
              <a:t>communication</a:t>
            </a:r>
            <a:r>
              <a:rPr lang="en">
                <a:solidFill>
                  <a:srgbClr val="FF0000"/>
                </a:solidFill>
              </a:rPr>
              <a:t> </a:t>
            </a:r>
            <a:r>
              <a:rPr lang="en"/>
              <a:t>between threads.</a:t>
            </a:r>
            <a:endParaRPr/>
          </a:p>
          <a:p>
            <a:pPr indent="-311150" lvl="0" marL="457200" rtl="0" algn="l">
              <a:spcBef>
                <a:spcPts val="1000"/>
              </a:spcBef>
              <a:spcAft>
                <a:spcPts val="0"/>
              </a:spcAft>
              <a:buSzPts val="1300"/>
              <a:buChar char="●"/>
            </a:pPr>
            <a:r>
              <a:rPr lang="en"/>
              <a:t>We will be exploring several different aspects of thread cooperation including:</a:t>
            </a:r>
            <a:endParaRPr/>
          </a:p>
          <a:p>
            <a:pPr indent="-298450" lvl="1" marL="914400" rtl="0" algn="l">
              <a:spcBef>
                <a:spcPts val="0"/>
              </a:spcBef>
              <a:spcAft>
                <a:spcPts val="0"/>
              </a:spcAft>
              <a:buSzPts val="1100"/>
              <a:buChar char="○"/>
            </a:pPr>
            <a:r>
              <a:rPr lang="en"/>
              <a:t>Shared Resources &amp; Critical Regions </a:t>
            </a:r>
            <a:endParaRPr/>
          </a:p>
          <a:p>
            <a:pPr indent="-298450" lvl="1" marL="914400" rtl="0" algn="l">
              <a:spcBef>
                <a:spcPts val="0"/>
              </a:spcBef>
              <a:spcAft>
                <a:spcPts val="0"/>
              </a:spcAft>
              <a:buSzPts val="1100"/>
              <a:buChar char="○"/>
            </a:pPr>
            <a:r>
              <a:rPr lang="en"/>
              <a:t>Synchronization</a:t>
            </a:r>
            <a:endParaRPr/>
          </a:p>
          <a:p>
            <a:pPr indent="-298450" lvl="1" marL="914400" rtl="0" algn="l">
              <a:spcBef>
                <a:spcPts val="0"/>
              </a:spcBef>
              <a:spcAft>
                <a:spcPts val="0"/>
              </a:spcAft>
              <a:buSzPts val="1100"/>
              <a:buChar char="○"/>
            </a:pPr>
            <a:r>
              <a:rPr lang="en"/>
              <a:t>Wait &amp; Notify</a:t>
            </a:r>
            <a:endParaRPr/>
          </a:p>
          <a:p>
            <a:pPr indent="-298450" lvl="1" marL="914400" rtl="0" algn="l">
              <a:spcBef>
                <a:spcPts val="0"/>
              </a:spcBef>
              <a:spcAft>
                <a:spcPts val="0"/>
              </a:spcAft>
              <a:buSzPts val="1100"/>
              <a:buChar char="○"/>
            </a:pPr>
            <a:r>
              <a:rPr lang="en"/>
              <a:t>More Thread Cooperation</a:t>
            </a:r>
            <a:endParaRPr/>
          </a:p>
          <a:p>
            <a:pPr indent="-311150" lvl="0" marL="457200" rtl="0" algn="l">
              <a:spcBef>
                <a:spcPts val="1000"/>
              </a:spcBef>
              <a:spcAft>
                <a:spcPts val="0"/>
              </a:spcAft>
              <a:buSzPts val="1300"/>
              <a:buChar char="●"/>
            </a:pPr>
            <a:r>
              <a:rPr lang="en"/>
              <a:t>To begin, we will specifically focus on multiple threads that </a:t>
            </a:r>
            <a:r>
              <a:rPr b="1" i="1" lang="en">
                <a:solidFill>
                  <a:srgbClr val="FF0000"/>
                </a:solidFill>
              </a:rPr>
              <a:t>share resources</a:t>
            </a:r>
            <a:r>
              <a:rPr lang="en">
                <a:solidFill>
                  <a:srgbClr val="FF0000"/>
                </a:solidFill>
              </a:rPr>
              <a:t> </a:t>
            </a:r>
            <a:r>
              <a:rPr lang="en"/>
              <a:t>and how to ensure that data is not </a:t>
            </a:r>
            <a:r>
              <a:rPr b="1" i="1" lang="en">
                <a:solidFill>
                  <a:srgbClr val="FF0000"/>
                </a:solidFill>
              </a:rPr>
              <a:t>lost </a:t>
            </a:r>
            <a:r>
              <a:rPr lang="en"/>
              <a:t>or </a:t>
            </a:r>
            <a:r>
              <a:rPr b="1" i="1" lang="en">
                <a:solidFill>
                  <a:srgbClr val="FF0000"/>
                </a:solidFill>
              </a:rPr>
              <a:t>corrupted</a:t>
            </a:r>
            <a:r>
              <a:rPr lang="en"/>
              <a:t>.</a:t>
            </a:r>
            <a:endParaRPr/>
          </a:p>
        </p:txBody>
      </p:sp>
      <p:sp>
        <p:nvSpPr>
          <p:cNvPr id="181" name="Google Shape;18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33"/>
          <p:cNvSpPr txBox="1"/>
          <p:nvPr>
            <p:ph idx="3" type="body"/>
          </p:nvPr>
        </p:nvSpPr>
        <p:spPr>
          <a:xfrm>
            <a:off x="247900" y="3988800"/>
            <a:ext cx="37314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This unit will focus on </a:t>
            </a:r>
            <a:r>
              <a:rPr b="1" i="1" lang="en">
                <a:solidFill>
                  <a:srgbClr val="FF0000"/>
                </a:solidFill>
              </a:rPr>
              <a:t>threads working together</a:t>
            </a:r>
            <a:r>
              <a:rPr lang="en"/>
              <a:t> to achieve larger tasks or goals. It will also feature </a:t>
            </a:r>
            <a:r>
              <a:rPr b="1" i="1" lang="en">
                <a:solidFill>
                  <a:srgbClr val="FF0000"/>
                </a:solidFill>
              </a:rPr>
              <a:t>goats</a:t>
            </a:r>
            <a:r>
              <a:rPr lang="en"/>
              <a:t>. And at least one </a:t>
            </a:r>
            <a:r>
              <a:rPr b="1" i="1" lang="en">
                <a:solidFill>
                  <a:srgbClr val="FF0000"/>
                </a:solidFill>
              </a:rPr>
              <a:t>troll</a:t>
            </a:r>
            <a:r>
              <a:rPr lang="en"/>
              <a:t>.</a:t>
            </a:r>
            <a:endParaRPr sz="1200"/>
          </a:p>
        </p:txBody>
      </p:sp>
      <p:grpSp>
        <p:nvGrpSpPr>
          <p:cNvPr id="183" name="Google Shape;183;p33"/>
          <p:cNvGrpSpPr/>
          <p:nvPr/>
        </p:nvGrpSpPr>
        <p:grpSpPr>
          <a:xfrm>
            <a:off x="260390" y="985999"/>
            <a:ext cx="3706416" cy="2788936"/>
            <a:chOff x="401863" y="986050"/>
            <a:chExt cx="3423625" cy="2576147"/>
          </a:xfrm>
        </p:grpSpPr>
        <p:grpSp>
          <p:nvGrpSpPr>
            <p:cNvPr id="184" name="Google Shape;184;p33"/>
            <p:cNvGrpSpPr/>
            <p:nvPr/>
          </p:nvGrpSpPr>
          <p:grpSpPr>
            <a:xfrm>
              <a:off x="401863" y="986050"/>
              <a:ext cx="3423625" cy="2570825"/>
              <a:chOff x="134175" y="1465925"/>
              <a:chExt cx="3423625" cy="2570825"/>
            </a:xfrm>
          </p:grpSpPr>
          <p:pic>
            <p:nvPicPr>
              <p:cNvPr id="185" name="Google Shape;185;p33"/>
              <p:cNvPicPr preferRelativeResize="0"/>
              <p:nvPr/>
            </p:nvPicPr>
            <p:blipFill>
              <a:blip r:embed="rId3">
                <a:alphaModFix/>
              </a:blip>
              <a:stretch>
                <a:fillRect/>
              </a:stretch>
            </p:blipFill>
            <p:spPr>
              <a:xfrm>
                <a:off x="134175" y="1465925"/>
                <a:ext cx="3423625" cy="2570825"/>
              </a:xfrm>
              <a:prstGeom prst="rect">
                <a:avLst/>
              </a:prstGeom>
              <a:noFill/>
              <a:ln cap="flat" cmpd="sng" w="19050">
                <a:solidFill>
                  <a:srgbClr val="000000"/>
                </a:solidFill>
                <a:prstDash val="solid"/>
                <a:round/>
                <a:headEnd len="sm" w="sm" type="none"/>
                <a:tailEnd len="sm" w="sm" type="none"/>
              </a:ln>
            </p:spPr>
          </p:pic>
          <p:pic>
            <p:nvPicPr>
              <p:cNvPr id="186" name="Google Shape;186;p33"/>
              <p:cNvPicPr preferRelativeResize="0"/>
              <p:nvPr/>
            </p:nvPicPr>
            <p:blipFill rotWithShape="1">
              <a:blip r:embed="rId4">
                <a:alphaModFix/>
              </a:blip>
              <a:srcRect b="0" l="0" r="0" t="32116"/>
              <a:stretch/>
            </p:blipFill>
            <p:spPr>
              <a:xfrm>
                <a:off x="2417075" y="2532975"/>
                <a:ext cx="657175" cy="642425"/>
              </a:xfrm>
              <a:prstGeom prst="rect">
                <a:avLst/>
              </a:prstGeom>
              <a:noFill/>
              <a:ln>
                <a:noFill/>
              </a:ln>
            </p:spPr>
          </p:pic>
          <p:pic>
            <p:nvPicPr>
              <p:cNvPr id="187" name="Google Shape;187;p33"/>
              <p:cNvPicPr preferRelativeResize="0"/>
              <p:nvPr/>
            </p:nvPicPr>
            <p:blipFill rotWithShape="1">
              <a:blip r:embed="rId4">
                <a:alphaModFix/>
              </a:blip>
              <a:srcRect b="0" l="0" r="0" t="32116"/>
              <a:stretch/>
            </p:blipFill>
            <p:spPr>
              <a:xfrm>
                <a:off x="1077725" y="2279900"/>
                <a:ext cx="657175" cy="642425"/>
              </a:xfrm>
              <a:prstGeom prst="rect">
                <a:avLst/>
              </a:prstGeom>
              <a:noFill/>
              <a:ln>
                <a:noFill/>
              </a:ln>
            </p:spPr>
          </p:pic>
          <p:pic>
            <p:nvPicPr>
              <p:cNvPr id="188" name="Google Shape;188;p33"/>
              <p:cNvPicPr preferRelativeResize="0"/>
              <p:nvPr/>
            </p:nvPicPr>
            <p:blipFill rotWithShape="1">
              <a:blip r:embed="rId4">
                <a:alphaModFix/>
              </a:blip>
              <a:srcRect b="0" l="0" r="0" t="32116"/>
              <a:stretch/>
            </p:blipFill>
            <p:spPr>
              <a:xfrm flipH="1">
                <a:off x="1768925" y="2432300"/>
                <a:ext cx="657175" cy="642425"/>
              </a:xfrm>
              <a:prstGeom prst="rect">
                <a:avLst/>
              </a:prstGeom>
              <a:noFill/>
              <a:ln>
                <a:noFill/>
              </a:ln>
            </p:spPr>
          </p:pic>
          <p:pic>
            <p:nvPicPr>
              <p:cNvPr id="189" name="Google Shape;189;p33"/>
              <p:cNvPicPr preferRelativeResize="0"/>
              <p:nvPr/>
            </p:nvPicPr>
            <p:blipFill rotWithShape="1">
              <a:blip r:embed="rId4">
                <a:alphaModFix/>
              </a:blip>
              <a:srcRect b="0" l="0" r="0" t="32116"/>
              <a:stretch/>
            </p:blipFill>
            <p:spPr>
              <a:xfrm>
                <a:off x="2455275" y="2985300"/>
                <a:ext cx="657175" cy="642425"/>
              </a:xfrm>
              <a:prstGeom prst="rect">
                <a:avLst/>
              </a:prstGeom>
              <a:noFill/>
              <a:ln>
                <a:noFill/>
              </a:ln>
            </p:spPr>
          </p:pic>
          <p:pic>
            <p:nvPicPr>
              <p:cNvPr id="190" name="Google Shape;190;p33"/>
              <p:cNvPicPr preferRelativeResize="0"/>
              <p:nvPr/>
            </p:nvPicPr>
            <p:blipFill rotWithShape="1">
              <a:blip r:embed="rId4">
                <a:alphaModFix/>
              </a:blip>
              <a:srcRect b="0" l="0" r="0" t="32116"/>
              <a:stretch/>
            </p:blipFill>
            <p:spPr>
              <a:xfrm flipH="1">
                <a:off x="558050" y="2562475"/>
                <a:ext cx="657175" cy="642425"/>
              </a:xfrm>
              <a:prstGeom prst="rect">
                <a:avLst/>
              </a:prstGeom>
              <a:noFill/>
              <a:ln>
                <a:noFill/>
              </a:ln>
            </p:spPr>
          </p:pic>
          <p:pic>
            <p:nvPicPr>
              <p:cNvPr id="191" name="Google Shape;191;p33"/>
              <p:cNvPicPr preferRelativeResize="0"/>
              <p:nvPr/>
            </p:nvPicPr>
            <p:blipFill rotWithShape="1">
              <a:blip r:embed="rId4">
                <a:alphaModFix/>
              </a:blip>
              <a:srcRect b="0" l="0" r="0" t="32116"/>
              <a:stretch/>
            </p:blipFill>
            <p:spPr>
              <a:xfrm>
                <a:off x="785750" y="2985300"/>
                <a:ext cx="657175" cy="642425"/>
              </a:xfrm>
              <a:prstGeom prst="rect">
                <a:avLst/>
              </a:prstGeom>
              <a:noFill/>
              <a:ln>
                <a:noFill/>
              </a:ln>
            </p:spPr>
          </p:pic>
          <p:pic>
            <p:nvPicPr>
              <p:cNvPr id="192" name="Google Shape;192;p33"/>
              <p:cNvPicPr preferRelativeResize="0"/>
              <p:nvPr/>
            </p:nvPicPr>
            <p:blipFill rotWithShape="1">
              <a:blip r:embed="rId4">
                <a:alphaModFix/>
              </a:blip>
              <a:srcRect b="0" l="0" r="0" t="32116"/>
              <a:stretch/>
            </p:blipFill>
            <p:spPr>
              <a:xfrm flipH="1">
                <a:off x="1605600" y="3074725"/>
                <a:ext cx="657175" cy="642425"/>
              </a:xfrm>
              <a:prstGeom prst="rect">
                <a:avLst/>
              </a:prstGeom>
              <a:noFill/>
              <a:ln>
                <a:noFill/>
              </a:ln>
            </p:spPr>
          </p:pic>
        </p:grpSp>
        <p:grpSp>
          <p:nvGrpSpPr>
            <p:cNvPr id="193" name="Google Shape;193;p33"/>
            <p:cNvGrpSpPr/>
            <p:nvPr/>
          </p:nvGrpSpPr>
          <p:grpSpPr>
            <a:xfrm>
              <a:off x="2565649" y="1552481"/>
              <a:ext cx="1259826" cy="2009716"/>
              <a:chOff x="2565649" y="1552481"/>
              <a:chExt cx="1259826" cy="2009716"/>
            </a:xfrm>
          </p:grpSpPr>
          <p:pic>
            <p:nvPicPr>
              <p:cNvPr id="194" name="Google Shape;194;p33"/>
              <p:cNvPicPr preferRelativeResize="0"/>
              <p:nvPr/>
            </p:nvPicPr>
            <p:blipFill rotWithShape="1">
              <a:blip r:embed="rId5">
                <a:alphaModFix/>
              </a:blip>
              <a:srcRect b="0" l="24091" r="26923" t="0"/>
              <a:stretch/>
            </p:blipFill>
            <p:spPr>
              <a:xfrm>
                <a:off x="2565649" y="1568997"/>
                <a:ext cx="1259826" cy="1993199"/>
              </a:xfrm>
              <a:prstGeom prst="rect">
                <a:avLst/>
              </a:prstGeom>
              <a:noFill/>
              <a:ln>
                <a:noFill/>
              </a:ln>
            </p:spPr>
          </p:pic>
          <p:pic>
            <p:nvPicPr>
              <p:cNvPr id="195" name="Google Shape;195;p33"/>
              <p:cNvPicPr preferRelativeResize="0"/>
              <p:nvPr/>
            </p:nvPicPr>
            <p:blipFill>
              <a:blip r:embed="rId6">
                <a:alphaModFix/>
              </a:blip>
              <a:stretch>
                <a:fillRect/>
              </a:stretch>
            </p:blipFill>
            <p:spPr>
              <a:xfrm flipH="1">
                <a:off x="2737484" y="1552481"/>
                <a:ext cx="904240" cy="714300"/>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5264725" y="119925"/>
            <a:ext cx="3706500" cy="7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Review: Processes &amp; Concurrency </a:t>
            </a:r>
            <a:endParaRPr sz="2500"/>
          </a:p>
        </p:txBody>
      </p:sp>
      <p:sp>
        <p:nvSpPr>
          <p:cNvPr id="201" name="Google Shape;201;p34"/>
          <p:cNvSpPr txBox="1"/>
          <p:nvPr>
            <p:ph idx="1" type="body"/>
          </p:nvPr>
        </p:nvSpPr>
        <p:spPr>
          <a:xfrm>
            <a:off x="325875" y="154825"/>
            <a:ext cx="4319400" cy="47715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In computing, a </a:t>
            </a:r>
            <a:r>
              <a:rPr b="1" i="1" lang="en">
                <a:solidFill>
                  <a:srgbClr val="FF0000"/>
                </a:solidFill>
              </a:rPr>
              <a:t>process</a:t>
            </a:r>
            <a:r>
              <a:rPr lang="en">
                <a:solidFill>
                  <a:srgbClr val="FF0000"/>
                </a:solidFill>
              </a:rPr>
              <a:t> </a:t>
            </a:r>
            <a:r>
              <a:rPr lang="en"/>
              <a:t>is a program that is </a:t>
            </a:r>
            <a:r>
              <a:rPr b="1" i="1" lang="en">
                <a:solidFill>
                  <a:srgbClr val="FF0000"/>
                </a:solidFill>
              </a:rPr>
              <a:t>currently being executed</a:t>
            </a:r>
            <a:r>
              <a:rPr lang="en"/>
              <a:t> by the operating system.</a:t>
            </a:r>
            <a:endParaRPr/>
          </a:p>
          <a:p>
            <a:pPr indent="-311150" lvl="0" marL="457200" rtl="0" algn="l">
              <a:lnSpc>
                <a:spcPct val="100000"/>
              </a:lnSpc>
              <a:spcBef>
                <a:spcPts val="1000"/>
              </a:spcBef>
              <a:spcAft>
                <a:spcPts val="0"/>
              </a:spcAft>
              <a:buSzPts val="1300"/>
              <a:buChar char="●"/>
            </a:pPr>
            <a:r>
              <a:rPr lang="en"/>
              <a:t>A process may have more than one</a:t>
            </a:r>
            <a:r>
              <a:rPr lang="en">
                <a:solidFill>
                  <a:srgbClr val="FF0000"/>
                </a:solidFill>
              </a:rPr>
              <a:t> </a:t>
            </a:r>
            <a:r>
              <a:rPr b="1" i="1" lang="en">
                <a:solidFill>
                  <a:srgbClr val="FF0000"/>
                </a:solidFill>
              </a:rPr>
              <a:t>thread of execution</a:t>
            </a:r>
            <a:r>
              <a:rPr lang="en"/>
              <a:t>, each of which executes </a:t>
            </a:r>
            <a:r>
              <a:rPr b="1" i="1" lang="en">
                <a:solidFill>
                  <a:srgbClr val="FF0000"/>
                </a:solidFill>
              </a:rPr>
              <a:t>separate</a:t>
            </a:r>
            <a:r>
              <a:rPr i="1" lang="en">
                <a:solidFill>
                  <a:srgbClr val="FF0000"/>
                </a:solidFill>
              </a:rPr>
              <a:t> </a:t>
            </a:r>
            <a:r>
              <a:rPr lang="en"/>
              <a:t>code to perform some </a:t>
            </a:r>
            <a:r>
              <a:rPr b="1" i="1" lang="en">
                <a:solidFill>
                  <a:srgbClr val="FF0000"/>
                </a:solidFill>
              </a:rPr>
              <a:t>task</a:t>
            </a:r>
            <a:r>
              <a:rPr lang="en"/>
              <a:t>.</a:t>
            </a:r>
            <a:endParaRPr/>
          </a:p>
          <a:p>
            <a:pPr indent="-298450" lvl="1" marL="914400" rtl="0" algn="l">
              <a:lnSpc>
                <a:spcPct val="100000"/>
              </a:lnSpc>
              <a:spcBef>
                <a:spcPts val="0"/>
              </a:spcBef>
              <a:spcAft>
                <a:spcPts val="0"/>
              </a:spcAft>
              <a:buSzPts val="1100"/>
              <a:buChar char="○"/>
            </a:pPr>
            <a:r>
              <a:rPr lang="en"/>
              <a:t>This allows a process to perform </a:t>
            </a:r>
            <a:r>
              <a:rPr b="1" i="1" lang="en">
                <a:solidFill>
                  <a:srgbClr val="FF0000"/>
                </a:solidFill>
              </a:rPr>
              <a:t>more than one</a:t>
            </a:r>
            <a:r>
              <a:rPr lang="en">
                <a:solidFill>
                  <a:srgbClr val="FF0000"/>
                </a:solidFill>
              </a:rPr>
              <a:t> </a:t>
            </a:r>
            <a:r>
              <a:rPr lang="en"/>
              <a:t>task at the same time.</a:t>
            </a:r>
            <a:endParaRPr/>
          </a:p>
          <a:p>
            <a:pPr indent="-311150" lvl="0" marL="457200" rtl="0" algn="l">
              <a:lnSpc>
                <a:spcPct val="100000"/>
              </a:lnSpc>
              <a:spcBef>
                <a:spcPts val="1000"/>
              </a:spcBef>
              <a:spcAft>
                <a:spcPts val="0"/>
              </a:spcAft>
              <a:buSzPts val="1300"/>
              <a:buChar char="●"/>
            </a:pPr>
            <a:r>
              <a:rPr lang="en"/>
              <a:t>Virtually all computers have </a:t>
            </a:r>
            <a:r>
              <a:rPr b="1" i="1" lang="en">
                <a:solidFill>
                  <a:srgbClr val="FF0000"/>
                </a:solidFill>
              </a:rPr>
              <a:t>processors</a:t>
            </a:r>
            <a:r>
              <a:rPr lang="en">
                <a:solidFill>
                  <a:srgbClr val="FF0000"/>
                </a:solidFill>
              </a:rPr>
              <a:t> </a:t>
            </a:r>
            <a:r>
              <a:rPr lang="en"/>
              <a:t>with multiple </a:t>
            </a:r>
            <a:r>
              <a:rPr b="1" i="1" lang="en">
                <a:solidFill>
                  <a:srgbClr val="FF0000"/>
                </a:solidFill>
              </a:rPr>
              <a:t>cores</a:t>
            </a:r>
            <a:r>
              <a:rPr lang="en"/>
              <a:t>.</a:t>
            </a:r>
            <a:endParaRPr/>
          </a:p>
          <a:p>
            <a:pPr indent="-298450" lvl="1" marL="914400" rtl="0" algn="l">
              <a:lnSpc>
                <a:spcPct val="100000"/>
              </a:lnSpc>
              <a:spcBef>
                <a:spcPts val="0"/>
              </a:spcBef>
              <a:spcAft>
                <a:spcPts val="0"/>
              </a:spcAft>
              <a:buSzPts val="1100"/>
              <a:buChar char="○"/>
            </a:pPr>
            <a:r>
              <a:rPr lang="en"/>
              <a:t>Each core may execute </a:t>
            </a:r>
            <a:r>
              <a:rPr b="1" i="1" lang="en">
                <a:solidFill>
                  <a:srgbClr val="FF0000"/>
                </a:solidFill>
              </a:rPr>
              <a:t>one</a:t>
            </a:r>
            <a:r>
              <a:rPr lang="en">
                <a:solidFill>
                  <a:srgbClr val="FF0000"/>
                </a:solidFill>
              </a:rPr>
              <a:t> </a:t>
            </a:r>
            <a:r>
              <a:rPr lang="en"/>
              <a:t>process at a time.</a:t>
            </a:r>
            <a:endParaRPr/>
          </a:p>
          <a:p>
            <a:pPr indent="-298450" lvl="1" marL="914400" rtl="0" algn="l">
              <a:lnSpc>
                <a:spcPct val="100000"/>
              </a:lnSpc>
              <a:spcBef>
                <a:spcPts val="0"/>
              </a:spcBef>
              <a:spcAft>
                <a:spcPts val="0"/>
              </a:spcAft>
              <a:buSzPts val="1100"/>
              <a:buChar char="○"/>
            </a:pPr>
            <a:r>
              <a:rPr lang="en"/>
              <a:t>There are usually many more processes than there are cores, and so the cores must be </a:t>
            </a:r>
            <a:r>
              <a:rPr b="1" i="1" lang="en">
                <a:solidFill>
                  <a:srgbClr val="FF0000"/>
                </a:solidFill>
              </a:rPr>
              <a:t>shared</a:t>
            </a:r>
            <a:r>
              <a:rPr lang="en">
                <a:solidFill>
                  <a:srgbClr val="FF0000"/>
                </a:solidFill>
              </a:rPr>
              <a:t> </a:t>
            </a:r>
            <a:r>
              <a:rPr lang="en"/>
              <a:t>between programs.</a:t>
            </a:r>
            <a:endParaRPr/>
          </a:p>
          <a:p>
            <a:pPr indent="-311150" lvl="0" marL="457200" rtl="0" algn="l">
              <a:lnSpc>
                <a:spcPct val="100000"/>
              </a:lnSpc>
              <a:spcBef>
                <a:spcPts val="1000"/>
              </a:spcBef>
              <a:spcAft>
                <a:spcPts val="0"/>
              </a:spcAft>
              <a:buSzPts val="1300"/>
              <a:buChar char="●"/>
            </a:pPr>
            <a:r>
              <a:rPr lang="en"/>
              <a:t>The </a:t>
            </a:r>
            <a:r>
              <a:rPr b="1" i="1" lang="en">
                <a:solidFill>
                  <a:srgbClr val="FF0000"/>
                </a:solidFill>
              </a:rPr>
              <a:t>thread scheduler</a:t>
            </a:r>
            <a:r>
              <a:rPr lang="en"/>
              <a:t> is responsible for determining which threads are given time on the processor, and for how long.</a:t>
            </a:r>
            <a:endParaRPr/>
          </a:p>
          <a:p>
            <a:pPr indent="-298450" lvl="1" marL="914400" rtl="0" algn="l">
              <a:lnSpc>
                <a:spcPct val="100000"/>
              </a:lnSpc>
              <a:spcBef>
                <a:spcPts val="0"/>
              </a:spcBef>
              <a:spcAft>
                <a:spcPts val="0"/>
              </a:spcAft>
              <a:buSzPts val="1100"/>
              <a:buChar char="○"/>
            </a:pPr>
            <a:r>
              <a:rPr lang="en"/>
              <a:t>Its behavior is a </a:t>
            </a:r>
            <a:r>
              <a:rPr b="1" i="1" lang="en">
                <a:solidFill>
                  <a:srgbClr val="FF0000"/>
                </a:solidFill>
              </a:rPr>
              <a:t>black box</a:t>
            </a:r>
            <a:r>
              <a:rPr lang="en"/>
              <a:t>, and somewhat </a:t>
            </a:r>
            <a:r>
              <a:rPr b="1" i="1" lang="en">
                <a:solidFill>
                  <a:srgbClr val="FF0000"/>
                </a:solidFill>
              </a:rPr>
              <a:t>unpredictable</a:t>
            </a:r>
            <a:r>
              <a:rPr lang="en"/>
              <a:t>.</a:t>
            </a:r>
            <a:endParaRPr/>
          </a:p>
          <a:p>
            <a:pPr indent="-298450" lvl="1" marL="914400" rtl="0" algn="l">
              <a:lnSpc>
                <a:spcPct val="100000"/>
              </a:lnSpc>
              <a:spcBef>
                <a:spcPts val="0"/>
              </a:spcBef>
              <a:spcAft>
                <a:spcPts val="0"/>
              </a:spcAft>
              <a:buSzPts val="1100"/>
              <a:buChar char="○"/>
            </a:pPr>
            <a:r>
              <a:rPr lang="en"/>
              <a:t>There is </a:t>
            </a:r>
            <a:r>
              <a:rPr b="1" i="1" lang="en">
                <a:solidFill>
                  <a:srgbClr val="FF0000"/>
                </a:solidFill>
              </a:rPr>
              <a:t>no way</a:t>
            </a:r>
            <a:r>
              <a:rPr lang="en"/>
              <a:t> to guarantee that one of your threads will get time on the processor.</a:t>
            </a:r>
            <a:endParaRPr/>
          </a:p>
          <a:p>
            <a:pPr indent="-298450" lvl="1" marL="914400" rtl="0" algn="l">
              <a:lnSpc>
                <a:spcPct val="100000"/>
              </a:lnSpc>
              <a:spcBef>
                <a:spcPts val="0"/>
              </a:spcBef>
              <a:spcAft>
                <a:spcPts val="0"/>
              </a:spcAft>
              <a:buSzPts val="1100"/>
              <a:buChar char="○"/>
            </a:pPr>
            <a:r>
              <a:rPr lang="en"/>
              <a:t>However, one of the goals of any thread scheduler is </a:t>
            </a:r>
            <a:r>
              <a:rPr b="1" i="1" lang="en">
                <a:solidFill>
                  <a:srgbClr val="FF0000"/>
                </a:solidFill>
              </a:rPr>
              <a:t>fairness</a:t>
            </a:r>
            <a:r>
              <a:rPr lang="en"/>
              <a:t>; all threads are given the time that they need to accomplish their tasks.</a:t>
            </a:r>
            <a:endParaRPr/>
          </a:p>
        </p:txBody>
      </p:sp>
      <p:sp>
        <p:nvSpPr>
          <p:cNvPr id="202" name="Google Shape;202;p3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aphicFrame>
        <p:nvGraphicFramePr>
          <p:cNvPr id="203" name="Google Shape;203;p34"/>
          <p:cNvGraphicFramePr/>
          <p:nvPr/>
        </p:nvGraphicFramePr>
        <p:xfrm>
          <a:off x="4951050" y="1004275"/>
          <a:ext cx="3000000" cy="3000000"/>
        </p:xfrm>
        <a:graphic>
          <a:graphicData uri="http://schemas.openxmlformats.org/drawingml/2006/table">
            <a:tbl>
              <a:tblPr>
                <a:noFill/>
                <a:tableStyleId>{903D5EA2-2314-425E-90A0-23183F944CD3}</a:tableStyleId>
              </a:tblPr>
              <a:tblGrid>
                <a:gridCol w="1078925"/>
                <a:gridCol w="2907475"/>
              </a:tblGrid>
              <a:tr h="723775">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600"/>
                        <a:t>CORE 1</a:t>
                      </a:r>
                      <a:endParaRPr b="1" sz="6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r h="752675">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600"/>
                        <a:t>CORE 2</a:t>
                      </a:r>
                      <a:endParaRPr b="1" sz="6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r h="723775">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600"/>
                        <a:t>CORE 3</a:t>
                      </a:r>
                      <a:endParaRPr b="1" sz="6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r h="723775">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600"/>
                        <a:t>CORE 4</a:t>
                      </a:r>
                      <a:endParaRPr b="1" sz="6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bl>
          </a:graphicData>
        </a:graphic>
      </p:graphicFrame>
      <p:sp>
        <p:nvSpPr>
          <p:cNvPr id="204" name="Google Shape;204;p34"/>
          <p:cNvSpPr txBox="1"/>
          <p:nvPr/>
        </p:nvSpPr>
        <p:spPr>
          <a:xfrm>
            <a:off x="5239050" y="4052425"/>
            <a:ext cx="36984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Each core in a computer processor can only execute one </a:t>
            </a:r>
            <a:r>
              <a:rPr b="1" i="1" lang="en" sz="1200">
                <a:solidFill>
                  <a:srgbClr val="FF0000"/>
                </a:solidFill>
              </a:rPr>
              <a:t>thread of execution</a:t>
            </a:r>
            <a:r>
              <a:rPr lang="en" sz="1200"/>
              <a:t> </a:t>
            </a:r>
            <a:r>
              <a:rPr lang="en" sz="1200"/>
              <a:t>at a time, but there are usually many more threads than there are cores.</a:t>
            </a:r>
            <a:endParaRPr sz="1200"/>
          </a:p>
        </p:txBody>
      </p:sp>
      <p:grpSp>
        <p:nvGrpSpPr>
          <p:cNvPr id="205" name="Google Shape;205;p34"/>
          <p:cNvGrpSpPr/>
          <p:nvPr/>
        </p:nvGrpSpPr>
        <p:grpSpPr>
          <a:xfrm>
            <a:off x="5247275" y="1230250"/>
            <a:ext cx="3694250" cy="2487450"/>
            <a:chOff x="5247275" y="1230250"/>
            <a:chExt cx="3694250" cy="2487450"/>
          </a:xfrm>
        </p:grpSpPr>
        <p:cxnSp>
          <p:nvCxnSpPr>
            <p:cNvPr id="206" name="Google Shape;206;p34"/>
            <p:cNvCxnSpPr/>
            <p:nvPr/>
          </p:nvCxnSpPr>
          <p:spPr>
            <a:xfrm>
              <a:off x="6047425" y="1335491"/>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07" name="Google Shape;207;p34"/>
            <p:cNvCxnSpPr/>
            <p:nvPr/>
          </p:nvCxnSpPr>
          <p:spPr>
            <a:xfrm>
              <a:off x="6047425" y="2060755"/>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08" name="Google Shape;208;p34"/>
            <p:cNvCxnSpPr/>
            <p:nvPr/>
          </p:nvCxnSpPr>
          <p:spPr>
            <a:xfrm>
              <a:off x="6047425" y="2663777"/>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09" name="Google Shape;209;p34"/>
            <p:cNvCxnSpPr/>
            <p:nvPr/>
          </p:nvCxnSpPr>
          <p:spPr>
            <a:xfrm>
              <a:off x="6047425" y="2906203"/>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10" name="Google Shape;210;p34"/>
            <p:cNvCxnSpPr/>
            <p:nvPr/>
          </p:nvCxnSpPr>
          <p:spPr>
            <a:xfrm>
              <a:off x="6047425" y="3395619"/>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11" name="Google Shape;211;p34"/>
            <p:cNvCxnSpPr/>
            <p:nvPr/>
          </p:nvCxnSpPr>
          <p:spPr>
            <a:xfrm>
              <a:off x="6047425" y="3611064"/>
              <a:ext cx="2894100" cy="0"/>
            </a:xfrm>
            <a:prstGeom prst="straightConnector1">
              <a:avLst/>
            </a:prstGeom>
            <a:noFill/>
            <a:ln cap="flat" cmpd="sng" w="19050">
              <a:solidFill>
                <a:srgbClr val="000000"/>
              </a:solidFill>
              <a:prstDash val="dash"/>
              <a:round/>
              <a:headEnd len="med" w="med" type="none"/>
              <a:tailEnd len="med" w="med" type="triangle"/>
            </a:ln>
          </p:spPr>
        </p:cxnSp>
        <p:sp>
          <p:nvSpPr>
            <p:cNvPr id="212" name="Google Shape;212;p34"/>
            <p:cNvSpPr txBox="1"/>
            <p:nvPr/>
          </p:nvSpPr>
          <p:spPr>
            <a:xfrm>
              <a:off x="5247275" y="1230250"/>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1</a:t>
              </a:r>
              <a:endParaRPr sz="1000">
                <a:solidFill>
                  <a:srgbClr val="FFFFFF"/>
                </a:solidFill>
                <a:latin typeface="Roboto"/>
                <a:ea typeface="Roboto"/>
                <a:cs typeface="Roboto"/>
                <a:sym typeface="Roboto"/>
              </a:endParaRPr>
            </a:p>
          </p:txBody>
        </p:sp>
        <p:sp>
          <p:nvSpPr>
            <p:cNvPr id="213" name="Google Shape;213;p34"/>
            <p:cNvSpPr txBox="1"/>
            <p:nvPr/>
          </p:nvSpPr>
          <p:spPr>
            <a:xfrm>
              <a:off x="5247275" y="1965941"/>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2</a:t>
              </a:r>
              <a:endParaRPr sz="1000">
                <a:solidFill>
                  <a:srgbClr val="FFFFFF"/>
                </a:solidFill>
                <a:latin typeface="Roboto"/>
                <a:ea typeface="Roboto"/>
                <a:cs typeface="Roboto"/>
                <a:sym typeface="Roboto"/>
              </a:endParaRPr>
            </a:p>
          </p:txBody>
        </p:sp>
        <p:sp>
          <p:nvSpPr>
            <p:cNvPr id="214" name="Google Shape;214;p34"/>
            <p:cNvSpPr txBox="1"/>
            <p:nvPr/>
          </p:nvSpPr>
          <p:spPr>
            <a:xfrm>
              <a:off x="5247275" y="2681899"/>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3</a:t>
              </a:r>
              <a:endParaRPr sz="1000">
                <a:solidFill>
                  <a:srgbClr val="FFFFFF"/>
                </a:solidFill>
                <a:latin typeface="Roboto"/>
                <a:ea typeface="Roboto"/>
                <a:cs typeface="Roboto"/>
                <a:sym typeface="Roboto"/>
              </a:endParaRPr>
            </a:p>
          </p:txBody>
        </p:sp>
        <p:sp>
          <p:nvSpPr>
            <p:cNvPr id="215" name="Google Shape;215;p34"/>
            <p:cNvSpPr txBox="1"/>
            <p:nvPr/>
          </p:nvSpPr>
          <p:spPr>
            <a:xfrm>
              <a:off x="5247275" y="3294227"/>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4</a:t>
              </a:r>
              <a:endParaRPr sz="1000">
                <a:solidFill>
                  <a:srgbClr val="FFFFFF"/>
                </a:solidFill>
                <a:latin typeface="Roboto"/>
                <a:ea typeface="Roboto"/>
                <a:cs typeface="Roboto"/>
                <a:sym typeface="Roboto"/>
              </a:endParaRPr>
            </a:p>
          </p:txBody>
        </p:sp>
        <p:sp>
          <p:nvSpPr>
            <p:cNvPr id="216" name="Google Shape;216;p34"/>
            <p:cNvSpPr txBox="1"/>
            <p:nvPr/>
          </p:nvSpPr>
          <p:spPr>
            <a:xfrm>
              <a:off x="5247275" y="3516250"/>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5</a:t>
              </a:r>
              <a:endParaRPr sz="1000">
                <a:solidFill>
                  <a:srgbClr val="FFFFFF"/>
                </a:solidFill>
                <a:latin typeface="Roboto"/>
                <a:ea typeface="Roboto"/>
                <a:cs typeface="Roboto"/>
                <a:sym typeface="Roboto"/>
              </a:endParaRPr>
            </a:p>
          </p:txBody>
        </p:sp>
        <p:sp>
          <p:nvSpPr>
            <p:cNvPr id="217" name="Google Shape;217;p34"/>
            <p:cNvSpPr/>
            <p:nvPr/>
          </p:nvSpPr>
          <p:spPr>
            <a:xfrm>
              <a:off x="6130200" y="1230250"/>
              <a:ext cx="1289100" cy="197400"/>
            </a:xfrm>
            <a:prstGeom prst="rect">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4"/>
            <p:cNvSpPr/>
            <p:nvPr/>
          </p:nvSpPr>
          <p:spPr>
            <a:xfrm>
              <a:off x="7779600" y="1230250"/>
              <a:ext cx="782700" cy="197400"/>
            </a:xfrm>
            <a:prstGeom prst="rect">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4"/>
            <p:cNvSpPr/>
            <p:nvPr/>
          </p:nvSpPr>
          <p:spPr>
            <a:xfrm>
              <a:off x="6130200" y="1959375"/>
              <a:ext cx="296100" cy="197400"/>
            </a:xfrm>
            <a:prstGeom prst="rect">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4"/>
            <p:cNvSpPr/>
            <p:nvPr/>
          </p:nvSpPr>
          <p:spPr>
            <a:xfrm>
              <a:off x="6511200" y="1959375"/>
              <a:ext cx="1177800" cy="197400"/>
            </a:xfrm>
            <a:prstGeom prst="rect">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p:nvPr/>
          </p:nvSpPr>
          <p:spPr>
            <a:xfrm>
              <a:off x="7833725" y="1959375"/>
              <a:ext cx="922200" cy="197400"/>
            </a:xfrm>
            <a:prstGeom prst="rect">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4"/>
            <p:cNvSpPr/>
            <p:nvPr/>
          </p:nvSpPr>
          <p:spPr>
            <a:xfrm>
              <a:off x="6130200" y="2803737"/>
              <a:ext cx="237600" cy="1974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4"/>
            <p:cNvSpPr/>
            <p:nvPr/>
          </p:nvSpPr>
          <p:spPr>
            <a:xfrm>
              <a:off x="6605397" y="2803737"/>
              <a:ext cx="237600" cy="1974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4"/>
            <p:cNvSpPr/>
            <p:nvPr/>
          </p:nvSpPr>
          <p:spPr>
            <a:xfrm>
              <a:off x="6840150" y="2803737"/>
              <a:ext cx="237600" cy="1974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4"/>
            <p:cNvSpPr/>
            <p:nvPr/>
          </p:nvSpPr>
          <p:spPr>
            <a:xfrm>
              <a:off x="8287473" y="2803737"/>
              <a:ext cx="448800" cy="1974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4"/>
            <p:cNvSpPr/>
            <p:nvPr/>
          </p:nvSpPr>
          <p:spPr>
            <a:xfrm>
              <a:off x="6367788" y="2560463"/>
              <a:ext cx="237600" cy="197400"/>
            </a:xfrm>
            <a:prstGeom prst="rect">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A86E8"/>
                </a:solidFill>
              </a:endParaRPr>
            </a:p>
          </p:txBody>
        </p:sp>
        <p:sp>
          <p:nvSpPr>
            <p:cNvPr id="227" name="Google Shape;227;p34"/>
            <p:cNvSpPr/>
            <p:nvPr/>
          </p:nvSpPr>
          <p:spPr>
            <a:xfrm>
              <a:off x="7077801" y="2560475"/>
              <a:ext cx="1209600" cy="197400"/>
            </a:xfrm>
            <a:prstGeom prst="rect">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A86E8"/>
                </a:solidFill>
              </a:endParaRPr>
            </a:p>
          </p:txBody>
        </p:sp>
        <p:sp>
          <p:nvSpPr>
            <p:cNvPr id="228" name="Google Shape;228;p34"/>
            <p:cNvSpPr/>
            <p:nvPr/>
          </p:nvSpPr>
          <p:spPr>
            <a:xfrm>
              <a:off x="6367800" y="3520300"/>
              <a:ext cx="237600" cy="197400"/>
            </a:xfrm>
            <a:prstGeom prst="rect">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4"/>
            <p:cNvSpPr/>
            <p:nvPr/>
          </p:nvSpPr>
          <p:spPr>
            <a:xfrm>
              <a:off x="6602092" y="3520300"/>
              <a:ext cx="237600" cy="197400"/>
            </a:xfrm>
            <a:prstGeom prst="rect">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4"/>
            <p:cNvSpPr/>
            <p:nvPr/>
          </p:nvSpPr>
          <p:spPr>
            <a:xfrm>
              <a:off x="7855360" y="3520300"/>
              <a:ext cx="481200" cy="197400"/>
            </a:xfrm>
            <a:prstGeom prst="rect">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4"/>
            <p:cNvSpPr/>
            <p:nvPr/>
          </p:nvSpPr>
          <p:spPr>
            <a:xfrm>
              <a:off x="6130200" y="3291700"/>
              <a:ext cx="237600" cy="197400"/>
            </a:xfrm>
            <a:prstGeom prst="rect">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4"/>
            <p:cNvSpPr/>
            <p:nvPr/>
          </p:nvSpPr>
          <p:spPr>
            <a:xfrm>
              <a:off x="6855305" y="3291700"/>
              <a:ext cx="987900" cy="197400"/>
            </a:xfrm>
            <a:prstGeom prst="rect">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4"/>
            <p:cNvSpPr/>
            <p:nvPr/>
          </p:nvSpPr>
          <p:spPr>
            <a:xfrm>
              <a:off x="8349310" y="3291700"/>
              <a:ext cx="237600" cy="197400"/>
            </a:xfrm>
            <a:prstGeom prst="rect">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Java Threads</a:t>
            </a:r>
            <a:endParaRPr/>
          </a:p>
        </p:txBody>
      </p:sp>
      <p:sp>
        <p:nvSpPr>
          <p:cNvPr id="239" name="Google Shape;239;p35"/>
          <p:cNvSpPr txBox="1"/>
          <p:nvPr>
            <p:ph idx="1" type="body"/>
          </p:nvPr>
        </p:nvSpPr>
        <p:spPr>
          <a:xfrm>
            <a:off x="92175" y="1330026"/>
            <a:ext cx="4632300" cy="3755700"/>
          </a:xfrm>
          <a:prstGeom prst="rect">
            <a:avLst/>
          </a:prstGeom>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Like many things in Java, </a:t>
            </a:r>
            <a:r>
              <a:rPr b="1" i="1" lang="en">
                <a:solidFill>
                  <a:srgbClr val="FF0000"/>
                </a:solidFill>
              </a:rPr>
              <a:t>threads</a:t>
            </a:r>
            <a:r>
              <a:rPr lang="en">
                <a:solidFill>
                  <a:srgbClr val="FF0000"/>
                </a:solidFill>
              </a:rPr>
              <a:t> </a:t>
            </a:r>
            <a:r>
              <a:rPr lang="en"/>
              <a:t>are represented as </a:t>
            </a:r>
            <a:r>
              <a:rPr b="1" i="1" lang="en">
                <a:solidFill>
                  <a:srgbClr val="FF0000"/>
                </a:solidFill>
              </a:rPr>
              <a:t>objects</a:t>
            </a:r>
            <a:r>
              <a:rPr lang="en"/>
              <a:t>.</a:t>
            </a:r>
            <a:endParaRPr/>
          </a:p>
          <a:p>
            <a:pPr indent="-298450" lvl="1" marL="914400" rtl="0" algn="l">
              <a:lnSpc>
                <a:spcPct val="100000"/>
              </a:lnSpc>
              <a:spcBef>
                <a:spcPts val="0"/>
              </a:spcBef>
              <a:spcAft>
                <a:spcPts val="0"/>
              </a:spcAft>
              <a:buSzPts val="1100"/>
              <a:buChar char="○"/>
            </a:pPr>
            <a:r>
              <a:rPr lang="en"/>
              <a:t>Specifically, instances of the </a:t>
            </a:r>
            <a:r>
              <a:rPr lang="en" u="sng">
                <a:solidFill>
                  <a:srgbClr val="4A86E8"/>
                </a:solidFill>
                <a:latin typeface="Courier New"/>
                <a:ea typeface="Courier New"/>
                <a:cs typeface="Courier New"/>
                <a:sym typeface="Courier New"/>
                <a:hlinkClick r:id="rId3">
                  <a:extLst>
                    <a:ext uri="{A12FA001-AC4F-418D-AE19-62706E023703}">
                      <ahyp:hlinkClr val="tx"/>
                    </a:ext>
                  </a:extLst>
                </a:hlinkClick>
              </a:rPr>
              <a:t>java.lang.Thread</a:t>
            </a:r>
            <a:r>
              <a:rPr lang="en">
                <a:solidFill>
                  <a:srgbClr val="4A86E8"/>
                </a:solidFill>
              </a:rPr>
              <a:t> </a:t>
            </a:r>
            <a:r>
              <a:rPr lang="en"/>
              <a:t>class.</a:t>
            </a:r>
            <a:endParaRPr/>
          </a:p>
          <a:p>
            <a:pPr indent="-311150" lvl="0" marL="457200" rtl="0" algn="l">
              <a:lnSpc>
                <a:spcPct val="100000"/>
              </a:lnSpc>
              <a:spcBef>
                <a:spcPts val="1000"/>
              </a:spcBef>
              <a:spcAft>
                <a:spcPts val="0"/>
              </a:spcAft>
              <a:buSzPts val="1300"/>
              <a:buChar char="●"/>
            </a:pPr>
            <a:r>
              <a:rPr lang="en"/>
              <a:t>There are </a:t>
            </a:r>
            <a:r>
              <a:rPr b="1" i="1" lang="en">
                <a:solidFill>
                  <a:srgbClr val="FF0000"/>
                </a:solidFill>
              </a:rPr>
              <a:t>two </a:t>
            </a:r>
            <a:r>
              <a:rPr lang="en"/>
              <a:t>basic ways to create a thread of execution in Java. The easiest is to </a:t>
            </a:r>
            <a:r>
              <a:rPr b="1" i="1" lang="en">
                <a:solidFill>
                  <a:srgbClr val="FF0000"/>
                </a:solidFill>
              </a:rPr>
              <a:t>subclass</a:t>
            </a:r>
            <a:r>
              <a:rPr lang="en">
                <a:solidFill>
                  <a:srgbClr val="FF0000"/>
                </a:solidFill>
              </a:rPr>
              <a:t> </a:t>
            </a:r>
            <a:r>
              <a:rPr lang="en">
                <a:solidFill>
                  <a:srgbClr val="FF0000"/>
                </a:solidFill>
                <a:latin typeface="Courier New"/>
                <a:ea typeface="Courier New"/>
                <a:cs typeface="Courier New"/>
                <a:sym typeface="Courier New"/>
              </a:rPr>
              <a:t>Thread</a:t>
            </a:r>
            <a:r>
              <a:rPr lang="en">
                <a:solidFill>
                  <a:srgbClr val="FF0000"/>
                </a:solidFill>
              </a:rPr>
              <a:t> </a:t>
            </a:r>
            <a:r>
              <a:rPr lang="en"/>
              <a:t>and </a:t>
            </a:r>
            <a:r>
              <a:rPr b="1" i="1" lang="en">
                <a:solidFill>
                  <a:srgbClr val="FF0000"/>
                </a:solidFill>
              </a:rPr>
              <a:t>override</a:t>
            </a:r>
            <a:r>
              <a:rPr lang="en">
                <a:solidFill>
                  <a:srgbClr val="FF0000"/>
                </a:solidFill>
              </a:rPr>
              <a:t> </a:t>
            </a:r>
            <a:r>
              <a:rPr lang="en"/>
              <a:t>its </a:t>
            </a:r>
            <a:r>
              <a:rPr lang="en">
                <a:solidFill>
                  <a:srgbClr val="FF0000"/>
                </a:solidFill>
                <a:latin typeface="Courier New"/>
                <a:ea typeface="Courier New"/>
                <a:cs typeface="Courier New"/>
                <a:sym typeface="Courier New"/>
              </a:rPr>
              <a:t>run()</a:t>
            </a:r>
            <a:r>
              <a:rPr lang="en"/>
              <a:t> method.</a:t>
            </a:r>
            <a:endParaRPr/>
          </a:p>
          <a:p>
            <a:pPr indent="-298450" lvl="1" marL="914400" rtl="0" algn="l">
              <a:lnSpc>
                <a:spcPct val="100000"/>
              </a:lnSpc>
              <a:spcBef>
                <a:spcPts val="0"/>
              </a:spcBef>
              <a:spcAft>
                <a:spcPts val="0"/>
              </a:spcAft>
              <a:buSzPts val="1100"/>
              <a:buChar char="○"/>
            </a:pPr>
            <a:r>
              <a:rPr lang="en"/>
              <a:t>Code in the </a:t>
            </a:r>
            <a:r>
              <a:rPr lang="en">
                <a:solidFill>
                  <a:srgbClr val="FF0000"/>
                </a:solidFill>
                <a:latin typeface="Courier New"/>
                <a:ea typeface="Courier New"/>
                <a:cs typeface="Courier New"/>
                <a:sym typeface="Courier New"/>
              </a:rPr>
              <a:t>run()</a:t>
            </a:r>
            <a:r>
              <a:rPr lang="en"/>
              <a:t> method will be executed when the thread is </a:t>
            </a:r>
            <a:r>
              <a:rPr b="1" i="1" lang="en">
                <a:solidFill>
                  <a:srgbClr val="FF0000"/>
                </a:solidFill>
              </a:rPr>
              <a:t>started</a:t>
            </a:r>
            <a:r>
              <a:rPr lang="en"/>
              <a:t>.</a:t>
            </a:r>
            <a:endParaRPr/>
          </a:p>
          <a:p>
            <a:pPr indent="-311150" lvl="0" marL="457200" rtl="0" algn="l">
              <a:lnSpc>
                <a:spcPct val="100000"/>
              </a:lnSpc>
              <a:spcBef>
                <a:spcPts val="1000"/>
              </a:spcBef>
              <a:spcAft>
                <a:spcPts val="0"/>
              </a:spcAft>
              <a:buSzPts val="1300"/>
              <a:buChar char="●"/>
            </a:pPr>
            <a:r>
              <a:rPr lang="en"/>
              <a:t>The slightly more difficult way is to implement the </a:t>
            </a:r>
            <a:r>
              <a:rPr lang="en" u="sng">
                <a:solidFill>
                  <a:srgbClr val="4A86E8"/>
                </a:solidFill>
                <a:latin typeface="Courier New"/>
                <a:ea typeface="Courier New"/>
                <a:cs typeface="Courier New"/>
                <a:sym typeface="Courier New"/>
                <a:hlinkClick r:id="rId4">
                  <a:extLst>
                    <a:ext uri="{A12FA001-AC4F-418D-AE19-62706E023703}">
                      <ahyp:hlinkClr val="tx"/>
                    </a:ext>
                  </a:extLst>
                </a:hlinkClick>
              </a:rPr>
              <a:t>java.lang.Runnable</a:t>
            </a:r>
            <a:r>
              <a:rPr lang="en">
                <a:solidFill>
                  <a:srgbClr val="4A86E8"/>
                </a:solidFill>
              </a:rPr>
              <a:t> </a:t>
            </a:r>
            <a:r>
              <a:rPr lang="en"/>
              <a:t>interface and </a:t>
            </a:r>
            <a:r>
              <a:rPr b="1" i="1" lang="en">
                <a:solidFill>
                  <a:srgbClr val="FF0000"/>
                </a:solidFill>
              </a:rPr>
              <a:t>implement</a:t>
            </a:r>
            <a:r>
              <a:rPr lang="en">
                <a:solidFill>
                  <a:srgbClr val="FF0000"/>
                </a:solidFill>
              </a:rPr>
              <a:t> </a:t>
            </a:r>
            <a:r>
              <a:rPr lang="en"/>
              <a:t>its </a:t>
            </a:r>
            <a:r>
              <a:rPr lang="en">
                <a:solidFill>
                  <a:srgbClr val="FF0000"/>
                </a:solidFill>
                <a:latin typeface="Courier New"/>
                <a:ea typeface="Courier New"/>
                <a:cs typeface="Courier New"/>
                <a:sym typeface="Courier New"/>
              </a:rPr>
              <a:t>run()</a:t>
            </a:r>
            <a:r>
              <a:rPr lang="en"/>
              <a:t> method.</a:t>
            </a:r>
            <a:endParaRPr/>
          </a:p>
          <a:p>
            <a:pPr indent="-298450" lvl="1" marL="914400" rtl="0" algn="l">
              <a:lnSpc>
                <a:spcPct val="100000"/>
              </a:lnSpc>
              <a:spcBef>
                <a:spcPts val="0"/>
              </a:spcBef>
              <a:spcAft>
                <a:spcPts val="0"/>
              </a:spcAft>
              <a:buSzPts val="1100"/>
              <a:buChar char="○"/>
            </a:pPr>
            <a:r>
              <a:rPr lang="en"/>
              <a:t>A new </a:t>
            </a:r>
            <a:r>
              <a:rPr lang="en">
                <a:latin typeface="Courier New"/>
                <a:ea typeface="Courier New"/>
                <a:cs typeface="Courier New"/>
                <a:sym typeface="Courier New"/>
              </a:rPr>
              <a:t>Thread</a:t>
            </a:r>
            <a:r>
              <a:rPr lang="en"/>
              <a:t> is created by passing an instance of the </a:t>
            </a:r>
            <a:r>
              <a:rPr lang="en">
                <a:latin typeface="Courier New"/>
                <a:ea typeface="Courier New"/>
                <a:cs typeface="Courier New"/>
                <a:sym typeface="Courier New"/>
              </a:rPr>
              <a:t>Runnable</a:t>
            </a:r>
            <a:r>
              <a:rPr lang="en"/>
              <a:t> into its constructor.</a:t>
            </a:r>
            <a:endParaRPr/>
          </a:p>
          <a:p>
            <a:pPr indent="-298450" lvl="1" marL="914400" rtl="0" algn="l">
              <a:lnSpc>
                <a:spcPct val="100000"/>
              </a:lnSpc>
              <a:spcBef>
                <a:spcPts val="0"/>
              </a:spcBef>
              <a:spcAft>
                <a:spcPts val="0"/>
              </a:spcAft>
              <a:buSzPts val="1100"/>
              <a:buChar char="○"/>
            </a:pPr>
            <a:r>
              <a:rPr lang="en"/>
              <a:t>When the </a:t>
            </a:r>
            <a:r>
              <a:rPr lang="en">
                <a:latin typeface="Courier New"/>
                <a:ea typeface="Courier New"/>
                <a:cs typeface="Courier New"/>
                <a:sym typeface="Courier New"/>
              </a:rPr>
              <a:t>Thread</a:t>
            </a:r>
            <a:r>
              <a:rPr lang="en"/>
              <a:t> is started, the </a:t>
            </a:r>
            <a:r>
              <a:rPr lang="en">
                <a:latin typeface="Courier New"/>
                <a:ea typeface="Courier New"/>
                <a:cs typeface="Courier New"/>
                <a:sym typeface="Courier New"/>
              </a:rPr>
              <a:t>run()</a:t>
            </a:r>
            <a:r>
              <a:rPr lang="en"/>
              <a:t> method is called on the </a:t>
            </a:r>
            <a:r>
              <a:rPr lang="en">
                <a:latin typeface="Courier New"/>
                <a:ea typeface="Courier New"/>
                <a:cs typeface="Courier New"/>
                <a:sym typeface="Courier New"/>
              </a:rPr>
              <a:t>Runnable</a:t>
            </a:r>
            <a:r>
              <a:rPr lang="en"/>
              <a:t>.</a:t>
            </a:r>
            <a:endParaRPr/>
          </a:p>
          <a:p>
            <a:pPr indent="-311150" lvl="0" marL="457200" rtl="0" algn="l">
              <a:lnSpc>
                <a:spcPct val="100000"/>
              </a:lnSpc>
              <a:spcBef>
                <a:spcPts val="1000"/>
              </a:spcBef>
              <a:spcAft>
                <a:spcPts val="0"/>
              </a:spcAft>
              <a:buSzPts val="1300"/>
              <a:buChar char="●"/>
            </a:pPr>
            <a:r>
              <a:rPr lang="en"/>
              <a:t>The second technique is </a:t>
            </a:r>
            <a:r>
              <a:rPr b="1" i="1" lang="en">
                <a:solidFill>
                  <a:srgbClr val="FF0000"/>
                </a:solidFill>
              </a:rPr>
              <a:t>usually </a:t>
            </a:r>
            <a:r>
              <a:rPr lang="en"/>
              <a:t>preferred for a number of reasons.</a:t>
            </a:r>
            <a:endParaRPr/>
          </a:p>
        </p:txBody>
      </p:sp>
      <p:sp>
        <p:nvSpPr>
          <p:cNvPr id="240" name="Google Shape;240;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5"/>
          <p:cNvSpPr txBox="1"/>
          <p:nvPr/>
        </p:nvSpPr>
        <p:spPr>
          <a:xfrm>
            <a:off x="5001750" y="2062375"/>
            <a:ext cx="3648300" cy="1108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MyThread</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Thread</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"Hello, World!"</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  </a:t>
            </a:r>
            <a:endParaRPr sz="1000">
              <a:solidFill>
                <a:srgbClr val="999999"/>
              </a:solidFill>
              <a:latin typeface="Consolas"/>
              <a:ea typeface="Consolas"/>
              <a:cs typeface="Consolas"/>
              <a:sym typeface="Consolas"/>
            </a:endParaRPr>
          </a:p>
        </p:txBody>
      </p:sp>
      <p:sp>
        <p:nvSpPr>
          <p:cNvPr id="242" name="Google Shape;242;p35"/>
          <p:cNvSpPr txBox="1"/>
          <p:nvPr/>
        </p:nvSpPr>
        <p:spPr>
          <a:xfrm>
            <a:off x="5001750" y="3787775"/>
            <a:ext cx="3648300" cy="1108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MyRunnable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Runnable</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"Hello, World!"</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243" name="Google Shape;243;p35"/>
          <p:cNvSpPr txBox="1"/>
          <p:nvPr/>
        </p:nvSpPr>
        <p:spPr>
          <a:xfrm>
            <a:off x="5001750" y="1384325"/>
            <a:ext cx="36483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 new </a:t>
            </a:r>
            <a:r>
              <a:rPr b="1" i="1" lang="en" sz="1200">
                <a:solidFill>
                  <a:srgbClr val="FF0000"/>
                </a:solidFill>
              </a:rPr>
              <a:t>thread</a:t>
            </a:r>
            <a:r>
              <a:rPr lang="en" sz="1200">
                <a:solidFill>
                  <a:srgbClr val="FF0000"/>
                </a:solidFill>
              </a:rPr>
              <a:t> </a:t>
            </a:r>
            <a:r>
              <a:rPr lang="en" sz="1200"/>
              <a:t>can be created either by </a:t>
            </a:r>
            <a:r>
              <a:rPr b="1" i="1" lang="en" sz="1200">
                <a:solidFill>
                  <a:srgbClr val="FF0000"/>
                </a:solidFill>
              </a:rPr>
              <a:t>extending</a:t>
            </a:r>
            <a:r>
              <a:rPr lang="en" sz="1200">
                <a:solidFill>
                  <a:srgbClr val="FF0000"/>
                </a:solidFill>
              </a:rPr>
              <a:t> </a:t>
            </a:r>
            <a:r>
              <a:rPr lang="en" sz="1200"/>
              <a:t>the </a:t>
            </a:r>
            <a:r>
              <a:rPr lang="en" sz="1200">
                <a:solidFill>
                  <a:srgbClr val="FF0000"/>
                </a:solidFill>
                <a:latin typeface="Courier New"/>
                <a:ea typeface="Courier New"/>
                <a:cs typeface="Courier New"/>
                <a:sym typeface="Courier New"/>
              </a:rPr>
              <a:t>java.lang.Thread</a:t>
            </a:r>
            <a:r>
              <a:rPr lang="en" sz="1200"/>
              <a:t> class...</a:t>
            </a:r>
            <a:endParaRPr sz="1200"/>
          </a:p>
        </p:txBody>
      </p:sp>
      <p:sp>
        <p:nvSpPr>
          <p:cNvPr id="244" name="Google Shape;244;p35"/>
          <p:cNvSpPr txBox="1"/>
          <p:nvPr/>
        </p:nvSpPr>
        <p:spPr>
          <a:xfrm>
            <a:off x="5001750" y="3294525"/>
            <a:ext cx="36483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...or by </a:t>
            </a:r>
            <a:r>
              <a:rPr b="1" i="1" lang="en" sz="1200">
                <a:solidFill>
                  <a:srgbClr val="FF0000"/>
                </a:solidFill>
              </a:rPr>
              <a:t>implementing </a:t>
            </a:r>
            <a:r>
              <a:rPr lang="en" sz="1200">
                <a:solidFill>
                  <a:srgbClr val="FF0000"/>
                </a:solidFill>
                <a:latin typeface="Courier New"/>
                <a:ea typeface="Courier New"/>
                <a:cs typeface="Courier New"/>
                <a:sym typeface="Courier New"/>
              </a:rPr>
              <a:t>java.lang.Runnable</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p:nvPr/>
        </p:nvSpPr>
        <p:spPr>
          <a:xfrm>
            <a:off x="1769400" y="1891000"/>
            <a:ext cx="567300" cy="385750"/>
          </a:xfrm>
          <a:custGeom>
            <a:rect b="b" l="l" r="r" t="t"/>
            <a:pathLst>
              <a:path extrusionOk="0" h="15430" w="22692">
                <a:moveTo>
                  <a:pt x="605" y="0"/>
                </a:moveTo>
                <a:lnTo>
                  <a:pt x="22692" y="15430"/>
                </a:lnTo>
                <a:lnTo>
                  <a:pt x="0" y="9984"/>
                </a:lnTo>
              </a:path>
            </a:pathLst>
          </a:custGeom>
          <a:solidFill>
            <a:srgbClr val="FFFFFF"/>
          </a:solidFill>
          <a:ln cap="flat" cmpd="sng" w="19050">
            <a:solidFill>
              <a:srgbClr val="000000"/>
            </a:solidFill>
            <a:prstDash val="solid"/>
            <a:round/>
            <a:headEnd len="med" w="med" type="none"/>
            <a:tailEnd len="med" w="med" type="none"/>
          </a:ln>
        </p:spPr>
      </p:sp>
      <p:sp>
        <p:nvSpPr>
          <p:cNvPr id="250" name="Google Shape;250;p36"/>
          <p:cNvSpPr/>
          <p:nvPr/>
        </p:nvSpPr>
        <p:spPr>
          <a:xfrm>
            <a:off x="1511670" y="2148730"/>
            <a:ext cx="310125" cy="325250"/>
          </a:xfrm>
          <a:custGeom>
            <a:rect b="b" l="l" r="r" t="t"/>
            <a:pathLst>
              <a:path extrusionOk="0" h="13010" w="12405">
                <a:moveTo>
                  <a:pt x="0" y="2420"/>
                </a:moveTo>
                <a:lnTo>
                  <a:pt x="12405" y="13010"/>
                </a:lnTo>
                <a:lnTo>
                  <a:pt x="10892" y="0"/>
                </a:lnTo>
              </a:path>
            </a:pathLst>
          </a:custGeom>
          <a:solidFill>
            <a:srgbClr val="FFFFFF"/>
          </a:solidFill>
          <a:ln cap="flat" cmpd="sng" w="19050">
            <a:solidFill>
              <a:srgbClr val="000000"/>
            </a:solidFill>
            <a:prstDash val="solid"/>
            <a:round/>
            <a:headEnd len="med" w="med" type="none"/>
            <a:tailEnd len="med" w="med" type="none"/>
          </a:ln>
        </p:spPr>
      </p:sp>
      <p:sp>
        <p:nvSpPr>
          <p:cNvPr id="251" name="Google Shape;251;p36"/>
          <p:cNvSpPr/>
          <p:nvPr/>
        </p:nvSpPr>
        <p:spPr>
          <a:xfrm>
            <a:off x="1118900" y="2095225"/>
            <a:ext cx="385775" cy="476525"/>
          </a:xfrm>
          <a:custGeom>
            <a:rect b="b" l="l" r="r" t="t"/>
            <a:pathLst>
              <a:path extrusionOk="0" h="19061" w="15431">
                <a:moveTo>
                  <a:pt x="0" y="3933"/>
                </a:moveTo>
                <a:lnTo>
                  <a:pt x="15431" y="19061"/>
                </a:lnTo>
                <a:lnTo>
                  <a:pt x="9682" y="0"/>
                </a:lnTo>
              </a:path>
            </a:pathLst>
          </a:custGeom>
          <a:solidFill>
            <a:srgbClr val="FFFFFF"/>
          </a:solidFill>
          <a:ln cap="flat" cmpd="sng" w="19050">
            <a:solidFill>
              <a:srgbClr val="000000"/>
            </a:solidFill>
            <a:prstDash val="solid"/>
            <a:round/>
            <a:headEnd len="med" w="med" type="none"/>
            <a:tailEnd len="med" w="med" type="none"/>
          </a:ln>
        </p:spPr>
      </p:sp>
      <p:sp>
        <p:nvSpPr>
          <p:cNvPr id="252" name="Google Shape;252;p36"/>
          <p:cNvSpPr/>
          <p:nvPr/>
        </p:nvSpPr>
        <p:spPr>
          <a:xfrm>
            <a:off x="831475" y="2117900"/>
            <a:ext cx="385775" cy="590000"/>
          </a:xfrm>
          <a:custGeom>
            <a:rect b="b" l="l" r="r" t="t"/>
            <a:pathLst>
              <a:path extrusionOk="0" h="23600" w="15431">
                <a:moveTo>
                  <a:pt x="0" y="5144"/>
                </a:moveTo>
                <a:lnTo>
                  <a:pt x="15431" y="23600"/>
                </a:lnTo>
                <a:lnTo>
                  <a:pt x="7564" y="0"/>
                </a:lnTo>
              </a:path>
            </a:pathLst>
          </a:custGeom>
          <a:solidFill>
            <a:srgbClr val="FFFFFF"/>
          </a:solidFill>
          <a:ln cap="flat" cmpd="sng" w="19050">
            <a:solidFill>
              <a:srgbClr val="000000"/>
            </a:solidFill>
            <a:prstDash val="solid"/>
            <a:round/>
            <a:headEnd len="med" w="med" type="none"/>
            <a:tailEnd len="med" w="med" type="none"/>
          </a:ln>
        </p:spPr>
      </p:sp>
      <p:pic>
        <p:nvPicPr>
          <p:cNvPr id="253" name="Google Shape;253;p36"/>
          <p:cNvPicPr preferRelativeResize="0"/>
          <p:nvPr/>
        </p:nvPicPr>
        <p:blipFill>
          <a:blip r:embed="rId3">
            <a:alphaModFix/>
          </a:blip>
          <a:stretch>
            <a:fillRect/>
          </a:stretch>
        </p:blipFill>
        <p:spPr>
          <a:xfrm>
            <a:off x="1896875" y="2231075"/>
            <a:ext cx="1392688" cy="1396655"/>
          </a:xfrm>
          <a:prstGeom prst="rect">
            <a:avLst/>
          </a:prstGeom>
          <a:noFill/>
          <a:ln>
            <a:noFill/>
          </a:ln>
        </p:spPr>
      </p:pic>
      <p:pic>
        <p:nvPicPr>
          <p:cNvPr id="254" name="Google Shape;254;p36"/>
          <p:cNvPicPr preferRelativeResize="0"/>
          <p:nvPr/>
        </p:nvPicPr>
        <p:blipFill>
          <a:blip r:embed="rId3">
            <a:alphaModFix/>
          </a:blip>
          <a:stretch>
            <a:fillRect/>
          </a:stretch>
        </p:blipFill>
        <p:spPr>
          <a:xfrm>
            <a:off x="1439675" y="2383475"/>
            <a:ext cx="1547431" cy="1551839"/>
          </a:xfrm>
          <a:prstGeom prst="rect">
            <a:avLst/>
          </a:prstGeom>
          <a:noFill/>
          <a:ln>
            <a:noFill/>
          </a:ln>
        </p:spPr>
      </p:pic>
      <p:pic>
        <p:nvPicPr>
          <p:cNvPr id="255" name="Google Shape;255;p36"/>
          <p:cNvPicPr preferRelativeResize="0"/>
          <p:nvPr/>
        </p:nvPicPr>
        <p:blipFill>
          <a:blip r:embed="rId3">
            <a:alphaModFix/>
          </a:blip>
          <a:stretch>
            <a:fillRect/>
          </a:stretch>
        </p:blipFill>
        <p:spPr>
          <a:xfrm>
            <a:off x="982475" y="2535875"/>
            <a:ext cx="1719367" cy="1724266"/>
          </a:xfrm>
          <a:prstGeom prst="rect">
            <a:avLst/>
          </a:prstGeom>
          <a:noFill/>
          <a:ln>
            <a:noFill/>
          </a:ln>
        </p:spPr>
      </p:pic>
      <p:pic>
        <p:nvPicPr>
          <p:cNvPr id="256" name="Google Shape;256;p36"/>
          <p:cNvPicPr preferRelativeResize="0"/>
          <p:nvPr/>
        </p:nvPicPr>
        <p:blipFill>
          <a:blip r:embed="rId3">
            <a:alphaModFix/>
          </a:blip>
          <a:stretch>
            <a:fillRect/>
          </a:stretch>
        </p:blipFill>
        <p:spPr>
          <a:xfrm>
            <a:off x="525275" y="2688275"/>
            <a:ext cx="1910408" cy="1915852"/>
          </a:xfrm>
          <a:prstGeom prst="rect">
            <a:avLst/>
          </a:prstGeom>
          <a:noFill/>
          <a:ln>
            <a:noFill/>
          </a:ln>
        </p:spPr>
      </p:pic>
      <p:sp>
        <p:nvSpPr>
          <p:cNvPr id="257" name="Google Shape;257;p3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Hello, Worlds!</a:t>
            </a:r>
            <a:endParaRPr/>
          </a:p>
        </p:txBody>
      </p:sp>
      <p:sp>
        <p:nvSpPr>
          <p:cNvPr id="258" name="Google Shape;258;p36"/>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Threads are a complex topic that require a lot of practice to get the hang of. Let's refresh our memories by writing a simple, multi-threaded program that prints "Hello, World!" to standard output.</a:t>
            </a:r>
            <a:endParaRPr/>
          </a:p>
        </p:txBody>
      </p:sp>
      <p:sp>
        <p:nvSpPr>
          <p:cNvPr id="259" name="Google Shape;259;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0" name="Google Shape;260;p36"/>
          <p:cNvSpPr txBox="1"/>
          <p:nvPr>
            <p:ph idx="2" type="body"/>
          </p:nvPr>
        </p:nvSpPr>
        <p:spPr>
          <a:xfrm>
            <a:off x="3364650" y="1535475"/>
            <a:ext cx="5569200" cy="31878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Create a new Java class named "</a:t>
            </a:r>
            <a:r>
              <a:rPr lang="en" sz="1800">
                <a:solidFill>
                  <a:srgbClr val="FF0000"/>
                </a:solidFill>
                <a:latin typeface="Courier New"/>
                <a:ea typeface="Courier New"/>
                <a:cs typeface="Courier New"/>
                <a:sym typeface="Courier New"/>
              </a:rPr>
              <a:t>HelloThread</a:t>
            </a:r>
            <a:r>
              <a:rPr lang="en" sz="1800"/>
              <a:t>" in the </a:t>
            </a:r>
            <a:r>
              <a:rPr lang="en" sz="1800">
                <a:latin typeface="Courier New"/>
                <a:ea typeface="Courier New"/>
                <a:cs typeface="Courier New"/>
                <a:sym typeface="Courier New"/>
              </a:rPr>
              <a:t>activities</a:t>
            </a:r>
            <a:r>
              <a:rPr lang="en" sz="1800"/>
              <a:t> </a:t>
            </a:r>
            <a:r>
              <a:rPr lang="en" sz="1800"/>
              <a:t>package and use your </a:t>
            </a:r>
            <a:r>
              <a:rPr lang="en" sz="1800"/>
              <a:t>preferred method to make it a thread.</a:t>
            </a:r>
            <a:endParaRPr sz="1800"/>
          </a:p>
          <a:p>
            <a:pPr indent="-330200" lvl="1" marL="914400" rtl="0" algn="l">
              <a:spcBef>
                <a:spcPts val="0"/>
              </a:spcBef>
              <a:spcAft>
                <a:spcPts val="0"/>
              </a:spcAft>
              <a:buSzPts val="1600"/>
              <a:buChar char="○"/>
            </a:pPr>
            <a:r>
              <a:rPr lang="en" sz="1600"/>
              <a:t>Extend </a:t>
            </a:r>
            <a:r>
              <a:rPr lang="en" sz="1600">
                <a:latin typeface="Courier New"/>
                <a:ea typeface="Courier New"/>
                <a:cs typeface="Courier New"/>
                <a:sym typeface="Courier New"/>
              </a:rPr>
              <a:t>Thread</a:t>
            </a:r>
            <a:r>
              <a:rPr lang="en" sz="1600"/>
              <a:t>, </a:t>
            </a:r>
            <a:r>
              <a:rPr lang="en" sz="1600"/>
              <a:t>implement </a:t>
            </a:r>
            <a:r>
              <a:rPr lang="en" sz="1600">
                <a:latin typeface="Courier New"/>
                <a:ea typeface="Courier New"/>
                <a:cs typeface="Courier New"/>
                <a:sym typeface="Courier New"/>
              </a:rPr>
              <a:t>Runnable</a:t>
            </a:r>
            <a:r>
              <a:rPr lang="en" sz="1600"/>
              <a:t>, or use a lambda. Which do you think is better and why?</a:t>
            </a:r>
            <a:endParaRPr sz="1600"/>
          </a:p>
          <a:p>
            <a:pPr indent="-330200" lvl="1" marL="914400" rtl="0" algn="l">
              <a:spcBef>
                <a:spcPts val="0"/>
              </a:spcBef>
              <a:spcAft>
                <a:spcPts val="0"/>
              </a:spcAft>
              <a:buSzPts val="1600"/>
              <a:buChar char="○"/>
            </a:pPr>
            <a:r>
              <a:rPr lang="en" sz="1600"/>
              <a:t>The </a:t>
            </a:r>
            <a:r>
              <a:rPr lang="en" sz="1600">
                <a:solidFill>
                  <a:srgbClr val="FF0000"/>
                </a:solidFill>
                <a:latin typeface="Courier New"/>
                <a:ea typeface="Courier New"/>
                <a:cs typeface="Courier New"/>
                <a:sym typeface="Courier New"/>
              </a:rPr>
              <a:t>run()</a:t>
            </a:r>
            <a:r>
              <a:rPr lang="en" sz="1600"/>
              <a:t> method should print </a:t>
            </a:r>
            <a:r>
              <a:rPr lang="en" sz="1600">
                <a:solidFill>
                  <a:srgbClr val="FF0000"/>
                </a:solidFill>
                <a:latin typeface="Courier New"/>
                <a:ea typeface="Courier New"/>
                <a:cs typeface="Courier New"/>
                <a:sym typeface="Courier New"/>
              </a:rPr>
              <a:t>"Hello, World!"</a:t>
            </a:r>
            <a:r>
              <a:rPr lang="en" sz="1600"/>
              <a:t> to standard output.</a:t>
            </a:r>
            <a:endParaRPr sz="1600"/>
          </a:p>
          <a:p>
            <a:pPr indent="-342900" lvl="0" marL="457200" rtl="0" algn="l">
              <a:spcBef>
                <a:spcPts val="0"/>
              </a:spcBef>
              <a:spcAft>
                <a:spcPts val="0"/>
              </a:spcAft>
              <a:buSzPts val="1800"/>
              <a:buChar char="●"/>
            </a:pPr>
            <a:r>
              <a:rPr lang="en" sz="1800"/>
              <a:t>Define a </a:t>
            </a:r>
            <a:r>
              <a:rPr lang="en" sz="1800">
                <a:solidFill>
                  <a:srgbClr val="FF0000"/>
                </a:solidFill>
                <a:latin typeface="Courier New"/>
                <a:ea typeface="Courier New"/>
                <a:cs typeface="Courier New"/>
                <a:sym typeface="Courier New"/>
              </a:rPr>
              <a:t>main</a:t>
            </a:r>
            <a:r>
              <a:rPr lang="en" sz="1800">
                <a:solidFill>
                  <a:srgbClr val="FF0000"/>
                </a:solidFill>
              </a:rPr>
              <a:t> </a:t>
            </a:r>
            <a:r>
              <a:rPr lang="en" sz="1800"/>
              <a:t>method with the appropriate signature, and use it to </a:t>
            </a:r>
            <a:r>
              <a:rPr b="1" i="1" lang="en" sz="1800">
                <a:solidFill>
                  <a:srgbClr val="FF0000"/>
                </a:solidFill>
              </a:rPr>
              <a:t>create </a:t>
            </a:r>
            <a:r>
              <a:rPr lang="en" sz="1800"/>
              <a:t>and </a:t>
            </a:r>
            <a:r>
              <a:rPr b="1" i="1" lang="en" sz="1800">
                <a:solidFill>
                  <a:srgbClr val="FF0000"/>
                </a:solidFill>
              </a:rPr>
              <a:t>start </a:t>
            </a:r>
            <a:r>
              <a:rPr lang="en" sz="1800">
                <a:solidFill>
                  <a:srgbClr val="FF0000"/>
                </a:solidFill>
              </a:rPr>
              <a:t>5</a:t>
            </a:r>
            <a:r>
              <a:rPr lang="en" sz="1800"/>
              <a:t> of your threads.</a:t>
            </a:r>
            <a:endParaRPr sz="1800"/>
          </a:p>
        </p:txBody>
      </p:sp>
      <p:sp>
        <p:nvSpPr>
          <p:cNvPr id="261" name="Google Shape;261;p3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11.1</a:t>
            </a:r>
            <a:endParaRPr/>
          </a:p>
        </p:txBody>
      </p:sp>
      <p:pic>
        <p:nvPicPr>
          <p:cNvPr id="262" name="Google Shape;262;p36"/>
          <p:cNvPicPr preferRelativeResize="0"/>
          <p:nvPr/>
        </p:nvPicPr>
        <p:blipFill>
          <a:blip r:embed="rId3">
            <a:alphaModFix/>
          </a:blip>
          <a:stretch>
            <a:fillRect/>
          </a:stretch>
        </p:blipFill>
        <p:spPr>
          <a:xfrm>
            <a:off x="68075" y="2840675"/>
            <a:ext cx="2122675" cy="2128725"/>
          </a:xfrm>
          <a:prstGeom prst="rect">
            <a:avLst/>
          </a:prstGeom>
          <a:noFill/>
          <a:ln>
            <a:noFill/>
          </a:ln>
        </p:spPr>
      </p:pic>
      <p:sp>
        <p:nvSpPr>
          <p:cNvPr id="263" name="Google Shape;263;p36"/>
          <p:cNvSpPr/>
          <p:nvPr/>
        </p:nvSpPr>
        <p:spPr>
          <a:xfrm>
            <a:off x="214400" y="1729125"/>
            <a:ext cx="1649100" cy="500100"/>
          </a:xfrm>
          <a:prstGeom prst="wedgeRoundRectCallout">
            <a:avLst>
              <a:gd fmla="val -11205" name="adj1"/>
              <a:gd fmla="val 168401"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t>Hi</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body"/>
          </p:nvPr>
        </p:nvSpPr>
        <p:spPr>
          <a:xfrm>
            <a:off x="4644675" y="500925"/>
            <a:ext cx="4166400" cy="4347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An Executor is a construct for managing program execution via Threads.</a:t>
            </a:r>
            <a:endParaRPr/>
          </a:p>
          <a:p>
            <a:pPr indent="-311150" lvl="0" marL="457200" rtl="0" algn="l">
              <a:spcBef>
                <a:spcPts val="1000"/>
              </a:spcBef>
              <a:spcAft>
                <a:spcPts val="0"/>
              </a:spcAft>
              <a:buSzPts val="1300"/>
              <a:buChar char="●"/>
            </a:pPr>
            <a:r>
              <a:rPr lang="en"/>
              <a:t>Java provides a convenient ExecutorService class that allows for easy management of an Executor.</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submit</a:t>
            </a:r>
            <a:r>
              <a:rPr lang="en"/>
              <a:t> - Submits a task for execution.</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shutdown</a:t>
            </a:r>
            <a:r>
              <a:rPr lang="en"/>
              <a:t> -</a:t>
            </a:r>
            <a:r>
              <a:rPr lang="en"/>
              <a:t> Stops the service after all currently submitted tasks have finished.</a:t>
            </a:r>
            <a:r>
              <a:rPr lang="en"/>
              <a:t> New tasks cannot be submitted.</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shutdownNow</a:t>
            </a:r>
            <a:r>
              <a:rPr lang="en"/>
              <a:t> - Attempts to stop active tasks and stops the service.</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awaitTermination</a:t>
            </a:r>
            <a:r>
              <a:rPr lang="en"/>
              <a:t> - Blocks until the service has finished.</a:t>
            </a:r>
            <a:endParaRPr/>
          </a:p>
          <a:p>
            <a:pPr indent="-311150" lvl="0" marL="457200" rtl="0" algn="l">
              <a:spcBef>
                <a:spcPts val="1000"/>
              </a:spcBef>
              <a:spcAft>
                <a:spcPts val="0"/>
              </a:spcAft>
              <a:buSzPts val="1300"/>
              <a:buChar char="●"/>
            </a:pPr>
            <a:r>
              <a:rPr lang="en"/>
              <a:t>An executor service can be created using the </a:t>
            </a:r>
            <a:r>
              <a:rPr lang="en">
                <a:solidFill>
                  <a:srgbClr val="FF0000"/>
                </a:solidFill>
                <a:latin typeface="Courier New"/>
                <a:ea typeface="Courier New"/>
                <a:cs typeface="Courier New"/>
                <a:sym typeface="Courier New"/>
              </a:rPr>
              <a:t>Executors</a:t>
            </a:r>
            <a:r>
              <a:rPr lang="en"/>
              <a:t> utility class and we </a:t>
            </a:r>
            <a:r>
              <a:rPr lang="en"/>
              <a:t>covered</a:t>
            </a:r>
            <a:r>
              <a:rPr lang="en"/>
              <a:t> three options:</a:t>
            </a:r>
            <a:endParaRPr/>
          </a:p>
          <a:p>
            <a:pPr indent="-298450" lvl="1" marL="914400" rtl="0" algn="l">
              <a:lnSpc>
                <a:spcPct val="100000"/>
              </a:lnSpc>
              <a:spcBef>
                <a:spcPts val="0"/>
              </a:spcBef>
              <a:spcAft>
                <a:spcPts val="0"/>
              </a:spcAft>
              <a:buClr>
                <a:srgbClr val="666666"/>
              </a:buClr>
              <a:buSzPts val="1100"/>
              <a:buChar char="○"/>
            </a:pPr>
            <a:r>
              <a:rPr lang="en">
                <a:solidFill>
                  <a:srgbClr val="666666"/>
                </a:solidFill>
                <a:uFill>
                  <a:noFill/>
                </a:uFill>
                <a:latin typeface="Courier New"/>
                <a:ea typeface="Courier New"/>
                <a:cs typeface="Courier New"/>
                <a:sym typeface="Courier New"/>
                <a:hlinkClick r:id="rId3">
                  <a:extLst>
                    <a:ext uri="{A12FA001-AC4F-418D-AE19-62706E023703}">
                      <ahyp:hlinkClr val="tx"/>
                    </a:ext>
                  </a:extLst>
                </a:hlinkClick>
              </a:rPr>
              <a:t>newCachedThreadPool</a:t>
            </a:r>
            <a:r>
              <a:rPr lang="en">
                <a:solidFill>
                  <a:srgbClr val="666666"/>
                </a:solidFill>
                <a:latin typeface="Courier New"/>
                <a:ea typeface="Courier New"/>
                <a:cs typeface="Courier New"/>
                <a:sym typeface="Courier New"/>
              </a:rPr>
              <a:t>()</a:t>
            </a:r>
            <a:endParaRPr>
              <a:solidFill>
                <a:srgbClr val="666666"/>
              </a:solidFill>
              <a:latin typeface="Courier New"/>
              <a:ea typeface="Courier New"/>
              <a:cs typeface="Courier New"/>
              <a:sym typeface="Courier New"/>
            </a:endParaRPr>
          </a:p>
          <a:p>
            <a:pPr indent="-298450" lvl="1" marL="914400" rtl="0" algn="l">
              <a:lnSpc>
                <a:spcPct val="100000"/>
              </a:lnSpc>
              <a:spcBef>
                <a:spcPts val="0"/>
              </a:spcBef>
              <a:spcAft>
                <a:spcPts val="0"/>
              </a:spcAft>
              <a:buClr>
                <a:srgbClr val="666666"/>
              </a:buClr>
              <a:buSzPts val="1100"/>
              <a:buFont typeface="Courier New"/>
              <a:buChar char="○"/>
            </a:pPr>
            <a:r>
              <a:rPr lang="en">
                <a:solidFill>
                  <a:srgbClr val="666666"/>
                </a:solidFill>
                <a:uFill>
                  <a:noFill/>
                </a:uFill>
                <a:latin typeface="Courier New"/>
                <a:ea typeface="Courier New"/>
                <a:cs typeface="Courier New"/>
                <a:sym typeface="Courier New"/>
                <a:hlinkClick r:id="rId4">
                  <a:extLst>
                    <a:ext uri="{A12FA001-AC4F-418D-AE19-62706E023703}">
                      <ahyp:hlinkClr val="tx"/>
                    </a:ext>
                  </a:extLst>
                </a:hlinkClick>
              </a:rPr>
              <a:t>newFixedThreadPool</a:t>
            </a:r>
            <a:r>
              <a:rPr lang="en">
                <a:solidFill>
                  <a:srgbClr val="666666"/>
                </a:solidFill>
                <a:latin typeface="Courier New"/>
                <a:ea typeface="Courier New"/>
                <a:cs typeface="Courier New"/>
                <a:sym typeface="Courier New"/>
              </a:rPr>
              <a:t>(int nThreads)</a:t>
            </a:r>
            <a:endParaRPr>
              <a:solidFill>
                <a:srgbClr val="666666"/>
              </a:solidFill>
              <a:latin typeface="Courier New"/>
              <a:ea typeface="Courier New"/>
              <a:cs typeface="Courier New"/>
              <a:sym typeface="Courier New"/>
            </a:endParaRPr>
          </a:p>
          <a:p>
            <a:pPr indent="-298450" lvl="1" marL="914400" rtl="0" algn="l">
              <a:lnSpc>
                <a:spcPct val="100000"/>
              </a:lnSpc>
              <a:spcBef>
                <a:spcPts val="0"/>
              </a:spcBef>
              <a:spcAft>
                <a:spcPts val="0"/>
              </a:spcAft>
              <a:buClr>
                <a:srgbClr val="666666"/>
              </a:buClr>
              <a:buSzPts val="1100"/>
              <a:buFont typeface="Courier New"/>
              <a:buChar char="○"/>
            </a:pPr>
            <a:r>
              <a:rPr lang="en">
                <a:solidFill>
                  <a:srgbClr val="666666"/>
                </a:solidFill>
                <a:uFill>
                  <a:noFill/>
                </a:uFill>
                <a:latin typeface="Courier New"/>
                <a:ea typeface="Courier New"/>
                <a:cs typeface="Courier New"/>
                <a:sym typeface="Courier New"/>
                <a:hlinkClick r:id="rId5">
                  <a:extLst>
                    <a:ext uri="{A12FA001-AC4F-418D-AE19-62706E023703}">
                      <ahyp:hlinkClr val="tx"/>
                    </a:ext>
                  </a:extLst>
                </a:hlinkClick>
              </a:rPr>
              <a:t>newSingleThreadExecutor</a:t>
            </a:r>
            <a:r>
              <a:rPr lang="en">
                <a:solidFill>
                  <a:srgbClr val="666666"/>
                </a:solidFill>
                <a:latin typeface="Courier New"/>
                <a:ea typeface="Courier New"/>
                <a:cs typeface="Courier New"/>
                <a:sym typeface="Courier New"/>
              </a:rPr>
              <a:t>()</a:t>
            </a:r>
            <a:endParaRPr>
              <a:solidFill>
                <a:srgbClr val="666666"/>
              </a:solidFill>
              <a:latin typeface="Courier New"/>
              <a:ea typeface="Courier New"/>
              <a:cs typeface="Courier New"/>
              <a:sym typeface="Courier New"/>
            </a:endParaRPr>
          </a:p>
        </p:txBody>
      </p:sp>
      <p:sp>
        <p:nvSpPr>
          <p:cNvPr id="269" name="Google Shape;269;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0" name="Google Shape;270;p37"/>
          <p:cNvSpPr txBox="1"/>
          <p:nvPr>
            <p:ph idx="3" type="body"/>
          </p:nvPr>
        </p:nvSpPr>
        <p:spPr>
          <a:xfrm>
            <a:off x="315425" y="40896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b="1" i="1" lang="en">
                <a:solidFill>
                  <a:srgbClr val="FF0000"/>
                </a:solidFill>
              </a:rPr>
              <a:t>Executors </a:t>
            </a:r>
            <a:r>
              <a:rPr lang="en"/>
              <a:t>and the </a:t>
            </a:r>
            <a:r>
              <a:rPr b="1" i="1" lang="en">
                <a:solidFill>
                  <a:srgbClr val="FF0000"/>
                </a:solidFill>
              </a:rPr>
              <a:t>ExecutorService </a:t>
            </a:r>
            <a:r>
              <a:rPr lang="en"/>
              <a:t>are the modern way to run tasks in Java.</a:t>
            </a:r>
            <a:endParaRPr/>
          </a:p>
        </p:txBody>
      </p:sp>
      <p:sp>
        <p:nvSpPr>
          <p:cNvPr id="271" name="Google Shape;271;p37"/>
          <p:cNvSpPr txBox="1"/>
          <p:nvPr>
            <p:ph type="title"/>
          </p:nvPr>
        </p:nvSpPr>
        <p:spPr>
          <a:xfrm>
            <a:off x="311725" y="194425"/>
            <a:ext cx="37065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Review: ExecutorService</a:t>
            </a:r>
            <a:endParaRPr/>
          </a:p>
        </p:txBody>
      </p:sp>
      <p:sp>
        <p:nvSpPr>
          <p:cNvPr id="272" name="Google Shape;272;p37"/>
          <p:cNvSpPr txBox="1"/>
          <p:nvPr>
            <p:ph idx="2" type="body"/>
          </p:nvPr>
        </p:nvSpPr>
        <p:spPr>
          <a:xfrm>
            <a:off x="315425" y="1286175"/>
            <a:ext cx="3706500" cy="25044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1</a:t>
            </a:r>
            <a:r>
              <a:rPr lang="en" sz="1250">
                <a:solidFill>
                  <a:srgbClr val="267F99"/>
                </a:solidFill>
                <a:highlight>
                  <a:srgbClr val="FFFFFF"/>
                </a:highlight>
                <a:latin typeface="Consolas"/>
                <a:ea typeface="Consolas"/>
                <a:cs typeface="Consolas"/>
                <a:sym typeface="Consolas"/>
              </a:rPr>
              <a:t>  ExecutorService</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2</a:t>
            </a:r>
            <a:r>
              <a:rPr lang="en" sz="1250">
                <a:solidFill>
                  <a:srgbClr val="267F99"/>
                </a:solidFill>
                <a:highlight>
                  <a:srgbClr val="FFFFFF"/>
                </a:highlight>
                <a:latin typeface="Consolas"/>
                <a:ea typeface="Consolas"/>
                <a:cs typeface="Consolas"/>
                <a:sym typeface="Consolas"/>
              </a:rPr>
              <a:t>      Executors</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newCachedThreadPool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3</a:t>
            </a:r>
            <a:r>
              <a:rPr lang="en" sz="1250">
                <a:solidFill>
                  <a:srgbClr val="AF00DB"/>
                </a:solidFill>
                <a:highlight>
                  <a:srgbClr val="FFFFFF"/>
                </a:highlight>
                <a:latin typeface="Consolas"/>
                <a:ea typeface="Consolas"/>
                <a:cs typeface="Consolas"/>
                <a:sym typeface="Consolas"/>
              </a:rPr>
              <a:t>  for</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int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&lt;=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10</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4</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String</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A31515"/>
                </a:solidFill>
                <a:highlight>
                  <a:srgbClr val="FFFFFF"/>
                </a:highlight>
                <a:latin typeface="Consolas"/>
                <a:ea typeface="Consolas"/>
                <a:cs typeface="Consolas"/>
                <a:sym typeface="Consolas"/>
              </a:rPr>
              <a:t>"Task "</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submit</a:t>
            </a:r>
            <a:r>
              <a:rPr lang="en" sz="1250">
                <a:solidFill>
                  <a:srgbClr val="3B3B3B"/>
                </a:solidFill>
                <a:highlight>
                  <a:srgbClr val="FFFFFF"/>
                </a:highlight>
                <a:latin typeface="Consolas"/>
                <a:ea typeface="Consolas"/>
                <a:cs typeface="Consolas"/>
                <a:sym typeface="Consolas"/>
              </a:rPr>
              <a:t>(()</a:t>
            </a:r>
            <a:r>
              <a:rPr lang="en" sz="1250">
                <a:solidFill>
                  <a:srgbClr val="0000FF"/>
                </a:solidFill>
                <a:highlight>
                  <a:srgbClr val="FFFFFF"/>
                </a:highlight>
                <a:latin typeface="Consolas"/>
                <a:ea typeface="Consolas"/>
                <a:cs typeface="Consolas"/>
                <a:sym typeface="Consolas"/>
              </a:rPr>
              <a:t>-&gt;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6</a:t>
            </a:r>
            <a:r>
              <a:rPr lang="en" sz="1250">
                <a:solidFill>
                  <a:srgbClr val="267F99"/>
                </a:solidFill>
                <a:highlight>
                  <a:srgbClr val="FFFFFF"/>
                </a:highlight>
                <a:latin typeface="Consolas"/>
                <a:ea typeface="Consolas"/>
                <a:cs typeface="Consolas"/>
                <a:sym typeface="Consolas"/>
              </a:rPr>
              <a:t>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7</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8</a:t>
            </a:r>
            <a:r>
              <a:rPr lang="en" sz="1250">
                <a:solidFill>
                  <a:srgbClr val="001080"/>
                </a:solidFill>
                <a:highlight>
                  <a:srgbClr val="FFFFFF"/>
                </a:highlight>
                <a:latin typeface="Consolas"/>
                <a:ea typeface="Consolas"/>
                <a:cs typeface="Consolas"/>
                <a:sym typeface="Consolas"/>
              </a:rPr>
              <a:t>  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shutdown</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12" type="sldNum"/>
          </p:nvPr>
        </p:nvSpPr>
        <p:spPr>
          <a:xfrm>
            <a:off x="1951" y="4745575"/>
            <a:ext cx="3120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8" name="Google Shape;278;p38"/>
          <p:cNvSpPr txBox="1"/>
          <p:nvPr>
            <p:ph type="title"/>
          </p:nvPr>
        </p:nvSpPr>
        <p:spPr>
          <a:xfrm>
            <a:off x="5192225" y="0"/>
            <a:ext cx="3706500" cy="83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Review: Sleep &amp; </a:t>
            </a:r>
            <a:r>
              <a:rPr lang="en" sz="2700"/>
              <a:t>AwaitTermination</a:t>
            </a:r>
            <a:endParaRPr sz="2700"/>
          </a:p>
        </p:txBody>
      </p:sp>
      <p:sp>
        <p:nvSpPr>
          <p:cNvPr id="279" name="Google Shape;279;p38"/>
          <p:cNvSpPr txBox="1"/>
          <p:nvPr>
            <p:ph idx="1" type="body"/>
          </p:nvPr>
        </p:nvSpPr>
        <p:spPr>
          <a:xfrm>
            <a:off x="34600" y="157775"/>
            <a:ext cx="4682400" cy="4715100"/>
          </a:xfrm>
          <a:prstGeom prst="rect">
            <a:avLst/>
          </a:prstGeom>
        </p:spPr>
        <p:txBody>
          <a:bodyPr anchorCtr="0" anchor="ctr"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It is sometimes necessary for a thread to </a:t>
            </a:r>
            <a:r>
              <a:rPr b="1" i="1" lang="en" sz="1200">
                <a:solidFill>
                  <a:srgbClr val="FF0000"/>
                </a:solidFill>
              </a:rPr>
              <a:t>wait</a:t>
            </a:r>
            <a:r>
              <a:rPr lang="en" sz="1200">
                <a:solidFill>
                  <a:srgbClr val="FF0000"/>
                </a:solidFill>
              </a:rPr>
              <a:t> </a:t>
            </a:r>
            <a:r>
              <a:rPr lang="en" sz="1200"/>
              <a:t>for some </a:t>
            </a:r>
            <a:r>
              <a:rPr b="1" i="1" lang="en" sz="1200">
                <a:solidFill>
                  <a:srgbClr val="FF0000"/>
                </a:solidFill>
              </a:rPr>
              <a:t>important event</a:t>
            </a:r>
            <a:r>
              <a:rPr lang="en" sz="1200"/>
              <a:t> to occur before it continues doing its work.</a:t>
            </a:r>
            <a:endParaRPr sz="1200"/>
          </a:p>
          <a:p>
            <a:pPr indent="-304800" lvl="0" marL="457200" rtl="0" algn="l">
              <a:lnSpc>
                <a:spcPct val="100000"/>
              </a:lnSpc>
              <a:spcBef>
                <a:spcPts val="1000"/>
              </a:spcBef>
              <a:spcAft>
                <a:spcPts val="0"/>
              </a:spcAft>
              <a:buSzPts val="1200"/>
              <a:buChar char="●"/>
            </a:pPr>
            <a:r>
              <a:rPr lang="en" sz="1200"/>
              <a:t>A thread may </a:t>
            </a:r>
            <a:r>
              <a:rPr b="1" i="1" lang="en" sz="1200">
                <a:solidFill>
                  <a:srgbClr val="FF0000"/>
                </a:solidFill>
              </a:rPr>
              <a:t>temporarily pause</a:t>
            </a:r>
            <a:r>
              <a:rPr lang="en" sz="1200"/>
              <a:t> its own execution by calling the </a:t>
            </a:r>
            <a:r>
              <a:rPr lang="en" sz="1200">
                <a:solidFill>
                  <a:srgbClr val="FF0000"/>
                </a:solidFill>
                <a:latin typeface="Courier New"/>
                <a:ea typeface="Courier New"/>
                <a:cs typeface="Courier New"/>
                <a:sym typeface="Courier New"/>
              </a:rPr>
              <a:t>Thread.sleep(ms)</a:t>
            </a:r>
            <a:r>
              <a:rPr lang="en" sz="1200"/>
              <a:t> method.</a:t>
            </a:r>
            <a:endParaRPr sz="1200"/>
          </a:p>
          <a:p>
            <a:pPr indent="-298450" lvl="1" marL="914400" rtl="0" algn="l">
              <a:lnSpc>
                <a:spcPct val="100000"/>
              </a:lnSpc>
              <a:spcBef>
                <a:spcPts val="0"/>
              </a:spcBef>
              <a:spcAft>
                <a:spcPts val="0"/>
              </a:spcAft>
              <a:buSzPts val="1100"/>
              <a:buChar char="○"/>
            </a:pPr>
            <a:r>
              <a:rPr lang="en"/>
              <a:t>This is a </a:t>
            </a:r>
            <a:r>
              <a:rPr b="1" i="1" lang="en">
                <a:solidFill>
                  <a:srgbClr val="FF0000"/>
                </a:solidFill>
              </a:rPr>
              <a:t>static</a:t>
            </a:r>
            <a:r>
              <a:rPr b="1" i="1" lang="en"/>
              <a:t> </a:t>
            </a:r>
            <a:r>
              <a:rPr lang="en"/>
              <a:t>method on the </a:t>
            </a:r>
            <a:r>
              <a:rPr lang="en">
                <a:solidFill>
                  <a:srgbClr val="FF0000"/>
                </a:solidFill>
                <a:latin typeface="Courier New"/>
                <a:ea typeface="Courier New"/>
                <a:cs typeface="Courier New"/>
                <a:sym typeface="Courier New"/>
              </a:rPr>
              <a:t>Thread</a:t>
            </a:r>
            <a:r>
              <a:rPr lang="en">
                <a:solidFill>
                  <a:srgbClr val="FF0000"/>
                </a:solidFill>
              </a:rPr>
              <a:t> </a:t>
            </a:r>
            <a:r>
              <a:rPr lang="en"/>
              <a:t>class.</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calling</a:t>
            </a:r>
            <a:r>
              <a:rPr lang="en">
                <a:solidFill>
                  <a:srgbClr val="FF0000"/>
                </a:solidFill>
              </a:rPr>
              <a:t> </a:t>
            </a:r>
            <a:r>
              <a:rPr lang="en"/>
              <a:t>Thread suspends</a:t>
            </a:r>
            <a:r>
              <a:rPr lang="en">
                <a:solidFill>
                  <a:srgbClr val="FF0000"/>
                </a:solidFill>
              </a:rPr>
              <a:t> </a:t>
            </a:r>
            <a:r>
              <a:rPr b="1" i="1" lang="en">
                <a:solidFill>
                  <a:srgbClr val="FF0000"/>
                </a:solidFill>
              </a:rPr>
              <a:t>its own</a:t>
            </a:r>
            <a:r>
              <a:rPr lang="en"/>
              <a:t> execution for the specified duration in milliseconds.</a:t>
            </a:r>
            <a:endParaRPr/>
          </a:p>
          <a:p>
            <a:pPr indent="-298450" lvl="1" marL="914400" rtl="0" algn="l">
              <a:lnSpc>
                <a:spcPct val="100000"/>
              </a:lnSpc>
              <a:spcBef>
                <a:spcPts val="0"/>
              </a:spcBef>
              <a:spcAft>
                <a:spcPts val="0"/>
              </a:spcAft>
              <a:buSzPts val="1100"/>
              <a:buChar char="○"/>
            </a:pPr>
            <a:r>
              <a:rPr lang="en"/>
              <a:t>One thread</a:t>
            </a:r>
            <a:r>
              <a:rPr lang="en">
                <a:solidFill>
                  <a:srgbClr val="FF0000"/>
                </a:solidFill>
              </a:rPr>
              <a:t> </a:t>
            </a:r>
            <a:r>
              <a:rPr b="1" i="1" lang="en">
                <a:solidFill>
                  <a:srgbClr val="FF0000"/>
                </a:solidFill>
              </a:rPr>
              <a:t>may not</a:t>
            </a:r>
            <a:r>
              <a:rPr lang="en">
                <a:solidFill>
                  <a:srgbClr val="FF0000"/>
                </a:solidFill>
              </a:rPr>
              <a:t> </a:t>
            </a:r>
            <a:r>
              <a:rPr lang="en"/>
              <a:t>tell another thread to go to sleep.</a:t>
            </a:r>
            <a:endParaRPr/>
          </a:p>
          <a:p>
            <a:pPr indent="-304800" lvl="0" marL="457200" rtl="0" algn="l">
              <a:lnSpc>
                <a:spcPct val="100000"/>
              </a:lnSpc>
              <a:spcBef>
                <a:spcPts val="1000"/>
              </a:spcBef>
              <a:spcAft>
                <a:spcPts val="0"/>
              </a:spcAft>
              <a:buSzPts val="1200"/>
              <a:buChar char="●"/>
            </a:pPr>
            <a:r>
              <a:rPr lang="en" sz="1200"/>
              <a:t>When a thread's </a:t>
            </a:r>
            <a:r>
              <a:rPr lang="en" sz="1200">
                <a:latin typeface="Courier New"/>
                <a:ea typeface="Courier New"/>
                <a:cs typeface="Courier New"/>
                <a:sym typeface="Courier New"/>
              </a:rPr>
              <a:t>run()</a:t>
            </a:r>
            <a:r>
              <a:rPr lang="en" sz="1200"/>
              <a:t> method </a:t>
            </a:r>
            <a:r>
              <a:rPr b="1" i="1" lang="en" sz="1200">
                <a:solidFill>
                  <a:srgbClr val="FF0000"/>
                </a:solidFill>
              </a:rPr>
              <a:t>completes</a:t>
            </a:r>
            <a:r>
              <a:rPr lang="en" sz="1200"/>
              <a:t>, the thread </a:t>
            </a:r>
            <a:r>
              <a:rPr b="1" i="1" lang="en" sz="1200">
                <a:solidFill>
                  <a:srgbClr val="FF0000"/>
                </a:solidFill>
              </a:rPr>
              <a:t>dies</a:t>
            </a:r>
            <a:r>
              <a:rPr lang="en" sz="1200"/>
              <a:t>.</a:t>
            </a:r>
            <a:endParaRPr sz="1200"/>
          </a:p>
          <a:p>
            <a:pPr indent="-298450" lvl="1" marL="914400" rtl="0" algn="l">
              <a:lnSpc>
                <a:spcPct val="100000"/>
              </a:lnSpc>
              <a:spcBef>
                <a:spcPts val="0"/>
              </a:spcBef>
              <a:spcAft>
                <a:spcPts val="0"/>
              </a:spcAft>
              <a:buSzPts val="1100"/>
              <a:buChar char="○"/>
            </a:pPr>
            <a:r>
              <a:rPr lang="en"/>
              <a:t>A </a:t>
            </a:r>
            <a:r>
              <a:rPr b="1" i="1" lang="en">
                <a:solidFill>
                  <a:srgbClr val="FF0000"/>
                </a:solidFill>
              </a:rPr>
              <a:t>dead</a:t>
            </a:r>
            <a:r>
              <a:rPr lang="en">
                <a:solidFill>
                  <a:srgbClr val="FF0000"/>
                </a:solidFill>
              </a:rPr>
              <a:t> </a:t>
            </a:r>
            <a:r>
              <a:rPr lang="en"/>
              <a:t>thread cannot be restarted.</a:t>
            </a:r>
            <a:endParaRPr/>
          </a:p>
          <a:p>
            <a:pPr indent="-304800" lvl="0" marL="457200" rtl="0" algn="l">
              <a:lnSpc>
                <a:spcPct val="100000"/>
              </a:lnSpc>
              <a:spcBef>
                <a:spcPts val="1000"/>
              </a:spcBef>
              <a:spcAft>
                <a:spcPts val="0"/>
              </a:spcAft>
              <a:buSzPts val="1200"/>
              <a:buChar char="●"/>
            </a:pPr>
            <a:r>
              <a:rPr lang="en" sz="1200"/>
              <a:t>One thread may pause its own execution until the executor service finishes.</a:t>
            </a:r>
            <a:endParaRPr sz="1200"/>
          </a:p>
          <a:p>
            <a:pPr indent="-298450" lvl="1" marL="914400" rtl="0" algn="l">
              <a:lnSpc>
                <a:spcPct val="100000"/>
              </a:lnSpc>
              <a:spcBef>
                <a:spcPts val="0"/>
              </a:spcBef>
              <a:spcAft>
                <a:spcPts val="0"/>
              </a:spcAft>
              <a:buSzPts val="1100"/>
              <a:buChar char="○"/>
            </a:pPr>
            <a:r>
              <a:rPr lang="en"/>
              <a:t>A </a:t>
            </a:r>
            <a:r>
              <a:rPr b="1" i="1" lang="en">
                <a:solidFill>
                  <a:srgbClr val="FF0000"/>
                </a:solidFill>
              </a:rPr>
              <a:t>reference</a:t>
            </a:r>
            <a:r>
              <a:rPr lang="en">
                <a:solidFill>
                  <a:srgbClr val="FF0000"/>
                </a:solidFill>
              </a:rPr>
              <a:t> </a:t>
            </a:r>
            <a:r>
              <a:rPr lang="en"/>
              <a:t>to the service is needed so that the </a:t>
            </a:r>
            <a:r>
              <a:rPr lang="en">
                <a:solidFill>
                  <a:srgbClr val="FF0000"/>
                </a:solidFill>
                <a:latin typeface="Courier New"/>
                <a:ea typeface="Courier New"/>
                <a:cs typeface="Courier New"/>
                <a:sym typeface="Courier New"/>
              </a:rPr>
              <a:t>awaitTermination</a:t>
            </a:r>
            <a:r>
              <a:rPr lang="en">
                <a:solidFill>
                  <a:srgbClr val="FF0000"/>
                </a:solidFill>
                <a:latin typeface="Courier New"/>
                <a:ea typeface="Courier New"/>
                <a:cs typeface="Courier New"/>
                <a:sym typeface="Courier New"/>
              </a:rPr>
              <a:t>()</a:t>
            </a:r>
            <a:r>
              <a:rPr lang="en"/>
              <a:t> method can be called on the </a:t>
            </a:r>
            <a:r>
              <a:rPr lang="en"/>
              <a:t>other service</a:t>
            </a:r>
            <a:r>
              <a:rPr lang="en"/>
              <a:t>, e.g. </a:t>
            </a:r>
            <a:r>
              <a:rPr lang="en">
                <a:solidFill>
                  <a:srgbClr val="FF0000"/>
                </a:solidFill>
                <a:latin typeface="Courier New"/>
                <a:ea typeface="Courier New"/>
                <a:cs typeface="Courier New"/>
                <a:sym typeface="Courier New"/>
              </a:rPr>
              <a:t>es.awaitTermination</a:t>
            </a:r>
            <a:r>
              <a:rPr lang="en">
                <a:solidFill>
                  <a:srgbClr val="FF0000"/>
                </a:solidFill>
                <a:latin typeface="Courier New"/>
                <a:ea typeface="Courier New"/>
                <a:cs typeface="Courier New"/>
                <a:sym typeface="Courier New"/>
              </a:rPr>
              <a:t>()</a:t>
            </a:r>
            <a:r>
              <a:rPr lang="en"/>
              <a:t>.</a:t>
            </a:r>
            <a:endParaRPr/>
          </a:p>
          <a:p>
            <a:pPr indent="-298450" lvl="1" marL="914400" rtl="0" algn="l">
              <a:lnSpc>
                <a:spcPct val="100000"/>
              </a:lnSpc>
              <a:spcBef>
                <a:spcPts val="0"/>
              </a:spcBef>
              <a:spcAft>
                <a:spcPts val="0"/>
              </a:spcAft>
              <a:buSzPts val="1100"/>
              <a:buChar char="○"/>
            </a:pPr>
            <a:r>
              <a:rPr lang="en"/>
              <a:t>Execution will pause until the executor service ends.</a:t>
            </a:r>
            <a:endParaRPr/>
          </a:p>
          <a:p>
            <a:pPr indent="-304800" lvl="0" marL="457200" rtl="0" algn="l">
              <a:lnSpc>
                <a:spcPct val="100000"/>
              </a:lnSpc>
              <a:spcBef>
                <a:spcPts val="1000"/>
              </a:spcBef>
              <a:spcAft>
                <a:spcPts val="0"/>
              </a:spcAft>
              <a:buSzPts val="1200"/>
              <a:buChar char="●"/>
            </a:pPr>
            <a:r>
              <a:rPr lang="en" sz="1200"/>
              <a:t>A thread that uses sleep or </a:t>
            </a:r>
            <a:r>
              <a:rPr lang="en" sz="1200"/>
              <a:t>join</a:t>
            </a:r>
            <a:r>
              <a:rPr lang="en" sz="1200"/>
              <a:t> is </a:t>
            </a:r>
            <a:r>
              <a:rPr b="1" i="1" lang="en" sz="1200">
                <a:solidFill>
                  <a:srgbClr val="FF0000"/>
                </a:solidFill>
              </a:rPr>
              <a:t>waiting</a:t>
            </a:r>
            <a:r>
              <a:rPr lang="en" sz="1200">
                <a:solidFill>
                  <a:srgbClr val="FF0000"/>
                </a:solidFill>
              </a:rPr>
              <a:t> </a:t>
            </a:r>
            <a:r>
              <a:rPr lang="en" sz="1200"/>
              <a:t>until:</a:t>
            </a:r>
            <a:endParaRPr sz="1200"/>
          </a:p>
          <a:p>
            <a:pPr indent="-298450" lvl="1" marL="914400" rtl="0" algn="l">
              <a:lnSpc>
                <a:spcPct val="100000"/>
              </a:lnSpc>
              <a:spcBef>
                <a:spcPts val="0"/>
              </a:spcBef>
              <a:spcAft>
                <a:spcPts val="0"/>
              </a:spcAft>
              <a:buSzPts val="1100"/>
              <a:buChar char="○"/>
            </a:pPr>
            <a:r>
              <a:rPr lang="en"/>
              <a:t>The </a:t>
            </a:r>
            <a:r>
              <a:rPr b="1" i="1" lang="en">
                <a:solidFill>
                  <a:srgbClr val="FF0000"/>
                </a:solidFill>
              </a:rPr>
              <a:t>event</a:t>
            </a:r>
            <a:r>
              <a:rPr lang="en">
                <a:solidFill>
                  <a:srgbClr val="FF0000"/>
                </a:solidFill>
              </a:rPr>
              <a:t> </a:t>
            </a:r>
            <a:r>
              <a:rPr lang="en"/>
              <a:t>that it is waiting for occurs, e.g. the sleep time elapses or the </a:t>
            </a:r>
            <a:r>
              <a:rPr lang="en"/>
              <a:t>other thread dies</a:t>
            </a:r>
            <a:r>
              <a:rPr lang="en"/>
              <a:t>.</a:t>
            </a:r>
            <a:endParaRPr/>
          </a:p>
          <a:p>
            <a:pPr indent="-298450" lvl="1" marL="914400" rtl="0" algn="l">
              <a:lnSpc>
                <a:spcPct val="100000"/>
              </a:lnSpc>
              <a:spcBef>
                <a:spcPts val="0"/>
              </a:spcBef>
              <a:spcAft>
                <a:spcPts val="0"/>
              </a:spcAft>
              <a:buSzPts val="1100"/>
              <a:buChar char="○"/>
            </a:pPr>
            <a:r>
              <a:rPr lang="en"/>
              <a:t>It is </a:t>
            </a:r>
            <a:r>
              <a:rPr b="1" i="1" lang="en">
                <a:solidFill>
                  <a:srgbClr val="FF0000"/>
                </a:solidFill>
              </a:rPr>
              <a:t>interrupted</a:t>
            </a:r>
            <a:r>
              <a:rPr lang="en"/>
              <a:t>, e.g. some other thread calls the </a:t>
            </a:r>
            <a:r>
              <a:rPr lang="en">
                <a:solidFill>
                  <a:srgbClr val="FF0000"/>
                </a:solidFill>
                <a:latin typeface="Courier New"/>
                <a:ea typeface="Courier New"/>
                <a:cs typeface="Courier New"/>
                <a:sym typeface="Courier New"/>
              </a:rPr>
              <a:t>aThread.interrupt()</a:t>
            </a:r>
            <a:r>
              <a:rPr lang="en"/>
              <a:t> method on the waiting thread.</a:t>
            </a:r>
            <a:endParaRPr/>
          </a:p>
          <a:p>
            <a:pPr indent="-298450" lvl="1" marL="914400" rtl="0" algn="l">
              <a:lnSpc>
                <a:spcPct val="100000"/>
              </a:lnSpc>
              <a:spcBef>
                <a:spcPts val="0"/>
              </a:spcBef>
              <a:spcAft>
                <a:spcPts val="0"/>
              </a:spcAft>
              <a:buSzPts val="1100"/>
              <a:buChar char="○"/>
            </a:pPr>
            <a:r>
              <a:rPr lang="en"/>
              <a:t>If a thread is interrupted, a </a:t>
            </a:r>
            <a:r>
              <a:rPr b="1" i="1" lang="en">
                <a:solidFill>
                  <a:srgbClr val="FF0000"/>
                </a:solidFill>
              </a:rPr>
              <a:t>checked </a:t>
            </a:r>
            <a:r>
              <a:rPr lang="en"/>
              <a:t>exception is thrown and must be handled: </a:t>
            </a:r>
            <a:r>
              <a:rPr lang="en">
                <a:solidFill>
                  <a:srgbClr val="FF0000"/>
                </a:solidFill>
                <a:latin typeface="Courier New"/>
                <a:ea typeface="Courier New"/>
                <a:cs typeface="Courier New"/>
                <a:sym typeface="Courier New"/>
              </a:rPr>
              <a:t>InterruptedException</a:t>
            </a:r>
            <a:r>
              <a:rPr lang="en"/>
              <a:t>.</a:t>
            </a:r>
            <a:endParaRPr>
              <a:solidFill>
                <a:srgbClr val="FF0000"/>
              </a:solidFill>
            </a:endParaRPr>
          </a:p>
        </p:txBody>
      </p:sp>
      <p:sp>
        <p:nvSpPr>
          <p:cNvPr id="280" name="Google Shape;280;p38"/>
          <p:cNvSpPr txBox="1"/>
          <p:nvPr>
            <p:ph idx="3" type="body"/>
          </p:nvPr>
        </p:nvSpPr>
        <p:spPr>
          <a:xfrm>
            <a:off x="5192225" y="4089650"/>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a:t>
            </a:r>
            <a:r>
              <a:rPr b="1" i="1" lang="en">
                <a:solidFill>
                  <a:srgbClr val="FF0000"/>
                </a:solidFill>
              </a:rPr>
              <a:t>thread</a:t>
            </a:r>
            <a:r>
              <a:rPr lang="en">
                <a:solidFill>
                  <a:srgbClr val="FF0000"/>
                </a:solidFill>
              </a:rPr>
              <a:t> </a:t>
            </a:r>
            <a:r>
              <a:rPr lang="en"/>
              <a:t>may exist in </a:t>
            </a:r>
            <a:r>
              <a:rPr b="1" i="1" lang="en">
                <a:solidFill>
                  <a:srgbClr val="FF0000"/>
                </a:solidFill>
              </a:rPr>
              <a:t>exactly one</a:t>
            </a:r>
            <a:r>
              <a:rPr lang="en"/>
              <a:t> of several possible states at any given time. A thread that calls </a:t>
            </a:r>
            <a:r>
              <a:rPr lang="en">
                <a:latin typeface="Courier New"/>
                <a:ea typeface="Courier New"/>
                <a:cs typeface="Courier New"/>
                <a:sym typeface="Courier New"/>
              </a:rPr>
              <a:t>Thread</a:t>
            </a:r>
            <a:r>
              <a:rPr lang="en">
                <a:latin typeface="Courier New"/>
                <a:ea typeface="Courier New"/>
                <a:cs typeface="Courier New"/>
                <a:sym typeface="Courier New"/>
              </a:rPr>
              <a:t>.sleep()</a:t>
            </a:r>
            <a:r>
              <a:rPr lang="en"/>
              <a:t> or </a:t>
            </a:r>
            <a:r>
              <a:rPr lang="en">
                <a:latin typeface="Courier New"/>
                <a:ea typeface="Courier New"/>
                <a:cs typeface="Courier New"/>
                <a:sym typeface="Courier New"/>
              </a:rPr>
              <a:t>es</a:t>
            </a:r>
            <a:r>
              <a:rPr lang="en">
                <a:latin typeface="Courier New"/>
                <a:ea typeface="Courier New"/>
                <a:cs typeface="Courier New"/>
                <a:sym typeface="Courier New"/>
              </a:rPr>
              <a:t>.awaitTermination()</a:t>
            </a:r>
            <a:r>
              <a:rPr lang="en"/>
              <a:t> is in the </a:t>
            </a:r>
            <a:r>
              <a:rPr b="1" i="1" lang="en">
                <a:solidFill>
                  <a:srgbClr val="FF0000"/>
                </a:solidFill>
              </a:rPr>
              <a:t>waiting</a:t>
            </a:r>
            <a:r>
              <a:rPr lang="en">
                <a:solidFill>
                  <a:srgbClr val="FF0000"/>
                </a:solidFill>
              </a:rPr>
              <a:t> </a:t>
            </a:r>
            <a:r>
              <a:rPr lang="en"/>
              <a:t>state.</a:t>
            </a:r>
            <a:endParaRPr/>
          </a:p>
        </p:txBody>
      </p:sp>
      <p:grpSp>
        <p:nvGrpSpPr>
          <p:cNvPr id="281" name="Google Shape;281;p38"/>
          <p:cNvGrpSpPr/>
          <p:nvPr/>
        </p:nvGrpSpPr>
        <p:grpSpPr>
          <a:xfrm>
            <a:off x="7110814" y="966713"/>
            <a:ext cx="1486500" cy="2952988"/>
            <a:chOff x="6958414" y="1195313"/>
            <a:chExt cx="1486500" cy="2952988"/>
          </a:xfrm>
        </p:grpSpPr>
        <p:sp>
          <p:nvSpPr>
            <p:cNvPr id="282" name="Google Shape;282;p38"/>
            <p:cNvSpPr/>
            <p:nvPr/>
          </p:nvSpPr>
          <p:spPr>
            <a:xfrm>
              <a:off x="6958414" y="1969300"/>
              <a:ext cx="1486500" cy="1411200"/>
            </a:xfrm>
            <a:prstGeom prst="roundRect">
              <a:avLst>
                <a:gd fmla="val 9698"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8"/>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284" name="Google Shape;284;p38"/>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285" name="Google Shape;285;p38"/>
            <p:cNvSpPr/>
            <p:nvPr/>
          </p:nvSpPr>
          <p:spPr>
            <a:xfrm>
              <a:off x="7029750" y="29035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286" name="Google Shape;286;p38"/>
            <p:cNvSpPr/>
            <p:nvPr/>
          </p:nvSpPr>
          <p:spPr>
            <a:xfrm>
              <a:off x="7057607" y="3757700"/>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287" name="Google Shape;287;p38"/>
            <p:cNvCxnSpPr>
              <a:stCxn id="283" idx="2"/>
              <a:endCxn id="284" idx="0"/>
            </p:cNvCxnSpPr>
            <p:nvPr/>
          </p:nvCxnSpPr>
          <p:spPr>
            <a:xfrm>
              <a:off x="7702200" y="1585913"/>
              <a:ext cx="0" cy="463500"/>
            </a:xfrm>
            <a:prstGeom prst="straightConnector1">
              <a:avLst/>
            </a:prstGeom>
            <a:noFill/>
            <a:ln cap="flat" cmpd="sng" w="9525">
              <a:solidFill>
                <a:srgbClr val="FFFFFF"/>
              </a:solidFill>
              <a:prstDash val="solid"/>
              <a:round/>
              <a:headEnd len="med" w="med" type="none"/>
              <a:tailEnd len="med" w="med" type="triangle"/>
            </a:ln>
          </p:spPr>
        </p:cxnSp>
        <p:cxnSp>
          <p:nvCxnSpPr>
            <p:cNvPr id="288" name="Google Shape;288;p38"/>
            <p:cNvCxnSpPr>
              <a:stCxn id="285" idx="2"/>
              <a:endCxn id="286" idx="0"/>
            </p:cNvCxnSpPr>
            <p:nvPr/>
          </p:nvCxnSpPr>
          <p:spPr>
            <a:xfrm>
              <a:off x="7702200" y="3294175"/>
              <a:ext cx="6300" cy="463500"/>
            </a:xfrm>
            <a:prstGeom prst="straightConnector1">
              <a:avLst/>
            </a:prstGeom>
            <a:noFill/>
            <a:ln cap="flat" cmpd="sng" w="9525">
              <a:solidFill>
                <a:srgbClr val="FFFFFF"/>
              </a:solidFill>
              <a:prstDash val="solid"/>
              <a:round/>
              <a:headEnd len="med" w="med" type="none"/>
              <a:tailEnd len="med" w="med" type="triangle"/>
            </a:ln>
          </p:spPr>
        </p:cxnSp>
        <p:cxnSp>
          <p:nvCxnSpPr>
            <p:cNvPr id="289" name="Google Shape;289;p38"/>
            <p:cNvCxnSpPr/>
            <p:nvPr/>
          </p:nvCxnSpPr>
          <p:spPr>
            <a:xfrm>
              <a:off x="7333050" y="2445150"/>
              <a:ext cx="0" cy="470100"/>
            </a:xfrm>
            <a:prstGeom prst="straightConnector1">
              <a:avLst/>
            </a:prstGeom>
            <a:noFill/>
            <a:ln cap="flat" cmpd="sng" w="9525">
              <a:solidFill>
                <a:srgbClr val="FFFFFF"/>
              </a:solidFill>
              <a:prstDash val="solid"/>
              <a:round/>
              <a:headEnd len="med" w="med" type="none"/>
              <a:tailEnd len="med" w="med" type="triangle"/>
            </a:ln>
          </p:spPr>
        </p:cxnSp>
        <p:cxnSp>
          <p:nvCxnSpPr>
            <p:cNvPr id="290" name="Google Shape;290;p38"/>
            <p:cNvCxnSpPr/>
            <p:nvPr/>
          </p:nvCxnSpPr>
          <p:spPr>
            <a:xfrm rot="10800000">
              <a:off x="8094075" y="2445275"/>
              <a:ext cx="0" cy="470100"/>
            </a:xfrm>
            <a:prstGeom prst="straightConnector1">
              <a:avLst/>
            </a:prstGeom>
            <a:noFill/>
            <a:ln cap="flat" cmpd="sng" w="9525">
              <a:solidFill>
                <a:srgbClr val="FFFFFF"/>
              </a:solidFill>
              <a:prstDash val="solid"/>
              <a:round/>
              <a:headEnd len="med" w="med" type="none"/>
              <a:tailEnd len="med" w="med" type="triangle"/>
            </a:ln>
          </p:spPr>
        </p:cxnSp>
      </p:grpSp>
      <p:sp>
        <p:nvSpPr>
          <p:cNvPr id="291" name="Google Shape;291;p38"/>
          <p:cNvSpPr/>
          <p:nvPr/>
        </p:nvSpPr>
        <p:spPr>
          <a:xfrm>
            <a:off x="5347625" y="22843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292" name="Google Shape;292;p38"/>
          <p:cNvCxnSpPr>
            <a:stCxn id="285" idx="1"/>
            <a:endCxn id="291" idx="2"/>
          </p:cNvCxnSpPr>
          <p:nvPr/>
        </p:nvCxnSpPr>
        <p:spPr>
          <a:xfrm rot="10800000">
            <a:off x="6019950" y="2674975"/>
            <a:ext cx="1162200" cy="195300"/>
          </a:xfrm>
          <a:prstGeom prst="curvedConnector2">
            <a:avLst/>
          </a:prstGeom>
          <a:noFill/>
          <a:ln cap="flat" cmpd="sng" w="9525">
            <a:solidFill>
              <a:srgbClr val="FFFFFF"/>
            </a:solidFill>
            <a:prstDash val="solid"/>
            <a:round/>
            <a:headEnd len="med" w="med" type="none"/>
            <a:tailEnd len="med" w="med" type="triangle"/>
          </a:ln>
        </p:spPr>
      </p:cxnSp>
      <p:cxnSp>
        <p:nvCxnSpPr>
          <p:cNvPr id="293" name="Google Shape;293;p38"/>
          <p:cNvCxnSpPr>
            <a:stCxn id="291" idx="0"/>
            <a:endCxn id="284" idx="1"/>
          </p:cNvCxnSpPr>
          <p:nvPr/>
        </p:nvCxnSpPr>
        <p:spPr>
          <a:xfrm rot="-5400000">
            <a:off x="6467075" y="1569175"/>
            <a:ext cx="268200" cy="1162200"/>
          </a:xfrm>
          <a:prstGeom prst="curvedConnector2">
            <a:avLst/>
          </a:prstGeom>
          <a:noFill/>
          <a:ln cap="flat" cmpd="sng" w="9525">
            <a:solidFill>
              <a:srgbClr val="FFFFFF"/>
            </a:solidFill>
            <a:prstDash val="solid"/>
            <a:round/>
            <a:headEnd len="med" w="med" type="none"/>
            <a:tailEnd len="med" w="med" type="triangle"/>
          </a:ln>
        </p:spPr>
      </p:cxnSp>
      <p:sp>
        <p:nvSpPr>
          <p:cNvPr id="294" name="Google Shape;294;p38"/>
          <p:cNvSpPr txBox="1"/>
          <p:nvPr/>
        </p:nvSpPr>
        <p:spPr>
          <a:xfrm>
            <a:off x="5192225" y="2853125"/>
            <a:ext cx="1894200" cy="72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Consolas"/>
                <a:ea typeface="Consolas"/>
                <a:cs typeface="Consolas"/>
                <a:sym typeface="Consolas"/>
              </a:rPr>
              <a:t>Thread.sleep()</a:t>
            </a:r>
            <a:endParaRPr sz="1100">
              <a:solidFill>
                <a:srgbClr val="FFFFFF"/>
              </a:solidFill>
              <a:latin typeface="Consolas"/>
              <a:ea typeface="Consolas"/>
              <a:cs typeface="Consolas"/>
              <a:sym typeface="Consolas"/>
            </a:endParaRPr>
          </a:p>
          <a:p>
            <a:pPr indent="0" lvl="0" marL="0" rtl="0" algn="ctr">
              <a:spcBef>
                <a:spcPts val="0"/>
              </a:spcBef>
              <a:spcAft>
                <a:spcPts val="0"/>
              </a:spcAft>
              <a:buNone/>
            </a:pPr>
            <a:r>
              <a:rPr i="1" lang="en" sz="1100">
                <a:solidFill>
                  <a:srgbClr val="FFFFFF"/>
                </a:solidFill>
                <a:latin typeface="Consolas"/>
                <a:ea typeface="Consolas"/>
                <a:cs typeface="Consolas"/>
                <a:sym typeface="Consolas"/>
              </a:rPr>
              <a:t>or</a:t>
            </a:r>
            <a:endParaRPr sz="1100">
              <a:solidFill>
                <a:srgbClr val="FFFFFF"/>
              </a:solidFill>
              <a:latin typeface="Consolas"/>
              <a:ea typeface="Consolas"/>
              <a:cs typeface="Consolas"/>
              <a:sym typeface="Consolas"/>
            </a:endParaRPr>
          </a:p>
          <a:p>
            <a:pPr indent="0" lvl="0" marL="0" rtl="0" algn="ctr">
              <a:spcBef>
                <a:spcPts val="0"/>
              </a:spcBef>
              <a:spcAft>
                <a:spcPts val="0"/>
              </a:spcAft>
              <a:buNone/>
            </a:pPr>
            <a:r>
              <a:rPr lang="en" sz="1100">
                <a:solidFill>
                  <a:srgbClr val="FFFFFF"/>
                </a:solidFill>
                <a:latin typeface="Consolas"/>
                <a:ea typeface="Consolas"/>
                <a:cs typeface="Consolas"/>
                <a:sym typeface="Consolas"/>
              </a:rPr>
              <a:t>es.awaitTermination()</a:t>
            </a:r>
            <a:endParaRPr sz="1100">
              <a:solidFill>
                <a:srgbClr val="FFFFFF"/>
              </a:solidFill>
              <a:latin typeface="Consolas"/>
              <a:ea typeface="Consolas"/>
              <a:cs typeface="Consolas"/>
              <a:sym typeface="Consolas"/>
            </a:endParaRPr>
          </a:p>
        </p:txBody>
      </p:sp>
      <p:sp>
        <p:nvSpPr>
          <p:cNvPr id="295" name="Google Shape;295;p38"/>
          <p:cNvSpPr txBox="1"/>
          <p:nvPr/>
        </p:nvSpPr>
        <p:spPr>
          <a:xfrm>
            <a:off x="5905921" y="1464308"/>
            <a:ext cx="1073100" cy="5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event occurs</a:t>
            </a:r>
            <a:endParaRPr sz="1100">
              <a:solidFill>
                <a:srgbClr val="FFFFFF"/>
              </a:solidFill>
            </a:endParaRPr>
          </a:p>
          <a:p>
            <a:pPr indent="0" lvl="0" marL="0" rtl="0" algn="ctr">
              <a:spcBef>
                <a:spcPts val="0"/>
              </a:spcBef>
              <a:spcAft>
                <a:spcPts val="0"/>
              </a:spcAft>
              <a:buNone/>
            </a:pPr>
            <a:r>
              <a:rPr i="1" lang="en" sz="1100">
                <a:solidFill>
                  <a:srgbClr val="FFFFFF"/>
                </a:solidFill>
              </a:rPr>
              <a:t>or</a:t>
            </a:r>
            <a:endParaRPr sz="1100">
              <a:solidFill>
                <a:srgbClr val="FFFFFF"/>
              </a:solidFill>
            </a:endParaRPr>
          </a:p>
          <a:p>
            <a:pPr indent="0" lvl="0" marL="0" rtl="0" algn="ctr">
              <a:spcBef>
                <a:spcPts val="0"/>
              </a:spcBef>
              <a:spcAft>
                <a:spcPts val="0"/>
              </a:spcAft>
              <a:buNone/>
            </a:pPr>
            <a:r>
              <a:rPr lang="en" sz="1100">
                <a:solidFill>
                  <a:srgbClr val="FFFFFF"/>
                </a:solidFill>
              </a:rPr>
              <a:t>interruption</a:t>
            </a:r>
            <a:endParaRPr sz="11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Counting Thread</a:t>
            </a:r>
            <a:endParaRPr/>
          </a:p>
        </p:txBody>
      </p:sp>
      <p:sp>
        <p:nvSpPr>
          <p:cNvPr id="301" name="Google Shape;301;p3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practice a bit more by using Threads to count up to some number by incrementing the value of an integer. This will help set us up for the next activity, too!</a:t>
            </a:r>
            <a:endParaRPr/>
          </a:p>
        </p:txBody>
      </p:sp>
      <p:sp>
        <p:nvSpPr>
          <p:cNvPr id="302" name="Google Shape;302;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39"/>
          <p:cNvSpPr txBox="1"/>
          <p:nvPr>
            <p:ph idx="2" type="body"/>
          </p:nvPr>
        </p:nvSpPr>
        <p:spPr>
          <a:xfrm>
            <a:off x="2261625" y="1445925"/>
            <a:ext cx="6504900" cy="3216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TheCount</a:t>
            </a:r>
            <a:r>
              <a:rPr lang="en"/>
              <a:t>" and use your preferred method to make it usable in a </a:t>
            </a:r>
            <a:r>
              <a:rPr b="1" i="1" lang="en">
                <a:solidFill>
                  <a:srgbClr val="FF0000"/>
                </a:solidFill>
              </a:rPr>
              <a:t>thread</a:t>
            </a:r>
            <a:r>
              <a:rPr lang="en"/>
              <a:t>.</a:t>
            </a:r>
            <a:endParaRPr/>
          </a:p>
          <a:p>
            <a:pPr indent="-298450" lvl="1" marL="914400" rtl="0" algn="l">
              <a:spcBef>
                <a:spcPts val="0"/>
              </a:spcBef>
              <a:spcAft>
                <a:spcPts val="0"/>
              </a:spcAft>
              <a:buSzPts val="1100"/>
              <a:buChar char="○"/>
            </a:pPr>
            <a:r>
              <a:rPr lang="en"/>
              <a:t>Define a </a:t>
            </a:r>
            <a:r>
              <a:rPr lang="en">
                <a:latin typeface="Courier New"/>
                <a:ea typeface="Courier New"/>
                <a:cs typeface="Courier New"/>
                <a:sym typeface="Courier New"/>
              </a:rPr>
              <a:t>static</a:t>
            </a:r>
            <a:r>
              <a:rPr lang="en"/>
              <a:t> </a:t>
            </a:r>
            <a:r>
              <a:rPr lang="en">
                <a:latin typeface="Courier New"/>
                <a:ea typeface="Courier New"/>
                <a:cs typeface="Courier New"/>
                <a:sym typeface="Courier New"/>
              </a:rPr>
              <a:t>int</a:t>
            </a:r>
            <a:r>
              <a:rPr lang="en"/>
              <a:t> named "</a:t>
            </a:r>
            <a:r>
              <a:rPr lang="en">
                <a:solidFill>
                  <a:srgbClr val="FF0000"/>
                </a:solidFill>
                <a:latin typeface="Courier New"/>
                <a:ea typeface="Courier New"/>
                <a:cs typeface="Courier New"/>
                <a:sym typeface="Courier New"/>
              </a:rPr>
              <a:t>COUNT</a:t>
            </a:r>
            <a:r>
              <a:rPr lang="en"/>
              <a:t>" that is initialized to hold </a:t>
            </a:r>
            <a:r>
              <a:rPr b="1" i="1" lang="en">
                <a:solidFill>
                  <a:srgbClr val="FF0000"/>
                </a:solidFill>
              </a:rPr>
              <a:t>one</a:t>
            </a:r>
            <a:r>
              <a:rPr lang="en">
                <a:solidFill>
                  <a:srgbClr val="FF0000"/>
                </a:solidFill>
              </a:rPr>
              <a:t> </a:t>
            </a:r>
            <a:r>
              <a:rPr lang="en"/>
              <a:t>value</a:t>
            </a:r>
            <a:r>
              <a:rPr lang="en"/>
              <a:t>.</a:t>
            </a:r>
            <a:endParaRPr/>
          </a:p>
          <a:p>
            <a:pPr indent="-298450" lvl="1" marL="914400" rtl="0" algn="l">
              <a:spcBef>
                <a:spcPts val="0"/>
              </a:spcBef>
              <a:spcAft>
                <a:spcPts val="0"/>
              </a:spcAft>
              <a:buSzPts val="1100"/>
              <a:buChar char="○"/>
            </a:pPr>
            <a:r>
              <a:rPr lang="en"/>
              <a:t>Add a field for </a:t>
            </a:r>
            <a:r>
              <a:rPr lang="en"/>
              <a:t>an </a:t>
            </a:r>
            <a:r>
              <a:rPr lang="en"/>
              <a:t>integer </a:t>
            </a:r>
            <a:r>
              <a:rPr lang="en">
                <a:solidFill>
                  <a:srgbClr val="FF0000"/>
                </a:solidFill>
                <a:latin typeface="Courier New"/>
                <a:ea typeface="Courier New"/>
                <a:cs typeface="Courier New"/>
                <a:sym typeface="Courier New"/>
              </a:rPr>
              <a:t>id</a:t>
            </a:r>
            <a:r>
              <a:rPr lang="en"/>
              <a:t> and an </a:t>
            </a:r>
            <a:r>
              <a:rPr b="1" i="1" lang="en">
                <a:solidFill>
                  <a:srgbClr val="FF0000"/>
                </a:solidFill>
              </a:rPr>
              <a:t>initializing constructor</a:t>
            </a:r>
            <a:r>
              <a:rPr lang="en"/>
              <a:t>.</a:t>
            </a:r>
            <a:endParaRPr/>
          </a:p>
          <a:p>
            <a:pPr indent="-298450" lvl="1" marL="914400" rtl="0" algn="l">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t> method should:</a:t>
            </a:r>
            <a:endParaRPr/>
          </a:p>
          <a:p>
            <a:pPr indent="-298450" lvl="2" marL="1371600" rtl="0" algn="l">
              <a:spcBef>
                <a:spcPts val="0"/>
              </a:spcBef>
              <a:spcAft>
                <a:spcPts val="0"/>
              </a:spcAft>
              <a:buSzPts val="1100"/>
              <a:buChar char="■"/>
            </a:pPr>
            <a:r>
              <a:rPr b="1" i="1" lang="en">
                <a:solidFill>
                  <a:srgbClr val="FF0000"/>
                </a:solidFill>
              </a:rPr>
              <a:t>Print</a:t>
            </a:r>
            <a:r>
              <a:rPr lang="en">
                <a:solidFill>
                  <a:srgbClr val="FF0000"/>
                </a:solidFill>
              </a:rPr>
              <a:t> </a:t>
            </a:r>
            <a:r>
              <a:rPr lang="en"/>
              <a:t>a message with the thread's ID indicating that it is starting.</a:t>
            </a:r>
            <a:endParaRPr/>
          </a:p>
          <a:p>
            <a:pPr indent="-298450" lvl="2" marL="1371600" rtl="0" algn="l">
              <a:spcBef>
                <a:spcPts val="0"/>
              </a:spcBef>
              <a:spcAft>
                <a:spcPts val="0"/>
              </a:spcAft>
              <a:buSzPts val="1100"/>
              <a:buChar char="■"/>
            </a:pPr>
            <a:r>
              <a:rPr lang="en"/>
              <a:t>Use a </a:t>
            </a:r>
            <a:r>
              <a:rPr lang="en">
                <a:latin typeface="Courier New"/>
                <a:ea typeface="Courier New"/>
                <a:cs typeface="Courier New"/>
                <a:sym typeface="Courier New"/>
              </a:rPr>
              <a:t>for</a:t>
            </a:r>
            <a:r>
              <a:rPr lang="en"/>
              <a:t> loop to </a:t>
            </a:r>
            <a:r>
              <a:rPr b="1" i="1" lang="en">
                <a:solidFill>
                  <a:srgbClr val="FF0000"/>
                </a:solidFill>
              </a:rPr>
              <a:t>add 1</a:t>
            </a:r>
            <a:r>
              <a:rPr b="1" i="1" lang="en"/>
              <a:t> </a:t>
            </a:r>
            <a:r>
              <a:rPr lang="en"/>
              <a:t>to the</a:t>
            </a:r>
            <a:r>
              <a:rPr b="1" i="1" lang="en">
                <a:solidFill>
                  <a:srgbClr val="FF0000"/>
                </a:solidFill>
              </a:rPr>
              <a:t> </a:t>
            </a:r>
            <a:r>
              <a:rPr lang="en">
                <a:solidFill>
                  <a:srgbClr val="FF0000"/>
                </a:solidFill>
                <a:latin typeface="Courier New"/>
                <a:ea typeface="Courier New"/>
                <a:cs typeface="Courier New"/>
                <a:sym typeface="Courier New"/>
              </a:rPr>
              <a:t>COUNT</a:t>
            </a:r>
            <a:r>
              <a:rPr lang="en">
                <a:solidFill>
                  <a:srgbClr val="FF0000"/>
                </a:solidFill>
              </a:rPr>
              <a:t> </a:t>
            </a:r>
            <a:r>
              <a:rPr lang="en"/>
              <a:t>value</a:t>
            </a:r>
            <a:r>
              <a:rPr lang="en"/>
              <a:t> </a:t>
            </a:r>
            <a:r>
              <a:rPr lang="en">
                <a:solidFill>
                  <a:srgbClr val="FF0000"/>
                </a:solidFill>
                <a:latin typeface="Courier New"/>
                <a:ea typeface="Courier New"/>
                <a:cs typeface="Courier New"/>
                <a:sym typeface="Courier New"/>
              </a:rPr>
              <a:t>100,000</a:t>
            </a:r>
            <a:r>
              <a:rPr lang="en"/>
              <a:t> times, e.g. </a:t>
            </a:r>
            <a:r>
              <a:rPr lang="en">
                <a:solidFill>
                  <a:srgbClr val="FF0000"/>
                </a:solidFill>
                <a:latin typeface="Courier New"/>
                <a:ea typeface="Courier New"/>
                <a:cs typeface="Courier New"/>
                <a:sym typeface="Courier New"/>
              </a:rPr>
              <a:t>COUNT = COUNT + 1</a:t>
            </a:r>
            <a:r>
              <a:rPr lang="en">
                <a:solidFill>
                  <a:srgbClr val="FF0000"/>
                </a:solidFill>
                <a:latin typeface="Courier New"/>
                <a:ea typeface="Courier New"/>
                <a:cs typeface="Courier New"/>
                <a:sym typeface="Courier New"/>
              </a:rPr>
              <a:t>;</a:t>
            </a:r>
            <a:endParaRPr>
              <a:solidFill>
                <a:srgbClr val="FF0000"/>
              </a:solidFill>
              <a:latin typeface="Courier New"/>
              <a:ea typeface="Courier New"/>
              <a:cs typeface="Courier New"/>
              <a:sym typeface="Courier New"/>
            </a:endParaRPr>
          </a:p>
          <a:p>
            <a:pPr indent="-298450" lvl="2" marL="1371600" rtl="0" algn="l">
              <a:spcBef>
                <a:spcPts val="0"/>
              </a:spcBef>
              <a:spcAft>
                <a:spcPts val="0"/>
              </a:spcAft>
              <a:buSzPts val="1100"/>
              <a:buChar char="■"/>
            </a:pPr>
            <a:r>
              <a:rPr b="1" i="1" lang="en">
                <a:solidFill>
                  <a:srgbClr val="FF0000"/>
                </a:solidFill>
              </a:rPr>
              <a:t>Print </a:t>
            </a:r>
            <a:r>
              <a:rPr lang="en"/>
              <a:t>a message with the thread's ID indicating that is is done.</a:t>
            </a:r>
            <a:endParaRPr/>
          </a:p>
          <a:p>
            <a:pPr indent="-311150" lvl="0" marL="457200" rtl="0" algn="l">
              <a:spcBef>
                <a:spcPts val="0"/>
              </a:spcBef>
              <a:spcAft>
                <a:spcPts val="0"/>
              </a:spcAft>
              <a:buSzPts val="1300"/>
              <a:buChar char="●"/>
            </a:pPr>
            <a:r>
              <a:rPr lang="en"/>
              <a:t>Define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a:t>
            </a:r>
            <a:endParaRPr/>
          </a:p>
          <a:p>
            <a:pPr indent="-298450" lvl="1" marL="914400" rtl="0" algn="l">
              <a:spcBef>
                <a:spcPts val="0"/>
              </a:spcBef>
              <a:spcAft>
                <a:spcPts val="0"/>
              </a:spcAft>
              <a:buSzPts val="1100"/>
              <a:buChar char="○"/>
            </a:pPr>
            <a:r>
              <a:rPr lang="en"/>
              <a:t>Create a </a:t>
            </a:r>
            <a:r>
              <a:rPr lang="en">
                <a:solidFill>
                  <a:srgbClr val="FF0000"/>
                </a:solidFill>
                <a:latin typeface="Courier New"/>
                <a:ea typeface="Courier New"/>
                <a:cs typeface="Courier New"/>
                <a:sym typeface="Courier New"/>
              </a:rPr>
              <a:t>TheCount</a:t>
            </a:r>
            <a:r>
              <a:rPr lang="en">
                <a:solidFill>
                  <a:srgbClr val="FF0000"/>
                </a:solidFill>
              </a:rPr>
              <a:t> </a:t>
            </a:r>
            <a:r>
              <a:rPr lang="en"/>
              <a:t>instance</a:t>
            </a:r>
            <a:endParaRPr/>
          </a:p>
          <a:p>
            <a:pPr indent="-298450" lvl="1" marL="914400" rtl="0" algn="l">
              <a:spcBef>
                <a:spcPts val="0"/>
              </a:spcBef>
              <a:spcAft>
                <a:spcPts val="0"/>
              </a:spcAft>
              <a:buClr>
                <a:srgbClr val="666666"/>
              </a:buClr>
              <a:buSzPts val="1100"/>
              <a:buChar char="○"/>
            </a:pPr>
            <a:r>
              <a:rPr lang="en">
                <a:solidFill>
                  <a:srgbClr val="666666"/>
                </a:solidFill>
              </a:rPr>
              <a:t>Using an </a:t>
            </a:r>
            <a:r>
              <a:rPr lang="en">
                <a:solidFill>
                  <a:srgbClr val="FF0000"/>
                </a:solidFill>
                <a:latin typeface="Courier New"/>
                <a:ea typeface="Courier New"/>
                <a:cs typeface="Courier New"/>
                <a:sym typeface="Courier New"/>
              </a:rPr>
              <a:t>ExecutorService</a:t>
            </a:r>
            <a:r>
              <a:rPr lang="en">
                <a:solidFill>
                  <a:srgbClr val="666666"/>
                </a:solidFill>
              </a:rPr>
              <a:t>, execute the instances </a:t>
            </a:r>
            <a:r>
              <a:rPr lang="en">
                <a:solidFill>
                  <a:srgbClr val="666666"/>
                </a:solidFill>
                <a:latin typeface="Courier New"/>
                <a:ea typeface="Courier New"/>
                <a:cs typeface="Courier New"/>
                <a:sym typeface="Courier New"/>
              </a:rPr>
              <a:t>run()</a:t>
            </a:r>
            <a:r>
              <a:rPr lang="en">
                <a:solidFill>
                  <a:srgbClr val="666666"/>
                </a:solidFill>
              </a:rPr>
              <a:t> method as a task.</a:t>
            </a:r>
            <a:endParaRPr>
              <a:solidFill>
                <a:srgbClr val="666666"/>
              </a:solidFill>
            </a:endParaRPr>
          </a:p>
          <a:p>
            <a:pPr indent="-298450" lvl="1" marL="914400" rtl="0" algn="l">
              <a:spcBef>
                <a:spcPts val="0"/>
              </a:spcBef>
              <a:spcAft>
                <a:spcPts val="0"/>
              </a:spcAft>
              <a:buClr>
                <a:srgbClr val="666666"/>
              </a:buClr>
              <a:buSzPts val="1100"/>
              <a:buChar char="○"/>
            </a:pPr>
            <a:r>
              <a:rPr b="1" i="1" lang="en">
                <a:solidFill>
                  <a:srgbClr val="FF0000"/>
                </a:solidFill>
              </a:rPr>
              <a:t>Shutdown</a:t>
            </a:r>
            <a:r>
              <a:rPr lang="en">
                <a:solidFill>
                  <a:srgbClr val="666666"/>
                </a:solidFill>
              </a:rPr>
              <a:t> the service and </a:t>
            </a:r>
            <a:r>
              <a:rPr lang="en">
                <a:solidFill>
                  <a:srgbClr val="FF0000"/>
                </a:solidFill>
                <a:latin typeface="Courier New"/>
                <a:ea typeface="Courier New"/>
                <a:cs typeface="Courier New"/>
                <a:sym typeface="Courier New"/>
              </a:rPr>
              <a:t>AwaitTermination</a:t>
            </a:r>
            <a:endParaRPr>
              <a:solidFill>
                <a:srgbClr val="FF0000"/>
              </a:solidFill>
              <a:latin typeface="Courier New"/>
              <a:ea typeface="Courier New"/>
              <a:cs typeface="Courier New"/>
              <a:sym typeface="Courier New"/>
            </a:endParaRPr>
          </a:p>
          <a:p>
            <a:pPr indent="-298450" lvl="1" marL="914400" rtl="0" algn="l">
              <a:spcBef>
                <a:spcPts val="0"/>
              </a:spcBef>
              <a:spcAft>
                <a:spcPts val="0"/>
              </a:spcAft>
              <a:buClr>
                <a:srgbClr val="666666"/>
              </a:buClr>
              <a:buSzPts val="1100"/>
              <a:buChar char="○"/>
            </a:pPr>
            <a:r>
              <a:rPr lang="en">
                <a:solidFill>
                  <a:srgbClr val="666666"/>
                </a:solidFill>
              </a:rPr>
              <a:t>Print the value of </a:t>
            </a:r>
            <a:r>
              <a:rPr lang="en">
                <a:solidFill>
                  <a:srgbClr val="FF0000"/>
                </a:solidFill>
                <a:latin typeface="Courier New"/>
                <a:ea typeface="Courier New"/>
                <a:cs typeface="Courier New"/>
                <a:sym typeface="Courier New"/>
              </a:rPr>
              <a:t>COUNT</a:t>
            </a:r>
            <a:endParaRPr>
              <a:solidFill>
                <a:srgbClr val="FF0000"/>
              </a:solidFill>
              <a:latin typeface="Courier New"/>
              <a:ea typeface="Courier New"/>
              <a:cs typeface="Courier New"/>
              <a:sym typeface="Courier New"/>
            </a:endParaRPr>
          </a:p>
          <a:p>
            <a:pPr indent="-311150" lvl="0" marL="457200" rtl="0" algn="l">
              <a:spcBef>
                <a:spcPts val="0"/>
              </a:spcBef>
              <a:spcAft>
                <a:spcPts val="0"/>
              </a:spcAft>
              <a:buSzPts val="1300"/>
              <a:buChar char="●"/>
            </a:pPr>
            <a:r>
              <a:rPr b="1" i="1" lang="en">
                <a:solidFill>
                  <a:srgbClr val="FF0000"/>
                </a:solidFill>
              </a:rPr>
              <a:t>Run</a:t>
            </a:r>
            <a:r>
              <a:rPr lang="en">
                <a:solidFill>
                  <a:srgbClr val="FF0000"/>
                </a:solidFill>
              </a:rPr>
              <a:t> </a:t>
            </a:r>
            <a:r>
              <a:rPr lang="en"/>
              <a:t>your class. </a:t>
            </a:r>
            <a:r>
              <a:rPr lang="en"/>
              <a:t>What do you </a:t>
            </a:r>
            <a:r>
              <a:rPr b="1" i="1" lang="en">
                <a:solidFill>
                  <a:srgbClr val="FF0000"/>
                </a:solidFill>
              </a:rPr>
              <a:t>see</a:t>
            </a:r>
            <a:r>
              <a:rPr lang="en"/>
              <a:t>?</a:t>
            </a:r>
            <a:endParaRPr/>
          </a:p>
        </p:txBody>
      </p:sp>
      <p:sp>
        <p:nvSpPr>
          <p:cNvPr id="304" name="Google Shape;304;p3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11.2</a:t>
            </a:r>
            <a:endParaRPr/>
          </a:p>
        </p:txBody>
      </p:sp>
      <p:pic>
        <p:nvPicPr>
          <p:cNvPr id="305" name="Google Shape;305;p39"/>
          <p:cNvPicPr preferRelativeResize="0"/>
          <p:nvPr/>
        </p:nvPicPr>
        <p:blipFill>
          <a:blip r:embed="rId3">
            <a:alphaModFix/>
          </a:blip>
          <a:stretch>
            <a:fillRect/>
          </a:stretch>
        </p:blipFill>
        <p:spPr>
          <a:xfrm>
            <a:off x="636605" y="1686350"/>
            <a:ext cx="1312676" cy="2938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10 Counting Threads</a:t>
            </a:r>
            <a:endParaRPr/>
          </a:p>
        </p:txBody>
      </p:sp>
      <p:sp>
        <p:nvSpPr>
          <p:cNvPr id="311" name="Google Shape;311;p40"/>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latin typeface="Courier New"/>
                <a:ea typeface="Courier New"/>
                <a:cs typeface="Courier New"/>
                <a:sym typeface="Courier New"/>
              </a:rPr>
              <a:t>TheCount</a:t>
            </a:r>
            <a:r>
              <a:rPr lang="en"/>
              <a:t> seems to be doing its job exactly as expected. But what happens if we have 10 of them running at the same time, all trying to update the value in the same integer? Let's find out!</a:t>
            </a:r>
            <a:endParaRPr/>
          </a:p>
        </p:txBody>
      </p:sp>
      <p:sp>
        <p:nvSpPr>
          <p:cNvPr id="312" name="Google Shape;312;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0"/>
          <p:cNvSpPr txBox="1"/>
          <p:nvPr>
            <p:ph idx="2" type="body"/>
          </p:nvPr>
        </p:nvSpPr>
        <p:spPr>
          <a:xfrm>
            <a:off x="2796350" y="1632125"/>
            <a:ext cx="5992200" cy="31680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your</a:t>
            </a:r>
            <a:r>
              <a:rPr lang="en" sz="1700"/>
              <a:t> </a:t>
            </a:r>
            <a:r>
              <a:rPr lang="en" sz="1700">
                <a:solidFill>
                  <a:srgbClr val="FF0000"/>
                </a:solidFill>
                <a:latin typeface="Courier New"/>
                <a:ea typeface="Courier New"/>
                <a:cs typeface="Courier New"/>
                <a:sym typeface="Courier New"/>
              </a:rPr>
              <a:t>TheCount</a:t>
            </a:r>
            <a:r>
              <a:rPr lang="en" sz="1700"/>
              <a:t> class and navigate to the </a:t>
            </a:r>
            <a:r>
              <a:rPr lang="en" sz="1700">
                <a:latin typeface="Courier New"/>
                <a:ea typeface="Courier New"/>
                <a:cs typeface="Courier New"/>
                <a:sym typeface="Courier New"/>
              </a:rPr>
              <a:t>main</a:t>
            </a:r>
            <a:r>
              <a:rPr lang="en" sz="1700"/>
              <a:t> method.</a:t>
            </a:r>
            <a:endParaRPr sz="1700"/>
          </a:p>
          <a:p>
            <a:pPr indent="-323850" lvl="1" marL="914400" rtl="0" algn="l">
              <a:spcBef>
                <a:spcPts val="0"/>
              </a:spcBef>
              <a:spcAft>
                <a:spcPts val="0"/>
              </a:spcAft>
              <a:buSzPts val="1500"/>
              <a:buChar char="○"/>
            </a:pPr>
            <a:r>
              <a:rPr b="1" i="1" lang="en" sz="1500">
                <a:solidFill>
                  <a:srgbClr val="FF0000"/>
                </a:solidFill>
              </a:rPr>
              <a:t>Modify </a:t>
            </a:r>
            <a:r>
              <a:rPr lang="en" sz="1500"/>
              <a:t>it to </a:t>
            </a:r>
            <a:r>
              <a:rPr lang="en" sz="1500"/>
              <a:t>create and start </a:t>
            </a:r>
            <a:r>
              <a:rPr b="1" i="1" lang="en" sz="1500">
                <a:solidFill>
                  <a:srgbClr val="FF0000"/>
                </a:solidFill>
              </a:rPr>
              <a:t>10</a:t>
            </a:r>
            <a:r>
              <a:rPr lang="en" sz="1500">
                <a:solidFill>
                  <a:srgbClr val="FF0000"/>
                </a:solidFill>
              </a:rPr>
              <a:t> </a:t>
            </a:r>
            <a:r>
              <a:rPr lang="en" sz="1500"/>
              <a:t>of your counters, e.g</a:t>
            </a:r>
            <a:r>
              <a:rPr lang="en" sz="1500"/>
              <a:t>. use a </a:t>
            </a:r>
            <a:r>
              <a:rPr lang="en" sz="1500">
                <a:latin typeface="Courier New"/>
                <a:ea typeface="Courier New"/>
                <a:cs typeface="Courier New"/>
                <a:sym typeface="Courier New"/>
              </a:rPr>
              <a:t>for</a:t>
            </a:r>
            <a:r>
              <a:rPr lang="en" sz="1500"/>
              <a:t> loop</a:t>
            </a:r>
            <a:r>
              <a:rPr lang="en" sz="1500"/>
              <a:t>. Make sure that each thread has a different ID.</a:t>
            </a:r>
            <a:endParaRPr sz="1500"/>
          </a:p>
          <a:p>
            <a:pPr indent="-323850" lvl="1" marL="914400" rtl="0" algn="l">
              <a:spcBef>
                <a:spcPts val="0"/>
              </a:spcBef>
              <a:spcAft>
                <a:spcPts val="0"/>
              </a:spcAft>
              <a:buSzPts val="1500"/>
              <a:buChar char="○"/>
            </a:pPr>
            <a:r>
              <a:rPr lang="en" sz="1500"/>
              <a:t>After the service terminates, </a:t>
            </a:r>
            <a:r>
              <a:rPr b="1" i="1" lang="en" sz="1500">
                <a:solidFill>
                  <a:srgbClr val="FF0000"/>
                </a:solidFill>
              </a:rPr>
              <a:t>Print</a:t>
            </a:r>
            <a:r>
              <a:rPr lang="en" sz="1500">
                <a:solidFill>
                  <a:srgbClr val="FF0000"/>
                </a:solidFill>
              </a:rPr>
              <a:t> </a:t>
            </a:r>
            <a:r>
              <a:rPr lang="en" sz="1500"/>
              <a:t>the </a:t>
            </a:r>
            <a:r>
              <a:rPr lang="en" sz="1500">
                <a:latin typeface="Courier New"/>
                <a:ea typeface="Courier New"/>
                <a:cs typeface="Courier New"/>
                <a:sym typeface="Courier New"/>
              </a:rPr>
              <a:t>COUNT</a:t>
            </a:r>
            <a:r>
              <a:rPr lang="en" sz="1500"/>
              <a:t>.</a:t>
            </a:r>
            <a:endParaRPr sz="1500"/>
          </a:p>
          <a:p>
            <a:pPr indent="-323850" lvl="0" marL="457200" rtl="0" algn="l">
              <a:spcBef>
                <a:spcPts val="1000"/>
              </a:spcBef>
              <a:spcAft>
                <a:spcPts val="0"/>
              </a:spcAft>
              <a:buSzPts val="1500"/>
              <a:buChar char="●"/>
            </a:pPr>
            <a:r>
              <a:rPr i="1" lang="en" sz="1500"/>
              <a:t>Hint: You can use </a:t>
            </a:r>
            <a:r>
              <a:rPr i="1" lang="en" sz="1500">
                <a:latin typeface="Courier New"/>
                <a:ea typeface="Courier New"/>
                <a:cs typeface="Courier New"/>
                <a:sym typeface="Courier New"/>
              </a:rPr>
              <a:t>String.format("%,d", number)</a:t>
            </a:r>
            <a:r>
              <a:rPr i="1" lang="en" sz="1500"/>
              <a:t> to create number strings with commas in them.</a:t>
            </a:r>
            <a:endParaRPr i="1" sz="1500"/>
          </a:p>
          <a:p>
            <a:pPr indent="-336550" lvl="0" marL="457200" rtl="0" algn="l">
              <a:spcBef>
                <a:spcPts val="1000"/>
              </a:spcBef>
              <a:spcAft>
                <a:spcPts val="0"/>
              </a:spcAft>
              <a:buSzPts val="1700"/>
              <a:buChar char="●"/>
            </a:pPr>
            <a:r>
              <a:rPr b="1" i="1" lang="en" sz="1700">
                <a:solidFill>
                  <a:srgbClr val="FF0000"/>
                </a:solidFill>
              </a:rPr>
              <a:t>Compile</a:t>
            </a:r>
            <a:r>
              <a:rPr lang="en" sz="1700">
                <a:solidFill>
                  <a:srgbClr val="FF0000"/>
                </a:solidFill>
              </a:rPr>
              <a:t> </a:t>
            </a:r>
            <a:r>
              <a:rPr lang="en" sz="1700"/>
              <a:t>and </a:t>
            </a:r>
            <a:r>
              <a:rPr b="1" i="1" lang="en" sz="1700">
                <a:solidFill>
                  <a:srgbClr val="FF0000"/>
                </a:solidFill>
              </a:rPr>
              <a:t>run</a:t>
            </a:r>
            <a:r>
              <a:rPr lang="en" sz="1700">
                <a:solidFill>
                  <a:srgbClr val="FF0000"/>
                </a:solidFill>
              </a:rPr>
              <a:t> </a:t>
            </a:r>
            <a:r>
              <a:rPr lang="en" sz="1700"/>
              <a:t>your class.</a:t>
            </a:r>
            <a:endParaRPr sz="1700"/>
          </a:p>
          <a:p>
            <a:pPr indent="-323850" lvl="1" marL="914400" rtl="0" algn="l">
              <a:spcBef>
                <a:spcPts val="0"/>
              </a:spcBef>
              <a:spcAft>
                <a:spcPts val="0"/>
              </a:spcAft>
              <a:buSzPts val="1500"/>
              <a:buChar char="○"/>
            </a:pPr>
            <a:r>
              <a:rPr lang="en" sz="1500"/>
              <a:t>What do you </a:t>
            </a:r>
            <a:r>
              <a:rPr b="1" i="1" lang="en" sz="1500">
                <a:solidFill>
                  <a:srgbClr val="FF0000"/>
                </a:solidFill>
              </a:rPr>
              <a:t>see</a:t>
            </a:r>
            <a:r>
              <a:rPr lang="en" sz="1500"/>
              <a:t>?</a:t>
            </a:r>
            <a:endParaRPr sz="1500"/>
          </a:p>
          <a:p>
            <a:pPr indent="-323850" lvl="1" marL="914400" rtl="0" algn="l">
              <a:spcBef>
                <a:spcPts val="0"/>
              </a:spcBef>
              <a:spcAft>
                <a:spcPts val="0"/>
              </a:spcAft>
              <a:buSzPts val="1500"/>
              <a:buChar char="○"/>
            </a:pPr>
            <a:r>
              <a:rPr lang="en" sz="1500"/>
              <a:t>What happens if your </a:t>
            </a:r>
            <a:r>
              <a:rPr b="1" i="1" lang="en" sz="1500">
                <a:solidFill>
                  <a:srgbClr val="FF0000"/>
                </a:solidFill>
              </a:rPr>
              <a:t>run </a:t>
            </a:r>
            <a:r>
              <a:rPr lang="en" sz="1500"/>
              <a:t>it a few more times?</a:t>
            </a:r>
            <a:endParaRPr sz="1500"/>
          </a:p>
        </p:txBody>
      </p:sp>
      <p:sp>
        <p:nvSpPr>
          <p:cNvPr id="314" name="Google Shape;314;p4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11.3</a:t>
            </a:r>
            <a:endParaRPr/>
          </a:p>
        </p:txBody>
      </p:sp>
      <p:pic>
        <p:nvPicPr>
          <p:cNvPr id="315" name="Google Shape;315;p40"/>
          <p:cNvPicPr preferRelativeResize="0"/>
          <p:nvPr/>
        </p:nvPicPr>
        <p:blipFill>
          <a:blip r:embed="rId3">
            <a:alphaModFix/>
          </a:blip>
          <a:stretch>
            <a:fillRect/>
          </a:stretch>
        </p:blipFill>
        <p:spPr>
          <a:xfrm>
            <a:off x="1959104" y="1686350"/>
            <a:ext cx="447375" cy="1001399"/>
          </a:xfrm>
          <a:prstGeom prst="rect">
            <a:avLst/>
          </a:prstGeom>
          <a:noFill/>
          <a:ln>
            <a:noFill/>
          </a:ln>
        </p:spPr>
      </p:pic>
      <p:pic>
        <p:nvPicPr>
          <p:cNvPr id="316" name="Google Shape;316;p40"/>
          <p:cNvPicPr preferRelativeResize="0"/>
          <p:nvPr/>
        </p:nvPicPr>
        <p:blipFill>
          <a:blip r:embed="rId3">
            <a:alphaModFix/>
          </a:blip>
          <a:stretch>
            <a:fillRect/>
          </a:stretch>
        </p:blipFill>
        <p:spPr>
          <a:xfrm>
            <a:off x="1197104" y="1762550"/>
            <a:ext cx="447375" cy="1001399"/>
          </a:xfrm>
          <a:prstGeom prst="rect">
            <a:avLst/>
          </a:prstGeom>
          <a:noFill/>
          <a:ln>
            <a:noFill/>
          </a:ln>
        </p:spPr>
      </p:pic>
      <p:pic>
        <p:nvPicPr>
          <p:cNvPr id="317" name="Google Shape;317;p40"/>
          <p:cNvPicPr preferRelativeResize="0"/>
          <p:nvPr/>
        </p:nvPicPr>
        <p:blipFill>
          <a:blip r:embed="rId3">
            <a:alphaModFix/>
          </a:blip>
          <a:stretch>
            <a:fillRect/>
          </a:stretch>
        </p:blipFill>
        <p:spPr>
          <a:xfrm>
            <a:off x="511304" y="1533950"/>
            <a:ext cx="447375" cy="1001399"/>
          </a:xfrm>
          <a:prstGeom prst="rect">
            <a:avLst/>
          </a:prstGeom>
          <a:noFill/>
          <a:ln>
            <a:noFill/>
          </a:ln>
        </p:spPr>
      </p:pic>
      <p:pic>
        <p:nvPicPr>
          <p:cNvPr id="318" name="Google Shape;318;p40"/>
          <p:cNvPicPr preferRelativeResize="0"/>
          <p:nvPr/>
        </p:nvPicPr>
        <p:blipFill>
          <a:blip r:embed="rId3">
            <a:alphaModFix/>
          </a:blip>
          <a:stretch>
            <a:fillRect/>
          </a:stretch>
        </p:blipFill>
        <p:spPr>
          <a:xfrm>
            <a:off x="752763" y="2524550"/>
            <a:ext cx="447375" cy="1001399"/>
          </a:xfrm>
          <a:prstGeom prst="rect">
            <a:avLst/>
          </a:prstGeom>
          <a:noFill/>
          <a:ln>
            <a:noFill/>
          </a:ln>
        </p:spPr>
      </p:pic>
      <p:pic>
        <p:nvPicPr>
          <p:cNvPr id="319" name="Google Shape;319;p40"/>
          <p:cNvPicPr preferRelativeResize="0"/>
          <p:nvPr/>
        </p:nvPicPr>
        <p:blipFill>
          <a:blip r:embed="rId3">
            <a:alphaModFix/>
          </a:blip>
          <a:stretch>
            <a:fillRect/>
          </a:stretch>
        </p:blipFill>
        <p:spPr>
          <a:xfrm>
            <a:off x="1578104" y="2524550"/>
            <a:ext cx="447375" cy="1001399"/>
          </a:xfrm>
          <a:prstGeom prst="rect">
            <a:avLst/>
          </a:prstGeom>
          <a:noFill/>
          <a:ln>
            <a:noFill/>
          </a:ln>
        </p:spPr>
      </p:pic>
      <p:pic>
        <p:nvPicPr>
          <p:cNvPr id="320" name="Google Shape;320;p40"/>
          <p:cNvPicPr preferRelativeResize="0"/>
          <p:nvPr/>
        </p:nvPicPr>
        <p:blipFill>
          <a:blip r:embed="rId3">
            <a:alphaModFix/>
          </a:blip>
          <a:stretch>
            <a:fillRect/>
          </a:stretch>
        </p:blipFill>
        <p:spPr>
          <a:xfrm>
            <a:off x="2111504" y="2981750"/>
            <a:ext cx="447375" cy="1001399"/>
          </a:xfrm>
          <a:prstGeom prst="rect">
            <a:avLst/>
          </a:prstGeom>
          <a:noFill/>
          <a:ln>
            <a:noFill/>
          </a:ln>
        </p:spPr>
      </p:pic>
      <p:pic>
        <p:nvPicPr>
          <p:cNvPr id="321" name="Google Shape;321;p40"/>
          <p:cNvPicPr preferRelativeResize="0"/>
          <p:nvPr/>
        </p:nvPicPr>
        <p:blipFill>
          <a:blip r:embed="rId3">
            <a:alphaModFix/>
          </a:blip>
          <a:stretch>
            <a:fillRect/>
          </a:stretch>
        </p:blipFill>
        <p:spPr>
          <a:xfrm>
            <a:off x="1164957" y="3210350"/>
            <a:ext cx="447375" cy="1001399"/>
          </a:xfrm>
          <a:prstGeom prst="rect">
            <a:avLst/>
          </a:prstGeom>
          <a:noFill/>
          <a:ln>
            <a:noFill/>
          </a:ln>
        </p:spPr>
      </p:pic>
      <p:pic>
        <p:nvPicPr>
          <p:cNvPr id="322" name="Google Shape;322;p40"/>
          <p:cNvPicPr preferRelativeResize="0"/>
          <p:nvPr/>
        </p:nvPicPr>
        <p:blipFill>
          <a:blip r:embed="rId3">
            <a:alphaModFix/>
          </a:blip>
          <a:stretch>
            <a:fillRect/>
          </a:stretch>
        </p:blipFill>
        <p:spPr>
          <a:xfrm>
            <a:off x="295563" y="2905550"/>
            <a:ext cx="447375" cy="1001399"/>
          </a:xfrm>
          <a:prstGeom prst="rect">
            <a:avLst/>
          </a:prstGeom>
          <a:noFill/>
          <a:ln>
            <a:noFill/>
          </a:ln>
        </p:spPr>
      </p:pic>
      <p:pic>
        <p:nvPicPr>
          <p:cNvPr id="323" name="Google Shape;323;p40"/>
          <p:cNvPicPr preferRelativeResize="0"/>
          <p:nvPr/>
        </p:nvPicPr>
        <p:blipFill>
          <a:blip r:embed="rId3">
            <a:alphaModFix/>
          </a:blip>
          <a:stretch>
            <a:fillRect/>
          </a:stretch>
        </p:blipFill>
        <p:spPr>
          <a:xfrm>
            <a:off x="707757" y="3819950"/>
            <a:ext cx="447375" cy="1001399"/>
          </a:xfrm>
          <a:prstGeom prst="rect">
            <a:avLst/>
          </a:prstGeom>
          <a:noFill/>
          <a:ln>
            <a:noFill/>
          </a:ln>
        </p:spPr>
      </p:pic>
      <p:pic>
        <p:nvPicPr>
          <p:cNvPr id="324" name="Google Shape;324;p40"/>
          <p:cNvPicPr preferRelativeResize="0"/>
          <p:nvPr/>
        </p:nvPicPr>
        <p:blipFill>
          <a:blip r:embed="rId3">
            <a:alphaModFix/>
          </a:blip>
          <a:stretch>
            <a:fillRect/>
          </a:stretch>
        </p:blipFill>
        <p:spPr>
          <a:xfrm>
            <a:off x="1622157" y="3896150"/>
            <a:ext cx="447375" cy="10013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30" name="Google Shape;330;p41"/>
          <p:cNvSpPr txBox="1"/>
          <p:nvPr>
            <p:ph type="title"/>
          </p:nvPr>
        </p:nvSpPr>
        <p:spPr>
          <a:xfrm>
            <a:off x="5192225" y="2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Resource Contention</a:t>
            </a:r>
            <a:endParaRPr sz="2600"/>
          </a:p>
        </p:txBody>
      </p:sp>
      <p:sp>
        <p:nvSpPr>
          <p:cNvPr id="331" name="Google Shape;331;p41"/>
          <p:cNvSpPr txBox="1"/>
          <p:nvPr>
            <p:ph idx="2" type="body"/>
          </p:nvPr>
        </p:nvSpPr>
        <p:spPr>
          <a:xfrm>
            <a:off x="5192225" y="828975"/>
            <a:ext cx="3706500" cy="1106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for</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0</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&lt;</a:t>
            </a:r>
            <a:r>
              <a:rPr lang="en" sz="1000">
                <a:solidFill>
                  <a:srgbClr val="098658"/>
                </a:solidFill>
                <a:latin typeface="Consolas"/>
                <a:ea typeface="Consolas"/>
                <a:cs typeface="Consolas"/>
                <a:sym typeface="Consolas"/>
              </a:rPr>
              <a:t>100000</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COUNT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0</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332" name="Google Shape;332;p41"/>
          <p:cNvSpPr txBox="1"/>
          <p:nvPr>
            <p:ph idx="1" type="body"/>
          </p:nvPr>
        </p:nvSpPr>
        <p:spPr>
          <a:xfrm>
            <a:off x="377475" y="119925"/>
            <a:ext cx="4166400" cy="48999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When two or more threads use the same data (e.g. an instance of a class), the data is referred to as a </a:t>
            </a:r>
            <a:r>
              <a:rPr b="1" i="1" lang="en">
                <a:solidFill>
                  <a:srgbClr val="FF0000"/>
                </a:solidFill>
              </a:rPr>
              <a:t>shared resource</a:t>
            </a:r>
            <a:r>
              <a:rPr lang="en"/>
              <a:t>.</a:t>
            </a:r>
            <a:endParaRPr/>
          </a:p>
          <a:p>
            <a:pPr indent="-298450" lvl="1" marL="914400" rtl="0" algn="l">
              <a:lnSpc>
                <a:spcPct val="100000"/>
              </a:lnSpc>
              <a:spcBef>
                <a:spcPts val="0"/>
              </a:spcBef>
              <a:spcAft>
                <a:spcPts val="0"/>
              </a:spcAft>
              <a:buSzPts val="1100"/>
              <a:buChar char="○"/>
            </a:pPr>
            <a:r>
              <a:rPr lang="en"/>
              <a:t>Consider the code to the right, which is one possible implementation of the </a:t>
            </a:r>
            <a:r>
              <a:rPr lang="en">
                <a:solidFill>
                  <a:srgbClr val="FF0000"/>
                </a:solidFill>
                <a:latin typeface="Courier New"/>
                <a:ea typeface="Courier New"/>
                <a:cs typeface="Courier New"/>
                <a:sym typeface="Courier New"/>
              </a:rPr>
              <a:t>TheCount</a:t>
            </a:r>
            <a:r>
              <a:rPr lang="en">
                <a:solidFill>
                  <a:srgbClr val="FF0000"/>
                </a:solidFill>
              </a:rPr>
              <a:t>'</a:t>
            </a:r>
            <a:r>
              <a:rPr b="1" i="1" lang="en">
                <a:solidFill>
                  <a:srgbClr val="FF0000"/>
                </a:solidFill>
              </a:rPr>
              <a:t>s</a:t>
            </a:r>
            <a:r>
              <a:rPr lang="en">
                <a:solidFill>
                  <a:srgbClr val="FF0000"/>
                </a:solidFill>
              </a:rPr>
              <a:t> </a:t>
            </a:r>
            <a:r>
              <a:rPr lang="en">
                <a:solidFill>
                  <a:srgbClr val="FF0000"/>
                </a:solidFill>
                <a:latin typeface="Courier New"/>
                <a:ea typeface="Courier New"/>
                <a:cs typeface="Courier New"/>
                <a:sym typeface="Courier New"/>
              </a:rPr>
              <a:t>run()</a:t>
            </a:r>
            <a:r>
              <a:rPr lang="en">
                <a:solidFill>
                  <a:srgbClr val="FF0000"/>
                </a:solidFill>
              </a:rPr>
              <a:t> </a:t>
            </a:r>
            <a:r>
              <a:rPr b="1" i="1" lang="en">
                <a:solidFill>
                  <a:srgbClr val="FF0000"/>
                </a:solidFill>
              </a:rPr>
              <a:t>method</a:t>
            </a:r>
            <a:r>
              <a:rPr lang="en"/>
              <a:t>.</a:t>
            </a:r>
            <a:endParaRPr/>
          </a:p>
          <a:p>
            <a:pPr indent="-311150" lvl="0" marL="457200" rtl="0" algn="l">
              <a:lnSpc>
                <a:spcPct val="100000"/>
              </a:lnSpc>
              <a:spcBef>
                <a:spcPts val="1000"/>
              </a:spcBef>
              <a:spcAft>
                <a:spcPts val="0"/>
              </a:spcAft>
              <a:buSzPts val="1300"/>
              <a:buChar char="●"/>
            </a:pPr>
            <a:r>
              <a:rPr b="1" i="1" lang="en">
                <a:solidFill>
                  <a:srgbClr val="FF0000"/>
                </a:solidFill>
              </a:rPr>
              <a:t>Resource contention</a:t>
            </a:r>
            <a:r>
              <a:rPr lang="en">
                <a:solidFill>
                  <a:srgbClr val="FF0000"/>
                </a:solidFill>
              </a:rPr>
              <a:t> </a:t>
            </a:r>
            <a:r>
              <a:rPr lang="en"/>
              <a:t>occurs when two or more threads attempt to manipulate the value of a shared resource at the </a:t>
            </a:r>
            <a:r>
              <a:rPr b="1" i="1" lang="en">
                <a:solidFill>
                  <a:srgbClr val="FF0000"/>
                </a:solidFill>
              </a:rPr>
              <a:t>same time</a:t>
            </a:r>
            <a:r>
              <a:rPr lang="en"/>
              <a:t>.</a:t>
            </a:r>
            <a:endParaRPr/>
          </a:p>
          <a:p>
            <a:pPr indent="-298450" lvl="1" marL="914400" rtl="0" algn="l">
              <a:lnSpc>
                <a:spcPct val="100000"/>
              </a:lnSpc>
              <a:spcBef>
                <a:spcPts val="0"/>
              </a:spcBef>
              <a:spcAft>
                <a:spcPts val="0"/>
              </a:spcAft>
              <a:buSzPts val="1100"/>
              <a:buChar char="○"/>
            </a:pPr>
            <a:r>
              <a:rPr lang="en"/>
              <a:t>The two threads come into </a:t>
            </a:r>
            <a:r>
              <a:rPr b="1" i="1" lang="en">
                <a:solidFill>
                  <a:srgbClr val="FF0000"/>
                </a:solidFill>
              </a:rPr>
              <a:t>conflict</a:t>
            </a:r>
            <a:r>
              <a:rPr lang="en">
                <a:solidFill>
                  <a:srgbClr val="FF0000"/>
                </a:solidFill>
              </a:rPr>
              <a:t> </a:t>
            </a:r>
            <a:r>
              <a:rPr lang="en"/>
              <a:t>with one another.</a:t>
            </a:r>
            <a:endParaRPr/>
          </a:p>
          <a:p>
            <a:pPr indent="-311150" lvl="0" marL="457200" rtl="0" algn="l">
              <a:lnSpc>
                <a:spcPct val="100000"/>
              </a:lnSpc>
              <a:spcBef>
                <a:spcPts val="1000"/>
              </a:spcBef>
              <a:spcAft>
                <a:spcPts val="0"/>
              </a:spcAft>
              <a:buSzPts val="1300"/>
              <a:buChar char="●"/>
            </a:pPr>
            <a:r>
              <a:rPr lang="en"/>
              <a:t>One thread may make changes that the other thread </a:t>
            </a:r>
            <a:r>
              <a:rPr b="1" i="1" lang="en">
                <a:solidFill>
                  <a:srgbClr val="FF0000"/>
                </a:solidFill>
              </a:rPr>
              <a:t>ignores</a:t>
            </a:r>
            <a:r>
              <a:rPr lang="en">
                <a:solidFill>
                  <a:srgbClr val="FF0000"/>
                </a:solidFill>
              </a:rPr>
              <a:t> </a:t>
            </a:r>
            <a:r>
              <a:rPr lang="en"/>
              <a:t>or </a:t>
            </a:r>
            <a:r>
              <a:rPr b="1" i="1" lang="en">
                <a:solidFill>
                  <a:srgbClr val="FF0000"/>
                </a:solidFill>
              </a:rPr>
              <a:t>duplicates</a:t>
            </a:r>
            <a:r>
              <a:rPr lang="en"/>
              <a:t>.</a:t>
            </a:r>
            <a:endParaRPr/>
          </a:p>
          <a:p>
            <a:pPr indent="-298450" lvl="1" marL="914400" rtl="0" algn="l">
              <a:lnSpc>
                <a:spcPct val="100000"/>
              </a:lnSpc>
              <a:spcBef>
                <a:spcPts val="0"/>
              </a:spcBef>
              <a:spcAft>
                <a:spcPts val="0"/>
              </a:spcAft>
              <a:buSzPts val="1100"/>
              <a:buChar char="○"/>
            </a:pPr>
            <a:r>
              <a:rPr lang="en"/>
              <a:t>For example, what happens if</a:t>
            </a:r>
            <a:r>
              <a:rPr lang="en"/>
              <a:t> </a:t>
            </a:r>
            <a:r>
              <a:rPr lang="en">
                <a:latin typeface="Courier New"/>
                <a:ea typeface="Courier New"/>
                <a:cs typeface="Courier New"/>
                <a:sym typeface="Courier New"/>
              </a:rPr>
              <a:t>COUNT</a:t>
            </a:r>
            <a:r>
              <a:rPr lang="en"/>
              <a:t> has a value of</a:t>
            </a:r>
            <a:r>
              <a:rPr lang="en"/>
              <a:t> </a:t>
            </a:r>
            <a:r>
              <a:rPr lang="en">
                <a:latin typeface="Courier New"/>
                <a:ea typeface="Courier New"/>
                <a:cs typeface="Courier New"/>
                <a:sym typeface="Courier New"/>
              </a:rPr>
              <a:t>1234</a:t>
            </a:r>
            <a:r>
              <a:rPr lang="en"/>
              <a:t> and two threads try to </a:t>
            </a:r>
            <a:r>
              <a:rPr lang="en"/>
              <a:t>increment it</a:t>
            </a:r>
            <a:r>
              <a:rPr lang="en"/>
              <a:t> at the </a:t>
            </a:r>
            <a:r>
              <a:rPr b="1" i="1" lang="en">
                <a:solidFill>
                  <a:srgbClr val="FF0000"/>
                </a:solidFill>
              </a:rPr>
              <a:t>same exact time</a:t>
            </a:r>
            <a:r>
              <a:rPr lang="en"/>
              <a:t>?</a:t>
            </a:r>
            <a:endParaRPr/>
          </a:p>
          <a:p>
            <a:pPr indent="-298450" lvl="1" marL="914400" rtl="0" algn="l">
              <a:lnSpc>
                <a:spcPct val="100000"/>
              </a:lnSpc>
              <a:spcBef>
                <a:spcPts val="0"/>
              </a:spcBef>
              <a:spcAft>
                <a:spcPts val="0"/>
              </a:spcAft>
              <a:buSzPts val="1100"/>
              <a:buChar char="○"/>
            </a:pPr>
            <a:r>
              <a:rPr lang="en"/>
              <a:t>Will the value be </a:t>
            </a:r>
            <a:r>
              <a:rPr lang="en">
                <a:latin typeface="Courier New"/>
                <a:ea typeface="Courier New"/>
                <a:cs typeface="Courier New"/>
                <a:sym typeface="Courier New"/>
              </a:rPr>
              <a:t>1235</a:t>
            </a:r>
            <a:r>
              <a:rPr lang="en"/>
              <a:t>? </a:t>
            </a:r>
            <a:r>
              <a:rPr lang="en">
                <a:latin typeface="Courier New"/>
                <a:ea typeface="Courier New"/>
                <a:cs typeface="Courier New"/>
                <a:sym typeface="Courier New"/>
              </a:rPr>
              <a:t>1236</a:t>
            </a:r>
            <a:r>
              <a:rPr lang="en"/>
              <a:t>? Something else?</a:t>
            </a:r>
            <a:endParaRPr/>
          </a:p>
          <a:p>
            <a:pPr indent="-311150" lvl="0" marL="457200" rtl="0" algn="l">
              <a:lnSpc>
                <a:spcPct val="100000"/>
              </a:lnSpc>
              <a:spcBef>
                <a:spcPts val="1000"/>
              </a:spcBef>
              <a:spcAft>
                <a:spcPts val="0"/>
              </a:spcAft>
              <a:buSzPts val="1300"/>
              <a:buChar char="●"/>
            </a:pPr>
            <a:r>
              <a:rPr lang="en"/>
              <a:t>If this happens, which thread </a:t>
            </a:r>
            <a:r>
              <a:rPr b="1" i="1" lang="en">
                <a:solidFill>
                  <a:srgbClr val="FF0000"/>
                </a:solidFill>
              </a:rPr>
              <a:t>"wins?"</a:t>
            </a:r>
            <a:endParaRPr b="1" i="1">
              <a:solidFill>
                <a:srgbClr val="FF0000"/>
              </a:solidFill>
            </a:endParaRPr>
          </a:p>
          <a:p>
            <a:pPr indent="-298450" lvl="1" marL="914400" rtl="0" algn="l">
              <a:lnSpc>
                <a:spcPct val="100000"/>
              </a:lnSpc>
              <a:spcBef>
                <a:spcPts val="0"/>
              </a:spcBef>
              <a:spcAft>
                <a:spcPts val="0"/>
              </a:spcAft>
              <a:buSzPts val="1100"/>
              <a:buChar char="○"/>
            </a:pPr>
            <a:r>
              <a:rPr lang="en"/>
              <a:t>It is </a:t>
            </a:r>
            <a:r>
              <a:rPr b="1" i="1" lang="en">
                <a:solidFill>
                  <a:srgbClr val="FF0000"/>
                </a:solidFill>
              </a:rPr>
              <a:t>unpredictable</a:t>
            </a:r>
            <a:r>
              <a:rPr lang="en"/>
              <a:t>, and sometimes nothing goes wrong.</a:t>
            </a:r>
            <a:endParaRPr/>
          </a:p>
          <a:p>
            <a:pPr indent="-298450" lvl="1" marL="914400" rtl="0" algn="l">
              <a:lnSpc>
                <a:spcPct val="100000"/>
              </a:lnSpc>
              <a:spcBef>
                <a:spcPts val="0"/>
              </a:spcBef>
              <a:spcAft>
                <a:spcPts val="0"/>
              </a:spcAft>
              <a:buSzPts val="1100"/>
              <a:buChar char="○"/>
            </a:pPr>
            <a:r>
              <a:rPr lang="en"/>
              <a:t>Other times, the </a:t>
            </a:r>
            <a:r>
              <a:rPr b="1" i="1" lang="en">
                <a:solidFill>
                  <a:srgbClr val="FF0000"/>
                </a:solidFill>
              </a:rPr>
              <a:t>last</a:t>
            </a:r>
            <a:r>
              <a:rPr lang="en">
                <a:solidFill>
                  <a:srgbClr val="FF0000"/>
                </a:solidFill>
              </a:rPr>
              <a:t> </a:t>
            </a:r>
            <a:r>
              <a:rPr lang="en"/>
              <a:t>thread to make the change "wins."</a:t>
            </a:r>
            <a:endParaRPr/>
          </a:p>
          <a:p>
            <a:pPr indent="-311150" lvl="0" marL="457200" rtl="0" algn="l">
              <a:lnSpc>
                <a:spcPct val="100000"/>
              </a:lnSpc>
              <a:spcBef>
                <a:spcPts val="1000"/>
              </a:spcBef>
              <a:spcAft>
                <a:spcPts val="0"/>
              </a:spcAft>
              <a:buSzPts val="1300"/>
              <a:buChar char="●"/>
            </a:pPr>
            <a:r>
              <a:rPr lang="en"/>
              <a:t>This is called a </a:t>
            </a:r>
            <a:r>
              <a:rPr b="1" i="1" lang="en">
                <a:solidFill>
                  <a:srgbClr val="FF0000"/>
                </a:solidFill>
              </a:rPr>
              <a:t>race condition</a:t>
            </a:r>
            <a:r>
              <a:rPr lang="en"/>
              <a:t>.</a:t>
            </a:r>
            <a:endParaRPr/>
          </a:p>
        </p:txBody>
      </p:sp>
      <p:sp>
        <p:nvSpPr>
          <p:cNvPr id="333" name="Google Shape;333;p41"/>
          <p:cNvSpPr txBox="1"/>
          <p:nvPr>
            <p:ph idx="3" type="body"/>
          </p:nvPr>
        </p:nvSpPr>
        <p:spPr>
          <a:xfrm>
            <a:off x="5192225" y="2047318"/>
            <a:ext cx="3706500" cy="70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increment operator in Java is </a:t>
            </a:r>
            <a:r>
              <a:rPr b="1" i="1" lang="en">
                <a:solidFill>
                  <a:srgbClr val="FF0000"/>
                </a:solidFill>
              </a:rPr>
              <a:t>non-atomic</a:t>
            </a:r>
            <a:r>
              <a:rPr lang="en"/>
              <a:t>, meaning that it is not implemented as a single operation.</a:t>
            </a:r>
            <a:endParaRPr/>
          </a:p>
        </p:txBody>
      </p:sp>
      <p:sp>
        <p:nvSpPr>
          <p:cNvPr id="334" name="Google Shape;334;p41"/>
          <p:cNvSpPr txBox="1"/>
          <p:nvPr>
            <p:ph idx="2" type="body"/>
          </p:nvPr>
        </p:nvSpPr>
        <p:spPr>
          <a:xfrm>
            <a:off x="5192225" y="3499429"/>
            <a:ext cx="3706500" cy="5235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temp</a:t>
            </a:r>
            <a:r>
              <a:rPr lang="en" sz="1050">
                <a:solidFill>
                  <a:srgbClr val="000000"/>
                </a:solidFill>
                <a:latin typeface="Consolas"/>
                <a:ea typeface="Consolas"/>
                <a:cs typeface="Consolas"/>
                <a:sym typeface="Consolas"/>
              </a:rPr>
              <a:t> = </a:t>
            </a:r>
            <a:r>
              <a:rPr lang="en" sz="1050">
                <a:solidFill>
                  <a:srgbClr val="267F99"/>
                </a:solidFill>
                <a:latin typeface="Consolas"/>
                <a:ea typeface="Consolas"/>
                <a:cs typeface="Consolas"/>
                <a:sym typeface="Consolas"/>
              </a:rPr>
              <a:t>COUNT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0</a:t>
            </a:r>
            <a:r>
              <a:rPr lang="en" sz="1050">
                <a:solidFill>
                  <a:srgbClr val="000000"/>
                </a:solidFill>
                <a:latin typeface="Consolas"/>
                <a:ea typeface="Consolas"/>
                <a:cs typeface="Consolas"/>
                <a:sym typeface="Consolas"/>
              </a:rPr>
              <a:t>] + </a:t>
            </a: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COUNT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0</a:t>
            </a:r>
            <a:r>
              <a:rPr lang="en" sz="1050">
                <a:solidFill>
                  <a:srgbClr val="000000"/>
                </a:solidFill>
                <a:latin typeface="Consolas"/>
                <a:ea typeface="Consolas"/>
                <a:cs typeface="Consolas"/>
                <a:sym typeface="Consolas"/>
              </a:rPr>
              <a:t>] = temp</a:t>
            </a:r>
            <a:r>
              <a:rPr lang="en" sz="1050">
                <a:solidFill>
                  <a:srgbClr val="000000"/>
                </a:solidFill>
                <a:latin typeface="Consolas"/>
                <a:ea typeface="Consolas"/>
                <a:cs typeface="Consolas"/>
                <a:sym typeface="Consolas"/>
              </a:rPr>
              <a:t>;</a:t>
            </a:r>
            <a:endParaRPr sz="1050">
              <a:solidFill>
                <a:srgbClr val="098658"/>
              </a:solidFill>
              <a:latin typeface="Consolas"/>
              <a:ea typeface="Consolas"/>
              <a:cs typeface="Consolas"/>
              <a:sym typeface="Consolas"/>
            </a:endParaRPr>
          </a:p>
        </p:txBody>
      </p:sp>
      <p:sp>
        <p:nvSpPr>
          <p:cNvPr id="335" name="Google Shape;335;p41"/>
          <p:cNvSpPr txBox="1"/>
          <p:nvPr>
            <p:ph idx="3" type="body"/>
          </p:nvPr>
        </p:nvSpPr>
        <p:spPr>
          <a:xfrm>
            <a:off x="5192225" y="2863979"/>
            <a:ext cx="3706500" cy="52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What's </a:t>
            </a:r>
            <a:r>
              <a:rPr b="1" i="1" lang="en">
                <a:solidFill>
                  <a:srgbClr val="FF0000"/>
                </a:solidFill>
              </a:rPr>
              <a:t>really</a:t>
            </a:r>
            <a:r>
              <a:rPr lang="en">
                <a:solidFill>
                  <a:srgbClr val="FF0000"/>
                </a:solidFill>
              </a:rPr>
              <a:t> </a:t>
            </a:r>
            <a:r>
              <a:rPr lang="en"/>
              <a:t>happening is more like two statements.</a:t>
            </a:r>
            <a:endParaRPr/>
          </a:p>
        </p:txBody>
      </p:sp>
      <p:sp>
        <p:nvSpPr>
          <p:cNvPr id="336" name="Google Shape;336;p41"/>
          <p:cNvSpPr/>
          <p:nvPr/>
        </p:nvSpPr>
        <p:spPr>
          <a:xfrm>
            <a:off x="4971167" y="3690750"/>
            <a:ext cx="481025" cy="642925"/>
          </a:xfrm>
          <a:custGeom>
            <a:rect b="b" l="l" r="r" t="t"/>
            <a:pathLst>
              <a:path extrusionOk="0" h="25717" w="19241">
                <a:moveTo>
                  <a:pt x="9982" y="25717"/>
                </a:moveTo>
                <a:cubicBezTo>
                  <a:pt x="8353" y="23445"/>
                  <a:pt x="-1333" y="16373"/>
                  <a:pt x="210" y="12087"/>
                </a:cubicBezTo>
                <a:cubicBezTo>
                  <a:pt x="1753" y="7801"/>
                  <a:pt x="16069" y="2015"/>
                  <a:pt x="19241" y="0"/>
                </a:cubicBezTo>
              </a:path>
            </a:pathLst>
          </a:custGeom>
          <a:noFill/>
          <a:ln cap="flat" cmpd="sng" w="19050">
            <a:solidFill>
              <a:srgbClr val="FF0000"/>
            </a:solidFill>
            <a:prstDash val="solid"/>
            <a:round/>
            <a:headEnd len="med" w="med" type="none"/>
            <a:tailEnd len="med" w="med" type="triangle"/>
          </a:ln>
        </p:spPr>
      </p:sp>
      <p:sp>
        <p:nvSpPr>
          <p:cNvPr id="337" name="Google Shape;337;p41"/>
          <p:cNvSpPr/>
          <p:nvPr/>
        </p:nvSpPr>
        <p:spPr>
          <a:xfrm>
            <a:off x="6627800" y="3832175"/>
            <a:ext cx="289850" cy="302708"/>
          </a:xfrm>
          <a:custGeom>
            <a:rect b="b" l="l" r="r" t="t"/>
            <a:pathLst>
              <a:path extrusionOk="0" h="14659" w="11594">
                <a:moveTo>
                  <a:pt x="1029" y="14659"/>
                </a:moveTo>
                <a:cubicBezTo>
                  <a:pt x="2786" y="13030"/>
                  <a:pt x="11745" y="7330"/>
                  <a:pt x="11573" y="4887"/>
                </a:cubicBezTo>
                <a:cubicBezTo>
                  <a:pt x="11402" y="2444"/>
                  <a:pt x="1929" y="815"/>
                  <a:pt x="0" y="0"/>
                </a:cubicBezTo>
              </a:path>
            </a:pathLst>
          </a:custGeom>
          <a:noFill/>
          <a:ln cap="flat" cmpd="sng" w="19050">
            <a:solidFill>
              <a:srgbClr val="FF0000"/>
            </a:solidFill>
            <a:prstDash val="solid"/>
            <a:round/>
            <a:headEnd len="med" w="med" type="none"/>
            <a:tailEnd len="med" w="med" type="triangle"/>
          </a:ln>
        </p:spPr>
      </p:sp>
      <p:sp>
        <p:nvSpPr>
          <p:cNvPr id="338" name="Google Shape;338;p41"/>
          <p:cNvSpPr txBox="1"/>
          <p:nvPr>
            <p:ph idx="3" type="body"/>
          </p:nvPr>
        </p:nvSpPr>
        <p:spPr>
          <a:xfrm>
            <a:off x="5192225" y="4134868"/>
            <a:ext cx="3706500" cy="70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 what happens if two (or more!) threads execute statement 1 at or near the same time, </a:t>
            </a:r>
            <a:r>
              <a:rPr b="1" i="1" lang="en">
                <a:solidFill>
                  <a:srgbClr val="FF0000"/>
                </a:solidFill>
              </a:rPr>
              <a:t>before</a:t>
            </a:r>
            <a:r>
              <a:rPr lang="en">
                <a:solidFill>
                  <a:srgbClr val="FF0000"/>
                </a:solidFill>
              </a:rPr>
              <a:t> </a:t>
            </a:r>
            <a:r>
              <a:rPr lang="en"/>
              <a:t>they execute statement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4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Context Switching</a:t>
            </a:r>
            <a:endParaRPr/>
          </a:p>
        </p:txBody>
      </p:sp>
      <p:sp>
        <p:nvSpPr>
          <p:cNvPr id="345" name="Google Shape;345;p42"/>
          <p:cNvSpPr txBox="1"/>
          <p:nvPr/>
        </p:nvSpPr>
        <p:spPr>
          <a:xfrm>
            <a:off x="151375" y="1404950"/>
            <a:ext cx="19692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Imagine that two threads are executing the increment operation at the same time.</a:t>
            </a:r>
            <a:endParaRPr sz="1000"/>
          </a:p>
        </p:txBody>
      </p:sp>
      <p:grpSp>
        <p:nvGrpSpPr>
          <p:cNvPr id="346" name="Google Shape;346;p42"/>
          <p:cNvGrpSpPr/>
          <p:nvPr/>
        </p:nvGrpSpPr>
        <p:grpSpPr>
          <a:xfrm>
            <a:off x="2283875" y="1404950"/>
            <a:ext cx="4576244" cy="3615000"/>
            <a:chOff x="2283875" y="1404950"/>
            <a:chExt cx="4576244" cy="3615000"/>
          </a:xfrm>
        </p:grpSpPr>
        <p:sp>
          <p:nvSpPr>
            <p:cNvPr id="347" name="Google Shape;347;p42"/>
            <p:cNvSpPr/>
            <p:nvPr/>
          </p:nvSpPr>
          <p:spPr>
            <a:xfrm>
              <a:off x="2283875" y="1404950"/>
              <a:ext cx="2189400" cy="36150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Thread 1</a:t>
              </a:r>
              <a:endParaRPr b="1"/>
            </a:p>
            <a:p>
              <a:pPr indent="0" lvl="0" marL="0" rtl="0" algn="ctr">
                <a:spcBef>
                  <a:spcPts val="0"/>
                </a:spcBef>
                <a:spcAft>
                  <a:spcPts val="0"/>
                </a:spcAft>
                <a:buNone/>
              </a:pPr>
              <a:r>
                <a:t/>
              </a:r>
              <a:endParaRPr i="1" sz="1200">
                <a:latin typeface="Consolas"/>
                <a:ea typeface="Consolas"/>
                <a:cs typeface="Consolas"/>
                <a:sym typeface="Consolas"/>
              </a:endParaRPr>
            </a:p>
          </p:txBody>
        </p:sp>
        <p:sp>
          <p:nvSpPr>
            <p:cNvPr id="348" name="Google Shape;348;p42"/>
            <p:cNvSpPr/>
            <p:nvPr/>
          </p:nvSpPr>
          <p:spPr>
            <a:xfrm>
              <a:off x="4670719" y="1404950"/>
              <a:ext cx="2189400" cy="36150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Thread 2</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i="1" sz="1200">
                <a:latin typeface="Consolas"/>
                <a:ea typeface="Consolas"/>
                <a:cs typeface="Consolas"/>
                <a:sym typeface="Consolas"/>
              </a:endParaRPr>
            </a:p>
          </p:txBody>
        </p:sp>
      </p:grpSp>
      <p:sp>
        <p:nvSpPr>
          <p:cNvPr id="349" name="Google Shape;349;p42"/>
          <p:cNvSpPr txBox="1"/>
          <p:nvPr/>
        </p:nvSpPr>
        <p:spPr>
          <a:xfrm>
            <a:off x="4818925" y="1846067"/>
            <a:ext cx="196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rgbClr val="999999"/>
                </a:solidFill>
                <a:latin typeface="Consolas"/>
                <a:ea typeface="Consolas"/>
                <a:cs typeface="Consolas"/>
                <a:sym typeface="Consolas"/>
              </a:rPr>
              <a:t>(COUNT[0] == 10)</a:t>
            </a:r>
            <a:endParaRPr sz="1200">
              <a:solidFill>
                <a:srgbClr val="999999"/>
              </a:solidFill>
              <a:latin typeface="Consolas"/>
              <a:ea typeface="Consolas"/>
              <a:cs typeface="Consolas"/>
              <a:sym typeface="Consolas"/>
            </a:endParaRPr>
          </a:p>
          <a:p>
            <a:pPr indent="0" lvl="0" marL="0" rtl="0" algn="ctr">
              <a:spcBef>
                <a:spcPts val="0"/>
              </a:spcBef>
              <a:spcAft>
                <a:spcPts val="0"/>
              </a:spcAft>
              <a:buNone/>
            </a:pPr>
            <a:r>
              <a:rPr lang="en" sz="1200">
                <a:latin typeface="Consolas"/>
                <a:ea typeface="Consolas"/>
                <a:cs typeface="Consolas"/>
                <a:sym typeface="Consolas"/>
              </a:rPr>
              <a:t>temp2 = COUNT[0] + 1</a:t>
            </a:r>
            <a:endParaRPr sz="1200">
              <a:latin typeface="Consolas"/>
              <a:ea typeface="Consolas"/>
              <a:cs typeface="Consolas"/>
              <a:sym typeface="Consolas"/>
            </a:endParaRPr>
          </a:p>
        </p:txBody>
      </p:sp>
      <p:grpSp>
        <p:nvGrpSpPr>
          <p:cNvPr id="350" name="Google Shape;350;p42"/>
          <p:cNvGrpSpPr/>
          <p:nvPr/>
        </p:nvGrpSpPr>
        <p:grpSpPr>
          <a:xfrm>
            <a:off x="2393975" y="2249121"/>
            <a:ext cx="4386000" cy="876725"/>
            <a:chOff x="2393975" y="2249121"/>
            <a:chExt cx="4386000" cy="876725"/>
          </a:xfrm>
        </p:grpSpPr>
        <p:sp>
          <p:nvSpPr>
            <p:cNvPr id="351" name="Google Shape;351;p42"/>
            <p:cNvSpPr txBox="1"/>
            <p:nvPr/>
          </p:nvSpPr>
          <p:spPr>
            <a:xfrm>
              <a:off x="2393975" y="2571746"/>
              <a:ext cx="196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rgbClr val="999999"/>
                  </a:solidFill>
                  <a:latin typeface="Consolas"/>
                  <a:ea typeface="Consolas"/>
                  <a:cs typeface="Consolas"/>
                  <a:sym typeface="Consolas"/>
                </a:rPr>
                <a:t>(COUNT[0] == 10)</a:t>
              </a:r>
              <a:endParaRPr sz="1200">
                <a:solidFill>
                  <a:srgbClr val="999999"/>
                </a:solidFill>
                <a:latin typeface="Consolas"/>
                <a:ea typeface="Consolas"/>
                <a:cs typeface="Consolas"/>
                <a:sym typeface="Consolas"/>
              </a:endParaRPr>
            </a:p>
            <a:p>
              <a:pPr indent="0" lvl="0" marL="0" rtl="0" algn="ctr">
                <a:spcBef>
                  <a:spcPts val="0"/>
                </a:spcBef>
                <a:spcAft>
                  <a:spcPts val="0"/>
                </a:spcAft>
                <a:buNone/>
              </a:pPr>
              <a:r>
                <a:rPr lang="en" sz="1200">
                  <a:latin typeface="Consolas"/>
                  <a:ea typeface="Consolas"/>
                  <a:cs typeface="Consolas"/>
                  <a:sym typeface="Consolas"/>
                </a:rPr>
                <a:t>temp1 = COUNT[0] + 1</a:t>
              </a:r>
              <a:endParaRPr sz="1200">
                <a:latin typeface="Consolas"/>
                <a:ea typeface="Consolas"/>
                <a:cs typeface="Consolas"/>
                <a:sym typeface="Consolas"/>
              </a:endParaRPr>
            </a:p>
          </p:txBody>
        </p:sp>
        <p:sp>
          <p:nvSpPr>
            <p:cNvPr id="352" name="Google Shape;352;p42"/>
            <p:cNvSpPr/>
            <p:nvPr/>
          </p:nvSpPr>
          <p:spPr>
            <a:xfrm>
              <a:off x="4280675" y="2249121"/>
              <a:ext cx="2499300" cy="440100"/>
            </a:xfrm>
            <a:prstGeom prst="leftArrow">
              <a:avLst>
                <a:gd fmla="val 50000" name="adj1"/>
                <a:gd fmla="val 50000" name="adj2"/>
              </a:avLst>
            </a:prstGeom>
            <a:solidFill>
              <a:srgbClr val="FFFFFF"/>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rgbClr val="FF0000"/>
                  </a:solidFill>
                </a:rPr>
                <a:t>Context Switch</a:t>
              </a:r>
              <a:endParaRPr sz="1100">
                <a:solidFill>
                  <a:srgbClr val="FF0000"/>
                </a:solidFill>
              </a:endParaRPr>
            </a:p>
          </p:txBody>
        </p:sp>
      </p:grpSp>
      <p:grpSp>
        <p:nvGrpSpPr>
          <p:cNvPr id="353" name="Google Shape;353;p42"/>
          <p:cNvGrpSpPr/>
          <p:nvPr/>
        </p:nvGrpSpPr>
        <p:grpSpPr>
          <a:xfrm>
            <a:off x="2366829" y="3055650"/>
            <a:ext cx="4345096" cy="875403"/>
            <a:chOff x="2366829" y="3055650"/>
            <a:chExt cx="4345096" cy="875403"/>
          </a:xfrm>
        </p:grpSpPr>
        <p:sp>
          <p:nvSpPr>
            <p:cNvPr id="354" name="Google Shape;354;p42"/>
            <p:cNvSpPr txBox="1"/>
            <p:nvPr/>
          </p:nvSpPr>
          <p:spPr>
            <a:xfrm>
              <a:off x="4742725" y="3376953"/>
              <a:ext cx="196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Consolas"/>
                  <a:ea typeface="Consolas"/>
                  <a:cs typeface="Consolas"/>
                  <a:sym typeface="Consolas"/>
                </a:rPr>
                <a:t>COUNT[0] = temp2</a:t>
              </a:r>
              <a:endParaRPr sz="1200">
                <a:latin typeface="Consolas"/>
                <a:ea typeface="Consolas"/>
                <a:cs typeface="Consolas"/>
                <a:sym typeface="Consolas"/>
              </a:endParaRPr>
            </a:p>
            <a:p>
              <a:pPr indent="0" lvl="0" marL="0" rtl="0" algn="ctr">
                <a:spcBef>
                  <a:spcPts val="0"/>
                </a:spcBef>
                <a:spcAft>
                  <a:spcPts val="0"/>
                </a:spcAft>
                <a:buNone/>
              </a:pPr>
              <a:r>
                <a:rPr i="1" lang="en" sz="1200">
                  <a:solidFill>
                    <a:srgbClr val="999999"/>
                  </a:solidFill>
                  <a:latin typeface="Consolas"/>
                  <a:ea typeface="Consolas"/>
                  <a:cs typeface="Consolas"/>
                  <a:sym typeface="Consolas"/>
                </a:rPr>
                <a:t>(COUNT[0] == 11)</a:t>
              </a:r>
              <a:endParaRPr i="1" sz="1200">
                <a:solidFill>
                  <a:srgbClr val="999999"/>
                </a:solidFill>
                <a:latin typeface="Consolas"/>
                <a:ea typeface="Consolas"/>
                <a:cs typeface="Consolas"/>
                <a:sym typeface="Consolas"/>
              </a:endParaRPr>
            </a:p>
          </p:txBody>
        </p:sp>
        <p:sp>
          <p:nvSpPr>
            <p:cNvPr id="355" name="Google Shape;355;p42"/>
            <p:cNvSpPr/>
            <p:nvPr/>
          </p:nvSpPr>
          <p:spPr>
            <a:xfrm>
              <a:off x="2366829" y="3055650"/>
              <a:ext cx="2499300" cy="440100"/>
            </a:xfrm>
            <a:prstGeom prst="rightArrow">
              <a:avLst>
                <a:gd fmla="val 50000" name="adj1"/>
                <a:gd fmla="val 50000" name="adj2"/>
              </a:avLst>
            </a:prstGeom>
            <a:solidFill>
              <a:srgbClr val="FFFFFF"/>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0000"/>
                  </a:solidFill>
                </a:rPr>
                <a:t>Context Switch</a:t>
              </a:r>
              <a:endParaRPr sz="1100">
                <a:solidFill>
                  <a:srgbClr val="FF0000"/>
                </a:solidFill>
              </a:endParaRPr>
            </a:p>
          </p:txBody>
        </p:sp>
      </p:grpSp>
      <p:grpSp>
        <p:nvGrpSpPr>
          <p:cNvPr id="356" name="Google Shape;356;p42"/>
          <p:cNvGrpSpPr/>
          <p:nvPr/>
        </p:nvGrpSpPr>
        <p:grpSpPr>
          <a:xfrm>
            <a:off x="2393975" y="3835550"/>
            <a:ext cx="4386000" cy="931350"/>
            <a:chOff x="2393975" y="3835550"/>
            <a:chExt cx="4386000" cy="931350"/>
          </a:xfrm>
        </p:grpSpPr>
        <p:sp>
          <p:nvSpPr>
            <p:cNvPr id="357" name="Google Shape;357;p42"/>
            <p:cNvSpPr/>
            <p:nvPr/>
          </p:nvSpPr>
          <p:spPr>
            <a:xfrm>
              <a:off x="4280675" y="3835550"/>
              <a:ext cx="2499300" cy="440100"/>
            </a:xfrm>
            <a:prstGeom prst="leftArrow">
              <a:avLst>
                <a:gd fmla="val 50000" name="adj1"/>
                <a:gd fmla="val 50000" name="adj2"/>
              </a:avLst>
            </a:prstGeom>
            <a:solidFill>
              <a:srgbClr val="FFFFFF"/>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rgbClr val="FF0000"/>
                  </a:solidFill>
                </a:rPr>
                <a:t>Context Switch</a:t>
              </a:r>
              <a:endParaRPr sz="1100">
                <a:solidFill>
                  <a:srgbClr val="FF0000"/>
                </a:solidFill>
              </a:endParaRPr>
            </a:p>
          </p:txBody>
        </p:sp>
        <p:sp>
          <p:nvSpPr>
            <p:cNvPr id="358" name="Google Shape;358;p42"/>
            <p:cNvSpPr txBox="1"/>
            <p:nvPr/>
          </p:nvSpPr>
          <p:spPr>
            <a:xfrm>
              <a:off x="2393975" y="4212800"/>
              <a:ext cx="196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Consolas"/>
                  <a:ea typeface="Consolas"/>
                  <a:cs typeface="Consolas"/>
                  <a:sym typeface="Consolas"/>
                </a:rPr>
                <a:t>COUNT[0] = temp1</a:t>
              </a:r>
              <a:endParaRPr sz="1200">
                <a:latin typeface="Consolas"/>
                <a:ea typeface="Consolas"/>
                <a:cs typeface="Consolas"/>
                <a:sym typeface="Consolas"/>
              </a:endParaRPr>
            </a:p>
            <a:p>
              <a:pPr indent="0" lvl="0" marL="0" rtl="0" algn="ctr">
                <a:spcBef>
                  <a:spcPts val="0"/>
                </a:spcBef>
                <a:spcAft>
                  <a:spcPts val="0"/>
                </a:spcAft>
                <a:buNone/>
              </a:pPr>
              <a:r>
                <a:rPr i="1" lang="en" sz="1200">
                  <a:solidFill>
                    <a:srgbClr val="999999"/>
                  </a:solidFill>
                  <a:latin typeface="Consolas"/>
                  <a:ea typeface="Consolas"/>
                  <a:cs typeface="Consolas"/>
                  <a:sym typeface="Consolas"/>
                </a:rPr>
                <a:t>(COUNT[0] == 11)</a:t>
              </a:r>
              <a:endParaRPr i="1" sz="1200">
                <a:solidFill>
                  <a:srgbClr val="999999"/>
                </a:solidFill>
                <a:latin typeface="Consolas"/>
                <a:ea typeface="Consolas"/>
                <a:cs typeface="Consolas"/>
                <a:sym typeface="Consolas"/>
              </a:endParaRPr>
            </a:p>
          </p:txBody>
        </p:sp>
      </p:grpSp>
      <p:sp>
        <p:nvSpPr>
          <p:cNvPr id="359" name="Google Shape;359;p42"/>
          <p:cNvSpPr txBox="1"/>
          <p:nvPr/>
        </p:nvSpPr>
        <p:spPr>
          <a:xfrm>
            <a:off x="151375" y="2145925"/>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Increment is a </a:t>
            </a:r>
            <a:r>
              <a:rPr b="1" i="1" lang="en" sz="1000">
                <a:solidFill>
                  <a:srgbClr val="FF0000"/>
                </a:solidFill>
              </a:rPr>
              <a:t>non-atomic</a:t>
            </a:r>
            <a:r>
              <a:rPr lang="en" sz="1000"/>
              <a:t> operation, meaning that it is implemented as </a:t>
            </a:r>
            <a:r>
              <a:rPr b="1" i="1" lang="en" sz="1000">
                <a:solidFill>
                  <a:srgbClr val="FF0000"/>
                </a:solidFill>
              </a:rPr>
              <a:t>at least two</a:t>
            </a:r>
            <a:r>
              <a:rPr lang="en" sz="1000"/>
              <a:t> separate instructions.</a:t>
            </a:r>
            <a:endParaRPr sz="1000"/>
          </a:p>
        </p:txBody>
      </p:sp>
      <p:sp>
        <p:nvSpPr>
          <p:cNvPr id="360" name="Google Shape;360;p42"/>
          <p:cNvSpPr txBox="1"/>
          <p:nvPr/>
        </p:nvSpPr>
        <p:spPr>
          <a:xfrm>
            <a:off x="151375" y="3040800"/>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Imagine that one of the threads computes the incremented </a:t>
            </a:r>
            <a:r>
              <a:rPr lang="en" sz="1000">
                <a:latin typeface="Courier New"/>
                <a:ea typeface="Courier New"/>
                <a:cs typeface="Courier New"/>
                <a:sym typeface="Courier New"/>
              </a:rPr>
              <a:t>COUNT[0]</a:t>
            </a:r>
            <a:r>
              <a:rPr lang="en" sz="1000"/>
              <a:t> value </a:t>
            </a:r>
            <a:r>
              <a:rPr b="1" i="1" lang="en" sz="1000">
                <a:solidFill>
                  <a:srgbClr val="FF0000"/>
                </a:solidFill>
              </a:rPr>
              <a:t>first</a:t>
            </a:r>
            <a:r>
              <a:rPr lang="en" sz="1000"/>
              <a:t> and stores it in a temporary value...</a:t>
            </a:r>
            <a:endParaRPr sz="1000"/>
          </a:p>
        </p:txBody>
      </p:sp>
      <p:sp>
        <p:nvSpPr>
          <p:cNvPr id="361" name="Google Shape;361;p42"/>
          <p:cNvSpPr txBox="1"/>
          <p:nvPr/>
        </p:nvSpPr>
        <p:spPr>
          <a:xfrm>
            <a:off x="151375" y="3934175"/>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...after which there is a </a:t>
            </a:r>
            <a:r>
              <a:rPr b="1" i="1" lang="en" sz="1000">
                <a:solidFill>
                  <a:srgbClr val="FF0000"/>
                </a:solidFill>
              </a:rPr>
              <a:t>context switch</a:t>
            </a:r>
            <a:r>
              <a:rPr lang="en" sz="1000"/>
              <a:t> to the other thread, which then computes the </a:t>
            </a:r>
            <a:r>
              <a:rPr b="1" i="1" lang="en" sz="1000">
                <a:solidFill>
                  <a:srgbClr val="FF0000"/>
                </a:solidFill>
              </a:rPr>
              <a:t>same incremented value</a:t>
            </a:r>
            <a:r>
              <a:rPr lang="en" sz="1000"/>
              <a:t> (</a:t>
            </a:r>
            <a:r>
              <a:rPr b="1" i="1" lang="en" sz="1000">
                <a:solidFill>
                  <a:srgbClr val="FF0000"/>
                </a:solidFill>
              </a:rPr>
              <a:t>11</a:t>
            </a:r>
            <a:r>
              <a:rPr lang="en" sz="1000"/>
              <a:t>).</a:t>
            </a:r>
            <a:endParaRPr sz="1000"/>
          </a:p>
        </p:txBody>
      </p:sp>
      <p:sp>
        <p:nvSpPr>
          <p:cNvPr id="362" name="Google Shape;362;p42"/>
          <p:cNvSpPr txBox="1"/>
          <p:nvPr/>
        </p:nvSpPr>
        <p:spPr>
          <a:xfrm>
            <a:off x="7023425" y="1404950"/>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Then there is </a:t>
            </a:r>
            <a:r>
              <a:rPr b="1" i="1" lang="en" sz="1000">
                <a:solidFill>
                  <a:srgbClr val="FF0000"/>
                </a:solidFill>
              </a:rPr>
              <a:t>another</a:t>
            </a:r>
            <a:r>
              <a:rPr lang="en" sz="1000">
                <a:solidFill>
                  <a:srgbClr val="FF0000"/>
                </a:solidFill>
              </a:rPr>
              <a:t> </a:t>
            </a:r>
            <a:r>
              <a:rPr lang="en" sz="1000"/>
              <a:t>context switch back to the other thread. It assigns its temporary value (</a:t>
            </a:r>
            <a:r>
              <a:rPr b="1" i="1" lang="en" sz="1000">
                <a:solidFill>
                  <a:srgbClr val="FF0000"/>
                </a:solidFill>
              </a:rPr>
              <a:t>11</a:t>
            </a:r>
            <a:r>
              <a:rPr lang="en" sz="1000"/>
              <a:t>) to </a:t>
            </a:r>
            <a:r>
              <a:rPr lang="en" sz="1000">
                <a:latin typeface="Courier New"/>
                <a:ea typeface="Courier New"/>
                <a:cs typeface="Courier New"/>
                <a:sym typeface="Courier New"/>
              </a:rPr>
              <a:t>COUNT[0]</a:t>
            </a:r>
            <a:r>
              <a:rPr lang="en" sz="1000"/>
              <a:t>.</a:t>
            </a:r>
            <a:endParaRPr sz="1000"/>
          </a:p>
        </p:txBody>
      </p:sp>
      <p:sp>
        <p:nvSpPr>
          <p:cNvPr id="363" name="Google Shape;363;p42"/>
          <p:cNvSpPr txBox="1"/>
          <p:nvPr/>
        </p:nvSpPr>
        <p:spPr>
          <a:xfrm>
            <a:off x="7023425" y="2305579"/>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Followed by </a:t>
            </a:r>
            <a:r>
              <a:rPr b="1" i="1" lang="en" sz="1000">
                <a:solidFill>
                  <a:srgbClr val="FF0000"/>
                </a:solidFill>
              </a:rPr>
              <a:t>yet another </a:t>
            </a:r>
            <a:r>
              <a:rPr lang="en" sz="1000"/>
              <a:t>context switch after which the other thread </a:t>
            </a:r>
            <a:r>
              <a:rPr b="1" i="1" lang="en" sz="1000">
                <a:solidFill>
                  <a:srgbClr val="FF0000"/>
                </a:solidFill>
              </a:rPr>
              <a:t>also</a:t>
            </a:r>
            <a:r>
              <a:rPr lang="en" sz="1000">
                <a:solidFill>
                  <a:srgbClr val="FF0000"/>
                </a:solidFill>
              </a:rPr>
              <a:t> </a:t>
            </a:r>
            <a:r>
              <a:rPr lang="en" sz="1000"/>
              <a:t>sets </a:t>
            </a:r>
            <a:r>
              <a:rPr lang="en" sz="1000">
                <a:latin typeface="Courier New"/>
                <a:ea typeface="Courier New"/>
                <a:cs typeface="Courier New"/>
                <a:sym typeface="Courier New"/>
              </a:rPr>
              <a:t>COUNT[0]</a:t>
            </a:r>
            <a:r>
              <a:rPr lang="en" sz="1000"/>
              <a:t> to </a:t>
            </a:r>
            <a:r>
              <a:rPr b="1" i="1" lang="en" sz="1000">
                <a:solidFill>
                  <a:srgbClr val="FF0000"/>
                </a:solidFill>
              </a:rPr>
              <a:t>the same value</a:t>
            </a:r>
            <a:r>
              <a:rPr lang="en" sz="1000"/>
              <a:t>.</a:t>
            </a:r>
            <a:endParaRPr sz="1000"/>
          </a:p>
        </p:txBody>
      </p:sp>
      <p:sp>
        <p:nvSpPr>
          <p:cNvPr id="364" name="Google Shape;364;p42"/>
          <p:cNvSpPr txBox="1"/>
          <p:nvPr/>
        </p:nvSpPr>
        <p:spPr>
          <a:xfrm>
            <a:off x="7023425" y="3206208"/>
            <a:ext cx="19692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The end result is that </a:t>
            </a:r>
            <a:r>
              <a:rPr lang="en" sz="1000">
                <a:latin typeface="Courier New"/>
                <a:ea typeface="Courier New"/>
                <a:cs typeface="Courier New"/>
                <a:sym typeface="Courier New"/>
              </a:rPr>
              <a:t>COUNT[0]</a:t>
            </a:r>
            <a:r>
              <a:rPr lang="en" sz="1000"/>
              <a:t> has effectively only been incremented </a:t>
            </a:r>
            <a:r>
              <a:rPr b="1" i="1" lang="en" sz="1000">
                <a:solidFill>
                  <a:srgbClr val="FF0000"/>
                </a:solidFill>
              </a:rPr>
              <a:t>once</a:t>
            </a:r>
            <a:r>
              <a:rPr lang="en" sz="1000"/>
              <a:t>.</a:t>
            </a:r>
            <a:endParaRPr sz="1000"/>
          </a:p>
        </p:txBody>
      </p:sp>
      <p:sp>
        <p:nvSpPr>
          <p:cNvPr id="365" name="Google Shape;365;p42"/>
          <p:cNvSpPr txBox="1"/>
          <p:nvPr/>
        </p:nvSpPr>
        <p:spPr>
          <a:xfrm>
            <a:off x="7023425" y="3952937"/>
            <a:ext cx="19692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How likely is this to happen? You have probably just seen it happen </a:t>
            </a:r>
            <a:r>
              <a:rPr b="1" i="1" lang="en" sz="1000">
                <a:solidFill>
                  <a:srgbClr val="FF0000"/>
                </a:solidFill>
              </a:rPr>
              <a:t>thousands</a:t>
            </a:r>
            <a:r>
              <a:rPr lang="en" sz="1000">
                <a:solidFill>
                  <a:srgbClr val="FF0000"/>
                </a:solidFill>
              </a:rPr>
              <a:t> </a:t>
            </a:r>
            <a:r>
              <a:rPr lang="en" sz="1000"/>
              <a:t>of times.</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43"/>
          <p:cNvSpPr txBox="1"/>
          <p:nvPr>
            <p:ph type="title"/>
          </p:nvPr>
        </p:nvSpPr>
        <p:spPr>
          <a:xfrm>
            <a:off x="311725" y="43725"/>
            <a:ext cx="37065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Locks</a:t>
            </a:r>
            <a:endParaRPr/>
          </a:p>
        </p:txBody>
      </p:sp>
      <p:sp>
        <p:nvSpPr>
          <p:cNvPr id="372" name="Google Shape;372;p43"/>
          <p:cNvSpPr txBox="1"/>
          <p:nvPr>
            <p:ph idx="1" type="body"/>
          </p:nvPr>
        </p:nvSpPr>
        <p:spPr>
          <a:xfrm>
            <a:off x="4446600" y="21525"/>
            <a:ext cx="4440600" cy="4674000"/>
          </a:xfrm>
          <a:prstGeom prst="rect">
            <a:avLst/>
          </a:prstGeom>
        </p:spPr>
        <p:txBody>
          <a:bodyPr anchorCtr="0" anchor="ctr"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Any block of code that may not </a:t>
            </a:r>
            <a:r>
              <a:rPr b="1" i="1" lang="en" sz="1200">
                <a:solidFill>
                  <a:srgbClr val="FF0000"/>
                </a:solidFill>
              </a:rPr>
              <a:t>behave correctly</a:t>
            </a:r>
            <a:r>
              <a:rPr lang="en" sz="1200"/>
              <a:t> if executed by two or more threads at the same time is referred to as a </a:t>
            </a:r>
            <a:r>
              <a:rPr b="1" i="1" lang="en" sz="1200">
                <a:solidFill>
                  <a:srgbClr val="FF0000"/>
                </a:solidFill>
              </a:rPr>
              <a:t>critical region</a:t>
            </a:r>
            <a:r>
              <a:rPr lang="en" sz="1200"/>
              <a:t>.</a:t>
            </a:r>
            <a:endParaRPr sz="1200"/>
          </a:p>
          <a:p>
            <a:pPr indent="-304800" lvl="0" marL="457200" rtl="0" algn="l">
              <a:lnSpc>
                <a:spcPct val="100000"/>
              </a:lnSpc>
              <a:spcBef>
                <a:spcPts val="1000"/>
              </a:spcBef>
              <a:spcAft>
                <a:spcPts val="0"/>
              </a:spcAft>
              <a:buSzPts val="1200"/>
              <a:buChar char="●"/>
            </a:pPr>
            <a:r>
              <a:rPr lang="en" sz="1200"/>
              <a:t>A critical region must be </a:t>
            </a:r>
            <a:r>
              <a:rPr b="1" i="1" lang="en" sz="1200">
                <a:solidFill>
                  <a:srgbClr val="FF0000"/>
                </a:solidFill>
              </a:rPr>
              <a:t>protected</a:t>
            </a:r>
            <a:r>
              <a:rPr lang="en" sz="1200">
                <a:solidFill>
                  <a:srgbClr val="FF0000"/>
                </a:solidFill>
              </a:rPr>
              <a:t> </a:t>
            </a:r>
            <a:r>
              <a:rPr lang="en" sz="1200"/>
              <a:t>so that two threads cannot access the code in the region at the same time.</a:t>
            </a:r>
            <a:endParaRPr sz="1200"/>
          </a:p>
          <a:p>
            <a:pPr indent="-304800" lvl="0" marL="457200" rtl="0" algn="l">
              <a:lnSpc>
                <a:spcPct val="100000"/>
              </a:lnSpc>
              <a:spcBef>
                <a:spcPts val="1000"/>
              </a:spcBef>
              <a:spcAft>
                <a:spcPts val="0"/>
              </a:spcAft>
              <a:buSzPts val="1200"/>
              <a:buChar char="●"/>
            </a:pPr>
            <a:r>
              <a:rPr lang="en" sz="1200"/>
              <a:t>Sometimes a critical region comprises the </a:t>
            </a:r>
            <a:r>
              <a:rPr b="1" i="1" lang="en" sz="1200">
                <a:solidFill>
                  <a:srgbClr val="FF0000"/>
                </a:solidFill>
              </a:rPr>
              <a:t>entire method</a:t>
            </a:r>
            <a:r>
              <a:rPr lang="en" sz="1200"/>
              <a:t>.</a:t>
            </a:r>
            <a:endParaRPr sz="1200"/>
          </a:p>
          <a:p>
            <a:pPr indent="-292100" lvl="1" marL="914400" rtl="0" algn="l">
              <a:lnSpc>
                <a:spcPct val="100000"/>
              </a:lnSpc>
              <a:spcBef>
                <a:spcPts val="0"/>
              </a:spcBef>
              <a:spcAft>
                <a:spcPts val="0"/>
              </a:spcAft>
              <a:buSzPts val="1000"/>
              <a:buChar char="○"/>
            </a:pPr>
            <a:r>
              <a:rPr lang="en" sz="1000"/>
              <a:t>Or even multiple methods!</a:t>
            </a:r>
            <a:endParaRPr sz="1000"/>
          </a:p>
          <a:p>
            <a:pPr indent="-304800" lvl="0" marL="457200" rtl="0" algn="l">
              <a:lnSpc>
                <a:spcPct val="100000"/>
              </a:lnSpc>
              <a:spcBef>
                <a:spcPts val="1000"/>
              </a:spcBef>
              <a:spcAft>
                <a:spcPts val="0"/>
              </a:spcAft>
              <a:buSzPts val="1200"/>
              <a:buChar char="●"/>
            </a:pPr>
            <a:r>
              <a:rPr lang="en" sz="1200"/>
              <a:t>Other times it is only a </a:t>
            </a:r>
            <a:r>
              <a:rPr b="1" i="1" lang="en" sz="1200">
                <a:solidFill>
                  <a:srgbClr val="FF0000"/>
                </a:solidFill>
              </a:rPr>
              <a:t>subset</a:t>
            </a:r>
            <a:r>
              <a:rPr lang="en" sz="1200">
                <a:solidFill>
                  <a:srgbClr val="FF0000"/>
                </a:solidFill>
              </a:rPr>
              <a:t> </a:t>
            </a:r>
            <a:r>
              <a:rPr lang="en" sz="1200"/>
              <a:t>of the code in a method.</a:t>
            </a:r>
            <a:endParaRPr sz="1200"/>
          </a:p>
          <a:p>
            <a:pPr indent="-304800" lvl="0" marL="457200" rtl="0" algn="l">
              <a:lnSpc>
                <a:spcPct val="100000"/>
              </a:lnSpc>
              <a:spcBef>
                <a:spcPts val="1000"/>
              </a:spcBef>
              <a:spcAft>
                <a:spcPts val="0"/>
              </a:spcAft>
              <a:buSzPts val="1200"/>
              <a:buChar char="●"/>
            </a:pPr>
            <a:r>
              <a:rPr lang="en" sz="1200"/>
              <a:t>The </a:t>
            </a:r>
            <a:r>
              <a:rPr lang="en" sz="1200">
                <a:solidFill>
                  <a:srgbClr val="FF0000"/>
                </a:solidFill>
                <a:latin typeface="Courier New"/>
                <a:ea typeface="Courier New"/>
                <a:cs typeface="Courier New"/>
                <a:sym typeface="Courier New"/>
              </a:rPr>
              <a:t>Lock</a:t>
            </a:r>
            <a:r>
              <a:rPr lang="en" sz="1200">
                <a:solidFill>
                  <a:srgbClr val="FF0000"/>
                </a:solidFill>
              </a:rPr>
              <a:t> </a:t>
            </a:r>
            <a:r>
              <a:rPr lang="en" sz="1200"/>
              <a:t>interface</a:t>
            </a:r>
            <a:r>
              <a:rPr lang="en" sz="1200"/>
              <a:t> is used with to create a </a:t>
            </a:r>
            <a:r>
              <a:rPr b="1" i="1" lang="en" sz="1200">
                <a:solidFill>
                  <a:srgbClr val="FF0000"/>
                </a:solidFill>
              </a:rPr>
              <a:t>mutually exclusive lock</a:t>
            </a:r>
            <a:r>
              <a:rPr lang="en" sz="1200"/>
              <a:t>.</a:t>
            </a:r>
            <a:endParaRPr sz="1200"/>
          </a:p>
          <a:p>
            <a:pPr indent="-292100" lvl="1" marL="914400" rtl="0" algn="l">
              <a:lnSpc>
                <a:spcPct val="100000"/>
              </a:lnSpc>
              <a:spcBef>
                <a:spcPts val="0"/>
              </a:spcBef>
              <a:spcAft>
                <a:spcPts val="0"/>
              </a:spcAft>
              <a:buSzPts val="1000"/>
              <a:buChar char="○"/>
            </a:pPr>
            <a:r>
              <a:rPr lang="en" sz="1000"/>
              <a:t>Use </a:t>
            </a:r>
            <a:r>
              <a:rPr lang="en" sz="1000">
                <a:solidFill>
                  <a:srgbClr val="FF0000"/>
                </a:solidFill>
                <a:latin typeface="Courier New"/>
                <a:ea typeface="Courier New"/>
                <a:cs typeface="Courier New"/>
                <a:sym typeface="Courier New"/>
              </a:rPr>
              <a:t>Lock.lock()</a:t>
            </a:r>
            <a:r>
              <a:rPr lang="en" sz="1000"/>
              <a:t> to </a:t>
            </a:r>
            <a:r>
              <a:rPr lang="en" sz="1000"/>
              <a:t>activate</a:t>
            </a:r>
            <a:r>
              <a:rPr lang="en" sz="1000"/>
              <a:t> the lock</a:t>
            </a:r>
            <a:endParaRPr sz="1000"/>
          </a:p>
          <a:p>
            <a:pPr indent="-292100" lvl="1" marL="914400" rtl="0" algn="l">
              <a:lnSpc>
                <a:spcPct val="100000"/>
              </a:lnSpc>
              <a:spcBef>
                <a:spcPts val="0"/>
              </a:spcBef>
              <a:spcAft>
                <a:spcPts val="0"/>
              </a:spcAft>
              <a:buSzPts val="1000"/>
              <a:buChar char="○"/>
            </a:pPr>
            <a:r>
              <a:rPr lang="en" sz="1000"/>
              <a:t>Use </a:t>
            </a:r>
            <a:r>
              <a:rPr lang="en" sz="1000">
                <a:solidFill>
                  <a:srgbClr val="FF0000"/>
                </a:solidFill>
                <a:latin typeface="Courier New"/>
                <a:ea typeface="Courier New"/>
                <a:cs typeface="Courier New"/>
                <a:sym typeface="Courier New"/>
              </a:rPr>
              <a:t>Lock.unlock()</a:t>
            </a:r>
            <a:r>
              <a:rPr lang="en" sz="1000"/>
              <a:t> to deactivate the lock</a:t>
            </a:r>
            <a:endParaRPr sz="1000"/>
          </a:p>
          <a:p>
            <a:pPr indent="0" lvl="0" marL="457200" rtl="0" algn="l">
              <a:lnSpc>
                <a:spcPct val="100000"/>
              </a:lnSpc>
              <a:spcBef>
                <a:spcPts val="0"/>
              </a:spcBef>
              <a:spcAft>
                <a:spcPts val="0"/>
              </a:spcAft>
              <a:buNone/>
            </a:pPr>
            <a:r>
              <a:t/>
            </a:r>
            <a:endParaRPr sz="1200"/>
          </a:p>
          <a:p>
            <a:pPr indent="-304800" lvl="0" marL="457200" rtl="0" algn="l">
              <a:lnSpc>
                <a:spcPct val="100000"/>
              </a:lnSpc>
              <a:spcBef>
                <a:spcPts val="0"/>
              </a:spcBef>
              <a:spcAft>
                <a:spcPts val="0"/>
              </a:spcAft>
              <a:buSzPts val="1200"/>
              <a:buChar char="●"/>
            </a:pPr>
            <a:r>
              <a:rPr lang="en" sz="1200"/>
              <a:t>If a second thread tries to access </a:t>
            </a:r>
            <a:r>
              <a:rPr b="1" i="1" lang="en" sz="1200">
                <a:solidFill>
                  <a:srgbClr val="FF0000"/>
                </a:solidFill>
              </a:rPr>
              <a:t>a locked lock</a:t>
            </a:r>
            <a:r>
              <a:rPr lang="en" sz="1200"/>
              <a:t> the thread will </a:t>
            </a:r>
            <a:r>
              <a:rPr b="1" i="1" lang="en" sz="1200">
                <a:solidFill>
                  <a:srgbClr val="FF0000"/>
                </a:solidFill>
              </a:rPr>
              <a:t>block</a:t>
            </a:r>
            <a:r>
              <a:rPr lang="en" sz="1200"/>
              <a:t>.</a:t>
            </a:r>
            <a:endParaRPr sz="1200"/>
          </a:p>
          <a:p>
            <a:pPr indent="-292100" lvl="1" marL="914400" rtl="0" algn="l">
              <a:lnSpc>
                <a:spcPct val="100000"/>
              </a:lnSpc>
              <a:spcBef>
                <a:spcPts val="0"/>
              </a:spcBef>
              <a:spcAft>
                <a:spcPts val="0"/>
              </a:spcAft>
              <a:buSzPts val="1000"/>
              <a:buChar char="○"/>
            </a:pPr>
            <a:r>
              <a:rPr lang="en" sz="1000"/>
              <a:t>The thread will transition into a new state: </a:t>
            </a:r>
            <a:r>
              <a:rPr b="1" i="1" lang="en" sz="1000">
                <a:solidFill>
                  <a:srgbClr val="FF0000"/>
                </a:solidFill>
              </a:rPr>
              <a:t>blocked</a:t>
            </a:r>
            <a:r>
              <a:rPr lang="en" sz="1000"/>
              <a:t>.</a:t>
            </a:r>
            <a:endParaRPr sz="1000"/>
          </a:p>
          <a:p>
            <a:pPr indent="-304800" lvl="0" marL="457200" rtl="0" algn="l">
              <a:lnSpc>
                <a:spcPct val="100000"/>
              </a:lnSpc>
              <a:spcBef>
                <a:spcPts val="1000"/>
              </a:spcBef>
              <a:spcAft>
                <a:spcPts val="0"/>
              </a:spcAft>
              <a:buSzPts val="1200"/>
              <a:buChar char="●"/>
            </a:pPr>
            <a:r>
              <a:rPr lang="en" sz="1200"/>
              <a:t>When the first thread </a:t>
            </a:r>
            <a:r>
              <a:rPr b="1" i="1" lang="en" sz="1200">
                <a:solidFill>
                  <a:srgbClr val="FF0000"/>
                </a:solidFill>
              </a:rPr>
              <a:t>exits</a:t>
            </a:r>
            <a:r>
              <a:rPr lang="en" sz="1200">
                <a:solidFill>
                  <a:srgbClr val="FF0000"/>
                </a:solidFill>
              </a:rPr>
              <a:t> </a:t>
            </a:r>
            <a:r>
              <a:rPr lang="en" sz="1200"/>
              <a:t>the critical region the lock should be </a:t>
            </a:r>
            <a:r>
              <a:rPr b="1" i="1" lang="en" sz="1200">
                <a:solidFill>
                  <a:srgbClr val="FF0000"/>
                </a:solidFill>
              </a:rPr>
              <a:t>released</a:t>
            </a:r>
            <a:r>
              <a:rPr lang="en" sz="1200"/>
              <a:t>.</a:t>
            </a:r>
            <a:endParaRPr sz="1200"/>
          </a:p>
          <a:p>
            <a:pPr indent="-292100" lvl="1" marL="914400" rtl="0" algn="l">
              <a:lnSpc>
                <a:spcPct val="100000"/>
              </a:lnSpc>
              <a:spcBef>
                <a:spcPts val="0"/>
              </a:spcBef>
              <a:spcAft>
                <a:spcPts val="0"/>
              </a:spcAft>
              <a:buSzPts val="1000"/>
              <a:buChar char="○"/>
            </a:pPr>
            <a:r>
              <a:rPr lang="en" sz="1000"/>
              <a:t>The</a:t>
            </a:r>
            <a:r>
              <a:rPr lang="en" sz="1000">
                <a:solidFill>
                  <a:srgbClr val="FF0000"/>
                </a:solidFill>
              </a:rPr>
              <a:t> </a:t>
            </a:r>
            <a:r>
              <a:rPr b="1" i="1" lang="en" sz="1000">
                <a:solidFill>
                  <a:srgbClr val="FF0000"/>
                </a:solidFill>
              </a:rPr>
              <a:t>thread scheduler</a:t>
            </a:r>
            <a:r>
              <a:rPr lang="en" sz="1000"/>
              <a:t> will then choose </a:t>
            </a:r>
            <a:r>
              <a:rPr b="1" i="1" lang="en" sz="1000">
                <a:solidFill>
                  <a:srgbClr val="FF0000"/>
                </a:solidFill>
              </a:rPr>
              <a:t>one</a:t>
            </a:r>
            <a:r>
              <a:rPr lang="en" sz="1000">
                <a:solidFill>
                  <a:srgbClr val="FF0000"/>
                </a:solidFill>
              </a:rPr>
              <a:t> </a:t>
            </a:r>
            <a:r>
              <a:rPr lang="en" sz="1000"/>
              <a:t>thread that is </a:t>
            </a:r>
            <a:r>
              <a:rPr b="1" i="1" lang="en" sz="1000">
                <a:solidFill>
                  <a:srgbClr val="FF0000"/>
                </a:solidFill>
              </a:rPr>
              <a:t>blocked</a:t>
            </a:r>
            <a:r>
              <a:rPr lang="en" sz="1000">
                <a:solidFill>
                  <a:srgbClr val="FF0000"/>
                </a:solidFill>
              </a:rPr>
              <a:t> </a:t>
            </a:r>
            <a:r>
              <a:rPr lang="en" sz="1000"/>
              <a:t>on the same lock.</a:t>
            </a:r>
            <a:endParaRPr sz="1000"/>
          </a:p>
          <a:p>
            <a:pPr indent="-292100" lvl="1" marL="914400" rtl="0" algn="l">
              <a:lnSpc>
                <a:spcPct val="100000"/>
              </a:lnSpc>
              <a:spcBef>
                <a:spcPts val="0"/>
              </a:spcBef>
              <a:spcAft>
                <a:spcPts val="0"/>
              </a:spcAft>
              <a:buSzPts val="1000"/>
              <a:buChar char="○"/>
            </a:pPr>
            <a:r>
              <a:rPr lang="en" sz="1000"/>
              <a:t>That thread will transition to the </a:t>
            </a:r>
            <a:r>
              <a:rPr b="1" i="1" lang="en" sz="1000">
                <a:solidFill>
                  <a:srgbClr val="FF0000"/>
                </a:solidFill>
              </a:rPr>
              <a:t>runnable</a:t>
            </a:r>
            <a:r>
              <a:rPr lang="en" sz="1000">
                <a:solidFill>
                  <a:srgbClr val="FF0000"/>
                </a:solidFill>
              </a:rPr>
              <a:t> </a:t>
            </a:r>
            <a:r>
              <a:rPr lang="en" sz="1000"/>
              <a:t>state.</a:t>
            </a:r>
            <a:endParaRPr sz="1000"/>
          </a:p>
        </p:txBody>
      </p:sp>
      <p:sp>
        <p:nvSpPr>
          <p:cNvPr id="373" name="Google Shape;373;p43"/>
          <p:cNvSpPr txBox="1"/>
          <p:nvPr>
            <p:ph idx="3" type="body"/>
          </p:nvPr>
        </p:nvSpPr>
        <p:spPr>
          <a:xfrm>
            <a:off x="311725" y="3267438"/>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Once lock is </a:t>
            </a:r>
            <a:r>
              <a:rPr b="1" i="1" lang="en">
                <a:solidFill>
                  <a:srgbClr val="FF0000"/>
                </a:solidFill>
              </a:rPr>
              <a:t>locked</a:t>
            </a:r>
            <a:r>
              <a:rPr lang="en"/>
              <a:t>,</a:t>
            </a:r>
            <a:r>
              <a:rPr lang="en"/>
              <a:t> i</a:t>
            </a:r>
            <a:r>
              <a:rPr lang="en"/>
              <a:t>f another thread tries to lock the same lock, the new thread transitions to the </a:t>
            </a:r>
            <a:r>
              <a:rPr b="1" i="1" lang="en">
                <a:solidFill>
                  <a:srgbClr val="FF0000"/>
                </a:solidFill>
              </a:rPr>
              <a:t>blocked</a:t>
            </a:r>
            <a:r>
              <a:rPr lang="en">
                <a:solidFill>
                  <a:srgbClr val="FF0000"/>
                </a:solidFill>
              </a:rPr>
              <a:t> </a:t>
            </a:r>
            <a:r>
              <a:rPr lang="en"/>
              <a:t>state.</a:t>
            </a:r>
            <a:endParaRPr/>
          </a:p>
        </p:txBody>
      </p:sp>
      <p:grpSp>
        <p:nvGrpSpPr>
          <p:cNvPr id="374" name="Google Shape;374;p43"/>
          <p:cNvGrpSpPr/>
          <p:nvPr/>
        </p:nvGrpSpPr>
        <p:grpSpPr>
          <a:xfrm>
            <a:off x="892614" y="643587"/>
            <a:ext cx="1273187" cy="2529234"/>
            <a:chOff x="6958414" y="1195313"/>
            <a:chExt cx="1486500" cy="2952988"/>
          </a:xfrm>
        </p:grpSpPr>
        <p:sp>
          <p:nvSpPr>
            <p:cNvPr id="375" name="Google Shape;375;p43"/>
            <p:cNvSpPr/>
            <p:nvPr/>
          </p:nvSpPr>
          <p:spPr>
            <a:xfrm>
              <a:off x="6958414" y="1969300"/>
              <a:ext cx="1486500" cy="1411200"/>
            </a:xfrm>
            <a:prstGeom prst="roundRect">
              <a:avLst>
                <a:gd fmla="val 9698"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8761D"/>
                </a:solidFill>
              </a:endParaRPr>
            </a:p>
          </p:txBody>
        </p:sp>
        <p:sp>
          <p:nvSpPr>
            <p:cNvPr id="376" name="Google Shape;376;p43"/>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377" name="Google Shape;377;p43"/>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RUNNABLE</a:t>
              </a:r>
              <a:endParaRPr sz="1300">
                <a:solidFill>
                  <a:srgbClr val="FFFFFF"/>
                </a:solidFill>
              </a:endParaRPr>
            </a:p>
          </p:txBody>
        </p:sp>
        <p:sp>
          <p:nvSpPr>
            <p:cNvPr id="378" name="Google Shape;378;p43"/>
            <p:cNvSpPr/>
            <p:nvPr/>
          </p:nvSpPr>
          <p:spPr>
            <a:xfrm>
              <a:off x="7029764" y="2824082"/>
              <a:ext cx="1344900" cy="4701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300">
                  <a:solidFill>
                    <a:srgbClr val="FFFFFF"/>
                  </a:solidFill>
                </a:rPr>
                <a:t>RUNNING </a:t>
              </a:r>
              <a:r>
                <a:rPr i="1" lang="en" sz="800">
                  <a:solidFill>
                    <a:srgbClr val="FFFFFF"/>
                  </a:solidFill>
                </a:rPr>
                <a:t>(locked</a:t>
              </a:r>
              <a:r>
                <a:rPr i="1" lang="en" sz="800">
                  <a:solidFill>
                    <a:srgbClr val="FFFFFF"/>
                  </a:solidFill>
                </a:rPr>
                <a:t> code)</a:t>
              </a:r>
              <a:endParaRPr i="1" sz="800">
                <a:solidFill>
                  <a:srgbClr val="FFFFFF"/>
                </a:solidFill>
              </a:endParaRPr>
            </a:p>
          </p:txBody>
        </p:sp>
        <p:sp>
          <p:nvSpPr>
            <p:cNvPr id="379" name="Google Shape;379;p43"/>
            <p:cNvSpPr/>
            <p:nvPr/>
          </p:nvSpPr>
          <p:spPr>
            <a:xfrm>
              <a:off x="7057607" y="3757700"/>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380" name="Google Shape;380;p43"/>
            <p:cNvCxnSpPr>
              <a:stCxn id="376" idx="2"/>
              <a:endCxn id="377" idx="0"/>
            </p:cNvCxnSpPr>
            <p:nvPr/>
          </p:nvCxnSpPr>
          <p:spPr>
            <a:xfrm>
              <a:off x="7702200" y="1585913"/>
              <a:ext cx="0" cy="463500"/>
            </a:xfrm>
            <a:prstGeom prst="straightConnector1">
              <a:avLst/>
            </a:prstGeom>
            <a:noFill/>
            <a:ln cap="flat" cmpd="sng" w="9525">
              <a:solidFill>
                <a:srgbClr val="FFFFFF"/>
              </a:solidFill>
              <a:prstDash val="solid"/>
              <a:round/>
              <a:headEnd len="med" w="med" type="none"/>
              <a:tailEnd len="med" w="med" type="triangle"/>
            </a:ln>
          </p:spPr>
        </p:cxnSp>
        <p:cxnSp>
          <p:nvCxnSpPr>
            <p:cNvPr id="381" name="Google Shape;381;p43"/>
            <p:cNvCxnSpPr>
              <a:stCxn id="378" idx="2"/>
              <a:endCxn id="379" idx="0"/>
            </p:cNvCxnSpPr>
            <p:nvPr/>
          </p:nvCxnSpPr>
          <p:spPr>
            <a:xfrm>
              <a:off x="7702214" y="3294182"/>
              <a:ext cx="6300" cy="463500"/>
            </a:xfrm>
            <a:prstGeom prst="straightConnector1">
              <a:avLst/>
            </a:prstGeom>
            <a:noFill/>
            <a:ln cap="flat" cmpd="sng" w="9525">
              <a:solidFill>
                <a:srgbClr val="FFFFFF"/>
              </a:solidFill>
              <a:prstDash val="solid"/>
              <a:round/>
              <a:headEnd len="med" w="med" type="none"/>
              <a:tailEnd len="med" w="med" type="triangle"/>
            </a:ln>
          </p:spPr>
        </p:cxnSp>
        <p:cxnSp>
          <p:nvCxnSpPr>
            <p:cNvPr id="382" name="Google Shape;382;p43"/>
            <p:cNvCxnSpPr/>
            <p:nvPr/>
          </p:nvCxnSpPr>
          <p:spPr>
            <a:xfrm>
              <a:off x="7333050" y="2445150"/>
              <a:ext cx="0" cy="373500"/>
            </a:xfrm>
            <a:prstGeom prst="straightConnector1">
              <a:avLst/>
            </a:prstGeom>
            <a:noFill/>
            <a:ln cap="flat" cmpd="sng" w="9525">
              <a:solidFill>
                <a:srgbClr val="FFFFFF"/>
              </a:solidFill>
              <a:prstDash val="solid"/>
              <a:round/>
              <a:headEnd len="med" w="med" type="none"/>
              <a:tailEnd len="med" w="med" type="triangle"/>
            </a:ln>
          </p:spPr>
        </p:cxnSp>
        <p:cxnSp>
          <p:nvCxnSpPr>
            <p:cNvPr id="383" name="Google Shape;383;p43"/>
            <p:cNvCxnSpPr/>
            <p:nvPr/>
          </p:nvCxnSpPr>
          <p:spPr>
            <a:xfrm rot="10800000">
              <a:off x="8094066" y="2445004"/>
              <a:ext cx="0" cy="373500"/>
            </a:xfrm>
            <a:prstGeom prst="straightConnector1">
              <a:avLst/>
            </a:prstGeom>
            <a:noFill/>
            <a:ln cap="flat" cmpd="sng" w="9525">
              <a:solidFill>
                <a:srgbClr val="FFFFFF"/>
              </a:solidFill>
              <a:prstDash val="solid"/>
              <a:round/>
              <a:headEnd len="med" w="med" type="none"/>
              <a:tailEnd len="med" w="med" type="triangle"/>
            </a:ln>
          </p:spPr>
        </p:cxnSp>
      </p:grpSp>
      <p:grpSp>
        <p:nvGrpSpPr>
          <p:cNvPr id="384" name="Google Shape;384;p43"/>
          <p:cNvGrpSpPr/>
          <p:nvPr/>
        </p:nvGrpSpPr>
        <p:grpSpPr>
          <a:xfrm>
            <a:off x="2100486" y="1749613"/>
            <a:ext cx="1369672" cy="677334"/>
            <a:chOff x="2074250" y="2087300"/>
            <a:chExt cx="1599150" cy="790817"/>
          </a:xfrm>
        </p:grpSpPr>
        <p:sp>
          <p:nvSpPr>
            <p:cNvPr id="385" name="Google Shape;385;p43"/>
            <p:cNvSpPr/>
            <p:nvPr/>
          </p:nvSpPr>
          <p:spPr>
            <a:xfrm>
              <a:off x="2585300" y="2087300"/>
              <a:ext cx="10881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BLOCKED</a:t>
              </a:r>
              <a:endParaRPr sz="1100">
                <a:solidFill>
                  <a:srgbClr val="FFFFFF"/>
                </a:solidFill>
              </a:endParaRPr>
            </a:p>
          </p:txBody>
        </p:sp>
        <p:cxnSp>
          <p:nvCxnSpPr>
            <p:cNvPr id="386" name="Google Shape;386;p43"/>
            <p:cNvCxnSpPr>
              <a:endCxn id="385" idx="2"/>
            </p:cNvCxnSpPr>
            <p:nvPr/>
          </p:nvCxnSpPr>
          <p:spPr>
            <a:xfrm flipH="1" rot="10800000">
              <a:off x="2074250" y="2477900"/>
              <a:ext cx="1055100" cy="231600"/>
            </a:xfrm>
            <a:prstGeom prst="curvedConnector2">
              <a:avLst/>
            </a:prstGeom>
            <a:noFill/>
            <a:ln cap="flat" cmpd="sng" w="9525">
              <a:solidFill>
                <a:srgbClr val="FFFFFF"/>
              </a:solidFill>
              <a:prstDash val="solid"/>
              <a:round/>
              <a:headEnd len="med" w="med" type="none"/>
              <a:tailEnd len="med" w="med" type="triangle"/>
            </a:ln>
          </p:spPr>
        </p:cxnSp>
        <p:sp>
          <p:nvSpPr>
            <p:cNvPr id="387" name="Google Shape;387;p43"/>
            <p:cNvSpPr txBox="1"/>
            <p:nvPr/>
          </p:nvSpPr>
          <p:spPr>
            <a:xfrm>
              <a:off x="2463275" y="2682817"/>
              <a:ext cx="10731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onsolas"/>
                  <a:ea typeface="Consolas"/>
                  <a:cs typeface="Consolas"/>
                  <a:sym typeface="Consolas"/>
                </a:rPr>
                <a:t>lock unavailable</a:t>
              </a:r>
              <a:endParaRPr sz="800">
                <a:solidFill>
                  <a:srgbClr val="FFFFFF"/>
                </a:solidFill>
                <a:latin typeface="Consolas"/>
                <a:ea typeface="Consolas"/>
                <a:cs typeface="Consolas"/>
                <a:sym typeface="Consolas"/>
              </a:endParaRPr>
            </a:p>
          </p:txBody>
        </p:sp>
      </p:grpSp>
      <p:grpSp>
        <p:nvGrpSpPr>
          <p:cNvPr id="388" name="Google Shape;388;p43"/>
          <p:cNvGrpSpPr/>
          <p:nvPr/>
        </p:nvGrpSpPr>
        <p:grpSpPr>
          <a:xfrm>
            <a:off x="2100486" y="1305586"/>
            <a:ext cx="1229943" cy="444026"/>
            <a:chOff x="2074250" y="1568880"/>
            <a:chExt cx="1436011" cy="518420"/>
          </a:xfrm>
        </p:grpSpPr>
        <p:cxnSp>
          <p:nvCxnSpPr>
            <p:cNvPr id="389" name="Google Shape;389;p43"/>
            <p:cNvCxnSpPr>
              <a:stCxn id="385" idx="0"/>
            </p:cNvCxnSpPr>
            <p:nvPr/>
          </p:nvCxnSpPr>
          <p:spPr>
            <a:xfrm flipH="1" rot="5400000">
              <a:off x="2485850" y="1443800"/>
              <a:ext cx="231900" cy="1055100"/>
            </a:xfrm>
            <a:prstGeom prst="curvedConnector2">
              <a:avLst/>
            </a:prstGeom>
            <a:noFill/>
            <a:ln cap="flat" cmpd="sng" w="9525">
              <a:solidFill>
                <a:srgbClr val="FFFFFF"/>
              </a:solidFill>
              <a:prstDash val="solid"/>
              <a:round/>
              <a:headEnd len="med" w="med" type="none"/>
              <a:tailEnd len="med" w="med" type="triangle"/>
            </a:ln>
          </p:spPr>
        </p:cxnSp>
        <p:sp>
          <p:nvSpPr>
            <p:cNvPr id="390" name="Google Shape;390;p43"/>
            <p:cNvSpPr txBox="1"/>
            <p:nvPr/>
          </p:nvSpPr>
          <p:spPr>
            <a:xfrm>
              <a:off x="2437161" y="1568880"/>
              <a:ext cx="1073100" cy="23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onsolas"/>
                  <a:ea typeface="Consolas"/>
                  <a:cs typeface="Consolas"/>
                  <a:sym typeface="Consolas"/>
                </a:rPr>
                <a:t>lock obtained</a:t>
              </a:r>
              <a:endParaRPr sz="800">
                <a:solidFill>
                  <a:srgbClr val="FFFFFF"/>
                </a:solidFill>
                <a:latin typeface="Consolas"/>
                <a:ea typeface="Consolas"/>
                <a:cs typeface="Consolas"/>
                <a:sym typeface="Consolas"/>
              </a:endParaRPr>
            </a:p>
          </p:txBody>
        </p:sp>
      </p:grpSp>
      <p:sp>
        <p:nvSpPr>
          <p:cNvPr id="391" name="Google Shape;391;p43"/>
          <p:cNvSpPr txBox="1"/>
          <p:nvPr>
            <p:ph idx="3" type="body"/>
          </p:nvPr>
        </p:nvSpPr>
        <p:spPr>
          <a:xfrm>
            <a:off x="311725" y="4285476"/>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If and when the lock is </a:t>
            </a:r>
            <a:r>
              <a:rPr b="1" i="1" lang="en">
                <a:solidFill>
                  <a:srgbClr val="FF0000"/>
                </a:solidFill>
              </a:rPr>
              <a:t>unlocked</a:t>
            </a:r>
            <a:r>
              <a:rPr lang="en"/>
              <a:t>, the thread scheduler chooses </a:t>
            </a:r>
            <a:r>
              <a:rPr b="1" i="1" lang="en">
                <a:solidFill>
                  <a:srgbClr val="FF0000"/>
                </a:solidFill>
              </a:rPr>
              <a:t>one</a:t>
            </a:r>
            <a:r>
              <a:rPr lang="en">
                <a:solidFill>
                  <a:srgbClr val="FF0000"/>
                </a:solidFill>
              </a:rPr>
              <a:t> </a:t>
            </a:r>
            <a:r>
              <a:rPr lang="en"/>
              <a:t>blocked thread to transition to the </a:t>
            </a:r>
            <a:r>
              <a:rPr b="1" i="1" lang="en">
                <a:solidFill>
                  <a:srgbClr val="FF0000"/>
                </a:solidFill>
              </a:rPr>
              <a:t>runnable</a:t>
            </a:r>
            <a:r>
              <a:rPr lang="en">
                <a:solidFill>
                  <a:srgbClr val="FF0000"/>
                </a:solidFill>
              </a:rPr>
              <a:t> </a:t>
            </a:r>
            <a:r>
              <a:rPr lang="en"/>
              <a:t>state.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4"/>
          <p:cNvSpPr txBox="1"/>
          <p:nvPr>
            <p:ph type="title"/>
          </p:nvPr>
        </p:nvSpPr>
        <p:spPr>
          <a:xfrm>
            <a:off x="311725" y="500925"/>
            <a:ext cx="8520600" cy="6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Illustrated Example</a:t>
            </a:r>
            <a:endParaRPr/>
          </a:p>
          <a:p>
            <a:pPr indent="0" lvl="0" marL="0" rtl="0" algn="l">
              <a:spcBef>
                <a:spcPts val="0"/>
              </a:spcBef>
              <a:spcAft>
                <a:spcPts val="0"/>
              </a:spcAft>
              <a:buNone/>
            </a:pPr>
            <a:r>
              <a:rPr i="1" lang="en" sz="1800"/>
              <a:t>A Story in 3 Parts</a:t>
            </a:r>
            <a:endParaRPr i="1" sz="1800"/>
          </a:p>
        </p:txBody>
      </p:sp>
      <p:sp>
        <p:nvSpPr>
          <p:cNvPr id="397" name="Google Shape;397;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98" name="Google Shape;398;p44"/>
          <p:cNvPicPr preferRelativeResize="0"/>
          <p:nvPr/>
        </p:nvPicPr>
        <p:blipFill>
          <a:blip r:embed="rId3">
            <a:alphaModFix/>
          </a:blip>
          <a:stretch>
            <a:fillRect/>
          </a:stretch>
        </p:blipFill>
        <p:spPr>
          <a:xfrm>
            <a:off x="3820875" y="2061775"/>
            <a:ext cx="1157175" cy="2259050"/>
          </a:xfrm>
          <a:prstGeom prst="rect">
            <a:avLst/>
          </a:prstGeom>
          <a:noFill/>
          <a:ln>
            <a:noFill/>
          </a:ln>
        </p:spPr>
      </p:pic>
      <p:sp>
        <p:nvSpPr>
          <p:cNvPr id="399" name="Google Shape;399;p44"/>
          <p:cNvSpPr txBox="1"/>
          <p:nvPr/>
        </p:nvSpPr>
        <p:spPr>
          <a:xfrm>
            <a:off x="172575" y="1488150"/>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Think of a </a:t>
            </a:r>
            <a:r>
              <a:rPr b="1" i="1" lang="en" sz="1200">
                <a:solidFill>
                  <a:srgbClr val="FF0000"/>
                </a:solidFill>
              </a:rPr>
              <a:t>shared resource</a:t>
            </a:r>
            <a:r>
              <a:rPr lang="en" sz="1200"/>
              <a:t> as a portable toilet at a concert or festival.</a:t>
            </a:r>
            <a:endParaRPr sz="1200"/>
          </a:p>
        </p:txBody>
      </p:sp>
      <p:sp>
        <p:nvSpPr>
          <p:cNvPr id="400" name="Google Shape;400;p44"/>
          <p:cNvSpPr txBox="1"/>
          <p:nvPr/>
        </p:nvSpPr>
        <p:spPr>
          <a:xfrm>
            <a:off x="172575" y="2117041"/>
            <a:ext cx="29001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 sz="1200"/>
              <a:t>(yes, really)</a:t>
            </a:r>
            <a:endParaRPr i="1" sz="1200"/>
          </a:p>
        </p:txBody>
      </p:sp>
      <p:sp>
        <p:nvSpPr>
          <p:cNvPr id="401" name="Google Shape;401;p44"/>
          <p:cNvSpPr txBox="1"/>
          <p:nvPr/>
        </p:nvSpPr>
        <p:spPr>
          <a:xfrm>
            <a:off x="172575" y="2574243"/>
            <a:ext cx="290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If there is only ever </a:t>
            </a:r>
            <a:r>
              <a:rPr b="1" i="1" lang="en" sz="1200">
                <a:solidFill>
                  <a:srgbClr val="FF0000"/>
                </a:solidFill>
              </a:rPr>
              <a:t>one person</a:t>
            </a:r>
            <a:r>
              <a:rPr lang="en" sz="1200"/>
              <a:t> that needs to go to the bathroom at any one time, there will not be any </a:t>
            </a:r>
            <a:r>
              <a:rPr b="1" i="1" lang="en" sz="1200">
                <a:solidFill>
                  <a:srgbClr val="FF0000"/>
                </a:solidFill>
              </a:rPr>
              <a:t>conflicts </a:t>
            </a:r>
            <a:r>
              <a:rPr lang="en" sz="1200"/>
              <a:t>and we don't need to do anything special.</a:t>
            </a:r>
            <a:endParaRPr sz="1200"/>
          </a:p>
        </p:txBody>
      </p:sp>
      <p:pic>
        <p:nvPicPr>
          <p:cNvPr id="402" name="Google Shape;402;p44"/>
          <p:cNvPicPr preferRelativeResize="0"/>
          <p:nvPr/>
        </p:nvPicPr>
        <p:blipFill>
          <a:blip r:embed="rId4">
            <a:alphaModFix/>
          </a:blip>
          <a:stretch>
            <a:fillRect/>
          </a:stretch>
        </p:blipFill>
        <p:spPr>
          <a:xfrm>
            <a:off x="3401379" y="2225396"/>
            <a:ext cx="733425" cy="2121425"/>
          </a:xfrm>
          <a:prstGeom prst="rect">
            <a:avLst/>
          </a:prstGeom>
          <a:noFill/>
          <a:ln>
            <a:noFill/>
          </a:ln>
        </p:spPr>
      </p:pic>
      <p:sp>
        <p:nvSpPr>
          <p:cNvPr id="403" name="Google Shape;403;p44"/>
          <p:cNvSpPr txBox="1"/>
          <p:nvPr/>
        </p:nvSpPr>
        <p:spPr>
          <a:xfrm>
            <a:off x="5726264" y="2128958"/>
            <a:ext cx="2900100" cy="1431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Potty</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2</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capacity</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100</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3</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messLevel</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0</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4</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5</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use</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6</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capacity</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7</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messLevel</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0.10</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8</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9</a:t>
            </a:r>
            <a:r>
              <a:rPr lang="en" sz="900">
                <a:latin typeface="Consolas"/>
                <a:ea typeface="Consolas"/>
                <a:cs typeface="Consolas"/>
                <a:sym typeface="Consolas"/>
              </a:rPr>
              <a:t>  }  </a:t>
            </a:r>
            <a:endParaRPr sz="900">
              <a:solidFill>
                <a:srgbClr val="999999"/>
              </a:solidFill>
              <a:latin typeface="Consolas"/>
              <a:ea typeface="Consolas"/>
              <a:cs typeface="Consolas"/>
              <a:sym typeface="Consolas"/>
            </a:endParaRPr>
          </a:p>
        </p:txBody>
      </p:sp>
      <p:sp>
        <p:nvSpPr>
          <p:cNvPr id="404" name="Google Shape;404;p44"/>
          <p:cNvSpPr txBox="1"/>
          <p:nvPr/>
        </p:nvSpPr>
        <p:spPr>
          <a:xfrm>
            <a:off x="172575" y="3585547"/>
            <a:ext cx="290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But if</a:t>
            </a:r>
            <a:r>
              <a:rPr lang="en" sz="1200">
                <a:solidFill>
                  <a:srgbClr val="FF0000"/>
                </a:solidFill>
              </a:rPr>
              <a:t> </a:t>
            </a:r>
            <a:r>
              <a:rPr b="1" i="1" lang="en" sz="1200">
                <a:solidFill>
                  <a:srgbClr val="FF0000"/>
                </a:solidFill>
              </a:rPr>
              <a:t>two or more</a:t>
            </a:r>
            <a:r>
              <a:rPr b="1" i="1" lang="en" sz="1200"/>
              <a:t> </a:t>
            </a:r>
            <a:r>
              <a:rPr lang="en" sz="1200"/>
              <a:t>people try to use the facilities at the same time, there is nothing to stop them from just </a:t>
            </a:r>
            <a:r>
              <a:rPr b="1" i="1" lang="en" sz="1200">
                <a:solidFill>
                  <a:srgbClr val="FF0000"/>
                </a:solidFill>
              </a:rPr>
              <a:t>barging in</a:t>
            </a:r>
            <a:r>
              <a:rPr lang="en" sz="1200"/>
              <a:t> whenever they feel the need to go.</a:t>
            </a:r>
            <a:endParaRPr sz="1200"/>
          </a:p>
        </p:txBody>
      </p:sp>
      <p:sp>
        <p:nvSpPr>
          <p:cNvPr id="405" name="Google Shape;405;p44"/>
          <p:cNvSpPr txBox="1"/>
          <p:nvPr/>
        </p:nvSpPr>
        <p:spPr>
          <a:xfrm>
            <a:off x="5726251" y="1486956"/>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In terms of code, not only is it going to get </a:t>
            </a:r>
            <a:r>
              <a:rPr b="1" i="1" lang="en" sz="1200">
                <a:solidFill>
                  <a:srgbClr val="FF0000"/>
                </a:solidFill>
              </a:rPr>
              <a:t>crowded</a:t>
            </a:r>
            <a:r>
              <a:rPr lang="en" sz="1200">
                <a:solidFill>
                  <a:srgbClr val="FF0000"/>
                </a:solidFill>
              </a:rPr>
              <a:t> </a:t>
            </a:r>
            <a:r>
              <a:rPr lang="en" sz="1200"/>
              <a:t>in the toilet...</a:t>
            </a:r>
            <a:endParaRPr sz="1200"/>
          </a:p>
        </p:txBody>
      </p:sp>
      <p:pic>
        <p:nvPicPr>
          <p:cNvPr id="406" name="Google Shape;406;p44"/>
          <p:cNvPicPr preferRelativeResize="0"/>
          <p:nvPr/>
        </p:nvPicPr>
        <p:blipFill>
          <a:blip r:embed="rId5">
            <a:alphaModFix/>
          </a:blip>
          <a:stretch>
            <a:fillRect/>
          </a:stretch>
        </p:blipFill>
        <p:spPr>
          <a:xfrm>
            <a:off x="4703708" y="2310722"/>
            <a:ext cx="733425" cy="2027939"/>
          </a:xfrm>
          <a:prstGeom prst="rect">
            <a:avLst/>
          </a:prstGeom>
          <a:noFill/>
          <a:ln>
            <a:noFill/>
          </a:ln>
        </p:spPr>
      </p:pic>
      <p:pic>
        <p:nvPicPr>
          <p:cNvPr id="407" name="Google Shape;407;p44"/>
          <p:cNvPicPr preferRelativeResize="0"/>
          <p:nvPr/>
        </p:nvPicPr>
        <p:blipFill>
          <a:blip r:embed="rId6">
            <a:alphaModFix/>
          </a:blip>
          <a:stretch>
            <a:fillRect/>
          </a:stretch>
        </p:blipFill>
        <p:spPr>
          <a:xfrm>
            <a:off x="4513237" y="3240049"/>
            <a:ext cx="465500" cy="1326189"/>
          </a:xfrm>
          <a:prstGeom prst="rect">
            <a:avLst/>
          </a:prstGeom>
          <a:noFill/>
          <a:ln>
            <a:noFill/>
          </a:ln>
        </p:spPr>
      </p:pic>
      <p:pic>
        <p:nvPicPr>
          <p:cNvPr id="408" name="Google Shape;408;p44"/>
          <p:cNvPicPr preferRelativeResize="0"/>
          <p:nvPr/>
        </p:nvPicPr>
        <p:blipFill>
          <a:blip r:embed="rId7">
            <a:alphaModFix/>
          </a:blip>
          <a:stretch>
            <a:fillRect/>
          </a:stretch>
        </p:blipFill>
        <p:spPr>
          <a:xfrm>
            <a:off x="3890648" y="3124536"/>
            <a:ext cx="411625" cy="1431601"/>
          </a:xfrm>
          <a:prstGeom prst="rect">
            <a:avLst/>
          </a:prstGeom>
          <a:noFill/>
          <a:ln>
            <a:noFill/>
          </a:ln>
        </p:spPr>
      </p:pic>
      <p:sp>
        <p:nvSpPr>
          <p:cNvPr id="409" name="Google Shape;409;p44"/>
          <p:cNvSpPr/>
          <p:nvPr/>
        </p:nvSpPr>
        <p:spPr>
          <a:xfrm>
            <a:off x="6143871" y="3137825"/>
            <a:ext cx="356300" cy="552925"/>
          </a:xfrm>
          <a:custGeom>
            <a:rect b="b" l="l" r="r" t="t"/>
            <a:pathLst>
              <a:path extrusionOk="0" h="22117" w="14252">
                <a:moveTo>
                  <a:pt x="14252" y="22117"/>
                </a:moveTo>
                <a:cubicBezTo>
                  <a:pt x="11895" y="19802"/>
                  <a:pt x="964" y="11915"/>
                  <a:pt x="107" y="8229"/>
                </a:cubicBezTo>
                <a:cubicBezTo>
                  <a:pt x="-750" y="4543"/>
                  <a:pt x="7609" y="1372"/>
                  <a:pt x="9109" y="0"/>
                </a:cubicBezTo>
              </a:path>
            </a:pathLst>
          </a:custGeom>
          <a:noFill/>
          <a:ln cap="flat" cmpd="sng" w="19050">
            <a:solidFill>
              <a:srgbClr val="FF0000"/>
            </a:solidFill>
            <a:prstDash val="solid"/>
            <a:round/>
            <a:headEnd len="med" w="med" type="none"/>
            <a:tailEnd len="med" w="med" type="triangle"/>
          </a:ln>
        </p:spPr>
      </p:sp>
      <p:sp>
        <p:nvSpPr>
          <p:cNvPr id="410" name="Google Shape;410;p44"/>
          <p:cNvSpPr/>
          <p:nvPr/>
        </p:nvSpPr>
        <p:spPr>
          <a:xfrm>
            <a:off x="5773650" y="3002800"/>
            <a:ext cx="572225" cy="681500"/>
          </a:xfrm>
          <a:custGeom>
            <a:rect b="b" l="l" r="r" t="t"/>
            <a:pathLst>
              <a:path extrusionOk="0" h="27260" w="22889">
                <a:moveTo>
                  <a:pt x="22889" y="27260"/>
                </a:moveTo>
                <a:cubicBezTo>
                  <a:pt x="19074" y="24603"/>
                  <a:pt x="0" y="15859"/>
                  <a:pt x="0" y="11316"/>
                </a:cubicBezTo>
                <a:cubicBezTo>
                  <a:pt x="0" y="6773"/>
                  <a:pt x="19074" y="1886"/>
                  <a:pt x="22889" y="0"/>
                </a:cubicBezTo>
              </a:path>
            </a:pathLst>
          </a:custGeom>
          <a:noFill/>
          <a:ln cap="flat" cmpd="sng" w="19050">
            <a:solidFill>
              <a:srgbClr val="FF0000"/>
            </a:solidFill>
            <a:prstDash val="solid"/>
            <a:round/>
            <a:headEnd len="med" w="med" type="none"/>
            <a:tailEnd len="med" w="med" type="triangle"/>
          </a:ln>
        </p:spPr>
      </p:sp>
      <p:sp>
        <p:nvSpPr>
          <p:cNvPr id="411" name="Google Shape;411;p44"/>
          <p:cNvSpPr txBox="1"/>
          <p:nvPr/>
        </p:nvSpPr>
        <p:spPr>
          <a:xfrm>
            <a:off x="5740898" y="3648470"/>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...but the data may become corrupted if </a:t>
            </a:r>
            <a:r>
              <a:rPr b="1" i="1" lang="en" sz="1200">
                <a:solidFill>
                  <a:srgbClr val="FF0000"/>
                </a:solidFill>
              </a:rPr>
              <a:t>more than one</a:t>
            </a:r>
            <a:r>
              <a:rPr lang="en" sz="1200"/>
              <a:t> person (thread) tries to change the state at the </a:t>
            </a:r>
            <a:r>
              <a:rPr b="1" i="1" lang="en" sz="1200">
                <a:solidFill>
                  <a:srgbClr val="FF0000"/>
                </a:solidFill>
              </a:rPr>
              <a:t>same time</a:t>
            </a:r>
            <a:r>
              <a:rPr lang="en" sz="1200"/>
              <a:t>.</a:t>
            </a:r>
            <a:endParaRPr sz="1200"/>
          </a:p>
        </p:txBody>
      </p:sp>
      <p:sp>
        <p:nvSpPr>
          <p:cNvPr id="412" name="Google Shape;412;p44"/>
          <p:cNvSpPr/>
          <p:nvPr/>
        </p:nvSpPr>
        <p:spPr>
          <a:xfrm>
            <a:off x="3664825" y="1485475"/>
            <a:ext cx="1227900" cy="457200"/>
          </a:xfrm>
          <a:prstGeom prst="wedgeRoundRectCallout">
            <a:avLst>
              <a:gd fmla="val 11261" name="adj1"/>
              <a:gd fmla="val 9343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a:solidFill>
                  <a:srgbClr val="FF0000"/>
                </a:solidFill>
              </a:rPr>
              <a:t>OCCUPIED!</a:t>
            </a:r>
            <a:endParaRPr i="1">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0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1000"/>
                                        <p:tgtEl>
                                          <p:spTgt spid="406"/>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1000"/>
                                        <p:tgtEl>
                                          <p:spTgt spid="407"/>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8">
                                  <p:stCondLst>
                                    <p:cond delay="0"/>
                                  </p:stCondLst>
                                  <p:childTnLst>
                                    <p:set>
                                      <p:cBhvr>
                                        <p:cTn dur="1" fill="hold">
                                          <p:stCondLst>
                                            <p:cond delay="0"/>
                                          </p:stCondLst>
                                        </p:cTn>
                                        <p:tgtEl>
                                          <p:spTgt spid="408"/>
                                        </p:tgtEl>
                                        <p:attrNameLst>
                                          <p:attrName>style.visibility</p:attrName>
                                        </p:attrNameLst>
                                      </p:cBhvr>
                                      <p:to>
                                        <p:strVal val="visible"/>
                                      </p:to>
                                    </p:set>
                                    <p:anim calcmode="lin" valueType="num">
                                      <p:cBhvr additive="base">
                                        <p:cTn dur="1000"/>
                                        <p:tgtEl>
                                          <p:spTgt spid="408"/>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000"/>
                                        <p:tgtEl>
                                          <p:spTgt spid="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5"/>
          <p:cNvSpPr txBox="1"/>
          <p:nvPr>
            <p:ph type="title"/>
          </p:nvPr>
        </p:nvSpPr>
        <p:spPr>
          <a:xfrm>
            <a:off x="311725" y="500925"/>
            <a:ext cx="8520600" cy="6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Illustrated Example</a:t>
            </a:r>
            <a:endParaRPr/>
          </a:p>
          <a:p>
            <a:pPr indent="0" lvl="0" marL="0" rtl="0" algn="l">
              <a:spcBef>
                <a:spcPts val="0"/>
              </a:spcBef>
              <a:spcAft>
                <a:spcPts val="0"/>
              </a:spcAft>
              <a:buNone/>
            </a:pPr>
            <a:r>
              <a:rPr i="1" lang="en" sz="1800"/>
              <a:t>A Story in 3 Parts</a:t>
            </a:r>
            <a:endParaRPr i="1" sz="1800"/>
          </a:p>
        </p:txBody>
      </p:sp>
      <p:sp>
        <p:nvSpPr>
          <p:cNvPr id="418" name="Google Shape;418;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45"/>
          <p:cNvSpPr txBox="1"/>
          <p:nvPr/>
        </p:nvSpPr>
        <p:spPr>
          <a:xfrm>
            <a:off x="172575" y="1480805"/>
            <a:ext cx="290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Adding a</a:t>
            </a:r>
            <a:r>
              <a:rPr b="1" i="1" lang="en" sz="1200">
                <a:solidFill>
                  <a:srgbClr val="FF0000"/>
                </a:solidFill>
              </a:rPr>
              <a:t> Lock </a:t>
            </a:r>
            <a:r>
              <a:rPr lang="en" sz="1200"/>
              <a:t>is like putting a lock on the door (which makes sense if you want to limit use to one person (thread) at a time).</a:t>
            </a:r>
            <a:endParaRPr sz="1200"/>
          </a:p>
        </p:txBody>
      </p:sp>
      <p:pic>
        <p:nvPicPr>
          <p:cNvPr id="420" name="Google Shape;420;p45"/>
          <p:cNvPicPr preferRelativeResize="0"/>
          <p:nvPr/>
        </p:nvPicPr>
        <p:blipFill>
          <a:blip r:embed="rId3">
            <a:alphaModFix/>
          </a:blip>
          <a:stretch>
            <a:fillRect/>
          </a:stretch>
        </p:blipFill>
        <p:spPr>
          <a:xfrm>
            <a:off x="3718979" y="1397599"/>
            <a:ext cx="876105" cy="1710343"/>
          </a:xfrm>
          <a:prstGeom prst="rect">
            <a:avLst/>
          </a:prstGeom>
          <a:noFill/>
          <a:ln>
            <a:noFill/>
          </a:ln>
        </p:spPr>
      </p:pic>
      <p:sp>
        <p:nvSpPr>
          <p:cNvPr id="421" name="Google Shape;421;p45"/>
          <p:cNvSpPr txBox="1"/>
          <p:nvPr/>
        </p:nvSpPr>
        <p:spPr>
          <a:xfrm>
            <a:off x="172575" y="2499407"/>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When the </a:t>
            </a:r>
            <a:r>
              <a:rPr b="1" i="1" lang="en" sz="1200">
                <a:solidFill>
                  <a:srgbClr val="FF0000"/>
                </a:solidFill>
              </a:rPr>
              <a:t>first</a:t>
            </a:r>
            <a:r>
              <a:rPr lang="en" sz="1200">
                <a:solidFill>
                  <a:srgbClr val="FF0000"/>
                </a:solidFill>
              </a:rPr>
              <a:t> </a:t>
            </a:r>
            <a:r>
              <a:rPr lang="en" sz="1200"/>
              <a:t>person arrives, if the door is </a:t>
            </a:r>
            <a:r>
              <a:rPr b="1" i="1" lang="en" sz="1200">
                <a:solidFill>
                  <a:srgbClr val="FF0000"/>
                </a:solidFill>
              </a:rPr>
              <a:t>not locked</a:t>
            </a:r>
            <a:r>
              <a:rPr lang="en" sz="1200"/>
              <a:t>, they may enter the portable toilet</a:t>
            </a:r>
            <a:r>
              <a:rPr lang="en" sz="1200"/>
              <a:t>...</a:t>
            </a:r>
            <a:r>
              <a:rPr lang="en" sz="1200"/>
              <a:t>. </a:t>
            </a:r>
            <a:endParaRPr sz="1200"/>
          </a:p>
        </p:txBody>
      </p:sp>
      <p:pic>
        <p:nvPicPr>
          <p:cNvPr id="422" name="Google Shape;422;p45"/>
          <p:cNvPicPr preferRelativeResize="0"/>
          <p:nvPr/>
        </p:nvPicPr>
        <p:blipFill>
          <a:blip r:embed="rId4">
            <a:alphaModFix/>
          </a:blip>
          <a:stretch>
            <a:fillRect/>
          </a:stretch>
        </p:blipFill>
        <p:spPr>
          <a:xfrm>
            <a:off x="3401376" y="1521478"/>
            <a:ext cx="555280" cy="1606147"/>
          </a:xfrm>
          <a:prstGeom prst="rect">
            <a:avLst/>
          </a:prstGeom>
          <a:noFill/>
          <a:ln>
            <a:noFill/>
          </a:ln>
        </p:spPr>
      </p:pic>
      <p:sp>
        <p:nvSpPr>
          <p:cNvPr id="423" name="Google Shape;423;p45"/>
          <p:cNvSpPr txBox="1"/>
          <p:nvPr/>
        </p:nvSpPr>
        <p:spPr>
          <a:xfrm>
            <a:off x="172575" y="3336577"/>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...and once inside the door is </a:t>
            </a:r>
            <a:r>
              <a:rPr b="1" i="1" lang="en" sz="1200">
                <a:solidFill>
                  <a:srgbClr val="FF0000"/>
                </a:solidFill>
              </a:rPr>
              <a:t>locked </a:t>
            </a:r>
            <a:r>
              <a:rPr lang="en" sz="1200"/>
              <a:t>behind them.</a:t>
            </a:r>
            <a:endParaRPr sz="1200"/>
          </a:p>
        </p:txBody>
      </p:sp>
      <p:pic>
        <p:nvPicPr>
          <p:cNvPr id="424" name="Google Shape;424;p45"/>
          <p:cNvPicPr preferRelativeResize="0"/>
          <p:nvPr/>
        </p:nvPicPr>
        <p:blipFill>
          <a:blip r:embed="rId3">
            <a:alphaModFix/>
          </a:blip>
          <a:stretch>
            <a:fillRect/>
          </a:stretch>
        </p:blipFill>
        <p:spPr>
          <a:xfrm>
            <a:off x="3718979" y="3150199"/>
            <a:ext cx="876105" cy="1710343"/>
          </a:xfrm>
          <a:prstGeom prst="rect">
            <a:avLst/>
          </a:prstGeom>
          <a:noFill/>
          <a:ln>
            <a:noFill/>
          </a:ln>
        </p:spPr>
      </p:pic>
      <p:pic>
        <p:nvPicPr>
          <p:cNvPr id="425" name="Google Shape;425;p45"/>
          <p:cNvPicPr preferRelativeResize="0"/>
          <p:nvPr/>
        </p:nvPicPr>
        <p:blipFill>
          <a:blip r:embed="rId5">
            <a:alphaModFix/>
          </a:blip>
          <a:stretch>
            <a:fillRect/>
          </a:stretch>
        </p:blipFill>
        <p:spPr>
          <a:xfrm>
            <a:off x="4287665" y="3984405"/>
            <a:ext cx="272761" cy="363684"/>
          </a:xfrm>
          <a:prstGeom prst="rect">
            <a:avLst/>
          </a:prstGeom>
          <a:noFill/>
          <a:ln>
            <a:noFill/>
          </a:ln>
        </p:spPr>
      </p:pic>
      <p:sp>
        <p:nvSpPr>
          <p:cNvPr id="426" name="Google Shape;426;p45"/>
          <p:cNvSpPr txBox="1"/>
          <p:nvPr/>
        </p:nvSpPr>
        <p:spPr>
          <a:xfrm>
            <a:off x="172575" y="3988979"/>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If another person arrives, they are </a:t>
            </a:r>
            <a:r>
              <a:rPr b="1" i="1" lang="en" sz="1200">
                <a:solidFill>
                  <a:srgbClr val="FF0000"/>
                </a:solidFill>
              </a:rPr>
              <a:t>blocked</a:t>
            </a:r>
            <a:r>
              <a:rPr lang="en" sz="1200"/>
              <a:t> and will have no choice but to wait for the first person to leave.</a:t>
            </a:r>
            <a:endParaRPr sz="1200"/>
          </a:p>
        </p:txBody>
      </p:sp>
      <p:pic>
        <p:nvPicPr>
          <p:cNvPr id="427" name="Google Shape;427;p45"/>
          <p:cNvPicPr preferRelativeResize="0"/>
          <p:nvPr/>
        </p:nvPicPr>
        <p:blipFill>
          <a:blip r:embed="rId6">
            <a:alphaModFix/>
          </a:blip>
          <a:stretch>
            <a:fillRect/>
          </a:stretch>
        </p:blipFill>
        <p:spPr>
          <a:xfrm>
            <a:off x="4404775" y="3344924"/>
            <a:ext cx="555275" cy="1535299"/>
          </a:xfrm>
          <a:prstGeom prst="rect">
            <a:avLst/>
          </a:prstGeom>
          <a:noFill/>
          <a:ln>
            <a:noFill/>
          </a:ln>
        </p:spPr>
      </p:pic>
      <p:sp>
        <p:nvSpPr>
          <p:cNvPr id="428" name="Google Shape;428;p45"/>
          <p:cNvSpPr txBox="1"/>
          <p:nvPr/>
        </p:nvSpPr>
        <p:spPr>
          <a:xfrm>
            <a:off x="5726274" y="1994339"/>
            <a:ext cx="2900100" cy="2262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Person</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 </a:t>
            </a: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endParaRPr sz="900">
              <a:solidFill>
                <a:srgbClr val="098658"/>
              </a:solidFill>
              <a:latin typeface="Consolas"/>
              <a:ea typeface="Consolas"/>
              <a:cs typeface="Consolas"/>
              <a:sym typeface="Consolas"/>
            </a:endParaRPr>
          </a:p>
        </p:txBody>
      </p:sp>
      <p:sp>
        <p:nvSpPr>
          <p:cNvPr id="429" name="Google Shape;429;p45"/>
          <p:cNvSpPr/>
          <p:nvPr/>
        </p:nvSpPr>
        <p:spPr>
          <a:xfrm>
            <a:off x="4181400" y="1363625"/>
            <a:ext cx="1113600" cy="623700"/>
          </a:xfrm>
          <a:prstGeom prst="wedgeRoundRectCallout">
            <a:avLst>
              <a:gd fmla="val -69331" name="adj1"/>
              <a:gd fmla="val 1845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Yay! No one else is using this!</a:t>
            </a:r>
            <a:endParaRPr sz="1100"/>
          </a:p>
        </p:txBody>
      </p:sp>
      <p:sp>
        <p:nvSpPr>
          <p:cNvPr id="430" name="Google Shape;430;p45"/>
          <p:cNvSpPr/>
          <p:nvPr/>
        </p:nvSpPr>
        <p:spPr>
          <a:xfrm>
            <a:off x="4647789" y="2968879"/>
            <a:ext cx="1001700" cy="526800"/>
          </a:xfrm>
          <a:prstGeom prst="wedgeRoundRectCallout">
            <a:avLst>
              <a:gd fmla="val -39690" name="adj1"/>
              <a:gd fmla="val 5961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It's in use! I need to wait my turn!</a:t>
            </a:r>
            <a:endParaRPr sz="1000"/>
          </a:p>
        </p:txBody>
      </p:sp>
      <p:grpSp>
        <p:nvGrpSpPr>
          <p:cNvPr id="431" name="Google Shape;431;p45"/>
          <p:cNvGrpSpPr/>
          <p:nvPr/>
        </p:nvGrpSpPr>
        <p:grpSpPr>
          <a:xfrm>
            <a:off x="4188960" y="2187088"/>
            <a:ext cx="786261" cy="558124"/>
            <a:chOff x="4188960" y="2187088"/>
            <a:chExt cx="786261" cy="558124"/>
          </a:xfrm>
        </p:grpSpPr>
        <p:pic>
          <p:nvPicPr>
            <p:cNvPr id="432" name="Google Shape;432;p45"/>
            <p:cNvPicPr preferRelativeResize="0"/>
            <p:nvPr/>
          </p:nvPicPr>
          <p:blipFill>
            <a:blip r:embed="rId7">
              <a:alphaModFix/>
            </a:blip>
            <a:stretch>
              <a:fillRect/>
            </a:stretch>
          </p:blipFill>
          <p:spPr>
            <a:xfrm rot="1800001">
              <a:off x="4251499" y="2268647"/>
              <a:ext cx="423687" cy="363684"/>
            </a:xfrm>
            <a:prstGeom prst="rect">
              <a:avLst/>
            </a:prstGeom>
            <a:noFill/>
            <a:ln>
              <a:noFill/>
            </a:ln>
          </p:spPr>
        </p:pic>
        <p:pic>
          <p:nvPicPr>
            <p:cNvPr id="433" name="Google Shape;433;p45"/>
            <p:cNvPicPr preferRelativeResize="0"/>
            <p:nvPr/>
          </p:nvPicPr>
          <p:blipFill>
            <a:blip r:embed="rId8">
              <a:alphaModFix/>
            </a:blip>
            <a:stretch>
              <a:fillRect/>
            </a:stretch>
          </p:blipFill>
          <p:spPr>
            <a:xfrm rot="-900016">
              <a:off x="4747050" y="2300499"/>
              <a:ext cx="175608" cy="429302"/>
            </a:xfrm>
            <a:prstGeom prst="rect">
              <a:avLst/>
            </a:prstGeom>
            <a:noFill/>
            <a:ln>
              <a:noFill/>
            </a:ln>
          </p:spPr>
        </p:pic>
      </p:grpSp>
      <p:sp>
        <p:nvSpPr>
          <p:cNvPr id="434" name="Google Shape;434;p45"/>
          <p:cNvSpPr/>
          <p:nvPr/>
        </p:nvSpPr>
        <p:spPr>
          <a:xfrm>
            <a:off x="8078025" y="1739902"/>
            <a:ext cx="403675" cy="1098769"/>
          </a:xfrm>
          <a:custGeom>
            <a:rect b="b" l="l" r="r" t="t"/>
            <a:pathLst>
              <a:path extrusionOk="0" h="38395" w="16147">
                <a:moveTo>
                  <a:pt x="8451" y="0"/>
                </a:moveTo>
                <a:cubicBezTo>
                  <a:pt x="9699" y="4306"/>
                  <a:pt x="17346" y="19439"/>
                  <a:pt x="15937" y="25838"/>
                </a:cubicBezTo>
                <a:cubicBezTo>
                  <a:pt x="14529" y="32237"/>
                  <a:pt x="2656" y="36302"/>
                  <a:pt x="0" y="38395"/>
                </a:cubicBezTo>
              </a:path>
            </a:pathLst>
          </a:custGeom>
          <a:noFill/>
          <a:ln cap="flat" cmpd="sng" w="19050">
            <a:solidFill>
              <a:srgbClr val="FF0000"/>
            </a:solidFill>
            <a:prstDash val="solid"/>
            <a:round/>
            <a:headEnd len="med" w="med" type="none"/>
            <a:tailEnd len="med" w="med" type="stealth"/>
          </a:ln>
        </p:spPr>
      </p:sp>
      <p:sp>
        <p:nvSpPr>
          <p:cNvPr id="435" name="Google Shape;435;p45"/>
          <p:cNvSpPr txBox="1"/>
          <p:nvPr/>
        </p:nvSpPr>
        <p:spPr>
          <a:xfrm>
            <a:off x="5726250" y="1358115"/>
            <a:ext cx="2900100" cy="538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50"/>
              <a:t>In this example, the </a:t>
            </a:r>
            <a:r>
              <a:rPr b="1" i="1" lang="en" sz="1150">
                <a:solidFill>
                  <a:srgbClr val="FF0000"/>
                </a:solidFill>
              </a:rPr>
              <a:t>door</a:t>
            </a:r>
            <a:r>
              <a:rPr lang="en" sz="1150"/>
              <a:t> is a </a:t>
            </a:r>
            <a:r>
              <a:rPr lang="en" sz="1150">
                <a:solidFill>
                  <a:srgbClr val="FF0000"/>
                </a:solidFill>
                <a:latin typeface="Courier New"/>
                <a:ea typeface="Courier New"/>
                <a:cs typeface="Courier New"/>
                <a:sym typeface="Courier New"/>
              </a:rPr>
              <a:t>Lock</a:t>
            </a:r>
            <a:r>
              <a:rPr lang="en" sz="1150"/>
              <a:t>. </a:t>
            </a:r>
            <a:r>
              <a:rPr lang="en" sz="1150"/>
              <a:t>Only </a:t>
            </a:r>
            <a:r>
              <a:rPr b="1" i="1" lang="en" sz="1150">
                <a:solidFill>
                  <a:srgbClr val="FF0000"/>
                </a:solidFill>
              </a:rPr>
              <a:t>one thread</a:t>
            </a:r>
            <a:r>
              <a:rPr lang="en" sz="1150"/>
              <a:t> can use the </a:t>
            </a:r>
            <a:r>
              <a:rPr b="1" i="1" lang="en" sz="1150">
                <a:solidFill>
                  <a:srgbClr val="FF0000"/>
                </a:solidFill>
              </a:rPr>
              <a:t>lock</a:t>
            </a:r>
            <a:r>
              <a:rPr lang="en" sz="1150"/>
              <a:t> at a time.</a:t>
            </a:r>
            <a:endParaRPr sz="1150"/>
          </a:p>
        </p:txBody>
      </p:sp>
      <p:sp>
        <p:nvSpPr>
          <p:cNvPr id="436" name="Google Shape;436;p45"/>
          <p:cNvSpPr/>
          <p:nvPr/>
        </p:nvSpPr>
        <p:spPr>
          <a:xfrm>
            <a:off x="6102038" y="3519992"/>
            <a:ext cx="563325" cy="906350"/>
          </a:xfrm>
          <a:custGeom>
            <a:rect b="b" l="l" r="r" t="t"/>
            <a:pathLst>
              <a:path extrusionOk="0" h="36254" w="22533">
                <a:moveTo>
                  <a:pt x="8768" y="36254"/>
                </a:moveTo>
                <a:cubicBezTo>
                  <a:pt x="7319" y="32753"/>
                  <a:pt x="-529" y="21041"/>
                  <a:pt x="75" y="15245"/>
                </a:cubicBezTo>
                <a:cubicBezTo>
                  <a:pt x="679" y="9450"/>
                  <a:pt x="8648" y="3976"/>
                  <a:pt x="12391" y="1481"/>
                </a:cubicBezTo>
                <a:cubicBezTo>
                  <a:pt x="16134" y="-1014"/>
                  <a:pt x="20843" y="475"/>
                  <a:pt x="22533" y="274"/>
                </a:cubicBezTo>
              </a:path>
            </a:pathLst>
          </a:custGeom>
          <a:noFill/>
          <a:ln cap="flat" cmpd="sng" w="19050">
            <a:solidFill>
              <a:srgbClr val="FF0000"/>
            </a:solidFill>
            <a:prstDash val="solid"/>
            <a:round/>
            <a:headEnd len="med" w="med" type="none"/>
            <a:tailEnd len="med" w="med" type="stealth"/>
          </a:ln>
        </p:spPr>
      </p:sp>
      <p:sp>
        <p:nvSpPr>
          <p:cNvPr id="437" name="Google Shape;437;p45"/>
          <p:cNvSpPr txBox="1"/>
          <p:nvPr/>
        </p:nvSpPr>
        <p:spPr>
          <a:xfrm>
            <a:off x="5726250" y="4371503"/>
            <a:ext cx="2900100" cy="715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50"/>
              <a:t>When done, the lock is </a:t>
            </a:r>
            <a:r>
              <a:rPr b="1" i="1" lang="en" sz="1150">
                <a:solidFill>
                  <a:srgbClr val="FF0000"/>
                </a:solidFill>
              </a:rPr>
              <a:t>unlocked</a:t>
            </a:r>
            <a:r>
              <a:rPr lang="en" sz="1150"/>
              <a:t> allowing </a:t>
            </a:r>
            <a:r>
              <a:rPr b="1" i="1" lang="en" sz="1150">
                <a:solidFill>
                  <a:srgbClr val="FF0000"/>
                </a:solidFill>
              </a:rPr>
              <a:t>another thread</a:t>
            </a:r>
            <a:r>
              <a:rPr lang="en" sz="1150"/>
              <a:t> to lock it and access the </a:t>
            </a:r>
            <a:r>
              <a:rPr b="1" i="1" lang="en" sz="1150">
                <a:solidFill>
                  <a:srgbClr val="FF0000"/>
                </a:solidFill>
              </a:rPr>
              <a:t>critical region</a:t>
            </a:r>
            <a:r>
              <a:rPr lang="en" sz="1150"/>
              <a:t>.</a:t>
            </a:r>
            <a:endParaRPr sz="115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000"/>
                                        <p:tgtEl>
                                          <p:spTgt spid="421"/>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422"/>
                                        </p:tgtEl>
                                        <p:attrNameLst>
                                          <p:attrName>style.visibility</p:attrName>
                                        </p:attrNameLst>
                                      </p:cBhvr>
                                      <p:to>
                                        <p:strVal val="visible"/>
                                      </p:to>
                                    </p:set>
                                    <p:anim calcmode="lin" valueType="num">
                                      <p:cBhvr additive="base">
                                        <p:cTn dur="1000"/>
                                        <p:tgtEl>
                                          <p:spTgt spid="422"/>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1000"/>
                                        <p:tgtEl>
                                          <p:spTgt spid="42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000"/>
                                        <p:tgtEl>
                                          <p:spTgt spid="426"/>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427"/>
                                        </p:tgtEl>
                                        <p:attrNameLst>
                                          <p:attrName>style.visibility</p:attrName>
                                        </p:attrNameLst>
                                      </p:cBhvr>
                                      <p:to>
                                        <p:strVal val="visible"/>
                                      </p:to>
                                    </p:set>
                                    <p:anim calcmode="lin" valueType="num">
                                      <p:cBhvr additive="base">
                                        <p:cTn dur="1000"/>
                                        <p:tgtEl>
                                          <p:spTgt spid="427"/>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000"/>
                                        <p:tgtEl>
                                          <p:spTgt spid="435"/>
                                        </p:tgtEl>
                                      </p:cBhvr>
                                    </p:animEffect>
                                  </p:childTnLst>
                                </p:cTn>
                              </p:par>
                              <p:par>
                                <p:cTn fill="hold" nodeType="with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6"/>
          <p:cNvSpPr/>
          <p:nvPr/>
        </p:nvSpPr>
        <p:spPr>
          <a:xfrm>
            <a:off x="4647800" y="1488150"/>
            <a:ext cx="1001700" cy="543300"/>
          </a:xfrm>
          <a:prstGeom prst="wedgeRoundRectCallout">
            <a:avLst>
              <a:gd fmla="val -39690" name="adj1"/>
              <a:gd fmla="val 5961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I'll just use </a:t>
            </a:r>
            <a:r>
              <a:rPr b="1" i="1" lang="en" sz="1000">
                <a:solidFill>
                  <a:srgbClr val="FF0000"/>
                </a:solidFill>
              </a:rPr>
              <a:t>my </a:t>
            </a:r>
            <a:r>
              <a:rPr lang="en" sz="1000"/>
              <a:t>key to get in!</a:t>
            </a:r>
            <a:endParaRPr sz="1000"/>
          </a:p>
        </p:txBody>
      </p:sp>
      <p:sp>
        <p:nvSpPr>
          <p:cNvPr id="443" name="Google Shape;443;p46"/>
          <p:cNvSpPr txBox="1"/>
          <p:nvPr>
            <p:ph type="title"/>
          </p:nvPr>
        </p:nvSpPr>
        <p:spPr>
          <a:xfrm>
            <a:off x="311725" y="500925"/>
            <a:ext cx="8520600" cy="6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Illustrated Example</a:t>
            </a:r>
            <a:endParaRPr/>
          </a:p>
          <a:p>
            <a:pPr indent="0" lvl="0" marL="0" rtl="0" algn="l">
              <a:spcBef>
                <a:spcPts val="0"/>
              </a:spcBef>
              <a:spcAft>
                <a:spcPts val="0"/>
              </a:spcAft>
              <a:buNone/>
            </a:pPr>
            <a:r>
              <a:rPr i="1" lang="en" sz="1800"/>
              <a:t>A Story in 3 Parts</a:t>
            </a:r>
            <a:endParaRPr i="1" sz="1800"/>
          </a:p>
        </p:txBody>
      </p:sp>
      <p:sp>
        <p:nvSpPr>
          <p:cNvPr id="444" name="Google Shape;444;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5" name="Google Shape;445;p46"/>
          <p:cNvSpPr txBox="1"/>
          <p:nvPr/>
        </p:nvSpPr>
        <p:spPr>
          <a:xfrm>
            <a:off x="172575" y="1391293"/>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One challenge is deciding where to create the Lock.</a:t>
            </a:r>
            <a:endParaRPr sz="1200"/>
          </a:p>
        </p:txBody>
      </p:sp>
      <p:pic>
        <p:nvPicPr>
          <p:cNvPr id="446" name="Google Shape;446;p46"/>
          <p:cNvPicPr preferRelativeResize="0"/>
          <p:nvPr/>
        </p:nvPicPr>
        <p:blipFill>
          <a:blip r:embed="rId3">
            <a:alphaModFix/>
          </a:blip>
          <a:stretch>
            <a:fillRect/>
          </a:stretch>
        </p:blipFill>
        <p:spPr>
          <a:xfrm>
            <a:off x="3718979" y="1473799"/>
            <a:ext cx="876105" cy="1710343"/>
          </a:xfrm>
          <a:prstGeom prst="rect">
            <a:avLst/>
          </a:prstGeom>
          <a:noFill/>
          <a:ln>
            <a:noFill/>
          </a:ln>
        </p:spPr>
      </p:pic>
      <p:pic>
        <p:nvPicPr>
          <p:cNvPr id="447" name="Google Shape;447;p46"/>
          <p:cNvPicPr preferRelativeResize="0"/>
          <p:nvPr/>
        </p:nvPicPr>
        <p:blipFill>
          <a:blip r:embed="rId4">
            <a:alphaModFix/>
          </a:blip>
          <a:stretch>
            <a:fillRect/>
          </a:stretch>
        </p:blipFill>
        <p:spPr>
          <a:xfrm>
            <a:off x="4287665" y="2197377"/>
            <a:ext cx="272761" cy="363684"/>
          </a:xfrm>
          <a:prstGeom prst="rect">
            <a:avLst/>
          </a:prstGeom>
          <a:noFill/>
          <a:ln>
            <a:noFill/>
          </a:ln>
        </p:spPr>
      </p:pic>
      <p:sp>
        <p:nvSpPr>
          <p:cNvPr id="448" name="Google Shape;448;p46"/>
          <p:cNvSpPr txBox="1"/>
          <p:nvPr/>
        </p:nvSpPr>
        <p:spPr>
          <a:xfrm>
            <a:off x="172575" y="2049233"/>
            <a:ext cx="290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Clearly, if each person has </a:t>
            </a:r>
            <a:r>
              <a:rPr b="1" i="1" lang="en" sz="1200">
                <a:solidFill>
                  <a:srgbClr val="FF0000"/>
                </a:solidFill>
              </a:rPr>
              <a:t>their own lock/key</a:t>
            </a:r>
            <a:r>
              <a:rPr lang="en" sz="1200"/>
              <a:t>, then one person won't be able to lock anyone else out of the toilet.</a:t>
            </a:r>
            <a:endParaRPr sz="1200"/>
          </a:p>
        </p:txBody>
      </p:sp>
      <p:grpSp>
        <p:nvGrpSpPr>
          <p:cNvPr id="449" name="Google Shape;449;p46"/>
          <p:cNvGrpSpPr/>
          <p:nvPr/>
        </p:nvGrpSpPr>
        <p:grpSpPr>
          <a:xfrm>
            <a:off x="4404775" y="1710296"/>
            <a:ext cx="687496" cy="1535299"/>
            <a:chOff x="4404775" y="1820924"/>
            <a:chExt cx="687496" cy="1535299"/>
          </a:xfrm>
        </p:grpSpPr>
        <p:pic>
          <p:nvPicPr>
            <p:cNvPr id="450" name="Google Shape;450;p46"/>
            <p:cNvPicPr preferRelativeResize="0"/>
            <p:nvPr/>
          </p:nvPicPr>
          <p:blipFill>
            <a:blip r:embed="rId5">
              <a:alphaModFix/>
            </a:blip>
            <a:stretch>
              <a:fillRect/>
            </a:stretch>
          </p:blipFill>
          <p:spPr>
            <a:xfrm>
              <a:off x="4404775" y="1820924"/>
              <a:ext cx="555275" cy="1535299"/>
            </a:xfrm>
            <a:prstGeom prst="rect">
              <a:avLst/>
            </a:prstGeom>
            <a:noFill/>
            <a:ln>
              <a:noFill/>
            </a:ln>
          </p:spPr>
        </p:pic>
        <p:pic>
          <p:nvPicPr>
            <p:cNvPr id="451" name="Google Shape;451;p46"/>
            <p:cNvPicPr preferRelativeResize="0"/>
            <p:nvPr/>
          </p:nvPicPr>
          <p:blipFill>
            <a:blip r:embed="rId6">
              <a:alphaModFix/>
            </a:blip>
            <a:stretch>
              <a:fillRect/>
            </a:stretch>
          </p:blipFill>
          <p:spPr>
            <a:xfrm rot="-900016">
              <a:off x="4864100" y="2226999"/>
              <a:ext cx="175608" cy="429302"/>
            </a:xfrm>
            <a:prstGeom prst="rect">
              <a:avLst/>
            </a:prstGeom>
            <a:noFill/>
            <a:ln>
              <a:noFill/>
            </a:ln>
          </p:spPr>
        </p:pic>
      </p:grpSp>
      <p:sp>
        <p:nvSpPr>
          <p:cNvPr id="452" name="Google Shape;452;p46"/>
          <p:cNvSpPr/>
          <p:nvPr/>
        </p:nvSpPr>
        <p:spPr>
          <a:xfrm>
            <a:off x="3200000" y="1869150"/>
            <a:ext cx="1001700" cy="483600"/>
          </a:xfrm>
          <a:prstGeom prst="wedgeRoundRectCallout">
            <a:avLst>
              <a:gd fmla="val 18234" name="adj1"/>
              <a:gd fmla="val 67582"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And we'll use </a:t>
            </a:r>
            <a:r>
              <a:rPr b="1" i="1" lang="en" sz="1000">
                <a:solidFill>
                  <a:srgbClr val="FF0000"/>
                </a:solidFill>
              </a:rPr>
              <a:t>ours</a:t>
            </a:r>
            <a:r>
              <a:rPr lang="en" sz="1000"/>
              <a:t>!</a:t>
            </a:r>
            <a:endParaRPr sz="1000"/>
          </a:p>
        </p:txBody>
      </p:sp>
      <p:grpSp>
        <p:nvGrpSpPr>
          <p:cNvPr id="453" name="Google Shape;453;p46"/>
          <p:cNvGrpSpPr/>
          <p:nvPr/>
        </p:nvGrpSpPr>
        <p:grpSpPr>
          <a:xfrm>
            <a:off x="3540287" y="2273574"/>
            <a:ext cx="482057" cy="976428"/>
            <a:chOff x="3540287" y="2384202"/>
            <a:chExt cx="482057" cy="976428"/>
          </a:xfrm>
        </p:grpSpPr>
        <p:pic>
          <p:nvPicPr>
            <p:cNvPr id="454" name="Google Shape;454;p46"/>
            <p:cNvPicPr preferRelativeResize="0"/>
            <p:nvPr/>
          </p:nvPicPr>
          <p:blipFill>
            <a:blip r:embed="rId7">
              <a:alphaModFix/>
            </a:blip>
            <a:stretch>
              <a:fillRect/>
            </a:stretch>
          </p:blipFill>
          <p:spPr>
            <a:xfrm>
              <a:off x="3741594" y="2384202"/>
              <a:ext cx="280750" cy="976428"/>
            </a:xfrm>
            <a:prstGeom prst="rect">
              <a:avLst/>
            </a:prstGeom>
            <a:noFill/>
            <a:ln>
              <a:noFill/>
            </a:ln>
          </p:spPr>
        </p:pic>
        <p:pic>
          <p:nvPicPr>
            <p:cNvPr id="455" name="Google Shape;455;p46"/>
            <p:cNvPicPr preferRelativeResize="0"/>
            <p:nvPr/>
          </p:nvPicPr>
          <p:blipFill>
            <a:blip r:embed="rId6">
              <a:alphaModFix/>
            </a:blip>
            <a:stretch>
              <a:fillRect/>
            </a:stretch>
          </p:blipFill>
          <p:spPr>
            <a:xfrm rot="-125215">
              <a:off x="3548041" y="2531798"/>
              <a:ext cx="175607" cy="429300"/>
            </a:xfrm>
            <a:prstGeom prst="rect">
              <a:avLst/>
            </a:prstGeom>
            <a:noFill/>
            <a:ln>
              <a:noFill/>
            </a:ln>
          </p:spPr>
        </p:pic>
      </p:grpSp>
      <p:grpSp>
        <p:nvGrpSpPr>
          <p:cNvPr id="456" name="Google Shape;456;p46"/>
          <p:cNvGrpSpPr/>
          <p:nvPr/>
        </p:nvGrpSpPr>
        <p:grpSpPr>
          <a:xfrm>
            <a:off x="4311325" y="2340047"/>
            <a:ext cx="549307" cy="914025"/>
            <a:chOff x="4311325" y="2450675"/>
            <a:chExt cx="549307" cy="914025"/>
          </a:xfrm>
        </p:grpSpPr>
        <p:pic>
          <p:nvPicPr>
            <p:cNvPr id="457" name="Google Shape;457;p46"/>
            <p:cNvPicPr preferRelativeResize="0"/>
            <p:nvPr/>
          </p:nvPicPr>
          <p:blipFill>
            <a:blip r:embed="rId8">
              <a:alphaModFix/>
            </a:blip>
            <a:stretch>
              <a:fillRect/>
            </a:stretch>
          </p:blipFill>
          <p:spPr>
            <a:xfrm>
              <a:off x="4311325" y="2450675"/>
              <a:ext cx="320826" cy="914025"/>
            </a:xfrm>
            <a:prstGeom prst="rect">
              <a:avLst/>
            </a:prstGeom>
            <a:noFill/>
            <a:ln>
              <a:noFill/>
            </a:ln>
          </p:spPr>
        </p:pic>
        <p:pic>
          <p:nvPicPr>
            <p:cNvPr id="458" name="Google Shape;458;p46"/>
            <p:cNvPicPr preferRelativeResize="0"/>
            <p:nvPr/>
          </p:nvPicPr>
          <p:blipFill>
            <a:blip r:embed="rId6">
              <a:alphaModFix/>
            </a:blip>
            <a:stretch>
              <a:fillRect/>
            </a:stretch>
          </p:blipFill>
          <p:spPr>
            <a:xfrm rot="-125215">
              <a:off x="4677270" y="2531798"/>
              <a:ext cx="175607" cy="429300"/>
            </a:xfrm>
            <a:prstGeom prst="rect">
              <a:avLst/>
            </a:prstGeom>
            <a:noFill/>
            <a:ln>
              <a:noFill/>
            </a:ln>
          </p:spPr>
        </p:pic>
      </p:grpSp>
      <p:sp>
        <p:nvSpPr>
          <p:cNvPr id="459" name="Google Shape;459;p46"/>
          <p:cNvSpPr/>
          <p:nvPr/>
        </p:nvSpPr>
        <p:spPr>
          <a:xfrm>
            <a:off x="3436225" y="1149075"/>
            <a:ext cx="1227900" cy="336300"/>
          </a:xfrm>
          <a:prstGeom prst="wedgeRoundRectCallout">
            <a:avLst>
              <a:gd fmla="val 11261" name="adj1"/>
              <a:gd fmla="val 9343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solidFill>
                  <a:srgbClr val="FF0000"/>
                </a:solidFill>
              </a:rPr>
              <a:t>NOOOOO</a:t>
            </a:r>
            <a:r>
              <a:rPr i="1" lang="en" sz="1000">
                <a:solidFill>
                  <a:srgbClr val="FF0000"/>
                </a:solidFill>
              </a:rPr>
              <a:t>!</a:t>
            </a:r>
            <a:endParaRPr i="1" sz="1000">
              <a:solidFill>
                <a:srgbClr val="FF0000"/>
              </a:solidFill>
            </a:endParaRPr>
          </a:p>
        </p:txBody>
      </p:sp>
      <p:sp>
        <p:nvSpPr>
          <p:cNvPr id="460" name="Google Shape;460;p46"/>
          <p:cNvSpPr txBox="1"/>
          <p:nvPr/>
        </p:nvSpPr>
        <p:spPr>
          <a:xfrm>
            <a:off x="172575" y="3074579"/>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To properly constrain access to </a:t>
            </a:r>
            <a:r>
              <a:rPr b="1" i="1" lang="en" sz="1200">
                <a:solidFill>
                  <a:srgbClr val="FF0000"/>
                </a:solidFill>
              </a:rPr>
              <a:t>one </a:t>
            </a:r>
            <a:r>
              <a:rPr lang="en" sz="1200"/>
              <a:t>person at a time, there must be a </a:t>
            </a:r>
            <a:r>
              <a:rPr b="1" i="1" lang="en" sz="1200">
                <a:solidFill>
                  <a:srgbClr val="FF0000"/>
                </a:solidFill>
              </a:rPr>
              <a:t>single shared lock/key</a:t>
            </a:r>
            <a:r>
              <a:rPr lang="en" sz="1200"/>
              <a:t>.</a:t>
            </a:r>
            <a:endParaRPr sz="1200"/>
          </a:p>
        </p:txBody>
      </p:sp>
      <p:sp>
        <p:nvSpPr>
          <p:cNvPr id="461" name="Google Shape;461;p46"/>
          <p:cNvSpPr txBox="1"/>
          <p:nvPr/>
        </p:nvSpPr>
        <p:spPr>
          <a:xfrm>
            <a:off x="172575" y="3919664"/>
            <a:ext cx="29001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At the same time, if </a:t>
            </a:r>
            <a:r>
              <a:rPr b="1" i="1" lang="en" sz="1200">
                <a:solidFill>
                  <a:srgbClr val="FF0000"/>
                </a:solidFill>
              </a:rPr>
              <a:t>one</a:t>
            </a:r>
            <a:r>
              <a:rPr lang="en" sz="1200">
                <a:solidFill>
                  <a:srgbClr val="FF0000"/>
                </a:solidFill>
              </a:rPr>
              <a:t> </a:t>
            </a:r>
            <a:r>
              <a:rPr lang="en" sz="1200"/>
              <a:t>bathroom is in use, we don't want to lock </a:t>
            </a:r>
            <a:r>
              <a:rPr b="1" i="1" lang="en" sz="1200">
                <a:solidFill>
                  <a:srgbClr val="FF0000"/>
                </a:solidFill>
              </a:rPr>
              <a:t>all</a:t>
            </a:r>
            <a:r>
              <a:rPr lang="en" sz="1200">
                <a:solidFill>
                  <a:srgbClr val="FF0000"/>
                </a:solidFill>
              </a:rPr>
              <a:t> </a:t>
            </a:r>
            <a:r>
              <a:rPr lang="en" sz="1200"/>
              <a:t>of them. So if there is </a:t>
            </a:r>
            <a:r>
              <a:rPr b="1" i="1" lang="en" sz="1200">
                <a:solidFill>
                  <a:srgbClr val="FF0000"/>
                </a:solidFill>
              </a:rPr>
              <a:t>more than one</a:t>
            </a:r>
            <a:r>
              <a:rPr lang="en" sz="1200"/>
              <a:t> </a:t>
            </a:r>
            <a:r>
              <a:rPr lang="en" sz="1200"/>
              <a:t>critical</a:t>
            </a:r>
            <a:r>
              <a:rPr lang="en" sz="1200"/>
              <a:t> resource, there should be </a:t>
            </a:r>
            <a:r>
              <a:rPr b="1" i="1" lang="en" sz="1200">
                <a:solidFill>
                  <a:srgbClr val="FF0000"/>
                </a:solidFill>
              </a:rPr>
              <a:t>more than one</a:t>
            </a:r>
            <a:r>
              <a:rPr lang="en" sz="1200"/>
              <a:t> lock.</a:t>
            </a:r>
            <a:endParaRPr sz="1200"/>
          </a:p>
        </p:txBody>
      </p:sp>
      <p:grpSp>
        <p:nvGrpSpPr>
          <p:cNvPr id="462" name="Google Shape;462;p46"/>
          <p:cNvGrpSpPr/>
          <p:nvPr/>
        </p:nvGrpSpPr>
        <p:grpSpPr>
          <a:xfrm>
            <a:off x="3261779" y="3316370"/>
            <a:ext cx="876105" cy="1710343"/>
            <a:chOff x="3261779" y="3316370"/>
            <a:chExt cx="876105" cy="1710343"/>
          </a:xfrm>
        </p:grpSpPr>
        <p:pic>
          <p:nvPicPr>
            <p:cNvPr id="463" name="Google Shape;463;p46"/>
            <p:cNvPicPr preferRelativeResize="0"/>
            <p:nvPr/>
          </p:nvPicPr>
          <p:blipFill>
            <a:blip r:embed="rId3">
              <a:alphaModFix/>
            </a:blip>
            <a:stretch>
              <a:fillRect/>
            </a:stretch>
          </p:blipFill>
          <p:spPr>
            <a:xfrm>
              <a:off x="3261779" y="3316370"/>
              <a:ext cx="876105" cy="1710343"/>
            </a:xfrm>
            <a:prstGeom prst="rect">
              <a:avLst/>
            </a:prstGeom>
            <a:noFill/>
            <a:ln>
              <a:noFill/>
            </a:ln>
          </p:spPr>
        </p:pic>
        <p:pic>
          <p:nvPicPr>
            <p:cNvPr id="464" name="Google Shape;464;p46"/>
            <p:cNvPicPr preferRelativeResize="0"/>
            <p:nvPr/>
          </p:nvPicPr>
          <p:blipFill>
            <a:blip r:embed="rId4">
              <a:alphaModFix/>
            </a:blip>
            <a:stretch>
              <a:fillRect/>
            </a:stretch>
          </p:blipFill>
          <p:spPr>
            <a:xfrm>
              <a:off x="3830465" y="4164806"/>
              <a:ext cx="272761" cy="363684"/>
            </a:xfrm>
            <a:prstGeom prst="rect">
              <a:avLst/>
            </a:prstGeom>
            <a:noFill/>
            <a:ln>
              <a:noFill/>
            </a:ln>
          </p:spPr>
        </p:pic>
      </p:grpSp>
      <p:grpSp>
        <p:nvGrpSpPr>
          <p:cNvPr id="465" name="Google Shape;465;p46"/>
          <p:cNvGrpSpPr/>
          <p:nvPr/>
        </p:nvGrpSpPr>
        <p:grpSpPr>
          <a:xfrm>
            <a:off x="4252379" y="3316370"/>
            <a:ext cx="1256242" cy="1710343"/>
            <a:chOff x="4252379" y="3316370"/>
            <a:chExt cx="1256242" cy="1710343"/>
          </a:xfrm>
        </p:grpSpPr>
        <p:pic>
          <p:nvPicPr>
            <p:cNvPr id="466" name="Google Shape;466;p46"/>
            <p:cNvPicPr preferRelativeResize="0"/>
            <p:nvPr/>
          </p:nvPicPr>
          <p:blipFill>
            <a:blip r:embed="rId3">
              <a:alphaModFix/>
            </a:blip>
            <a:stretch>
              <a:fillRect/>
            </a:stretch>
          </p:blipFill>
          <p:spPr>
            <a:xfrm>
              <a:off x="4252379" y="3316370"/>
              <a:ext cx="876105" cy="1710343"/>
            </a:xfrm>
            <a:prstGeom prst="rect">
              <a:avLst/>
            </a:prstGeom>
            <a:noFill/>
            <a:ln>
              <a:noFill/>
            </a:ln>
          </p:spPr>
        </p:pic>
        <p:grpSp>
          <p:nvGrpSpPr>
            <p:cNvPr id="467" name="Google Shape;467;p46"/>
            <p:cNvGrpSpPr/>
            <p:nvPr/>
          </p:nvGrpSpPr>
          <p:grpSpPr>
            <a:xfrm>
              <a:off x="4722360" y="4119630"/>
              <a:ext cx="786261" cy="558124"/>
              <a:chOff x="4188960" y="2187088"/>
              <a:chExt cx="786261" cy="558124"/>
            </a:xfrm>
          </p:grpSpPr>
          <p:pic>
            <p:nvPicPr>
              <p:cNvPr id="468" name="Google Shape;468;p46"/>
              <p:cNvPicPr preferRelativeResize="0"/>
              <p:nvPr/>
            </p:nvPicPr>
            <p:blipFill>
              <a:blip r:embed="rId9">
                <a:alphaModFix/>
              </a:blip>
              <a:stretch>
                <a:fillRect/>
              </a:stretch>
            </p:blipFill>
            <p:spPr>
              <a:xfrm rot="1800001">
                <a:off x="4251499" y="2268647"/>
                <a:ext cx="423687" cy="363684"/>
              </a:xfrm>
              <a:prstGeom prst="rect">
                <a:avLst/>
              </a:prstGeom>
              <a:noFill/>
              <a:ln>
                <a:noFill/>
              </a:ln>
            </p:spPr>
          </p:pic>
          <p:pic>
            <p:nvPicPr>
              <p:cNvPr id="469" name="Google Shape;469;p46"/>
              <p:cNvPicPr preferRelativeResize="0"/>
              <p:nvPr/>
            </p:nvPicPr>
            <p:blipFill>
              <a:blip r:embed="rId6">
                <a:alphaModFix/>
              </a:blip>
              <a:stretch>
                <a:fillRect/>
              </a:stretch>
            </p:blipFill>
            <p:spPr>
              <a:xfrm rot="-900016">
                <a:off x="4747050" y="2300499"/>
                <a:ext cx="175608" cy="429302"/>
              </a:xfrm>
              <a:prstGeom prst="rect">
                <a:avLst/>
              </a:prstGeom>
              <a:noFill/>
              <a:ln>
                <a:noFill/>
              </a:ln>
            </p:spPr>
          </p:pic>
        </p:grpSp>
      </p:grpSp>
      <p:sp>
        <p:nvSpPr>
          <p:cNvPr id="470" name="Google Shape;470;p46"/>
          <p:cNvSpPr txBox="1"/>
          <p:nvPr/>
        </p:nvSpPr>
        <p:spPr>
          <a:xfrm>
            <a:off x="5726250" y="1362093"/>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In order to work, the </a:t>
            </a:r>
            <a:r>
              <a:rPr b="1" i="1" lang="en" sz="1200">
                <a:solidFill>
                  <a:srgbClr val="FF0000"/>
                </a:solidFill>
              </a:rPr>
              <a:t>lock</a:t>
            </a:r>
            <a:r>
              <a:rPr lang="en" sz="1200">
                <a:solidFill>
                  <a:srgbClr val="FF0000"/>
                </a:solidFill>
              </a:rPr>
              <a:t> </a:t>
            </a:r>
            <a:r>
              <a:rPr lang="en" sz="1200"/>
              <a:t>must be </a:t>
            </a:r>
            <a:r>
              <a:rPr b="1" i="1" lang="en" sz="1200">
                <a:solidFill>
                  <a:srgbClr val="FF0000"/>
                </a:solidFill>
              </a:rPr>
              <a:t>shared</a:t>
            </a:r>
            <a:r>
              <a:rPr lang="en" sz="1200">
                <a:solidFill>
                  <a:srgbClr val="FF0000"/>
                </a:solidFill>
              </a:rPr>
              <a:t> </a:t>
            </a:r>
            <a:r>
              <a:rPr lang="en" sz="1200"/>
              <a:t>by all of the threads trying to use the </a:t>
            </a:r>
            <a:r>
              <a:rPr b="1" i="1" lang="en" sz="1200">
                <a:solidFill>
                  <a:srgbClr val="FF0000"/>
                </a:solidFill>
              </a:rPr>
              <a:t>shared resource</a:t>
            </a:r>
            <a:r>
              <a:rPr lang="en" sz="1200"/>
              <a:t>.</a:t>
            </a:r>
            <a:r>
              <a:rPr i="1" lang="en" sz="1200"/>
              <a:t> </a:t>
            </a:r>
            <a:endParaRPr sz="1200"/>
          </a:p>
        </p:txBody>
      </p:sp>
      <p:sp>
        <p:nvSpPr>
          <p:cNvPr id="471" name="Google Shape;471;p46"/>
          <p:cNvSpPr txBox="1"/>
          <p:nvPr/>
        </p:nvSpPr>
        <p:spPr>
          <a:xfrm>
            <a:off x="5726275" y="4491439"/>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finally</a:t>
            </a:r>
            <a:r>
              <a:rPr lang="en" sz="1200"/>
              <a:t> section of the try block is executed not matter how the try exits.</a:t>
            </a:r>
            <a:endParaRPr sz="1200"/>
          </a:p>
        </p:txBody>
      </p:sp>
      <p:sp>
        <p:nvSpPr>
          <p:cNvPr id="472" name="Google Shape;472;p46"/>
          <p:cNvSpPr txBox="1"/>
          <p:nvPr/>
        </p:nvSpPr>
        <p:spPr>
          <a:xfrm>
            <a:off x="5726274" y="2163374"/>
            <a:ext cx="2900100" cy="2262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Person</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 </a:t>
            </a: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endParaRPr sz="900">
              <a:solidFill>
                <a:srgbClr val="098658"/>
              </a:solidFill>
              <a:latin typeface="Consolas"/>
              <a:ea typeface="Consolas"/>
              <a:cs typeface="Consolas"/>
              <a:sym typeface="Consolas"/>
            </a:endParaRPr>
          </a:p>
        </p:txBody>
      </p:sp>
      <p:sp>
        <p:nvSpPr>
          <p:cNvPr id="473" name="Google Shape;473;p46"/>
          <p:cNvSpPr/>
          <p:nvPr/>
        </p:nvSpPr>
        <p:spPr>
          <a:xfrm>
            <a:off x="6055072" y="3542126"/>
            <a:ext cx="465400" cy="956650"/>
          </a:xfrm>
          <a:custGeom>
            <a:rect b="b" l="l" r="r" t="t"/>
            <a:pathLst>
              <a:path extrusionOk="0" h="38266" w="18616">
                <a:moveTo>
                  <a:pt x="2437" y="38267"/>
                </a:moveTo>
                <a:cubicBezTo>
                  <a:pt x="2075" y="33880"/>
                  <a:pt x="-742" y="18144"/>
                  <a:pt x="264" y="11946"/>
                </a:cubicBezTo>
                <a:cubicBezTo>
                  <a:pt x="1270" y="5748"/>
                  <a:pt x="5415" y="3011"/>
                  <a:pt x="8474" y="1079"/>
                </a:cubicBezTo>
                <a:cubicBezTo>
                  <a:pt x="11533" y="-853"/>
                  <a:pt x="16926" y="476"/>
                  <a:pt x="18616" y="355"/>
                </a:cubicBezTo>
              </a:path>
            </a:pathLst>
          </a:custGeom>
          <a:noFill/>
          <a:ln cap="flat" cmpd="sng" w="19050">
            <a:solidFill>
              <a:srgbClr val="FF0000"/>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1000"/>
                                        <p:tgtEl>
                                          <p:spTgt spid="449"/>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1000"/>
                                        <p:tgtEl>
                                          <p:spTgt spid="45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456"/>
                                        </p:tgtEl>
                                        <p:attrNameLst>
                                          <p:attrName>style.visibility</p:attrName>
                                        </p:attrNameLst>
                                      </p:cBhvr>
                                      <p:to>
                                        <p:strVal val="visible"/>
                                      </p:to>
                                    </p:set>
                                    <p:anim calcmode="lin" valueType="num">
                                      <p:cBhvr additive="base">
                                        <p:cTn dur="1000"/>
                                        <p:tgtEl>
                                          <p:spTgt spid="456"/>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10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10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ReentrantLock</a:t>
            </a:r>
            <a:endParaRPr/>
          </a:p>
        </p:txBody>
      </p:sp>
      <p:sp>
        <p:nvSpPr>
          <p:cNvPr id="479" name="Google Shape;479;p4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Lock is an interface with </a:t>
            </a:r>
            <a:r>
              <a:rPr lang="en" sz="1200"/>
              <a:t>several</a:t>
            </a:r>
            <a:r>
              <a:rPr lang="en" sz="1200"/>
              <a:t> implementations.</a:t>
            </a:r>
            <a:endParaRPr sz="1200"/>
          </a:p>
          <a:p>
            <a:pPr indent="-304800" lvl="0" marL="457200" rtl="0" algn="l">
              <a:spcBef>
                <a:spcPts val="1000"/>
              </a:spcBef>
              <a:spcAft>
                <a:spcPts val="0"/>
              </a:spcAft>
              <a:buSzPts val="1200"/>
              <a:buChar char="●"/>
            </a:pPr>
            <a:r>
              <a:rPr lang="en" sz="1200"/>
              <a:t>For this class, we will use the </a:t>
            </a:r>
            <a:r>
              <a:rPr lang="en" sz="1200">
                <a:solidFill>
                  <a:srgbClr val="FF0000"/>
                </a:solidFill>
                <a:latin typeface="Courier New"/>
                <a:ea typeface="Courier New"/>
                <a:cs typeface="Courier New"/>
                <a:sym typeface="Courier New"/>
              </a:rPr>
              <a:t>ReentrantLock</a:t>
            </a:r>
            <a:r>
              <a:rPr lang="en" sz="1200"/>
              <a:t> </a:t>
            </a:r>
            <a:r>
              <a:rPr lang="en" sz="1200"/>
              <a:t>implementation</a:t>
            </a:r>
            <a:r>
              <a:rPr lang="en" sz="1200"/>
              <a:t>.</a:t>
            </a:r>
            <a:endParaRPr sz="1200"/>
          </a:p>
          <a:p>
            <a:pPr indent="-304800" lvl="0" marL="457200" rtl="0" algn="l">
              <a:spcBef>
                <a:spcPts val="1000"/>
              </a:spcBef>
              <a:spcAft>
                <a:spcPts val="0"/>
              </a:spcAft>
              <a:buSzPts val="1200"/>
              <a:buChar char="●"/>
            </a:pPr>
            <a:r>
              <a:rPr lang="en" sz="1200"/>
              <a:t>It has several methods but the two most important ones are:</a:t>
            </a:r>
            <a:endParaRPr sz="1200"/>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lock()</a:t>
            </a:r>
            <a:r>
              <a:rPr lang="en" sz="1000"/>
              <a:t> - locks the lock. The thread that locked it can </a:t>
            </a:r>
            <a:r>
              <a:rPr lang="en" sz="1000"/>
              <a:t>execute. Any other thread trying to lock it will block.</a:t>
            </a:r>
            <a:endParaRPr sz="1000"/>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unlock()</a:t>
            </a:r>
            <a:r>
              <a:rPr lang="en" sz="1000"/>
              <a:t> - unlocks the lock allowing other threads to lock it.</a:t>
            </a:r>
            <a:endParaRPr sz="1000"/>
          </a:p>
          <a:p>
            <a:pPr indent="-304800" lvl="0" marL="457200" rtl="0" algn="l">
              <a:spcBef>
                <a:spcPts val="1000"/>
              </a:spcBef>
              <a:spcAft>
                <a:spcPts val="0"/>
              </a:spcAft>
              <a:buSzPts val="1200"/>
              <a:buChar char="●"/>
            </a:pPr>
            <a:r>
              <a:rPr lang="en" sz="1200"/>
              <a:t>The funny name </a:t>
            </a:r>
            <a:r>
              <a:rPr b="1" i="1" lang="en" sz="1200">
                <a:solidFill>
                  <a:srgbClr val="FF0000"/>
                </a:solidFill>
              </a:rPr>
              <a:t>reentrant</a:t>
            </a:r>
            <a:r>
              <a:rPr lang="en" sz="1200"/>
              <a:t> takes care of an important issue.</a:t>
            </a:r>
            <a:endParaRPr sz="1200"/>
          </a:p>
          <a:p>
            <a:pPr indent="-292100" lvl="1" marL="914400" rtl="0" algn="l">
              <a:spcBef>
                <a:spcPts val="0"/>
              </a:spcBef>
              <a:spcAft>
                <a:spcPts val="0"/>
              </a:spcAft>
              <a:buSzPts val="1000"/>
              <a:buChar char="○"/>
            </a:pPr>
            <a:r>
              <a:rPr lang="en" sz="1000"/>
              <a:t>If the thread is </a:t>
            </a:r>
            <a:r>
              <a:rPr b="1" i="1" lang="en" sz="1000">
                <a:solidFill>
                  <a:srgbClr val="FF0000"/>
                </a:solidFill>
              </a:rPr>
              <a:t>already the lock holder</a:t>
            </a:r>
            <a:r>
              <a:rPr lang="en" sz="1000"/>
              <a:t> calling </a:t>
            </a:r>
            <a:r>
              <a:rPr lang="en" sz="1000">
                <a:latin typeface="Courier New"/>
                <a:ea typeface="Courier New"/>
                <a:cs typeface="Courier New"/>
                <a:sym typeface="Courier New"/>
              </a:rPr>
              <a:t>lock()</a:t>
            </a:r>
            <a:r>
              <a:rPr lang="en" sz="1000"/>
              <a:t> on the </a:t>
            </a:r>
            <a:r>
              <a:rPr lang="en" sz="1000">
                <a:latin typeface="Courier New"/>
                <a:ea typeface="Courier New"/>
                <a:cs typeface="Courier New"/>
                <a:sym typeface="Courier New"/>
              </a:rPr>
              <a:t>Lock</a:t>
            </a:r>
            <a:r>
              <a:rPr lang="en" sz="1000"/>
              <a:t> </a:t>
            </a:r>
            <a:r>
              <a:rPr b="1" i="1" lang="en" sz="1000">
                <a:solidFill>
                  <a:srgbClr val="FF0000"/>
                </a:solidFill>
              </a:rPr>
              <a:t>will not</a:t>
            </a:r>
            <a:r>
              <a:rPr lang="en" sz="1000"/>
              <a:t> cause it to </a:t>
            </a:r>
            <a:r>
              <a:rPr b="1" i="1" lang="en" sz="1000">
                <a:solidFill>
                  <a:srgbClr val="FF0000"/>
                </a:solidFill>
              </a:rPr>
              <a:t>block</a:t>
            </a:r>
            <a:r>
              <a:rPr lang="en" sz="1000"/>
              <a:t>.</a:t>
            </a:r>
            <a:endParaRPr sz="1000"/>
          </a:p>
          <a:p>
            <a:pPr indent="-304800" lvl="0" marL="457200" rtl="0" algn="l">
              <a:spcBef>
                <a:spcPts val="1000"/>
              </a:spcBef>
              <a:spcAft>
                <a:spcPts val="0"/>
              </a:spcAft>
              <a:buSzPts val="1200"/>
              <a:buChar char="●"/>
            </a:pPr>
            <a:r>
              <a:rPr lang="en" sz="1200"/>
              <a:t>Because it is crucial that the lock is eventually released, you should use it with a </a:t>
            </a:r>
            <a:r>
              <a:rPr lang="en" sz="1200">
                <a:latin typeface="Courier New"/>
                <a:ea typeface="Courier New"/>
                <a:cs typeface="Courier New"/>
                <a:sym typeface="Courier New"/>
              </a:rPr>
              <a:t>try</a:t>
            </a:r>
            <a:r>
              <a:rPr lang="en" sz="1200"/>
              <a:t>/</a:t>
            </a:r>
            <a:r>
              <a:rPr lang="en" sz="1200">
                <a:latin typeface="Courier New"/>
                <a:ea typeface="Courier New"/>
                <a:cs typeface="Courier New"/>
                <a:sym typeface="Courier New"/>
              </a:rPr>
              <a:t>finally</a:t>
            </a:r>
            <a:r>
              <a:rPr lang="en" sz="1200"/>
              <a:t> block.</a:t>
            </a:r>
            <a:endParaRPr sz="1200"/>
          </a:p>
          <a:p>
            <a:pPr indent="-292100" lvl="1" marL="914400" rtl="0" algn="l">
              <a:spcBef>
                <a:spcPts val="0"/>
              </a:spcBef>
              <a:spcAft>
                <a:spcPts val="0"/>
              </a:spcAft>
              <a:buSzPts val="1000"/>
              <a:buChar char="○"/>
            </a:pPr>
            <a:r>
              <a:rPr lang="en" sz="1000">
                <a:latin typeface="Courier New"/>
                <a:ea typeface="Courier New"/>
                <a:cs typeface="Courier New"/>
                <a:sym typeface="Courier New"/>
              </a:rPr>
              <a:t>finally</a:t>
            </a:r>
            <a:r>
              <a:rPr lang="en" sz="1000"/>
              <a:t> ensures that no matter what happens in a </a:t>
            </a:r>
            <a:r>
              <a:rPr lang="en" sz="1000">
                <a:latin typeface="Courier New"/>
                <a:ea typeface="Courier New"/>
                <a:cs typeface="Courier New"/>
                <a:sym typeface="Courier New"/>
              </a:rPr>
              <a:t>try</a:t>
            </a:r>
            <a:r>
              <a:rPr lang="en" sz="1000"/>
              <a:t> block, the </a:t>
            </a:r>
            <a:r>
              <a:rPr lang="en" sz="1000">
                <a:latin typeface="Courier New"/>
                <a:ea typeface="Courier New"/>
                <a:cs typeface="Courier New"/>
                <a:sym typeface="Courier New"/>
              </a:rPr>
              <a:t>finally</a:t>
            </a:r>
            <a:r>
              <a:rPr lang="en" sz="1000"/>
              <a:t> block will be executed</a:t>
            </a:r>
            <a:endParaRPr sz="1000"/>
          </a:p>
        </p:txBody>
      </p:sp>
      <p:sp>
        <p:nvSpPr>
          <p:cNvPr id="480" name="Google Shape;480;p4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47"/>
          <p:cNvSpPr txBox="1"/>
          <p:nvPr>
            <p:ph idx="2" type="body"/>
          </p:nvPr>
        </p:nvSpPr>
        <p:spPr>
          <a:xfrm>
            <a:off x="5192225" y="1286175"/>
            <a:ext cx="3706500" cy="2697300"/>
          </a:xfrm>
          <a:prstGeom prst="rect">
            <a:avLst/>
          </a:prstGeom>
          <a:solidFill>
            <a:schemeClr val="lt1"/>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Pottyv2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capacity</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100</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messLevel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final</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endParaRPr sz="90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 </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ReentrantLock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endParaRPr sz="90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a:t>
            </a:r>
            <a:r>
              <a:rPr lang="en" sz="900">
                <a:solidFill>
                  <a:srgbClr val="3B3B3B"/>
                </a:solidFill>
                <a:highlight>
                  <a:srgbClr val="FFFFFF"/>
                </a:highlight>
                <a:latin typeface="Consolas"/>
                <a:ea typeface="Consolas"/>
                <a:cs typeface="Consolas"/>
                <a:sym typeface="Consolas"/>
              </a:rPr>
              <a:t> </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a:t>
            </a:r>
            <a:endParaRPr sz="90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capacity</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16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messLevel</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0.10</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17</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1600"/>
              </a:spcAft>
              <a:buNone/>
            </a:pPr>
            <a:r>
              <a:t/>
            </a:r>
            <a:endParaRPr sz="900"/>
          </a:p>
        </p:txBody>
      </p:sp>
      <p:sp>
        <p:nvSpPr>
          <p:cNvPr id="482" name="Google Shape;482;p47"/>
          <p:cNvSpPr txBox="1"/>
          <p:nvPr>
            <p:ph idx="3" type="body"/>
          </p:nvPr>
        </p:nvSpPr>
        <p:spPr>
          <a:xfrm>
            <a:off x="5192225" y="4089650"/>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 our previous example the </a:t>
            </a:r>
            <a:r>
              <a:rPr b="1" i="1" lang="en">
                <a:solidFill>
                  <a:srgbClr val="FF0000"/>
                </a:solidFill>
              </a:rPr>
              <a:t>door</a:t>
            </a:r>
            <a:r>
              <a:rPr lang="en"/>
              <a:t> is a </a:t>
            </a:r>
            <a:r>
              <a:rPr lang="en">
                <a:solidFill>
                  <a:srgbClr val="FF0000"/>
                </a:solidFill>
                <a:latin typeface="Courier New"/>
                <a:ea typeface="Courier New"/>
                <a:cs typeface="Courier New"/>
                <a:sym typeface="Courier New"/>
              </a:rPr>
              <a:t>ReentrantLock</a:t>
            </a:r>
            <a:r>
              <a:rPr lang="en"/>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Thread-Safe Counting</a:t>
            </a:r>
            <a:endParaRPr/>
          </a:p>
        </p:txBody>
      </p:sp>
      <p:sp>
        <p:nvSpPr>
          <p:cNvPr id="488" name="Google Shape;488;p4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COUNT</a:t>
            </a:r>
            <a:r>
              <a:rPr lang="en"/>
              <a:t> in </a:t>
            </a:r>
            <a:r>
              <a:rPr lang="en">
                <a:latin typeface="Courier New"/>
                <a:ea typeface="Courier New"/>
                <a:cs typeface="Courier New"/>
                <a:sym typeface="Courier New"/>
              </a:rPr>
              <a:t>TheCount</a:t>
            </a:r>
            <a:r>
              <a:rPr lang="en"/>
              <a:t> is a shared resource. Maybe it's not as important as securing the door on a portable toilet, but we should still protect it from being corrupted if/when it is used by more than one thread. Modify the </a:t>
            </a:r>
            <a:r>
              <a:rPr lang="en">
                <a:latin typeface="Courier New"/>
                <a:ea typeface="Courier New"/>
                <a:cs typeface="Courier New"/>
                <a:sym typeface="Courier New"/>
              </a:rPr>
              <a:t>TheCount</a:t>
            </a:r>
            <a:r>
              <a:rPr lang="en"/>
              <a:t> so that it is thread-safe.</a:t>
            </a:r>
            <a:r>
              <a:rPr lang="en"/>
              <a:t> </a:t>
            </a:r>
            <a:endParaRPr/>
          </a:p>
        </p:txBody>
      </p:sp>
      <p:sp>
        <p:nvSpPr>
          <p:cNvPr id="489" name="Google Shape;489;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0" name="Google Shape;490;p48"/>
          <p:cNvSpPr txBox="1"/>
          <p:nvPr>
            <p:ph idx="2" type="body"/>
          </p:nvPr>
        </p:nvSpPr>
        <p:spPr>
          <a:xfrm>
            <a:off x="3562625" y="1814781"/>
            <a:ext cx="5378400" cy="26550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a:t>
            </a:r>
            <a:r>
              <a:rPr lang="en" sz="1500">
                <a:latin typeface="Courier New"/>
                <a:ea typeface="Courier New"/>
                <a:cs typeface="Courier New"/>
                <a:sym typeface="Courier New"/>
              </a:rPr>
              <a:t>TheCount</a:t>
            </a:r>
            <a:r>
              <a:rPr lang="en" sz="1500"/>
              <a:t> and modify it so that it is </a:t>
            </a:r>
            <a:r>
              <a:rPr b="1" i="1" lang="en" sz="1500">
                <a:solidFill>
                  <a:srgbClr val="FF0000"/>
                </a:solidFill>
              </a:rPr>
              <a:t>thread-safe</a:t>
            </a:r>
            <a:r>
              <a:rPr lang="en" sz="1500"/>
              <a:t>.</a:t>
            </a:r>
            <a:endParaRPr sz="1500"/>
          </a:p>
          <a:p>
            <a:pPr indent="-311150" lvl="1" marL="914400" rtl="0" algn="l">
              <a:spcBef>
                <a:spcPts val="0"/>
              </a:spcBef>
              <a:spcAft>
                <a:spcPts val="0"/>
              </a:spcAft>
              <a:buSzPts val="1300"/>
              <a:buChar char="○"/>
            </a:pPr>
            <a:r>
              <a:rPr lang="en" sz="1300"/>
              <a:t>First create a </a:t>
            </a:r>
            <a:r>
              <a:rPr lang="en" sz="1300">
                <a:latin typeface="Courier New"/>
                <a:ea typeface="Courier New"/>
                <a:cs typeface="Courier New"/>
                <a:sym typeface="Courier New"/>
              </a:rPr>
              <a:t>static Lock</a:t>
            </a:r>
            <a:r>
              <a:rPr lang="en" sz="1300"/>
              <a:t>. It must be </a:t>
            </a:r>
            <a:r>
              <a:rPr b="1" i="1" lang="en" sz="1300">
                <a:solidFill>
                  <a:srgbClr val="FF0000"/>
                </a:solidFill>
              </a:rPr>
              <a:t>static </a:t>
            </a:r>
            <a:r>
              <a:rPr lang="en" sz="1300"/>
              <a:t>so all instances will share it.</a:t>
            </a:r>
            <a:endParaRPr sz="1300"/>
          </a:p>
          <a:p>
            <a:pPr indent="-311150" lvl="1" marL="914400" rtl="0" algn="l">
              <a:spcBef>
                <a:spcPts val="0"/>
              </a:spcBef>
              <a:spcAft>
                <a:spcPts val="0"/>
              </a:spcAft>
              <a:buSzPts val="1300"/>
              <a:buChar char="○"/>
            </a:pPr>
            <a:r>
              <a:rPr lang="en" sz="1300"/>
              <a:t>Enclose the</a:t>
            </a:r>
            <a:r>
              <a:rPr lang="en" sz="1300">
                <a:solidFill>
                  <a:srgbClr val="FF0000"/>
                </a:solidFill>
              </a:rPr>
              <a:t> </a:t>
            </a:r>
            <a:r>
              <a:rPr b="1" i="1" lang="en" sz="1300">
                <a:solidFill>
                  <a:srgbClr val="FF0000"/>
                </a:solidFill>
              </a:rPr>
              <a:t>entire body</a:t>
            </a:r>
            <a:r>
              <a:rPr lang="en" sz="1300"/>
              <a:t> of the </a:t>
            </a:r>
            <a:r>
              <a:rPr lang="en" sz="1300">
                <a:latin typeface="Courier New"/>
                <a:ea typeface="Courier New"/>
                <a:cs typeface="Courier New"/>
                <a:sym typeface="Courier New"/>
              </a:rPr>
              <a:t>run()</a:t>
            </a:r>
            <a:r>
              <a:rPr lang="en" sz="1300"/>
              <a:t> method inside a locked region of code.</a:t>
            </a:r>
            <a:endParaRPr sz="1300"/>
          </a:p>
          <a:p>
            <a:pPr indent="-311150" lvl="1" marL="914400" rtl="0" algn="l">
              <a:spcBef>
                <a:spcPts val="0"/>
              </a:spcBef>
              <a:spcAft>
                <a:spcPts val="0"/>
              </a:spcAft>
              <a:buSzPts val="1300"/>
              <a:buChar char="○"/>
            </a:pPr>
            <a:r>
              <a:rPr lang="en" sz="1300"/>
              <a:t>Remember to unlock the lock before exiting</a:t>
            </a:r>
            <a:endParaRPr sz="1300"/>
          </a:p>
          <a:p>
            <a:pPr indent="-311150" lvl="2" marL="1371600" rtl="0" algn="l">
              <a:spcBef>
                <a:spcPts val="0"/>
              </a:spcBef>
              <a:spcAft>
                <a:spcPts val="0"/>
              </a:spcAft>
              <a:buSzPts val="1300"/>
              <a:buChar char="■"/>
            </a:pPr>
            <a:r>
              <a:rPr lang="en" sz="1300"/>
              <a:t>Use </a:t>
            </a:r>
            <a:r>
              <a:rPr lang="en" sz="1300">
                <a:latin typeface="Courier New"/>
                <a:ea typeface="Courier New"/>
                <a:cs typeface="Courier New"/>
                <a:sym typeface="Courier New"/>
              </a:rPr>
              <a:t>try</a:t>
            </a:r>
            <a:r>
              <a:rPr lang="en" sz="1300"/>
              <a:t>/</a:t>
            </a:r>
            <a:r>
              <a:rPr lang="en" sz="1300">
                <a:latin typeface="Courier New"/>
                <a:ea typeface="Courier New"/>
                <a:cs typeface="Courier New"/>
                <a:sym typeface="Courier New"/>
              </a:rPr>
              <a:t>finally</a:t>
            </a:r>
            <a:endParaRPr sz="1300">
              <a:latin typeface="Courier New"/>
              <a:ea typeface="Courier New"/>
              <a:cs typeface="Courier New"/>
              <a:sym typeface="Courier New"/>
            </a:endParaRPr>
          </a:p>
          <a:p>
            <a:pPr indent="-323850" lvl="0" marL="457200" rtl="0" algn="l">
              <a:spcBef>
                <a:spcPts val="1000"/>
              </a:spcBef>
              <a:spcAft>
                <a:spcPts val="0"/>
              </a:spcAft>
              <a:buSzPts val="1500"/>
              <a:buChar char="●"/>
            </a:pPr>
            <a:r>
              <a:rPr b="1" i="1" lang="en" sz="1500">
                <a:solidFill>
                  <a:srgbClr val="FF0000"/>
                </a:solidFill>
              </a:rPr>
              <a:t>Compile</a:t>
            </a:r>
            <a:r>
              <a:rPr lang="en" sz="1500">
                <a:solidFill>
                  <a:srgbClr val="FF0000"/>
                </a:solidFill>
              </a:rPr>
              <a:t> </a:t>
            </a:r>
            <a:r>
              <a:rPr lang="en" sz="1500"/>
              <a:t>and </a:t>
            </a:r>
            <a:r>
              <a:rPr b="1" i="1" lang="en" sz="1500">
                <a:solidFill>
                  <a:srgbClr val="FF0000"/>
                </a:solidFill>
              </a:rPr>
              <a:t>run</a:t>
            </a:r>
            <a:r>
              <a:rPr lang="en" sz="1500">
                <a:solidFill>
                  <a:srgbClr val="FF0000"/>
                </a:solidFill>
              </a:rPr>
              <a:t> </a:t>
            </a:r>
            <a:r>
              <a:rPr lang="en" sz="1500"/>
              <a:t>your code.</a:t>
            </a:r>
            <a:endParaRPr sz="1500"/>
          </a:p>
          <a:p>
            <a:pPr indent="-311150" lvl="1" marL="914400" rtl="0" algn="l">
              <a:spcBef>
                <a:spcPts val="0"/>
              </a:spcBef>
              <a:spcAft>
                <a:spcPts val="0"/>
              </a:spcAft>
              <a:buSzPts val="1300"/>
              <a:buChar char="○"/>
            </a:pPr>
            <a:r>
              <a:rPr lang="en" sz="1300"/>
              <a:t>Did the </a:t>
            </a:r>
            <a:r>
              <a:rPr lang="en" sz="1300">
                <a:latin typeface="Courier New"/>
                <a:ea typeface="Courier New"/>
                <a:cs typeface="Courier New"/>
                <a:sym typeface="Courier New"/>
              </a:rPr>
              <a:t>COUNT</a:t>
            </a:r>
            <a:r>
              <a:rPr lang="en" sz="1300"/>
              <a:t> make it all the way to </a:t>
            </a:r>
            <a:r>
              <a:rPr lang="en" sz="1300">
                <a:latin typeface="Courier New"/>
                <a:ea typeface="Courier New"/>
                <a:cs typeface="Courier New"/>
                <a:sym typeface="Courier New"/>
              </a:rPr>
              <a:t>1,000,000</a:t>
            </a:r>
            <a:r>
              <a:rPr lang="en" sz="1300"/>
              <a:t>?</a:t>
            </a:r>
            <a:endParaRPr sz="1300"/>
          </a:p>
          <a:p>
            <a:pPr indent="-311150" lvl="1" marL="914400" rtl="0" algn="l">
              <a:spcBef>
                <a:spcPts val="0"/>
              </a:spcBef>
              <a:spcAft>
                <a:spcPts val="0"/>
              </a:spcAft>
              <a:buSzPts val="1300"/>
              <a:buChar char="○"/>
            </a:pPr>
            <a:r>
              <a:rPr lang="en" sz="1300"/>
              <a:t>Do you notice anything else </a:t>
            </a:r>
            <a:r>
              <a:rPr b="1" i="1" lang="en" sz="1300">
                <a:solidFill>
                  <a:srgbClr val="FF0000"/>
                </a:solidFill>
              </a:rPr>
              <a:t>unusual </a:t>
            </a:r>
            <a:r>
              <a:rPr lang="en" sz="1300"/>
              <a:t>about the output?</a:t>
            </a:r>
            <a:endParaRPr sz="1300"/>
          </a:p>
        </p:txBody>
      </p:sp>
      <p:sp>
        <p:nvSpPr>
          <p:cNvPr id="491" name="Google Shape;491;p4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11.4</a:t>
            </a:r>
            <a:endParaRPr/>
          </a:p>
        </p:txBody>
      </p:sp>
      <p:sp>
        <p:nvSpPr>
          <p:cNvPr id="492" name="Google Shape;492;p48"/>
          <p:cNvSpPr txBox="1"/>
          <p:nvPr/>
        </p:nvSpPr>
        <p:spPr>
          <a:xfrm>
            <a:off x="220549" y="2984461"/>
            <a:ext cx="2900100" cy="1708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a:t>
            </a:r>
            <a:endParaRPr sz="900">
              <a:solidFill>
                <a:srgbClr val="098658"/>
              </a:solidFill>
              <a:latin typeface="Consolas"/>
              <a:ea typeface="Consolas"/>
              <a:cs typeface="Consolas"/>
              <a:sym typeface="Consolas"/>
            </a:endParaRPr>
          </a:p>
        </p:txBody>
      </p:sp>
      <p:sp>
        <p:nvSpPr>
          <p:cNvPr id="493" name="Google Shape;493;p48"/>
          <p:cNvSpPr txBox="1"/>
          <p:nvPr>
            <p:ph idx="4" type="body"/>
          </p:nvPr>
        </p:nvSpPr>
        <p:spPr>
          <a:xfrm>
            <a:off x="220550" y="1843827"/>
            <a:ext cx="2900100" cy="1015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Pottyv2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final</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ReentrantLock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Surgical Locking</a:t>
            </a:r>
            <a:endParaRPr/>
          </a:p>
        </p:txBody>
      </p:sp>
      <p:sp>
        <p:nvSpPr>
          <p:cNvPr id="499" name="Google Shape;499;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49"/>
          <p:cNvSpPr txBox="1"/>
          <p:nvPr/>
        </p:nvSpPr>
        <p:spPr>
          <a:xfrm>
            <a:off x="4500375" y="1356400"/>
            <a:ext cx="4311300" cy="2625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try</a:t>
            </a:r>
            <a:r>
              <a:rPr lang="en" sz="1200">
                <a:solidFill>
                  <a:srgbClr val="3B3B3B"/>
                </a:solidFill>
                <a:highlight>
                  <a:srgbClr val="FFFFFF"/>
                </a:highlight>
                <a:latin typeface="Consolas"/>
                <a:ea typeface="Consolas"/>
                <a:cs typeface="Consolas"/>
                <a:sym typeface="Consolas"/>
              </a:rPr>
              <a:t> {</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 </a:t>
            </a:r>
            <a:r>
              <a:rPr lang="en" sz="1200">
                <a:solidFill>
                  <a:srgbClr val="3B3B3B"/>
                </a:solidFill>
                <a:highlight>
                  <a:srgbClr val="FFFFFF"/>
                </a:highlight>
                <a:latin typeface="Consolas"/>
                <a:ea typeface="Consolas"/>
                <a:cs typeface="Consolas"/>
                <a:sym typeface="Consolas"/>
              </a:rPr>
              <a:t>    </a:t>
            </a:r>
            <a:r>
              <a:rPr lang="en" sz="1200">
                <a:solidFill>
                  <a:srgbClr val="0070C1"/>
                </a:solidFill>
                <a:highlight>
                  <a:srgbClr val="FFFFFF"/>
                </a:highlight>
                <a:latin typeface="Consolas"/>
                <a:ea typeface="Consolas"/>
                <a:cs typeface="Consolas"/>
                <a:sym typeface="Consolas"/>
              </a:rPr>
              <a:t>countLock</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lock</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 </a:t>
            </a:r>
            <a:r>
              <a:rPr lang="en" sz="1200">
                <a:solidFill>
                  <a:srgbClr val="3B3B3B"/>
                </a:solidFill>
                <a:highlight>
                  <a:srgbClr val="FFFFFF"/>
                </a:highlight>
                <a:latin typeface="Consolas"/>
                <a:ea typeface="Consolas"/>
                <a:cs typeface="Consolas"/>
                <a:sym typeface="Consolas"/>
              </a:rPr>
              <a:t> </a:t>
            </a:r>
            <a:r>
              <a:rPr lang="en" sz="1200">
                <a:solidFill>
                  <a:srgbClr val="3B3B3B"/>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System</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out</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println</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id</a:t>
            </a:r>
            <a:r>
              <a:rPr lang="en" sz="1200">
                <a:solidFill>
                  <a:srgbClr val="3B3B3B"/>
                </a:solidFill>
                <a:highlight>
                  <a:srgbClr val="FFFFFF"/>
                </a:highlight>
                <a:latin typeface="Consolas"/>
                <a:ea typeface="Consolas"/>
                <a:cs typeface="Consolas"/>
                <a:sym typeface="Consolas"/>
              </a:rPr>
              <a:t> </a:t>
            </a:r>
            <a:r>
              <a:rPr lang="en" sz="1200">
                <a:highlight>
                  <a:srgbClr val="FFFFFF"/>
                </a:highlight>
                <a:latin typeface="Consolas"/>
                <a:ea typeface="Consolas"/>
                <a:cs typeface="Consolas"/>
                <a:sym typeface="Consolas"/>
              </a:rPr>
              <a:t>+</a:t>
            </a:r>
            <a:r>
              <a:rPr lang="en" sz="1200">
                <a:solidFill>
                  <a:srgbClr val="3B3B3B"/>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 is starting..."</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 </a:t>
            </a:r>
            <a:r>
              <a:rPr lang="en" sz="1200">
                <a:solidFill>
                  <a:srgbClr val="3B3B3B"/>
                </a:solidFill>
                <a:highlight>
                  <a:srgbClr val="FFFFFF"/>
                </a:highlight>
                <a:latin typeface="Consolas"/>
                <a:ea typeface="Consolas"/>
                <a:cs typeface="Consolas"/>
                <a:sym typeface="Consolas"/>
              </a:rPr>
              <a:t> </a:t>
            </a:r>
            <a:r>
              <a:rPr lang="en" sz="1200">
                <a:solidFill>
                  <a:srgbClr val="3B3B3B"/>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for</a:t>
            </a:r>
            <a:r>
              <a:rPr lang="en" sz="1200">
                <a:solidFill>
                  <a:srgbClr val="3B3B3B"/>
                </a:solidFill>
                <a:highlight>
                  <a:srgbClr val="FFFFFF"/>
                </a:highlight>
                <a:latin typeface="Consolas"/>
                <a:ea typeface="Consolas"/>
                <a:cs typeface="Consolas"/>
                <a:sym typeface="Consolas"/>
              </a:rPr>
              <a:t>(</a:t>
            </a:r>
            <a:r>
              <a:rPr lang="en" sz="1200">
                <a:solidFill>
                  <a:srgbClr val="267F99"/>
                </a:solidFill>
                <a:highlight>
                  <a:srgbClr val="FFFFFF"/>
                </a:highlight>
                <a:latin typeface="Consolas"/>
                <a:ea typeface="Consolas"/>
                <a:cs typeface="Consolas"/>
                <a:sym typeface="Consolas"/>
              </a:rPr>
              <a:t>int</a:t>
            </a:r>
            <a:r>
              <a:rPr lang="en" sz="1200">
                <a:solidFill>
                  <a:srgbClr val="3B3B3B"/>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i</a:t>
            </a:r>
            <a:r>
              <a:rPr lang="en" sz="1200">
                <a:highlight>
                  <a:srgbClr val="FFFFFF"/>
                </a:highlight>
                <a:latin typeface="Consolas"/>
                <a:ea typeface="Consolas"/>
                <a:cs typeface="Consolas"/>
                <a:sym typeface="Consolas"/>
              </a:rPr>
              <a:t>=</a:t>
            </a:r>
            <a:r>
              <a:rPr lang="en" sz="1200">
                <a:solidFill>
                  <a:srgbClr val="098658"/>
                </a:solidFill>
                <a:highlight>
                  <a:srgbClr val="FFFFFF"/>
                </a:highlight>
                <a:latin typeface="Consolas"/>
                <a:ea typeface="Consolas"/>
                <a:cs typeface="Consolas"/>
                <a:sym typeface="Consolas"/>
              </a:rPr>
              <a:t>0</a:t>
            </a:r>
            <a:r>
              <a:rPr lang="en" sz="1200">
                <a:solidFill>
                  <a:srgbClr val="3B3B3B"/>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i</a:t>
            </a:r>
            <a:r>
              <a:rPr lang="en" sz="1200">
                <a:highlight>
                  <a:srgbClr val="FFFFFF"/>
                </a:highlight>
                <a:latin typeface="Consolas"/>
                <a:ea typeface="Consolas"/>
                <a:cs typeface="Consolas"/>
                <a:sym typeface="Consolas"/>
              </a:rPr>
              <a:t>&lt;</a:t>
            </a:r>
            <a:r>
              <a:rPr lang="en" sz="1200">
                <a:solidFill>
                  <a:srgbClr val="098658"/>
                </a:solidFill>
                <a:highlight>
                  <a:srgbClr val="FFFFFF"/>
                </a:highlight>
                <a:latin typeface="Consolas"/>
                <a:ea typeface="Consolas"/>
                <a:cs typeface="Consolas"/>
                <a:sym typeface="Consolas"/>
              </a:rPr>
              <a:t>100000</a:t>
            </a:r>
            <a:r>
              <a:rPr lang="en" sz="1200">
                <a:solidFill>
                  <a:srgbClr val="3B3B3B"/>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i</a:t>
            </a:r>
            <a:r>
              <a:rPr lang="en" sz="1200">
                <a:highlight>
                  <a:srgbClr val="FFFFFF"/>
                </a:highlight>
                <a:latin typeface="Consolas"/>
                <a:ea typeface="Consolas"/>
                <a:cs typeface="Consolas"/>
                <a:sym typeface="Consolas"/>
              </a:rPr>
              <a:t>++</a:t>
            </a:r>
            <a:r>
              <a:rPr lang="en" sz="1200">
                <a:solidFill>
                  <a:srgbClr val="3B3B3B"/>
                </a:solidFill>
                <a:highlight>
                  <a:srgbClr val="FFFFFF"/>
                </a:highlight>
                <a:latin typeface="Consolas"/>
                <a:ea typeface="Consolas"/>
                <a:cs typeface="Consolas"/>
                <a:sym typeface="Consolas"/>
              </a:rPr>
              <a:t>) {</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3B3B3B"/>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COUNT</a:t>
            </a:r>
            <a:r>
              <a:rPr lang="en" sz="1200">
                <a:highlight>
                  <a:srgbClr val="FFFFFF"/>
                </a:highlight>
                <a:latin typeface="Consolas"/>
                <a:ea typeface="Consolas"/>
                <a:cs typeface="Consolas"/>
                <a:sym typeface="Consolas"/>
              </a:rPr>
              <a:t>++</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3B3B3B"/>
                </a:solidFill>
                <a:highlight>
                  <a:srgbClr val="FFFFFF"/>
                </a:highlight>
                <a:latin typeface="Consolas"/>
                <a:ea typeface="Consolas"/>
                <a:cs typeface="Consolas"/>
                <a:sym typeface="Consolas"/>
              </a:rPr>
              <a:t>     }</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a:t>
            </a:r>
            <a:r>
              <a:rPr lang="en" sz="1200">
                <a:solidFill>
                  <a:srgbClr val="3B3B3B"/>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System</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out</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println</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id</a:t>
            </a:r>
            <a:r>
              <a:rPr lang="en" sz="1200">
                <a:solidFill>
                  <a:srgbClr val="3B3B3B"/>
                </a:solidFill>
                <a:highlight>
                  <a:srgbClr val="FFFFFF"/>
                </a:highlight>
                <a:latin typeface="Consolas"/>
                <a:ea typeface="Consolas"/>
                <a:cs typeface="Consolas"/>
                <a:sym typeface="Consolas"/>
              </a:rPr>
              <a:t> </a:t>
            </a:r>
            <a:r>
              <a:rPr lang="en" sz="1200">
                <a:highlight>
                  <a:srgbClr val="FFFFFF"/>
                </a:highlight>
                <a:latin typeface="Consolas"/>
                <a:ea typeface="Consolas"/>
                <a:cs typeface="Consolas"/>
                <a:sym typeface="Consolas"/>
              </a:rPr>
              <a:t>+</a:t>
            </a:r>
            <a:r>
              <a:rPr lang="en" sz="1200">
                <a:solidFill>
                  <a:srgbClr val="3B3B3B"/>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 is done!"</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3B3B3B"/>
                </a:solidFill>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finally</a:t>
            </a:r>
            <a:r>
              <a:rPr lang="en" sz="1200">
                <a:solidFill>
                  <a:srgbClr val="3B3B3B"/>
                </a:solidFill>
                <a:highlight>
                  <a:srgbClr val="FFFFFF"/>
                </a:highlight>
                <a:latin typeface="Consolas"/>
                <a:ea typeface="Consolas"/>
                <a:cs typeface="Consolas"/>
                <a:sym typeface="Consolas"/>
              </a:rPr>
              <a:t> {</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a:t>
            </a:r>
            <a:r>
              <a:rPr lang="en" sz="1200">
                <a:solidFill>
                  <a:srgbClr val="3B3B3B"/>
                </a:solidFill>
                <a:highlight>
                  <a:srgbClr val="FFFFFF"/>
                </a:highlight>
                <a:latin typeface="Consolas"/>
                <a:ea typeface="Consolas"/>
                <a:cs typeface="Consolas"/>
                <a:sym typeface="Consolas"/>
              </a:rPr>
              <a:t>     </a:t>
            </a:r>
            <a:r>
              <a:rPr lang="en" sz="1200">
                <a:solidFill>
                  <a:srgbClr val="0070C1"/>
                </a:solidFill>
                <a:highlight>
                  <a:srgbClr val="FFFFFF"/>
                </a:highlight>
                <a:latin typeface="Consolas"/>
                <a:ea typeface="Consolas"/>
                <a:cs typeface="Consolas"/>
                <a:sym typeface="Consolas"/>
              </a:rPr>
              <a:t>countLock</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unlock</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3B3B3B"/>
                </a:solidFill>
                <a:highlight>
                  <a:srgbClr val="FFFFFF"/>
                </a:highlight>
                <a:latin typeface="Consolas"/>
                <a:ea typeface="Consolas"/>
                <a:cs typeface="Consolas"/>
                <a:sym typeface="Consolas"/>
              </a:rPr>
              <a:t> }</a:t>
            </a:r>
            <a:endParaRPr sz="1200">
              <a:solidFill>
                <a:srgbClr val="098658"/>
              </a:solidFill>
              <a:latin typeface="Consolas"/>
              <a:ea typeface="Consolas"/>
              <a:cs typeface="Consolas"/>
              <a:sym typeface="Consolas"/>
            </a:endParaRPr>
          </a:p>
        </p:txBody>
      </p:sp>
      <p:sp>
        <p:nvSpPr>
          <p:cNvPr id="501" name="Google Shape;501;p49"/>
          <p:cNvSpPr txBox="1"/>
          <p:nvPr/>
        </p:nvSpPr>
        <p:spPr>
          <a:xfrm>
            <a:off x="172575" y="1356400"/>
            <a:ext cx="379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When the entire body of the </a:t>
            </a:r>
            <a:r>
              <a:rPr lang="en" sz="1200">
                <a:latin typeface="Courier New"/>
                <a:ea typeface="Courier New"/>
                <a:cs typeface="Courier New"/>
                <a:sym typeface="Courier New"/>
              </a:rPr>
              <a:t>run()</a:t>
            </a:r>
            <a:r>
              <a:rPr lang="en" sz="1200"/>
              <a:t> method is locked, the threads run </a:t>
            </a:r>
            <a:r>
              <a:rPr b="1" i="1" lang="en" sz="1200">
                <a:solidFill>
                  <a:srgbClr val="FF0000"/>
                </a:solidFill>
              </a:rPr>
              <a:t>sequentially</a:t>
            </a:r>
            <a:r>
              <a:rPr lang="en" sz="1200">
                <a:solidFill>
                  <a:srgbClr val="FF0000"/>
                </a:solidFill>
              </a:rPr>
              <a:t> </a:t>
            </a:r>
            <a:r>
              <a:rPr lang="en" sz="1200"/>
              <a:t>rather than </a:t>
            </a:r>
            <a:r>
              <a:rPr b="1" i="1" lang="en" sz="1200">
                <a:solidFill>
                  <a:srgbClr val="FF0000"/>
                </a:solidFill>
              </a:rPr>
              <a:t>concurrently</a:t>
            </a:r>
            <a:r>
              <a:rPr lang="en" sz="1200"/>
              <a:t>. Why?</a:t>
            </a:r>
            <a:endParaRPr sz="1200"/>
          </a:p>
        </p:txBody>
      </p:sp>
      <p:sp>
        <p:nvSpPr>
          <p:cNvPr id="502" name="Google Shape;502;p49"/>
          <p:cNvSpPr txBox="1"/>
          <p:nvPr/>
        </p:nvSpPr>
        <p:spPr>
          <a:xfrm>
            <a:off x="172575" y="3233866"/>
            <a:ext cx="379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All of the other threads are </a:t>
            </a:r>
            <a:r>
              <a:rPr b="1" i="1" lang="en" sz="1200">
                <a:solidFill>
                  <a:srgbClr val="FF0000"/>
                </a:solidFill>
              </a:rPr>
              <a:t>blocked</a:t>
            </a:r>
            <a:r>
              <a:rPr lang="en" sz="1200"/>
              <a:t>; only when the first thread </a:t>
            </a:r>
            <a:r>
              <a:rPr b="1" i="1" lang="en" sz="1200">
                <a:solidFill>
                  <a:srgbClr val="FF0000"/>
                </a:solidFill>
              </a:rPr>
              <a:t>unlocks</a:t>
            </a:r>
            <a:r>
              <a:rPr lang="en" sz="1200">
                <a:solidFill>
                  <a:srgbClr val="FF0000"/>
                </a:solidFill>
              </a:rPr>
              <a:t> </a:t>
            </a:r>
            <a:r>
              <a:rPr lang="en" sz="1200"/>
              <a:t>the </a:t>
            </a:r>
            <a:r>
              <a:rPr lang="en" sz="1200">
                <a:latin typeface="Roboto"/>
                <a:ea typeface="Roboto"/>
                <a:cs typeface="Roboto"/>
                <a:sym typeface="Roboto"/>
              </a:rPr>
              <a:t>the lock</a:t>
            </a:r>
            <a:r>
              <a:rPr lang="en" sz="1200"/>
              <a:t> is another thread allowed to enter.</a:t>
            </a:r>
            <a:endParaRPr sz="1200"/>
          </a:p>
        </p:txBody>
      </p:sp>
      <p:grpSp>
        <p:nvGrpSpPr>
          <p:cNvPr id="503" name="Google Shape;503;p49"/>
          <p:cNvGrpSpPr/>
          <p:nvPr/>
        </p:nvGrpSpPr>
        <p:grpSpPr>
          <a:xfrm>
            <a:off x="3908175" y="2194638"/>
            <a:ext cx="1175410" cy="2127778"/>
            <a:chOff x="3876577" y="2686839"/>
            <a:chExt cx="1049286" cy="1840479"/>
          </a:xfrm>
        </p:grpSpPr>
        <p:sp>
          <p:nvSpPr>
            <p:cNvPr id="504" name="Google Shape;504;p49"/>
            <p:cNvSpPr/>
            <p:nvPr/>
          </p:nvSpPr>
          <p:spPr>
            <a:xfrm>
              <a:off x="4781563" y="2686839"/>
              <a:ext cx="144300" cy="628500"/>
            </a:xfrm>
            <a:prstGeom prst="leftBrace">
              <a:avLst>
                <a:gd fmla="val 92868" name="adj1"/>
                <a:gd fmla="val 48754" name="adj2"/>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9"/>
            <p:cNvSpPr/>
            <p:nvPr/>
          </p:nvSpPr>
          <p:spPr>
            <a:xfrm>
              <a:off x="3876577" y="2970744"/>
              <a:ext cx="920025" cy="1556575"/>
            </a:xfrm>
            <a:custGeom>
              <a:rect b="b" l="l" r="r" t="t"/>
              <a:pathLst>
                <a:path extrusionOk="0" h="62263" w="36801">
                  <a:moveTo>
                    <a:pt x="0" y="62119"/>
                  </a:moveTo>
                  <a:cubicBezTo>
                    <a:pt x="635" y="61523"/>
                    <a:pt x="273" y="64254"/>
                    <a:pt x="3811" y="58543"/>
                  </a:cubicBezTo>
                  <a:cubicBezTo>
                    <a:pt x="7349" y="52832"/>
                    <a:pt x="19868" y="37191"/>
                    <a:pt x="21229" y="27855"/>
                  </a:cubicBezTo>
                  <a:cubicBezTo>
                    <a:pt x="22590" y="18519"/>
                    <a:pt x="9381" y="7056"/>
                    <a:pt x="11976" y="2529"/>
                  </a:cubicBezTo>
                  <a:cubicBezTo>
                    <a:pt x="14571" y="-1998"/>
                    <a:pt x="32664" y="997"/>
                    <a:pt x="36801" y="691"/>
                  </a:cubicBezTo>
                </a:path>
              </a:pathLst>
            </a:custGeom>
            <a:noFill/>
            <a:ln cap="flat" cmpd="sng" w="19050">
              <a:solidFill>
                <a:srgbClr val="FF0000"/>
              </a:solidFill>
              <a:prstDash val="solid"/>
              <a:round/>
              <a:headEnd len="med" w="med" type="none"/>
              <a:tailEnd len="med" w="med" type="none"/>
            </a:ln>
          </p:spPr>
        </p:sp>
      </p:grpSp>
      <p:sp>
        <p:nvSpPr>
          <p:cNvPr id="506" name="Google Shape;506;p49"/>
          <p:cNvSpPr txBox="1"/>
          <p:nvPr/>
        </p:nvSpPr>
        <p:spPr>
          <a:xfrm>
            <a:off x="172575" y="4106951"/>
            <a:ext cx="379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This means that each thread executes its </a:t>
            </a:r>
            <a:r>
              <a:rPr b="1" i="1" lang="en" sz="1200">
                <a:solidFill>
                  <a:srgbClr val="FF0000"/>
                </a:solidFill>
              </a:rPr>
              <a:t>entire </a:t>
            </a:r>
            <a:r>
              <a:rPr lang="en" sz="1200">
                <a:solidFill>
                  <a:srgbClr val="FF0000"/>
                </a:solidFill>
                <a:latin typeface="Courier New"/>
                <a:ea typeface="Courier New"/>
                <a:cs typeface="Courier New"/>
                <a:sym typeface="Courier New"/>
              </a:rPr>
              <a:t>for</a:t>
            </a:r>
            <a:r>
              <a:rPr b="1" i="1" lang="en" sz="1200">
                <a:solidFill>
                  <a:srgbClr val="FF0000"/>
                </a:solidFill>
              </a:rPr>
              <a:t> loop</a:t>
            </a:r>
            <a:r>
              <a:rPr lang="en" sz="1200"/>
              <a:t> before exiting the </a:t>
            </a:r>
            <a:r>
              <a:rPr b="1" i="1" lang="en" sz="1200">
                <a:solidFill>
                  <a:srgbClr val="FF0000"/>
                </a:solidFill>
              </a:rPr>
              <a:t>locked</a:t>
            </a:r>
            <a:r>
              <a:rPr lang="en" sz="1200"/>
              <a:t> block during which time </a:t>
            </a:r>
            <a:r>
              <a:rPr b="1" i="1" lang="en" sz="1200">
                <a:solidFill>
                  <a:srgbClr val="FF0000"/>
                </a:solidFill>
              </a:rPr>
              <a:t>all</a:t>
            </a:r>
            <a:r>
              <a:rPr lang="en" sz="1200">
                <a:solidFill>
                  <a:srgbClr val="FF0000"/>
                </a:solidFill>
              </a:rPr>
              <a:t> </a:t>
            </a:r>
            <a:r>
              <a:rPr lang="en" sz="1200"/>
              <a:t>of the other threads are forced to wait.</a:t>
            </a:r>
            <a:endParaRPr sz="1200"/>
          </a:p>
        </p:txBody>
      </p:sp>
      <p:sp>
        <p:nvSpPr>
          <p:cNvPr id="507" name="Google Shape;507;p49"/>
          <p:cNvSpPr txBox="1"/>
          <p:nvPr/>
        </p:nvSpPr>
        <p:spPr>
          <a:xfrm>
            <a:off x="4759275" y="4075249"/>
            <a:ext cx="3793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We can fix this problem by using locking in a much more </a:t>
            </a:r>
            <a:r>
              <a:rPr b="1" i="1" lang="en" sz="1200">
                <a:solidFill>
                  <a:srgbClr val="FF0000"/>
                </a:solidFill>
              </a:rPr>
              <a:t>surgical</a:t>
            </a:r>
            <a:r>
              <a:rPr lang="en" sz="1200">
                <a:solidFill>
                  <a:srgbClr val="FF0000"/>
                </a:solidFill>
              </a:rPr>
              <a:t> </a:t>
            </a:r>
            <a:r>
              <a:rPr lang="en" sz="1200"/>
              <a:t>way - enclose </a:t>
            </a:r>
            <a:r>
              <a:rPr b="1" i="1" lang="en" sz="1200">
                <a:solidFill>
                  <a:srgbClr val="FF0000"/>
                </a:solidFill>
              </a:rPr>
              <a:t>only</a:t>
            </a:r>
            <a:r>
              <a:rPr lang="en" sz="1200">
                <a:solidFill>
                  <a:srgbClr val="FF0000"/>
                </a:solidFill>
              </a:rPr>
              <a:t> </a:t>
            </a:r>
            <a:r>
              <a:rPr lang="en" sz="1200"/>
              <a:t>the line(s) of code that may cause problems if executed by more than one thread...</a:t>
            </a:r>
            <a:endParaRPr sz="1200"/>
          </a:p>
        </p:txBody>
      </p:sp>
      <p:sp>
        <p:nvSpPr>
          <p:cNvPr id="508" name="Google Shape;508;p49"/>
          <p:cNvSpPr/>
          <p:nvPr/>
        </p:nvSpPr>
        <p:spPr>
          <a:xfrm>
            <a:off x="3918550" y="1779750"/>
            <a:ext cx="1056462" cy="738929"/>
          </a:xfrm>
          <a:custGeom>
            <a:rect b="b" l="l" r="r" t="t"/>
            <a:pathLst>
              <a:path extrusionOk="0" h="25023" w="23182">
                <a:moveTo>
                  <a:pt x="0" y="25024"/>
                </a:moveTo>
                <a:cubicBezTo>
                  <a:pt x="1449" y="21321"/>
                  <a:pt x="4829" y="6954"/>
                  <a:pt x="8693" y="2808"/>
                </a:cubicBezTo>
                <a:cubicBezTo>
                  <a:pt x="12557" y="-1337"/>
                  <a:pt x="20767" y="594"/>
                  <a:pt x="23182" y="151"/>
                </a:cubicBezTo>
              </a:path>
            </a:pathLst>
          </a:custGeom>
          <a:noFill/>
          <a:ln cap="flat" cmpd="sng" w="19050">
            <a:solidFill>
              <a:srgbClr val="FF0000"/>
            </a:solidFill>
            <a:prstDash val="solid"/>
            <a:round/>
            <a:headEnd len="med" w="med" type="none"/>
            <a:tailEnd len="med" w="med" type="stealth"/>
          </a:ln>
        </p:spPr>
      </p:sp>
      <p:sp>
        <p:nvSpPr>
          <p:cNvPr id="509" name="Google Shape;509;p49"/>
          <p:cNvSpPr txBox="1"/>
          <p:nvPr/>
        </p:nvSpPr>
        <p:spPr>
          <a:xfrm>
            <a:off x="172575" y="2194604"/>
            <a:ext cx="379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Remember, when</a:t>
            </a:r>
            <a:r>
              <a:rPr lang="en" sz="1200"/>
              <a:t> two or more threads are sharing the </a:t>
            </a:r>
            <a:r>
              <a:rPr b="1" i="1" lang="en" sz="1200">
                <a:solidFill>
                  <a:srgbClr val="FF0000"/>
                </a:solidFill>
              </a:rPr>
              <a:t>same</a:t>
            </a:r>
            <a:r>
              <a:rPr lang="en" sz="1200">
                <a:solidFill>
                  <a:srgbClr val="FF0000"/>
                </a:solidFill>
              </a:rPr>
              <a:t> </a:t>
            </a:r>
            <a:r>
              <a:rPr lang="en" sz="1200"/>
              <a:t>lock</a:t>
            </a:r>
            <a:r>
              <a:rPr lang="en" sz="1200"/>
              <a:t>, only </a:t>
            </a:r>
            <a:r>
              <a:rPr b="1" i="1" lang="en" sz="1200">
                <a:solidFill>
                  <a:srgbClr val="FF0000"/>
                </a:solidFill>
              </a:rPr>
              <a:t>one</a:t>
            </a:r>
            <a:r>
              <a:rPr lang="en" sz="1200">
                <a:solidFill>
                  <a:srgbClr val="FF0000"/>
                </a:solidFill>
              </a:rPr>
              <a:t> </a:t>
            </a:r>
            <a:r>
              <a:rPr lang="en" sz="1200"/>
              <a:t>of the threads may enter a </a:t>
            </a:r>
            <a:r>
              <a:rPr b="1" i="1" lang="en" sz="1200">
                <a:solidFill>
                  <a:srgbClr val="FF0000"/>
                </a:solidFill>
                <a:latin typeface="Roboto"/>
                <a:ea typeface="Roboto"/>
                <a:cs typeface="Roboto"/>
                <a:sym typeface="Roboto"/>
              </a:rPr>
              <a:t>locked</a:t>
            </a:r>
            <a:r>
              <a:rPr lang="en" sz="1200">
                <a:solidFill>
                  <a:srgbClr val="FF0000"/>
                </a:solidFill>
              </a:rPr>
              <a:t> </a:t>
            </a:r>
            <a:r>
              <a:rPr b="1" i="1" lang="en" sz="1200">
                <a:solidFill>
                  <a:srgbClr val="FF0000"/>
                </a:solidFill>
              </a:rPr>
              <a:t>block</a:t>
            </a:r>
            <a:r>
              <a:rPr lang="en" sz="1200"/>
              <a:t> at a time.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p50"/>
          <p:cNvPicPr preferRelativeResize="0"/>
          <p:nvPr/>
        </p:nvPicPr>
        <p:blipFill>
          <a:blip r:embed="rId3">
            <a:alphaModFix/>
          </a:blip>
          <a:stretch>
            <a:fillRect/>
          </a:stretch>
        </p:blipFill>
        <p:spPr>
          <a:xfrm>
            <a:off x="1024300" y="2263426"/>
            <a:ext cx="1748075" cy="2697025"/>
          </a:xfrm>
          <a:prstGeom prst="rect">
            <a:avLst/>
          </a:prstGeom>
          <a:noFill/>
          <a:ln>
            <a:noFill/>
          </a:ln>
        </p:spPr>
      </p:pic>
      <p:sp>
        <p:nvSpPr>
          <p:cNvPr id="515" name="Google Shape;515;p5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Surgical Locking</a:t>
            </a:r>
            <a:endParaRPr/>
          </a:p>
        </p:txBody>
      </p:sp>
      <p:sp>
        <p:nvSpPr>
          <p:cNvPr id="516" name="Google Shape;516;p50"/>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Because the entire </a:t>
            </a:r>
            <a:r>
              <a:rPr lang="en">
                <a:latin typeface="Courier New"/>
                <a:ea typeface="Courier New"/>
                <a:cs typeface="Courier New"/>
                <a:sym typeface="Courier New"/>
              </a:rPr>
              <a:t>for</a:t>
            </a:r>
            <a:r>
              <a:rPr lang="en"/>
              <a:t> loop in the </a:t>
            </a:r>
            <a:r>
              <a:rPr lang="en">
                <a:latin typeface="Courier New"/>
                <a:ea typeface="Courier New"/>
                <a:cs typeface="Courier New"/>
                <a:sym typeface="Courier New"/>
              </a:rPr>
              <a:t>run()</a:t>
            </a:r>
            <a:r>
              <a:rPr lang="en"/>
              <a:t> method in </a:t>
            </a:r>
            <a:r>
              <a:rPr lang="en">
                <a:latin typeface="Courier New"/>
                <a:ea typeface="Courier New"/>
                <a:cs typeface="Courier New"/>
                <a:sym typeface="Courier New"/>
              </a:rPr>
              <a:t>TheCount</a:t>
            </a:r>
            <a:r>
              <a:rPr lang="en"/>
              <a:t> is locked, the first thread to obtain the lock will block all of the others and force them to run sequentially. Let's fix it so that the threads are able to run concurrently instead.</a:t>
            </a:r>
            <a:endParaRPr/>
          </a:p>
        </p:txBody>
      </p:sp>
      <p:sp>
        <p:nvSpPr>
          <p:cNvPr id="517" name="Google Shape;517;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8" name="Google Shape;518;p50"/>
          <p:cNvSpPr txBox="1"/>
          <p:nvPr>
            <p:ph idx="2" type="body"/>
          </p:nvPr>
        </p:nvSpPr>
        <p:spPr>
          <a:xfrm>
            <a:off x="2660825" y="1632125"/>
            <a:ext cx="6051600" cy="27675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Open </a:t>
            </a:r>
            <a:r>
              <a:rPr lang="en" sz="1800">
                <a:latin typeface="Courier New"/>
                <a:ea typeface="Courier New"/>
                <a:cs typeface="Courier New"/>
                <a:sym typeface="Courier New"/>
              </a:rPr>
              <a:t>TheCount</a:t>
            </a:r>
            <a:r>
              <a:rPr lang="en" sz="1800"/>
              <a:t> and navigate to the </a:t>
            </a:r>
            <a:r>
              <a:rPr lang="en" sz="1800">
                <a:latin typeface="Courier New"/>
                <a:ea typeface="Courier New"/>
                <a:cs typeface="Courier New"/>
                <a:sym typeface="Courier New"/>
              </a:rPr>
              <a:t>run()</a:t>
            </a:r>
            <a:r>
              <a:rPr lang="en" sz="1800"/>
              <a:t> method.</a:t>
            </a:r>
            <a:endParaRPr sz="1800"/>
          </a:p>
          <a:p>
            <a:pPr indent="-330200" lvl="1" marL="914400" rtl="0" algn="l">
              <a:spcBef>
                <a:spcPts val="0"/>
              </a:spcBef>
              <a:spcAft>
                <a:spcPts val="0"/>
              </a:spcAft>
              <a:buSzPts val="1600"/>
              <a:buChar char="○"/>
            </a:pPr>
            <a:r>
              <a:rPr b="1" i="1" lang="en" sz="1600">
                <a:solidFill>
                  <a:srgbClr val="FF0000"/>
                </a:solidFill>
              </a:rPr>
              <a:t>Examine </a:t>
            </a:r>
            <a:r>
              <a:rPr lang="en" sz="1600"/>
              <a:t>the code carefully and decide which line(s) need to be thread-safe.</a:t>
            </a:r>
            <a:endParaRPr sz="1600"/>
          </a:p>
          <a:p>
            <a:pPr indent="-330200" lvl="2" marL="1371600" rtl="0" algn="l">
              <a:spcBef>
                <a:spcPts val="0"/>
              </a:spcBef>
              <a:spcAft>
                <a:spcPts val="0"/>
              </a:spcAft>
              <a:buSzPts val="1600"/>
              <a:buChar char="■"/>
            </a:pPr>
            <a:r>
              <a:rPr b="1" i="1" lang="en" sz="1600">
                <a:solidFill>
                  <a:srgbClr val="FF0000"/>
                </a:solidFill>
              </a:rPr>
              <a:t>Hint</a:t>
            </a:r>
            <a:r>
              <a:rPr lang="en" sz="1600"/>
              <a:t>: where is the </a:t>
            </a:r>
            <a:r>
              <a:rPr b="1" i="1" lang="en" sz="1600">
                <a:solidFill>
                  <a:srgbClr val="FF0000"/>
                </a:solidFill>
              </a:rPr>
              <a:t>shared resource</a:t>
            </a:r>
            <a:r>
              <a:rPr lang="en" sz="1600">
                <a:solidFill>
                  <a:srgbClr val="FF0000"/>
                </a:solidFill>
              </a:rPr>
              <a:t> </a:t>
            </a:r>
            <a:r>
              <a:rPr lang="en" sz="1600"/>
              <a:t>actually used?</a:t>
            </a:r>
            <a:endParaRPr sz="1600"/>
          </a:p>
          <a:p>
            <a:pPr indent="-330200" lvl="1" marL="914400" rtl="0" algn="l">
              <a:spcBef>
                <a:spcPts val="0"/>
              </a:spcBef>
              <a:spcAft>
                <a:spcPts val="0"/>
              </a:spcAft>
              <a:buSzPts val="1600"/>
              <a:buChar char="○"/>
            </a:pPr>
            <a:r>
              <a:rPr b="1" i="1" lang="en" sz="1600">
                <a:solidFill>
                  <a:srgbClr val="FF0000"/>
                </a:solidFill>
              </a:rPr>
              <a:t>Change </a:t>
            </a:r>
            <a:r>
              <a:rPr lang="en" sz="1600"/>
              <a:t>the locked block so that it only includes the affected line(s).</a:t>
            </a:r>
            <a:endParaRPr sz="1600"/>
          </a:p>
          <a:p>
            <a:pPr indent="-342900" lvl="0" marL="457200" rtl="0" algn="l">
              <a:spcBef>
                <a:spcPts val="0"/>
              </a:spcBef>
              <a:spcAft>
                <a:spcPts val="0"/>
              </a:spcAft>
              <a:buSzPts val="1800"/>
              <a:buChar char="●"/>
            </a:pPr>
            <a:r>
              <a:rPr b="1" i="1" lang="en" sz="1800">
                <a:solidFill>
                  <a:srgbClr val="FF0000"/>
                </a:solidFill>
              </a:rPr>
              <a:t>Compile</a:t>
            </a:r>
            <a:r>
              <a:rPr lang="en" sz="1800">
                <a:solidFill>
                  <a:srgbClr val="FF0000"/>
                </a:solidFill>
              </a:rPr>
              <a:t> </a:t>
            </a:r>
            <a:r>
              <a:rPr lang="en" sz="1800"/>
              <a:t>and </a:t>
            </a:r>
            <a:r>
              <a:rPr b="1" i="1" lang="en" sz="1800">
                <a:solidFill>
                  <a:srgbClr val="FF0000"/>
                </a:solidFill>
              </a:rPr>
              <a:t>run</a:t>
            </a:r>
            <a:r>
              <a:rPr lang="en" sz="1800">
                <a:solidFill>
                  <a:srgbClr val="FF0000"/>
                </a:solidFill>
              </a:rPr>
              <a:t> </a:t>
            </a:r>
            <a:r>
              <a:rPr lang="en" sz="1800"/>
              <a:t>your code.</a:t>
            </a:r>
            <a:endParaRPr sz="1800"/>
          </a:p>
          <a:p>
            <a:pPr indent="-330200" lvl="1" marL="914400" rtl="0" algn="l">
              <a:spcBef>
                <a:spcPts val="0"/>
              </a:spcBef>
              <a:spcAft>
                <a:spcPts val="0"/>
              </a:spcAft>
              <a:buSzPts val="1600"/>
              <a:buChar char="○"/>
            </a:pPr>
            <a:r>
              <a:rPr lang="en" sz="1600"/>
              <a:t>Does the </a:t>
            </a:r>
            <a:r>
              <a:rPr lang="en" sz="1600">
                <a:solidFill>
                  <a:srgbClr val="FF0000"/>
                </a:solidFill>
                <a:latin typeface="Courier New"/>
                <a:ea typeface="Courier New"/>
                <a:cs typeface="Courier New"/>
                <a:sym typeface="Courier New"/>
              </a:rPr>
              <a:t>COUNT</a:t>
            </a:r>
            <a:r>
              <a:rPr lang="en" sz="1600">
                <a:solidFill>
                  <a:srgbClr val="FF0000"/>
                </a:solidFill>
              </a:rPr>
              <a:t> </a:t>
            </a:r>
            <a:r>
              <a:rPr lang="en" sz="1600"/>
              <a:t>make it to </a:t>
            </a:r>
            <a:r>
              <a:rPr lang="en" sz="1600">
                <a:solidFill>
                  <a:srgbClr val="FF0000"/>
                </a:solidFill>
                <a:latin typeface="Courier New"/>
                <a:ea typeface="Courier New"/>
                <a:cs typeface="Courier New"/>
                <a:sym typeface="Courier New"/>
              </a:rPr>
              <a:t>1,000,000</a:t>
            </a:r>
            <a:r>
              <a:rPr lang="en" sz="1600"/>
              <a:t>?</a:t>
            </a:r>
            <a:endParaRPr sz="1600"/>
          </a:p>
          <a:p>
            <a:pPr indent="-330200" lvl="1" marL="914400" rtl="0" algn="l">
              <a:spcBef>
                <a:spcPts val="0"/>
              </a:spcBef>
              <a:spcAft>
                <a:spcPts val="0"/>
              </a:spcAft>
              <a:buSzPts val="1600"/>
              <a:buChar char="○"/>
            </a:pPr>
            <a:r>
              <a:rPr lang="en" sz="1600"/>
              <a:t>Do the threads </a:t>
            </a:r>
            <a:r>
              <a:rPr b="1" i="1" lang="en" sz="1600">
                <a:solidFill>
                  <a:srgbClr val="FF0000"/>
                </a:solidFill>
              </a:rPr>
              <a:t>run concurrently</a:t>
            </a:r>
            <a:r>
              <a:rPr lang="en" sz="1600"/>
              <a:t>?</a:t>
            </a:r>
            <a:endParaRPr sz="1600"/>
          </a:p>
        </p:txBody>
      </p:sp>
      <p:sp>
        <p:nvSpPr>
          <p:cNvPr id="519" name="Google Shape;519;p5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11.5</a:t>
            </a:r>
            <a:endParaRPr/>
          </a:p>
        </p:txBody>
      </p:sp>
      <p:sp>
        <p:nvSpPr>
          <p:cNvPr id="520" name="Google Shape;520;p50"/>
          <p:cNvSpPr/>
          <p:nvPr/>
        </p:nvSpPr>
        <p:spPr>
          <a:xfrm>
            <a:off x="179075" y="1654200"/>
            <a:ext cx="1563000" cy="654000"/>
          </a:xfrm>
          <a:prstGeom prst="wedgeRoundRectCallout">
            <a:avLst>
              <a:gd fmla="val 26620" name="adj1"/>
              <a:gd fmla="val 6493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This is going to require </a:t>
            </a:r>
            <a:r>
              <a:rPr b="1" i="1" lang="en" sz="1200">
                <a:solidFill>
                  <a:srgbClr val="FF0000"/>
                </a:solidFill>
              </a:rPr>
              <a:t>surgical</a:t>
            </a:r>
            <a:r>
              <a:rPr lang="en" sz="1200">
                <a:solidFill>
                  <a:srgbClr val="FF0000"/>
                </a:solidFill>
              </a:rPr>
              <a:t> </a:t>
            </a:r>
            <a:r>
              <a:rPr lang="en" sz="1200"/>
              <a:t>precision.</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Why Do I Care?</a:t>
            </a:r>
            <a:endParaRPr/>
          </a:p>
        </p:txBody>
      </p:sp>
      <p:sp>
        <p:nvSpPr>
          <p:cNvPr id="526" name="Google Shape;526;p51"/>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You may recall the </a:t>
            </a:r>
            <a:r>
              <a:rPr lang="en">
                <a:latin typeface="Courier New"/>
                <a:ea typeface="Courier New"/>
                <a:cs typeface="Courier New"/>
                <a:sym typeface="Courier New"/>
              </a:rPr>
              <a:t>LotsORacers</a:t>
            </a:r>
            <a:r>
              <a:rPr lang="en"/>
              <a:t> from an activity in the previous unit; it is a race that records finish times in a list. Run the </a:t>
            </a:r>
            <a:r>
              <a:rPr lang="en">
                <a:latin typeface="Courier New"/>
                <a:ea typeface="Courier New"/>
                <a:cs typeface="Courier New"/>
                <a:sym typeface="Courier New"/>
              </a:rPr>
              <a:t>LotORacers </a:t>
            </a:r>
            <a:r>
              <a:rPr lang="en"/>
              <a:t>class to refresh your memory about what happens when more than one </a:t>
            </a:r>
            <a:r>
              <a:rPr lang="en">
                <a:latin typeface="Courier New"/>
                <a:ea typeface="Courier New"/>
                <a:cs typeface="Courier New"/>
                <a:sym typeface="Courier New"/>
              </a:rPr>
              <a:t>Racer</a:t>
            </a:r>
            <a:r>
              <a:rPr lang="en"/>
              <a:t> is running at the same time.</a:t>
            </a:r>
            <a:endParaRPr/>
          </a:p>
        </p:txBody>
      </p:sp>
      <p:sp>
        <p:nvSpPr>
          <p:cNvPr id="527" name="Google Shape;527;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8" name="Google Shape;528;p51"/>
          <p:cNvSpPr txBox="1"/>
          <p:nvPr>
            <p:ph idx="2" type="body"/>
          </p:nvPr>
        </p:nvSpPr>
        <p:spPr>
          <a:xfrm>
            <a:off x="2844000" y="1632125"/>
            <a:ext cx="6097200" cy="3257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provided </a:t>
            </a:r>
            <a:r>
              <a:rPr lang="en">
                <a:latin typeface="Courier New"/>
                <a:ea typeface="Courier New"/>
                <a:cs typeface="Courier New"/>
                <a:sym typeface="Courier New"/>
              </a:rPr>
              <a:t>LotsORacers</a:t>
            </a:r>
            <a:r>
              <a:rPr lang="en"/>
              <a:t> class in the </a:t>
            </a:r>
            <a:r>
              <a:rPr lang="en">
                <a:latin typeface="Courier New"/>
                <a:ea typeface="Courier New"/>
                <a:cs typeface="Courier New"/>
                <a:sym typeface="Courier New"/>
              </a:rPr>
              <a:t>activities</a:t>
            </a:r>
            <a:r>
              <a:rPr lang="en"/>
              <a:t> package.</a:t>
            </a:r>
            <a:endParaRPr/>
          </a:p>
          <a:p>
            <a:pPr indent="-298450" lvl="1" marL="914400" rtl="0" algn="l">
              <a:spcBef>
                <a:spcPts val="0"/>
              </a:spcBef>
              <a:spcAft>
                <a:spcPts val="0"/>
              </a:spcAft>
              <a:buSzPts val="1100"/>
              <a:buChar char="○"/>
            </a:pPr>
            <a:r>
              <a:rPr lang="en">
                <a:solidFill>
                  <a:srgbClr val="FF0000"/>
                </a:solidFill>
              </a:rPr>
              <a:t>Examine </a:t>
            </a:r>
            <a:r>
              <a:rPr lang="en"/>
              <a:t>the code to see what it does.</a:t>
            </a:r>
            <a:endParaRPr/>
          </a:p>
          <a:p>
            <a:pPr indent="-298450" lvl="2" marL="1371600" rtl="0" algn="l">
              <a:spcBef>
                <a:spcPts val="0"/>
              </a:spcBef>
              <a:spcAft>
                <a:spcPts val="0"/>
              </a:spcAft>
              <a:buSzPts val="1100"/>
              <a:buChar char="■"/>
            </a:pPr>
            <a:r>
              <a:rPr lang="en"/>
              <a:t>Note that it u</a:t>
            </a:r>
            <a:r>
              <a:rPr lang="en">
                <a:solidFill>
                  <a:srgbClr val="666666"/>
                </a:solidFill>
              </a:rPr>
              <a:t>ses th</a:t>
            </a:r>
            <a:r>
              <a:rPr lang="en">
                <a:solidFill>
                  <a:srgbClr val="666666"/>
                </a:solidFill>
              </a:rPr>
              <a:t>e standard Java</a:t>
            </a:r>
            <a:r>
              <a:rPr lang="en">
                <a:solidFill>
                  <a:srgbClr val="666666"/>
                </a:solidFill>
              </a:rPr>
              <a:t> i</a:t>
            </a:r>
            <a:r>
              <a:rPr lang="en"/>
              <a:t>mplementation of an </a:t>
            </a:r>
            <a:r>
              <a:rPr lang="en">
                <a:solidFill>
                  <a:srgbClr val="FF0000"/>
                </a:solidFill>
                <a:latin typeface="Courier New"/>
                <a:ea typeface="Courier New"/>
                <a:cs typeface="Courier New"/>
                <a:sym typeface="Courier New"/>
              </a:rPr>
              <a:t>ArrayList</a:t>
            </a:r>
            <a:r>
              <a:rPr lang="en"/>
              <a:t>.</a:t>
            </a:r>
            <a:endParaRPr/>
          </a:p>
          <a:p>
            <a:pPr indent="-298450" lvl="1" marL="914400" rtl="0" algn="l">
              <a:spcBef>
                <a:spcPts val="0"/>
              </a:spcBef>
              <a:spcAft>
                <a:spcPts val="0"/>
              </a:spcAft>
              <a:buSzPts val="1100"/>
              <a:buChar char="○"/>
            </a:pPr>
            <a:r>
              <a:rPr lang="en"/>
              <a:t>When the class is executed, how many total values should be added to the list?</a:t>
            </a:r>
            <a:endParaRPr/>
          </a:p>
          <a:p>
            <a:pPr indent="-311150" lvl="0" marL="457200" rtl="0" algn="l">
              <a:spcBef>
                <a:spcPts val="0"/>
              </a:spcBef>
              <a:spcAft>
                <a:spcPts val="0"/>
              </a:spcAft>
              <a:buSzPts val="1300"/>
              <a:buChar char="●"/>
            </a:pPr>
            <a:r>
              <a:rPr b="1" i="1" lang="en">
                <a:solidFill>
                  <a:srgbClr val="FF0000"/>
                </a:solidFill>
              </a:rPr>
              <a:t>Run</a:t>
            </a:r>
            <a:r>
              <a:rPr lang="en">
                <a:solidFill>
                  <a:srgbClr val="FF0000"/>
                </a:solidFill>
              </a:rPr>
              <a:t> </a:t>
            </a:r>
            <a:r>
              <a:rPr lang="en"/>
              <a:t>the class.</a:t>
            </a:r>
            <a:endParaRPr/>
          </a:p>
          <a:p>
            <a:pPr indent="-298450" lvl="1" marL="914400" rtl="0" algn="l">
              <a:spcBef>
                <a:spcPts val="0"/>
              </a:spcBef>
              <a:spcAft>
                <a:spcPts val="0"/>
              </a:spcAft>
              <a:buSzPts val="1100"/>
              <a:buChar char="○"/>
            </a:pPr>
            <a:r>
              <a:rPr lang="en"/>
              <a:t>What do you </a:t>
            </a:r>
            <a:r>
              <a:rPr b="1" i="1" lang="en">
                <a:solidFill>
                  <a:srgbClr val="FF0000"/>
                </a:solidFill>
              </a:rPr>
              <a:t>see</a:t>
            </a:r>
            <a:r>
              <a:rPr lang="en"/>
              <a:t>?</a:t>
            </a:r>
            <a:endParaRPr/>
          </a:p>
          <a:p>
            <a:pPr indent="-298450" lvl="1" marL="914400" rtl="0" algn="l">
              <a:spcBef>
                <a:spcPts val="0"/>
              </a:spcBef>
              <a:spcAft>
                <a:spcPts val="0"/>
              </a:spcAft>
              <a:buSzPts val="1100"/>
              <a:buChar char="○"/>
            </a:pPr>
            <a:r>
              <a:rPr b="1" i="1" lang="en">
                <a:solidFill>
                  <a:srgbClr val="FF0000"/>
                </a:solidFill>
              </a:rPr>
              <a:t>Run </a:t>
            </a:r>
            <a:r>
              <a:rPr lang="en"/>
              <a:t>it a few more times.</a:t>
            </a:r>
            <a:endParaRPr/>
          </a:p>
          <a:p>
            <a:pPr indent="-311150" lvl="0" marL="457200" rtl="0" algn="l">
              <a:spcBef>
                <a:spcPts val="0"/>
              </a:spcBef>
              <a:spcAft>
                <a:spcPts val="0"/>
              </a:spcAft>
              <a:buSzPts val="1300"/>
              <a:buChar char="●"/>
            </a:pPr>
            <a:r>
              <a:rPr b="1" i="1" lang="en">
                <a:solidFill>
                  <a:srgbClr val="FF0000"/>
                </a:solidFill>
              </a:rPr>
              <a:t>Inspect</a:t>
            </a:r>
            <a:r>
              <a:rPr lang="en">
                <a:solidFill>
                  <a:srgbClr val="FF0000"/>
                </a:solidFill>
              </a:rPr>
              <a:t> </a:t>
            </a:r>
            <a:r>
              <a:rPr lang="en"/>
              <a:t>the code and identify any </a:t>
            </a:r>
            <a:r>
              <a:rPr b="1" i="1" lang="en">
                <a:solidFill>
                  <a:srgbClr val="FF0000"/>
                </a:solidFill>
              </a:rPr>
              <a:t>critical regions</a:t>
            </a:r>
            <a:r>
              <a:rPr lang="en"/>
              <a:t> that may need to be protected when executed by more than one thread.</a:t>
            </a:r>
            <a:endParaRPr/>
          </a:p>
          <a:p>
            <a:pPr indent="-298450" lvl="1" marL="914400" rtl="0" algn="l">
              <a:spcBef>
                <a:spcPts val="0"/>
              </a:spcBef>
              <a:spcAft>
                <a:spcPts val="0"/>
              </a:spcAft>
              <a:buSzPts val="1100"/>
              <a:buChar char="○"/>
            </a:pPr>
            <a:r>
              <a:rPr lang="en">
                <a:solidFill>
                  <a:srgbClr val="666666"/>
                </a:solidFill>
              </a:rPr>
              <a:t>Create a</a:t>
            </a:r>
            <a:r>
              <a:rPr b="1" i="1" lang="en">
                <a:solidFill>
                  <a:srgbClr val="FF0000"/>
                </a:solidFill>
              </a:rPr>
              <a:t> shared lock and lock </a:t>
            </a:r>
            <a:r>
              <a:rPr lang="en"/>
              <a:t>the critical region(s).</a:t>
            </a:r>
            <a:endParaRPr/>
          </a:p>
          <a:p>
            <a:pPr indent="-298450" lvl="1" marL="914400" rtl="0" algn="l">
              <a:spcBef>
                <a:spcPts val="0"/>
              </a:spcBef>
              <a:spcAft>
                <a:spcPts val="0"/>
              </a:spcAft>
              <a:buSzPts val="1100"/>
              <a:buChar char="○"/>
            </a:pPr>
            <a:r>
              <a:rPr lang="en"/>
              <a:t>Be sure to be </a:t>
            </a:r>
            <a:r>
              <a:rPr b="1" i="1" lang="en">
                <a:solidFill>
                  <a:srgbClr val="FF0000"/>
                </a:solidFill>
              </a:rPr>
              <a:t>surgical </a:t>
            </a:r>
            <a:r>
              <a:rPr lang="en"/>
              <a:t>when locking. </a:t>
            </a:r>
            <a:endParaRPr/>
          </a:p>
          <a:p>
            <a:pPr indent="-298450" lvl="2" marL="1371600" rtl="0" algn="l">
              <a:spcBef>
                <a:spcPts val="0"/>
              </a:spcBef>
              <a:spcAft>
                <a:spcPts val="0"/>
              </a:spcAft>
              <a:buSzPts val="1100"/>
              <a:buChar char="■"/>
            </a:pPr>
            <a:r>
              <a:rPr lang="en"/>
              <a:t>Lock </a:t>
            </a:r>
            <a:r>
              <a:rPr b="1" i="1" lang="en">
                <a:solidFill>
                  <a:srgbClr val="FF0000"/>
                </a:solidFill>
              </a:rPr>
              <a:t>only</a:t>
            </a:r>
            <a:r>
              <a:rPr lang="en">
                <a:solidFill>
                  <a:srgbClr val="FF0000"/>
                </a:solidFill>
              </a:rPr>
              <a:t> </a:t>
            </a:r>
            <a:r>
              <a:rPr lang="en"/>
              <a:t>what is necessary to make the code</a:t>
            </a:r>
            <a:r>
              <a:rPr lang="en">
                <a:solidFill>
                  <a:srgbClr val="FF0000"/>
                </a:solidFill>
              </a:rPr>
              <a:t> </a:t>
            </a:r>
            <a:r>
              <a:rPr b="1" i="1" lang="en">
                <a:solidFill>
                  <a:srgbClr val="FF0000"/>
                </a:solidFill>
              </a:rPr>
              <a:t>thread-safe</a:t>
            </a:r>
            <a:r>
              <a:rPr lang="en"/>
              <a:t>.</a:t>
            </a:r>
            <a:endParaRPr/>
          </a:p>
          <a:p>
            <a:pPr indent="-298450" lvl="2" marL="1371600" rtl="0" algn="l">
              <a:spcBef>
                <a:spcPts val="0"/>
              </a:spcBef>
              <a:spcAft>
                <a:spcPts val="0"/>
              </a:spcAft>
              <a:buSzPts val="1100"/>
              <a:buChar char="■"/>
            </a:pPr>
            <a:r>
              <a:rPr b="1" i="1" lang="en">
                <a:solidFill>
                  <a:srgbClr val="FF0000"/>
                </a:solidFill>
              </a:rPr>
              <a:t>Avoid</a:t>
            </a:r>
            <a:r>
              <a:rPr lang="en">
                <a:solidFill>
                  <a:srgbClr val="FF0000"/>
                </a:solidFill>
              </a:rPr>
              <a:t> </a:t>
            </a:r>
            <a:r>
              <a:rPr lang="en"/>
              <a:t>forcing the threads to run </a:t>
            </a:r>
            <a:r>
              <a:rPr b="1" i="1" lang="en">
                <a:solidFill>
                  <a:srgbClr val="FF0000"/>
                </a:solidFill>
              </a:rPr>
              <a:t>sequentially</a:t>
            </a:r>
            <a:r>
              <a:rPr lang="en"/>
              <a:t>.</a:t>
            </a:r>
            <a:endParaRPr/>
          </a:p>
          <a:p>
            <a:pPr indent="-311150" lvl="0" marL="457200" rtl="0" algn="l">
              <a:spcBef>
                <a:spcPts val="0"/>
              </a:spcBef>
              <a:spcAft>
                <a:spcPts val="0"/>
              </a:spcAft>
              <a:buSzPts val="1300"/>
              <a:buChar char="●"/>
            </a:pPr>
            <a:r>
              <a:rPr b="1" i="1" lang="en">
                <a:solidFill>
                  <a:srgbClr val="FF0000"/>
                </a:solidFill>
              </a:rPr>
              <a:t>Compile</a:t>
            </a:r>
            <a:r>
              <a:rPr lang="en">
                <a:solidFill>
                  <a:srgbClr val="FF0000"/>
                </a:solidFill>
              </a:rPr>
              <a:t> </a:t>
            </a:r>
            <a:r>
              <a:rPr lang="en"/>
              <a:t>and </a:t>
            </a:r>
            <a:r>
              <a:rPr b="1" i="1" lang="en">
                <a:solidFill>
                  <a:srgbClr val="FF0000"/>
                </a:solidFill>
              </a:rPr>
              <a:t>run</a:t>
            </a:r>
            <a:r>
              <a:rPr lang="en">
                <a:solidFill>
                  <a:srgbClr val="FF0000"/>
                </a:solidFill>
              </a:rPr>
              <a:t> </a:t>
            </a:r>
            <a:r>
              <a:rPr lang="en"/>
              <a:t>the code again.</a:t>
            </a:r>
            <a:endParaRPr/>
          </a:p>
          <a:p>
            <a:pPr indent="-298450" lvl="1" marL="914400" rtl="0" algn="l">
              <a:spcBef>
                <a:spcPts val="0"/>
              </a:spcBef>
              <a:spcAft>
                <a:spcPts val="0"/>
              </a:spcAft>
              <a:buSzPts val="1100"/>
              <a:buChar char="○"/>
            </a:pPr>
            <a:r>
              <a:rPr lang="en"/>
              <a:t>Is the problem fixed?</a:t>
            </a:r>
            <a:endParaRPr/>
          </a:p>
        </p:txBody>
      </p:sp>
      <p:sp>
        <p:nvSpPr>
          <p:cNvPr id="529" name="Google Shape;529;p5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11.6</a:t>
            </a:r>
            <a:endParaRPr/>
          </a:p>
        </p:txBody>
      </p:sp>
      <p:sp>
        <p:nvSpPr>
          <p:cNvPr id="530" name="Google Shape;530;p51"/>
          <p:cNvSpPr txBox="1"/>
          <p:nvPr/>
        </p:nvSpPr>
        <p:spPr>
          <a:xfrm>
            <a:off x="152400" y="3663171"/>
            <a:ext cx="27294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What implications does this experiment have on</a:t>
            </a:r>
            <a:r>
              <a:rPr lang="en" sz="1200">
                <a:solidFill>
                  <a:srgbClr val="FF0000"/>
                </a:solidFill>
              </a:rPr>
              <a:t> </a:t>
            </a:r>
            <a:r>
              <a:rPr b="1" i="1" lang="en" sz="1200">
                <a:solidFill>
                  <a:srgbClr val="FF0000"/>
                </a:solidFill>
              </a:rPr>
              <a:t>your own code</a:t>
            </a:r>
            <a:r>
              <a:rPr lang="en" sz="1200"/>
              <a:t> that uses classes from the standard Java libraries (or any other code that you </a:t>
            </a:r>
            <a:r>
              <a:rPr b="1" i="1" lang="en" sz="1200">
                <a:solidFill>
                  <a:srgbClr val="FF0000"/>
                </a:solidFill>
              </a:rPr>
              <a:t>don't control</a:t>
            </a:r>
            <a:r>
              <a:rPr lang="en" sz="1200"/>
              <a:t>)?</a:t>
            </a:r>
            <a:endParaRPr sz="1200"/>
          </a:p>
        </p:txBody>
      </p:sp>
      <p:grpSp>
        <p:nvGrpSpPr>
          <p:cNvPr id="531" name="Google Shape;531;p51"/>
          <p:cNvGrpSpPr/>
          <p:nvPr/>
        </p:nvGrpSpPr>
        <p:grpSpPr>
          <a:xfrm>
            <a:off x="152400" y="1894138"/>
            <a:ext cx="2729426" cy="1535299"/>
            <a:chOff x="189000" y="1590700"/>
            <a:chExt cx="2729426" cy="1535299"/>
          </a:xfrm>
        </p:grpSpPr>
        <p:pic>
          <p:nvPicPr>
            <p:cNvPr id="532" name="Google Shape;532;p51"/>
            <p:cNvPicPr preferRelativeResize="0"/>
            <p:nvPr/>
          </p:nvPicPr>
          <p:blipFill>
            <a:blip r:embed="rId3">
              <a:alphaModFix/>
            </a:blip>
            <a:stretch>
              <a:fillRect/>
            </a:stretch>
          </p:blipFill>
          <p:spPr>
            <a:xfrm>
              <a:off x="189000" y="1590700"/>
              <a:ext cx="2729426" cy="1535299"/>
            </a:xfrm>
            <a:prstGeom prst="rect">
              <a:avLst/>
            </a:prstGeom>
            <a:noFill/>
            <a:ln cap="flat" cmpd="sng" w="19050">
              <a:solidFill>
                <a:srgbClr val="31394D"/>
              </a:solidFill>
              <a:prstDash val="solid"/>
              <a:round/>
              <a:headEnd len="sm" w="sm" type="none"/>
              <a:tailEnd len="sm" w="sm" type="none"/>
            </a:ln>
          </p:spPr>
        </p:pic>
        <p:sp>
          <p:nvSpPr>
            <p:cNvPr id="533" name="Google Shape;533;p51"/>
            <p:cNvSpPr/>
            <p:nvPr/>
          </p:nvSpPr>
          <p:spPr>
            <a:xfrm>
              <a:off x="2006400" y="1679400"/>
              <a:ext cx="626400" cy="670800"/>
            </a:xfrm>
            <a:prstGeom prst="rect">
              <a:avLst/>
            </a:prstGeom>
            <a:solidFill>
              <a:srgbClr val="AF199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4" name="Google Shape;534;p51"/>
            <p:cNvSpPr/>
            <p:nvPr/>
          </p:nvSpPr>
          <p:spPr>
            <a:xfrm>
              <a:off x="2009525" y="1685025"/>
              <a:ext cx="612100" cy="646501"/>
            </a:xfrm>
            <a:prstGeom prst="rect">
              <a:avLst/>
            </a:prstGeom>
          </p:spPr>
          <p:txBody>
            <a:bodyPr>
              <a:prstTxWarp prst="textPlain"/>
            </a:bodyPr>
            <a:lstStyle/>
            <a:p>
              <a:pPr lvl="0" algn="ctr"/>
              <a:r>
                <a:rPr b="1" i="0">
                  <a:ln cap="flat" cmpd="sng" w="9525">
                    <a:solidFill>
                      <a:srgbClr val="000000"/>
                    </a:solidFill>
                    <a:prstDash val="solid"/>
                    <a:round/>
                    <a:headEnd len="sm" w="sm" type="none"/>
                    <a:tailEnd len="sm" w="sm" type="none"/>
                  </a:ln>
                  <a:gradFill>
                    <a:gsLst>
                      <a:gs pos="0">
                        <a:srgbClr val="F7EDCD"/>
                      </a:gs>
                      <a:gs pos="100000">
                        <a:srgbClr val="F1C232"/>
                      </a:gs>
                    </a:gsLst>
                    <a:path path="circle">
                      <a:fillToRect b="100%" l="100%" r="0%" t="0%"/>
                    </a:path>
                    <a:tileRect b="0%" l="0%" r="-100%" t="-100%"/>
                  </a:gradFill>
                  <a:latin typeface="Impact"/>
                </a:rPr>
                <a:t>1M</a:t>
              </a: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2"/>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Threads and Networking</a:t>
            </a:r>
            <a:endParaRPr/>
          </a:p>
        </p:txBody>
      </p:sp>
      <p:sp>
        <p:nvSpPr>
          <p:cNvPr id="540" name="Google Shape;540;p52"/>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Autofit/>
          </a:bodyPr>
          <a:lstStyle/>
          <a:p>
            <a:pPr indent="-317500" lvl="0" marL="457200" rtl="0" algn="l">
              <a:lnSpc>
                <a:spcPct val="115000"/>
              </a:lnSpc>
              <a:spcBef>
                <a:spcPts val="0"/>
              </a:spcBef>
              <a:spcAft>
                <a:spcPts val="0"/>
              </a:spcAft>
              <a:buSzPts val="1400"/>
              <a:buChar char="●"/>
            </a:pPr>
            <a:r>
              <a:rPr lang="en" sz="1400"/>
              <a:t>Most servers are capable of handling requests from </a:t>
            </a:r>
            <a:r>
              <a:rPr b="1" i="1" lang="en" sz="1400">
                <a:solidFill>
                  <a:srgbClr val="FF0000"/>
                </a:solidFill>
              </a:rPr>
              <a:t>more</a:t>
            </a:r>
            <a:r>
              <a:rPr lang="en" sz="1400"/>
              <a:t> than one client at the same time</a:t>
            </a:r>
            <a:endParaRPr sz="1400"/>
          </a:p>
          <a:p>
            <a:pPr indent="-304800" lvl="1" marL="914400" rtl="0" algn="l">
              <a:lnSpc>
                <a:spcPct val="115000"/>
              </a:lnSpc>
              <a:spcBef>
                <a:spcPts val="0"/>
              </a:spcBef>
              <a:spcAft>
                <a:spcPts val="0"/>
              </a:spcAft>
              <a:buSzPts val="1200"/>
              <a:buChar char="○"/>
            </a:pPr>
            <a:r>
              <a:rPr lang="en" sz="1200"/>
              <a:t>For maximum </a:t>
            </a:r>
            <a:r>
              <a:rPr lang="en" sz="1200"/>
              <a:t>efficiency</a:t>
            </a:r>
            <a:r>
              <a:rPr lang="en" sz="1200"/>
              <a:t>, t</a:t>
            </a:r>
            <a:r>
              <a:rPr lang="en" sz="1200"/>
              <a:t>his requires that the server be </a:t>
            </a:r>
            <a:r>
              <a:rPr b="1" i="1" lang="en" sz="1200">
                <a:solidFill>
                  <a:srgbClr val="FF0000"/>
                </a:solidFill>
              </a:rPr>
              <a:t>multi-threaded</a:t>
            </a:r>
            <a:endParaRPr b="1" i="1" sz="1200">
              <a:solidFill>
                <a:srgbClr val="FF0000"/>
              </a:solidFill>
            </a:endParaRPr>
          </a:p>
          <a:p>
            <a:pPr indent="-317500" lvl="0" marL="457200" rtl="0" algn="l">
              <a:lnSpc>
                <a:spcPct val="115000"/>
              </a:lnSpc>
              <a:spcBef>
                <a:spcPts val="0"/>
              </a:spcBef>
              <a:spcAft>
                <a:spcPts val="0"/>
              </a:spcAft>
              <a:buSzPts val="1400"/>
              <a:buChar char="●"/>
            </a:pPr>
            <a:r>
              <a:rPr lang="en" sz="1400"/>
              <a:t>There is a typical </a:t>
            </a:r>
            <a:r>
              <a:rPr b="1" i="1" lang="en" sz="1400">
                <a:solidFill>
                  <a:srgbClr val="FF0000"/>
                </a:solidFill>
              </a:rPr>
              <a:t>pattern</a:t>
            </a:r>
            <a:r>
              <a:rPr lang="en" sz="1400"/>
              <a:t> that is followed when implementing a multithreaded server</a:t>
            </a:r>
            <a:endParaRPr sz="1400"/>
          </a:p>
          <a:p>
            <a:pPr indent="-311150" lvl="1" marL="914400" rtl="0" algn="l">
              <a:lnSpc>
                <a:spcPct val="115000"/>
              </a:lnSpc>
              <a:spcBef>
                <a:spcPts val="0"/>
              </a:spcBef>
              <a:spcAft>
                <a:spcPts val="0"/>
              </a:spcAft>
              <a:buSzPts val="1300"/>
              <a:buChar char="○"/>
            </a:pPr>
            <a:r>
              <a:rPr lang="en" sz="1300"/>
              <a:t>A separate </a:t>
            </a:r>
            <a:r>
              <a:rPr b="1" i="1" lang="en" sz="1300">
                <a:solidFill>
                  <a:srgbClr val="FF0000"/>
                </a:solidFill>
              </a:rPr>
              <a:t>task</a:t>
            </a:r>
            <a:r>
              <a:rPr lang="en" sz="1300"/>
              <a:t> is created for each </a:t>
            </a:r>
            <a:r>
              <a:rPr b="1" i="1" lang="en" sz="1300">
                <a:solidFill>
                  <a:srgbClr val="FF0000"/>
                </a:solidFill>
              </a:rPr>
              <a:t>client</a:t>
            </a:r>
            <a:r>
              <a:rPr lang="en" sz="1300"/>
              <a:t> that connects</a:t>
            </a:r>
            <a:endParaRPr sz="1300"/>
          </a:p>
          <a:p>
            <a:pPr indent="-303256" lvl="2" marL="1371600" rtl="0" algn="l">
              <a:lnSpc>
                <a:spcPct val="115000"/>
              </a:lnSpc>
              <a:spcBef>
                <a:spcPts val="0"/>
              </a:spcBef>
              <a:spcAft>
                <a:spcPts val="0"/>
              </a:spcAft>
              <a:buSzPts val="1176"/>
              <a:buChar char="■"/>
            </a:pPr>
            <a:r>
              <a:rPr lang="en" sz="1176"/>
              <a:t>This task will handle the request/responses from that one client </a:t>
            </a:r>
            <a:endParaRPr sz="476"/>
          </a:p>
          <a:p>
            <a:pPr indent="-311150" lvl="1" marL="914400" rtl="0" algn="l">
              <a:lnSpc>
                <a:spcPct val="115000"/>
              </a:lnSpc>
              <a:spcBef>
                <a:spcPts val="0"/>
              </a:spcBef>
              <a:spcAft>
                <a:spcPts val="0"/>
              </a:spcAft>
              <a:buSzPts val="1300"/>
              <a:buChar char="○"/>
            </a:pPr>
            <a:r>
              <a:rPr lang="en" sz="1300"/>
              <a:t>The main application thread on the server spends all of its time </a:t>
            </a:r>
            <a:r>
              <a:rPr b="1" i="1" lang="en" sz="1300">
                <a:solidFill>
                  <a:srgbClr val="FF0000"/>
                </a:solidFill>
              </a:rPr>
              <a:t>waiting</a:t>
            </a:r>
            <a:r>
              <a:rPr lang="en" sz="1300"/>
              <a:t> for incoming connections</a:t>
            </a:r>
            <a:endParaRPr sz="1300"/>
          </a:p>
          <a:p>
            <a:pPr indent="-301625" lvl="2" marL="1371600" rtl="0" algn="l">
              <a:lnSpc>
                <a:spcPct val="115000"/>
              </a:lnSpc>
              <a:spcBef>
                <a:spcPts val="0"/>
              </a:spcBef>
              <a:spcAft>
                <a:spcPts val="0"/>
              </a:spcAft>
              <a:buSzPts val="1150"/>
              <a:buChar char="■"/>
            </a:pPr>
            <a:r>
              <a:rPr lang="en" sz="1150"/>
              <a:t>When a new client connects, a client task is </a:t>
            </a:r>
            <a:r>
              <a:rPr b="1" i="1" lang="en" sz="1150">
                <a:solidFill>
                  <a:srgbClr val="FF0000"/>
                </a:solidFill>
              </a:rPr>
              <a:t>executed</a:t>
            </a:r>
            <a:r>
              <a:rPr lang="en" sz="1150"/>
              <a:t> for that client</a:t>
            </a:r>
            <a:endParaRPr sz="1150"/>
          </a:p>
          <a:p>
            <a:pPr indent="-301625" lvl="2" marL="1371600" rtl="0" algn="l">
              <a:lnSpc>
                <a:spcPct val="115000"/>
              </a:lnSpc>
              <a:spcBef>
                <a:spcPts val="0"/>
              </a:spcBef>
              <a:spcAft>
                <a:spcPts val="0"/>
              </a:spcAft>
              <a:buSzPts val="1150"/>
              <a:buChar char="■"/>
            </a:pPr>
            <a:r>
              <a:rPr lang="en" sz="1150"/>
              <a:t>The </a:t>
            </a:r>
            <a:r>
              <a:rPr b="1" i="1" lang="en" sz="1150">
                <a:solidFill>
                  <a:srgbClr val="FF0000"/>
                </a:solidFill>
              </a:rPr>
              <a:t>main</a:t>
            </a:r>
            <a:r>
              <a:rPr lang="en" sz="1150"/>
              <a:t> thread then goes back to waiting for connections</a:t>
            </a:r>
            <a:endParaRPr sz="1150"/>
          </a:p>
        </p:txBody>
      </p:sp>
      <p:sp>
        <p:nvSpPr>
          <p:cNvPr id="541" name="Google Shape;541;p52"/>
          <p:cNvSpPr txBox="1"/>
          <p:nvPr/>
        </p:nvSpPr>
        <p:spPr>
          <a:xfrm>
            <a:off x="5264725" y="1829588"/>
            <a:ext cx="3493800" cy="10926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A multithreaded network server is the culmination of all three topics, and will be challenging for some to understand and implement.</a:t>
            </a:r>
            <a:endParaRPr>
              <a:solidFill>
                <a:schemeClr val="dk1"/>
              </a:solidFill>
              <a:latin typeface="Arial"/>
              <a:ea typeface="Arial"/>
              <a:cs typeface="Arial"/>
              <a:sym typeface="Arial"/>
            </a:endParaRPr>
          </a:p>
        </p:txBody>
      </p:sp>
      <p:sp>
        <p:nvSpPr>
          <p:cNvPr id="542" name="Google Shape;542;p52"/>
          <p:cNvSpPr txBox="1"/>
          <p:nvPr/>
        </p:nvSpPr>
        <p:spPr>
          <a:xfrm>
            <a:off x="5264725" y="3319181"/>
            <a:ext cx="3493800" cy="8493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If you have any questions about anything that we have talked about so far, </a:t>
            </a:r>
            <a:r>
              <a:rPr b="1" i="1" lang="en">
                <a:solidFill>
                  <a:srgbClr val="FF0000"/>
                </a:solidFill>
                <a:latin typeface="Arial"/>
                <a:ea typeface="Arial"/>
                <a:cs typeface="Arial"/>
                <a:sym typeface="Arial"/>
              </a:rPr>
              <a:t>please ask now</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p:txBody>
      </p:sp>
      <p:sp>
        <p:nvSpPr>
          <p:cNvPr id="543" name="Google Shape;543;p5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pic>
        <p:nvPicPr>
          <p:cNvPr id="548" name="Google Shape;548;p53"/>
          <p:cNvPicPr preferRelativeResize="0"/>
          <p:nvPr/>
        </p:nvPicPr>
        <p:blipFill>
          <a:blip r:embed="rId3">
            <a:alphaModFix/>
          </a:blip>
          <a:stretch>
            <a:fillRect/>
          </a:stretch>
        </p:blipFill>
        <p:spPr>
          <a:xfrm>
            <a:off x="1343700" y="2985525"/>
            <a:ext cx="1768574" cy="959100"/>
          </a:xfrm>
          <a:prstGeom prst="rect">
            <a:avLst/>
          </a:prstGeom>
          <a:noFill/>
          <a:ln cap="flat" cmpd="sng" w="19050">
            <a:solidFill>
              <a:srgbClr val="31394D"/>
            </a:solidFill>
            <a:prstDash val="solid"/>
            <a:round/>
            <a:headEnd len="sm" w="sm" type="none"/>
            <a:tailEnd len="sm" w="sm" type="none"/>
          </a:ln>
        </p:spPr>
      </p:pic>
      <p:pic>
        <p:nvPicPr>
          <p:cNvPr id="549" name="Google Shape;549;p53"/>
          <p:cNvPicPr preferRelativeResize="0"/>
          <p:nvPr/>
        </p:nvPicPr>
        <p:blipFill>
          <a:blip r:embed="rId3">
            <a:alphaModFix/>
          </a:blip>
          <a:stretch>
            <a:fillRect/>
          </a:stretch>
        </p:blipFill>
        <p:spPr>
          <a:xfrm>
            <a:off x="380037" y="2652975"/>
            <a:ext cx="1540850" cy="835600"/>
          </a:xfrm>
          <a:prstGeom prst="rect">
            <a:avLst/>
          </a:prstGeom>
          <a:noFill/>
          <a:ln cap="flat" cmpd="sng" w="19050">
            <a:solidFill>
              <a:srgbClr val="31394D"/>
            </a:solidFill>
            <a:prstDash val="solid"/>
            <a:round/>
            <a:headEnd len="sm" w="sm" type="none"/>
            <a:tailEnd len="sm" w="sm" type="none"/>
          </a:ln>
        </p:spPr>
      </p:pic>
      <p:pic>
        <p:nvPicPr>
          <p:cNvPr id="550" name="Google Shape;550;p53"/>
          <p:cNvPicPr preferRelativeResize="0"/>
          <p:nvPr/>
        </p:nvPicPr>
        <p:blipFill>
          <a:blip r:embed="rId3">
            <a:alphaModFix/>
          </a:blip>
          <a:stretch>
            <a:fillRect/>
          </a:stretch>
        </p:blipFill>
        <p:spPr>
          <a:xfrm>
            <a:off x="1709025" y="1883625"/>
            <a:ext cx="1343076" cy="728350"/>
          </a:xfrm>
          <a:prstGeom prst="rect">
            <a:avLst/>
          </a:prstGeom>
          <a:noFill/>
          <a:ln cap="flat" cmpd="sng" w="19050">
            <a:solidFill>
              <a:srgbClr val="31394D"/>
            </a:solidFill>
            <a:prstDash val="solid"/>
            <a:round/>
            <a:headEnd len="sm" w="sm" type="none"/>
            <a:tailEnd len="sm" w="sm" type="none"/>
          </a:ln>
        </p:spPr>
      </p:pic>
      <p:sp>
        <p:nvSpPr>
          <p:cNvPr id="551" name="Google Shape;551;p5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Currently our </a:t>
            </a:r>
            <a:r>
              <a:rPr lang="en">
                <a:latin typeface="Courier New"/>
                <a:ea typeface="Courier New"/>
                <a:cs typeface="Courier New"/>
                <a:sym typeface="Courier New"/>
              </a:rPr>
              <a:t>HttpWebServer</a:t>
            </a:r>
            <a:r>
              <a:rPr lang="en"/>
              <a:t> handles a couple concurrent users well. However, it won't scale up to thousands, or more, concurrent users. That's because while </a:t>
            </a:r>
            <a:r>
              <a:rPr lang="en"/>
              <a:t>handling</a:t>
            </a:r>
            <a:r>
              <a:rPr lang="en"/>
              <a:t> the request for one user, all other users have to wait. We can fix that by making it multi-threaded.</a:t>
            </a:r>
            <a:endParaRPr/>
          </a:p>
        </p:txBody>
      </p:sp>
      <p:sp>
        <p:nvSpPr>
          <p:cNvPr id="552" name="Google Shape;552;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53"/>
          <p:cNvSpPr txBox="1"/>
          <p:nvPr>
            <p:ph idx="2" type="body"/>
          </p:nvPr>
        </p:nvSpPr>
        <p:spPr>
          <a:xfrm>
            <a:off x="3165300" y="1794988"/>
            <a:ext cx="5978700" cy="32148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Making</a:t>
            </a:r>
            <a:r>
              <a:rPr lang="en" sz="1200"/>
              <a:t> the server multi-threaded should be easy. In </a:t>
            </a:r>
            <a:r>
              <a:rPr lang="en" sz="1200">
                <a:latin typeface="Courier New"/>
                <a:ea typeface="Courier New"/>
                <a:cs typeface="Courier New"/>
                <a:sym typeface="Courier New"/>
              </a:rPr>
              <a:t>HttpWebServer</a:t>
            </a:r>
            <a:r>
              <a:rPr lang="en" sz="1200"/>
              <a:t>, </a:t>
            </a:r>
            <a:r>
              <a:rPr lang="en" sz="1200"/>
              <a:t>instead</a:t>
            </a:r>
            <a:r>
              <a:rPr lang="en" sz="1200"/>
              <a:t> of calling </a:t>
            </a:r>
            <a:r>
              <a:rPr lang="en" sz="1200">
                <a:latin typeface="Courier New"/>
                <a:ea typeface="Courier New"/>
                <a:cs typeface="Courier New"/>
                <a:sym typeface="Courier New"/>
              </a:rPr>
              <a:t>handleClient</a:t>
            </a:r>
            <a:r>
              <a:rPr lang="en" sz="1200"/>
              <a:t> directly, run it </a:t>
            </a:r>
            <a:r>
              <a:rPr lang="en" sz="1200"/>
              <a:t>in an </a:t>
            </a:r>
            <a:r>
              <a:rPr lang="en" sz="1200">
                <a:latin typeface="Courier New"/>
                <a:ea typeface="Courier New"/>
                <a:cs typeface="Courier New"/>
                <a:sym typeface="Courier New"/>
              </a:rPr>
              <a:t>ExecutorService</a:t>
            </a:r>
            <a:r>
              <a:rPr lang="en" sz="1200"/>
              <a:t> </a:t>
            </a:r>
            <a:r>
              <a:rPr b="1" i="1" lang="en" sz="1200">
                <a:solidFill>
                  <a:srgbClr val="FF0000"/>
                </a:solidFill>
              </a:rPr>
              <a:t>task</a:t>
            </a:r>
            <a:r>
              <a:rPr lang="en" sz="1200"/>
              <a:t>.</a:t>
            </a:r>
            <a:endParaRPr sz="1200"/>
          </a:p>
          <a:p>
            <a:pPr indent="-292100" lvl="1" marL="914400" rtl="0" algn="l">
              <a:spcBef>
                <a:spcPts val="0"/>
              </a:spcBef>
              <a:spcAft>
                <a:spcPts val="0"/>
              </a:spcAft>
              <a:buSzPts val="1000"/>
              <a:buChar char="○"/>
            </a:pPr>
            <a:r>
              <a:rPr lang="en" sz="1000"/>
              <a:t>In </a:t>
            </a:r>
            <a:r>
              <a:rPr lang="en" sz="1000">
                <a:latin typeface="Courier New"/>
                <a:ea typeface="Courier New"/>
                <a:cs typeface="Courier New"/>
                <a:sym typeface="Courier New"/>
              </a:rPr>
              <a:t>HttpWebServer.start()</a:t>
            </a:r>
            <a:r>
              <a:rPr lang="en" sz="1000"/>
              <a:t> create an </a:t>
            </a:r>
            <a:r>
              <a:rPr lang="en" sz="1000">
                <a:latin typeface="Courier New"/>
                <a:ea typeface="Courier New"/>
                <a:cs typeface="Courier New"/>
                <a:sym typeface="Courier New"/>
              </a:rPr>
              <a:t>ExecutorService</a:t>
            </a:r>
            <a:endParaRPr sz="1000">
              <a:latin typeface="Courier New"/>
              <a:ea typeface="Courier New"/>
              <a:cs typeface="Courier New"/>
              <a:sym typeface="Courier New"/>
            </a:endParaRPr>
          </a:p>
          <a:p>
            <a:pPr indent="-292100" lvl="1" marL="914400" rtl="0" algn="l">
              <a:spcBef>
                <a:spcPts val="0"/>
              </a:spcBef>
              <a:spcAft>
                <a:spcPts val="0"/>
              </a:spcAft>
              <a:buSzPts val="1000"/>
              <a:buChar char="○"/>
            </a:pPr>
            <a:r>
              <a:rPr b="1" i="1" lang="en" sz="1000">
                <a:solidFill>
                  <a:srgbClr val="FF0000"/>
                </a:solidFill>
              </a:rPr>
              <a:t>Execute</a:t>
            </a:r>
            <a:r>
              <a:rPr lang="en" sz="1000"/>
              <a:t> </a:t>
            </a:r>
            <a:r>
              <a:rPr lang="en" sz="1000">
                <a:latin typeface="Courier New"/>
                <a:ea typeface="Courier New"/>
                <a:cs typeface="Courier New"/>
                <a:sym typeface="Courier New"/>
              </a:rPr>
              <a:t>handleClient</a:t>
            </a:r>
            <a:r>
              <a:rPr lang="en" sz="1000"/>
              <a:t> as a service task.</a:t>
            </a:r>
            <a:endParaRPr sz="1000"/>
          </a:p>
          <a:p>
            <a:pPr indent="-304800" lvl="0" marL="457200" rtl="0" algn="l">
              <a:spcBef>
                <a:spcPts val="1000"/>
              </a:spcBef>
              <a:spcAft>
                <a:spcPts val="0"/>
              </a:spcAft>
              <a:buSzPts val="1200"/>
              <a:buChar char="●"/>
            </a:pPr>
            <a:r>
              <a:rPr lang="en" sz="1200"/>
              <a:t>Everything should work however, we've now introduced a </a:t>
            </a:r>
            <a:r>
              <a:rPr b="1" i="1" lang="en" sz="1200">
                <a:solidFill>
                  <a:srgbClr val="FF0000"/>
                </a:solidFill>
              </a:rPr>
              <a:t>race condition</a:t>
            </a:r>
            <a:r>
              <a:rPr lang="en" sz="1200"/>
              <a:t> in the </a:t>
            </a:r>
            <a:r>
              <a:rPr lang="en" sz="1200">
                <a:latin typeface="Courier New"/>
                <a:ea typeface="Courier New"/>
                <a:cs typeface="Courier New"/>
                <a:sym typeface="Courier New"/>
              </a:rPr>
              <a:t>handlers</a:t>
            </a:r>
            <a:r>
              <a:rPr lang="en" sz="1200"/>
              <a:t> map. We'll need to fix that before going "live".</a:t>
            </a:r>
            <a:endParaRPr sz="1200"/>
          </a:p>
          <a:p>
            <a:pPr indent="-292100" lvl="1" marL="914400" rtl="0" algn="l">
              <a:spcBef>
                <a:spcPts val="0"/>
              </a:spcBef>
              <a:spcAft>
                <a:spcPts val="0"/>
              </a:spcAft>
              <a:buSzPts val="1000"/>
              <a:buChar char="○"/>
            </a:pPr>
            <a:r>
              <a:rPr lang="en" sz="1000"/>
              <a:t>Start by adding a </a:t>
            </a:r>
            <a:r>
              <a:rPr lang="en" sz="1000">
                <a:latin typeface="Courier New"/>
                <a:ea typeface="Courier New"/>
                <a:cs typeface="Courier New"/>
                <a:sym typeface="Courier New"/>
              </a:rPr>
              <a:t>Lock</a:t>
            </a:r>
            <a:r>
              <a:rPr lang="en" sz="1000"/>
              <a:t> to the class and its constructor.</a:t>
            </a:r>
            <a:endParaRPr sz="1000"/>
          </a:p>
          <a:p>
            <a:pPr indent="-292100" lvl="2" marL="1371600" rtl="0" algn="l">
              <a:spcBef>
                <a:spcPts val="0"/>
              </a:spcBef>
              <a:spcAft>
                <a:spcPts val="0"/>
              </a:spcAft>
              <a:buSzPts val="1000"/>
              <a:buChar char="■"/>
            </a:pPr>
            <a:r>
              <a:rPr lang="en" sz="1000"/>
              <a:t>Don't make it </a:t>
            </a:r>
            <a:r>
              <a:rPr lang="en" sz="1000">
                <a:latin typeface="Courier New"/>
                <a:ea typeface="Courier New"/>
                <a:cs typeface="Courier New"/>
                <a:sym typeface="Courier New"/>
              </a:rPr>
              <a:t>static</a:t>
            </a:r>
            <a:r>
              <a:rPr lang="en" sz="1000"/>
              <a:t>, there should be </a:t>
            </a:r>
            <a:r>
              <a:rPr b="1" i="1" lang="en" sz="1000">
                <a:solidFill>
                  <a:srgbClr val="FF0000"/>
                </a:solidFill>
              </a:rPr>
              <a:t>one per server</a:t>
            </a:r>
            <a:r>
              <a:rPr lang="en" sz="1000"/>
              <a:t>.</a:t>
            </a:r>
            <a:endParaRPr sz="1000"/>
          </a:p>
          <a:p>
            <a:pPr indent="-292100" lvl="1" marL="914400" rtl="0" algn="l">
              <a:spcBef>
                <a:spcPts val="0"/>
              </a:spcBef>
              <a:spcAft>
                <a:spcPts val="0"/>
              </a:spcAft>
              <a:buSzPts val="1000"/>
              <a:buChar char="○"/>
            </a:pPr>
            <a:r>
              <a:rPr lang="en" sz="1000"/>
              <a:t>Find the region of code that uses the </a:t>
            </a:r>
            <a:r>
              <a:rPr lang="en" sz="1000">
                <a:latin typeface="Courier New"/>
                <a:ea typeface="Courier New"/>
                <a:cs typeface="Courier New"/>
                <a:sym typeface="Courier New"/>
              </a:rPr>
              <a:t>handlers</a:t>
            </a:r>
            <a:r>
              <a:rPr lang="en" sz="1000"/>
              <a:t> map (</a:t>
            </a:r>
            <a:r>
              <a:rPr b="1" i="1" lang="en" sz="1000">
                <a:solidFill>
                  <a:srgbClr val="FF0000"/>
                </a:solidFill>
              </a:rPr>
              <a:t>critical region</a:t>
            </a:r>
            <a:r>
              <a:rPr lang="en" sz="1000"/>
              <a:t>)</a:t>
            </a:r>
            <a:endParaRPr sz="1000"/>
          </a:p>
          <a:p>
            <a:pPr indent="-292100" lvl="2" marL="1371600" rtl="0" algn="l">
              <a:spcBef>
                <a:spcPts val="0"/>
              </a:spcBef>
              <a:spcAft>
                <a:spcPts val="0"/>
              </a:spcAft>
              <a:buSzPts val="1000"/>
              <a:buChar char="■"/>
            </a:pPr>
            <a:r>
              <a:rPr i="1" lang="en" sz="1000"/>
              <a:t>Hint: Start with </a:t>
            </a:r>
            <a:r>
              <a:rPr i="1" lang="en" sz="1000">
                <a:latin typeface="Courier New"/>
                <a:ea typeface="Courier New"/>
                <a:cs typeface="Courier New"/>
                <a:sym typeface="Courier New"/>
              </a:rPr>
              <a:t>handleClient</a:t>
            </a:r>
            <a:r>
              <a:rPr lang="en" sz="1000"/>
              <a:t>.</a:t>
            </a:r>
            <a:endParaRPr sz="1000"/>
          </a:p>
          <a:p>
            <a:pPr indent="-292100" lvl="1" marL="914400" rtl="0" algn="l">
              <a:spcBef>
                <a:spcPts val="0"/>
              </a:spcBef>
              <a:spcAft>
                <a:spcPts val="0"/>
              </a:spcAft>
              <a:buSzPts val="1000"/>
              <a:buChar char="○"/>
            </a:pPr>
            <a:r>
              <a:rPr b="1" i="1" lang="en" sz="1000">
                <a:solidFill>
                  <a:srgbClr val="FF0000"/>
                </a:solidFill>
              </a:rPr>
              <a:t>Lock</a:t>
            </a:r>
            <a:r>
              <a:rPr lang="en" sz="1000"/>
              <a:t> the region of code that uses the map. It should be pretty small.</a:t>
            </a:r>
            <a:endParaRPr sz="1000"/>
          </a:p>
          <a:p>
            <a:pPr indent="-292100" lvl="2" marL="1371600" rtl="0" algn="l">
              <a:spcBef>
                <a:spcPts val="0"/>
              </a:spcBef>
              <a:spcAft>
                <a:spcPts val="0"/>
              </a:spcAft>
              <a:buSzPts val="1000"/>
              <a:buChar char="■"/>
            </a:pPr>
            <a:r>
              <a:rPr b="1" lang="en" sz="1000"/>
              <a:t>Don't</a:t>
            </a:r>
            <a:r>
              <a:rPr lang="en" sz="1000"/>
              <a:t> lock the entire method otherwise it defeats using multiple threads.</a:t>
            </a:r>
            <a:endParaRPr sz="1000"/>
          </a:p>
          <a:p>
            <a:pPr indent="-292100" lvl="2" marL="1371600" rtl="0" algn="l">
              <a:spcBef>
                <a:spcPts val="0"/>
              </a:spcBef>
              <a:spcAft>
                <a:spcPts val="0"/>
              </a:spcAft>
              <a:buSzPts val="1000"/>
              <a:buChar char="■"/>
            </a:pPr>
            <a:r>
              <a:rPr lang="en" sz="1000"/>
              <a:t>Don't forget to </a:t>
            </a:r>
            <a:r>
              <a:rPr b="1" lang="en" sz="1000"/>
              <a:t>unlock in a finally block</a:t>
            </a:r>
            <a:endParaRPr b="1" sz="1000"/>
          </a:p>
          <a:p>
            <a:pPr indent="-292100" lvl="0" marL="457200" rtl="0" algn="l">
              <a:spcBef>
                <a:spcPts val="1000"/>
              </a:spcBef>
              <a:spcAft>
                <a:spcPts val="0"/>
              </a:spcAft>
              <a:buSzPts val="1000"/>
              <a:buChar char="●"/>
            </a:pPr>
            <a:r>
              <a:rPr lang="en" sz="1000"/>
              <a:t>Run your updated server and a couple clients and verify everything still works and you don't get any errors.</a:t>
            </a:r>
            <a:endParaRPr sz="1000"/>
          </a:p>
        </p:txBody>
      </p:sp>
      <p:sp>
        <p:nvSpPr>
          <p:cNvPr id="554" name="Google Shape;554;p5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Multi-Threaded HttpWebServer</a:t>
            </a:r>
            <a:endParaRPr/>
          </a:p>
        </p:txBody>
      </p:sp>
      <p:sp>
        <p:nvSpPr>
          <p:cNvPr id="555" name="Google Shape;555;p5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11.7</a:t>
            </a:r>
            <a:endParaRPr/>
          </a:p>
        </p:txBody>
      </p:sp>
      <p:sp>
        <p:nvSpPr>
          <p:cNvPr id="556" name="Google Shape;556;p53"/>
          <p:cNvSpPr txBox="1"/>
          <p:nvPr>
            <p:ph idx="4" type="body"/>
          </p:nvPr>
        </p:nvSpPr>
        <p:spPr>
          <a:xfrm>
            <a:off x="141600" y="4156900"/>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well designed </a:t>
            </a:r>
            <a:r>
              <a:rPr b="1" i="1" lang="en">
                <a:solidFill>
                  <a:srgbClr val="FF0000"/>
                </a:solidFill>
              </a:rPr>
              <a:t>multi-threaded server</a:t>
            </a:r>
            <a:r>
              <a:rPr lang="en"/>
              <a:t> will ensure maximum </a:t>
            </a:r>
            <a:r>
              <a:rPr b="1" i="1" lang="en">
                <a:solidFill>
                  <a:srgbClr val="FF0000"/>
                </a:solidFill>
              </a:rPr>
              <a:t>responsiveness</a:t>
            </a:r>
            <a:r>
              <a:rPr lang="en"/>
              <a:t> when running lots of clients.</a:t>
            </a:r>
            <a:endParaRPr/>
          </a:p>
        </p:txBody>
      </p:sp>
      <p:pic>
        <p:nvPicPr>
          <p:cNvPr id="557" name="Google Shape;557;p53"/>
          <p:cNvPicPr preferRelativeResize="0"/>
          <p:nvPr/>
        </p:nvPicPr>
        <p:blipFill>
          <a:blip r:embed="rId3">
            <a:alphaModFix/>
          </a:blip>
          <a:stretch>
            <a:fillRect/>
          </a:stretch>
        </p:blipFill>
        <p:spPr>
          <a:xfrm>
            <a:off x="266175" y="1814150"/>
            <a:ext cx="1768574" cy="959100"/>
          </a:xfrm>
          <a:prstGeom prst="rect">
            <a:avLst/>
          </a:prstGeom>
          <a:noFill/>
          <a:ln cap="flat" cmpd="sng" w="19050">
            <a:solidFill>
              <a:srgbClr val="31394D"/>
            </a:solidFill>
            <a:prstDash val="solid"/>
            <a:round/>
            <a:headEnd len="sm" w="sm" type="none"/>
            <a:tailEnd len="sm" w="sm" type="none"/>
          </a:ln>
        </p:spPr>
      </p:pic>
      <p:pic>
        <p:nvPicPr>
          <p:cNvPr id="558" name="Google Shape;558;p53"/>
          <p:cNvPicPr preferRelativeResize="0"/>
          <p:nvPr/>
        </p:nvPicPr>
        <p:blipFill>
          <a:blip r:embed="rId3">
            <a:alphaModFix/>
          </a:blip>
          <a:stretch>
            <a:fillRect/>
          </a:stretch>
        </p:blipFill>
        <p:spPr>
          <a:xfrm>
            <a:off x="309925" y="3346050"/>
            <a:ext cx="1343076" cy="728350"/>
          </a:xfrm>
          <a:prstGeom prst="rect">
            <a:avLst/>
          </a:prstGeom>
          <a:noFill/>
          <a:ln cap="flat" cmpd="sng" w="19050">
            <a:solidFill>
              <a:srgbClr val="31394D"/>
            </a:solidFill>
            <a:prstDash val="solid"/>
            <a:round/>
            <a:headEnd len="sm" w="sm" type="none"/>
            <a:tailEnd len="sm" w="sm" type="none"/>
          </a:ln>
        </p:spPr>
      </p:pic>
      <p:pic>
        <p:nvPicPr>
          <p:cNvPr id="559" name="Google Shape;559;p53"/>
          <p:cNvPicPr preferRelativeResize="0"/>
          <p:nvPr/>
        </p:nvPicPr>
        <p:blipFill>
          <a:blip r:embed="rId3">
            <a:alphaModFix/>
          </a:blip>
          <a:stretch>
            <a:fillRect/>
          </a:stretch>
        </p:blipFill>
        <p:spPr>
          <a:xfrm>
            <a:off x="761200" y="2453750"/>
            <a:ext cx="2047925" cy="1110575"/>
          </a:xfrm>
          <a:prstGeom prst="rect">
            <a:avLst/>
          </a:prstGeom>
          <a:noFill/>
          <a:ln cap="flat" cmpd="sng" w="19050">
            <a:solidFill>
              <a:srgbClr val="31394D"/>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5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Lock or Not To Lock?</a:t>
            </a:r>
            <a:endParaRPr/>
          </a:p>
        </p:txBody>
      </p:sp>
      <p:grpSp>
        <p:nvGrpSpPr>
          <p:cNvPr id="566" name="Google Shape;566;p54"/>
          <p:cNvGrpSpPr/>
          <p:nvPr/>
        </p:nvGrpSpPr>
        <p:grpSpPr>
          <a:xfrm>
            <a:off x="4128425" y="1576313"/>
            <a:ext cx="4772650" cy="2959163"/>
            <a:chOff x="4128425" y="1576313"/>
            <a:chExt cx="4772650" cy="2959163"/>
          </a:xfrm>
        </p:grpSpPr>
        <p:grpSp>
          <p:nvGrpSpPr>
            <p:cNvPr id="567" name="Google Shape;567;p54"/>
            <p:cNvGrpSpPr/>
            <p:nvPr/>
          </p:nvGrpSpPr>
          <p:grpSpPr>
            <a:xfrm>
              <a:off x="5891614" y="1576313"/>
              <a:ext cx="1486500" cy="2959163"/>
              <a:chOff x="6958414" y="1195313"/>
              <a:chExt cx="1486500" cy="2959163"/>
            </a:xfrm>
          </p:grpSpPr>
          <p:sp>
            <p:nvSpPr>
              <p:cNvPr id="568" name="Google Shape;568;p54"/>
              <p:cNvSpPr/>
              <p:nvPr/>
            </p:nvSpPr>
            <p:spPr>
              <a:xfrm>
                <a:off x="6958414" y="1969300"/>
                <a:ext cx="1486500" cy="1411200"/>
              </a:xfrm>
              <a:prstGeom prst="roundRect">
                <a:avLst>
                  <a:gd fmla="val 9698" name="adj"/>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4"/>
              <p:cNvSpPr/>
              <p:nvPr/>
            </p:nvSpPr>
            <p:spPr>
              <a:xfrm>
                <a:off x="7286250" y="1195313"/>
                <a:ext cx="8319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570" name="Google Shape;570;p54"/>
              <p:cNvSpPr/>
              <p:nvPr/>
            </p:nvSpPr>
            <p:spPr>
              <a:xfrm>
                <a:off x="7029750" y="2049450"/>
                <a:ext cx="13449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571" name="Google Shape;571;p54"/>
              <p:cNvSpPr/>
              <p:nvPr/>
            </p:nvSpPr>
            <p:spPr>
              <a:xfrm>
                <a:off x="7029750" y="2903575"/>
                <a:ext cx="13449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572" name="Google Shape;572;p54"/>
              <p:cNvSpPr/>
              <p:nvPr/>
            </p:nvSpPr>
            <p:spPr>
              <a:xfrm>
                <a:off x="7050682" y="3763875"/>
                <a:ext cx="13020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573" name="Google Shape;573;p54"/>
              <p:cNvCxnSpPr>
                <a:stCxn id="569" idx="2"/>
                <a:endCxn id="570" idx="0"/>
              </p:cNvCxnSpPr>
              <p:nvPr/>
            </p:nvCxnSpPr>
            <p:spPr>
              <a:xfrm>
                <a:off x="7702200" y="1585913"/>
                <a:ext cx="0" cy="463500"/>
              </a:xfrm>
              <a:prstGeom prst="straightConnector1">
                <a:avLst/>
              </a:prstGeom>
              <a:noFill/>
              <a:ln cap="flat" cmpd="sng" w="9525">
                <a:solidFill>
                  <a:srgbClr val="000000"/>
                </a:solidFill>
                <a:prstDash val="solid"/>
                <a:round/>
                <a:headEnd len="med" w="med" type="none"/>
                <a:tailEnd len="med" w="med" type="triangle"/>
              </a:ln>
            </p:spPr>
          </p:cxnSp>
          <p:cxnSp>
            <p:nvCxnSpPr>
              <p:cNvPr id="574" name="Google Shape;574;p54"/>
              <p:cNvCxnSpPr>
                <a:stCxn id="571" idx="2"/>
                <a:endCxn id="572" idx="0"/>
              </p:cNvCxnSpPr>
              <p:nvPr/>
            </p:nvCxnSpPr>
            <p:spPr>
              <a:xfrm flipH="1">
                <a:off x="7701600" y="3294175"/>
                <a:ext cx="600" cy="469800"/>
              </a:xfrm>
              <a:prstGeom prst="straightConnector1">
                <a:avLst/>
              </a:prstGeom>
              <a:noFill/>
              <a:ln cap="flat" cmpd="sng" w="9525">
                <a:solidFill>
                  <a:srgbClr val="000000"/>
                </a:solidFill>
                <a:prstDash val="solid"/>
                <a:round/>
                <a:headEnd len="med" w="med" type="none"/>
                <a:tailEnd len="med" w="med" type="triangle"/>
              </a:ln>
            </p:spPr>
          </p:cxnSp>
          <p:cxnSp>
            <p:nvCxnSpPr>
              <p:cNvPr id="575" name="Google Shape;575;p54"/>
              <p:cNvCxnSpPr/>
              <p:nvPr/>
            </p:nvCxnSpPr>
            <p:spPr>
              <a:xfrm>
                <a:off x="7333050" y="2445150"/>
                <a:ext cx="0" cy="470100"/>
              </a:xfrm>
              <a:prstGeom prst="straightConnector1">
                <a:avLst/>
              </a:prstGeom>
              <a:noFill/>
              <a:ln cap="flat" cmpd="sng" w="9525">
                <a:solidFill>
                  <a:srgbClr val="000000"/>
                </a:solidFill>
                <a:prstDash val="solid"/>
                <a:round/>
                <a:headEnd len="med" w="med" type="none"/>
                <a:tailEnd len="med" w="med" type="triangle"/>
              </a:ln>
            </p:spPr>
          </p:cxnSp>
          <p:cxnSp>
            <p:nvCxnSpPr>
              <p:cNvPr id="576" name="Google Shape;576;p54"/>
              <p:cNvCxnSpPr/>
              <p:nvPr/>
            </p:nvCxnSpPr>
            <p:spPr>
              <a:xfrm rot="10800000">
                <a:off x="8094075" y="2445275"/>
                <a:ext cx="0" cy="470100"/>
              </a:xfrm>
              <a:prstGeom prst="straightConnector1">
                <a:avLst/>
              </a:prstGeom>
              <a:noFill/>
              <a:ln cap="flat" cmpd="sng" w="9525">
                <a:solidFill>
                  <a:srgbClr val="000000"/>
                </a:solidFill>
                <a:prstDash val="solid"/>
                <a:round/>
                <a:headEnd len="med" w="med" type="none"/>
                <a:tailEnd len="med" w="med" type="triangle"/>
              </a:ln>
            </p:spPr>
          </p:cxnSp>
        </p:grpSp>
        <p:sp>
          <p:nvSpPr>
            <p:cNvPr id="577" name="Google Shape;577;p54"/>
            <p:cNvSpPr/>
            <p:nvPr/>
          </p:nvSpPr>
          <p:spPr>
            <a:xfrm>
              <a:off x="4128425" y="2893975"/>
              <a:ext cx="13449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578" name="Google Shape;578;p54"/>
            <p:cNvCxnSpPr>
              <a:stCxn id="571" idx="1"/>
              <a:endCxn id="577" idx="2"/>
            </p:cNvCxnSpPr>
            <p:nvPr/>
          </p:nvCxnSpPr>
          <p:spPr>
            <a:xfrm rot="10800000">
              <a:off x="4800750" y="3284575"/>
              <a:ext cx="1162200" cy="195300"/>
            </a:xfrm>
            <a:prstGeom prst="curvedConnector2">
              <a:avLst/>
            </a:prstGeom>
            <a:noFill/>
            <a:ln cap="flat" cmpd="sng" w="9525">
              <a:solidFill>
                <a:srgbClr val="000000"/>
              </a:solidFill>
              <a:prstDash val="solid"/>
              <a:round/>
              <a:headEnd len="med" w="med" type="none"/>
              <a:tailEnd len="med" w="med" type="triangle"/>
            </a:ln>
          </p:spPr>
        </p:cxnSp>
        <p:sp>
          <p:nvSpPr>
            <p:cNvPr id="579" name="Google Shape;579;p54"/>
            <p:cNvSpPr txBox="1"/>
            <p:nvPr/>
          </p:nvSpPr>
          <p:spPr>
            <a:xfrm>
              <a:off x="4425650" y="3479875"/>
              <a:ext cx="12564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onsolas"/>
                  <a:ea typeface="Consolas"/>
                  <a:cs typeface="Consolas"/>
                  <a:sym typeface="Consolas"/>
                </a:rPr>
                <a:t>sleep()</a:t>
              </a:r>
              <a:endParaRPr sz="800">
                <a:latin typeface="Consolas"/>
                <a:ea typeface="Consolas"/>
                <a:cs typeface="Consolas"/>
                <a:sym typeface="Consolas"/>
              </a:endParaRPr>
            </a:p>
            <a:p>
              <a:pPr indent="0" lvl="0" marL="0" rtl="0" algn="ctr">
                <a:spcBef>
                  <a:spcPts val="0"/>
                </a:spcBef>
                <a:spcAft>
                  <a:spcPts val="0"/>
                </a:spcAft>
                <a:buNone/>
              </a:pPr>
              <a:r>
                <a:rPr lang="en" sz="800">
                  <a:latin typeface="Consolas"/>
                  <a:ea typeface="Consolas"/>
                  <a:cs typeface="Consolas"/>
                  <a:sym typeface="Consolas"/>
                </a:rPr>
                <a:t>awaitTermination()</a:t>
              </a:r>
              <a:endParaRPr sz="800">
                <a:latin typeface="Consolas"/>
                <a:ea typeface="Consolas"/>
                <a:cs typeface="Consolas"/>
                <a:sym typeface="Consolas"/>
              </a:endParaRPr>
            </a:p>
          </p:txBody>
        </p:sp>
        <p:grpSp>
          <p:nvGrpSpPr>
            <p:cNvPr id="580" name="Google Shape;580;p54"/>
            <p:cNvGrpSpPr/>
            <p:nvPr/>
          </p:nvGrpSpPr>
          <p:grpSpPr>
            <a:xfrm>
              <a:off x="7301925" y="2502151"/>
              <a:ext cx="1599150" cy="1137946"/>
              <a:chOff x="7149525" y="2044951"/>
              <a:chExt cx="1599150" cy="1137946"/>
            </a:xfrm>
          </p:grpSpPr>
          <p:sp>
            <p:nvSpPr>
              <p:cNvPr id="581" name="Google Shape;581;p54"/>
              <p:cNvSpPr/>
              <p:nvPr/>
            </p:nvSpPr>
            <p:spPr>
              <a:xfrm>
                <a:off x="7660575" y="2410450"/>
                <a:ext cx="1088100" cy="390600"/>
              </a:xfrm>
              <a:prstGeom prst="roundRect">
                <a:avLst>
                  <a:gd fmla="val 16667"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BLOCKED</a:t>
                </a:r>
                <a:endParaRPr>
                  <a:solidFill>
                    <a:srgbClr val="FFFFFF"/>
                  </a:solidFill>
                </a:endParaRPr>
              </a:p>
            </p:txBody>
          </p:sp>
          <p:cxnSp>
            <p:nvCxnSpPr>
              <p:cNvPr id="582" name="Google Shape;582;p54"/>
              <p:cNvCxnSpPr>
                <a:endCxn id="581" idx="2"/>
              </p:cNvCxnSpPr>
              <p:nvPr/>
            </p:nvCxnSpPr>
            <p:spPr>
              <a:xfrm flipH="1" rot="10800000">
                <a:off x="7149525" y="2801050"/>
                <a:ext cx="1055100" cy="231600"/>
              </a:xfrm>
              <a:prstGeom prst="curvedConnector2">
                <a:avLst/>
              </a:prstGeom>
              <a:noFill/>
              <a:ln cap="flat" cmpd="sng" w="9525">
                <a:solidFill>
                  <a:srgbClr val="000000"/>
                </a:solidFill>
                <a:prstDash val="solid"/>
                <a:round/>
                <a:headEnd len="med" w="med" type="none"/>
                <a:tailEnd len="med" w="med" type="triangle"/>
              </a:ln>
            </p:spPr>
          </p:cxnSp>
          <p:sp>
            <p:nvSpPr>
              <p:cNvPr id="583" name="Google Shape;583;p54"/>
              <p:cNvSpPr txBox="1"/>
              <p:nvPr/>
            </p:nvSpPr>
            <p:spPr>
              <a:xfrm>
                <a:off x="7386150" y="2987597"/>
                <a:ext cx="10731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unavailable</a:t>
                </a:r>
                <a:endParaRPr b="1" sz="800"/>
              </a:p>
            </p:txBody>
          </p:sp>
          <p:cxnSp>
            <p:nvCxnSpPr>
              <p:cNvPr id="584" name="Google Shape;584;p54"/>
              <p:cNvCxnSpPr>
                <a:stCxn id="581" idx="0"/>
              </p:cNvCxnSpPr>
              <p:nvPr/>
            </p:nvCxnSpPr>
            <p:spPr>
              <a:xfrm flipH="1" rot="5400000">
                <a:off x="7561125" y="1766950"/>
                <a:ext cx="231900" cy="1055100"/>
              </a:xfrm>
              <a:prstGeom prst="curvedConnector2">
                <a:avLst/>
              </a:prstGeom>
              <a:noFill/>
              <a:ln cap="flat" cmpd="sng" w="9525">
                <a:solidFill>
                  <a:srgbClr val="000000"/>
                </a:solidFill>
                <a:prstDash val="solid"/>
                <a:round/>
                <a:headEnd len="med" w="med" type="none"/>
                <a:tailEnd len="med" w="med" type="triangle"/>
              </a:ln>
            </p:spPr>
          </p:cxnSp>
          <p:sp>
            <p:nvSpPr>
              <p:cNvPr id="585" name="Google Shape;585;p54"/>
              <p:cNvSpPr txBox="1"/>
              <p:nvPr/>
            </p:nvSpPr>
            <p:spPr>
              <a:xfrm>
                <a:off x="7463450" y="2044951"/>
                <a:ext cx="1073100" cy="23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obtained</a:t>
                </a:r>
                <a:endParaRPr b="1" sz="800"/>
              </a:p>
            </p:txBody>
          </p:sp>
        </p:grpSp>
        <p:cxnSp>
          <p:nvCxnSpPr>
            <p:cNvPr id="586" name="Google Shape;586;p54"/>
            <p:cNvCxnSpPr>
              <a:stCxn id="570" idx="1"/>
              <a:endCxn id="577" idx="0"/>
            </p:cNvCxnSpPr>
            <p:nvPr/>
          </p:nvCxnSpPr>
          <p:spPr>
            <a:xfrm flipH="1">
              <a:off x="4800750" y="2625750"/>
              <a:ext cx="1162200" cy="268200"/>
            </a:xfrm>
            <a:prstGeom prst="curvedConnector2">
              <a:avLst/>
            </a:prstGeom>
            <a:noFill/>
            <a:ln cap="flat" cmpd="sng" w="9525">
              <a:solidFill>
                <a:srgbClr val="000000"/>
              </a:solidFill>
              <a:prstDash val="solid"/>
              <a:round/>
              <a:headEnd len="med" w="med" type="triangle"/>
              <a:tailEnd len="med" w="med" type="none"/>
            </a:ln>
          </p:spPr>
        </p:cxnSp>
        <p:sp>
          <p:nvSpPr>
            <p:cNvPr id="587" name="Google Shape;587;p54"/>
            <p:cNvSpPr txBox="1"/>
            <p:nvPr/>
          </p:nvSpPr>
          <p:spPr>
            <a:xfrm>
              <a:off x="6574600" y="3808200"/>
              <a:ext cx="8688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onsolas"/>
                  <a:ea typeface="Consolas"/>
                  <a:cs typeface="Consolas"/>
                  <a:sym typeface="Consolas"/>
                </a:rPr>
                <a:t>run()</a:t>
              </a:r>
              <a:r>
                <a:rPr lang="en" sz="800"/>
                <a:t> returns</a:t>
              </a:r>
              <a:endParaRPr sz="800"/>
            </a:p>
          </p:txBody>
        </p:sp>
        <p:sp>
          <p:nvSpPr>
            <p:cNvPr id="588" name="Google Shape;588;p54"/>
            <p:cNvSpPr txBox="1"/>
            <p:nvPr/>
          </p:nvSpPr>
          <p:spPr>
            <a:xfrm>
              <a:off x="4845300" y="2235150"/>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timer expires</a:t>
              </a:r>
              <a:endParaRPr b="1" sz="800"/>
            </a:p>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thread dies</a:t>
              </a:r>
              <a:endParaRPr b="1" sz="800"/>
            </a:p>
          </p:txBody>
        </p:sp>
        <p:sp>
          <p:nvSpPr>
            <p:cNvPr id="589" name="Google Shape;589;p54"/>
            <p:cNvSpPr txBox="1"/>
            <p:nvPr/>
          </p:nvSpPr>
          <p:spPr>
            <a:xfrm>
              <a:off x="6690725" y="2053225"/>
              <a:ext cx="6570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Consolas"/>
                  <a:ea typeface="Consolas"/>
                  <a:cs typeface="Consolas"/>
                  <a:sym typeface="Consolas"/>
                </a:rPr>
                <a:t>start()</a:t>
              </a:r>
              <a:endParaRPr b="1" sz="800">
                <a:latin typeface="Consolas"/>
                <a:ea typeface="Consolas"/>
                <a:cs typeface="Consolas"/>
                <a:sym typeface="Consolas"/>
              </a:endParaRPr>
            </a:p>
          </p:txBody>
        </p:sp>
        <p:sp>
          <p:nvSpPr>
            <p:cNvPr id="590" name="Google Shape;590;p54"/>
            <p:cNvSpPr txBox="1"/>
            <p:nvPr/>
          </p:nvSpPr>
          <p:spPr>
            <a:xfrm>
              <a:off x="7000025" y="2893975"/>
              <a:ext cx="5697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timeout</a:t>
              </a:r>
              <a:endParaRPr b="1" sz="800"/>
            </a:p>
          </p:txBody>
        </p:sp>
        <p:sp>
          <p:nvSpPr>
            <p:cNvPr id="591" name="Google Shape;591;p54"/>
            <p:cNvSpPr txBox="1"/>
            <p:nvPr/>
          </p:nvSpPr>
          <p:spPr>
            <a:xfrm>
              <a:off x="5602660" y="2957863"/>
              <a:ext cx="7173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scheduled</a:t>
              </a:r>
              <a:endParaRPr b="1" sz="800"/>
            </a:p>
          </p:txBody>
        </p:sp>
      </p:grpSp>
      <p:sp>
        <p:nvSpPr>
          <p:cNvPr id="592" name="Google Shape;592;p54"/>
          <p:cNvSpPr txBox="1"/>
          <p:nvPr>
            <p:ph idx="4294967295" type="body"/>
          </p:nvPr>
        </p:nvSpPr>
        <p:spPr>
          <a:xfrm>
            <a:off x="101975" y="1423925"/>
            <a:ext cx="3897000" cy="3494100"/>
          </a:xfrm>
          <a:prstGeom prst="rect">
            <a:avLst/>
          </a:prstGeom>
        </p:spPr>
        <p:txBody>
          <a:bodyPr anchorCtr="0" anchor="t"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Making code</a:t>
            </a:r>
            <a:r>
              <a:rPr lang="en" sz="1200">
                <a:solidFill>
                  <a:srgbClr val="FF0000"/>
                </a:solidFill>
              </a:rPr>
              <a:t> </a:t>
            </a:r>
            <a:r>
              <a:rPr b="1" i="1" lang="en" sz="1200">
                <a:solidFill>
                  <a:srgbClr val="FF0000"/>
                </a:solidFill>
              </a:rPr>
              <a:t>thread-safe</a:t>
            </a:r>
            <a:r>
              <a:rPr lang="en" sz="1200"/>
              <a:t> </a:t>
            </a:r>
            <a:r>
              <a:rPr lang="en" sz="1200"/>
              <a:t>comes at a cost. </a:t>
            </a:r>
            <a:endParaRPr sz="1200"/>
          </a:p>
          <a:p>
            <a:pPr indent="-292100" lvl="1" marL="914400" rtl="0" algn="l">
              <a:lnSpc>
                <a:spcPct val="100000"/>
              </a:lnSpc>
              <a:spcBef>
                <a:spcPts val="0"/>
              </a:spcBef>
              <a:spcAft>
                <a:spcPts val="0"/>
              </a:spcAft>
              <a:buSzPts val="1000"/>
              <a:buChar char="○"/>
            </a:pPr>
            <a:r>
              <a:rPr lang="en" sz="1000"/>
              <a:t>Locked code runs </a:t>
            </a:r>
            <a:r>
              <a:rPr b="1" i="1" lang="en" sz="1000">
                <a:solidFill>
                  <a:srgbClr val="FF0000"/>
                </a:solidFill>
              </a:rPr>
              <a:t>much</a:t>
            </a:r>
            <a:r>
              <a:rPr lang="en" sz="1000">
                <a:solidFill>
                  <a:srgbClr val="FF0000"/>
                </a:solidFill>
              </a:rPr>
              <a:t> </a:t>
            </a:r>
            <a:r>
              <a:rPr b="1" i="1" lang="en" sz="1000">
                <a:solidFill>
                  <a:srgbClr val="FF0000"/>
                </a:solidFill>
              </a:rPr>
              <a:t>more slowly</a:t>
            </a:r>
            <a:r>
              <a:rPr lang="en" sz="1000"/>
              <a:t> than code that does not use a lock.</a:t>
            </a:r>
            <a:endParaRPr sz="1000"/>
          </a:p>
          <a:p>
            <a:pPr indent="-304800" lvl="0" marL="457200" rtl="0" algn="l">
              <a:lnSpc>
                <a:spcPct val="100000"/>
              </a:lnSpc>
              <a:spcBef>
                <a:spcPts val="1000"/>
              </a:spcBef>
              <a:spcAft>
                <a:spcPts val="0"/>
              </a:spcAft>
              <a:buSzPts val="1200"/>
              <a:buChar char="●"/>
            </a:pPr>
            <a:r>
              <a:rPr lang="en" sz="1200"/>
              <a:t>The </a:t>
            </a:r>
            <a:r>
              <a:rPr b="1" i="1" lang="en" sz="1200">
                <a:solidFill>
                  <a:srgbClr val="FF0000"/>
                </a:solidFill>
              </a:rPr>
              <a:t>vast majority</a:t>
            </a:r>
            <a:r>
              <a:rPr lang="en" sz="1200"/>
              <a:t> of code that you will write throughout your career will run in a </a:t>
            </a:r>
            <a:r>
              <a:rPr b="1" i="1" lang="en" sz="1200">
                <a:solidFill>
                  <a:srgbClr val="FF0000"/>
                </a:solidFill>
              </a:rPr>
              <a:t>single thread</a:t>
            </a:r>
            <a:r>
              <a:rPr lang="en" sz="1200"/>
              <a:t>.</a:t>
            </a:r>
            <a:endParaRPr sz="1200"/>
          </a:p>
          <a:p>
            <a:pPr indent="-304800" lvl="0" marL="457200" rtl="0" algn="l">
              <a:lnSpc>
                <a:spcPct val="100000"/>
              </a:lnSpc>
              <a:spcBef>
                <a:spcPts val="1000"/>
              </a:spcBef>
              <a:spcAft>
                <a:spcPts val="0"/>
              </a:spcAft>
              <a:buSzPts val="1200"/>
              <a:buChar char="●"/>
            </a:pPr>
            <a:r>
              <a:rPr lang="en" sz="1200"/>
              <a:t>It is for this reason that most of the classes in the Java standard libraries are </a:t>
            </a:r>
            <a:r>
              <a:rPr b="1" i="1" lang="en" sz="1200">
                <a:solidFill>
                  <a:srgbClr val="FF0000"/>
                </a:solidFill>
              </a:rPr>
              <a:t>not</a:t>
            </a:r>
            <a:r>
              <a:rPr lang="en" sz="1200">
                <a:solidFill>
                  <a:srgbClr val="FF0000"/>
                </a:solidFill>
              </a:rPr>
              <a:t> </a:t>
            </a:r>
            <a:r>
              <a:rPr lang="en" sz="1200"/>
              <a:t>thread-safe.</a:t>
            </a:r>
            <a:endParaRPr sz="1200"/>
          </a:p>
          <a:p>
            <a:pPr indent="-292100" lvl="1" marL="914400" rtl="0" algn="l">
              <a:lnSpc>
                <a:spcPct val="100000"/>
              </a:lnSpc>
              <a:spcBef>
                <a:spcPts val="0"/>
              </a:spcBef>
              <a:spcAft>
                <a:spcPts val="0"/>
              </a:spcAft>
              <a:buSzPts val="1000"/>
              <a:buChar char="○"/>
            </a:pPr>
            <a:r>
              <a:rPr lang="en" sz="1000"/>
              <a:t>The designers of Java wanted the classes to run </a:t>
            </a:r>
            <a:r>
              <a:rPr b="1" i="1" lang="en" sz="1000">
                <a:solidFill>
                  <a:srgbClr val="FF0000"/>
                </a:solidFill>
              </a:rPr>
              <a:t>quickly </a:t>
            </a:r>
            <a:r>
              <a:rPr lang="en" sz="1000"/>
              <a:t>and </a:t>
            </a:r>
            <a:r>
              <a:rPr b="1" i="1" lang="en" sz="1000">
                <a:solidFill>
                  <a:srgbClr val="FF0000"/>
                </a:solidFill>
              </a:rPr>
              <a:t>efficiently</a:t>
            </a:r>
            <a:r>
              <a:rPr lang="en" sz="1000">
                <a:solidFill>
                  <a:srgbClr val="FF0000"/>
                </a:solidFill>
              </a:rPr>
              <a:t> </a:t>
            </a:r>
            <a:r>
              <a:rPr lang="en" sz="1000"/>
              <a:t>in single-threaded environments.</a:t>
            </a:r>
            <a:endParaRPr sz="1000"/>
          </a:p>
          <a:p>
            <a:pPr indent="-304800" lvl="0" marL="457200" rtl="0" algn="l">
              <a:lnSpc>
                <a:spcPct val="100000"/>
              </a:lnSpc>
              <a:spcBef>
                <a:spcPts val="1000"/>
              </a:spcBef>
              <a:spcAft>
                <a:spcPts val="0"/>
              </a:spcAft>
              <a:buSzPts val="1200"/>
              <a:buChar char="●"/>
            </a:pPr>
            <a:r>
              <a:rPr lang="en" sz="1200"/>
              <a:t>The onus is therefore on the software developer to </a:t>
            </a:r>
            <a:r>
              <a:rPr b="1" i="1" lang="en" sz="1200">
                <a:solidFill>
                  <a:srgbClr val="FF0000"/>
                </a:solidFill>
              </a:rPr>
              <a:t>use</a:t>
            </a:r>
            <a:r>
              <a:rPr lang="en" sz="1200">
                <a:solidFill>
                  <a:srgbClr val="FF0000"/>
                </a:solidFill>
              </a:rPr>
              <a:t> </a:t>
            </a:r>
            <a:r>
              <a:rPr lang="en" sz="1200"/>
              <a:t>the standard Java classes in a thread-safe way by locking </a:t>
            </a:r>
            <a:r>
              <a:rPr b="1" i="1" lang="en" sz="1200">
                <a:solidFill>
                  <a:srgbClr val="FF0000"/>
                </a:solidFill>
              </a:rPr>
              <a:t>their own code</a:t>
            </a:r>
            <a:r>
              <a:rPr lang="en" sz="1200"/>
              <a:t> when necessary.</a:t>
            </a:r>
            <a:endParaRPr sz="1200"/>
          </a:p>
          <a:p>
            <a:pPr indent="-292100" lvl="1" marL="914400" rtl="0" algn="l">
              <a:lnSpc>
                <a:spcPct val="100000"/>
              </a:lnSpc>
              <a:spcBef>
                <a:spcPts val="0"/>
              </a:spcBef>
              <a:spcAft>
                <a:spcPts val="0"/>
              </a:spcAft>
              <a:buSzPts val="1000"/>
              <a:buChar char="○"/>
            </a:pPr>
            <a:r>
              <a:rPr lang="en" sz="1000"/>
              <a:t>You should not just lock everything, all the time, because your code will be </a:t>
            </a:r>
            <a:r>
              <a:rPr b="1" i="1" lang="en" sz="1000">
                <a:solidFill>
                  <a:srgbClr val="FF0000"/>
                </a:solidFill>
              </a:rPr>
              <a:t>slow</a:t>
            </a:r>
            <a:r>
              <a:rPr lang="en" sz="1000"/>
              <a:t>.</a:t>
            </a:r>
            <a:endParaRPr sz="1000"/>
          </a:p>
        </p:txBody>
      </p:sp>
      <p:sp>
        <p:nvSpPr>
          <p:cNvPr id="593" name="Google Shape;593;p54"/>
          <p:cNvSpPr/>
          <p:nvPr/>
        </p:nvSpPr>
        <p:spPr>
          <a:xfrm>
            <a:off x="7381950" y="3764725"/>
            <a:ext cx="1549500" cy="623700"/>
          </a:xfrm>
          <a:prstGeom prst="wedgeRectCallout">
            <a:avLst>
              <a:gd fmla="val -41701" name="adj1"/>
              <a:gd fmla="val -86203"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When trying to </a:t>
            </a:r>
            <a:r>
              <a:rPr lang="en" sz="1000"/>
              <a:t>acquire</a:t>
            </a:r>
            <a:r>
              <a:rPr lang="en" sz="1000"/>
              <a:t> a lock on an already locked lock ...</a:t>
            </a:r>
            <a:endParaRPr sz="1000"/>
          </a:p>
        </p:txBody>
      </p:sp>
      <p:sp>
        <p:nvSpPr>
          <p:cNvPr id="594" name="Google Shape;594;p54"/>
          <p:cNvSpPr/>
          <p:nvPr/>
        </p:nvSpPr>
        <p:spPr>
          <a:xfrm>
            <a:off x="7381959" y="1582850"/>
            <a:ext cx="1549500" cy="819000"/>
          </a:xfrm>
          <a:prstGeom prst="wedgeRectCallout">
            <a:avLst>
              <a:gd fmla="val -32219" name="adj1"/>
              <a:gd fmla="val 76273"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If/when the lock is available, the </a:t>
            </a:r>
            <a:r>
              <a:rPr b="1" i="1" lang="en" sz="1000">
                <a:solidFill>
                  <a:srgbClr val="FF0000"/>
                </a:solidFill>
              </a:rPr>
              <a:t>thread scheduler</a:t>
            </a:r>
            <a:r>
              <a:rPr lang="en" sz="1000"/>
              <a:t> picks </a:t>
            </a:r>
            <a:r>
              <a:rPr b="1" i="1" lang="en" sz="1000">
                <a:solidFill>
                  <a:srgbClr val="FF0000"/>
                </a:solidFill>
              </a:rPr>
              <a:t>one</a:t>
            </a:r>
            <a:r>
              <a:rPr lang="en" sz="1000">
                <a:solidFill>
                  <a:srgbClr val="FF0000"/>
                </a:solidFill>
              </a:rPr>
              <a:t> </a:t>
            </a:r>
            <a:r>
              <a:rPr lang="en" sz="1000"/>
              <a:t>blocked thread.</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1000"/>
                                        <p:tgtEl>
                                          <p:spTgt spid="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1000"/>
                                        <p:tgtEl>
                                          <p:spTgt spid="5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1000"/>
                                        <p:tgtEl>
                                          <p:spTgt spid="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Fun</a:t>
            </a:r>
            <a:r>
              <a:rPr baseline="30000" lang="en"/>
              <a:t>1</a:t>
            </a:r>
            <a:r>
              <a:rPr lang="en" u="sng"/>
              <a:t> Fact!</a:t>
            </a:r>
            <a:endParaRPr u="sng"/>
          </a:p>
        </p:txBody>
      </p:sp>
      <p:sp>
        <p:nvSpPr>
          <p:cNvPr id="600" name="Google Shape;600;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01" name="Google Shape;601;p55"/>
          <p:cNvPicPr preferRelativeResize="0"/>
          <p:nvPr/>
        </p:nvPicPr>
        <p:blipFill>
          <a:blip r:embed="rId3">
            <a:alphaModFix/>
          </a:blip>
          <a:stretch>
            <a:fillRect/>
          </a:stretch>
        </p:blipFill>
        <p:spPr>
          <a:xfrm>
            <a:off x="3502989" y="1316951"/>
            <a:ext cx="2093100" cy="3769809"/>
          </a:xfrm>
          <a:prstGeom prst="rect">
            <a:avLst/>
          </a:prstGeom>
          <a:noFill/>
          <a:ln>
            <a:noFill/>
          </a:ln>
        </p:spPr>
      </p:pic>
      <p:sp>
        <p:nvSpPr>
          <p:cNvPr id="602" name="Google Shape;602;p55"/>
          <p:cNvSpPr/>
          <p:nvPr/>
        </p:nvSpPr>
        <p:spPr>
          <a:xfrm>
            <a:off x="1500175" y="1363625"/>
            <a:ext cx="2093100" cy="667800"/>
          </a:xfrm>
          <a:prstGeom prst="wedgeRoundRectCallout">
            <a:avLst>
              <a:gd fmla="val 60203" name="adj1"/>
              <a:gd fmla="val 4486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Hi! I'm </a:t>
            </a:r>
            <a:r>
              <a:rPr b="1" i="1" lang="en" sz="1200">
                <a:solidFill>
                  <a:srgbClr val="FF0000"/>
                </a:solidFill>
              </a:rPr>
              <a:t>Duke</a:t>
            </a:r>
            <a:r>
              <a:rPr lang="en" sz="1200"/>
              <a:t>, the </a:t>
            </a:r>
            <a:r>
              <a:rPr b="1" i="1" lang="en" sz="1200">
                <a:solidFill>
                  <a:srgbClr val="FF0000"/>
                </a:solidFill>
              </a:rPr>
              <a:t>official Java mascot</a:t>
            </a:r>
            <a:r>
              <a:rPr lang="en" sz="1200"/>
              <a:t>!</a:t>
            </a:r>
            <a:endParaRPr sz="1200"/>
          </a:p>
        </p:txBody>
      </p:sp>
      <p:sp>
        <p:nvSpPr>
          <p:cNvPr id="603" name="Google Shape;603;p55"/>
          <p:cNvSpPr/>
          <p:nvPr/>
        </p:nvSpPr>
        <p:spPr>
          <a:xfrm>
            <a:off x="323450" y="2112766"/>
            <a:ext cx="2889000" cy="800100"/>
          </a:xfrm>
          <a:prstGeom prst="wedgeRoundRectCallout">
            <a:avLst>
              <a:gd fmla="val 70398" name="adj1"/>
              <a:gd fmla="val 18417"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Did you know that the </a:t>
            </a:r>
            <a:r>
              <a:rPr b="1" i="1" lang="en" sz="1200">
                <a:solidFill>
                  <a:srgbClr val="FF0000"/>
                </a:solidFill>
              </a:rPr>
              <a:t>Java Collections Framework</a:t>
            </a:r>
            <a:r>
              <a:rPr lang="en" sz="1200"/>
              <a:t> (</a:t>
            </a:r>
            <a:r>
              <a:rPr b="1" i="1" lang="en" sz="1200">
                <a:solidFill>
                  <a:srgbClr val="FF0000"/>
                </a:solidFill>
              </a:rPr>
              <a:t>JCF</a:t>
            </a:r>
            <a:r>
              <a:rPr lang="en" sz="1200"/>
              <a:t>) wasn't added to Java </a:t>
            </a:r>
            <a:r>
              <a:rPr lang="en" sz="1200"/>
              <a:t>until</a:t>
            </a:r>
            <a:r>
              <a:rPr lang="en" sz="1200"/>
              <a:t> version 1.2?</a:t>
            </a:r>
            <a:endParaRPr sz="1200"/>
          </a:p>
        </p:txBody>
      </p:sp>
      <p:sp>
        <p:nvSpPr>
          <p:cNvPr id="604" name="Google Shape;604;p55"/>
          <p:cNvSpPr/>
          <p:nvPr/>
        </p:nvSpPr>
        <p:spPr>
          <a:xfrm>
            <a:off x="94850" y="2997300"/>
            <a:ext cx="3117600" cy="1125000"/>
          </a:xfrm>
          <a:prstGeom prst="wedgeRoundRectCallout">
            <a:avLst>
              <a:gd fmla="val 67728" name="adj1"/>
              <a:gd fmla="val -4773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The designers of the JCF wanted the core data structures like </a:t>
            </a:r>
            <a:r>
              <a:rPr lang="en" sz="1200">
                <a:latin typeface="Courier New"/>
                <a:ea typeface="Courier New"/>
                <a:cs typeface="Courier New"/>
                <a:sym typeface="Courier New"/>
              </a:rPr>
              <a:t>ArrayList</a:t>
            </a:r>
            <a:r>
              <a:rPr lang="en" sz="1200"/>
              <a:t> and </a:t>
            </a:r>
            <a:r>
              <a:rPr lang="en" sz="1200">
                <a:latin typeface="Courier New"/>
                <a:ea typeface="Courier New"/>
                <a:cs typeface="Courier New"/>
                <a:sym typeface="Courier New"/>
              </a:rPr>
              <a:t>HashMap</a:t>
            </a:r>
            <a:r>
              <a:rPr lang="en" sz="1200"/>
              <a:t> to be </a:t>
            </a:r>
            <a:r>
              <a:rPr b="1" i="1" lang="en" sz="1200">
                <a:solidFill>
                  <a:srgbClr val="FF0000"/>
                </a:solidFill>
              </a:rPr>
              <a:t>fast</a:t>
            </a:r>
            <a:r>
              <a:rPr lang="en" sz="1200">
                <a:solidFill>
                  <a:srgbClr val="FF0000"/>
                </a:solidFill>
              </a:rPr>
              <a:t> </a:t>
            </a:r>
            <a:r>
              <a:rPr lang="en" sz="1200"/>
              <a:t>and </a:t>
            </a:r>
            <a:r>
              <a:rPr b="1" i="1" lang="en" sz="1200">
                <a:solidFill>
                  <a:srgbClr val="FF0000"/>
                </a:solidFill>
              </a:rPr>
              <a:t>efficient</a:t>
            </a:r>
            <a:r>
              <a:rPr lang="en" sz="1200"/>
              <a:t>, and so they decided that they should </a:t>
            </a:r>
            <a:r>
              <a:rPr b="1" i="1" lang="en" sz="1200">
                <a:solidFill>
                  <a:srgbClr val="FF0000"/>
                </a:solidFill>
              </a:rPr>
              <a:t>not</a:t>
            </a:r>
            <a:r>
              <a:rPr lang="en" sz="1200">
                <a:solidFill>
                  <a:srgbClr val="FF0000"/>
                </a:solidFill>
              </a:rPr>
              <a:t> </a:t>
            </a:r>
            <a:r>
              <a:rPr lang="en" sz="1200"/>
              <a:t>be made thread-safe.</a:t>
            </a:r>
            <a:endParaRPr sz="1200"/>
          </a:p>
        </p:txBody>
      </p:sp>
      <p:sp>
        <p:nvSpPr>
          <p:cNvPr id="605" name="Google Shape;605;p55"/>
          <p:cNvSpPr/>
          <p:nvPr/>
        </p:nvSpPr>
        <p:spPr>
          <a:xfrm>
            <a:off x="6035350" y="1562625"/>
            <a:ext cx="2889000" cy="1058400"/>
          </a:xfrm>
          <a:prstGeom prst="wedgeRoundRectCallout">
            <a:avLst>
              <a:gd fmla="val -60015" name="adj1"/>
              <a:gd fmla="val 37548"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200">
                <a:solidFill>
                  <a:srgbClr val="FF0000"/>
                </a:solidFill>
              </a:rPr>
              <a:t>Earlier</a:t>
            </a:r>
            <a:r>
              <a:rPr lang="en" sz="1200">
                <a:solidFill>
                  <a:srgbClr val="FF0000"/>
                </a:solidFill>
              </a:rPr>
              <a:t> </a:t>
            </a:r>
            <a:r>
              <a:rPr lang="en" sz="1200"/>
              <a:t>versions of Java included equivalent classes like </a:t>
            </a:r>
            <a:r>
              <a:rPr lang="en" sz="1200">
                <a:latin typeface="Courier New"/>
                <a:ea typeface="Courier New"/>
                <a:cs typeface="Courier New"/>
                <a:sym typeface="Courier New"/>
              </a:rPr>
              <a:t>Vector</a:t>
            </a:r>
            <a:r>
              <a:rPr lang="en" sz="1200"/>
              <a:t> and </a:t>
            </a:r>
            <a:r>
              <a:rPr lang="en" sz="1200">
                <a:latin typeface="Courier New"/>
                <a:ea typeface="Courier New"/>
                <a:cs typeface="Courier New"/>
                <a:sym typeface="Courier New"/>
              </a:rPr>
              <a:t>Hashtable</a:t>
            </a:r>
            <a:r>
              <a:rPr lang="en" sz="1200"/>
              <a:t> that </a:t>
            </a:r>
            <a:r>
              <a:rPr b="1" i="1" lang="en" sz="1200">
                <a:solidFill>
                  <a:srgbClr val="FF0000"/>
                </a:solidFill>
              </a:rPr>
              <a:t>are</a:t>
            </a:r>
            <a:r>
              <a:rPr lang="en" sz="1200">
                <a:solidFill>
                  <a:srgbClr val="FF0000"/>
                </a:solidFill>
              </a:rPr>
              <a:t> </a:t>
            </a:r>
            <a:r>
              <a:rPr lang="en" sz="1200"/>
              <a:t>thread-safe, and therefore </a:t>
            </a:r>
            <a:r>
              <a:rPr b="1" i="1" lang="en" sz="1200">
                <a:solidFill>
                  <a:srgbClr val="FF0000"/>
                </a:solidFill>
              </a:rPr>
              <a:t>slow</a:t>
            </a:r>
            <a:r>
              <a:rPr lang="en" sz="1200">
                <a:solidFill>
                  <a:srgbClr val="FF0000"/>
                </a:solidFill>
              </a:rPr>
              <a:t> </a:t>
            </a:r>
            <a:r>
              <a:rPr lang="en" sz="1200"/>
              <a:t>even in single-threaded code.</a:t>
            </a:r>
            <a:endParaRPr sz="1200"/>
          </a:p>
        </p:txBody>
      </p:sp>
      <p:sp>
        <p:nvSpPr>
          <p:cNvPr id="606" name="Google Shape;606;p55"/>
          <p:cNvSpPr/>
          <p:nvPr/>
        </p:nvSpPr>
        <p:spPr>
          <a:xfrm>
            <a:off x="6035350" y="2735225"/>
            <a:ext cx="2889000" cy="800100"/>
          </a:xfrm>
          <a:prstGeom prst="wedgeRoundRectCallout">
            <a:avLst>
              <a:gd fmla="val -67993" name="adj1"/>
              <a:gd fmla="val -12452"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Those </a:t>
            </a:r>
            <a:r>
              <a:rPr b="1" i="1" lang="en" sz="1200">
                <a:solidFill>
                  <a:srgbClr val="FF0000"/>
                </a:solidFill>
              </a:rPr>
              <a:t>old</a:t>
            </a:r>
            <a:r>
              <a:rPr lang="en" sz="1200">
                <a:solidFill>
                  <a:srgbClr val="FF0000"/>
                </a:solidFill>
              </a:rPr>
              <a:t> </a:t>
            </a:r>
            <a:r>
              <a:rPr lang="en" sz="1200"/>
              <a:t>collections classes are still in Java today, but they are considered </a:t>
            </a:r>
            <a:r>
              <a:rPr b="1" i="1" lang="en" sz="1200">
                <a:solidFill>
                  <a:srgbClr val="FF0000"/>
                </a:solidFill>
              </a:rPr>
              <a:t>deprecated</a:t>
            </a:r>
            <a:r>
              <a:rPr lang="en" sz="1200">
                <a:solidFill>
                  <a:srgbClr val="FF0000"/>
                </a:solidFill>
              </a:rPr>
              <a:t> </a:t>
            </a:r>
            <a:r>
              <a:rPr lang="en" sz="1200"/>
              <a:t>- no longer recommended for use.</a:t>
            </a:r>
            <a:endParaRPr sz="1200"/>
          </a:p>
        </p:txBody>
      </p:sp>
      <p:sp>
        <p:nvSpPr>
          <p:cNvPr id="607" name="Google Shape;607;p55"/>
          <p:cNvSpPr/>
          <p:nvPr/>
        </p:nvSpPr>
        <p:spPr>
          <a:xfrm>
            <a:off x="6035350" y="3649625"/>
            <a:ext cx="2889000" cy="800100"/>
          </a:xfrm>
          <a:prstGeom prst="wedgeRoundRectCallout">
            <a:avLst>
              <a:gd fmla="val -67581" name="adj1"/>
              <a:gd fmla="val -5280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So if anyone ever asks you what the difference between a </a:t>
            </a:r>
            <a:r>
              <a:rPr lang="en" sz="1200">
                <a:latin typeface="Courier New"/>
                <a:ea typeface="Courier New"/>
                <a:cs typeface="Courier New"/>
                <a:sym typeface="Courier New"/>
              </a:rPr>
              <a:t>HashMap</a:t>
            </a:r>
            <a:r>
              <a:rPr lang="en" sz="1200"/>
              <a:t> and a </a:t>
            </a:r>
            <a:r>
              <a:rPr lang="en" sz="1200">
                <a:latin typeface="Courier New"/>
                <a:ea typeface="Courier New"/>
                <a:cs typeface="Courier New"/>
                <a:sym typeface="Courier New"/>
              </a:rPr>
              <a:t>Hashtable</a:t>
            </a:r>
            <a:r>
              <a:rPr lang="en" sz="1200"/>
              <a:t> is, now you know!</a:t>
            </a:r>
            <a:endParaRPr sz="1200"/>
          </a:p>
        </p:txBody>
      </p:sp>
      <p:sp>
        <p:nvSpPr>
          <p:cNvPr id="608" name="Google Shape;608;p55"/>
          <p:cNvSpPr/>
          <p:nvPr/>
        </p:nvSpPr>
        <p:spPr>
          <a:xfrm>
            <a:off x="323450" y="4246366"/>
            <a:ext cx="2889000" cy="800100"/>
          </a:xfrm>
          <a:prstGeom prst="wedgeRoundRectCallout">
            <a:avLst>
              <a:gd fmla="val 57713" name="adj1"/>
              <a:gd fmla="val -47927"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Therefore, when you use JCF classes in a multithreaded environment, it's up to </a:t>
            </a:r>
            <a:r>
              <a:rPr b="1" i="1" lang="en" sz="1200">
                <a:solidFill>
                  <a:srgbClr val="FF0000"/>
                </a:solidFill>
              </a:rPr>
              <a:t>you</a:t>
            </a:r>
            <a:r>
              <a:rPr lang="en" sz="1200">
                <a:solidFill>
                  <a:srgbClr val="FF0000"/>
                </a:solidFill>
              </a:rPr>
              <a:t> </a:t>
            </a:r>
            <a:r>
              <a:rPr lang="en" sz="1200"/>
              <a:t>to do it safely.</a:t>
            </a:r>
            <a:endParaRPr sz="1200"/>
          </a:p>
        </p:txBody>
      </p:sp>
      <p:sp>
        <p:nvSpPr>
          <p:cNvPr id="609" name="Google Shape;609;p55"/>
          <p:cNvSpPr txBox="1"/>
          <p:nvPr/>
        </p:nvSpPr>
        <p:spPr>
          <a:xfrm>
            <a:off x="7162400" y="4693725"/>
            <a:ext cx="15366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aseline="30000" lang="en" sz="1000">
                <a:latin typeface="Roboto"/>
                <a:ea typeface="Roboto"/>
                <a:cs typeface="Roboto"/>
                <a:sym typeface="Roboto"/>
              </a:rPr>
              <a:t>1</a:t>
            </a:r>
            <a:r>
              <a:rPr i="1" lang="en" sz="1000">
                <a:latin typeface="Roboto"/>
                <a:ea typeface="Roboto"/>
                <a:cs typeface="Roboto"/>
                <a:sym typeface="Roboto"/>
              </a:rPr>
              <a:t>"Fun" is a relative term.</a:t>
            </a:r>
            <a:endParaRPr i="1" sz="10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10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10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10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000"/>
                                        <p:tgtEl>
                                          <p:spTgt spid="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6"/>
          <p:cNvSpPr txBox="1"/>
          <p:nvPr>
            <p:ph idx="3" type="body"/>
          </p:nvPr>
        </p:nvSpPr>
        <p:spPr>
          <a:xfrm>
            <a:off x="5035264" y="2481736"/>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b="1" i="1" lang="en">
                <a:solidFill>
                  <a:srgbClr val="FF0000"/>
                </a:solidFill>
              </a:rPr>
              <a:t>Conditions</a:t>
            </a:r>
            <a:r>
              <a:rPr lang="en"/>
              <a:t> for a </a:t>
            </a:r>
            <a:r>
              <a:rPr lang="en">
                <a:latin typeface="Courier New"/>
                <a:ea typeface="Courier New"/>
                <a:cs typeface="Courier New"/>
                <a:sym typeface="Courier New"/>
              </a:rPr>
              <a:t>Lock</a:t>
            </a:r>
            <a:r>
              <a:rPr lang="en"/>
              <a:t> can be created using the </a:t>
            </a:r>
            <a:r>
              <a:rPr lang="en">
                <a:latin typeface="Courier New"/>
                <a:ea typeface="Courier New"/>
                <a:cs typeface="Courier New"/>
                <a:sym typeface="Courier New"/>
              </a:rPr>
              <a:t>Lock.newCondition()</a:t>
            </a:r>
            <a:r>
              <a:rPr lang="en"/>
              <a:t> method.</a:t>
            </a:r>
            <a:endParaRPr/>
          </a:p>
        </p:txBody>
      </p:sp>
      <p:sp>
        <p:nvSpPr>
          <p:cNvPr id="615" name="Google Shape;615;p56"/>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6" name="Google Shape;616;p56"/>
          <p:cNvSpPr txBox="1"/>
          <p:nvPr>
            <p:ph type="title"/>
          </p:nvPr>
        </p:nvSpPr>
        <p:spPr>
          <a:xfrm>
            <a:off x="5036125" y="19577"/>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Waiting</a:t>
            </a:r>
            <a:endParaRPr/>
          </a:p>
        </p:txBody>
      </p:sp>
      <p:sp>
        <p:nvSpPr>
          <p:cNvPr id="617" name="Google Shape;617;p56"/>
          <p:cNvSpPr txBox="1"/>
          <p:nvPr>
            <p:ph idx="2" type="body"/>
          </p:nvPr>
        </p:nvSpPr>
        <p:spPr>
          <a:xfrm>
            <a:off x="5039825" y="1230286"/>
            <a:ext cx="3706500" cy="1199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a:solidFill>
                  <a:schemeClr val="accent5"/>
                </a:solidFill>
                <a:highlight>
                  <a:srgbClr val="FFFFFF"/>
                </a:highlight>
                <a:latin typeface="Consolas"/>
                <a:ea typeface="Consolas"/>
                <a:cs typeface="Consolas"/>
                <a:sym typeface="Consolas"/>
              </a:rPr>
              <a:t>1</a:t>
            </a:r>
            <a:r>
              <a:rPr lang="en">
                <a:solidFill>
                  <a:srgbClr val="3B3B3B"/>
                </a:solidFill>
                <a:highlight>
                  <a:srgbClr val="FFFFFF"/>
                </a:highlight>
                <a:latin typeface="Consolas"/>
                <a:ea typeface="Consolas"/>
                <a:cs typeface="Consolas"/>
                <a:sym typeface="Consolas"/>
              </a:rPr>
              <a:t>  </a:t>
            </a:r>
            <a:r>
              <a:rPr lang="en">
                <a:solidFill>
                  <a:srgbClr val="AF00DB"/>
                </a:solidFill>
                <a:highlight>
                  <a:srgbClr val="FFFFFF"/>
                </a:highlight>
                <a:latin typeface="Consolas"/>
                <a:ea typeface="Consolas"/>
                <a:cs typeface="Consolas"/>
                <a:sym typeface="Consolas"/>
              </a:rPr>
              <a:t>try</a:t>
            </a:r>
            <a:r>
              <a:rPr lang="en">
                <a:solidFill>
                  <a:srgbClr val="3B3B3B"/>
                </a:solidFill>
                <a:highlight>
                  <a:srgbClr val="FFFFFF"/>
                </a:highlight>
                <a:latin typeface="Consolas"/>
                <a:ea typeface="Consolas"/>
                <a:cs typeface="Consolas"/>
                <a:sym typeface="Consolas"/>
              </a:rPr>
              <a:t> {</a:t>
            </a:r>
            <a:endParaRPr>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a:solidFill>
                  <a:schemeClr val="accent5"/>
                </a:solidFill>
                <a:highlight>
                  <a:srgbClr val="FFFFFF"/>
                </a:highlight>
                <a:latin typeface="Consolas"/>
                <a:ea typeface="Consolas"/>
                <a:cs typeface="Consolas"/>
                <a:sym typeface="Consolas"/>
              </a:rPr>
              <a:t>2</a:t>
            </a:r>
            <a:r>
              <a:rPr lang="en">
                <a:solidFill>
                  <a:srgbClr val="3B3B3B"/>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lock</a:t>
            </a:r>
            <a:r>
              <a:rPr lang="en">
                <a:solidFill>
                  <a:srgbClr val="3B3B3B"/>
                </a:solidFill>
                <a:highlight>
                  <a:srgbClr val="FFFFFF"/>
                </a:highlight>
                <a:latin typeface="Consolas"/>
                <a:ea typeface="Consolas"/>
                <a:cs typeface="Consolas"/>
                <a:sym typeface="Consolas"/>
              </a:rPr>
              <a:t>.</a:t>
            </a:r>
            <a:r>
              <a:rPr lang="en">
                <a:solidFill>
                  <a:srgbClr val="795E26"/>
                </a:solidFill>
                <a:highlight>
                  <a:srgbClr val="FFFFFF"/>
                </a:highlight>
                <a:latin typeface="Consolas"/>
                <a:ea typeface="Consolas"/>
                <a:cs typeface="Consolas"/>
                <a:sym typeface="Consolas"/>
              </a:rPr>
              <a:t>lock</a:t>
            </a:r>
            <a:r>
              <a:rPr lang="en">
                <a:solidFill>
                  <a:srgbClr val="3B3B3B"/>
                </a:solidFill>
                <a:highlight>
                  <a:srgbClr val="FFFFFF"/>
                </a:highlight>
                <a:latin typeface="Consolas"/>
                <a:ea typeface="Consolas"/>
                <a:cs typeface="Consolas"/>
                <a:sym typeface="Consolas"/>
              </a:rPr>
              <a:t>();</a:t>
            </a:r>
            <a:endParaRPr>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a:solidFill>
                  <a:schemeClr val="accent5"/>
                </a:solidFill>
                <a:highlight>
                  <a:srgbClr val="FFFFFF"/>
                </a:highlight>
                <a:latin typeface="Consolas"/>
                <a:ea typeface="Consolas"/>
                <a:cs typeface="Consolas"/>
                <a:sym typeface="Consolas"/>
              </a:rPr>
              <a:t>3</a:t>
            </a:r>
            <a:r>
              <a:rPr lang="en">
                <a:solidFill>
                  <a:srgbClr val="3B3B3B"/>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condition</a:t>
            </a:r>
            <a:r>
              <a:rPr lang="en">
                <a:solidFill>
                  <a:srgbClr val="3B3B3B"/>
                </a:solidFill>
                <a:highlight>
                  <a:srgbClr val="FFFFFF"/>
                </a:highlight>
                <a:latin typeface="Consolas"/>
                <a:ea typeface="Consolas"/>
                <a:cs typeface="Consolas"/>
                <a:sym typeface="Consolas"/>
              </a:rPr>
              <a:t>.</a:t>
            </a:r>
            <a:r>
              <a:rPr lang="en">
                <a:solidFill>
                  <a:srgbClr val="795E26"/>
                </a:solidFill>
                <a:highlight>
                  <a:srgbClr val="FFFFFF"/>
                </a:highlight>
                <a:latin typeface="Consolas"/>
                <a:ea typeface="Consolas"/>
                <a:cs typeface="Consolas"/>
                <a:sym typeface="Consolas"/>
              </a:rPr>
              <a:t>awaitUninterruptibly</a:t>
            </a:r>
            <a:r>
              <a:rPr lang="en">
                <a:solidFill>
                  <a:srgbClr val="3B3B3B"/>
                </a:solidFill>
                <a:highlight>
                  <a:srgbClr val="FFFFFF"/>
                </a:highlight>
                <a:latin typeface="Consolas"/>
                <a:ea typeface="Consolas"/>
                <a:cs typeface="Consolas"/>
                <a:sym typeface="Consolas"/>
              </a:rPr>
              <a:t>();</a:t>
            </a:r>
            <a:endParaRPr>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a:solidFill>
                  <a:schemeClr val="accent5"/>
                </a:solidFill>
                <a:highlight>
                  <a:srgbClr val="FFFFFF"/>
                </a:highlight>
                <a:latin typeface="Consolas"/>
                <a:ea typeface="Consolas"/>
                <a:cs typeface="Consolas"/>
                <a:sym typeface="Consolas"/>
              </a:rPr>
              <a:t>4</a:t>
            </a:r>
            <a:r>
              <a:rPr lang="en">
                <a:solidFill>
                  <a:srgbClr val="3B3B3B"/>
                </a:solidFill>
                <a:highlight>
                  <a:srgbClr val="FFFFFF"/>
                </a:highlight>
                <a:latin typeface="Consolas"/>
                <a:ea typeface="Consolas"/>
                <a:cs typeface="Consolas"/>
                <a:sym typeface="Consolas"/>
              </a:rPr>
              <a:t>  } </a:t>
            </a:r>
            <a:r>
              <a:rPr lang="en">
                <a:solidFill>
                  <a:srgbClr val="AF00DB"/>
                </a:solidFill>
                <a:highlight>
                  <a:srgbClr val="FFFFFF"/>
                </a:highlight>
                <a:latin typeface="Consolas"/>
                <a:ea typeface="Consolas"/>
                <a:cs typeface="Consolas"/>
                <a:sym typeface="Consolas"/>
              </a:rPr>
              <a:t>finally</a:t>
            </a:r>
            <a:r>
              <a:rPr lang="en">
                <a:solidFill>
                  <a:srgbClr val="3B3B3B"/>
                </a:solidFill>
                <a:highlight>
                  <a:srgbClr val="FFFFFF"/>
                </a:highlight>
                <a:latin typeface="Consolas"/>
                <a:ea typeface="Consolas"/>
                <a:cs typeface="Consolas"/>
                <a:sym typeface="Consolas"/>
              </a:rPr>
              <a:t> { </a:t>
            </a:r>
            <a:r>
              <a:rPr lang="en">
                <a:solidFill>
                  <a:srgbClr val="001080"/>
                </a:solidFill>
                <a:highlight>
                  <a:srgbClr val="FFFFFF"/>
                </a:highlight>
                <a:latin typeface="Consolas"/>
                <a:ea typeface="Consolas"/>
                <a:cs typeface="Consolas"/>
                <a:sym typeface="Consolas"/>
              </a:rPr>
              <a:t>lock</a:t>
            </a:r>
            <a:r>
              <a:rPr lang="en">
                <a:solidFill>
                  <a:srgbClr val="3B3B3B"/>
                </a:solidFill>
                <a:highlight>
                  <a:srgbClr val="FFFFFF"/>
                </a:highlight>
                <a:latin typeface="Consolas"/>
                <a:ea typeface="Consolas"/>
                <a:cs typeface="Consolas"/>
                <a:sym typeface="Consolas"/>
              </a:rPr>
              <a:t>.</a:t>
            </a:r>
            <a:r>
              <a:rPr lang="en">
                <a:solidFill>
                  <a:srgbClr val="795E26"/>
                </a:solidFill>
                <a:highlight>
                  <a:srgbClr val="FFFFFF"/>
                </a:highlight>
                <a:latin typeface="Consolas"/>
                <a:ea typeface="Consolas"/>
                <a:cs typeface="Consolas"/>
                <a:sym typeface="Consolas"/>
              </a:rPr>
              <a:t>unlock</a:t>
            </a:r>
            <a:r>
              <a:rPr lang="en">
                <a:solidFill>
                  <a:srgbClr val="3B3B3B"/>
                </a:solidFill>
                <a:highlight>
                  <a:srgbClr val="FFFFFF"/>
                </a:highlight>
                <a:latin typeface="Consolas"/>
                <a:ea typeface="Consolas"/>
                <a:cs typeface="Consolas"/>
                <a:sym typeface="Consolas"/>
              </a:rPr>
              <a:t>(); }</a:t>
            </a:r>
            <a:endParaRPr>
              <a:solidFill>
                <a:srgbClr val="098658"/>
              </a:solidFill>
              <a:latin typeface="Consolas"/>
              <a:ea typeface="Consolas"/>
              <a:cs typeface="Consolas"/>
              <a:sym typeface="Consolas"/>
            </a:endParaRPr>
          </a:p>
        </p:txBody>
      </p:sp>
      <p:sp>
        <p:nvSpPr>
          <p:cNvPr id="618" name="Google Shape;618;p56"/>
          <p:cNvSpPr txBox="1"/>
          <p:nvPr>
            <p:ph idx="1" type="body"/>
          </p:nvPr>
        </p:nvSpPr>
        <p:spPr>
          <a:xfrm>
            <a:off x="192850" y="119925"/>
            <a:ext cx="4509900" cy="4725300"/>
          </a:xfrm>
          <a:prstGeom prst="rect">
            <a:avLst/>
          </a:prstGeom>
        </p:spPr>
        <p:txBody>
          <a:bodyPr anchorCtr="0" anchor="t"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Sometimes a thread can't do the work that it needs to do until some </a:t>
            </a:r>
            <a:r>
              <a:rPr b="1" i="1" lang="en" sz="1200">
                <a:solidFill>
                  <a:srgbClr val="FF0000"/>
                </a:solidFill>
              </a:rPr>
              <a:t>important event</a:t>
            </a:r>
            <a:r>
              <a:rPr lang="en" sz="1200">
                <a:solidFill>
                  <a:srgbClr val="FF0000"/>
                </a:solidFill>
              </a:rPr>
              <a:t> </a:t>
            </a:r>
            <a:r>
              <a:rPr lang="en" sz="1200"/>
              <a:t>occurs.</a:t>
            </a:r>
            <a:endParaRPr sz="1200"/>
          </a:p>
          <a:p>
            <a:pPr indent="-292100" lvl="1" marL="914400" rtl="0" algn="l">
              <a:lnSpc>
                <a:spcPct val="100000"/>
              </a:lnSpc>
              <a:spcBef>
                <a:spcPts val="0"/>
              </a:spcBef>
              <a:spcAft>
                <a:spcPts val="0"/>
              </a:spcAft>
              <a:buSzPts val="1000"/>
              <a:buChar char="○"/>
            </a:pPr>
            <a:r>
              <a:rPr lang="en" sz="1000"/>
              <a:t>For example, a </a:t>
            </a:r>
            <a:r>
              <a:rPr b="1" i="1" lang="en" sz="1000">
                <a:solidFill>
                  <a:srgbClr val="FF0000"/>
                </a:solidFill>
              </a:rPr>
              <a:t>job</a:t>
            </a:r>
            <a:r>
              <a:rPr lang="en" sz="1000">
                <a:solidFill>
                  <a:srgbClr val="FF0000"/>
                </a:solidFill>
              </a:rPr>
              <a:t> </a:t>
            </a:r>
            <a:r>
              <a:rPr lang="en" sz="1000"/>
              <a:t>is added to a queue that the thread needs to </a:t>
            </a:r>
            <a:r>
              <a:rPr b="1" i="1" lang="en" sz="1000">
                <a:solidFill>
                  <a:srgbClr val="FF0000"/>
                </a:solidFill>
              </a:rPr>
              <a:t>consume</a:t>
            </a:r>
            <a:r>
              <a:rPr lang="en" sz="1000">
                <a:solidFill>
                  <a:srgbClr val="FF0000"/>
                </a:solidFill>
              </a:rPr>
              <a:t> </a:t>
            </a:r>
            <a:r>
              <a:rPr lang="en" sz="1000"/>
              <a:t>in some way.</a:t>
            </a:r>
            <a:endParaRPr sz="1000"/>
          </a:p>
          <a:p>
            <a:pPr indent="-304800" lvl="0" marL="457200" rtl="0" algn="l">
              <a:lnSpc>
                <a:spcPct val="100000"/>
              </a:lnSpc>
              <a:spcBef>
                <a:spcPts val="1000"/>
              </a:spcBef>
              <a:spcAft>
                <a:spcPts val="0"/>
              </a:spcAft>
              <a:buSzPts val="1200"/>
              <a:buChar char="●"/>
            </a:pPr>
            <a:r>
              <a:rPr lang="en" sz="1200"/>
              <a:t>We could use a </a:t>
            </a:r>
            <a:r>
              <a:rPr b="1" i="1" lang="en" sz="1200">
                <a:solidFill>
                  <a:srgbClr val="FF0000"/>
                </a:solidFill>
              </a:rPr>
              <a:t>busy/wait</a:t>
            </a:r>
            <a:r>
              <a:rPr lang="en" sz="1200"/>
              <a:t> on the queue, e.g. </a:t>
            </a:r>
            <a:r>
              <a:rPr lang="en" sz="1200">
                <a:solidFill>
                  <a:srgbClr val="FF0000"/>
                </a:solidFill>
                <a:latin typeface="Courier New"/>
                <a:ea typeface="Courier New"/>
                <a:cs typeface="Courier New"/>
                <a:sym typeface="Courier New"/>
              </a:rPr>
              <a:t>while(queue.isEmpty())</a:t>
            </a:r>
            <a:r>
              <a:rPr lang="en" sz="1200"/>
              <a:t>, but we have already seen that this can be incredibly wasteful.</a:t>
            </a:r>
            <a:endParaRPr sz="1200"/>
          </a:p>
          <a:p>
            <a:pPr indent="-292100" lvl="1" marL="914400" rtl="0" algn="l">
              <a:lnSpc>
                <a:spcPct val="100000"/>
              </a:lnSpc>
              <a:spcBef>
                <a:spcPts val="0"/>
              </a:spcBef>
              <a:spcAft>
                <a:spcPts val="0"/>
              </a:spcAft>
              <a:buSzPts val="1000"/>
              <a:buChar char="○"/>
            </a:pPr>
            <a:r>
              <a:rPr lang="en" sz="1000"/>
              <a:t>The thread spends most of its time using CPU cycles to check an empty queue.</a:t>
            </a:r>
            <a:endParaRPr sz="1000"/>
          </a:p>
          <a:p>
            <a:pPr indent="-304800" lvl="0" marL="457200" rtl="0" algn="l">
              <a:lnSpc>
                <a:spcPct val="100000"/>
              </a:lnSpc>
              <a:spcBef>
                <a:spcPts val="1000"/>
              </a:spcBef>
              <a:spcAft>
                <a:spcPts val="0"/>
              </a:spcAft>
              <a:buSzPts val="1200"/>
              <a:buChar char="●"/>
            </a:pPr>
            <a:r>
              <a:rPr lang="en" sz="1200"/>
              <a:t>We could use </a:t>
            </a:r>
            <a:r>
              <a:rPr b="1" i="1" lang="en" sz="1200">
                <a:solidFill>
                  <a:srgbClr val="FF0000"/>
                </a:solidFill>
              </a:rPr>
              <a:t>polling</a:t>
            </a:r>
            <a:r>
              <a:rPr lang="en" sz="1200">
                <a:solidFill>
                  <a:srgbClr val="FF0000"/>
                </a:solidFill>
              </a:rPr>
              <a:t> </a:t>
            </a:r>
            <a:r>
              <a:rPr lang="en" sz="1200"/>
              <a:t>instead, e.g. sleep for some </a:t>
            </a:r>
            <a:r>
              <a:rPr b="1" i="1" lang="en" sz="1200">
                <a:solidFill>
                  <a:srgbClr val="FF0000"/>
                </a:solidFill>
              </a:rPr>
              <a:t>interval</a:t>
            </a:r>
            <a:r>
              <a:rPr lang="en" sz="1200">
                <a:solidFill>
                  <a:srgbClr val="FF0000"/>
                </a:solidFill>
              </a:rPr>
              <a:t> </a:t>
            </a:r>
            <a:r>
              <a:rPr lang="en" sz="1200"/>
              <a:t>between checking the queue, but polling has some significant drawbacks.</a:t>
            </a:r>
            <a:endParaRPr sz="1200"/>
          </a:p>
          <a:p>
            <a:pPr indent="-292100" lvl="1" marL="914400" rtl="0" algn="l">
              <a:lnSpc>
                <a:spcPct val="100000"/>
              </a:lnSpc>
              <a:spcBef>
                <a:spcPts val="0"/>
              </a:spcBef>
              <a:spcAft>
                <a:spcPts val="0"/>
              </a:spcAft>
              <a:buSzPts val="1000"/>
              <a:buChar char="○"/>
            </a:pPr>
            <a:r>
              <a:rPr lang="en" sz="1000"/>
              <a:t>CPU cycles are still wasted every time the empty queue is checked.</a:t>
            </a:r>
            <a:endParaRPr sz="1000"/>
          </a:p>
          <a:p>
            <a:pPr indent="-292100" lvl="1" marL="914400" rtl="0" algn="l">
              <a:lnSpc>
                <a:spcPct val="100000"/>
              </a:lnSpc>
              <a:spcBef>
                <a:spcPts val="0"/>
              </a:spcBef>
              <a:spcAft>
                <a:spcPts val="0"/>
              </a:spcAft>
              <a:buSzPts val="1000"/>
              <a:buChar char="○"/>
            </a:pPr>
            <a:r>
              <a:rPr lang="en" sz="1000"/>
              <a:t>Depending on the length of the interval, there may be a significant delay between when a job is added to the queue and when the thread checks for it.</a:t>
            </a:r>
            <a:endParaRPr sz="1000"/>
          </a:p>
          <a:p>
            <a:pPr indent="-304800" lvl="0" marL="457200" rtl="0" algn="l">
              <a:lnSpc>
                <a:spcPct val="100000"/>
              </a:lnSpc>
              <a:spcBef>
                <a:spcPts val="1000"/>
              </a:spcBef>
              <a:spcAft>
                <a:spcPts val="0"/>
              </a:spcAft>
              <a:buSzPts val="1200"/>
              <a:buChar char="●"/>
            </a:pPr>
            <a:r>
              <a:rPr lang="en" sz="1200"/>
              <a:t>A better alternative is for the thread to </a:t>
            </a:r>
            <a:r>
              <a:rPr b="1" i="1" lang="en" sz="1200">
                <a:solidFill>
                  <a:srgbClr val="FF0000"/>
                </a:solidFill>
              </a:rPr>
              <a:t>wait</a:t>
            </a:r>
            <a:r>
              <a:rPr lang="en" sz="1200">
                <a:solidFill>
                  <a:srgbClr val="FF0000"/>
                </a:solidFill>
              </a:rPr>
              <a:t> </a:t>
            </a:r>
            <a:r>
              <a:rPr lang="en" sz="1200"/>
              <a:t>for at least one job to be available.</a:t>
            </a:r>
            <a:endParaRPr sz="1200"/>
          </a:p>
          <a:p>
            <a:pPr indent="-292100" lvl="1" marL="914400" rtl="0" algn="l">
              <a:lnSpc>
                <a:spcPct val="100000"/>
              </a:lnSpc>
              <a:spcBef>
                <a:spcPts val="0"/>
              </a:spcBef>
              <a:spcAft>
                <a:spcPts val="0"/>
              </a:spcAft>
              <a:buSzPts val="1000"/>
              <a:buChar char="○"/>
            </a:pPr>
            <a:r>
              <a:rPr lang="en" sz="1000"/>
              <a:t>This requires obtaining a </a:t>
            </a:r>
            <a:r>
              <a:rPr b="1" i="1" lang="en" sz="1000">
                <a:solidFill>
                  <a:srgbClr val="FF0000"/>
                </a:solidFill>
              </a:rPr>
              <a:t>lock</a:t>
            </a:r>
            <a:r>
              <a:rPr lang="en" sz="1000"/>
              <a:t>.</a:t>
            </a:r>
            <a:endParaRPr sz="1000"/>
          </a:p>
          <a:p>
            <a:pPr indent="-292100" lvl="1" marL="914400" rtl="0" algn="l">
              <a:lnSpc>
                <a:spcPct val="100000"/>
              </a:lnSpc>
              <a:spcBef>
                <a:spcPts val="0"/>
              </a:spcBef>
              <a:spcAft>
                <a:spcPts val="0"/>
              </a:spcAft>
              <a:buSzPts val="1000"/>
              <a:buChar char="○"/>
            </a:pPr>
            <a:r>
              <a:rPr lang="en" sz="1000"/>
              <a:t>The </a:t>
            </a:r>
            <a:r>
              <a:rPr lang="en" sz="1000">
                <a:solidFill>
                  <a:srgbClr val="FF0000"/>
                </a:solidFill>
                <a:latin typeface="Courier New"/>
                <a:ea typeface="Courier New"/>
                <a:cs typeface="Courier New"/>
                <a:sym typeface="Courier New"/>
              </a:rPr>
              <a:t>lock.lock()</a:t>
            </a:r>
            <a:r>
              <a:rPr lang="en" sz="1000"/>
              <a:t> method is then called to pause the execution of the current thread </a:t>
            </a:r>
            <a:r>
              <a:rPr b="1" i="1" lang="en" sz="1000">
                <a:solidFill>
                  <a:srgbClr val="FF0000"/>
                </a:solidFill>
              </a:rPr>
              <a:t>indefinitely</a:t>
            </a:r>
            <a:r>
              <a:rPr lang="en" sz="1000"/>
              <a:t>.</a:t>
            </a:r>
            <a:endParaRPr sz="1000"/>
          </a:p>
          <a:p>
            <a:pPr indent="-292100" lvl="1" marL="914400" rtl="0" algn="l">
              <a:lnSpc>
                <a:spcPct val="100000"/>
              </a:lnSpc>
              <a:spcBef>
                <a:spcPts val="0"/>
              </a:spcBef>
              <a:spcAft>
                <a:spcPts val="0"/>
              </a:spcAft>
              <a:buSzPts val="1000"/>
              <a:buChar char="○"/>
            </a:pPr>
            <a:r>
              <a:rPr lang="en" sz="1000"/>
              <a:t>Calling the </a:t>
            </a:r>
            <a:r>
              <a:rPr lang="en" sz="1000">
                <a:solidFill>
                  <a:srgbClr val="FF0000"/>
                </a:solidFill>
                <a:latin typeface="Courier New"/>
                <a:ea typeface="Courier New"/>
                <a:cs typeface="Courier New"/>
                <a:sym typeface="Courier New"/>
              </a:rPr>
              <a:t>lock.lock()</a:t>
            </a:r>
            <a:r>
              <a:rPr lang="en" sz="1000"/>
              <a:t> method </a:t>
            </a:r>
            <a:r>
              <a:rPr b="1" i="1" lang="en" sz="1000">
                <a:solidFill>
                  <a:srgbClr val="FF0000"/>
                </a:solidFill>
              </a:rPr>
              <a:t>surrenders</a:t>
            </a:r>
            <a:r>
              <a:rPr lang="en" sz="1000">
                <a:solidFill>
                  <a:srgbClr val="FF0000"/>
                </a:solidFill>
              </a:rPr>
              <a:t> </a:t>
            </a:r>
            <a:r>
              <a:rPr lang="en" sz="1000"/>
              <a:t>the lock! This means that, while </a:t>
            </a:r>
            <a:r>
              <a:rPr b="1" i="1" lang="en" sz="1000">
                <a:solidFill>
                  <a:srgbClr val="FF0000"/>
                </a:solidFill>
              </a:rPr>
              <a:t>one </a:t>
            </a:r>
            <a:r>
              <a:rPr lang="en" sz="1000"/>
              <a:t>thread is waiting, </a:t>
            </a:r>
            <a:r>
              <a:rPr b="1" i="1" lang="en" sz="1000">
                <a:solidFill>
                  <a:srgbClr val="FF0000"/>
                </a:solidFill>
              </a:rPr>
              <a:t>another</a:t>
            </a:r>
            <a:r>
              <a:rPr lang="en" sz="1000">
                <a:solidFill>
                  <a:srgbClr val="FF0000"/>
                </a:solidFill>
              </a:rPr>
              <a:t> </a:t>
            </a:r>
            <a:r>
              <a:rPr lang="en" sz="1000"/>
              <a:t>thread may </a:t>
            </a:r>
            <a:r>
              <a:rPr b="1" i="1" lang="en" sz="1000">
                <a:solidFill>
                  <a:srgbClr val="FF0000"/>
                </a:solidFill>
              </a:rPr>
              <a:t>obtain the lock</a:t>
            </a:r>
            <a:r>
              <a:rPr lang="en" sz="1000"/>
              <a:t>.</a:t>
            </a:r>
            <a:endParaRPr sz="1000"/>
          </a:p>
        </p:txBody>
      </p:sp>
      <p:sp>
        <p:nvSpPr>
          <p:cNvPr id="619" name="Google Shape;619;p56"/>
          <p:cNvSpPr/>
          <p:nvPr/>
        </p:nvSpPr>
        <p:spPr>
          <a:xfrm>
            <a:off x="5288925" y="1112500"/>
            <a:ext cx="229422" cy="796411"/>
          </a:xfrm>
          <a:custGeom>
            <a:rect b="b" l="l" r="r" t="t"/>
            <a:pathLst>
              <a:path extrusionOk="0" h="13771" w="4957">
                <a:moveTo>
                  <a:pt x="4957" y="0"/>
                </a:moveTo>
                <a:cubicBezTo>
                  <a:pt x="4131" y="1240"/>
                  <a:pt x="0" y="5142"/>
                  <a:pt x="0" y="7437"/>
                </a:cubicBezTo>
                <a:cubicBezTo>
                  <a:pt x="0" y="9732"/>
                  <a:pt x="4131" y="12715"/>
                  <a:pt x="4957" y="13771"/>
                </a:cubicBezTo>
              </a:path>
            </a:pathLst>
          </a:custGeom>
          <a:noFill/>
          <a:ln cap="flat" cmpd="sng" w="19050">
            <a:solidFill>
              <a:srgbClr val="FF0000"/>
            </a:solidFill>
            <a:prstDash val="solid"/>
            <a:round/>
            <a:headEnd len="med" w="med" type="none"/>
            <a:tailEnd len="med" w="med" type="triangle"/>
          </a:ln>
        </p:spPr>
      </p:sp>
      <p:sp>
        <p:nvSpPr>
          <p:cNvPr id="620" name="Google Shape;620;p56"/>
          <p:cNvSpPr txBox="1"/>
          <p:nvPr>
            <p:ph idx="3" type="body"/>
          </p:nvPr>
        </p:nvSpPr>
        <p:spPr>
          <a:xfrm>
            <a:off x="5036125" y="615393"/>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Before a thread can </a:t>
            </a:r>
            <a:r>
              <a:rPr b="1" i="1" lang="en">
                <a:solidFill>
                  <a:srgbClr val="FF0000"/>
                </a:solidFill>
              </a:rPr>
              <a:t>wait</a:t>
            </a:r>
            <a:r>
              <a:rPr lang="en"/>
              <a:t>, it must obtain a </a:t>
            </a:r>
            <a:r>
              <a:rPr b="1" i="1" lang="en">
                <a:solidFill>
                  <a:srgbClr val="FF0000"/>
                </a:solidFill>
              </a:rPr>
              <a:t>mutually exclusive lock</a:t>
            </a:r>
            <a:r>
              <a:rPr lang="en"/>
              <a:t>. </a:t>
            </a:r>
            <a:endParaRPr/>
          </a:p>
        </p:txBody>
      </p:sp>
      <p:sp>
        <p:nvSpPr>
          <p:cNvPr id="621" name="Google Shape;621;p56"/>
          <p:cNvSpPr/>
          <p:nvPr/>
        </p:nvSpPr>
        <p:spPr>
          <a:xfrm>
            <a:off x="4930100" y="2139051"/>
            <a:ext cx="648603" cy="1199377"/>
          </a:xfrm>
          <a:custGeom>
            <a:rect b="b" l="l" r="r" t="t"/>
            <a:pathLst>
              <a:path extrusionOk="0" h="64448" w="45081">
                <a:moveTo>
                  <a:pt x="12306" y="64448"/>
                </a:moveTo>
                <a:cubicBezTo>
                  <a:pt x="10470" y="56140"/>
                  <a:pt x="-4173" y="25338"/>
                  <a:pt x="1289" y="14597"/>
                </a:cubicBezTo>
                <a:cubicBezTo>
                  <a:pt x="6752" y="3856"/>
                  <a:pt x="37782" y="2433"/>
                  <a:pt x="45081" y="0"/>
                </a:cubicBezTo>
              </a:path>
            </a:pathLst>
          </a:custGeom>
          <a:noFill/>
          <a:ln cap="flat" cmpd="sng" w="19050">
            <a:solidFill>
              <a:srgbClr val="FF0000"/>
            </a:solidFill>
            <a:prstDash val="solid"/>
            <a:round/>
            <a:headEnd len="med" w="med" type="none"/>
            <a:tailEnd len="med" w="med" type="triangle"/>
          </a:ln>
        </p:spPr>
      </p:sp>
      <p:sp>
        <p:nvSpPr>
          <p:cNvPr id="622" name="Google Shape;622;p56"/>
          <p:cNvSpPr txBox="1"/>
          <p:nvPr>
            <p:ph idx="3" type="body"/>
          </p:nvPr>
        </p:nvSpPr>
        <p:spPr>
          <a:xfrm>
            <a:off x="5036125" y="309691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Once the lock is obtained, calling the </a:t>
            </a:r>
            <a:r>
              <a:rPr lang="en">
                <a:solidFill>
                  <a:srgbClr val="FF0000"/>
                </a:solidFill>
                <a:latin typeface="Courier New"/>
                <a:ea typeface="Courier New"/>
                <a:cs typeface="Courier New"/>
                <a:sym typeface="Courier New"/>
              </a:rPr>
              <a:t>lock</a:t>
            </a:r>
            <a:r>
              <a:rPr lang="en">
                <a:solidFill>
                  <a:srgbClr val="FF0000"/>
                </a:solidFill>
                <a:latin typeface="Courier New"/>
                <a:ea typeface="Courier New"/>
                <a:cs typeface="Courier New"/>
                <a:sym typeface="Courier New"/>
              </a:rPr>
              <a:t>()</a:t>
            </a:r>
            <a:r>
              <a:rPr lang="en">
                <a:solidFill>
                  <a:srgbClr val="FF0000"/>
                </a:solidFill>
              </a:rPr>
              <a:t> </a:t>
            </a:r>
            <a:r>
              <a:rPr lang="en"/>
              <a:t>method on a linked condition will </a:t>
            </a:r>
            <a:r>
              <a:rPr b="1" i="1" lang="en">
                <a:solidFill>
                  <a:srgbClr val="FF0000"/>
                </a:solidFill>
              </a:rPr>
              <a:t>suspend execution</a:t>
            </a:r>
            <a:r>
              <a:rPr lang="en"/>
              <a:t> of the current thread </a:t>
            </a:r>
            <a:r>
              <a:rPr b="1" i="1" lang="en">
                <a:solidFill>
                  <a:srgbClr val="FF0000"/>
                </a:solidFill>
              </a:rPr>
              <a:t>indefinitely</a:t>
            </a:r>
            <a:r>
              <a:rPr lang="en"/>
              <a:t>.</a:t>
            </a:r>
            <a:endParaRPr/>
          </a:p>
        </p:txBody>
      </p:sp>
      <p:sp>
        <p:nvSpPr>
          <p:cNvPr id="623" name="Google Shape;623;p56"/>
          <p:cNvSpPr txBox="1"/>
          <p:nvPr>
            <p:ph idx="3" type="body"/>
          </p:nvPr>
        </p:nvSpPr>
        <p:spPr>
          <a:xfrm>
            <a:off x="5039825" y="391706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Waiting also </a:t>
            </a:r>
            <a:r>
              <a:rPr b="1" i="1" lang="en">
                <a:solidFill>
                  <a:srgbClr val="FF0000"/>
                </a:solidFill>
              </a:rPr>
              <a:t>gives up the lock</a:t>
            </a:r>
            <a:r>
              <a:rPr lang="en"/>
              <a:t> so that some other thread may now acquire it.</a:t>
            </a:r>
            <a:endParaRPr/>
          </a:p>
        </p:txBody>
      </p:sp>
      <p:sp>
        <p:nvSpPr>
          <p:cNvPr id="624" name="Google Shape;624;p56"/>
          <p:cNvSpPr/>
          <p:nvPr/>
        </p:nvSpPr>
        <p:spPr>
          <a:xfrm>
            <a:off x="7945975" y="2275927"/>
            <a:ext cx="1058000" cy="2540750"/>
          </a:xfrm>
          <a:custGeom>
            <a:rect b="b" l="l" r="r" t="t"/>
            <a:pathLst>
              <a:path extrusionOk="0" h="101630" w="42320">
                <a:moveTo>
                  <a:pt x="29745" y="101630"/>
                </a:moveTo>
                <a:cubicBezTo>
                  <a:pt x="31811" y="93735"/>
                  <a:pt x="41451" y="67983"/>
                  <a:pt x="42139" y="54258"/>
                </a:cubicBezTo>
                <a:cubicBezTo>
                  <a:pt x="42828" y="40533"/>
                  <a:pt x="40899" y="28322"/>
                  <a:pt x="33876" y="19279"/>
                </a:cubicBezTo>
                <a:cubicBezTo>
                  <a:pt x="26853" y="10236"/>
                  <a:pt x="5646" y="3213"/>
                  <a:pt x="0" y="0"/>
                </a:cubicBezTo>
              </a:path>
            </a:pathLst>
          </a:custGeom>
          <a:noFill/>
          <a:ln cap="flat" cmpd="sng" w="19050">
            <a:solidFill>
              <a:srgbClr val="FF0000"/>
            </a:solidFill>
            <a:prstDash val="solid"/>
            <a:round/>
            <a:headEnd len="med" w="med" type="none"/>
            <a:tailEnd len="med" w="med" type="triangle"/>
          </a:ln>
        </p:spPr>
      </p:sp>
      <p:sp>
        <p:nvSpPr>
          <p:cNvPr id="625" name="Google Shape;625;p56"/>
          <p:cNvSpPr txBox="1"/>
          <p:nvPr>
            <p:ph idx="3" type="body"/>
          </p:nvPr>
        </p:nvSpPr>
        <p:spPr>
          <a:xfrm>
            <a:off x="5036125" y="4534303"/>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Conditions have an </a:t>
            </a:r>
            <a:r>
              <a:rPr b="1" i="1" lang="en">
                <a:solidFill>
                  <a:srgbClr val="FF0000"/>
                </a:solidFill>
              </a:rPr>
              <a:t>uninterruptible</a:t>
            </a:r>
            <a:r>
              <a:rPr b="1" i="1" lang="en">
                <a:solidFill>
                  <a:srgbClr val="FF0000"/>
                </a:solidFill>
              </a:rPr>
              <a:t> </a:t>
            </a:r>
            <a:r>
              <a:rPr lang="en"/>
              <a:t>wait which </a:t>
            </a:r>
            <a:r>
              <a:rPr lang="en"/>
              <a:t>eliminates</a:t>
            </a:r>
            <a:r>
              <a:rPr lang="en"/>
              <a:t> the need for a checked </a:t>
            </a:r>
            <a:r>
              <a:rPr lang="en"/>
              <a:t>exception</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1000"/>
                                        <p:tgtEl>
                                          <p:spTgt spid="620"/>
                                        </p:tgtEl>
                                      </p:cBhvr>
                                    </p:animEffect>
                                  </p:childTnLst>
                                </p:cTn>
                              </p:par>
                              <p:par>
                                <p:cTn fill="hold" nodeType="with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1000"/>
                                        <p:tgtEl>
                                          <p:spTgt spid="6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1000"/>
                                        <p:tgtEl>
                                          <p:spTgt spid="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1000"/>
                                        <p:tgtEl>
                                          <p:spTgt spid="6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1000"/>
                                        <p:tgtEl>
                                          <p:spTgt spid="6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1" name="Google Shape;631;p5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Conditions in Detail</a:t>
            </a:r>
            <a:endParaRPr/>
          </a:p>
        </p:txBody>
      </p:sp>
      <p:sp>
        <p:nvSpPr>
          <p:cNvPr id="632" name="Google Shape;632;p57"/>
          <p:cNvSpPr txBox="1"/>
          <p:nvPr/>
        </p:nvSpPr>
        <p:spPr>
          <a:xfrm>
            <a:off x="3743475" y="1691600"/>
            <a:ext cx="4728900" cy="30003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0">
                <a:solidFill>
                  <a:schemeClr val="accent5"/>
                </a:solidFill>
                <a:latin typeface="Consolas"/>
                <a:ea typeface="Consolas"/>
                <a:cs typeface="Consolas"/>
                <a:sym typeface="Consolas"/>
              </a:rPr>
              <a:t>1</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Lock</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ReentrantLock</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2</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Condition</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open</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newCondition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3</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4</a:t>
            </a:r>
            <a:endParaRPr sz="105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5</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Car</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6</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7</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Car</a:t>
            </a: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 </a:t>
            </a:r>
            <a:r>
              <a:rPr lang="en" sz="1050">
                <a:solidFill>
                  <a:srgbClr val="0000FF"/>
                </a:solidFill>
                <a:highlight>
                  <a:srgbClr val="FFFFFF"/>
                </a:highlight>
                <a:latin typeface="Consolas"/>
                <a:ea typeface="Consolas"/>
                <a:cs typeface="Consolas"/>
                <a:sym typeface="Consolas"/>
              </a:rPr>
              <a:t>this</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8</a:t>
            </a:r>
            <a:endParaRPr sz="105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9</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payToll</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10</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try</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11</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lock</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12</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"Car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 payed."</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13</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open</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awaitUninterruptibly</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14</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"Car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 left."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15</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finally</a:t>
            </a:r>
            <a:r>
              <a:rPr lang="en" sz="1050">
                <a:solidFill>
                  <a:srgbClr val="3B3B3B"/>
                </a:solidFill>
                <a:highlight>
                  <a:srgbClr val="FFFFFF"/>
                </a:highlight>
                <a:latin typeface="Consolas"/>
                <a:ea typeface="Consolas"/>
                <a:cs typeface="Consolas"/>
                <a:sym typeface="Consolas"/>
              </a:rPr>
              <a:t> {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unlock</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16</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17</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latin typeface="Consolas"/>
                <a:ea typeface="Consolas"/>
                <a:cs typeface="Consolas"/>
                <a:sym typeface="Consolas"/>
              </a:rPr>
              <a:t>18</a:t>
            </a:r>
            <a:r>
              <a:rPr lang="en" sz="1050">
                <a:solidFill>
                  <a:schemeClr val="dk2"/>
                </a:solidFill>
                <a:latin typeface="Consolas"/>
                <a:ea typeface="Consolas"/>
                <a:cs typeface="Consolas"/>
                <a:sym typeface="Consolas"/>
              </a:rPr>
              <a:t> </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633" name="Google Shape;633;p57"/>
          <p:cNvSpPr txBox="1"/>
          <p:nvPr>
            <p:ph idx="4294967295" type="body"/>
          </p:nvPr>
        </p:nvSpPr>
        <p:spPr>
          <a:xfrm>
            <a:off x="176350" y="1691600"/>
            <a:ext cx="3162600" cy="61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600"/>
              </a:spcAft>
              <a:buNone/>
            </a:pPr>
            <a:r>
              <a:rPr lang="en"/>
              <a:t>A </a:t>
            </a:r>
            <a:r>
              <a:rPr b="1" i="1" lang="en">
                <a:solidFill>
                  <a:srgbClr val="FF0000"/>
                </a:solidFill>
              </a:rPr>
              <a:t>condition</a:t>
            </a:r>
            <a:r>
              <a:rPr lang="en"/>
              <a:t> is associated with a </a:t>
            </a:r>
            <a:r>
              <a:rPr lang="en">
                <a:latin typeface="Courier New"/>
                <a:ea typeface="Courier New"/>
                <a:cs typeface="Courier New"/>
                <a:sym typeface="Courier New"/>
              </a:rPr>
              <a:t>Lock</a:t>
            </a:r>
            <a:r>
              <a:rPr lang="en"/>
              <a:t>. Each lock can have many </a:t>
            </a:r>
            <a:r>
              <a:rPr lang="en"/>
              <a:t>conditions</a:t>
            </a:r>
            <a:r>
              <a:rPr lang="en"/>
              <a:t>.</a:t>
            </a:r>
            <a:endParaRPr/>
          </a:p>
        </p:txBody>
      </p:sp>
      <p:sp>
        <p:nvSpPr>
          <p:cNvPr id="634" name="Google Shape;634;p57"/>
          <p:cNvSpPr/>
          <p:nvPr/>
        </p:nvSpPr>
        <p:spPr>
          <a:xfrm>
            <a:off x="5584750" y="1945151"/>
            <a:ext cx="2656200" cy="175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35" name="Google Shape;635;p57"/>
          <p:cNvCxnSpPr>
            <a:stCxn id="633" idx="3"/>
            <a:endCxn id="634" idx="3"/>
          </p:cNvCxnSpPr>
          <p:nvPr/>
        </p:nvCxnSpPr>
        <p:spPr>
          <a:xfrm>
            <a:off x="3338950" y="1999100"/>
            <a:ext cx="4902000" cy="33600"/>
          </a:xfrm>
          <a:prstGeom prst="bentConnector5">
            <a:avLst>
              <a:gd fmla="val 5543" name="adj1"/>
              <a:gd fmla="val -1508110" name="adj2"/>
              <a:gd fmla="val 110962" name="adj3"/>
            </a:avLst>
          </a:prstGeom>
          <a:noFill/>
          <a:ln cap="flat" cmpd="sng" w="19050">
            <a:solidFill>
              <a:srgbClr val="FF0000"/>
            </a:solidFill>
            <a:prstDash val="solid"/>
            <a:round/>
            <a:headEnd len="med" w="med" type="none"/>
            <a:tailEnd len="med" w="med" type="none"/>
          </a:ln>
        </p:spPr>
      </p:cxnSp>
      <p:sp>
        <p:nvSpPr>
          <p:cNvPr id="636" name="Google Shape;636;p57"/>
          <p:cNvSpPr txBox="1"/>
          <p:nvPr>
            <p:ph idx="4294967295" type="body"/>
          </p:nvPr>
        </p:nvSpPr>
        <p:spPr>
          <a:xfrm>
            <a:off x="176350" y="2489975"/>
            <a:ext cx="3162600" cy="61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600"/>
              </a:spcAft>
              <a:buNone/>
            </a:pPr>
            <a:r>
              <a:rPr lang="en"/>
              <a:t>Before a condition can be used, its associated </a:t>
            </a:r>
            <a:r>
              <a:rPr lang="en">
                <a:latin typeface="Courier New"/>
                <a:ea typeface="Courier New"/>
                <a:cs typeface="Courier New"/>
                <a:sym typeface="Courier New"/>
              </a:rPr>
              <a:t>Lock</a:t>
            </a:r>
            <a:r>
              <a:rPr lang="en"/>
              <a:t> must be </a:t>
            </a:r>
            <a:r>
              <a:rPr b="1" i="1" lang="en">
                <a:solidFill>
                  <a:srgbClr val="FF0000"/>
                </a:solidFill>
              </a:rPr>
              <a:t>locked</a:t>
            </a:r>
            <a:r>
              <a:rPr lang="en"/>
              <a:t>.</a:t>
            </a:r>
            <a:endParaRPr/>
          </a:p>
        </p:txBody>
      </p:sp>
      <p:sp>
        <p:nvSpPr>
          <p:cNvPr id="637" name="Google Shape;637;p57"/>
          <p:cNvSpPr/>
          <p:nvPr/>
        </p:nvSpPr>
        <p:spPr>
          <a:xfrm>
            <a:off x="4614252" y="3389450"/>
            <a:ext cx="1024800" cy="175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38" name="Google Shape;638;p57"/>
          <p:cNvCxnSpPr>
            <a:stCxn id="636" idx="3"/>
            <a:endCxn id="637" idx="1"/>
          </p:cNvCxnSpPr>
          <p:nvPr/>
        </p:nvCxnSpPr>
        <p:spPr>
          <a:xfrm>
            <a:off x="3338950" y="2797475"/>
            <a:ext cx="1275300" cy="679500"/>
          </a:xfrm>
          <a:prstGeom prst="bentConnector3">
            <a:avLst>
              <a:gd fmla="val 21779" name="adj1"/>
            </a:avLst>
          </a:prstGeom>
          <a:noFill/>
          <a:ln cap="flat" cmpd="sng" w="19050">
            <a:solidFill>
              <a:srgbClr val="FF0000"/>
            </a:solidFill>
            <a:prstDash val="solid"/>
            <a:round/>
            <a:headEnd len="med" w="med" type="none"/>
            <a:tailEnd len="med" w="med" type="none"/>
          </a:ln>
        </p:spPr>
      </p:cxnSp>
      <p:sp>
        <p:nvSpPr>
          <p:cNvPr id="639" name="Google Shape;639;p57"/>
          <p:cNvSpPr txBox="1"/>
          <p:nvPr>
            <p:ph idx="4294967295" type="body"/>
          </p:nvPr>
        </p:nvSpPr>
        <p:spPr>
          <a:xfrm>
            <a:off x="176350" y="3288350"/>
            <a:ext cx="3162600" cy="61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600"/>
              </a:spcAft>
              <a:buNone/>
            </a:pPr>
            <a:r>
              <a:rPr lang="en"/>
              <a:t>Once locked, the condition can be used. In this case, to </a:t>
            </a:r>
            <a:r>
              <a:rPr b="1" i="1" lang="en">
                <a:solidFill>
                  <a:srgbClr val="FF0000"/>
                </a:solidFill>
              </a:rPr>
              <a:t>wait</a:t>
            </a:r>
            <a:r>
              <a:rPr lang="en"/>
              <a:t> for a signal.</a:t>
            </a:r>
            <a:endParaRPr/>
          </a:p>
        </p:txBody>
      </p:sp>
      <p:sp>
        <p:nvSpPr>
          <p:cNvPr id="640" name="Google Shape;640;p57"/>
          <p:cNvSpPr/>
          <p:nvPr/>
        </p:nvSpPr>
        <p:spPr>
          <a:xfrm>
            <a:off x="4614250" y="3710886"/>
            <a:ext cx="2202000" cy="175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41" name="Google Shape;641;p57"/>
          <p:cNvCxnSpPr>
            <a:stCxn id="639" idx="3"/>
            <a:endCxn id="640" idx="1"/>
          </p:cNvCxnSpPr>
          <p:nvPr/>
        </p:nvCxnSpPr>
        <p:spPr>
          <a:xfrm>
            <a:off x="3338950" y="3595850"/>
            <a:ext cx="1275300" cy="202500"/>
          </a:xfrm>
          <a:prstGeom prst="bentConnector3">
            <a:avLst>
              <a:gd fmla="val 21305" name="adj1"/>
            </a:avLst>
          </a:prstGeom>
          <a:noFill/>
          <a:ln cap="flat" cmpd="sng" w="19050">
            <a:solidFill>
              <a:srgbClr val="FF0000"/>
            </a:solidFill>
            <a:prstDash val="solid"/>
            <a:round/>
            <a:headEnd len="med" w="med" type="none"/>
            <a:tailEnd len="med" w="med" type="none"/>
          </a:ln>
        </p:spPr>
      </p:cxnSp>
      <p:sp>
        <p:nvSpPr>
          <p:cNvPr id="642" name="Google Shape;642;p57"/>
          <p:cNvSpPr txBox="1"/>
          <p:nvPr>
            <p:ph idx="4294967295" type="body"/>
          </p:nvPr>
        </p:nvSpPr>
        <p:spPr>
          <a:xfrm>
            <a:off x="176350" y="4086725"/>
            <a:ext cx="3162600" cy="845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600"/>
              </a:spcAft>
              <a:buNone/>
            </a:pPr>
            <a:r>
              <a:rPr lang="en"/>
              <a:t>Waiting releases the lock, but it will be </a:t>
            </a:r>
            <a:r>
              <a:rPr b="1" i="1" lang="en">
                <a:solidFill>
                  <a:srgbClr val="FF0000"/>
                </a:solidFill>
              </a:rPr>
              <a:t>relocked</a:t>
            </a:r>
            <a:r>
              <a:rPr lang="en"/>
              <a:t> after the wait. So the lock still must be </a:t>
            </a:r>
            <a:r>
              <a:rPr b="1" i="1" lang="en">
                <a:solidFill>
                  <a:srgbClr val="FF0000"/>
                </a:solidFill>
                <a:latin typeface="Arial"/>
                <a:ea typeface="Arial"/>
                <a:cs typeface="Arial"/>
                <a:sym typeface="Arial"/>
              </a:rPr>
              <a:t>unlocked</a:t>
            </a:r>
            <a:r>
              <a:rPr lang="en"/>
              <a:t> when finished.</a:t>
            </a:r>
            <a:endParaRPr/>
          </a:p>
        </p:txBody>
      </p:sp>
      <p:sp>
        <p:nvSpPr>
          <p:cNvPr id="643" name="Google Shape;643;p57"/>
          <p:cNvSpPr/>
          <p:nvPr/>
        </p:nvSpPr>
        <p:spPr>
          <a:xfrm>
            <a:off x="5243563" y="4026263"/>
            <a:ext cx="1113900" cy="175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44" name="Google Shape;644;p57"/>
          <p:cNvCxnSpPr>
            <a:stCxn id="642" idx="3"/>
            <a:endCxn id="643" idx="2"/>
          </p:cNvCxnSpPr>
          <p:nvPr/>
        </p:nvCxnSpPr>
        <p:spPr>
          <a:xfrm flipH="1" rot="10800000">
            <a:off x="3338950" y="4201475"/>
            <a:ext cx="2461500" cy="307800"/>
          </a:xfrm>
          <a:prstGeom prst="bentConnector2">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Wait Before Printing</a:t>
            </a:r>
            <a:endParaRPr/>
          </a:p>
        </p:txBody>
      </p:sp>
      <p:sp>
        <p:nvSpPr>
          <p:cNvPr id="650" name="Google Shape;650;p5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As the old saying goes: there's more than one way to shave a goat! Or, in this case, to make a thread pause its own execution until something interesting happens. Let's practice using the wait method!</a:t>
            </a:r>
            <a:endParaRPr/>
          </a:p>
        </p:txBody>
      </p:sp>
      <p:sp>
        <p:nvSpPr>
          <p:cNvPr id="651" name="Google Shape;651;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2" name="Google Shape;652;p58"/>
          <p:cNvSpPr txBox="1"/>
          <p:nvPr>
            <p:ph idx="2" type="body"/>
          </p:nvPr>
        </p:nvSpPr>
        <p:spPr>
          <a:xfrm>
            <a:off x="3170700" y="1632125"/>
            <a:ext cx="5806800" cy="28476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latin typeface="Courier New"/>
                <a:ea typeface="Courier New"/>
                <a:cs typeface="Courier New"/>
                <a:sym typeface="Courier New"/>
              </a:rPr>
              <a:t>Waiter</a:t>
            </a:r>
            <a:r>
              <a:rPr lang="en" sz="1400"/>
              <a:t>" in the </a:t>
            </a:r>
            <a:r>
              <a:rPr lang="en" sz="1400">
                <a:latin typeface="Courier New"/>
                <a:ea typeface="Courier New"/>
                <a:cs typeface="Courier New"/>
                <a:sym typeface="Courier New"/>
              </a:rPr>
              <a:t>activities</a:t>
            </a:r>
            <a:r>
              <a:rPr lang="en" sz="1400"/>
              <a:t> package and use your preferred method to make to run it as a task.</a:t>
            </a:r>
            <a:endParaRPr sz="1400"/>
          </a:p>
          <a:p>
            <a:pPr indent="-304800" lvl="1" marL="914400" rtl="0" algn="l">
              <a:spcBef>
                <a:spcPts val="0"/>
              </a:spcBef>
              <a:spcAft>
                <a:spcPts val="0"/>
              </a:spcAft>
              <a:buSzPts val="1200"/>
              <a:buChar char="○"/>
            </a:pPr>
            <a:r>
              <a:rPr lang="en" sz="1200"/>
              <a:t>You will need to add a field for a </a:t>
            </a:r>
            <a:r>
              <a:rPr lang="en" sz="1200">
                <a:latin typeface="Courier New"/>
                <a:ea typeface="Courier New"/>
                <a:cs typeface="Courier New"/>
                <a:sym typeface="Courier New"/>
              </a:rPr>
              <a:t>L</a:t>
            </a:r>
            <a:r>
              <a:rPr lang="en" sz="1200">
                <a:latin typeface="Courier New"/>
                <a:ea typeface="Courier New"/>
                <a:cs typeface="Courier New"/>
                <a:sym typeface="Courier New"/>
              </a:rPr>
              <a:t>ock</a:t>
            </a:r>
            <a:r>
              <a:rPr lang="en" sz="1200"/>
              <a:t>, a </a:t>
            </a:r>
            <a:r>
              <a:rPr lang="en" sz="1200">
                <a:latin typeface="Courier New"/>
                <a:ea typeface="Courier New"/>
                <a:cs typeface="Courier New"/>
                <a:sym typeface="Courier New"/>
              </a:rPr>
              <a:t>C</a:t>
            </a:r>
            <a:r>
              <a:rPr lang="en" sz="1200">
                <a:latin typeface="Courier New"/>
                <a:ea typeface="Courier New"/>
                <a:cs typeface="Courier New"/>
                <a:sym typeface="Courier New"/>
              </a:rPr>
              <a:t>ondition</a:t>
            </a:r>
            <a:r>
              <a:rPr lang="en" sz="1200"/>
              <a:t>, </a:t>
            </a:r>
            <a:r>
              <a:rPr lang="en" sz="1200"/>
              <a:t> and an initializing constructor.</a:t>
            </a:r>
            <a:endParaRPr sz="1200"/>
          </a:p>
          <a:p>
            <a:pPr indent="-304800" lvl="1" marL="914400" rtl="0" algn="l">
              <a:spcBef>
                <a:spcPts val="0"/>
              </a:spcBef>
              <a:spcAft>
                <a:spcPts val="0"/>
              </a:spcAft>
              <a:buSzPts val="1200"/>
              <a:buChar char="○"/>
            </a:pPr>
            <a:r>
              <a:rPr lang="en" sz="1200"/>
              <a:t>The </a:t>
            </a:r>
            <a:r>
              <a:rPr lang="en" sz="1200">
                <a:latin typeface="Courier New"/>
                <a:ea typeface="Courier New"/>
                <a:cs typeface="Courier New"/>
                <a:sym typeface="Courier New"/>
              </a:rPr>
              <a:t>run()</a:t>
            </a:r>
            <a:r>
              <a:rPr lang="en" sz="1200"/>
              <a:t> method should </a:t>
            </a:r>
            <a:r>
              <a:rPr lang="en" sz="1200"/>
              <a:t>acquire</a:t>
            </a:r>
            <a:r>
              <a:rPr lang="en" sz="1200"/>
              <a:t> the </a:t>
            </a:r>
            <a:r>
              <a:rPr lang="en" sz="1200">
                <a:latin typeface="Courier New"/>
                <a:ea typeface="Courier New"/>
                <a:cs typeface="Courier New"/>
                <a:sym typeface="Courier New"/>
              </a:rPr>
              <a:t>lock</a:t>
            </a:r>
            <a:r>
              <a:rPr lang="en" sz="1200"/>
              <a:t>, </a:t>
            </a:r>
            <a:r>
              <a:rPr lang="en" sz="1200"/>
              <a:t>use </a:t>
            </a:r>
            <a:r>
              <a:rPr lang="en" sz="1200">
                <a:latin typeface="Courier New"/>
                <a:ea typeface="Courier New"/>
                <a:cs typeface="Courier New"/>
                <a:sym typeface="Courier New"/>
              </a:rPr>
              <a:t>condition</a:t>
            </a:r>
            <a:r>
              <a:rPr lang="en" sz="1200">
                <a:latin typeface="Courier New"/>
                <a:ea typeface="Courier New"/>
                <a:cs typeface="Courier New"/>
                <a:sym typeface="Courier New"/>
              </a:rPr>
              <a:t>.</a:t>
            </a:r>
            <a:r>
              <a:rPr lang="en" sz="1200">
                <a:latin typeface="Courier New"/>
                <a:ea typeface="Courier New"/>
                <a:cs typeface="Courier New"/>
                <a:sym typeface="Courier New"/>
              </a:rPr>
              <a:t>awaitUninterruptibly</a:t>
            </a:r>
            <a:r>
              <a:rPr lang="en" sz="1200">
                <a:latin typeface="Courier New"/>
                <a:ea typeface="Courier New"/>
                <a:cs typeface="Courier New"/>
                <a:sym typeface="Courier New"/>
              </a:rPr>
              <a:t>()</a:t>
            </a:r>
            <a:r>
              <a:rPr lang="en" sz="1200"/>
              <a:t> and then print a message of your choice.</a:t>
            </a:r>
            <a:endParaRPr/>
          </a:p>
          <a:p>
            <a:pPr indent="-317500" lvl="0" marL="457200" rtl="0" algn="l">
              <a:spcBef>
                <a:spcPts val="0"/>
              </a:spcBef>
              <a:spcAft>
                <a:spcPts val="0"/>
              </a:spcAft>
              <a:buSzPts val="1400"/>
              <a:buChar char="●"/>
            </a:pPr>
            <a:r>
              <a:rPr lang="en" sz="1400"/>
              <a:t>Define a </a:t>
            </a:r>
            <a:r>
              <a:rPr lang="en" sz="1400">
                <a:latin typeface="Courier New"/>
                <a:ea typeface="Courier New"/>
                <a:cs typeface="Courier New"/>
                <a:sym typeface="Courier New"/>
              </a:rPr>
              <a:t>main</a:t>
            </a:r>
            <a:r>
              <a:rPr lang="en" sz="1400"/>
              <a:t> method with the appropriate signature.</a:t>
            </a:r>
            <a:endParaRPr sz="1400"/>
          </a:p>
          <a:p>
            <a:pPr indent="-304800" lvl="1" marL="914400" rtl="0" algn="l">
              <a:spcBef>
                <a:spcPts val="0"/>
              </a:spcBef>
              <a:spcAft>
                <a:spcPts val="0"/>
              </a:spcAft>
              <a:buSzPts val="1200"/>
              <a:buChar char="○"/>
            </a:pPr>
            <a:r>
              <a:rPr lang="en" sz="1200"/>
              <a:t>Make a </a:t>
            </a:r>
            <a:r>
              <a:rPr lang="en" sz="1200">
                <a:latin typeface="Courier New"/>
                <a:ea typeface="Courier New"/>
                <a:cs typeface="Courier New"/>
                <a:sym typeface="Courier New"/>
              </a:rPr>
              <a:t>Reentrant </a:t>
            </a:r>
            <a:r>
              <a:rPr lang="en" sz="1200">
                <a:latin typeface="Courier New"/>
                <a:ea typeface="Courier New"/>
                <a:cs typeface="Courier New"/>
                <a:sym typeface="Courier New"/>
              </a:rPr>
              <a:t>lock</a:t>
            </a:r>
            <a:r>
              <a:rPr lang="en" sz="1200"/>
              <a:t> and use it to create and start one of your threads.</a:t>
            </a:r>
            <a:endParaRPr sz="1200"/>
          </a:p>
          <a:p>
            <a:pPr indent="-304800" lvl="1" marL="914400" rtl="0" algn="l">
              <a:spcBef>
                <a:spcPts val="0"/>
              </a:spcBef>
              <a:spcAft>
                <a:spcPts val="0"/>
              </a:spcAft>
              <a:buSzPts val="1200"/>
              <a:buChar char="○"/>
            </a:pPr>
            <a:r>
              <a:rPr lang="en" sz="1200"/>
              <a:t>What happens?</a:t>
            </a:r>
            <a:endParaRPr sz="1200"/>
          </a:p>
        </p:txBody>
      </p:sp>
      <p:sp>
        <p:nvSpPr>
          <p:cNvPr id="653" name="Google Shape;653;p58"/>
          <p:cNvSpPr txBox="1"/>
          <p:nvPr>
            <p:ph idx="3" type="title"/>
          </p:nvPr>
        </p:nvSpPr>
        <p:spPr>
          <a:xfrm>
            <a:off x="65250" y="100"/>
            <a:ext cx="1253700" cy="59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SzPts val="990"/>
              <a:buNone/>
            </a:pPr>
            <a:r>
              <a:rPr lang="en"/>
              <a:t>11.8</a:t>
            </a:r>
            <a:endParaRPr/>
          </a:p>
        </p:txBody>
      </p:sp>
      <p:pic>
        <p:nvPicPr>
          <p:cNvPr id="654" name="Google Shape;654;p58"/>
          <p:cNvPicPr preferRelativeResize="0"/>
          <p:nvPr/>
        </p:nvPicPr>
        <p:blipFill>
          <a:blip r:embed="rId3">
            <a:alphaModFix/>
          </a:blip>
          <a:stretch>
            <a:fillRect/>
          </a:stretch>
        </p:blipFill>
        <p:spPr>
          <a:xfrm>
            <a:off x="854063" y="1630950"/>
            <a:ext cx="1617374" cy="1989099"/>
          </a:xfrm>
          <a:prstGeom prst="rect">
            <a:avLst/>
          </a:prstGeom>
          <a:noFill/>
          <a:ln>
            <a:noFill/>
          </a:ln>
        </p:spPr>
      </p:pic>
      <p:sp>
        <p:nvSpPr>
          <p:cNvPr id="655" name="Google Shape;655;p58"/>
          <p:cNvSpPr txBox="1"/>
          <p:nvPr>
            <p:ph idx="4" type="body"/>
          </p:nvPr>
        </p:nvSpPr>
        <p:spPr>
          <a:xfrm>
            <a:off x="154800" y="3738725"/>
            <a:ext cx="3015900" cy="1043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00">
                <a:solidFill>
                  <a:srgbClr val="AF00DB"/>
                </a:solidFill>
                <a:highlight>
                  <a:srgbClr val="FFFFFF"/>
                </a:highlight>
                <a:latin typeface="Consolas"/>
                <a:ea typeface="Consolas"/>
                <a:cs typeface="Consolas"/>
                <a:sym typeface="Consolas"/>
              </a:rPr>
              <a:t>try</a:t>
            </a:r>
            <a:r>
              <a:rPr lang="en" sz="1100">
                <a:solidFill>
                  <a:srgbClr val="3B3B3B"/>
                </a:solidFill>
                <a:highlight>
                  <a:srgbClr val="FFFFFF"/>
                </a:highlight>
                <a:latin typeface="Consolas"/>
                <a:ea typeface="Consolas"/>
                <a:cs typeface="Consolas"/>
                <a:sym typeface="Consolas"/>
              </a:rPr>
              <a:t> {</a:t>
            </a:r>
            <a:endParaRPr sz="11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endParaRPr sz="11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condition</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awaitUninterruptibly</a:t>
            </a:r>
            <a:r>
              <a:rPr lang="en" sz="1100">
                <a:solidFill>
                  <a:srgbClr val="3B3B3B"/>
                </a:solidFill>
                <a:highlight>
                  <a:srgbClr val="FFFFFF"/>
                </a:highlight>
                <a:latin typeface="Consolas"/>
                <a:ea typeface="Consolas"/>
                <a:cs typeface="Consolas"/>
                <a:sym typeface="Consolas"/>
              </a:rPr>
              <a:t>();</a:t>
            </a:r>
            <a:endParaRPr sz="11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finally</a:t>
            </a:r>
            <a:r>
              <a:rPr lang="en" sz="1100">
                <a:solidFill>
                  <a:srgbClr val="3B3B3B"/>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unlock</a:t>
            </a:r>
            <a:r>
              <a:rPr lang="en" sz="1100">
                <a:solidFill>
                  <a:srgbClr val="3B3B3B"/>
                </a:solidFill>
                <a:highlight>
                  <a:srgbClr val="FFFFFF"/>
                </a:highlight>
                <a:latin typeface="Consolas"/>
                <a:ea typeface="Consolas"/>
                <a:cs typeface="Consolas"/>
                <a:sym typeface="Consolas"/>
              </a:rPr>
              <a:t>(); }</a:t>
            </a:r>
            <a:endParaRPr sz="800">
              <a:solidFill>
                <a:srgbClr val="0000FF"/>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59"/>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Signal</a:t>
            </a:r>
            <a:endParaRPr/>
          </a:p>
        </p:txBody>
      </p:sp>
      <p:sp>
        <p:nvSpPr>
          <p:cNvPr id="661" name="Google Shape;661;p59"/>
          <p:cNvSpPr txBox="1"/>
          <p:nvPr>
            <p:ph idx="1" type="body"/>
          </p:nvPr>
        </p:nvSpPr>
        <p:spPr>
          <a:xfrm>
            <a:off x="4352275" y="150950"/>
            <a:ext cx="4499400" cy="49614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OK, great! Instead of using a wasteful busy/wait or polling on some interval our thread is </a:t>
            </a:r>
            <a:r>
              <a:rPr b="1" i="1" lang="en">
                <a:solidFill>
                  <a:srgbClr val="FF0000"/>
                </a:solidFill>
              </a:rPr>
              <a:t>waiting</a:t>
            </a:r>
            <a:r>
              <a:rPr lang="en"/>
              <a:t>.</a:t>
            </a:r>
            <a:endParaRPr/>
          </a:p>
          <a:p>
            <a:pPr indent="-311150" lvl="0" marL="457200" rtl="0" algn="l">
              <a:lnSpc>
                <a:spcPct val="100000"/>
              </a:lnSpc>
              <a:spcBef>
                <a:spcPts val="1000"/>
              </a:spcBef>
              <a:spcAft>
                <a:spcPts val="0"/>
              </a:spcAft>
              <a:buSzPts val="1300"/>
              <a:buChar char="●"/>
            </a:pPr>
            <a:r>
              <a:rPr b="1" i="1" lang="en">
                <a:solidFill>
                  <a:srgbClr val="FF0000"/>
                </a:solidFill>
              </a:rPr>
              <a:t>Now what?</a:t>
            </a:r>
            <a:endParaRPr b="1" i="1">
              <a:solidFill>
                <a:srgbClr val="FF0000"/>
              </a:solidFill>
            </a:endParaRPr>
          </a:p>
          <a:p>
            <a:pPr indent="-311150" lvl="0" marL="457200" rtl="0" algn="l">
              <a:lnSpc>
                <a:spcPct val="100000"/>
              </a:lnSpc>
              <a:spcBef>
                <a:spcPts val="1000"/>
              </a:spcBef>
              <a:spcAft>
                <a:spcPts val="0"/>
              </a:spcAft>
              <a:buSzPts val="1300"/>
              <a:buChar char="●"/>
            </a:pPr>
            <a:r>
              <a:rPr lang="en"/>
              <a:t>A thread that uses </a:t>
            </a:r>
            <a:r>
              <a:rPr lang="en">
                <a:latin typeface="Courier New"/>
                <a:ea typeface="Courier New"/>
                <a:cs typeface="Courier New"/>
                <a:sym typeface="Courier New"/>
              </a:rPr>
              <a:t>condition</a:t>
            </a:r>
            <a:r>
              <a:rPr lang="en">
                <a:latin typeface="Courier New"/>
                <a:ea typeface="Courier New"/>
                <a:cs typeface="Courier New"/>
                <a:sym typeface="Courier New"/>
              </a:rPr>
              <a:t>.</a:t>
            </a:r>
            <a:r>
              <a:rPr lang="en">
                <a:latin typeface="Courier New"/>
                <a:ea typeface="Courier New"/>
                <a:cs typeface="Courier New"/>
                <a:sym typeface="Courier New"/>
              </a:rPr>
              <a:t>awaitUninterruptibly</a:t>
            </a:r>
            <a:r>
              <a:rPr lang="en">
                <a:latin typeface="Courier New"/>
                <a:ea typeface="Courier New"/>
                <a:cs typeface="Courier New"/>
                <a:sym typeface="Courier New"/>
              </a:rPr>
              <a:t>()</a:t>
            </a:r>
            <a:r>
              <a:rPr lang="en"/>
              <a:t> suspends its execution </a:t>
            </a:r>
            <a:r>
              <a:rPr b="1" i="1" lang="en">
                <a:solidFill>
                  <a:srgbClr val="FF0000"/>
                </a:solidFill>
              </a:rPr>
              <a:t>indefinitely</a:t>
            </a:r>
            <a:r>
              <a:rPr lang="en"/>
              <a:t>.</a:t>
            </a:r>
            <a:endParaRPr/>
          </a:p>
          <a:p>
            <a:pPr indent="-298450" lvl="1" marL="914400" rtl="0" algn="l">
              <a:lnSpc>
                <a:spcPct val="100000"/>
              </a:lnSpc>
              <a:spcBef>
                <a:spcPts val="0"/>
              </a:spcBef>
              <a:spcAft>
                <a:spcPts val="0"/>
              </a:spcAft>
              <a:buSzPts val="1100"/>
              <a:buChar char="○"/>
            </a:pPr>
            <a:r>
              <a:rPr lang="en"/>
              <a:t>This is because it cannot continue working until some important event occurs.</a:t>
            </a:r>
            <a:endParaRPr/>
          </a:p>
          <a:p>
            <a:pPr indent="-311150" lvl="0" marL="457200" rtl="0" algn="l">
              <a:lnSpc>
                <a:spcPct val="100000"/>
              </a:lnSpc>
              <a:spcBef>
                <a:spcPts val="1000"/>
              </a:spcBef>
              <a:spcAft>
                <a:spcPts val="0"/>
              </a:spcAft>
              <a:buSzPts val="1300"/>
              <a:buChar char="●"/>
            </a:pPr>
            <a:r>
              <a:rPr lang="en"/>
              <a:t>This means that some other thread must </a:t>
            </a:r>
            <a:r>
              <a:rPr b="1" i="1" lang="en">
                <a:solidFill>
                  <a:srgbClr val="FF0000"/>
                </a:solidFill>
              </a:rPr>
              <a:t>signal</a:t>
            </a:r>
            <a:r>
              <a:rPr lang="en"/>
              <a:t> it after the important event occurs.</a:t>
            </a:r>
            <a:endParaRPr/>
          </a:p>
          <a:p>
            <a:pPr indent="-311150" lvl="0" marL="457200" rtl="0" algn="l">
              <a:lnSpc>
                <a:spcPct val="100000"/>
              </a:lnSpc>
              <a:spcBef>
                <a:spcPts val="0"/>
              </a:spcBef>
              <a:spcAft>
                <a:spcPts val="0"/>
              </a:spcAft>
              <a:buSzPts val="1300"/>
              <a:buChar char="●"/>
            </a:pPr>
            <a:r>
              <a:rPr lang="en"/>
              <a:t>This is done by first locking on the </a:t>
            </a:r>
            <a:r>
              <a:rPr lang="en">
                <a:solidFill>
                  <a:srgbClr val="FF0000"/>
                </a:solidFill>
              </a:rPr>
              <a:t>same </a:t>
            </a:r>
            <a:r>
              <a:rPr lang="en">
                <a:solidFill>
                  <a:srgbClr val="FF0000"/>
                </a:solidFill>
                <a:latin typeface="Courier New"/>
                <a:ea typeface="Courier New"/>
                <a:cs typeface="Courier New"/>
                <a:sym typeface="Courier New"/>
              </a:rPr>
              <a:t>lock</a:t>
            </a:r>
            <a:r>
              <a:rPr lang="en"/>
              <a:t>.</a:t>
            </a:r>
            <a:endParaRPr/>
          </a:p>
          <a:p>
            <a:pPr indent="-298450" lvl="1" marL="914400" rtl="0" algn="l">
              <a:lnSpc>
                <a:spcPct val="100000"/>
              </a:lnSpc>
              <a:spcBef>
                <a:spcPts val="0"/>
              </a:spcBef>
              <a:spcAft>
                <a:spcPts val="0"/>
              </a:spcAft>
              <a:buSzPts val="1100"/>
              <a:buChar char="○"/>
            </a:pPr>
            <a:r>
              <a:rPr lang="en"/>
              <a:t>Remember, any </a:t>
            </a:r>
            <a:r>
              <a:rPr lang="en"/>
              <a:t>waiting</a:t>
            </a:r>
            <a:r>
              <a:rPr lang="en"/>
              <a:t> </a:t>
            </a:r>
            <a:r>
              <a:rPr lang="en">
                <a:latin typeface="Courier New"/>
                <a:ea typeface="Courier New"/>
                <a:cs typeface="Courier New"/>
                <a:sym typeface="Courier New"/>
              </a:rPr>
              <a:t>Condition</a:t>
            </a:r>
            <a:r>
              <a:rPr lang="en"/>
              <a:t> has </a:t>
            </a:r>
            <a:r>
              <a:rPr b="1" i="1" lang="en">
                <a:solidFill>
                  <a:srgbClr val="FF0000"/>
                </a:solidFill>
              </a:rPr>
              <a:t>surrendered </a:t>
            </a:r>
            <a:r>
              <a:rPr lang="en"/>
              <a:t>its mutually exclusive hold on the </a:t>
            </a:r>
            <a:r>
              <a:rPr lang="en">
                <a:latin typeface="Courier New"/>
                <a:ea typeface="Courier New"/>
                <a:cs typeface="Courier New"/>
                <a:sym typeface="Courier New"/>
              </a:rPr>
              <a:t>lock</a:t>
            </a:r>
            <a:r>
              <a:rPr lang="en"/>
              <a:t>.</a:t>
            </a:r>
            <a:endParaRPr/>
          </a:p>
          <a:p>
            <a:pPr indent="-311150" lvl="0" marL="457200" rtl="0" algn="l">
              <a:lnSpc>
                <a:spcPct val="100000"/>
              </a:lnSpc>
              <a:spcBef>
                <a:spcPts val="1000"/>
              </a:spcBef>
              <a:spcAft>
                <a:spcPts val="0"/>
              </a:spcAft>
              <a:buSzPts val="1300"/>
              <a:buChar char="●"/>
            </a:pPr>
            <a:r>
              <a:rPr lang="en"/>
              <a:t>The</a:t>
            </a:r>
            <a:r>
              <a:rPr lang="en">
                <a:solidFill>
                  <a:srgbClr val="FF0000"/>
                </a:solidFill>
              </a:rPr>
              <a:t> </a:t>
            </a:r>
            <a:r>
              <a:rPr lang="en">
                <a:solidFill>
                  <a:srgbClr val="FF0000"/>
                </a:solidFill>
                <a:latin typeface="Courier New"/>
                <a:ea typeface="Courier New"/>
                <a:cs typeface="Courier New"/>
                <a:sym typeface="Courier New"/>
              </a:rPr>
              <a:t>condition</a:t>
            </a:r>
            <a:r>
              <a:rPr lang="en">
                <a:solidFill>
                  <a:srgbClr val="FF0000"/>
                </a:solidFill>
                <a:latin typeface="Courier New"/>
                <a:ea typeface="Courier New"/>
                <a:cs typeface="Courier New"/>
                <a:sym typeface="Courier New"/>
              </a:rPr>
              <a:t>.signal()</a:t>
            </a:r>
            <a:r>
              <a:rPr lang="en"/>
              <a:t> method can then be used to notify </a:t>
            </a:r>
            <a:r>
              <a:rPr b="1" i="1" lang="en">
                <a:solidFill>
                  <a:srgbClr val="FF0000"/>
                </a:solidFill>
              </a:rPr>
              <a:t>one</a:t>
            </a:r>
            <a:r>
              <a:rPr lang="en">
                <a:solidFill>
                  <a:srgbClr val="FF0000"/>
                </a:solidFill>
              </a:rPr>
              <a:t> </a:t>
            </a:r>
            <a:r>
              <a:rPr lang="en"/>
              <a:t>thread that is waiting on the same </a:t>
            </a:r>
            <a:r>
              <a:rPr lang="en">
                <a:latin typeface="Courier New"/>
                <a:ea typeface="Courier New"/>
                <a:cs typeface="Courier New"/>
                <a:sym typeface="Courier New"/>
              </a:rPr>
              <a:t>condition</a:t>
            </a:r>
            <a:r>
              <a:rPr lang="en"/>
              <a:t>.</a:t>
            </a:r>
            <a:endParaRPr/>
          </a:p>
          <a:p>
            <a:pPr indent="-298450" lvl="1" marL="914400" rtl="0" algn="l">
              <a:lnSpc>
                <a:spcPct val="100000"/>
              </a:lnSpc>
              <a:spcBef>
                <a:spcPts val="0"/>
              </a:spcBef>
              <a:spcAft>
                <a:spcPts val="0"/>
              </a:spcAft>
              <a:buSzPts val="1100"/>
              <a:buChar char="○"/>
            </a:pPr>
            <a:r>
              <a:rPr lang="en"/>
              <a:t>The thread scheduler will choose</a:t>
            </a:r>
            <a:r>
              <a:rPr lang="en">
                <a:solidFill>
                  <a:srgbClr val="FF0000"/>
                </a:solidFill>
              </a:rPr>
              <a:t> </a:t>
            </a:r>
            <a:r>
              <a:rPr b="1" i="1" lang="en">
                <a:solidFill>
                  <a:srgbClr val="FF0000"/>
                </a:solidFill>
              </a:rPr>
              <a:t>exactly one</a:t>
            </a:r>
            <a:r>
              <a:rPr lang="en"/>
              <a:t> waiting thread and move it into the </a:t>
            </a:r>
            <a:r>
              <a:rPr b="1" i="1" lang="en">
                <a:solidFill>
                  <a:srgbClr val="FF0000"/>
                </a:solidFill>
              </a:rPr>
              <a:t>blocked</a:t>
            </a:r>
            <a:r>
              <a:rPr lang="en">
                <a:solidFill>
                  <a:srgbClr val="FF0000"/>
                </a:solidFill>
              </a:rPr>
              <a:t> </a:t>
            </a:r>
            <a:r>
              <a:rPr lang="en"/>
              <a:t>state.</a:t>
            </a:r>
            <a:endParaRPr/>
          </a:p>
          <a:p>
            <a:pPr indent="-298450" lvl="1" marL="914400" rtl="0" algn="l">
              <a:lnSpc>
                <a:spcPct val="100000"/>
              </a:lnSpc>
              <a:spcBef>
                <a:spcPts val="0"/>
              </a:spcBef>
              <a:spcAft>
                <a:spcPts val="0"/>
              </a:spcAft>
              <a:buSzPts val="1100"/>
              <a:buChar char="○"/>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has </a:t>
            </a:r>
            <a:r>
              <a:rPr b="1" i="1" lang="en">
                <a:solidFill>
                  <a:srgbClr val="FF0000"/>
                </a:solidFill>
              </a:rPr>
              <a:t>no effect</a:t>
            </a:r>
            <a:r>
              <a:rPr lang="en"/>
              <a:t> if there aren't any threads waiting on the lock.</a:t>
            </a:r>
            <a:endParaRPr/>
          </a:p>
          <a:p>
            <a:pPr indent="-298450" lvl="1" marL="914400" rtl="0" algn="l">
              <a:lnSpc>
                <a:spcPct val="100000"/>
              </a:lnSpc>
              <a:spcBef>
                <a:spcPts val="0"/>
              </a:spcBef>
              <a:spcAft>
                <a:spcPts val="0"/>
              </a:spcAft>
              <a:buSzPts val="1100"/>
              <a:buChar char="○"/>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also </a:t>
            </a:r>
            <a:r>
              <a:rPr b="1" i="1" lang="en">
                <a:solidFill>
                  <a:srgbClr val="FF0000"/>
                </a:solidFill>
              </a:rPr>
              <a:t>does not</a:t>
            </a:r>
            <a:r>
              <a:rPr lang="en"/>
              <a:t> surrender the lock! The calling thread must </a:t>
            </a:r>
            <a:r>
              <a:rPr b="1" i="1" lang="en">
                <a:solidFill>
                  <a:srgbClr val="FF0000"/>
                </a:solidFill>
              </a:rPr>
              <a:t>voluntarily </a:t>
            </a:r>
            <a:r>
              <a:rPr lang="en"/>
              <a:t>give up the lock by unlocking or waiting.</a:t>
            </a:r>
            <a:endParaRPr/>
          </a:p>
        </p:txBody>
      </p:sp>
      <p:sp>
        <p:nvSpPr>
          <p:cNvPr id="662" name="Google Shape;662;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3" name="Google Shape;663;p59"/>
          <p:cNvSpPr txBox="1"/>
          <p:nvPr>
            <p:ph idx="2" type="body"/>
          </p:nvPr>
        </p:nvSpPr>
        <p:spPr>
          <a:xfrm>
            <a:off x="315425" y="1743375"/>
            <a:ext cx="3706500" cy="1148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50">
                <a:solidFill>
                  <a:schemeClr val="accent5"/>
                </a:solidFill>
                <a:highlight>
                  <a:srgbClr val="FFFFFF"/>
                </a:highlight>
                <a:latin typeface="Consolas"/>
                <a:ea typeface="Consolas"/>
                <a:cs typeface="Consolas"/>
                <a:sym typeface="Consolas"/>
              </a:rPr>
              <a:t>1</a:t>
            </a:r>
            <a:r>
              <a:rPr lang="en" sz="1250">
                <a:solidFill>
                  <a:srgbClr val="AF00DB"/>
                </a:solidFill>
                <a:highlight>
                  <a:srgbClr val="FFFFFF"/>
                </a:highlight>
                <a:latin typeface="Consolas"/>
                <a:ea typeface="Consolas"/>
                <a:cs typeface="Consolas"/>
                <a:sym typeface="Consolas"/>
              </a:rPr>
              <a:t>  try</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50">
                <a:solidFill>
                  <a:schemeClr val="accent5"/>
                </a:solidFill>
                <a:highlight>
                  <a:srgbClr val="FFFFFF"/>
                </a:highlight>
                <a:latin typeface="Consolas"/>
                <a:ea typeface="Consolas"/>
                <a:cs typeface="Consolas"/>
                <a:sym typeface="Consolas"/>
              </a:rPr>
              <a:t>2</a:t>
            </a:r>
            <a:r>
              <a:rPr lang="en" sz="1250">
                <a:solidFill>
                  <a:srgbClr val="001080"/>
                </a:solidFill>
                <a:highlight>
                  <a:srgbClr val="FFFFFF"/>
                </a:highlight>
                <a:latin typeface="Consolas"/>
                <a:ea typeface="Consolas"/>
                <a:cs typeface="Consolas"/>
                <a:sym typeface="Consolas"/>
              </a:rPr>
              <a:t>     lock</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lock</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50">
                <a:solidFill>
                  <a:schemeClr val="accent5"/>
                </a:solidFill>
                <a:highlight>
                  <a:srgbClr val="FFFFFF"/>
                </a:highlight>
                <a:latin typeface="Consolas"/>
                <a:ea typeface="Consolas"/>
                <a:cs typeface="Consolas"/>
                <a:sym typeface="Consolas"/>
              </a:rPr>
              <a:t>3</a:t>
            </a:r>
            <a:r>
              <a:rPr lang="en" sz="1250">
                <a:solidFill>
                  <a:srgbClr val="001080"/>
                </a:solidFill>
                <a:highlight>
                  <a:srgbClr val="FFFFFF"/>
                </a:highlight>
                <a:latin typeface="Consolas"/>
                <a:ea typeface="Consolas"/>
                <a:cs typeface="Consolas"/>
                <a:sym typeface="Consolas"/>
              </a:rPr>
              <a:t>     condition</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signal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50">
                <a:solidFill>
                  <a:srgbClr val="267F99"/>
                </a:solidFill>
                <a:highlight>
                  <a:srgbClr val="FFFFFF"/>
                </a:highlight>
                <a:latin typeface="Consolas"/>
                <a:ea typeface="Consolas"/>
                <a:cs typeface="Consolas"/>
                <a:sym typeface="Consolas"/>
              </a:rPr>
              <a:t>4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A31515"/>
                </a:solidFill>
                <a:highlight>
                  <a:srgbClr val="FFFFFF"/>
                </a:highlight>
                <a:latin typeface="Consolas"/>
                <a:ea typeface="Consolas"/>
                <a:cs typeface="Consolas"/>
                <a:sym typeface="Consolas"/>
              </a:rPr>
              <a:t>"Notified!"</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50">
                <a:solidFill>
                  <a:schemeClr val="accent5"/>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 </a:t>
            </a:r>
            <a:r>
              <a:rPr lang="en" sz="1250">
                <a:solidFill>
                  <a:srgbClr val="AF00DB"/>
                </a:solidFill>
                <a:highlight>
                  <a:srgbClr val="FFFFFF"/>
                </a:highlight>
                <a:latin typeface="Consolas"/>
                <a:ea typeface="Consolas"/>
                <a:cs typeface="Consolas"/>
                <a:sym typeface="Consolas"/>
              </a:rPr>
              <a:t>finally</a:t>
            </a:r>
            <a:r>
              <a:rPr lang="en" sz="1250">
                <a:solidFill>
                  <a:srgbClr val="3B3B3B"/>
                </a:solidFill>
                <a:highlight>
                  <a:srgbClr val="FFFFFF"/>
                </a:highlight>
                <a:latin typeface="Consolas"/>
                <a:ea typeface="Consolas"/>
                <a:cs typeface="Consolas"/>
                <a:sym typeface="Consolas"/>
              </a:rPr>
              <a:t> { </a:t>
            </a:r>
            <a:r>
              <a:rPr lang="en" sz="1250">
                <a:solidFill>
                  <a:srgbClr val="001080"/>
                </a:solidFill>
                <a:highlight>
                  <a:srgbClr val="FFFFFF"/>
                </a:highlight>
                <a:latin typeface="Consolas"/>
                <a:ea typeface="Consolas"/>
                <a:cs typeface="Consolas"/>
                <a:sym typeface="Consolas"/>
              </a:rPr>
              <a:t>lock</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unlock</a:t>
            </a:r>
            <a:r>
              <a:rPr lang="en" sz="1250">
                <a:solidFill>
                  <a:srgbClr val="3B3B3B"/>
                </a:solidFill>
                <a:highlight>
                  <a:srgbClr val="FFFFFF"/>
                </a:highlight>
                <a:latin typeface="Consolas"/>
                <a:ea typeface="Consolas"/>
                <a:cs typeface="Consolas"/>
                <a:sym typeface="Consolas"/>
              </a:rPr>
              <a:t>(); }</a:t>
            </a:r>
            <a:endParaRPr sz="1400">
              <a:solidFill>
                <a:srgbClr val="098658"/>
              </a:solidFill>
              <a:latin typeface="Consolas"/>
              <a:ea typeface="Consolas"/>
              <a:cs typeface="Consolas"/>
              <a:sym typeface="Consolas"/>
            </a:endParaRPr>
          </a:p>
        </p:txBody>
      </p:sp>
      <p:sp>
        <p:nvSpPr>
          <p:cNvPr id="664" name="Google Shape;664;p59"/>
          <p:cNvSpPr txBox="1"/>
          <p:nvPr>
            <p:ph idx="3" type="body"/>
          </p:nvPr>
        </p:nvSpPr>
        <p:spPr>
          <a:xfrm>
            <a:off x="311725" y="3853225"/>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a:t>
            </a:r>
            <a:r>
              <a:rPr b="1" i="1" lang="en">
                <a:solidFill>
                  <a:srgbClr val="FF0000"/>
                </a:solidFill>
              </a:rPr>
              <a:t>does not</a:t>
            </a:r>
            <a:r>
              <a:rPr lang="en"/>
              <a:t> surrender the lock, and so a thread that has been notified will </a:t>
            </a:r>
            <a:r>
              <a:rPr b="1" i="1" lang="en">
                <a:solidFill>
                  <a:srgbClr val="FF0000"/>
                </a:solidFill>
              </a:rPr>
              <a:t>continue to be blocked</a:t>
            </a:r>
            <a:r>
              <a:rPr lang="en"/>
              <a:t> until the calling thread gives up the lock.</a:t>
            </a:r>
            <a:endParaRPr/>
          </a:p>
        </p:txBody>
      </p:sp>
      <p:sp>
        <p:nvSpPr>
          <p:cNvPr id="665" name="Google Shape;665;p59"/>
          <p:cNvSpPr/>
          <p:nvPr/>
        </p:nvSpPr>
        <p:spPr>
          <a:xfrm flipH="1">
            <a:off x="1887999" y="1585825"/>
            <a:ext cx="407826" cy="528374"/>
          </a:xfrm>
          <a:custGeom>
            <a:rect b="b" l="l" r="r" t="t"/>
            <a:pathLst>
              <a:path extrusionOk="0" h="14322" w="9978">
                <a:moveTo>
                  <a:pt x="9978" y="0"/>
                </a:moveTo>
                <a:cubicBezTo>
                  <a:pt x="8326" y="918"/>
                  <a:pt x="568" y="3122"/>
                  <a:pt x="63" y="5509"/>
                </a:cubicBezTo>
                <a:cubicBezTo>
                  <a:pt x="-442" y="7896"/>
                  <a:pt x="5801" y="12853"/>
                  <a:pt x="6948" y="14322"/>
                </a:cubicBezTo>
              </a:path>
            </a:pathLst>
          </a:custGeom>
          <a:noFill/>
          <a:ln cap="flat" cmpd="sng" w="19050">
            <a:solidFill>
              <a:srgbClr val="FF0000"/>
            </a:solidFill>
            <a:prstDash val="solid"/>
            <a:round/>
            <a:headEnd len="med" w="med" type="none"/>
            <a:tailEnd len="med" w="med" type="triangle"/>
          </a:ln>
        </p:spPr>
      </p:sp>
      <p:sp>
        <p:nvSpPr>
          <p:cNvPr id="666" name="Google Shape;666;p59"/>
          <p:cNvSpPr txBox="1"/>
          <p:nvPr>
            <p:ph idx="3" type="body"/>
          </p:nvPr>
        </p:nvSpPr>
        <p:spPr>
          <a:xfrm>
            <a:off x="311725" y="8745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Before a thread can </a:t>
            </a:r>
            <a:r>
              <a:rPr b="1" i="1" lang="en">
                <a:solidFill>
                  <a:srgbClr val="FF0000"/>
                </a:solidFill>
              </a:rPr>
              <a:t>signal</a:t>
            </a:r>
            <a:r>
              <a:rPr lang="en"/>
              <a:t>, it must obtain a </a:t>
            </a:r>
            <a:r>
              <a:rPr b="1" i="1" lang="en">
                <a:solidFill>
                  <a:srgbClr val="FF0000"/>
                </a:solidFill>
              </a:rPr>
              <a:t>mutually exclusive lock</a:t>
            </a:r>
            <a:r>
              <a:rPr lang="en">
                <a:solidFill>
                  <a:srgbClr val="FF0000"/>
                </a:solidFill>
              </a:rPr>
              <a:t> </a:t>
            </a:r>
            <a:r>
              <a:rPr lang="en"/>
              <a:t>on some </a:t>
            </a:r>
            <a:r>
              <a:rPr b="1" i="1" lang="en">
                <a:solidFill>
                  <a:srgbClr val="FF0000"/>
                </a:solidFill>
              </a:rPr>
              <a:t>conditions lock</a:t>
            </a:r>
            <a:r>
              <a:rPr lang="en"/>
              <a:t>. The </a:t>
            </a:r>
            <a:r>
              <a:rPr lang="en"/>
              <a:t>lock</a:t>
            </a:r>
            <a:r>
              <a:rPr lang="en"/>
              <a:t> is usually a </a:t>
            </a:r>
            <a:r>
              <a:rPr b="1" i="1" lang="en">
                <a:solidFill>
                  <a:srgbClr val="FF0000"/>
                </a:solidFill>
              </a:rPr>
              <a:t>shared resource</a:t>
            </a:r>
            <a:r>
              <a:rPr lang="en"/>
              <a:t>.</a:t>
            </a:r>
            <a:endParaRPr/>
          </a:p>
        </p:txBody>
      </p:sp>
      <p:sp>
        <p:nvSpPr>
          <p:cNvPr id="667" name="Google Shape;667;p59"/>
          <p:cNvSpPr/>
          <p:nvPr/>
        </p:nvSpPr>
        <p:spPr>
          <a:xfrm>
            <a:off x="250735" y="2339164"/>
            <a:ext cx="662650" cy="752126"/>
          </a:xfrm>
          <a:custGeom>
            <a:rect b="b" l="l" r="r" t="t"/>
            <a:pathLst>
              <a:path extrusionOk="0" h="36631" w="26506">
                <a:moveTo>
                  <a:pt x="12735" y="36631"/>
                </a:moveTo>
                <a:cubicBezTo>
                  <a:pt x="10669" y="31673"/>
                  <a:pt x="-1954" y="12990"/>
                  <a:pt x="341" y="6885"/>
                </a:cubicBezTo>
                <a:cubicBezTo>
                  <a:pt x="2636" y="780"/>
                  <a:pt x="22145" y="1148"/>
                  <a:pt x="26506" y="0"/>
                </a:cubicBezTo>
              </a:path>
            </a:pathLst>
          </a:custGeom>
          <a:noFill/>
          <a:ln cap="flat" cmpd="sng" w="19050">
            <a:solidFill>
              <a:srgbClr val="FF0000"/>
            </a:solidFill>
            <a:prstDash val="solid"/>
            <a:round/>
            <a:headEnd len="med" w="med" type="none"/>
            <a:tailEnd len="med" w="med" type="triangle"/>
          </a:ln>
        </p:spPr>
      </p:sp>
      <p:sp>
        <p:nvSpPr>
          <p:cNvPr id="668" name="Google Shape;668;p59"/>
          <p:cNvSpPr txBox="1"/>
          <p:nvPr>
            <p:ph idx="3" type="body"/>
          </p:nvPr>
        </p:nvSpPr>
        <p:spPr>
          <a:xfrm>
            <a:off x="311725" y="30081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When the </a:t>
            </a:r>
            <a:r>
              <a:rPr lang="en">
                <a:solidFill>
                  <a:srgbClr val="FF0000"/>
                </a:solidFill>
                <a:latin typeface="Courier New"/>
                <a:ea typeface="Courier New"/>
                <a:cs typeface="Courier New"/>
                <a:sym typeface="Courier New"/>
              </a:rPr>
              <a:t>condition</a:t>
            </a:r>
            <a:r>
              <a:rPr lang="en">
                <a:solidFill>
                  <a:srgbClr val="FF0000"/>
                </a:solidFill>
                <a:latin typeface="Courier New"/>
                <a:ea typeface="Courier New"/>
                <a:cs typeface="Courier New"/>
                <a:sym typeface="Courier New"/>
              </a:rPr>
              <a:t>.signal()</a:t>
            </a:r>
            <a:r>
              <a:rPr lang="en"/>
              <a:t> method is then called, the </a:t>
            </a:r>
            <a:r>
              <a:rPr b="1" i="1" lang="en">
                <a:solidFill>
                  <a:srgbClr val="FF0000"/>
                </a:solidFill>
              </a:rPr>
              <a:t>thread scheduler</a:t>
            </a:r>
            <a:r>
              <a:rPr lang="en"/>
              <a:t> will choose </a:t>
            </a:r>
            <a:r>
              <a:rPr b="1" i="1" lang="en">
                <a:solidFill>
                  <a:srgbClr val="FF0000"/>
                </a:solidFill>
              </a:rPr>
              <a:t>one</a:t>
            </a:r>
            <a:r>
              <a:rPr lang="en">
                <a:solidFill>
                  <a:srgbClr val="FF0000"/>
                </a:solidFill>
              </a:rPr>
              <a:t> </a:t>
            </a:r>
            <a:r>
              <a:rPr lang="en"/>
              <a:t>waiting thread and move it into the blocked state.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1000"/>
                                        <p:tgtEl>
                                          <p:spTgt spid="665"/>
                                        </p:tgtEl>
                                      </p:cBhvr>
                                    </p:animEffect>
                                  </p:childTnLst>
                                </p:cTn>
                              </p:par>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1000"/>
                                        <p:tgtEl>
                                          <p:spTgt spid="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Signaling </a:t>
            </a:r>
            <a:r>
              <a:rPr lang="en"/>
              <a:t>a Thread</a:t>
            </a:r>
            <a:endParaRPr/>
          </a:p>
        </p:txBody>
      </p:sp>
      <p:sp>
        <p:nvSpPr>
          <p:cNvPr id="674" name="Google Shape;674;p6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thread that awaits will wait forever unless some other thread </a:t>
            </a:r>
            <a:r>
              <a:rPr b="1" i="1" lang="en"/>
              <a:t>signals</a:t>
            </a:r>
            <a:r>
              <a:rPr lang="en"/>
              <a:t> it using the same condition. Let's update the class so that the main thread uses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to wake up the </a:t>
            </a:r>
            <a:r>
              <a:rPr lang="en">
                <a:latin typeface="Courier New"/>
                <a:ea typeface="Courier New"/>
                <a:cs typeface="Courier New"/>
                <a:sym typeface="Courier New"/>
              </a:rPr>
              <a:t>Waiter</a:t>
            </a:r>
            <a:r>
              <a:rPr lang="en"/>
              <a:t> thread.</a:t>
            </a:r>
            <a:endParaRPr/>
          </a:p>
        </p:txBody>
      </p:sp>
      <p:sp>
        <p:nvSpPr>
          <p:cNvPr id="675" name="Google Shape;675;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6" name="Google Shape;676;p60"/>
          <p:cNvSpPr txBox="1"/>
          <p:nvPr>
            <p:ph idx="2" type="body"/>
          </p:nvPr>
        </p:nvSpPr>
        <p:spPr>
          <a:xfrm>
            <a:off x="3797125" y="1784525"/>
            <a:ext cx="5144100" cy="30507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Open the </a:t>
            </a:r>
            <a:r>
              <a:rPr lang="en" sz="1800">
                <a:latin typeface="Courier New"/>
                <a:ea typeface="Courier New"/>
                <a:cs typeface="Courier New"/>
                <a:sym typeface="Courier New"/>
              </a:rPr>
              <a:t>Waiter</a:t>
            </a:r>
            <a:r>
              <a:rPr lang="en" sz="1800"/>
              <a:t> class and navigate to the </a:t>
            </a:r>
            <a:r>
              <a:rPr lang="en" sz="1800">
                <a:latin typeface="Courier New"/>
                <a:ea typeface="Courier New"/>
                <a:cs typeface="Courier New"/>
                <a:sym typeface="Courier New"/>
              </a:rPr>
              <a:t>main</a:t>
            </a:r>
            <a:r>
              <a:rPr lang="en" sz="1800"/>
              <a:t> method.</a:t>
            </a:r>
            <a:endParaRPr sz="1800"/>
          </a:p>
          <a:p>
            <a:pPr indent="-330200" lvl="1" marL="914400" rtl="0" algn="l">
              <a:spcBef>
                <a:spcPts val="0"/>
              </a:spcBef>
              <a:spcAft>
                <a:spcPts val="0"/>
              </a:spcAft>
              <a:buSzPts val="1600"/>
              <a:buChar char="○"/>
            </a:pPr>
            <a:r>
              <a:rPr lang="en" sz="1600"/>
              <a:t>After the thread has been started, synchronize on the same </a:t>
            </a:r>
            <a:r>
              <a:rPr lang="en" sz="1600">
                <a:latin typeface="Courier New"/>
                <a:ea typeface="Courier New"/>
                <a:cs typeface="Courier New"/>
                <a:sym typeface="Courier New"/>
              </a:rPr>
              <a:t>lock</a:t>
            </a:r>
            <a:r>
              <a:rPr lang="en" sz="1600"/>
              <a:t> and use </a:t>
            </a:r>
            <a:r>
              <a:rPr lang="en" sz="1600">
                <a:latin typeface="Courier New"/>
                <a:ea typeface="Courier New"/>
                <a:cs typeface="Courier New"/>
                <a:sym typeface="Courier New"/>
              </a:rPr>
              <a:t>condition</a:t>
            </a:r>
            <a:r>
              <a:rPr lang="en" sz="1600">
                <a:latin typeface="Courier New"/>
                <a:ea typeface="Courier New"/>
                <a:cs typeface="Courier New"/>
                <a:sym typeface="Courier New"/>
              </a:rPr>
              <a:t>.signal()</a:t>
            </a:r>
            <a:r>
              <a:rPr lang="en" sz="1600"/>
              <a:t> to signal the waiting thread.</a:t>
            </a:r>
            <a:endParaRPr sz="1600"/>
          </a:p>
          <a:p>
            <a:pPr indent="-330200" lvl="1" marL="914400" rtl="0" algn="l">
              <a:spcBef>
                <a:spcPts val="0"/>
              </a:spcBef>
              <a:spcAft>
                <a:spcPts val="0"/>
              </a:spcAft>
              <a:buSzPts val="1600"/>
              <a:buChar char="○"/>
            </a:pPr>
            <a:r>
              <a:rPr lang="en" sz="1600"/>
              <a:t>Run the class a few times.</a:t>
            </a:r>
            <a:endParaRPr sz="1600"/>
          </a:p>
          <a:p>
            <a:pPr indent="-330200" lvl="1" marL="914400" rtl="0" algn="l">
              <a:spcBef>
                <a:spcPts val="0"/>
              </a:spcBef>
              <a:spcAft>
                <a:spcPts val="0"/>
              </a:spcAft>
              <a:buSzPts val="1600"/>
              <a:buChar char="○"/>
            </a:pPr>
            <a:r>
              <a:rPr lang="en" sz="1600"/>
              <a:t>What happens?</a:t>
            </a:r>
            <a:endParaRPr sz="1600"/>
          </a:p>
          <a:p>
            <a:pPr indent="-330200" lvl="1" marL="914400" rtl="0" algn="l">
              <a:spcBef>
                <a:spcPts val="0"/>
              </a:spcBef>
              <a:spcAft>
                <a:spcPts val="0"/>
              </a:spcAft>
              <a:buSzPts val="1600"/>
              <a:buChar char="○"/>
            </a:pPr>
            <a:r>
              <a:rPr lang="en" sz="1600"/>
              <a:t>Why?</a:t>
            </a:r>
            <a:endParaRPr sz="1600"/>
          </a:p>
          <a:p>
            <a:pPr indent="-330200" lvl="1" marL="914400" rtl="0" algn="l">
              <a:spcBef>
                <a:spcPts val="0"/>
              </a:spcBef>
              <a:spcAft>
                <a:spcPts val="0"/>
              </a:spcAft>
              <a:buSzPts val="1600"/>
              <a:buChar char="○"/>
            </a:pPr>
            <a:r>
              <a:rPr lang="en" sz="1600"/>
              <a:t>Can you fix it?</a:t>
            </a:r>
            <a:endParaRPr sz="1600"/>
          </a:p>
        </p:txBody>
      </p:sp>
      <p:sp>
        <p:nvSpPr>
          <p:cNvPr id="677" name="Google Shape;677;p6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SzPts val="990"/>
              <a:buNone/>
            </a:pPr>
            <a:r>
              <a:rPr lang="en"/>
              <a:t>11.9</a:t>
            </a:r>
            <a:endParaRPr/>
          </a:p>
        </p:txBody>
      </p:sp>
      <p:pic>
        <p:nvPicPr>
          <p:cNvPr id="678" name="Google Shape;678;p60"/>
          <p:cNvPicPr preferRelativeResize="0"/>
          <p:nvPr/>
        </p:nvPicPr>
        <p:blipFill>
          <a:blip r:embed="rId3">
            <a:alphaModFix/>
          </a:blip>
          <a:stretch>
            <a:fillRect/>
          </a:stretch>
        </p:blipFill>
        <p:spPr>
          <a:xfrm>
            <a:off x="555475" y="1804362"/>
            <a:ext cx="1622905" cy="1995899"/>
          </a:xfrm>
          <a:prstGeom prst="rect">
            <a:avLst/>
          </a:prstGeom>
          <a:noFill/>
          <a:ln>
            <a:noFill/>
          </a:ln>
        </p:spPr>
      </p:pic>
      <p:sp>
        <p:nvSpPr>
          <p:cNvPr id="679" name="Google Shape;679;p60"/>
          <p:cNvSpPr/>
          <p:nvPr/>
        </p:nvSpPr>
        <p:spPr>
          <a:xfrm>
            <a:off x="2143275" y="1804363"/>
            <a:ext cx="1190400" cy="864600"/>
          </a:xfrm>
          <a:prstGeom prst="wedgeRoundRectCallout">
            <a:avLst>
              <a:gd fmla="val -51593" name="adj1"/>
              <a:gd fmla="val 5963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rPr>
              <a:t>WAKE UP!</a:t>
            </a:r>
            <a:endParaRPr b="1" sz="2200">
              <a:solidFill>
                <a:srgbClr val="FF0000"/>
              </a:solidFill>
            </a:endParaRPr>
          </a:p>
        </p:txBody>
      </p:sp>
      <p:sp>
        <p:nvSpPr>
          <p:cNvPr id="680" name="Google Shape;680;p60"/>
          <p:cNvSpPr txBox="1"/>
          <p:nvPr>
            <p:ph idx="4" type="body"/>
          </p:nvPr>
        </p:nvSpPr>
        <p:spPr>
          <a:xfrm>
            <a:off x="330725" y="3875500"/>
            <a:ext cx="3227700" cy="1108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AF00DB"/>
                </a:solidFill>
                <a:latin typeface="Consolas"/>
                <a:ea typeface="Consolas"/>
                <a:cs typeface="Consolas"/>
                <a:sym typeface="Consolas"/>
              </a:rPr>
              <a:t>try </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en">
                <a:latin typeface="Consolas"/>
                <a:ea typeface="Consolas"/>
                <a:cs typeface="Consolas"/>
                <a:sym typeface="Consolas"/>
              </a:rPr>
              <a:t>    </a:t>
            </a:r>
            <a:r>
              <a:rPr lang="en">
                <a:solidFill>
                  <a:srgbClr val="001080"/>
                </a:solidFill>
                <a:latin typeface="Consolas"/>
                <a:ea typeface="Consolas"/>
                <a:cs typeface="Consolas"/>
                <a:sym typeface="Consolas"/>
              </a:rPr>
              <a:t>lock</a:t>
            </a:r>
            <a:r>
              <a:rPr lang="en">
                <a:latin typeface="Consolas"/>
                <a:ea typeface="Consolas"/>
                <a:cs typeface="Consolas"/>
                <a:sym typeface="Consolas"/>
              </a:rPr>
              <a:t>.</a:t>
            </a:r>
            <a:r>
              <a:rPr lang="en">
                <a:solidFill>
                  <a:srgbClr val="795E26"/>
                </a:solidFill>
                <a:latin typeface="Consolas"/>
                <a:ea typeface="Consolas"/>
                <a:cs typeface="Consolas"/>
                <a:sym typeface="Consolas"/>
              </a:rPr>
              <a:t>lock</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1080"/>
                </a:solidFill>
                <a:latin typeface="Consolas"/>
                <a:ea typeface="Consolas"/>
                <a:cs typeface="Consolas"/>
                <a:sym typeface="Consolas"/>
              </a:rPr>
              <a:t>    condition</a:t>
            </a:r>
            <a:r>
              <a:rPr lang="en">
                <a:latin typeface="Consolas"/>
                <a:ea typeface="Consolas"/>
                <a:cs typeface="Consolas"/>
                <a:sym typeface="Consolas"/>
              </a:rPr>
              <a:t>.</a:t>
            </a:r>
            <a:r>
              <a:rPr lang="en">
                <a:solidFill>
                  <a:srgbClr val="795E26"/>
                </a:solidFill>
                <a:latin typeface="Consolas"/>
                <a:ea typeface="Consolas"/>
                <a:cs typeface="Consolas"/>
                <a:sym typeface="Consolas"/>
              </a:rPr>
              <a:t>signal</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67F99"/>
                </a:solidFill>
                <a:latin typeface="Consolas"/>
                <a:ea typeface="Consolas"/>
                <a:cs typeface="Consolas"/>
                <a:sym typeface="Consolas"/>
              </a:rPr>
              <a:t>    System</a:t>
            </a:r>
            <a:r>
              <a:rPr lang="en">
                <a:latin typeface="Consolas"/>
                <a:ea typeface="Consolas"/>
                <a:cs typeface="Consolas"/>
                <a:sym typeface="Consolas"/>
              </a:rPr>
              <a:t>.</a:t>
            </a:r>
            <a:r>
              <a:rPr lang="en">
                <a:solidFill>
                  <a:srgbClr val="0070C1"/>
                </a:solidFill>
                <a:latin typeface="Consolas"/>
                <a:ea typeface="Consolas"/>
                <a:cs typeface="Consolas"/>
                <a:sym typeface="Consolas"/>
              </a:rPr>
              <a:t>out</a:t>
            </a:r>
            <a:r>
              <a:rPr lang="en">
                <a:latin typeface="Consolas"/>
                <a:ea typeface="Consolas"/>
                <a:cs typeface="Consolas"/>
                <a:sym typeface="Consolas"/>
              </a:rPr>
              <a:t>.</a:t>
            </a:r>
            <a:r>
              <a:rPr lang="en">
                <a:solidFill>
                  <a:srgbClr val="795E26"/>
                </a:solidFill>
                <a:latin typeface="Consolas"/>
                <a:ea typeface="Consolas"/>
                <a:cs typeface="Consolas"/>
                <a:sym typeface="Consolas"/>
              </a:rPr>
              <a:t>println</a:t>
            </a:r>
            <a:r>
              <a:rPr lang="en">
                <a:latin typeface="Consolas"/>
                <a:ea typeface="Consolas"/>
                <a:cs typeface="Consolas"/>
                <a:sym typeface="Consolas"/>
              </a:rPr>
              <a:t>(</a:t>
            </a:r>
            <a:r>
              <a:rPr lang="en">
                <a:solidFill>
                  <a:srgbClr val="A31515"/>
                </a:solidFill>
                <a:latin typeface="Consolas"/>
                <a:ea typeface="Consolas"/>
                <a:cs typeface="Consolas"/>
                <a:sym typeface="Consolas"/>
              </a:rPr>
              <a:t>"Notified!"</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en">
                <a:latin typeface="Consolas"/>
                <a:ea typeface="Consolas"/>
                <a:cs typeface="Consolas"/>
                <a:sym typeface="Consolas"/>
              </a:rPr>
              <a:t>} </a:t>
            </a:r>
            <a:r>
              <a:rPr lang="en">
                <a:solidFill>
                  <a:srgbClr val="AF00DB"/>
                </a:solidFill>
                <a:latin typeface="Consolas"/>
                <a:ea typeface="Consolas"/>
                <a:cs typeface="Consolas"/>
                <a:sym typeface="Consolas"/>
              </a:rPr>
              <a:t>finally </a:t>
            </a:r>
            <a:r>
              <a:rPr lang="en">
                <a:latin typeface="Consolas"/>
                <a:ea typeface="Consolas"/>
                <a:cs typeface="Consolas"/>
                <a:sym typeface="Consolas"/>
              </a:rPr>
              <a:t>{ </a:t>
            </a:r>
            <a:r>
              <a:rPr lang="en">
                <a:solidFill>
                  <a:srgbClr val="001080"/>
                </a:solidFill>
                <a:latin typeface="Consolas"/>
                <a:ea typeface="Consolas"/>
                <a:cs typeface="Consolas"/>
                <a:sym typeface="Consolas"/>
              </a:rPr>
              <a:t>lock</a:t>
            </a:r>
            <a:r>
              <a:rPr lang="en">
                <a:latin typeface="Consolas"/>
                <a:ea typeface="Consolas"/>
                <a:cs typeface="Consolas"/>
                <a:sym typeface="Consolas"/>
              </a:rPr>
              <a:t>.</a:t>
            </a:r>
            <a:r>
              <a:rPr lang="en">
                <a:solidFill>
                  <a:srgbClr val="795E26"/>
                </a:solidFill>
                <a:latin typeface="Consolas"/>
                <a:ea typeface="Consolas"/>
                <a:cs typeface="Consolas"/>
                <a:sym typeface="Consolas"/>
              </a:rPr>
              <a:t>unlock</a:t>
            </a:r>
            <a:r>
              <a:rPr lang="en">
                <a:latin typeface="Consolas"/>
                <a:ea typeface="Consolas"/>
                <a:cs typeface="Consolas"/>
                <a:sym typeface="Consolas"/>
              </a:rPr>
              <a:t>(); }</a:t>
            </a:r>
            <a:endParaRPr>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Lots of Waiters</a:t>
            </a:r>
            <a:endParaRPr/>
          </a:p>
        </p:txBody>
      </p:sp>
      <p:sp>
        <p:nvSpPr>
          <p:cNvPr id="686" name="Google Shape;686;p6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from the main thread will notify one Waiter thread that is </a:t>
            </a:r>
            <a:r>
              <a:rPr lang="en"/>
              <a:t>waiting</a:t>
            </a:r>
            <a:r>
              <a:rPr lang="en"/>
              <a:t> on the same lock. What happens if we have more than one thread waiting on the same lock?</a:t>
            </a:r>
            <a:endParaRPr/>
          </a:p>
        </p:txBody>
      </p:sp>
      <p:sp>
        <p:nvSpPr>
          <p:cNvPr id="687" name="Google Shape;687;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8" name="Google Shape;688;p61"/>
          <p:cNvSpPr txBox="1"/>
          <p:nvPr>
            <p:ph idx="2" type="body"/>
          </p:nvPr>
        </p:nvSpPr>
        <p:spPr>
          <a:xfrm>
            <a:off x="2594450" y="1530950"/>
            <a:ext cx="6134400" cy="21258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Open the </a:t>
            </a:r>
            <a:r>
              <a:rPr lang="en" sz="2000">
                <a:latin typeface="Courier New"/>
                <a:ea typeface="Courier New"/>
                <a:cs typeface="Courier New"/>
                <a:sym typeface="Courier New"/>
              </a:rPr>
              <a:t>Waiter</a:t>
            </a:r>
            <a:r>
              <a:rPr lang="en" sz="2000"/>
              <a:t> class and navigate to the </a:t>
            </a:r>
            <a:r>
              <a:rPr lang="en" sz="2000">
                <a:latin typeface="Courier New"/>
                <a:ea typeface="Courier New"/>
                <a:cs typeface="Courier New"/>
                <a:sym typeface="Courier New"/>
              </a:rPr>
              <a:t>main</a:t>
            </a:r>
            <a:r>
              <a:rPr lang="en" sz="2000"/>
              <a:t> method.</a:t>
            </a:r>
            <a:endParaRPr sz="2000"/>
          </a:p>
          <a:p>
            <a:pPr indent="-342900" lvl="1" marL="914400" rtl="0" algn="l">
              <a:spcBef>
                <a:spcPts val="0"/>
              </a:spcBef>
              <a:spcAft>
                <a:spcPts val="0"/>
              </a:spcAft>
              <a:buSzPts val="1800"/>
              <a:buChar char="○"/>
            </a:pPr>
            <a:r>
              <a:rPr lang="en" sz="1800"/>
              <a:t>Use a loop to create and start 10 </a:t>
            </a:r>
            <a:r>
              <a:rPr lang="en" sz="1800">
                <a:latin typeface="Courier New"/>
                <a:ea typeface="Courier New"/>
                <a:cs typeface="Courier New"/>
                <a:sym typeface="Courier New"/>
              </a:rPr>
              <a:t>Waiter</a:t>
            </a:r>
            <a:r>
              <a:rPr lang="en" sz="1800"/>
              <a:t> threads, all sharing the same </a:t>
            </a:r>
            <a:r>
              <a:rPr lang="en" sz="1800">
                <a:latin typeface="Courier New"/>
                <a:ea typeface="Courier New"/>
                <a:cs typeface="Courier New"/>
                <a:sym typeface="Courier New"/>
              </a:rPr>
              <a:t>lock</a:t>
            </a:r>
            <a:r>
              <a:rPr lang="en" sz="1800"/>
              <a:t>.</a:t>
            </a:r>
            <a:endParaRPr sz="1800"/>
          </a:p>
          <a:p>
            <a:pPr indent="-342900" lvl="1" marL="914400" rtl="0" algn="l">
              <a:spcBef>
                <a:spcPts val="0"/>
              </a:spcBef>
              <a:spcAft>
                <a:spcPts val="0"/>
              </a:spcAft>
              <a:buSzPts val="1800"/>
              <a:buChar char="○"/>
            </a:pPr>
            <a:r>
              <a:rPr lang="en" sz="1800"/>
              <a:t>Run the class.</a:t>
            </a:r>
            <a:endParaRPr sz="1800"/>
          </a:p>
          <a:p>
            <a:pPr indent="-342900" lvl="1" marL="914400" rtl="0" algn="l">
              <a:spcBef>
                <a:spcPts val="0"/>
              </a:spcBef>
              <a:spcAft>
                <a:spcPts val="0"/>
              </a:spcAft>
              <a:buSzPts val="1800"/>
              <a:buChar char="○"/>
            </a:pPr>
            <a:r>
              <a:rPr lang="en" sz="1800"/>
              <a:t>What happens?</a:t>
            </a:r>
            <a:endParaRPr sz="1800"/>
          </a:p>
        </p:txBody>
      </p:sp>
      <p:sp>
        <p:nvSpPr>
          <p:cNvPr id="689" name="Google Shape;689;p6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SzPts val="990"/>
              <a:buNone/>
            </a:pPr>
            <a:r>
              <a:rPr lang="en"/>
              <a:t>11.10</a:t>
            </a:r>
            <a:endParaRPr/>
          </a:p>
        </p:txBody>
      </p:sp>
      <p:pic>
        <p:nvPicPr>
          <p:cNvPr id="690" name="Google Shape;690;p61"/>
          <p:cNvPicPr preferRelativeResize="0"/>
          <p:nvPr/>
        </p:nvPicPr>
        <p:blipFill>
          <a:blip r:embed="rId3">
            <a:alphaModFix/>
          </a:blip>
          <a:stretch>
            <a:fillRect/>
          </a:stretch>
        </p:blipFill>
        <p:spPr>
          <a:xfrm>
            <a:off x="228600" y="2230375"/>
            <a:ext cx="2150175" cy="2644361"/>
          </a:xfrm>
          <a:prstGeom prst="rect">
            <a:avLst/>
          </a:prstGeom>
          <a:noFill/>
          <a:ln>
            <a:noFill/>
          </a:ln>
        </p:spPr>
      </p:pic>
      <p:sp>
        <p:nvSpPr>
          <p:cNvPr id="691" name="Google Shape;691;p61"/>
          <p:cNvSpPr/>
          <p:nvPr/>
        </p:nvSpPr>
        <p:spPr>
          <a:xfrm>
            <a:off x="358100" y="1556425"/>
            <a:ext cx="1797000" cy="523200"/>
          </a:xfrm>
          <a:prstGeom prst="wedgeRoundRectCallout">
            <a:avLst>
              <a:gd fmla="val -5552" name="adj1"/>
              <a:gd fmla="val 201367"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rPr>
              <a:t>WAKE UP?</a:t>
            </a:r>
            <a:endParaRPr b="1" sz="220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2"/>
          <p:cNvSpPr txBox="1"/>
          <p:nvPr/>
        </p:nvSpPr>
        <p:spPr>
          <a:xfrm>
            <a:off x="5361375" y="1733850"/>
            <a:ext cx="1729500" cy="60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Consolas"/>
                <a:ea typeface="Consolas"/>
                <a:cs typeface="Consolas"/>
                <a:sym typeface="Consolas"/>
              </a:rPr>
              <a:t>condition</a:t>
            </a:r>
            <a:r>
              <a:rPr lang="en" sz="1000">
                <a:solidFill>
                  <a:schemeClr val="lt1"/>
                </a:solidFill>
                <a:latin typeface="Consolas"/>
                <a:ea typeface="Consolas"/>
                <a:cs typeface="Consolas"/>
                <a:sym typeface="Consolas"/>
              </a:rPr>
              <a:t>.signal()</a:t>
            </a:r>
            <a:endParaRPr sz="1000">
              <a:solidFill>
                <a:srgbClr val="FFFFFF"/>
              </a:solidFill>
              <a:latin typeface="Consolas"/>
              <a:ea typeface="Consolas"/>
              <a:cs typeface="Consolas"/>
              <a:sym typeface="Consolas"/>
            </a:endParaRPr>
          </a:p>
          <a:p>
            <a:pPr indent="0" lvl="0" marL="0" rtl="0" algn="ctr">
              <a:spcBef>
                <a:spcPts val="0"/>
              </a:spcBef>
              <a:spcAft>
                <a:spcPts val="0"/>
              </a:spcAft>
              <a:buNone/>
            </a:pPr>
            <a:r>
              <a:rPr lang="en" sz="1000">
                <a:solidFill>
                  <a:srgbClr val="FFFFFF"/>
                </a:solidFill>
                <a:latin typeface="Consolas"/>
                <a:ea typeface="Consolas"/>
                <a:cs typeface="Consolas"/>
                <a:sym typeface="Consolas"/>
              </a:rPr>
              <a:t>or</a:t>
            </a:r>
            <a:endParaRPr sz="1000">
              <a:solidFill>
                <a:srgbClr val="FFFFFF"/>
              </a:solidFill>
              <a:latin typeface="Consolas"/>
              <a:ea typeface="Consolas"/>
              <a:cs typeface="Consolas"/>
              <a:sym typeface="Consolas"/>
            </a:endParaRPr>
          </a:p>
          <a:p>
            <a:pPr indent="0" lvl="0" marL="0" rtl="0" algn="ctr">
              <a:spcBef>
                <a:spcPts val="0"/>
              </a:spcBef>
              <a:spcAft>
                <a:spcPts val="0"/>
              </a:spcAft>
              <a:buNone/>
            </a:pPr>
            <a:r>
              <a:rPr lang="en" sz="1000">
                <a:solidFill>
                  <a:srgbClr val="FFFFFF"/>
                </a:solidFill>
                <a:latin typeface="Consolas"/>
                <a:ea typeface="Consolas"/>
                <a:cs typeface="Consolas"/>
                <a:sym typeface="Consolas"/>
              </a:rPr>
              <a:t>condition.signalAll()</a:t>
            </a:r>
            <a:endParaRPr sz="1000">
              <a:solidFill>
                <a:srgbClr val="FFFFFF"/>
              </a:solidFill>
              <a:latin typeface="Consolas"/>
              <a:ea typeface="Consolas"/>
              <a:cs typeface="Consolas"/>
              <a:sym typeface="Consolas"/>
            </a:endParaRPr>
          </a:p>
        </p:txBody>
      </p:sp>
      <p:sp>
        <p:nvSpPr>
          <p:cNvPr id="697" name="Google Shape;697;p6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8" name="Google Shape;698;p62"/>
          <p:cNvSpPr txBox="1"/>
          <p:nvPr>
            <p:ph type="title"/>
          </p:nvPr>
        </p:nvSpPr>
        <p:spPr>
          <a:xfrm>
            <a:off x="5202296"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Signal </a:t>
            </a:r>
            <a:r>
              <a:rPr lang="en"/>
              <a:t>All</a:t>
            </a:r>
            <a:endParaRPr/>
          </a:p>
        </p:txBody>
      </p:sp>
      <p:sp>
        <p:nvSpPr>
          <p:cNvPr id="699" name="Google Shape;699;p62"/>
          <p:cNvSpPr txBox="1"/>
          <p:nvPr>
            <p:ph idx="1" type="body"/>
          </p:nvPr>
        </p:nvSpPr>
        <p:spPr>
          <a:xfrm>
            <a:off x="148875" y="119925"/>
            <a:ext cx="4423200" cy="46794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The purpose of writing </a:t>
            </a:r>
            <a:r>
              <a:rPr b="1" i="1" lang="en">
                <a:solidFill>
                  <a:srgbClr val="FF0000"/>
                </a:solidFill>
              </a:rPr>
              <a:t>multithreaded</a:t>
            </a:r>
            <a:r>
              <a:rPr lang="en">
                <a:solidFill>
                  <a:srgbClr val="FF0000"/>
                </a:solidFill>
              </a:rPr>
              <a:t> </a:t>
            </a:r>
            <a:r>
              <a:rPr lang="en"/>
              <a:t>code is so that a program can do </a:t>
            </a:r>
            <a:r>
              <a:rPr b="1" i="1" lang="en">
                <a:solidFill>
                  <a:srgbClr val="FF0000"/>
                </a:solidFill>
              </a:rPr>
              <a:t>more than one thing</a:t>
            </a:r>
            <a:r>
              <a:rPr lang="en"/>
              <a:t> at the same time.</a:t>
            </a:r>
            <a:endParaRPr/>
          </a:p>
          <a:p>
            <a:pPr indent="-311150" lvl="0" marL="457200" rtl="0" algn="l">
              <a:lnSpc>
                <a:spcPct val="100000"/>
              </a:lnSpc>
              <a:spcBef>
                <a:spcPts val="0"/>
              </a:spcBef>
              <a:spcAft>
                <a:spcPts val="0"/>
              </a:spcAft>
              <a:buSzPts val="1300"/>
              <a:buChar char="●"/>
            </a:pPr>
            <a:r>
              <a:rPr lang="en"/>
              <a:t>Programs often use multiple threads to </a:t>
            </a:r>
            <a:r>
              <a:rPr lang="en">
                <a:solidFill>
                  <a:srgbClr val="FF0000"/>
                </a:solidFill>
              </a:rPr>
              <a:t>distribute </a:t>
            </a:r>
            <a:r>
              <a:rPr lang="en"/>
              <a:t>the same kind of work to take care of it </a:t>
            </a:r>
            <a:r>
              <a:rPr lang="en">
                <a:solidFill>
                  <a:srgbClr val="FF0000"/>
                </a:solidFill>
              </a:rPr>
              <a:t>more quickly</a:t>
            </a:r>
            <a:r>
              <a:rPr lang="en"/>
              <a:t>.</a:t>
            </a:r>
            <a:endParaRPr/>
          </a:p>
          <a:p>
            <a:pPr indent="-298450" lvl="1" marL="914400" rtl="0" algn="l">
              <a:lnSpc>
                <a:spcPct val="100000"/>
              </a:lnSpc>
              <a:spcBef>
                <a:spcPts val="0"/>
              </a:spcBef>
              <a:spcAft>
                <a:spcPts val="0"/>
              </a:spcAft>
              <a:buSzPts val="1100"/>
              <a:buChar char="○"/>
            </a:pPr>
            <a:r>
              <a:rPr lang="en"/>
              <a:t>This is referred to as</a:t>
            </a:r>
            <a:r>
              <a:rPr lang="en">
                <a:solidFill>
                  <a:srgbClr val="FF0000"/>
                </a:solidFill>
              </a:rPr>
              <a:t> </a:t>
            </a:r>
            <a:r>
              <a:rPr b="1" i="1" lang="en">
                <a:solidFill>
                  <a:srgbClr val="FF0000"/>
                </a:solidFill>
              </a:rPr>
              <a:t>parallel processing</a:t>
            </a:r>
            <a:r>
              <a:rPr lang="en"/>
              <a:t>. It is a </a:t>
            </a:r>
            <a:r>
              <a:rPr b="1" i="1" lang="en">
                <a:solidFill>
                  <a:srgbClr val="FF0000"/>
                </a:solidFill>
              </a:rPr>
              <a:t>divide-and-conquer</a:t>
            </a:r>
            <a:r>
              <a:rPr lang="en"/>
              <a:t> technique for handling work that can be divided between multiple threads.</a:t>
            </a:r>
            <a:endParaRPr/>
          </a:p>
          <a:p>
            <a:pPr indent="-311150" lvl="0" marL="457200" rtl="0" algn="l">
              <a:lnSpc>
                <a:spcPct val="100000"/>
              </a:lnSpc>
              <a:spcBef>
                <a:spcPts val="0"/>
              </a:spcBef>
              <a:spcAft>
                <a:spcPts val="0"/>
              </a:spcAft>
              <a:buSzPts val="1300"/>
              <a:buChar char="●"/>
            </a:pPr>
            <a:r>
              <a:rPr lang="en"/>
              <a:t>Using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will cause the thread scheduler to choose </a:t>
            </a:r>
            <a:r>
              <a:rPr b="1" i="1" lang="en">
                <a:solidFill>
                  <a:srgbClr val="FF0000"/>
                </a:solidFill>
              </a:rPr>
              <a:t>one</a:t>
            </a:r>
            <a:r>
              <a:rPr lang="en">
                <a:solidFill>
                  <a:srgbClr val="FF0000"/>
                </a:solidFill>
              </a:rPr>
              <a:t> </a:t>
            </a:r>
            <a:r>
              <a:rPr lang="en"/>
              <a:t>waiting thread and notify it that there is work ready to do.</a:t>
            </a:r>
            <a:endParaRPr/>
          </a:p>
          <a:p>
            <a:pPr indent="-298450" lvl="1" marL="914400" rtl="0" algn="l">
              <a:lnSpc>
                <a:spcPct val="100000"/>
              </a:lnSpc>
              <a:spcBef>
                <a:spcPts val="0"/>
              </a:spcBef>
              <a:spcAft>
                <a:spcPts val="0"/>
              </a:spcAft>
              <a:buSzPts val="1100"/>
              <a:buChar char="○"/>
            </a:pPr>
            <a:r>
              <a:rPr lang="en"/>
              <a:t>But what if there is </a:t>
            </a:r>
            <a:r>
              <a:rPr b="1" i="1" lang="en">
                <a:solidFill>
                  <a:srgbClr val="FF0000"/>
                </a:solidFill>
              </a:rPr>
              <a:t>more than one task</a:t>
            </a:r>
            <a:r>
              <a:rPr lang="en"/>
              <a:t> that needs to be completed?</a:t>
            </a:r>
            <a:endParaRPr/>
          </a:p>
          <a:p>
            <a:pPr indent="-298450" lvl="1" marL="914400" rtl="0" algn="l">
              <a:lnSpc>
                <a:spcPct val="100000"/>
              </a:lnSpc>
              <a:spcBef>
                <a:spcPts val="0"/>
              </a:spcBef>
              <a:spcAft>
                <a:spcPts val="0"/>
              </a:spcAft>
              <a:buSzPts val="1100"/>
              <a:buChar char="○"/>
            </a:pPr>
            <a:r>
              <a:rPr lang="en"/>
              <a:t>What if </a:t>
            </a:r>
            <a:r>
              <a:rPr b="1" i="1" lang="en">
                <a:solidFill>
                  <a:srgbClr val="FF0000"/>
                </a:solidFill>
              </a:rPr>
              <a:t>more than one thread</a:t>
            </a:r>
            <a:r>
              <a:rPr lang="en"/>
              <a:t> is waiting for work?</a:t>
            </a:r>
            <a:endParaRPr/>
          </a:p>
          <a:p>
            <a:pPr indent="-311150" lvl="0" marL="457200" rtl="0" algn="l">
              <a:lnSpc>
                <a:spcPct val="100000"/>
              </a:lnSpc>
              <a:spcBef>
                <a:spcPts val="0"/>
              </a:spcBef>
              <a:spcAft>
                <a:spcPts val="0"/>
              </a:spcAft>
              <a:buSzPts val="1300"/>
              <a:buChar char="●"/>
            </a:pPr>
            <a:r>
              <a:rPr lang="en"/>
              <a:t>Alternatively, the </a:t>
            </a:r>
            <a:r>
              <a:rPr lang="en">
                <a:solidFill>
                  <a:srgbClr val="FF0000"/>
                </a:solidFill>
                <a:latin typeface="Courier New"/>
                <a:ea typeface="Courier New"/>
                <a:cs typeface="Courier New"/>
                <a:sym typeface="Courier New"/>
              </a:rPr>
              <a:t>condition</a:t>
            </a:r>
            <a:r>
              <a:rPr lang="en">
                <a:solidFill>
                  <a:srgbClr val="FF0000"/>
                </a:solidFill>
                <a:latin typeface="Courier New"/>
                <a:ea typeface="Courier New"/>
                <a:cs typeface="Courier New"/>
                <a:sym typeface="Courier New"/>
              </a:rPr>
              <a:t>.signalAll()</a:t>
            </a:r>
            <a:r>
              <a:rPr lang="en"/>
              <a:t> method can be used to move </a:t>
            </a:r>
            <a:r>
              <a:rPr b="1" i="1" lang="en">
                <a:solidFill>
                  <a:srgbClr val="FF0000"/>
                </a:solidFill>
              </a:rPr>
              <a:t>all</a:t>
            </a:r>
            <a:r>
              <a:rPr lang="en">
                <a:solidFill>
                  <a:srgbClr val="FF0000"/>
                </a:solidFill>
              </a:rPr>
              <a:t> </a:t>
            </a:r>
            <a:r>
              <a:rPr lang="en"/>
              <a:t>of the waiting threads into the </a:t>
            </a:r>
            <a:r>
              <a:rPr b="1" i="1" lang="en">
                <a:solidFill>
                  <a:srgbClr val="FF0000"/>
                </a:solidFill>
              </a:rPr>
              <a:t>blocked</a:t>
            </a:r>
            <a:r>
              <a:rPr lang="en">
                <a:solidFill>
                  <a:srgbClr val="FF0000"/>
                </a:solidFill>
              </a:rPr>
              <a:t> </a:t>
            </a:r>
            <a:r>
              <a:rPr lang="en"/>
              <a:t>state at the same time.</a:t>
            </a:r>
            <a:endParaRPr/>
          </a:p>
          <a:p>
            <a:pPr indent="-298450" lvl="1" marL="914400" rtl="0" algn="l">
              <a:lnSpc>
                <a:spcPct val="100000"/>
              </a:lnSpc>
              <a:spcBef>
                <a:spcPts val="0"/>
              </a:spcBef>
              <a:spcAft>
                <a:spcPts val="0"/>
              </a:spcAft>
              <a:buSzPts val="1100"/>
              <a:buChar char="○"/>
            </a:pPr>
            <a:r>
              <a:rPr lang="en"/>
              <a:t>As with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the calling thread does not immediately surrender the lock.</a:t>
            </a:r>
            <a:endParaRPr/>
          </a:p>
          <a:p>
            <a:pPr indent="-311150" lvl="0" marL="457200" rtl="0" algn="l">
              <a:lnSpc>
                <a:spcPct val="100000"/>
              </a:lnSpc>
              <a:spcBef>
                <a:spcPts val="0"/>
              </a:spcBef>
              <a:spcAft>
                <a:spcPts val="0"/>
              </a:spcAft>
              <a:buSzPts val="1300"/>
              <a:buChar char="●"/>
            </a:pPr>
            <a:r>
              <a:rPr lang="en"/>
              <a:t>Only </a:t>
            </a:r>
            <a:r>
              <a:rPr b="1" i="1" lang="en">
                <a:solidFill>
                  <a:srgbClr val="FF0000"/>
                </a:solidFill>
              </a:rPr>
              <a:t>one </a:t>
            </a:r>
            <a:r>
              <a:rPr lang="en"/>
              <a:t>of the blocked threads will be able to acquire the lock when it is available.</a:t>
            </a:r>
            <a:endParaRPr/>
          </a:p>
          <a:p>
            <a:pPr indent="-298450" lvl="1" marL="914400" rtl="0" algn="l">
              <a:lnSpc>
                <a:spcPct val="100000"/>
              </a:lnSpc>
              <a:spcBef>
                <a:spcPts val="0"/>
              </a:spcBef>
              <a:spcAft>
                <a:spcPts val="0"/>
              </a:spcAft>
              <a:buSzPts val="1100"/>
              <a:buChar char="○"/>
            </a:pPr>
            <a:r>
              <a:rPr lang="en"/>
              <a:t>For this reason, cooperating threads should </a:t>
            </a:r>
            <a:r>
              <a:rPr b="1" i="1" lang="en">
                <a:solidFill>
                  <a:srgbClr val="FF0000"/>
                </a:solidFill>
              </a:rPr>
              <a:t>give up the lock</a:t>
            </a:r>
            <a:r>
              <a:rPr lang="en"/>
              <a:t> as soon as it is reasonable to do so.</a:t>
            </a:r>
            <a:endParaRPr/>
          </a:p>
        </p:txBody>
      </p:sp>
      <p:sp>
        <p:nvSpPr>
          <p:cNvPr id="700" name="Google Shape;700;p62"/>
          <p:cNvSpPr txBox="1"/>
          <p:nvPr>
            <p:ph idx="3" type="body"/>
          </p:nvPr>
        </p:nvSpPr>
        <p:spPr>
          <a:xfrm>
            <a:off x="5192225" y="41658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a:t>
            </a:r>
            <a:r>
              <a:rPr b="1" i="1" lang="en">
                <a:solidFill>
                  <a:srgbClr val="FF0000"/>
                </a:solidFill>
              </a:rPr>
              <a:t>thread scheduler</a:t>
            </a:r>
            <a:r>
              <a:rPr lang="en">
                <a:solidFill>
                  <a:srgbClr val="FF0000"/>
                </a:solidFill>
              </a:rPr>
              <a:t> </a:t>
            </a:r>
            <a:r>
              <a:rPr lang="en"/>
              <a:t>is still in charge of choosing the thread that acquires the lock. Which thread is chosen is </a:t>
            </a:r>
            <a:r>
              <a:rPr b="1" i="1" lang="en">
                <a:solidFill>
                  <a:srgbClr val="FF0000"/>
                </a:solidFill>
              </a:rPr>
              <a:t>unpredictable</a:t>
            </a:r>
            <a:r>
              <a:rPr lang="en"/>
              <a:t>.</a:t>
            </a:r>
            <a:endParaRPr/>
          </a:p>
        </p:txBody>
      </p:sp>
      <p:grpSp>
        <p:nvGrpSpPr>
          <p:cNvPr id="701" name="Google Shape;701;p62"/>
          <p:cNvGrpSpPr/>
          <p:nvPr/>
        </p:nvGrpSpPr>
        <p:grpSpPr>
          <a:xfrm>
            <a:off x="7187014" y="1119113"/>
            <a:ext cx="1486500" cy="2952988"/>
            <a:chOff x="6958414" y="1195313"/>
            <a:chExt cx="1486500" cy="2952988"/>
          </a:xfrm>
        </p:grpSpPr>
        <p:sp>
          <p:nvSpPr>
            <p:cNvPr id="702" name="Google Shape;702;p62"/>
            <p:cNvSpPr/>
            <p:nvPr/>
          </p:nvSpPr>
          <p:spPr>
            <a:xfrm>
              <a:off x="6958414" y="1969300"/>
              <a:ext cx="1486500" cy="1411200"/>
            </a:xfrm>
            <a:prstGeom prst="roundRect">
              <a:avLst>
                <a:gd fmla="val 9698" name="adj"/>
              </a:avLst>
            </a:prstGeom>
            <a:solidFill>
              <a:srgbClr val="B6D7A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2"/>
            <p:cNvSpPr/>
            <p:nvPr/>
          </p:nvSpPr>
          <p:spPr>
            <a:xfrm>
              <a:off x="7286250" y="1195313"/>
              <a:ext cx="8319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704" name="Google Shape;704;p62"/>
            <p:cNvSpPr/>
            <p:nvPr/>
          </p:nvSpPr>
          <p:spPr>
            <a:xfrm>
              <a:off x="7029750" y="2049450"/>
              <a:ext cx="13449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705" name="Google Shape;705;p62"/>
            <p:cNvSpPr/>
            <p:nvPr/>
          </p:nvSpPr>
          <p:spPr>
            <a:xfrm>
              <a:off x="7029750" y="2903575"/>
              <a:ext cx="13449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706" name="Google Shape;706;p62"/>
            <p:cNvSpPr/>
            <p:nvPr/>
          </p:nvSpPr>
          <p:spPr>
            <a:xfrm>
              <a:off x="7057607" y="3757700"/>
              <a:ext cx="13020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707" name="Google Shape;707;p62"/>
            <p:cNvCxnSpPr>
              <a:stCxn id="703" idx="2"/>
              <a:endCxn id="704" idx="0"/>
            </p:cNvCxnSpPr>
            <p:nvPr/>
          </p:nvCxnSpPr>
          <p:spPr>
            <a:xfrm>
              <a:off x="7702200" y="1585913"/>
              <a:ext cx="0" cy="463500"/>
            </a:xfrm>
            <a:prstGeom prst="straightConnector1">
              <a:avLst/>
            </a:prstGeom>
            <a:noFill/>
            <a:ln cap="flat" cmpd="sng" w="19050">
              <a:solidFill>
                <a:srgbClr val="FFFFFF"/>
              </a:solidFill>
              <a:prstDash val="solid"/>
              <a:round/>
              <a:headEnd len="med" w="med" type="none"/>
              <a:tailEnd len="med" w="med" type="triangle"/>
            </a:ln>
          </p:spPr>
        </p:cxnSp>
        <p:cxnSp>
          <p:nvCxnSpPr>
            <p:cNvPr id="708" name="Google Shape;708;p62"/>
            <p:cNvCxnSpPr>
              <a:stCxn id="705" idx="2"/>
              <a:endCxn id="706" idx="0"/>
            </p:cNvCxnSpPr>
            <p:nvPr/>
          </p:nvCxnSpPr>
          <p:spPr>
            <a:xfrm>
              <a:off x="7702200" y="3294175"/>
              <a:ext cx="6300" cy="463500"/>
            </a:xfrm>
            <a:prstGeom prst="straightConnector1">
              <a:avLst/>
            </a:prstGeom>
            <a:noFill/>
            <a:ln cap="flat" cmpd="sng" w="19050">
              <a:solidFill>
                <a:srgbClr val="FFFFFF"/>
              </a:solidFill>
              <a:prstDash val="solid"/>
              <a:round/>
              <a:headEnd len="med" w="med" type="none"/>
              <a:tailEnd len="med" w="med" type="triangle"/>
            </a:ln>
          </p:spPr>
        </p:cxnSp>
        <p:cxnSp>
          <p:nvCxnSpPr>
            <p:cNvPr id="709" name="Google Shape;709;p62"/>
            <p:cNvCxnSpPr/>
            <p:nvPr/>
          </p:nvCxnSpPr>
          <p:spPr>
            <a:xfrm>
              <a:off x="7333050" y="2445150"/>
              <a:ext cx="0" cy="470100"/>
            </a:xfrm>
            <a:prstGeom prst="straightConnector1">
              <a:avLst/>
            </a:prstGeom>
            <a:noFill/>
            <a:ln cap="flat" cmpd="sng" w="19050">
              <a:solidFill>
                <a:srgbClr val="FFFFFF"/>
              </a:solidFill>
              <a:prstDash val="solid"/>
              <a:round/>
              <a:headEnd len="med" w="med" type="none"/>
              <a:tailEnd len="med" w="med" type="triangle"/>
            </a:ln>
          </p:spPr>
        </p:cxnSp>
        <p:cxnSp>
          <p:nvCxnSpPr>
            <p:cNvPr id="710" name="Google Shape;710;p62"/>
            <p:cNvCxnSpPr/>
            <p:nvPr/>
          </p:nvCxnSpPr>
          <p:spPr>
            <a:xfrm rot="10800000">
              <a:off x="8094075" y="2445275"/>
              <a:ext cx="0" cy="470100"/>
            </a:xfrm>
            <a:prstGeom prst="straightConnector1">
              <a:avLst/>
            </a:prstGeom>
            <a:noFill/>
            <a:ln cap="flat" cmpd="sng" w="19050">
              <a:solidFill>
                <a:srgbClr val="FFFFFF"/>
              </a:solidFill>
              <a:prstDash val="solid"/>
              <a:round/>
              <a:headEnd len="med" w="med" type="none"/>
              <a:tailEnd len="med" w="med" type="triangle"/>
            </a:ln>
          </p:spPr>
        </p:cxnSp>
      </p:grpSp>
      <p:sp>
        <p:nvSpPr>
          <p:cNvPr id="711" name="Google Shape;711;p62"/>
          <p:cNvSpPr/>
          <p:nvPr/>
        </p:nvSpPr>
        <p:spPr>
          <a:xfrm>
            <a:off x="5271425" y="2436775"/>
            <a:ext cx="13449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sp>
        <p:nvSpPr>
          <p:cNvPr id="712" name="Google Shape;712;p62"/>
          <p:cNvSpPr txBox="1"/>
          <p:nvPr/>
        </p:nvSpPr>
        <p:spPr>
          <a:xfrm>
            <a:off x="6530442" y="897621"/>
            <a:ext cx="879600" cy="43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lock available</a:t>
            </a:r>
            <a:endParaRPr sz="1100">
              <a:solidFill>
                <a:srgbClr val="FFFFFF"/>
              </a:solidFill>
            </a:endParaRPr>
          </a:p>
        </p:txBody>
      </p:sp>
      <p:cxnSp>
        <p:nvCxnSpPr>
          <p:cNvPr id="713" name="Google Shape;713;p62"/>
          <p:cNvCxnSpPr>
            <a:stCxn id="705" idx="1"/>
            <a:endCxn id="711" idx="2"/>
          </p:cNvCxnSpPr>
          <p:nvPr/>
        </p:nvCxnSpPr>
        <p:spPr>
          <a:xfrm rot="10800000">
            <a:off x="5943750" y="2827375"/>
            <a:ext cx="1314600" cy="195300"/>
          </a:xfrm>
          <a:prstGeom prst="curvedConnector2">
            <a:avLst/>
          </a:prstGeom>
          <a:noFill/>
          <a:ln cap="flat" cmpd="sng" w="19050">
            <a:solidFill>
              <a:srgbClr val="FFFFFF"/>
            </a:solidFill>
            <a:prstDash val="solid"/>
            <a:round/>
            <a:headEnd len="med" w="med" type="none"/>
            <a:tailEnd len="med" w="med" type="triangle"/>
          </a:ln>
        </p:spPr>
      </p:cxnSp>
      <p:sp>
        <p:nvSpPr>
          <p:cNvPr id="714" name="Google Shape;714;p62"/>
          <p:cNvSpPr txBox="1"/>
          <p:nvPr/>
        </p:nvSpPr>
        <p:spPr>
          <a:xfrm>
            <a:off x="5156125" y="3022675"/>
            <a:ext cx="1974300" cy="92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Consolas"/>
                <a:ea typeface="Consolas"/>
                <a:cs typeface="Consolas"/>
                <a:sym typeface="Consolas"/>
              </a:rPr>
              <a:t>Thread.sleep()</a:t>
            </a:r>
            <a:endParaRPr sz="1100">
              <a:solidFill>
                <a:srgbClr val="FFFFFF"/>
              </a:solidFill>
              <a:latin typeface="Consolas"/>
              <a:ea typeface="Consolas"/>
              <a:cs typeface="Consolas"/>
              <a:sym typeface="Consolas"/>
            </a:endParaRPr>
          </a:p>
          <a:p>
            <a:pPr indent="0" lvl="0" marL="0" rtl="0" algn="ctr">
              <a:spcBef>
                <a:spcPts val="0"/>
              </a:spcBef>
              <a:spcAft>
                <a:spcPts val="0"/>
              </a:spcAft>
              <a:buNone/>
            </a:pPr>
            <a:r>
              <a:rPr lang="en" sz="1100">
                <a:solidFill>
                  <a:srgbClr val="FFFFFF"/>
                </a:solidFill>
              </a:rPr>
              <a:t>or</a:t>
            </a:r>
            <a:endParaRPr sz="1100">
              <a:solidFill>
                <a:srgbClr val="FFFFFF"/>
              </a:solidFill>
            </a:endParaRPr>
          </a:p>
          <a:p>
            <a:pPr indent="0" lvl="0" marL="0" rtl="0" algn="ctr">
              <a:spcBef>
                <a:spcPts val="0"/>
              </a:spcBef>
              <a:spcAft>
                <a:spcPts val="0"/>
              </a:spcAft>
              <a:buNone/>
            </a:pPr>
            <a:r>
              <a:rPr lang="en" sz="1100">
                <a:solidFill>
                  <a:srgbClr val="FFFFFF"/>
                </a:solidFill>
                <a:latin typeface="Consolas"/>
                <a:ea typeface="Consolas"/>
                <a:cs typeface="Consolas"/>
                <a:sym typeface="Consolas"/>
              </a:rPr>
              <a:t>es</a:t>
            </a:r>
            <a:r>
              <a:rPr lang="en" sz="1100">
                <a:solidFill>
                  <a:srgbClr val="FFFFFF"/>
                </a:solidFill>
                <a:latin typeface="Consolas"/>
                <a:ea typeface="Consolas"/>
                <a:cs typeface="Consolas"/>
                <a:sym typeface="Consolas"/>
              </a:rPr>
              <a:t>.awaitTermination()</a:t>
            </a:r>
            <a:endParaRPr sz="1100">
              <a:solidFill>
                <a:srgbClr val="FFFFFF"/>
              </a:solidFill>
              <a:latin typeface="Consolas"/>
              <a:ea typeface="Consolas"/>
              <a:cs typeface="Consolas"/>
              <a:sym typeface="Consolas"/>
            </a:endParaRPr>
          </a:p>
          <a:p>
            <a:pPr indent="0" lvl="0" marL="0" rtl="0" algn="ctr">
              <a:spcBef>
                <a:spcPts val="0"/>
              </a:spcBef>
              <a:spcAft>
                <a:spcPts val="0"/>
              </a:spcAft>
              <a:buNone/>
            </a:pPr>
            <a:r>
              <a:rPr lang="en" sz="1100">
                <a:solidFill>
                  <a:srgbClr val="FFFFFF"/>
                </a:solidFill>
              </a:rPr>
              <a:t>or</a:t>
            </a:r>
            <a:endParaRPr sz="1100">
              <a:solidFill>
                <a:srgbClr val="FFFFFF"/>
              </a:solidFill>
            </a:endParaRPr>
          </a:p>
          <a:p>
            <a:pPr indent="0" lvl="0" marL="0" rtl="0" algn="ctr">
              <a:spcBef>
                <a:spcPts val="0"/>
              </a:spcBef>
              <a:spcAft>
                <a:spcPts val="0"/>
              </a:spcAft>
              <a:buNone/>
            </a:pPr>
            <a:r>
              <a:rPr lang="en" sz="1100">
                <a:solidFill>
                  <a:srgbClr val="FFFFFF"/>
                </a:solidFill>
                <a:latin typeface="Consolas"/>
                <a:ea typeface="Consolas"/>
                <a:cs typeface="Consolas"/>
                <a:sym typeface="Consolas"/>
              </a:rPr>
              <a:t>condition</a:t>
            </a:r>
            <a:r>
              <a:rPr lang="en" sz="1100">
                <a:solidFill>
                  <a:srgbClr val="FFFFFF"/>
                </a:solidFill>
                <a:latin typeface="Consolas"/>
                <a:ea typeface="Consolas"/>
                <a:cs typeface="Consolas"/>
                <a:sym typeface="Consolas"/>
              </a:rPr>
              <a:t>.await</a:t>
            </a:r>
            <a:r>
              <a:rPr lang="en" sz="1100">
                <a:solidFill>
                  <a:srgbClr val="FFFFFF"/>
                </a:solidFill>
                <a:latin typeface="Consolas"/>
                <a:ea typeface="Consolas"/>
                <a:cs typeface="Consolas"/>
                <a:sym typeface="Consolas"/>
              </a:rPr>
              <a:t>Uninterruptibly</a:t>
            </a:r>
            <a:r>
              <a:rPr lang="en" sz="1100">
                <a:solidFill>
                  <a:srgbClr val="FFFFFF"/>
                </a:solidFill>
                <a:latin typeface="Consolas"/>
                <a:ea typeface="Consolas"/>
                <a:cs typeface="Consolas"/>
                <a:sym typeface="Consolas"/>
              </a:rPr>
              <a:t>()</a:t>
            </a:r>
            <a:endParaRPr sz="1100">
              <a:solidFill>
                <a:srgbClr val="FFFFFF"/>
              </a:solidFill>
              <a:latin typeface="Consolas"/>
              <a:ea typeface="Consolas"/>
              <a:cs typeface="Consolas"/>
              <a:sym typeface="Consolas"/>
            </a:endParaRPr>
          </a:p>
        </p:txBody>
      </p:sp>
      <p:sp>
        <p:nvSpPr>
          <p:cNvPr id="715" name="Google Shape;715;p62"/>
          <p:cNvSpPr/>
          <p:nvPr/>
        </p:nvSpPr>
        <p:spPr>
          <a:xfrm>
            <a:off x="5271425" y="1119125"/>
            <a:ext cx="1344900" cy="390600"/>
          </a:xfrm>
          <a:prstGeom prst="roundRect">
            <a:avLst>
              <a:gd fmla="val 16667" name="adj"/>
            </a:avLst>
          </a:prstGeom>
          <a:solidFill>
            <a:srgbClr val="FF0000"/>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BLOCKED</a:t>
            </a:r>
            <a:endParaRPr>
              <a:solidFill>
                <a:srgbClr val="FFFFFF"/>
              </a:solidFill>
            </a:endParaRPr>
          </a:p>
        </p:txBody>
      </p:sp>
      <p:cxnSp>
        <p:nvCxnSpPr>
          <p:cNvPr id="716" name="Google Shape;716;p62"/>
          <p:cNvCxnSpPr>
            <a:stCxn id="715" idx="3"/>
            <a:endCxn id="704" idx="1"/>
          </p:cNvCxnSpPr>
          <p:nvPr/>
        </p:nvCxnSpPr>
        <p:spPr>
          <a:xfrm>
            <a:off x="6616325" y="1314425"/>
            <a:ext cx="642000" cy="854100"/>
          </a:xfrm>
          <a:prstGeom prst="curvedConnector3">
            <a:avLst>
              <a:gd fmla="val 50002" name="adj1"/>
            </a:avLst>
          </a:prstGeom>
          <a:noFill/>
          <a:ln cap="flat" cmpd="sng" w="19050">
            <a:solidFill>
              <a:srgbClr val="FFFFFF"/>
            </a:solidFill>
            <a:prstDash val="solid"/>
            <a:round/>
            <a:headEnd len="med" w="med" type="none"/>
            <a:tailEnd len="med" w="med" type="triangle"/>
          </a:ln>
        </p:spPr>
      </p:cxnSp>
      <p:cxnSp>
        <p:nvCxnSpPr>
          <p:cNvPr id="717" name="Google Shape;717;p62"/>
          <p:cNvCxnSpPr/>
          <p:nvPr/>
        </p:nvCxnSpPr>
        <p:spPr>
          <a:xfrm rot="10800000">
            <a:off x="5445892" y="1509775"/>
            <a:ext cx="0" cy="9270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1000"/>
                                        <p:tgtEl>
                                          <p:spTgt spid="7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Lots of Waiters II</a:t>
            </a:r>
            <a:endParaRPr/>
          </a:p>
        </p:txBody>
      </p:sp>
      <p:sp>
        <p:nvSpPr>
          <p:cNvPr id="723" name="Google Shape;723;p6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will only notify a single waiting thread (chosen by the thread scheduler). Any other threads will remain in the waiting state. Let's use </a:t>
            </a:r>
            <a:r>
              <a:rPr lang="en">
                <a:latin typeface="Courier New"/>
                <a:ea typeface="Courier New"/>
                <a:cs typeface="Courier New"/>
                <a:sym typeface="Courier New"/>
              </a:rPr>
              <a:t>condition</a:t>
            </a:r>
            <a:r>
              <a:rPr lang="en">
                <a:latin typeface="Courier New"/>
                <a:ea typeface="Courier New"/>
                <a:cs typeface="Courier New"/>
                <a:sym typeface="Courier New"/>
              </a:rPr>
              <a:t>.signalAll()</a:t>
            </a:r>
            <a:r>
              <a:rPr lang="en"/>
              <a:t> to notify </a:t>
            </a:r>
            <a:r>
              <a:rPr i="1" lang="en"/>
              <a:t>all</a:t>
            </a:r>
            <a:r>
              <a:rPr lang="en"/>
              <a:t> of the waiting threads instead!</a:t>
            </a:r>
            <a:endParaRPr/>
          </a:p>
        </p:txBody>
      </p:sp>
      <p:sp>
        <p:nvSpPr>
          <p:cNvPr id="724" name="Google Shape;724;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5" name="Google Shape;725;p63"/>
          <p:cNvSpPr txBox="1"/>
          <p:nvPr>
            <p:ph idx="2" type="body"/>
          </p:nvPr>
        </p:nvSpPr>
        <p:spPr>
          <a:xfrm>
            <a:off x="3547500" y="1936925"/>
            <a:ext cx="5393700" cy="24444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Open the </a:t>
            </a:r>
            <a:r>
              <a:rPr lang="en" sz="2000">
                <a:latin typeface="Courier New"/>
                <a:ea typeface="Courier New"/>
                <a:cs typeface="Courier New"/>
                <a:sym typeface="Courier New"/>
              </a:rPr>
              <a:t>Waiter</a:t>
            </a:r>
            <a:r>
              <a:rPr lang="en" sz="2000"/>
              <a:t> class and navigate to the </a:t>
            </a:r>
            <a:r>
              <a:rPr lang="en" sz="2000">
                <a:latin typeface="Courier New"/>
                <a:ea typeface="Courier New"/>
                <a:cs typeface="Courier New"/>
                <a:sym typeface="Courier New"/>
              </a:rPr>
              <a:t>main</a:t>
            </a:r>
            <a:r>
              <a:rPr lang="en" sz="2000"/>
              <a:t> method.</a:t>
            </a:r>
            <a:endParaRPr sz="2000"/>
          </a:p>
          <a:p>
            <a:pPr indent="-342900" lvl="1" marL="914400" rtl="0" algn="l">
              <a:spcBef>
                <a:spcPts val="0"/>
              </a:spcBef>
              <a:spcAft>
                <a:spcPts val="0"/>
              </a:spcAft>
              <a:buSzPts val="1800"/>
              <a:buChar char="○"/>
            </a:pPr>
            <a:r>
              <a:rPr lang="en" sz="1800"/>
              <a:t>Update the main to call </a:t>
            </a:r>
            <a:r>
              <a:rPr lang="en" sz="1800">
                <a:solidFill>
                  <a:srgbClr val="FF0000"/>
                </a:solidFill>
                <a:latin typeface="Courier New"/>
                <a:ea typeface="Courier New"/>
                <a:cs typeface="Courier New"/>
                <a:sym typeface="Courier New"/>
              </a:rPr>
              <a:t>condition</a:t>
            </a:r>
            <a:r>
              <a:rPr lang="en" sz="1800">
                <a:solidFill>
                  <a:srgbClr val="FF0000"/>
                </a:solidFill>
                <a:latin typeface="Courier New"/>
                <a:ea typeface="Courier New"/>
                <a:cs typeface="Courier New"/>
                <a:sym typeface="Courier New"/>
              </a:rPr>
              <a:t>.signalAll()</a:t>
            </a:r>
            <a:r>
              <a:rPr lang="en" sz="1800"/>
              <a:t> instead of </a:t>
            </a:r>
            <a:r>
              <a:rPr lang="en" sz="1800">
                <a:latin typeface="Courier New"/>
                <a:ea typeface="Courier New"/>
                <a:cs typeface="Courier New"/>
                <a:sym typeface="Courier New"/>
              </a:rPr>
              <a:t>condition</a:t>
            </a:r>
            <a:r>
              <a:rPr lang="en" sz="1800">
                <a:latin typeface="Courier New"/>
                <a:ea typeface="Courier New"/>
                <a:cs typeface="Courier New"/>
                <a:sym typeface="Courier New"/>
              </a:rPr>
              <a:t>.signal()</a:t>
            </a:r>
            <a:r>
              <a:rPr lang="en" sz="1800"/>
              <a:t>.</a:t>
            </a:r>
            <a:endParaRPr sz="1800"/>
          </a:p>
          <a:p>
            <a:pPr indent="-342900" lvl="1" marL="914400" rtl="0" algn="l">
              <a:spcBef>
                <a:spcPts val="0"/>
              </a:spcBef>
              <a:spcAft>
                <a:spcPts val="0"/>
              </a:spcAft>
              <a:buSzPts val="1800"/>
              <a:buChar char="○"/>
            </a:pPr>
            <a:r>
              <a:rPr lang="en" sz="1800"/>
              <a:t>Run the class.</a:t>
            </a:r>
            <a:endParaRPr sz="1800"/>
          </a:p>
          <a:p>
            <a:pPr indent="-342900" lvl="1" marL="914400" rtl="0" algn="l">
              <a:spcBef>
                <a:spcPts val="0"/>
              </a:spcBef>
              <a:spcAft>
                <a:spcPts val="0"/>
              </a:spcAft>
              <a:buSzPts val="1800"/>
              <a:buChar char="○"/>
            </a:pPr>
            <a:r>
              <a:rPr lang="en" sz="1800"/>
              <a:t>What happens?</a:t>
            </a:r>
            <a:endParaRPr sz="1800"/>
          </a:p>
        </p:txBody>
      </p:sp>
      <p:sp>
        <p:nvSpPr>
          <p:cNvPr id="726" name="Google Shape;726;p6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SzPts val="990"/>
              <a:buNone/>
            </a:pPr>
            <a:r>
              <a:rPr lang="en"/>
              <a:t>11.11</a:t>
            </a:r>
            <a:endParaRPr/>
          </a:p>
        </p:txBody>
      </p:sp>
      <p:pic>
        <p:nvPicPr>
          <p:cNvPr id="727" name="Google Shape;727;p63"/>
          <p:cNvPicPr preferRelativeResize="0"/>
          <p:nvPr/>
        </p:nvPicPr>
        <p:blipFill>
          <a:blip r:embed="rId3">
            <a:alphaModFix/>
          </a:blip>
          <a:stretch>
            <a:fillRect/>
          </a:stretch>
        </p:blipFill>
        <p:spPr>
          <a:xfrm>
            <a:off x="228600" y="2230375"/>
            <a:ext cx="2150175" cy="2644361"/>
          </a:xfrm>
          <a:prstGeom prst="rect">
            <a:avLst/>
          </a:prstGeom>
          <a:noFill/>
          <a:ln>
            <a:noFill/>
          </a:ln>
        </p:spPr>
      </p:pic>
      <p:sp>
        <p:nvSpPr>
          <p:cNvPr id="728" name="Google Shape;728;p63"/>
          <p:cNvSpPr/>
          <p:nvPr/>
        </p:nvSpPr>
        <p:spPr>
          <a:xfrm>
            <a:off x="1674225" y="1881675"/>
            <a:ext cx="1797000" cy="523200"/>
          </a:xfrm>
          <a:prstGeom prst="wedgeRoundRectCallout">
            <a:avLst>
              <a:gd fmla="val -42567" name="adj1"/>
              <a:gd fmla="val 15562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rPr>
              <a:t>WAKE UP!</a:t>
            </a:r>
            <a:endParaRPr b="1" sz="220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64"/>
          <p:cNvSpPr txBox="1"/>
          <p:nvPr>
            <p:ph type="title"/>
          </p:nvPr>
        </p:nvSpPr>
        <p:spPr>
          <a:xfrm>
            <a:off x="5188525" y="437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Producer/Consumer</a:t>
            </a:r>
            <a:endParaRPr sz="2700"/>
          </a:p>
        </p:txBody>
      </p:sp>
      <p:sp>
        <p:nvSpPr>
          <p:cNvPr id="734" name="Google Shape;734;p64"/>
          <p:cNvSpPr txBox="1"/>
          <p:nvPr>
            <p:ph idx="1" type="body"/>
          </p:nvPr>
        </p:nvSpPr>
        <p:spPr>
          <a:xfrm>
            <a:off x="377475" y="119925"/>
            <a:ext cx="4270800" cy="46176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It is often the case that a thread wants some work done, but does not want to take time away from its primary task to do the work itself.</a:t>
            </a:r>
            <a:endParaRPr/>
          </a:p>
          <a:p>
            <a:pPr indent="-311150" lvl="0" marL="457200" rtl="0" algn="l">
              <a:lnSpc>
                <a:spcPct val="100000"/>
              </a:lnSpc>
              <a:spcBef>
                <a:spcPts val="0"/>
              </a:spcBef>
              <a:spcAft>
                <a:spcPts val="0"/>
              </a:spcAft>
              <a:buSzPts val="1300"/>
              <a:buChar char="●"/>
            </a:pPr>
            <a:r>
              <a:rPr lang="en"/>
              <a:t>For example, consider a thread handling requests from internet browsers on a web server.</a:t>
            </a:r>
            <a:endParaRPr/>
          </a:p>
          <a:p>
            <a:pPr indent="-298450" lvl="1" marL="914400" rtl="0" algn="l">
              <a:lnSpc>
                <a:spcPct val="100000"/>
              </a:lnSpc>
              <a:spcBef>
                <a:spcPts val="0"/>
              </a:spcBef>
              <a:spcAft>
                <a:spcPts val="0"/>
              </a:spcAft>
              <a:buSzPts val="1100"/>
              <a:buChar char="○"/>
            </a:pPr>
            <a:r>
              <a:rPr lang="en"/>
              <a:t>It is important that requests are logged, but file I/O operations are slow and expensive.</a:t>
            </a:r>
            <a:endParaRPr/>
          </a:p>
          <a:p>
            <a:pPr indent="-298450" lvl="1" marL="914400" rtl="0" algn="l">
              <a:lnSpc>
                <a:spcPct val="100000"/>
              </a:lnSpc>
              <a:spcBef>
                <a:spcPts val="0"/>
              </a:spcBef>
              <a:spcAft>
                <a:spcPts val="0"/>
              </a:spcAft>
              <a:buSzPts val="1100"/>
              <a:buChar char="○"/>
            </a:pPr>
            <a:r>
              <a:rPr lang="en"/>
              <a:t>If the thread tried to perform the logging itself, it would slow down response times.</a:t>
            </a:r>
            <a:endParaRPr/>
          </a:p>
          <a:p>
            <a:pPr indent="-311150" lvl="0" marL="457200" rtl="0" algn="l">
              <a:lnSpc>
                <a:spcPct val="100000"/>
              </a:lnSpc>
              <a:spcBef>
                <a:spcPts val="0"/>
              </a:spcBef>
              <a:spcAft>
                <a:spcPts val="0"/>
              </a:spcAft>
              <a:buSzPts val="1300"/>
              <a:buChar char="●"/>
            </a:pPr>
            <a:r>
              <a:rPr lang="en"/>
              <a:t>Instead, the thread will create a job and place it in a queue.</a:t>
            </a:r>
            <a:endParaRPr/>
          </a:p>
          <a:p>
            <a:pPr indent="-298450" lvl="1" marL="914400" rtl="0" algn="l">
              <a:lnSpc>
                <a:spcPct val="100000"/>
              </a:lnSpc>
              <a:spcBef>
                <a:spcPts val="0"/>
              </a:spcBef>
              <a:spcAft>
                <a:spcPts val="0"/>
              </a:spcAft>
              <a:buSzPts val="1100"/>
              <a:buChar char="○"/>
            </a:pPr>
            <a:r>
              <a:rPr lang="en"/>
              <a:t>This enables it to stay focused on its primary task.</a:t>
            </a:r>
            <a:endParaRPr/>
          </a:p>
          <a:p>
            <a:pPr indent="-298450" lvl="1" marL="914400" rtl="0" algn="l">
              <a:lnSpc>
                <a:spcPct val="100000"/>
              </a:lnSpc>
              <a:spcBef>
                <a:spcPts val="0"/>
              </a:spcBef>
              <a:spcAft>
                <a:spcPts val="0"/>
              </a:spcAft>
              <a:buSzPts val="1100"/>
              <a:buChar char="○"/>
            </a:pPr>
            <a:r>
              <a:rPr lang="en"/>
              <a:t>We call this thread the </a:t>
            </a:r>
            <a:r>
              <a:rPr b="1" i="1" lang="en">
                <a:solidFill>
                  <a:srgbClr val="FF0000"/>
                </a:solidFill>
              </a:rPr>
              <a:t>producer</a:t>
            </a:r>
            <a:r>
              <a:rPr lang="en">
                <a:solidFill>
                  <a:srgbClr val="FF0000"/>
                </a:solidFill>
              </a:rPr>
              <a:t> </a:t>
            </a:r>
            <a:r>
              <a:rPr lang="en"/>
              <a:t>because it produces jobs for some other thread to complete.</a:t>
            </a:r>
            <a:endParaRPr/>
          </a:p>
          <a:p>
            <a:pPr indent="-311150" lvl="0" marL="457200" rtl="0" algn="l">
              <a:lnSpc>
                <a:spcPct val="100000"/>
              </a:lnSpc>
              <a:spcBef>
                <a:spcPts val="0"/>
              </a:spcBef>
              <a:spcAft>
                <a:spcPts val="0"/>
              </a:spcAft>
              <a:buSzPts val="1300"/>
              <a:buChar char="●"/>
            </a:pPr>
            <a:r>
              <a:rPr lang="en"/>
              <a:t>Another thread will wait for notification that at least one job has been added to the queue, and then does the job.</a:t>
            </a:r>
            <a:endParaRPr/>
          </a:p>
          <a:p>
            <a:pPr indent="-298450" lvl="1" marL="914400" rtl="0" algn="l">
              <a:lnSpc>
                <a:spcPct val="100000"/>
              </a:lnSpc>
              <a:spcBef>
                <a:spcPts val="0"/>
              </a:spcBef>
              <a:spcAft>
                <a:spcPts val="0"/>
              </a:spcAft>
              <a:buSzPts val="1100"/>
              <a:buChar char="○"/>
            </a:pPr>
            <a:r>
              <a:rPr lang="en"/>
              <a:t>We call this thread the </a:t>
            </a:r>
            <a:r>
              <a:rPr b="1" i="1" lang="en">
                <a:solidFill>
                  <a:srgbClr val="FF0000"/>
                </a:solidFill>
              </a:rPr>
              <a:t>consumer</a:t>
            </a:r>
            <a:r>
              <a:rPr lang="en">
                <a:solidFill>
                  <a:srgbClr val="FF0000"/>
                </a:solidFill>
              </a:rPr>
              <a:t> </a:t>
            </a:r>
            <a:r>
              <a:rPr lang="en"/>
              <a:t>because it consumes jobs created by some other thread.</a:t>
            </a:r>
            <a:endParaRPr/>
          </a:p>
          <a:p>
            <a:pPr indent="-311150" lvl="0" marL="457200" rtl="0" algn="l">
              <a:lnSpc>
                <a:spcPct val="100000"/>
              </a:lnSpc>
              <a:spcBef>
                <a:spcPts val="0"/>
              </a:spcBef>
              <a:spcAft>
                <a:spcPts val="0"/>
              </a:spcAft>
              <a:buSzPts val="1300"/>
              <a:buChar char="●"/>
            </a:pPr>
            <a:r>
              <a:rPr lang="en"/>
              <a:t>This is known as the </a:t>
            </a:r>
            <a:r>
              <a:rPr b="1" i="1" lang="en">
                <a:solidFill>
                  <a:srgbClr val="FF0000"/>
                </a:solidFill>
              </a:rPr>
              <a:t>Producer/Consumer Problem</a:t>
            </a:r>
            <a:r>
              <a:rPr lang="en"/>
              <a:t>.</a:t>
            </a:r>
            <a:endParaRPr/>
          </a:p>
          <a:p>
            <a:pPr indent="-298450" lvl="1" marL="914400" rtl="0" algn="l">
              <a:lnSpc>
                <a:spcPct val="100000"/>
              </a:lnSpc>
              <a:spcBef>
                <a:spcPts val="0"/>
              </a:spcBef>
              <a:spcAft>
                <a:spcPts val="0"/>
              </a:spcAft>
              <a:buSzPts val="1100"/>
              <a:buChar char="○"/>
            </a:pPr>
            <a:r>
              <a:rPr lang="en"/>
              <a:t>It is a classic problem that requires synchronization and communication between threads.</a:t>
            </a:r>
            <a:endParaRPr/>
          </a:p>
        </p:txBody>
      </p:sp>
      <p:sp>
        <p:nvSpPr>
          <p:cNvPr id="735" name="Google Shape;735;p6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736" name="Google Shape;736;p64"/>
          <p:cNvGrpSpPr/>
          <p:nvPr/>
        </p:nvGrpSpPr>
        <p:grpSpPr>
          <a:xfrm>
            <a:off x="6210800" y="659675"/>
            <a:ext cx="1688100" cy="1892973"/>
            <a:chOff x="6210800" y="659675"/>
            <a:chExt cx="1688100" cy="1892973"/>
          </a:xfrm>
        </p:grpSpPr>
        <p:sp>
          <p:nvSpPr>
            <p:cNvPr id="737" name="Google Shape;737;p64"/>
            <p:cNvSpPr/>
            <p:nvPr/>
          </p:nvSpPr>
          <p:spPr>
            <a:xfrm>
              <a:off x="6326750" y="659675"/>
              <a:ext cx="1446900" cy="529800"/>
            </a:xfrm>
            <a:prstGeom prst="rect">
              <a:avLst/>
            </a:prstGeom>
            <a:solidFill>
              <a:srgbClr val="FCE5CD"/>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Producer</a:t>
              </a:r>
              <a:endParaRPr/>
            </a:p>
          </p:txBody>
        </p:sp>
        <p:sp>
          <p:nvSpPr>
            <p:cNvPr id="738" name="Google Shape;738;p64"/>
            <p:cNvSpPr txBox="1"/>
            <p:nvPr/>
          </p:nvSpPr>
          <p:spPr>
            <a:xfrm>
              <a:off x="6210800" y="1562048"/>
              <a:ext cx="1688100" cy="990600"/>
            </a:xfrm>
            <a:prstGeom prst="rect">
              <a:avLst/>
            </a:prstGeom>
            <a:solidFill>
              <a:srgbClr val="4A86E8"/>
            </a:solidFill>
            <a:ln cap="flat" cmpd="sng" w="19050">
              <a:solidFill>
                <a:srgbClr val="FFFFFF"/>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Work Queue</a:t>
              </a:r>
              <a:endParaRPr sz="1200">
                <a:solidFill>
                  <a:srgbClr val="FFFFFF"/>
                </a:solidFill>
              </a:endParaRPr>
            </a:p>
          </p:txBody>
        </p:sp>
      </p:grpSp>
      <p:sp>
        <p:nvSpPr>
          <p:cNvPr id="739" name="Google Shape;739;p64"/>
          <p:cNvSpPr/>
          <p:nvPr/>
        </p:nvSpPr>
        <p:spPr>
          <a:xfrm>
            <a:off x="6326750" y="2847650"/>
            <a:ext cx="1446900" cy="529800"/>
          </a:xfrm>
          <a:prstGeom prst="rect">
            <a:avLst/>
          </a:prstGeom>
          <a:solidFill>
            <a:srgbClr val="FCE5CD"/>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Consumer</a:t>
            </a:r>
            <a:endParaRPr/>
          </a:p>
        </p:txBody>
      </p:sp>
      <p:sp>
        <p:nvSpPr>
          <p:cNvPr id="740" name="Google Shape;740;p64"/>
          <p:cNvSpPr/>
          <p:nvPr/>
        </p:nvSpPr>
        <p:spPr>
          <a:xfrm rot="-5400000">
            <a:off x="61699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sp>
        <p:nvSpPr>
          <p:cNvPr id="741" name="Google Shape;741;p64"/>
          <p:cNvSpPr/>
          <p:nvPr/>
        </p:nvSpPr>
        <p:spPr>
          <a:xfrm rot="-5400000">
            <a:off x="64747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sp>
        <p:nvSpPr>
          <p:cNvPr id="742" name="Google Shape;742;p64"/>
          <p:cNvSpPr/>
          <p:nvPr/>
        </p:nvSpPr>
        <p:spPr>
          <a:xfrm rot="-5400000">
            <a:off x="67795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sp>
        <p:nvSpPr>
          <p:cNvPr id="743" name="Google Shape;743;p64"/>
          <p:cNvSpPr/>
          <p:nvPr/>
        </p:nvSpPr>
        <p:spPr>
          <a:xfrm rot="-5400000">
            <a:off x="70843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sp>
        <p:nvSpPr>
          <p:cNvPr id="744" name="Google Shape;744;p64"/>
          <p:cNvSpPr/>
          <p:nvPr/>
        </p:nvSpPr>
        <p:spPr>
          <a:xfrm rot="-5400000">
            <a:off x="73891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grpSp>
        <p:nvGrpSpPr>
          <p:cNvPr id="745" name="Google Shape;745;p64"/>
          <p:cNvGrpSpPr/>
          <p:nvPr/>
        </p:nvGrpSpPr>
        <p:grpSpPr>
          <a:xfrm>
            <a:off x="7773650" y="924575"/>
            <a:ext cx="583150" cy="990600"/>
            <a:chOff x="7773650" y="924575"/>
            <a:chExt cx="583150" cy="990600"/>
          </a:xfrm>
        </p:grpSpPr>
        <p:cxnSp>
          <p:nvCxnSpPr>
            <p:cNvPr id="746" name="Google Shape;746;p64"/>
            <p:cNvCxnSpPr>
              <a:stCxn id="737" idx="3"/>
              <a:endCxn id="744" idx="2"/>
            </p:cNvCxnSpPr>
            <p:nvPr/>
          </p:nvCxnSpPr>
          <p:spPr>
            <a:xfrm>
              <a:off x="7773650" y="924575"/>
              <a:ext cx="600" cy="990600"/>
            </a:xfrm>
            <a:prstGeom prst="curvedConnector3">
              <a:avLst>
                <a:gd fmla="val 39687500" name="adj1"/>
              </a:avLst>
            </a:prstGeom>
            <a:noFill/>
            <a:ln cap="flat" cmpd="sng" w="19050">
              <a:solidFill>
                <a:srgbClr val="EA9999"/>
              </a:solidFill>
              <a:prstDash val="solid"/>
              <a:round/>
              <a:headEnd len="med" w="med" type="none"/>
              <a:tailEnd len="med" w="med" type="triangle"/>
            </a:ln>
          </p:spPr>
        </p:cxnSp>
        <p:sp>
          <p:nvSpPr>
            <p:cNvPr id="747" name="Google Shape;747;p64"/>
            <p:cNvSpPr/>
            <p:nvPr/>
          </p:nvSpPr>
          <p:spPr>
            <a:xfrm rot="-5400000">
              <a:off x="7972350" y="130227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grpSp>
      <p:grpSp>
        <p:nvGrpSpPr>
          <p:cNvPr id="748" name="Google Shape;748;p64"/>
          <p:cNvGrpSpPr/>
          <p:nvPr/>
        </p:nvGrpSpPr>
        <p:grpSpPr>
          <a:xfrm>
            <a:off x="5740013" y="1915125"/>
            <a:ext cx="586687" cy="1197300"/>
            <a:chOff x="5740013" y="1915125"/>
            <a:chExt cx="586687" cy="1197300"/>
          </a:xfrm>
        </p:grpSpPr>
        <p:cxnSp>
          <p:nvCxnSpPr>
            <p:cNvPr id="749" name="Google Shape;749;p64"/>
            <p:cNvCxnSpPr>
              <a:stCxn id="740" idx="0"/>
              <a:endCxn id="739" idx="1"/>
            </p:cNvCxnSpPr>
            <p:nvPr/>
          </p:nvCxnSpPr>
          <p:spPr>
            <a:xfrm>
              <a:off x="6319200" y="1915125"/>
              <a:ext cx="7500" cy="1197300"/>
            </a:xfrm>
            <a:prstGeom prst="curvedConnector3">
              <a:avLst>
                <a:gd fmla="val -3175000" name="adj1"/>
              </a:avLst>
            </a:prstGeom>
            <a:noFill/>
            <a:ln cap="flat" cmpd="sng" w="19050">
              <a:solidFill>
                <a:srgbClr val="EA9999"/>
              </a:solidFill>
              <a:prstDash val="solid"/>
              <a:round/>
              <a:headEnd len="med" w="med" type="none"/>
              <a:tailEnd len="med" w="med" type="triangle"/>
            </a:ln>
          </p:spPr>
        </p:cxnSp>
        <p:sp>
          <p:nvSpPr>
            <p:cNvPr id="750" name="Google Shape;750;p64"/>
            <p:cNvSpPr/>
            <p:nvPr/>
          </p:nvSpPr>
          <p:spPr>
            <a:xfrm rot="-5400000">
              <a:off x="5590763" y="244527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grpSp>
      <p:sp>
        <p:nvSpPr>
          <p:cNvPr id="751" name="Google Shape;751;p64"/>
          <p:cNvSpPr txBox="1"/>
          <p:nvPr/>
        </p:nvSpPr>
        <p:spPr>
          <a:xfrm>
            <a:off x="5115900" y="3479575"/>
            <a:ext cx="3829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 </a:t>
            </a:r>
            <a:r>
              <a:rPr b="1" i="1" lang="en" sz="1200">
                <a:solidFill>
                  <a:srgbClr val="FF0000"/>
                </a:solidFill>
              </a:rPr>
              <a:t>Producer/Consumer</a:t>
            </a:r>
            <a:r>
              <a:rPr lang="en" sz="1200"/>
              <a:t> pattern, one or more </a:t>
            </a:r>
            <a:r>
              <a:rPr b="1" i="1" lang="en" sz="1200">
                <a:solidFill>
                  <a:srgbClr val="FF0000"/>
                </a:solidFill>
              </a:rPr>
              <a:t>producers </a:t>
            </a:r>
            <a:r>
              <a:rPr lang="en" sz="1200"/>
              <a:t>creates jobs and adds them to a queue before sending a notification.</a:t>
            </a:r>
            <a:endParaRPr sz="1200"/>
          </a:p>
        </p:txBody>
      </p:sp>
      <p:sp>
        <p:nvSpPr>
          <p:cNvPr id="752" name="Google Shape;752;p64"/>
          <p:cNvSpPr txBox="1"/>
          <p:nvPr/>
        </p:nvSpPr>
        <p:spPr>
          <a:xfrm>
            <a:off x="5116025" y="4301100"/>
            <a:ext cx="3829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One or more </a:t>
            </a:r>
            <a:r>
              <a:rPr b="1" i="1" lang="en" sz="1200">
                <a:solidFill>
                  <a:srgbClr val="FF0000"/>
                </a:solidFill>
              </a:rPr>
              <a:t>consumers </a:t>
            </a:r>
            <a:r>
              <a:rPr lang="en" sz="1200"/>
              <a:t>waits for notification. When notified, a </a:t>
            </a:r>
            <a:r>
              <a:rPr b="1" i="1" lang="en" sz="1200">
                <a:solidFill>
                  <a:srgbClr val="FF0000"/>
                </a:solidFill>
              </a:rPr>
              <a:t>consumer </a:t>
            </a:r>
            <a:r>
              <a:rPr lang="en" sz="1200"/>
              <a:t>removes the next job from the queue and executes it.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1000"/>
                                        <p:tgtEl>
                                          <p:spTgt spid="751"/>
                                        </p:tgtEl>
                                      </p:cBhvr>
                                    </p:animEffect>
                                  </p:childTnLst>
                                </p:cTn>
                              </p:par>
                              <p:par>
                                <p:cTn fill="hold" nodeType="with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1000"/>
                                        <p:tgtEl>
                                          <p:spTgt spid="7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1000"/>
                                        <p:tgtEl>
                                          <p:spTgt spid="74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1000"/>
                                        <p:tgtEl>
                                          <p:spTgt spid="74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1000"/>
                                        <p:tgtEl>
                                          <p:spTgt spid="74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1000"/>
                                        <p:tgtEl>
                                          <p:spTgt spid="742"/>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1000"/>
                                        <p:tgtEl>
                                          <p:spTgt spid="743"/>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1000"/>
                                        <p:tgtEl>
                                          <p:spTgt spid="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1000"/>
                                        <p:tgtEl>
                                          <p:spTgt spid="752"/>
                                        </p:tgtEl>
                                      </p:cBhvr>
                                    </p:animEffect>
                                  </p:childTnLst>
                                </p:cTn>
                              </p:par>
                              <p:par>
                                <p:cTn fill="hold" nodeType="with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1000"/>
                                        <p:tgtEl>
                                          <p:spTgt spid="7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1000"/>
                                        <p:tgtEl>
                                          <p:spTgt spid="748"/>
                                        </p:tgtEl>
                                      </p:cBhvr>
                                    </p:animEffect>
                                  </p:childTnLst>
                                </p:cTn>
                              </p:par>
                              <p:par>
                                <p:cTn fill="hold" nodeType="withEffect" presetClass="exit" presetID="10" presetSubtype="0">
                                  <p:stCondLst>
                                    <p:cond delay="0"/>
                                  </p:stCondLst>
                                  <p:childTnLst>
                                    <p:animEffect filter="fade" transition="out">
                                      <p:cBhvr>
                                        <p:cTn dur="1000"/>
                                        <p:tgtEl>
                                          <p:spTgt spid="744"/>
                                        </p:tgtEl>
                                      </p:cBhvr>
                                    </p:animEffect>
                                    <p:set>
                                      <p:cBhvr>
                                        <p:cTn dur="1" fill="hold">
                                          <p:stCondLst>
                                            <p:cond delay="1000"/>
                                          </p:stCondLst>
                                        </p:cTn>
                                        <p:tgtEl>
                                          <p:spTgt spid="744"/>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1000"/>
                                        <p:tgtEl>
                                          <p:spTgt spid="743"/>
                                        </p:tgtEl>
                                      </p:cBhvr>
                                    </p:animEffect>
                                    <p:set>
                                      <p:cBhvr>
                                        <p:cTn dur="1" fill="hold">
                                          <p:stCondLst>
                                            <p:cond delay="1000"/>
                                          </p:stCondLst>
                                        </p:cTn>
                                        <p:tgtEl>
                                          <p:spTgt spid="743"/>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1000"/>
                                        <p:tgtEl>
                                          <p:spTgt spid="742"/>
                                        </p:tgtEl>
                                      </p:cBhvr>
                                    </p:animEffect>
                                    <p:set>
                                      <p:cBhvr>
                                        <p:cTn dur="1" fill="hold">
                                          <p:stCondLst>
                                            <p:cond delay="1000"/>
                                          </p:stCondLst>
                                        </p:cTn>
                                        <p:tgtEl>
                                          <p:spTgt spid="742"/>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1000"/>
                                        <p:tgtEl>
                                          <p:spTgt spid="741"/>
                                        </p:tgtEl>
                                      </p:cBhvr>
                                    </p:animEffect>
                                    <p:set>
                                      <p:cBhvr>
                                        <p:cTn dur="1" fill="hold">
                                          <p:stCondLst>
                                            <p:cond delay="1000"/>
                                          </p:stCondLst>
                                        </p:cTn>
                                        <p:tgtEl>
                                          <p:spTgt spid="741"/>
                                        </p:tgtEl>
                                        <p:attrNameLst>
                                          <p:attrName>style.visibility</p:attrName>
                                        </p:attrNameLst>
                                      </p:cBhvr>
                                      <p:to>
                                        <p:strVal val="hidden"/>
                                      </p:to>
                                    </p:set>
                                  </p:childTnLst>
                                </p:cTn>
                              </p:par>
                            </p:childTnLst>
                          </p:cTn>
                        </p:par>
                        <p:par>
                          <p:cTn fill="hold">
                            <p:stCondLst>
                              <p:cond delay="5000"/>
                            </p:stCondLst>
                            <p:childTnLst>
                              <p:par>
                                <p:cTn fill="hold" nodeType="afterEffect" presetClass="exit" presetID="10" presetSubtype="0">
                                  <p:stCondLst>
                                    <p:cond delay="0"/>
                                  </p:stCondLst>
                                  <p:childTnLst>
                                    <p:animEffect filter="fade" transition="out">
                                      <p:cBhvr>
                                        <p:cTn dur="1000"/>
                                        <p:tgtEl>
                                          <p:spTgt spid="740"/>
                                        </p:tgtEl>
                                      </p:cBhvr>
                                    </p:animEffect>
                                    <p:set>
                                      <p:cBhvr>
                                        <p:cTn dur="1" fill="hold">
                                          <p:stCondLst>
                                            <p:cond delay="1000"/>
                                          </p:stCondLst>
                                        </p:cTn>
                                        <p:tgtEl>
                                          <p:spTgt spid="74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Consumer</a:t>
            </a:r>
            <a:endParaRPr/>
          </a:p>
        </p:txBody>
      </p:sp>
      <p:sp>
        <p:nvSpPr>
          <p:cNvPr id="758" name="Google Shape;758;p65"/>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i="1" lang="en"/>
              <a:t>consumer </a:t>
            </a:r>
            <a:r>
              <a:rPr lang="en"/>
              <a:t>in a </a:t>
            </a:r>
            <a:r>
              <a:rPr i="1" lang="en"/>
              <a:t>producer/consumer</a:t>
            </a:r>
            <a:r>
              <a:rPr lang="en"/>
              <a:t> pattern is a thread that waits for some work to do. Let's write a consumer that prints strings added to a queue to standard output. If the queue is empty, the consumer should wait. </a:t>
            </a:r>
            <a:endParaRPr/>
          </a:p>
        </p:txBody>
      </p:sp>
      <p:sp>
        <p:nvSpPr>
          <p:cNvPr id="759" name="Google Shape;759;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0" name="Google Shape;760;p65"/>
          <p:cNvSpPr txBox="1"/>
          <p:nvPr>
            <p:ph idx="2" type="body"/>
          </p:nvPr>
        </p:nvSpPr>
        <p:spPr>
          <a:xfrm>
            <a:off x="2452275" y="1570875"/>
            <a:ext cx="6483000" cy="3575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Consumer</a:t>
            </a:r>
            <a:r>
              <a:rPr lang="en"/>
              <a:t>" in the </a:t>
            </a:r>
            <a:r>
              <a:rPr lang="en">
                <a:latin typeface="Courier New"/>
                <a:ea typeface="Courier New"/>
                <a:cs typeface="Courier New"/>
                <a:sym typeface="Courier New"/>
              </a:rPr>
              <a:t>activities</a:t>
            </a:r>
            <a:r>
              <a:rPr lang="en"/>
              <a:t> package and use your preferred method to make it a thread.</a:t>
            </a:r>
            <a:endParaRPr/>
          </a:p>
          <a:p>
            <a:pPr indent="-298450" lvl="1" marL="914400" rtl="0" algn="l">
              <a:spcBef>
                <a:spcPts val="0"/>
              </a:spcBef>
              <a:spcAft>
                <a:spcPts val="0"/>
              </a:spcAft>
              <a:buSzPts val="1100"/>
              <a:buChar char="○"/>
            </a:pPr>
            <a:r>
              <a:rPr lang="en"/>
              <a:t>The class should declare fields for a </a:t>
            </a:r>
            <a:r>
              <a:rPr lang="en">
                <a:solidFill>
                  <a:srgbClr val="FF0000"/>
                </a:solidFill>
                <a:latin typeface="Courier New"/>
                <a:ea typeface="Courier New"/>
                <a:cs typeface="Courier New"/>
                <a:sym typeface="Courier New"/>
              </a:rPr>
              <a:t>queue</a:t>
            </a:r>
            <a:r>
              <a:rPr lang="en">
                <a:solidFill>
                  <a:srgbClr val="FF0000"/>
                </a:solidFill>
              </a:rPr>
              <a:t> </a:t>
            </a:r>
            <a:r>
              <a:rPr lang="en"/>
              <a:t>of strings (a </a:t>
            </a:r>
            <a:r>
              <a:rPr lang="en">
                <a:latin typeface="Courier New"/>
                <a:ea typeface="Courier New"/>
                <a:cs typeface="Courier New"/>
                <a:sym typeface="Courier New"/>
              </a:rPr>
              <a:t>LinkedList</a:t>
            </a:r>
            <a:r>
              <a:rPr lang="en"/>
              <a:t>), a </a:t>
            </a:r>
            <a:r>
              <a:rPr lang="en">
                <a:solidFill>
                  <a:srgbClr val="FF0000"/>
                </a:solidFill>
                <a:latin typeface="Courier New"/>
                <a:ea typeface="Courier New"/>
                <a:cs typeface="Courier New"/>
                <a:sym typeface="Courier New"/>
              </a:rPr>
              <a:t>lock</a:t>
            </a:r>
            <a:r>
              <a:rPr lang="en"/>
              <a:t>, a </a:t>
            </a:r>
            <a:r>
              <a:rPr lang="en">
                <a:solidFill>
                  <a:srgbClr val="FF0000"/>
                </a:solidFill>
                <a:latin typeface="Courier New"/>
                <a:ea typeface="Courier New"/>
                <a:cs typeface="Courier New"/>
                <a:sym typeface="Courier New"/>
              </a:rPr>
              <a:t>condition</a:t>
            </a:r>
            <a:r>
              <a:rPr lang="en"/>
              <a:t>, and an </a:t>
            </a:r>
            <a:r>
              <a:rPr lang="en">
                <a:solidFill>
                  <a:srgbClr val="FF0000"/>
                </a:solidFill>
                <a:latin typeface="Courier New"/>
                <a:ea typeface="Courier New"/>
                <a:cs typeface="Courier New"/>
                <a:sym typeface="Courier New"/>
              </a:rPr>
              <a:t>id</a:t>
            </a:r>
            <a:r>
              <a:rPr lang="en"/>
              <a:t>.</a:t>
            </a:r>
            <a:endParaRPr/>
          </a:p>
          <a:p>
            <a:pPr indent="-298450" lvl="1" marL="914400" rtl="0" algn="l">
              <a:spcBef>
                <a:spcPts val="0"/>
              </a:spcBef>
              <a:spcAft>
                <a:spcPts val="0"/>
              </a:spcAft>
              <a:buSzPts val="1100"/>
              <a:buChar char="○"/>
            </a:pPr>
            <a:r>
              <a:rPr lang="en"/>
              <a:t>Write an </a:t>
            </a:r>
            <a:r>
              <a:rPr b="1" i="1" lang="en">
                <a:solidFill>
                  <a:srgbClr val="FF0000"/>
                </a:solidFill>
              </a:rPr>
              <a:t>initializing constructor</a:t>
            </a:r>
            <a:r>
              <a:rPr lang="en"/>
              <a:t>.</a:t>
            </a:r>
            <a:endParaRPr/>
          </a:p>
          <a:p>
            <a:pPr indent="-298450" lvl="1" marL="914400" rtl="0" algn="l">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solidFill>
                  <a:srgbClr val="FF0000"/>
                </a:solidFill>
              </a:rPr>
              <a:t> </a:t>
            </a:r>
            <a:r>
              <a:rPr lang="en"/>
              <a:t>method should use a </a:t>
            </a:r>
            <a:r>
              <a:rPr lang="en">
                <a:latin typeface="Courier New"/>
                <a:ea typeface="Courier New"/>
                <a:cs typeface="Courier New"/>
                <a:sym typeface="Courier New"/>
              </a:rPr>
              <a:t>while</a:t>
            </a:r>
            <a:r>
              <a:rPr lang="en"/>
              <a:t> loop to:</a:t>
            </a:r>
            <a:endParaRPr/>
          </a:p>
          <a:p>
            <a:pPr indent="-298450" lvl="2" marL="1371600" rtl="0" algn="l">
              <a:spcBef>
                <a:spcPts val="0"/>
              </a:spcBef>
              <a:spcAft>
                <a:spcPts val="0"/>
              </a:spcAft>
              <a:buSzPts val="1100"/>
              <a:buChar char="■"/>
            </a:pPr>
            <a:r>
              <a:rPr b="1" i="1" lang="en">
                <a:solidFill>
                  <a:srgbClr val="FF0000"/>
                </a:solidFill>
              </a:rPr>
              <a:t>Remove and print </a:t>
            </a:r>
            <a:r>
              <a:rPr lang="en"/>
              <a:t>any strings in the </a:t>
            </a:r>
            <a:r>
              <a:rPr lang="en">
                <a:latin typeface="Courier New"/>
                <a:ea typeface="Courier New"/>
                <a:cs typeface="Courier New"/>
                <a:sym typeface="Courier New"/>
              </a:rPr>
              <a:t>queue</a:t>
            </a:r>
            <a:r>
              <a:rPr lang="en"/>
              <a:t>. Make sure to include the Consumer's </a:t>
            </a:r>
            <a:r>
              <a:rPr lang="en">
                <a:latin typeface="Courier New"/>
                <a:ea typeface="Courier New"/>
                <a:cs typeface="Courier New"/>
                <a:sym typeface="Courier New"/>
              </a:rPr>
              <a:t>id</a:t>
            </a:r>
            <a:r>
              <a:rPr lang="en"/>
              <a:t> when printing.</a:t>
            </a:r>
            <a:endParaRPr/>
          </a:p>
          <a:p>
            <a:pPr indent="-298450" lvl="2" marL="1371600" rtl="0" algn="l">
              <a:spcBef>
                <a:spcPts val="0"/>
              </a:spcBef>
              <a:spcAft>
                <a:spcPts val="0"/>
              </a:spcAft>
              <a:buSzPts val="1100"/>
              <a:buChar char="■"/>
            </a:pPr>
            <a:r>
              <a:rPr lang="en"/>
              <a:t>If the </a:t>
            </a:r>
            <a:r>
              <a:rPr lang="en">
                <a:latin typeface="Courier New"/>
                <a:ea typeface="Courier New"/>
                <a:cs typeface="Courier New"/>
                <a:sym typeface="Courier New"/>
              </a:rPr>
              <a:t>queue</a:t>
            </a:r>
            <a:r>
              <a:rPr lang="en"/>
              <a:t> is </a:t>
            </a:r>
            <a:r>
              <a:rPr b="1" i="1" lang="en">
                <a:solidFill>
                  <a:srgbClr val="FF0000"/>
                </a:solidFill>
              </a:rPr>
              <a:t>empty</a:t>
            </a:r>
            <a:r>
              <a:rPr lang="en"/>
              <a:t>, print a message indicating that the consumer is waiting for more work, and then </a:t>
            </a:r>
            <a:r>
              <a:rPr b="1" i="1" lang="en">
                <a:solidFill>
                  <a:srgbClr val="FF0000"/>
                </a:solidFill>
              </a:rPr>
              <a:t>wait</a:t>
            </a:r>
            <a:r>
              <a:rPr lang="en"/>
              <a:t>.</a:t>
            </a:r>
            <a:endParaRPr/>
          </a:p>
          <a:p>
            <a:pPr indent="-298450" lvl="2" marL="1371600" rtl="0" algn="l">
              <a:spcBef>
                <a:spcPts val="0"/>
              </a:spcBef>
              <a:spcAft>
                <a:spcPts val="0"/>
              </a:spcAft>
              <a:buSzPts val="1100"/>
              <a:buChar char="■"/>
            </a:pPr>
            <a:r>
              <a:rPr lang="en"/>
              <a:t>Don't forget to </a:t>
            </a:r>
            <a:r>
              <a:rPr b="1" i="1" lang="en">
                <a:solidFill>
                  <a:srgbClr val="FF0000"/>
                </a:solidFill>
              </a:rPr>
              <a:t>lock</a:t>
            </a:r>
            <a:r>
              <a:rPr b="1" i="1" lang="en">
                <a:solidFill>
                  <a:srgbClr val="FF0000"/>
                </a:solidFill>
              </a:rPr>
              <a:t> </a:t>
            </a:r>
            <a:r>
              <a:rPr lang="en"/>
              <a:t>before removing from </a:t>
            </a:r>
            <a:r>
              <a:rPr lang="en"/>
              <a:t>the </a:t>
            </a:r>
            <a:r>
              <a:rPr lang="en">
                <a:latin typeface="Courier New"/>
                <a:ea typeface="Courier New"/>
                <a:cs typeface="Courier New"/>
                <a:sym typeface="Courier New"/>
              </a:rPr>
              <a:t>queue</a:t>
            </a:r>
            <a:r>
              <a:rPr lang="en"/>
              <a:t> and before </a:t>
            </a:r>
            <a:r>
              <a:rPr b="1" i="1" lang="en">
                <a:solidFill>
                  <a:srgbClr val="FF0000"/>
                </a:solidFill>
              </a:rPr>
              <a:t>waiting</a:t>
            </a:r>
            <a:r>
              <a:rPr lang="en"/>
              <a:t> on a condition!</a:t>
            </a:r>
            <a:endParaRPr/>
          </a:p>
          <a:p>
            <a:pPr indent="-311150" lvl="0" marL="457200" rtl="0" algn="l">
              <a:spcBef>
                <a:spcPts val="0"/>
              </a:spcBef>
              <a:spcAft>
                <a:spcPts val="0"/>
              </a:spcAft>
              <a:buSzPts val="1300"/>
              <a:buChar char="●"/>
            </a:pPr>
            <a:r>
              <a:rPr lang="en"/>
              <a:t>Define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 and:</a:t>
            </a:r>
            <a:endParaRPr/>
          </a:p>
          <a:p>
            <a:pPr indent="-298450" lvl="1" marL="914400" rtl="0" algn="l">
              <a:spcBef>
                <a:spcPts val="0"/>
              </a:spcBef>
              <a:spcAft>
                <a:spcPts val="0"/>
              </a:spcAft>
              <a:buSzPts val="1100"/>
              <a:buChar char="○"/>
            </a:pPr>
            <a:r>
              <a:rPr lang="en"/>
              <a:t>Create a </a:t>
            </a:r>
            <a:r>
              <a:rPr lang="en">
                <a:latin typeface="Courier New"/>
                <a:ea typeface="Courier New"/>
                <a:cs typeface="Courier New"/>
                <a:sym typeface="Courier New"/>
              </a:rPr>
              <a:t>LinkedList</a:t>
            </a:r>
            <a:r>
              <a:rPr lang="en"/>
              <a:t> and add at least two of messages to it.</a:t>
            </a:r>
            <a:endParaRPr/>
          </a:p>
          <a:p>
            <a:pPr indent="-298450" lvl="1" marL="914400" rtl="0" algn="l">
              <a:spcBef>
                <a:spcPts val="0"/>
              </a:spcBef>
              <a:spcAft>
                <a:spcPts val="0"/>
              </a:spcAft>
              <a:buSzPts val="1100"/>
              <a:buChar char="○"/>
            </a:pPr>
            <a:r>
              <a:rPr lang="en"/>
              <a:t>Create the shared </a:t>
            </a:r>
            <a:r>
              <a:rPr lang="en">
                <a:solidFill>
                  <a:srgbClr val="666666"/>
                </a:solidFill>
                <a:latin typeface="Courier New"/>
                <a:ea typeface="Courier New"/>
                <a:cs typeface="Courier New"/>
                <a:sym typeface="Courier New"/>
              </a:rPr>
              <a:t>Lock</a:t>
            </a:r>
            <a:r>
              <a:rPr lang="en">
                <a:solidFill>
                  <a:srgbClr val="666666"/>
                </a:solidFill>
              </a:rPr>
              <a:t> </a:t>
            </a:r>
            <a:r>
              <a:rPr lang="en"/>
              <a:t>and notEmpty </a:t>
            </a:r>
            <a:r>
              <a:rPr lang="en">
                <a:solidFill>
                  <a:srgbClr val="666666"/>
                </a:solidFill>
                <a:latin typeface="Courier New"/>
                <a:ea typeface="Courier New"/>
                <a:cs typeface="Courier New"/>
                <a:sym typeface="Courier New"/>
              </a:rPr>
              <a:t>Condition</a:t>
            </a:r>
            <a:r>
              <a:rPr lang="en"/>
              <a:t>.</a:t>
            </a:r>
            <a:endParaRPr/>
          </a:p>
          <a:p>
            <a:pPr indent="-298450" lvl="1" marL="914400" rtl="0" algn="l">
              <a:spcBef>
                <a:spcPts val="0"/>
              </a:spcBef>
              <a:spcAft>
                <a:spcPts val="0"/>
              </a:spcAft>
              <a:buSzPts val="1100"/>
              <a:buChar char="○"/>
            </a:pPr>
            <a:r>
              <a:rPr lang="en"/>
              <a:t>Create an instance of your </a:t>
            </a:r>
            <a:r>
              <a:rPr lang="en">
                <a:latin typeface="Courier New"/>
                <a:ea typeface="Courier New"/>
                <a:cs typeface="Courier New"/>
                <a:sym typeface="Courier New"/>
              </a:rPr>
              <a:t>Consumer</a:t>
            </a:r>
            <a:r>
              <a:rPr lang="en"/>
              <a:t>  and run it in an </a:t>
            </a:r>
            <a:r>
              <a:rPr lang="en">
                <a:latin typeface="Courier New"/>
                <a:ea typeface="Courier New"/>
                <a:cs typeface="Courier New"/>
                <a:sym typeface="Courier New"/>
              </a:rPr>
              <a:t>ExecutorService</a:t>
            </a:r>
            <a:r>
              <a:rPr lang="en"/>
              <a:t>.</a:t>
            </a:r>
            <a:endParaRPr/>
          </a:p>
          <a:p>
            <a:pPr indent="-298450" lvl="1" marL="914400" rtl="0" algn="l">
              <a:spcBef>
                <a:spcPts val="0"/>
              </a:spcBef>
              <a:spcAft>
                <a:spcPts val="0"/>
              </a:spcAft>
              <a:buSzPts val="1100"/>
              <a:buChar char="○"/>
            </a:pPr>
            <a:r>
              <a:rPr lang="en"/>
              <a:t>What happens?</a:t>
            </a:r>
            <a:endParaRPr/>
          </a:p>
        </p:txBody>
      </p:sp>
      <p:sp>
        <p:nvSpPr>
          <p:cNvPr id="761" name="Google Shape;761;p6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11.12</a:t>
            </a:r>
            <a:endParaRPr/>
          </a:p>
        </p:txBody>
      </p:sp>
      <p:pic>
        <p:nvPicPr>
          <p:cNvPr descr="Image result for sleeping z's" id="762" name="Google Shape;762;p65"/>
          <p:cNvPicPr preferRelativeResize="0"/>
          <p:nvPr/>
        </p:nvPicPr>
        <p:blipFill>
          <a:blip r:embed="rId3">
            <a:alphaModFix/>
          </a:blip>
          <a:stretch>
            <a:fillRect/>
          </a:stretch>
        </p:blipFill>
        <p:spPr>
          <a:xfrm>
            <a:off x="503725" y="2851325"/>
            <a:ext cx="1640022" cy="1830025"/>
          </a:xfrm>
          <a:prstGeom prst="rect">
            <a:avLst/>
          </a:prstGeom>
          <a:noFill/>
          <a:ln>
            <a:noFill/>
          </a:ln>
        </p:spPr>
      </p:pic>
      <p:sp>
        <p:nvSpPr>
          <p:cNvPr id="763" name="Google Shape;763;p65"/>
          <p:cNvSpPr/>
          <p:nvPr/>
        </p:nvSpPr>
        <p:spPr>
          <a:xfrm>
            <a:off x="303475" y="1840575"/>
            <a:ext cx="2052000" cy="881400"/>
          </a:xfrm>
          <a:prstGeom prst="cloudCallout">
            <a:avLst>
              <a:gd fmla="val 9057" name="adj1"/>
              <a:gd fmla="val 74991"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Waiting for work...</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6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Producer</a:t>
            </a:r>
            <a:endParaRPr/>
          </a:p>
        </p:txBody>
      </p:sp>
      <p:sp>
        <p:nvSpPr>
          <p:cNvPr id="769" name="Google Shape;769;p66"/>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i="1" lang="en"/>
              <a:t>producer</a:t>
            </a:r>
            <a:r>
              <a:rPr lang="en"/>
              <a:t> in a </a:t>
            </a:r>
            <a:r>
              <a:rPr i="1" lang="en"/>
              <a:t>producer/consumer </a:t>
            </a:r>
            <a:r>
              <a:rPr lang="en"/>
              <a:t>pattern creates work meant to be done by the </a:t>
            </a:r>
            <a:r>
              <a:rPr i="1" lang="en"/>
              <a:t>consumers</a:t>
            </a:r>
            <a:r>
              <a:rPr lang="en"/>
              <a:t>. Usually this work is time-consuming and not directly related to the producer's core job. Let's make a producer that adds strings to the shared queue for the consumers to print. </a:t>
            </a:r>
            <a:endParaRPr/>
          </a:p>
        </p:txBody>
      </p:sp>
      <p:sp>
        <p:nvSpPr>
          <p:cNvPr id="770" name="Google Shape;770;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1" name="Google Shape;771;p66"/>
          <p:cNvSpPr txBox="1"/>
          <p:nvPr>
            <p:ph idx="2" type="body"/>
          </p:nvPr>
        </p:nvSpPr>
        <p:spPr>
          <a:xfrm>
            <a:off x="2511250" y="1708325"/>
            <a:ext cx="6429900" cy="33810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Producer.java</a:t>
            </a:r>
            <a:r>
              <a:rPr lang="en"/>
              <a:t>" in the </a:t>
            </a:r>
            <a:r>
              <a:rPr lang="en">
                <a:latin typeface="Courier New"/>
                <a:ea typeface="Courier New"/>
                <a:cs typeface="Courier New"/>
                <a:sym typeface="Courier New"/>
              </a:rPr>
              <a:t>activities</a:t>
            </a:r>
            <a:r>
              <a:rPr lang="en"/>
              <a:t> package and use your preferred method to make it a thread.</a:t>
            </a:r>
            <a:endParaRPr/>
          </a:p>
          <a:p>
            <a:pPr indent="-298450" lvl="1" marL="914400" rtl="0" algn="l">
              <a:spcBef>
                <a:spcPts val="0"/>
              </a:spcBef>
              <a:spcAft>
                <a:spcPts val="0"/>
              </a:spcAft>
              <a:buSzPts val="1100"/>
              <a:buChar char="○"/>
            </a:pPr>
            <a:r>
              <a:rPr lang="en"/>
              <a:t>The class should declare fields for a </a:t>
            </a:r>
            <a:r>
              <a:rPr lang="en">
                <a:solidFill>
                  <a:srgbClr val="FF0000"/>
                </a:solidFill>
                <a:latin typeface="Courier New"/>
                <a:ea typeface="Courier New"/>
                <a:cs typeface="Courier New"/>
                <a:sym typeface="Courier New"/>
              </a:rPr>
              <a:t>queue</a:t>
            </a:r>
            <a:r>
              <a:rPr lang="en">
                <a:solidFill>
                  <a:srgbClr val="FF0000"/>
                </a:solidFill>
              </a:rPr>
              <a:t> </a:t>
            </a:r>
            <a:r>
              <a:rPr lang="en"/>
              <a:t>of strings (a </a:t>
            </a:r>
            <a:r>
              <a:rPr lang="en">
                <a:latin typeface="Courier New"/>
                <a:ea typeface="Courier New"/>
                <a:cs typeface="Courier New"/>
                <a:sym typeface="Courier New"/>
              </a:rPr>
              <a:t>LinkedList</a:t>
            </a:r>
            <a:r>
              <a:rPr lang="en"/>
              <a:t>), a </a:t>
            </a:r>
            <a:r>
              <a:rPr lang="en">
                <a:solidFill>
                  <a:srgbClr val="FF0000"/>
                </a:solidFill>
                <a:latin typeface="Courier New"/>
                <a:ea typeface="Courier New"/>
                <a:cs typeface="Courier New"/>
                <a:sym typeface="Courier New"/>
              </a:rPr>
              <a:t>lock</a:t>
            </a:r>
            <a:r>
              <a:rPr lang="en"/>
              <a:t>, a </a:t>
            </a:r>
            <a:r>
              <a:rPr lang="en">
                <a:solidFill>
                  <a:srgbClr val="FF0000"/>
                </a:solidFill>
                <a:latin typeface="Courier New"/>
                <a:ea typeface="Courier New"/>
                <a:cs typeface="Courier New"/>
                <a:sym typeface="Courier New"/>
              </a:rPr>
              <a:t>condition</a:t>
            </a:r>
            <a:r>
              <a:rPr lang="en"/>
              <a:t>, and an </a:t>
            </a:r>
            <a:r>
              <a:rPr lang="en">
                <a:solidFill>
                  <a:srgbClr val="FF0000"/>
                </a:solidFill>
                <a:latin typeface="Courier New"/>
                <a:ea typeface="Courier New"/>
                <a:cs typeface="Courier New"/>
                <a:sym typeface="Courier New"/>
              </a:rPr>
              <a:t>id</a:t>
            </a:r>
            <a:r>
              <a:rPr lang="en"/>
              <a:t>.</a:t>
            </a:r>
            <a:endParaRPr/>
          </a:p>
          <a:p>
            <a:pPr indent="-298450" lvl="1" marL="914400" rtl="0" algn="l">
              <a:spcBef>
                <a:spcPts val="0"/>
              </a:spcBef>
              <a:spcAft>
                <a:spcPts val="0"/>
              </a:spcAft>
              <a:buSzPts val="1100"/>
              <a:buChar char="○"/>
            </a:pPr>
            <a:r>
              <a:rPr lang="en"/>
              <a:t>Write an </a:t>
            </a:r>
            <a:r>
              <a:rPr b="1" i="1" lang="en">
                <a:solidFill>
                  <a:srgbClr val="FF0000"/>
                </a:solidFill>
              </a:rPr>
              <a:t>initializing constructor</a:t>
            </a:r>
            <a:r>
              <a:rPr lang="en"/>
              <a:t>.</a:t>
            </a:r>
            <a:endParaRPr/>
          </a:p>
          <a:p>
            <a:pPr indent="-298450" lvl="1" marL="914400" rtl="0" algn="l">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solidFill>
                  <a:srgbClr val="FF0000"/>
                </a:solidFill>
              </a:rPr>
              <a:t> </a:t>
            </a:r>
            <a:r>
              <a:rPr lang="en"/>
              <a:t>method should use a </a:t>
            </a:r>
            <a:r>
              <a:rPr lang="en">
                <a:latin typeface="Courier New"/>
                <a:ea typeface="Courier New"/>
                <a:cs typeface="Courier New"/>
                <a:sym typeface="Courier New"/>
              </a:rPr>
              <a:t>while</a:t>
            </a:r>
            <a:r>
              <a:rPr lang="en"/>
              <a:t> loop to:</a:t>
            </a:r>
            <a:endParaRPr/>
          </a:p>
          <a:p>
            <a:pPr indent="-298450" lvl="2" marL="1371600" rtl="0" algn="l">
              <a:spcBef>
                <a:spcPts val="0"/>
              </a:spcBef>
              <a:spcAft>
                <a:spcPts val="0"/>
              </a:spcAft>
              <a:buSzPts val="1100"/>
              <a:buChar char="■"/>
            </a:pPr>
            <a:r>
              <a:rPr b="1" i="1" lang="en">
                <a:solidFill>
                  <a:srgbClr val="FF0000"/>
                </a:solidFill>
              </a:rPr>
              <a:t>Sleep</a:t>
            </a:r>
            <a:r>
              <a:rPr lang="en">
                <a:solidFill>
                  <a:srgbClr val="FF0000"/>
                </a:solidFill>
              </a:rPr>
              <a:t> </a:t>
            </a:r>
            <a:r>
              <a:rPr lang="en"/>
              <a:t>for 1000 milliseconds.</a:t>
            </a:r>
            <a:endParaRPr/>
          </a:p>
          <a:p>
            <a:pPr indent="-298450" lvl="2" marL="1371600" rtl="0" algn="l">
              <a:spcBef>
                <a:spcPts val="0"/>
              </a:spcBef>
              <a:spcAft>
                <a:spcPts val="0"/>
              </a:spcAft>
              <a:buSzPts val="1100"/>
              <a:buChar char="■"/>
            </a:pPr>
            <a:r>
              <a:rPr b="1" i="1" lang="en">
                <a:solidFill>
                  <a:srgbClr val="FF0000"/>
                </a:solidFill>
              </a:rPr>
              <a:t>Create </a:t>
            </a:r>
            <a:r>
              <a:rPr lang="en"/>
              <a:t>a random number of </a:t>
            </a:r>
            <a:r>
              <a:rPr b="1" i="1" lang="en">
                <a:solidFill>
                  <a:srgbClr val="FF0000"/>
                </a:solidFill>
              </a:rPr>
              <a:t>1-5 </a:t>
            </a:r>
            <a:r>
              <a:rPr b="1" i="1" lang="en">
                <a:solidFill>
                  <a:srgbClr val="FF0000"/>
                </a:solidFill>
              </a:rPr>
              <a:t>messages</a:t>
            </a:r>
            <a:r>
              <a:rPr lang="en"/>
              <a:t> </a:t>
            </a:r>
            <a:r>
              <a:rPr lang="en"/>
              <a:t>of your choice. Each should include the </a:t>
            </a:r>
            <a:r>
              <a:rPr lang="en">
                <a:latin typeface="Courier New"/>
                <a:ea typeface="Courier New"/>
                <a:cs typeface="Courier New"/>
                <a:sym typeface="Courier New"/>
              </a:rPr>
              <a:t>id</a:t>
            </a:r>
            <a:r>
              <a:rPr lang="en"/>
              <a:t>.</a:t>
            </a:r>
            <a:endParaRPr/>
          </a:p>
          <a:p>
            <a:pPr indent="-298450" lvl="2" marL="1371600" rtl="0" algn="l">
              <a:spcBef>
                <a:spcPts val="0"/>
              </a:spcBef>
              <a:spcAft>
                <a:spcPts val="0"/>
              </a:spcAft>
              <a:buSzPts val="1100"/>
              <a:buChar char="■"/>
            </a:pPr>
            <a:r>
              <a:rPr b="1" i="1" lang="en">
                <a:solidFill>
                  <a:srgbClr val="FF0000"/>
                </a:solidFill>
              </a:rPr>
              <a:t>Add </a:t>
            </a:r>
            <a:r>
              <a:rPr lang="en"/>
              <a:t>the message(s) to the </a:t>
            </a:r>
            <a:r>
              <a:rPr lang="en">
                <a:latin typeface="Courier New"/>
                <a:ea typeface="Courier New"/>
                <a:cs typeface="Courier New"/>
                <a:sym typeface="Courier New"/>
              </a:rPr>
              <a:t>queue</a:t>
            </a:r>
            <a:r>
              <a:rPr lang="en"/>
              <a:t>.</a:t>
            </a:r>
            <a:endParaRPr/>
          </a:p>
          <a:p>
            <a:pPr indent="-298450" lvl="2" marL="1371600" rtl="0" algn="l">
              <a:spcBef>
                <a:spcPts val="0"/>
              </a:spcBef>
              <a:spcAft>
                <a:spcPts val="0"/>
              </a:spcAft>
              <a:buSzPts val="1100"/>
              <a:buChar char="■"/>
            </a:pPr>
            <a:r>
              <a:rPr lang="en"/>
              <a:t>Use the </a:t>
            </a:r>
            <a:r>
              <a:rPr lang="en">
                <a:latin typeface="Courier New"/>
                <a:ea typeface="Courier New"/>
                <a:cs typeface="Courier New"/>
                <a:sym typeface="Courier New"/>
              </a:rPr>
              <a:t>condition</a:t>
            </a:r>
            <a:r>
              <a:rPr lang="en"/>
              <a:t> to </a:t>
            </a:r>
            <a:r>
              <a:rPr b="1" i="1" lang="en">
                <a:solidFill>
                  <a:srgbClr val="FF0000"/>
                </a:solidFill>
              </a:rPr>
              <a:t>signal</a:t>
            </a:r>
            <a:r>
              <a:rPr b="1" i="1" lang="en">
                <a:solidFill>
                  <a:srgbClr val="FF0000"/>
                </a:solidFill>
              </a:rPr>
              <a:t> </a:t>
            </a:r>
            <a:r>
              <a:rPr lang="en"/>
              <a:t>any waiting threads.</a:t>
            </a:r>
            <a:endParaRPr/>
          </a:p>
          <a:p>
            <a:pPr indent="-298450" lvl="2" marL="1371600" rtl="0" algn="l">
              <a:spcBef>
                <a:spcPts val="0"/>
              </a:spcBef>
              <a:spcAft>
                <a:spcPts val="0"/>
              </a:spcAft>
              <a:buSzPts val="1100"/>
              <a:buChar char="■"/>
            </a:pPr>
            <a:r>
              <a:rPr lang="en"/>
              <a:t>Don't forget that you will have to </a:t>
            </a:r>
            <a:r>
              <a:rPr b="1" i="1" lang="en">
                <a:solidFill>
                  <a:srgbClr val="FF0000"/>
                </a:solidFill>
              </a:rPr>
              <a:t>lock</a:t>
            </a:r>
            <a:r>
              <a:rPr lang="en">
                <a:solidFill>
                  <a:srgbClr val="FF0000"/>
                </a:solidFill>
              </a:rPr>
              <a:t> </a:t>
            </a:r>
            <a:r>
              <a:rPr lang="en"/>
              <a:t>when adding to the</a:t>
            </a:r>
            <a:r>
              <a:rPr lang="en"/>
              <a:t> </a:t>
            </a:r>
            <a:r>
              <a:rPr lang="en">
                <a:latin typeface="Courier New"/>
                <a:ea typeface="Courier New"/>
                <a:cs typeface="Courier New"/>
                <a:sym typeface="Courier New"/>
              </a:rPr>
              <a:t>queue</a:t>
            </a:r>
            <a:r>
              <a:rPr lang="en"/>
              <a:t> or signaling.</a:t>
            </a:r>
            <a:endParaRPr/>
          </a:p>
          <a:p>
            <a:pPr indent="-311150" lvl="0" marL="457200" rtl="0" algn="l">
              <a:spcBef>
                <a:spcPts val="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a:t>
            </a:r>
            <a:endParaRPr/>
          </a:p>
          <a:p>
            <a:pPr indent="-298450" lvl="1" marL="914400" rtl="0" algn="l">
              <a:spcBef>
                <a:spcPts val="0"/>
              </a:spcBef>
              <a:spcAft>
                <a:spcPts val="0"/>
              </a:spcAft>
              <a:buSzPts val="1100"/>
              <a:buChar char="○"/>
            </a:pPr>
            <a:r>
              <a:rPr lang="en"/>
              <a:t>Create a </a:t>
            </a:r>
            <a:r>
              <a:rPr b="1" i="1" lang="en">
                <a:solidFill>
                  <a:srgbClr val="FF0000"/>
                </a:solidFill>
              </a:rPr>
              <a:t>shared</a:t>
            </a:r>
            <a:r>
              <a:rPr lang="en">
                <a:solidFill>
                  <a:srgbClr val="FF0000"/>
                </a:solidFill>
              </a:rPr>
              <a:t> </a:t>
            </a:r>
            <a:r>
              <a:rPr lang="en">
                <a:latin typeface="Courier New"/>
                <a:ea typeface="Courier New"/>
                <a:cs typeface="Courier New"/>
                <a:sym typeface="Courier New"/>
              </a:rPr>
              <a:t>LinkedList</a:t>
            </a:r>
            <a:r>
              <a:rPr lang="en"/>
              <a:t> to use as the </a:t>
            </a:r>
            <a:r>
              <a:rPr lang="en">
                <a:latin typeface="Courier New"/>
                <a:ea typeface="Courier New"/>
                <a:cs typeface="Courier New"/>
                <a:sym typeface="Courier New"/>
              </a:rPr>
              <a:t>queue</a:t>
            </a:r>
            <a:r>
              <a:rPr lang="en"/>
              <a:t>, </a:t>
            </a:r>
            <a:r>
              <a:rPr lang="en">
                <a:latin typeface="Courier New"/>
                <a:ea typeface="Courier New"/>
                <a:cs typeface="Courier New"/>
                <a:sym typeface="Courier New"/>
              </a:rPr>
              <a:t>lock</a:t>
            </a:r>
            <a:r>
              <a:rPr lang="en"/>
              <a:t>, and </a:t>
            </a:r>
            <a:r>
              <a:rPr lang="en">
                <a:latin typeface="Courier New"/>
                <a:ea typeface="Courier New"/>
                <a:cs typeface="Courier New"/>
                <a:sym typeface="Courier New"/>
              </a:rPr>
              <a:t>condition</a:t>
            </a:r>
            <a:r>
              <a:rPr lang="en"/>
              <a:t>.</a:t>
            </a:r>
            <a:endParaRPr/>
          </a:p>
          <a:p>
            <a:pPr indent="-298450" lvl="1" marL="914400" rtl="0" algn="l">
              <a:spcBef>
                <a:spcPts val="0"/>
              </a:spcBef>
              <a:spcAft>
                <a:spcPts val="0"/>
              </a:spcAft>
              <a:buSzPts val="1100"/>
              <a:buChar char="○"/>
            </a:pPr>
            <a:r>
              <a:rPr lang="en"/>
              <a:t>Create and run a </a:t>
            </a:r>
            <a:r>
              <a:rPr lang="en">
                <a:latin typeface="Courier New"/>
                <a:ea typeface="Courier New"/>
                <a:cs typeface="Courier New"/>
                <a:sym typeface="Courier New"/>
              </a:rPr>
              <a:t>Consumer</a:t>
            </a:r>
            <a:r>
              <a:rPr lang="en"/>
              <a:t> using an </a:t>
            </a:r>
            <a:r>
              <a:rPr lang="en">
                <a:latin typeface="Courier New"/>
                <a:ea typeface="Courier New"/>
                <a:cs typeface="Courier New"/>
                <a:sym typeface="Courier New"/>
              </a:rPr>
              <a:t>ExecutorService</a:t>
            </a:r>
            <a:r>
              <a:rPr lang="en"/>
              <a:t>.</a:t>
            </a:r>
            <a:endParaRPr/>
          </a:p>
          <a:p>
            <a:pPr indent="-298450" lvl="1" marL="914400" rtl="0" algn="l">
              <a:spcBef>
                <a:spcPts val="0"/>
              </a:spcBef>
              <a:spcAft>
                <a:spcPts val="0"/>
              </a:spcAft>
              <a:buSzPts val="1100"/>
              <a:buChar char="○"/>
            </a:pPr>
            <a:r>
              <a:rPr lang="en"/>
              <a:t>Create and run a </a:t>
            </a:r>
            <a:r>
              <a:rPr lang="en">
                <a:latin typeface="Courier New"/>
                <a:ea typeface="Courier New"/>
                <a:cs typeface="Courier New"/>
                <a:sym typeface="Courier New"/>
              </a:rPr>
              <a:t>Producer</a:t>
            </a:r>
            <a:r>
              <a:rPr lang="en"/>
              <a:t> </a:t>
            </a:r>
            <a:r>
              <a:rPr lang="en"/>
              <a:t>using an </a:t>
            </a:r>
            <a:r>
              <a:rPr lang="en">
                <a:latin typeface="Courier New"/>
                <a:ea typeface="Courier New"/>
                <a:cs typeface="Courier New"/>
                <a:sym typeface="Courier New"/>
              </a:rPr>
              <a:t>ExecutorService</a:t>
            </a:r>
            <a:r>
              <a:rPr lang="en"/>
              <a:t>.</a:t>
            </a:r>
            <a:endParaRPr/>
          </a:p>
        </p:txBody>
      </p:sp>
      <p:sp>
        <p:nvSpPr>
          <p:cNvPr id="772" name="Google Shape;772;p6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11.13</a:t>
            </a:r>
            <a:endParaRPr/>
          </a:p>
        </p:txBody>
      </p:sp>
      <p:grpSp>
        <p:nvGrpSpPr>
          <p:cNvPr id="773" name="Google Shape;773;p66"/>
          <p:cNvGrpSpPr/>
          <p:nvPr/>
        </p:nvGrpSpPr>
        <p:grpSpPr>
          <a:xfrm>
            <a:off x="198350" y="2279400"/>
            <a:ext cx="2150175" cy="2479026"/>
            <a:chOff x="228600" y="1696975"/>
            <a:chExt cx="2150175" cy="2479026"/>
          </a:xfrm>
        </p:grpSpPr>
        <p:pic>
          <p:nvPicPr>
            <p:cNvPr id="774" name="Google Shape;774;p66"/>
            <p:cNvPicPr preferRelativeResize="0"/>
            <p:nvPr/>
          </p:nvPicPr>
          <p:blipFill>
            <a:blip r:embed="rId3">
              <a:alphaModFix/>
            </a:blip>
            <a:stretch>
              <a:fillRect/>
            </a:stretch>
          </p:blipFill>
          <p:spPr>
            <a:xfrm>
              <a:off x="228600" y="1696975"/>
              <a:ext cx="2150175" cy="2479026"/>
            </a:xfrm>
            <a:prstGeom prst="rect">
              <a:avLst/>
            </a:prstGeom>
            <a:noFill/>
            <a:ln>
              <a:noFill/>
            </a:ln>
          </p:spPr>
        </p:pic>
        <p:sp>
          <p:nvSpPr>
            <p:cNvPr id="775" name="Google Shape;775;p66"/>
            <p:cNvSpPr txBox="1"/>
            <p:nvPr/>
          </p:nvSpPr>
          <p:spPr>
            <a:xfrm>
              <a:off x="605521" y="1749218"/>
              <a:ext cx="1404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FFFF"/>
                  </a:solidFill>
                  <a:latin typeface="Permanent Marker"/>
                  <a:ea typeface="Permanent Marker"/>
                  <a:cs typeface="Permanent Marker"/>
                  <a:sym typeface="Permanent Marker"/>
                </a:rPr>
                <a:t>PRODUCER</a:t>
              </a:r>
              <a:endParaRPr>
                <a:solidFill>
                  <a:srgbClr val="FFFFFF"/>
                </a:solidFill>
                <a:latin typeface="Permanent Marker"/>
                <a:ea typeface="Permanent Marker"/>
                <a:cs typeface="Permanent Marker"/>
                <a:sym typeface="Permanent Marke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pic>
        <p:nvPicPr>
          <p:cNvPr descr="Image result for sleeping z's" id="780" name="Google Shape;780;p67"/>
          <p:cNvPicPr preferRelativeResize="0"/>
          <p:nvPr/>
        </p:nvPicPr>
        <p:blipFill>
          <a:blip r:embed="rId3">
            <a:alphaModFix/>
          </a:blip>
          <a:stretch>
            <a:fillRect/>
          </a:stretch>
        </p:blipFill>
        <p:spPr>
          <a:xfrm>
            <a:off x="1231297" y="4145116"/>
            <a:ext cx="671859" cy="749700"/>
          </a:xfrm>
          <a:prstGeom prst="rect">
            <a:avLst/>
          </a:prstGeom>
          <a:noFill/>
          <a:ln>
            <a:noFill/>
          </a:ln>
        </p:spPr>
      </p:pic>
      <p:pic>
        <p:nvPicPr>
          <p:cNvPr descr="Image result for sleeping z's" id="781" name="Google Shape;781;p67"/>
          <p:cNvPicPr preferRelativeResize="0"/>
          <p:nvPr/>
        </p:nvPicPr>
        <p:blipFill>
          <a:blip r:embed="rId3">
            <a:alphaModFix/>
          </a:blip>
          <a:stretch>
            <a:fillRect/>
          </a:stretch>
        </p:blipFill>
        <p:spPr>
          <a:xfrm>
            <a:off x="427525" y="3209600"/>
            <a:ext cx="671859" cy="749700"/>
          </a:xfrm>
          <a:prstGeom prst="rect">
            <a:avLst/>
          </a:prstGeom>
          <a:noFill/>
          <a:ln>
            <a:noFill/>
          </a:ln>
        </p:spPr>
      </p:pic>
      <p:sp>
        <p:nvSpPr>
          <p:cNvPr id="782" name="Google Shape;782;p6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Producers and Consumers</a:t>
            </a:r>
            <a:endParaRPr/>
          </a:p>
        </p:txBody>
      </p:sp>
      <p:sp>
        <p:nvSpPr>
          <p:cNvPr id="783" name="Google Shape;783;p67"/>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typical producer/consumer pattern may have multiple producers and consumers all working together to complete a large amount of work. Now that we're reasonably certain that the threads are working as intended, let's start a  bunch of them and see how it goes! </a:t>
            </a:r>
            <a:endParaRPr/>
          </a:p>
        </p:txBody>
      </p:sp>
      <p:sp>
        <p:nvSpPr>
          <p:cNvPr id="784" name="Google Shape;784;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5" name="Google Shape;785;p67"/>
          <p:cNvSpPr txBox="1"/>
          <p:nvPr>
            <p:ph idx="2" type="body"/>
          </p:nvPr>
        </p:nvSpPr>
        <p:spPr>
          <a:xfrm>
            <a:off x="2617125" y="1814150"/>
            <a:ext cx="6309000" cy="28029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Open the </a:t>
            </a:r>
            <a:r>
              <a:rPr lang="en" sz="1800">
                <a:latin typeface="Courier New"/>
                <a:ea typeface="Courier New"/>
                <a:cs typeface="Courier New"/>
                <a:sym typeface="Courier New"/>
              </a:rPr>
              <a:t>Producer</a:t>
            </a:r>
            <a:r>
              <a:rPr lang="en" sz="1800"/>
              <a:t> class and navigate to the </a:t>
            </a:r>
            <a:r>
              <a:rPr lang="en" sz="1800">
                <a:latin typeface="Courier New"/>
                <a:ea typeface="Courier New"/>
                <a:cs typeface="Courier New"/>
                <a:sym typeface="Courier New"/>
              </a:rPr>
              <a:t>main</a:t>
            </a:r>
            <a:r>
              <a:rPr lang="en" sz="1800"/>
              <a:t> method.</a:t>
            </a:r>
            <a:endParaRPr sz="1800"/>
          </a:p>
          <a:p>
            <a:pPr indent="-330200" lvl="1" marL="914400" rtl="0" algn="l">
              <a:spcBef>
                <a:spcPts val="0"/>
              </a:spcBef>
              <a:spcAft>
                <a:spcPts val="0"/>
              </a:spcAft>
              <a:buSzPts val="1600"/>
              <a:buChar char="○"/>
            </a:pPr>
            <a:r>
              <a:rPr lang="en" sz="1600"/>
              <a:t>Create and start </a:t>
            </a:r>
            <a:r>
              <a:rPr b="1" i="1" lang="en" sz="1600">
                <a:solidFill>
                  <a:srgbClr val="FF0000"/>
                </a:solidFill>
              </a:rPr>
              <a:t>at least 5</a:t>
            </a:r>
            <a:r>
              <a:rPr lang="en" sz="1600"/>
              <a:t> </a:t>
            </a:r>
            <a:r>
              <a:rPr lang="en" sz="1600">
                <a:latin typeface="Courier New"/>
                <a:ea typeface="Courier New"/>
                <a:cs typeface="Courier New"/>
                <a:sym typeface="Courier New"/>
              </a:rPr>
              <a:t>Consumer</a:t>
            </a:r>
            <a:r>
              <a:rPr lang="en" sz="1600"/>
              <a:t> threads that all use the same queue.</a:t>
            </a:r>
            <a:endParaRPr sz="1600"/>
          </a:p>
          <a:p>
            <a:pPr indent="-330200" lvl="1" marL="914400" rtl="0" algn="l">
              <a:spcBef>
                <a:spcPts val="0"/>
              </a:spcBef>
              <a:spcAft>
                <a:spcPts val="0"/>
              </a:spcAft>
              <a:buSzPts val="1600"/>
              <a:buChar char="○"/>
            </a:pPr>
            <a:r>
              <a:rPr lang="en" sz="1600"/>
              <a:t>Create and start </a:t>
            </a:r>
            <a:r>
              <a:rPr b="1" i="1" lang="en" sz="1600">
                <a:solidFill>
                  <a:srgbClr val="FF0000"/>
                </a:solidFill>
              </a:rPr>
              <a:t>at least 2</a:t>
            </a:r>
            <a:r>
              <a:rPr lang="en" sz="1600"/>
              <a:t> </a:t>
            </a:r>
            <a:r>
              <a:rPr lang="en" sz="1600">
                <a:latin typeface="Courier New"/>
                <a:ea typeface="Courier New"/>
                <a:cs typeface="Courier New"/>
                <a:sym typeface="Courier New"/>
              </a:rPr>
              <a:t>Producer</a:t>
            </a:r>
            <a:r>
              <a:rPr lang="en" sz="1600"/>
              <a:t> threads that use the same queue.</a:t>
            </a:r>
            <a:endParaRPr sz="1600"/>
          </a:p>
          <a:p>
            <a:pPr indent="-342900" lvl="0" marL="457200" rtl="0" algn="l">
              <a:spcBef>
                <a:spcPts val="0"/>
              </a:spcBef>
              <a:spcAft>
                <a:spcPts val="0"/>
              </a:spcAft>
              <a:buSzPts val="1800"/>
              <a:buChar char="●"/>
            </a:pPr>
            <a:r>
              <a:rPr b="1" i="1" lang="en" sz="1800">
                <a:solidFill>
                  <a:srgbClr val="FF0000"/>
                </a:solidFill>
              </a:rPr>
              <a:t>Run </a:t>
            </a:r>
            <a:r>
              <a:rPr lang="en" sz="1800"/>
              <a:t>your class.</a:t>
            </a:r>
            <a:endParaRPr sz="1800"/>
          </a:p>
          <a:p>
            <a:pPr indent="-330200" lvl="1" marL="914400" rtl="0" algn="l">
              <a:spcBef>
                <a:spcPts val="0"/>
              </a:spcBef>
              <a:spcAft>
                <a:spcPts val="0"/>
              </a:spcAft>
              <a:buSzPts val="1600"/>
              <a:buChar char="○"/>
            </a:pPr>
            <a:r>
              <a:rPr lang="en" sz="1600"/>
              <a:t>Does it behave as you expected?</a:t>
            </a:r>
            <a:endParaRPr sz="1600"/>
          </a:p>
          <a:p>
            <a:pPr indent="-330200" lvl="1" marL="914400" rtl="0" algn="l">
              <a:spcBef>
                <a:spcPts val="0"/>
              </a:spcBef>
              <a:spcAft>
                <a:spcPts val="0"/>
              </a:spcAft>
              <a:buSzPts val="1600"/>
              <a:buChar char="○"/>
            </a:pPr>
            <a:r>
              <a:rPr lang="en" sz="1600"/>
              <a:t>If not, can you correct the behavior?</a:t>
            </a:r>
            <a:endParaRPr sz="1600"/>
          </a:p>
        </p:txBody>
      </p:sp>
      <p:sp>
        <p:nvSpPr>
          <p:cNvPr id="786" name="Google Shape;786;p67"/>
          <p:cNvSpPr txBox="1"/>
          <p:nvPr>
            <p:ph idx="3" type="title"/>
          </p:nvPr>
        </p:nvSpPr>
        <p:spPr>
          <a:xfrm>
            <a:off x="65250" y="100"/>
            <a:ext cx="1253700" cy="59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SzPts val="990"/>
              <a:buNone/>
            </a:pPr>
            <a:r>
              <a:rPr lang="en"/>
              <a:t>11.14</a:t>
            </a:r>
            <a:endParaRPr/>
          </a:p>
        </p:txBody>
      </p:sp>
      <p:grpSp>
        <p:nvGrpSpPr>
          <p:cNvPr id="787" name="Google Shape;787;p67"/>
          <p:cNvGrpSpPr/>
          <p:nvPr/>
        </p:nvGrpSpPr>
        <p:grpSpPr>
          <a:xfrm>
            <a:off x="533389" y="1831658"/>
            <a:ext cx="933821" cy="1094243"/>
            <a:chOff x="228600" y="1656445"/>
            <a:chExt cx="2150175" cy="2519556"/>
          </a:xfrm>
        </p:grpSpPr>
        <p:pic>
          <p:nvPicPr>
            <p:cNvPr id="788" name="Google Shape;788;p67"/>
            <p:cNvPicPr preferRelativeResize="0"/>
            <p:nvPr/>
          </p:nvPicPr>
          <p:blipFill>
            <a:blip r:embed="rId4">
              <a:alphaModFix/>
            </a:blip>
            <a:stretch>
              <a:fillRect/>
            </a:stretch>
          </p:blipFill>
          <p:spPr>
            <a:xfrm>
              <a:off x="228600" y="1696975"/>
              <a:ext cx="2150175" cy="2479026"/>
            </a:xfrm>
            <a:prstGeom prst="rect">
              <a:avLst/>
            </a:prstGeom>
            <a:noFill/>
            <a:ln>
              <a:noFill/>
            </a:ln>
          </p:spPr>
        </p:pic>
        <p:sp>
          <p:nvSpPr>
            <p:cNvPr id="789" name="Google Shape;789;p67"/>
            <p:cNvSpPr txBox="1"/>
            <p:nvPr/>
          </p:nvSpPr>
          <p:spPr>
            <a:xfrm>
              <a:off x="605521" y="1656445"/>
              <a:ext cx="1404600" cy="63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
                  <a:solidFill>
                    <a:srgbClr val="FFFFFF"/>
                  </a:solidFill>
                  <a:latin typeface="Permanent Marker"/>
                  <a:ea typeface="Permanent Marker"/>
                  <a:cs typeface="Permanent Marker"/>
                  <a:sym typeface="Permanent Marker"/>
                </a:rPr>
                <a:t>PRODUCER</a:t>
              </a:r>
              <a:endParaRPr sz="600">
                <a:solidFill>
                  <a:srgbClr val="FFFFFF"/>
                </a:solidFill>
                <a:latin typeface="Permanent Marker"/>
                <a:ea typeface="Permanent Marker"/>
                <a:cs typeface="Permanent Marker"/>
                <a:sym typeface="Permanent Marker"/>
              </a:endParaRPr>
            </a:p>
          </p:txBody>
        </p:sp>
      </p:grpSp>
      <p:grpSp>
        <p:nvGrpSpPr>
          <p:cNvPr id="790" name="Google Shape;790;p67"/>
          <p:cNvGrpSpPr/>
          <p:nvPr/>
        </p:nvGrpSpPr>
        <p:grpSpPr>
          <a:xfrm>
            <a:off x="1447789" y="2060258"/>
            <a:ext cx="933821" cy="1094243"/>
            <a:chOff x="228600" y="1656445"/>
            <a:chExt cx="2150175" cy="2519556"/>
          </a:xfrm>
        </p:grpSpPr>
        <p:pic>
          <p:nvPicPr>
            <p:cNvPr id="791" name="Google Shape;791;p67"/>
            <p:cNvPicPr preferRelativeResize="0"/>
            <p:nvPr/>
          </p:nvPicPr>
          <p:blipFill>
            <a:blip r:embed="rId4">
              <a:alphaModFix/>
            </a:blip>
            <a:stretch>
              <a:fillRect/>
            </a:stretch>
          </p:blipFill>
          <p:spPr>
            <a:xfrm>
              <a:off x="228600" y="1696975"/>
              <a:ext cx="2150175" cy="2479026"/>
            </a:xfrm>
            <a:prstGeom prst="rect">
              <a:avLst/>
            </a:prstGeom>
            <a:noFill/>
            <a:ln>
              <a:noFill/>
            </a:ln>
          </p:spPr>
        </p:pic>
        <p:sp>
          <p:nvSpPr>
            <p:cNvPr id="792" name="Google Shape;792;p67"/>
            <p:cNvSpPr txBox="1"/>
            <p:nvPr/>
          </p:nvSpPr>
          <p:spPr>
            <a:xfrm>
              <a:off x="605521" y="1656445"/>
              <a:ext cx="1404600" cy="63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
                  <a:solidFill>
                    <a:srgbClr val="FFFFFF"/>
                  </a:solidFill>
                  <a:latin typeface="Permanent Marker"/>
                  <a:ea typeface="Permanent Marker"/>
                  <a:cs typeface="Permanent Marker"/>
                  <a:sym typeface="Permanent Marker"/>
                </a:rPr>
                <a:t>PRODUCER</a:t>
              </a:r>
              <a:endParaRPr sz="600">
                <a:solidFill>
                  <a:srgbClr val="FFFFFF"/>
                </a:solidFill>
                <a:latin typeface="Permanent Marker"/>
                <a:ea typeface="Permanent Marker"/>
                <a:cs typeface="Permanent Marker"/>
                <a:sym typeface="Permanent Marker"/>
              </a:endParaRPr>
            </a:p>
          </p:txBody>
        </p:sp>
      </p:grpSp>
      <p:pic>
        <p:nvPicPr>
          <p:cNvPr descr="Image result for sleeping z's" id="793" name="Google Shape;793;p67"/>
          <p:cNvPicPr preferRelativeResize="0"/>
          <p:nvPr/>
        </p:nvPicPr>
        <p:blipFill>
          <a:blip r:embed="rId3">
            <a:alphaModFix/>
          </a:blip>
          <a:stretch>
            <a:fillRect/>
          </a:stretch>
        </p:blipFill>
        <p:spPr>
          <a:xfrm>
            <a:off x="1113325" y="3362000"/>
            <a:ext cx="671859" cy="749700"/>
          </a:xfrm>
          <a:prstGeom prst="rect">
            <a:avLst/>
          </a:prstGeom>
          <a:noFill/>
          <a:ln>
            <a:noFill/>
          </a:ln>
        </p:spPr>
      </p:pic>
      <p:pic>
        <p:nvPicPr>
          <p:cNvPr descr="Image result for sleeping z's" id="794" name="Google Shape;794;p67"/>
          <p:cNvPicPr preferRelativeResize="0"/>
          <p:nvPr/>
        </p:nvPicPr>
        <p:blipFill>
          <a:blip r:embed="rId3">
            <a:alphaModFix/>
          </a:blip>
          <a:stretch>
            <a:fillRect/>
          </a:stretch>
        </p:blipFill>
        <p:spPr>
          <a:xfrm>
            <a:off x="1799125" y="3514400"/>
            <a:ext cx="671859" cy="749700"/>
          </a:xfrm>
          <a:prstGeom prst="rect">
            <a:avLst/>
          </a:prstGeom>
          <a:noFill/>
          <a:ln>
            <a:noFill/>
          </a:ln>
        </p:spPr>
      </p:pic>
      <p:pic>
        <p:nvPicPr>
          <p:cNvPr descr="Image result for sleeping z's" id="795" name="Google Shape;795;p67"/>
          <p:cNvPicPr preferRelativeResize="0"/>
          <p:nvPr/>
        </p:nvPicPr>
        <p:blipFill>
          <a:blip r:embed="rId3">
            <a:alphaModFix/>
          </a:blip>
          <a:stretch>
            <a:fillRect/>
          </a:stretch>
        </p:blipFill>
        <p:spPr>
          <a:xfrm>
            <a:off x="503725" y="4047800"/>
            <a:ext cx="671859" cy="749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6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Thread States</a:t>
            </a:r>
            <a:endParaRPr/>
          </a:p>
        </p:txBody>
      </p:sp>
      <p:sp>
        <p:nvSpPr>
          <p:cNvPr id="801" name="Google Shape;801;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802" name="Google Shape;802;p68"/>
          <p:cNvGrpSpPr/>
          <p:nvPr/>
        </p:nvGrpSpPr>
        <p:grpSpPr>
          <a:xfrm>
            <a:off x="4062814" y="1652513"/>
            <a:ext cx="1486500" cy="2959163"/>
            <a:chOff x="6958414" y="1195313"/>
            <a:chExt cx="1486500" cy="2959163"/>
          </a:xfrm>
        </p:grpSpPr>
        <p:sp>
          <p:nvSpPr>
            <p:cNvPr id="803" name="Google Shape;803;p68"/>
            <p:cNvSpPr/>
            <p:nvPr/>
          </p:nvSpPr>
          <p:spPr>
            <a:xfrm>
              <a:off x="6958414" y="1969300"/>
              <a:ext cx="1486500" cy="1411200"/>
            </a:xfrm>
            <a:prstGeom prst="roundRect">
              <a:avLst>
                <a:gd fmla="val 9698" name="adj"/>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68"/>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805" name="Google Shape;805;p68"/>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806" name="Google Shape;806;p68"/>
            <p:cNvSpPr/>
            <p:nvPr/>
          </p:nvSpPr>
          <p:spPr>
            <a:xfrm>
              <a:off x="7029750" y="29035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807" name="Google Shape;807;p68"/>
            <p:cNvSpPr/>
            <p:nvPr/>
          </p:nvSpPr>
          <p:spPr>
            <a:xfrm>
              <a:off x="7050682" y="3763875"/>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808" name="Google Shape;808;p68"/>
            <p:cNvCxnSpPr>
              <a:stCxn id="804" idx="2"/>
              <a:endCxn id="805" idx="0"/>
            </p:cNvCxnSpPr>
            <p:nvPr/>
          </p:nvCxnSpPr>
          <p:spPr>
            <a:xfrm>
              <a:off x="7702200" y="1585913"/>
              <a:ext cx="0" cy="463500"/>
            </a:xfrm>
            <a:prstGeom prst="straightConnector1">
              <a:avLst/>
            </a:prstGeom>
            <a:noFill/>
            <a:ln cap="flat" cmpd="sng" w="9525">
              <a:solidFill>
                <a:srgbClr val="000000"/>
              </a:solidFill>
              <a:prstDash val="solid"/>
              <a:round/>
              <a:headEnd len="med" w="med" type="none"/>
              <a:tailEnd len="med" w="med" type="triangle"/>
            </a:ln>
          </p:spPr>
        </p:cxnSp>
        <p:cxnSp>
          <p:nvCxnSpPr>
            <p:cNvPr id="809" name="Google Shape;809;p68"/>
            <p:cNvCxnSpPr>
              <a:stCxn id="806" idx="2"/>
              <a:endCxn id="807" idx="0"/>
            </p:cNvCxnSpPr>
            <p:nvPr/>
          </p:nvCxnSpPr>
          <p:spPr>
            <a:xfrm flipH="1">
              <a:off x="7701600" y="3294175"/>
              <a:ext cx="600" cy="469800"/>
            </a:xfrm>
            <a:prstGeom prst="straightConnector1">
              <a:avLst/>
            </a:prstGeom>
            <a:noFill/>
            <a:ln cap="flat" cmpd="sng" w="9525">
              <a:solidFill>
                <a:srgbClr val="000000"/>
              </a:solidFill>
              <a:prstDash val="solid"/>
              <a:round/>
              <a:headEnd len="med" w="med" type="none"/>
              <a:tailEnd len="med" w="med" type="triangle"/>
            </a:ln>
          </p:spPr>
        </p:cxnSp>
        <p:cxnSp>
          <p:nvCxnSpPr>
            <p:cNvPr id="810" name="Google Shape;810;p68"/>
            <p:cNvCxnSpPr/>
            <p:nvPr/>
          </p:nvCxnSpPr>
          <p:spPr>
            <a:xfrm>
              <a:off x="7333050" y="2445150"/>
              <a:ext cx="0" cy="470100"/>
            </a:xfrm>
            <a:prstGeom prst="straightConnector1">
              <a:avLst/>
            </a:prstGeom>
            <a:noFill/>
            <a:ln cap="flat" cmpd="sng" w="9525">
              <a:solidFill>
                <a:srgbClr val="000000"/>
              </a:solidFill>
              <a:prstDash val="solid"/>
              <a:round/>
              <a:headEnd len="med" w="med" type="none"/>
              <a:tailEnd len="med" w="med" type="triangle"/>
            </a:ln>
          </p:spPr>
        </p:cxnSp>
        <p:cxnSp>
          <p:nvCxnSpPr>
            <p:cNvPr id="811" name="Google Shape;811;p68"/>
            <p:cNvCxnSpPr/>
            <p:nvPr/>
          </p:nvCxnSpPr>
          <p:spPr>
            <a:xfrm rot="10800000">
              <a:off x="8094075" y="2445275"/>
              <a:ext cx="0" cy="470100"/>
            </a:xfrm>
            <a:prstGeom prst="straightConnector1">
              <a:avLst/>
            </a:prstGeom>
            <a:noFill/>
            <a:ln cap="flat" cmpd="sng" w="9525">
              <a:solidFill>
                <a:srgbClr val="000000"/>
              </a:solidFill>
              <a:prstDash val="solid"/>
              <a:round/>
              <a:headEnd len="med" w="med" type="none"/>
              <a:tailEnd len="med" w="med" type="triangle"/>
            </a:ln>
          </p:spPr>
        </p:cxnSp>
      </p:grpSp>
      <p:sp>
        <p:nvSpPr>
          <p:cNvPr id="812" name="Google Shape;812;p68"/>
          <p:cNvSpPr/>
          <p:nvPr/>
        </p:nvSpPr>
        <p:spPr>
          <a:xfrm>
            <a:off x="2299625" y="29701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813" name="Google Shape;813;p68"/>
          <p:cNvCxnSpPr>
            <a:stCxn id="806" idx="1"/>
            <a:endCxn id="812" idx="2"/>
          </p:cNvCxnSpPr>
          <p:nvPr/>
        </p:nvCxnSpPr>
        <p:spPr>
          <a:xfrm rot="10800000">
            <a:off x="2971950" y="3360775"/>
            <a:ext cx="1162200" cy="195300"/>
          </a:xfrm>
          <a:prstGeom prst="curvedConnector2">
            <a:avLst/>
          </a:prstGeom>
          <a:noFill/>
          <a:ln cap="flat" cmpd="sng" w="9525">
            <a:solidFill>
              <a:srgbClr val="000000"/>
            </a:solidFill>
            <a:prstDash val="solid"/>
            <a:round/>
            <a:headEnd len="med" w="med" type="none"/>
            <a:tailEnd len="med" w="med" type="triangle"/>
          </a:ln>
        </p:spPr>
      </p:cxnSp>
      <p:sp>
        <p:nvSpPr>
          <p:cNvPr id="814" name="Google Shape;814;p68"/>
          <p:cNvSpPr txBox="1"/>
          <p:nvPr/>
        </p:nvSpPr>
        <p:spPr>
          <a:xfrm>
            <a:off x="2780150" y="3556075"/>
            <a:ext cx="10731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sleep()</a:t>
            </a:r>
            <a:endParaRPr b="1" sz="800"/>
          </a:p>
          <a:p>
            <a:pPr indent="0" lvl="0" marL="0" rtl="0" algn="ctr">
              <a:spcBef>
                <a:spcPts val="0"/>
              </a:spcBef>
              <a:spcAft>
                <a:spcPts val="0"/>
              </a:spcAft>
              <a:buNone/>
            </a:pPr>
            <a:r>
              <a:rPr b="1" lang="en" sz="800"/>
              <a:t>join()</a:t>
            </a:r>
            <a:endParaRPr b="1" sz="800"/>
          </a:p>
        </p:txBody>
      </p:sp>
      <p:grpSp>
        <p:nvGrpSpPr>
          <p:cNvPr id="815" name="Google Shape;815;p68"/>
          <p:cNvGrpSpPr/>
          <p:nvPr/>
        </p:nvGrpSpPr>
        <p:grpSpPr>
          <a:xfrm>
            <a:off x="5473125" y="2578351"/>
            <a:ext cx="1599150" cy="1137946"/>
            <a:chOff x="7149525" y="2044951"/>
            <a:chExt cx="1599150" cy="1137946"/>
          </a:xfrm>
        </p:grpSpPr>
        <p:sp>
          <p:nvSpPr>
            <p:cNvPr id="816" name="Google Shape;816;p68"/>
            <p:cNvSpPr/>
            <p:nvPr/>
          </p:nvSpPr>
          <p:spPr>
            <a:xfrm>
              <a:off x="7660575" y="2410450"/>
              <a:ext cx="1088100" cy="390600"/>
            </a:xfrm>
            <a:prstGeom prst="roundRect">
              <a:avLst>
                <a:gd fmla="val 16667"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BLOCKED</a:t>
              </a:r>
              <a:endParaRPr>
                <a:solidFill>
                  <a:srgbClr val="FFFFFF"/>
                </a:solidFill>
              </a:endParaRPr>
            </a:p>
          </p:txBody>
        </p:sp>
        <p:cxnSp>
          <p:nvCxnSpPr>
            <p:cNvPr id="817" name="Google Shape;817;p68"/>
            <p:cNvCxnSpPr>
              <a:endCxn id="816" idx="2"/>
            </p:cNvCxnSpPr>
            <p:nvPr/>
          </p:nvCxnSpPr>
          <p:spPr>
            <a:xfrm flipH="1" rot="10800000">
              <a:off x="7149525" y="2801050"/>
              <a:ext cx="1055100" cy="231600"/>
            </a:xfrm>
            <a:prstGeom prst="curvedConnector2">
              <a:avLst/>
            </a:prstGeom>
            <a:noFill/>
            <a:ln cap="flat" cmpd="sng" w="9525">
              <a:solidFill>
                <a:srgbClr val="000000"/>
              </a:solidFill>
              <a:prstDash val="solid"/>
              <a:round/>
              <a:headEnd len="med" w="med" type="none"/>
              <a:tailEnd len="med" w="med" type="triangle"/>
            </a:ln>
          </p:spPr>
        </p:cxnSp>
        <p:sp>
          <p:nvSpPr>
            <p:cNvPr id="818" name="Google Shape;818;p68"/>
            <p:cNvSpPr txBox="1"/>
            <p:nvPr/>
          </p:nvSpPr>
          <p:spPr>
            <a:xfrm>
              <a:off x="7386150" y="2987597"/>
              <a:ext cx="10731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unavailable</a:t>
              </a:r>
              <a:endParaRPr b="1" sz="800"/>
            </a:p>
          </p:txBody>
        </p:sp>
        <p:cxnSp>
          <p:nvCxnSpPr>
            <p:cNvPr id="819" name="Google Shape;819;p68"/>
            <p:cNvCxnSpPr>
              <a:stCxn id="816" idx="0"/>
            </p:cNvCxnSpPr>
            <p:nvPr/>
          </p:nvCxnSpPr>
          <p:spPr>
            <a:xfrm flipH="1" rot="5400000">
              <a:off x="7561125" y="1766950"/>
              <a:ext cx="231900" cy="1055100"/>
            </a:xfrm>
            <a:prstGeom prst="curvedConnector2">
              <a:avLst/>
            </a:prstGeom>
            <a:noFill/>
            <a:ln cap="flat" cmpd="sng" w="9525">
              <a:solidFill>
                <a:srgbClr val="000000"/>
              </a:solidFill>
              <a:prstDash val="solid"/>
              <a:round/>
              <a:headEnd len="med" w="med" type="none"/>
              <a:tailEnd len="med" w="med" type="triangle"/>
            </a:ln>
          </p:spPr>
        </p:cxnSp>
        <p:sp>
          <p:nvSpPr>
            <p:cNvPr id="820" name="Google Shape;820;p68"/>
            <p:cNvSpPr txBox="1"/>
            <p:nvPr/>
          </p:nvSpPr>
          <p:spPr>
            <a:xfrm>
              <a:off x="7463450" y="2044951"/>
              <a:ext cx="1073100" cy="23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obtained</a:t>
              </a:r>
              <a:endParaRPr b="1" sz="800"/>
            </a:p>
          </p:txBody>
        </p:sp>
      </p:grpSp>
      <p:cxnSp>
        <p:nvCxnSpPr>
          <p:cNvPr id="821" name="Google Shape;821;p68"/>
          <p:cNvCxnSpPr>
            <a:stCxn id="812" idx="1"/>
            <a:endCxn id="816" idx="3"/>
          </p:cNvCxnSpPr>
          <p:nvPr/>
        </p:nvCxnSpPr>
        <p:spPr>
          <a:xfrm flipH="1" rot="10800000">
            <a:off x="2299625" y="3139075"/>
            <a:ext cx="4772700" cy="26400"/>
          </a:xfrm>
          <a:prstGeom prst="curvedConnector5">
            <a:avLst>
              <a:gd fmla="val -4989" name="adj1"/>
              <a:gd fmla="val 6799053" name="adj2"/>
              <a:gd fmla="val 104988" name="adj3"/>
            </a:avLst>
          </a:prstGeom>
          <a:noFill/>
          <a:ln cap="flat" cmpd="sng" w="9525">
            <a:solidFill>
              <a:srgbClr val="FF0000"/>
            </a:solidFill>
            <a:prstDash val="dash"/>
            <a:round/>
            <a:headEnd len="med" w="med" type="none"/>
            <a:tailEnd len="med" w="med" type="triangle"/>
          </a:ln>
        </p:spPr>
      </p:cxnSp>
      <p:sp>
        <p:nvSpPr>
          <p:cNvPr id="822" name="Google Shape;822;p68"/>
          <p:cNvSpPr txBox="1"/>
          <p:nvPr/>
        </p:nvSpPr>
        <p:spPr>
          <a:xfrm>
            <a:off x="1002254" y="2395047"/>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notify/notifyAll</a:t>
            </a:r>
            <a:endParaRPr b="1" sz="800"/>
          </a:p>
        </p:txBody>
      </p:sp>
      <p:cxnSp>
        <p:nvCxnSpPr>
          <p:cNvPr id="823" name="Google Shape;823;p68"/>
          <p:cNvCxnSpPr>
            <a:stCxn id="805" idx="1"/>
            <a:endCxn id="812" idx="0"/>
          </p:cNvCxnSpPr>
          <p:nvPr/>
        </p:nvCxnSpPr>
        <p:spPr>
          <a:xfrm flipH="1">
            <a:off x="2971950" y="2701950"/>
            <a:ext cx="1162200" cy="268200"/>
          </a:xfrm>
          <a:prstGeom prst="curvedConnector2">
            <a:avLst/>
          </a:prstGeom>
          <a:noFill/>
          <a:ln cap="flat" cmpd="sng" w="9525">
            <a:solidFill>
              <a:srgbClr val="000000"/>
            </a:solidFill>
            <a:prstDash val="solid"/>
            <a:round/>
            <a:headEnd len="med" w="med" type="triangle"/>
            <a:tailEnd len="med" w="med" type="none"/>
          </a:ln>
        </p:spPr>
      </p:cxnSp>
      <p:sp>
        <p:nvSpPr>
          <p:cNvPr id="824" name="Google Shape;824;p68"/>
          <p:cNvSpPr txBox="1"/>
          <p:nvPr/>
        </p:nvSpPr>
        <p:spPr>
          <a:xfrm>
            <a:off x="4822000" y="3884400"/>
            <a:ext cx="8688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run() returns</a:t>
            </a:r>
            <a:endParaRPr sz="800"/>
          </a:p>
        </p:txBody>
      </p:sp>
      <p:sp>
        <p:nvSpPr>
          <p:cNvPr id="825" name="Google Shape;825;p68"/>
          <p:cNvSpPr txBox="1"/>
          <p:nvPr/>
        </p:nvSpPr>
        <p:spPr>
          <a:xfrm>
            <a:off x="3016500" y="2311350"/>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timer expires</a:t>
            </a:r>
            <a:endParaRPr b="1" sz="800"/>
          </a:p>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thread dies</a:t>
            </a:r>
            <a:endParaRPr b="1" sz="800"/>
          </a:p>
        </p:txBody>
      </p:sp>
      <p:sp>
        <p:nvSpPr>
          <p:cNvPr id="826" name="Google Shape;826;p68"/>
          <p:cNvSpPr txBox="1"/>
          <p:nvPr/>
        </p:nvSpPr>
        <p:spPr>
          <a:xfrm>
            <a:off x="4861925" y="2129425"/>
            <a:ext cx="5697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start()</a:t>
            </a:r>
            <a:endParaRPr b="1" sz="800"/>
          </a:p>
        </p:txBody>
      </p:sp>
      <p:sp>
        <p:nvSpPr>
          <p:cNvPr id="827" name="Google Shape;827;p68"/>
          <p:cNvSpPr txBox="1"/>
          <p:nvPr/>
        </p:nvSpPr>
        <p:spPr>
          <a:xfrm>
            <a:off x="5171225" y="2970175"/>
            <a:ext cx="5697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timeout</a:t>
            </a:r>
            <a:endParaRPr b="1" sz="800"/>
          </a:p>
        </p:txBody>
      </p:sp>
      <p:sp>
        <p:nvSpPr>
          <p:cNvPr id="828" name="Google Shape;828;p68"/>
          <p:cNvSpPr txBox="1"/>
          <p:nvPr/>
        </p:nvSpPr>
        <p:spPr>
          <a:xfrm>
            <a:off x="3773860" y="3034063"/>
            <a:ext cx="7173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scheduled</a:t>
            </a:r>
            <a:endParaRPr b="1" sz="800"/>
          </a:p>
        </p:txBody>
      </p:sp>
      <p:sp>
        <p:nvSpPr>
          <p:cNvPr id="829" name="Google Shape;829;p68"/>
          <p:cNvSpPr/>
          <p:nvPr/>
        </p:nvSpPr>
        <p:spPr>
          <a:xfrm>
            <a:off x="2759275" y="3371500"/>
            <a:ext cx="1379600" cy="1216575"/>
          </a:xfrm>
          <a:custGeom>
            <a:rect b="b" l="l" r="r" t="t"/>
            <a:pathLst>
              <a:path extrusionOk="0" h="48663" w="55184">
                <a:moveTo>
                  <a:pt x="55184" y="7497"/>
                </a:moveTo>
                <a:cubicBezTo>
                  <a:pt x="47336" y="14345"/>
                  <a:pt x="17295" y="49835"/>
                  <a:pt x="8098" y="48585"/>
                </a:cubicBezTo>
                <a:cubicBezTo>
                  <a:pt x="-1099" y="47336"/>
                  <a:pt x="1350" y="8098"/>
                  <a:pt x="0" y="0"/>
                </a:cubicBezTo>
              </a:path>
            </a:pathLst>
          </a:custGeom>
          <a:noFill/>
          <a:ln cap="flat" cmpd="sng" w="9525">
            <a:solidFill>
              <a:srgbClr val="FF0000"/>
            </a:solidFill>
            <a:prstDash val="dash"/>
            <a:round/>
            <a:headEnd len="med" w="med" type="none"/>
            <a:tailEnd len="med" w="med" type="triangle"/>
          </a:ln>
        </p:spPr>
      </p:sp>
      <p:sp>
        <p:nvSpPr>
          <p:cNvPr id="830" name="Google Shape;830;p68"/>
          <p:cNvSpPr txBox="1"/>
          <p:nvPr/>
        </p:nvSpPr>
        <p:spPr>
          <a:xfrm>
            <a:off x="2759275" y="4598800"/>
            <a:ext cx="7173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lock.lock()</a:t>
            </a:r>
            <a:endParaRPr b="1" sz="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6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WAITING is not BLOCKED (and Vice Versa)</a:t>
            </a:r>
            <a:endParaRPr/>
          </a:p>
        </p:txBody>
      </p:sp>
      <p:sp>
        <p:nvSpPr>
          <p:cNvPr id="836" name="Google Shape;836;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37" name="Google Shape;837;p69"/>
          <p:cNvPicPr preferRelativeResize="0"/>
          <p:nvPr/>
        </p:nvPicPr>
        <p:blipFill>
          <a:blip r:embed="rId3">
            <a:alphaModFix/>
          </a:blip>
          <a:stretch>
            <a:fillRect/>
          </a:stretch>
        </p:blipFill>
        <p:spPr>
          <a:xfrm>
            <a:off x="1285125" y="1375825"/>
            <a:ext cx="1830025" cy="1830025"/>
          </a:xfrm>
          <a:prstGeom prst="rect">
            <a:avLst/>
          </a:prstGeom>
          <a:noFill/>
          <a:ln>
            <a:noFill/>
          </a:ln>
        </p:spPr>
      </p:pic>
      <p:pic>
        <p:nvPicPr>
          <p:cNvPr descr="Image result for sleeping z's" id="838" name="Google Shape;838;p69"/>
          <p:cNvPicPr preferRelativeResize="0"/>
          <p:nvPr/>
        </p:nvPicPr>
        <p:blipFill>
          <a:blip r:embed="rId4">
            <a:alphaModFix/>
          </a:blip>
          <a:stretch>
            <a:fillRect/>
          </a:stretch>
        </p:blipFill>
        <p:spPr>
          <a:xfrm>
            <a:off x="6346650" y="1375825"/>
            <a:ext cx="1640022" cy="1830025"/>
          </a:xfrm>
          <a:prstGeom prst="rect">
            <a:avLst/>
          </a:prstGeom>
          <a:noFill/>
          <a:ln>
            <a:noFill/>
          </a:ln>
        </p:spPr>
      </p:pic>
      <p:sp>
        <p:nvSpPr>
          <p:cNvPr id="839" name="Google Shape;839;p69"/>
          <p:cNvSpPr txBox="1"/>
          <p:nvPr>
            <p:ph idx="1" type="body"/>
          </p:nvPr>
        </p:nvSpPr>
        <p:spPr>
          <a:xfrm>
            <a:off x="311700" y="3259975"/>
            <a:ext cx="3999900" cy="16908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blocked</a:t>
            </a:r>
            <a:r>
              <a:rPr lang="en">
                <a:solidFill>
                  <a:srgbClr val="FF0000"/>
                </a:solidFill>
              </a:rPr>
              <a:t> </a:t>
            </a:r>
            <a:r>
              <a:rPr lang="en"/>
              <a:t>thread is </a:t>
            </a:r>
            <a:r>
              <a:rPr b="1" i="1" lang="en">
                <a:solidFill>
                  <a:srgbClr val="FF0000"/>
                </a:solidFill>
              </a:rPr>
              <a:t>not</a:t>
            </a:r>
            <a:r>
              <a:rPr lang="en">
                <a:solidFill>
                  <a:srgbClr val="FF0000"/>
                </a:solidFill>
              </a:rPr>
              <a:t> </a:t>
            </a:r>
            <a:r>
              <a:rPr lang="en"/>
              <a:t>waiting.</a:t>
            </a:r>
            <a:endParaRPr/>
          </a:p>
          <a:p>
            <a:pPr indent="-298450" lvl="1" marL="914400" rtl="0" algn="l">
              <a:lnSpc>
                <a:spcPct val="100000"/>
              </a:lnSpc>
              <a:spcBef>
                <a:spcPts val="0"/>
              </a:spcBef>
              <a:spcAft>
                <a:spcPts val="0"/>
              </a:spcAft>
              <a:buSzPts val="1100"/>
              <a:buChar char="○"/>
            </a:pPr>
            <a:r>
              <a:rPr lang="en"/>
              <a:t>A blocked thread is </a:t>
            </a:r>
            <a:r>
              <a:rPr b="1" i="1" lang="en">
                <a:solidFill>
                  <a:srgbClr val="FF0000"/>
                </a:solidFill>
              </a:rPr>
              <a:t>actively</a:t>
            </a:r>
            <a:r>
              <a:rPr lang="en">
                <a:solidFill>
                  <a:srgbClr val="FF0000"/>
                </a:solidFill>
              </a:rPr>
              <a:t> </a:t>
            </a:r>
            <a:r>
              <a:rPr lang="en"/>
              <a:t>trying to get into a locked block of code and is </a:t>
            </a:r>
            <a:r>
              <a:rPr b="1" i="1" lang="en">
                <a:solidFill>
                  <a:srgbClr val="FF0000"/>
                </a:solidFill>
              </a:rPr>
              <a:t>prevented</a:t>
            </a:r>
            <a:r>
              <a:rPr lang="en">
                <a:solidFill>
                  <a:srgbClr val="FF0000"/>
                </a:solidFill>
              </a:rPr>
              <a:t> </a:t>
            </a:r>
            <a:r>
              <a:rPr lang="en"/>
              <a:t>from doing so.</a:t>
            </a:r>
            <a:endParaRPr/>
          </a:p>
          <a:p>
            <a:pPr indent="-311150" lvl="0" marL="457200" rtl="0" algn="l">
              <a:lnSpc>
                <a:spcPct val="100000"/>
              </a:lnSpc>
              <a:spcBef>
                <a:spcPts val="0"/>
              </a:spcBef>
              <a:spcAft>
                <a:spcPts val="0"/>
              </a:spcAft>
              <a:buSzPts val="1300"/>
              <a:buChar char="●"/>
            </a:pPr>
            <a:r>
              <a:rPr lang="en"/>
              <a:t>If and when the thread scheduler chooses it, it will </a:t>
            </a:r>
            <a:r>
              <a:rPr b="1" i="1" lang="en">
                <a:solidFill>
                  <a:srgbClr val="FF0000"/>
                </a:solidFill>
              </a:rPr>
              <a:t>immediately</a:t>
            </a:r>
            <a:r>
              <a:rPr lang="en">
                <a:solidFill>
                  <a:srgbClr val="FF0000"/>
                </a:solidFill>
              </a:rPr>
              <a:t> </a:t>
            </a:r>
            <a:r>
              <a:rPr lang="en"/>
              <a:t>transition to the </a:t>
            </a:r>
            <a:r>
              <a:rPr b="1" i="1" lang="en">
                <a:solidFill>
                  <a:srgbClr val="FF0000"/>
                </a:solidFill>
              </a:rPr>
              <a:t>runnable</a:t>
            </a:r>
            <a:r>
              <a:rPr lang="en">
                <a:solidFill>
                  <a:srgbClr val="FF0000"/>
                </a:solidFill>
              </a:rPr>
              <a:t> </a:t>
            </a:r>
            <a:r>
              <a:rPr lang="en"/>
              <a:t>state.</a:t>
            </a:r>
            <a:endParaRPr/>
          </a:p>
          <a:p>
            <a:pPr indent="-311150" lvl="0" marL="457200" rtl="0" algn="l">
              <a:lnSpc>
                <a:spcPct val="100000"/>
              </a:lnSpc>
              <a:spcBef>
                <a:spcPts val="0"/>
              </a:spcBef>
              <a:spcAft>
                <a:spcPts val="0"/>
              </a:spcAft>
              <a:buSzPts val="1300"/>
              <a:buChar char="●"/>
            </a:pPr>
            <a:r>
              <a:rPr lang="en"/>
              <a:t>A blocked thread </a:t>
            </a:r>
            <a:r>
              <a:rPr b="1" i="1" lang="en">
                <a:solidFill>
                  <a:srgbClr val="FF0000"/>
                </a:solidFill>
              </a:rPr>
              <a:t>cannot</a:t>
            </a:r>
            <a:r>
              <a:rPr lang="en">
                <a:solidFill>
                  <a:srgbClr val="FF0000"/>
                </a:solidFill>
              </a:rPr>
              <a:t> </a:t>
            </a:r>
            <a:r>
              <a:rPr lang="en"/>
              <a:t>be interrupted.</a:t>
            </a:r>
            <a:endParaRPr/>
          </a:p>
        </p:txBody>
      </p:sp>
      <p:sp>
        <p:nvSpPr>
          <p:cNvPr id="840" name="Google Shape;840;p69"/>
          <p:cNvSpPr txBox="1"/>
          <p:nvPr>
            <p:ph idx="2" type="body"/>
          </p:nvPr>
        </p:nvSpPr>
        <p:spPr>
          <a:xfrm>
            <a:off x="4832400" y="3260100"/>
            <a:ext cx="3999900" cy="16908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waiting</a:t>
            </a:r>
            <a:r>
              <a:rPr lang="en">
                <a:solidFill>
                  <a:srgbClr val="FF0000"/>
                </a:solidFill>
              </a:rPr>
              <a:t> </a:t>
            </a:r>
            <a:r>
              <a:rPr lang="en"/>
              <a:t>thread is waiting for some </a:t>
            </a:r>
            <a:r>
              <a:rPr b="1" i="1" lang="en">
                <a:solidFill>
                  <a:srgbClr val="FF0000"/>
                </a:solidFill>
              </a:rPr>
              <a:t>event</a:t>
            </a:r>
            <a:r>
              <a:rPr lang="en">
                <a:solidFill>
                  <a:srgbClr val="FF0000"/>
                </a:solidFill>
              </a:rPr>
              <a:t> </a:t>
            </a:r>
            <a:r>
              <a:rPr lang="en"/>
              <a:t>to occur.</a:t>
            </a:r>
            <a:endParaRPr/>
          </a:p>
          <a:p>
            <a:pPr indent="-298450" lvl="1" marL="914400" rtl="0" algn="l">
              <a:lnSpc>
                <a:spcPct val="100000"/>
              </a:lnSpc>
              <a:spcBef>
                <a:spcPts val="0"/>
              </a:spcBef>
              <a:spcAft>
                <a:spcPts val="0"/>
              </a:spcAft>
              <a:buSzPts val="1100"/>
              <a:buChar char="○"/>
            </a:pPr>
            <a:r>
              <a:rPr lang="en"/>
              <a:t>Another thread to </a:t>
            </a:r>
            <a:r>
              <a:rPr b="1" i="1" lang="en">
                <a:solidFill>
                  <a:srgbClr val="FF0000"/>
                </a:solidFill>
              </a:rPr>
              <a:t>die</a:t>
            </a:r>
            <a:r>
              <a:rPr lang="en"/>
              <a:t>.</a:t>
            </a:r>
            <a:endParaRPr/>
          </a:p>
          <a:p>
            <a:pPr indent="-298450" lvl="1" marL="914400" rtl="0" algn="l">
              <a:lnSpc>
                <a:spcPct val="100000"/>
              </a:lnSpc>
              <a:spcBef>
                <a:spcPts val="0"/>
              </a:spcBef>
              <a:spcAft>
                <a:spcPts val="0"/>
              </a:spcAft>
              <a:buSzPts val="1100"/>
              <a:buChar char="○"/>
            </a:pPr>
            <a:r>
              <a:rPr lang="en"/>
              <a:t>A </a:t>
            </a:r>
            <a:r>
              <a:rPr b="1" i="1" lang="en">
                <a:solidFill>
                  <a:srgbClr val="FF0000"/>
                </a:solidFill>
              </a:rPr>
              <a:t>timer</a:t>
            </a:r>
            <a:r>
              <a:rPr lang="en">
                <a:solidFill>
                  <a:srgbClr val="FF0000"/>
                </a:solidFill>
              </a:rPr>
              <a:t> </a:t>
            </a:r>
            <a:r>
              <a:rPr lang="en"/>
              <a:t>to expire.</a:t>
            </a:r>
            <a:endParaRPr/>
          </a:p>
          <a:p>
            <a:pPr indent="-298450" lvl="1" marL="914400" rtl="0" algn="l">
              <a:lnSpc>
                <a:spcPct val="100000"/>
              </a:lnSpc>
              <a:spcBef>
                <a:spcPts val="0"/>
              </a:spcBef>
              <a:spcAft>
                <a:spcPts val="0"/>
              </a:spcAft>
              <a:buSzPts val="1100"/>
              <a:buChar char="○"/>
            </a:pPr>
            <a:r>
              <a:rPr lang="en"/>
              <a:t>To be </a:t>
            </a:r>
            <a:r>
              <a:rPr b="1" i="1" lang="en">
                <a:solidFill>
                  <a:srgbClr val="FF0000"/>
                </a:solidFill>
              </a:rPr>
              <a:t>notified</a:t>
            </a:r>
            <a:r>
              <a:rPr lang="en"/>
              <a:t>.</a:t>
            </a:r>
            <a:endParaRPr/>
          </a:p>
          <a:p>
            <a:pPr indent="-311150" lvl="0" marL="457200" rtl="0" algn="l">
              <a:lnSpc>
                <a:spcPct val="100000"/>
              </a:lnSpc>
              <a:spcBef>
                <a:spcPts val="0"/>
              </a:spcBef>
              <a:spcAft>
                <a:spcPts val="0"/>
              </a:spcAft>
              <a:buSzPts val="1300"/>
              <a:buChar char="●"/>
            </a:pPr>
            <a:r>
              <a:rPr lang="en"/>
              <a:t>A waiting </a:t>
            </a:r>
            <a:r>
              <a:rPr lang="en"/>
              <a:t>(for a lock) </a:t>
            </a:r>
            <a:r>
              <a:rPr lang="en"/>
              <a:t>thread will </a:t>
            </a:r>
            <a:r>
              <a:rPr b="1" i="1" lang="en">
                <a:solidFill>
                  <a:srgbClr val="FF0000"/>
                </a:solidFill>
              </a:rPr>
              <a:t>not</a:t>
            </a:r>
            <a:r>
              <a:rPr lang="en">
                <a:solidFill>
                  <a:srgbClr val="FF0000"/>
                </a:solidFill>
              </a:rPr>
              <a:t> </a:t>
            </a:r>
            <a:r>
              <a:rPr lang="en"/>
              <a:t>transition to the runnable state even if an object key is available.</a:t>
            </a:r>
            <a:endParaRPr/>
          </a:p>
          <a:p>
            <a:pPr indent="-311150" lvl="0" marL="457200" rtl="0" algn="l">
              <a:lnSpc>
                <a:spcPct val="100000"/>
              </a:lnSpc>
              <a:spcBef>
                <a:spcPts val="0"/>
              </a:spcBef>
              <a:spcAft>
                <a:spcPts val="0"/>
              </a:spcAft>
              <a:buSzPts val="1300"/>
              <a:buChar char="●"/>
            </a:pPr>
            <a:r>
              <a:rPr lang="en"/>
              <a:t>A waiting thread </a:t>
            </a:r>
            <a:r>
              <a:rPr b="1" i="1" lang="en">
                <a:solidFill>
                  <a:srgbClr val="FF0000"/>
                </a:solidFill>
              </a:rPr>
              <a:t>can</a:t>
            </a:r>
            <a:r>
              <a:rPr lang="en">
                <a:solidFill>
                  <a:srgbClr val="FF0000"/>
                </a:solidFill>
              </a:rPr>
              <a:t> </a:t>
            </a:r>
            <a:r>
              <a:rPr lang="en"/>
              <a:t>be interrupted.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xEl>
                                              <p:pRg end="0" st="0"/>
                                            </p:txEl>
                                          </p:spTgt>
                                        </p:tgtEl>
                                        <p:attrNameLst>
                                          <p:attrName>style.visibility</p:attrName>
                                        </p:attrNameLst>
                                      </p:cBhvr>
                                      <p:to>
                                        <p:strVal val="visible"/>
                                      </p:to>
                                    </p:set>
                                    <p:animEffect filter="fade" transition="in">
                                      <p:cBhvr>
                                        <p:cTn dur="1000"/>
                                        <p:tgtEl>
                                          <p:spTgt spid="8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xEl>
                                              <p:pRg end="1" st="1"/>
                                            </p:txEl>
                                          </p:spTgt>
                                        </p:tgtEl>
                                        <p:attrNameLst>
                                          <p:attrName>style.visibility</p:attrName>
                                        </p:attrNameLst>
                                      </p:cBhvr>
                                      <p:to>
                                        <p:strVal val="visible"/>
                                      </p:to>
                                    </p:set>
                                    <p:animEffect filter="fade" transition="in">
                                      <p:cBhvr>
                                        <p:cTn dur="1000"/>
                                        <p:tgtEl>
                                          <p:spTgt spid="8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xEl>
                                              <p:pRg end="2" st="2"/>
                                            </p:txEl>
                                          </p:spTgt>
                                        </p:tgtEl>
                                        <p:attrNameLst>
                                          <p:attrName>style.visibility</p:attrName>
                                        </p:attrNameLst>
                                      </p:cBhvr>
                                      <p:to>
                                        <p:strVal val="visible"/>
                                      </p:to>
                                    </p:set>
                                    <p:animEffect filter="fade" transition="in">
                                      <p:cBhvr>
                                        <p:cTn dur="1000"/>
                                        <p:tgtEl>
                                          <p:spTgt spid="8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xEl>
                                              <p:pRg end="3" st="3"/>
                                            </p:txEl>
                                          </p:spTgt>
                                        </p:tgtEl>
                                        <p:attrNameLst>
                                          <p:attrName>style.visibility</p:attrName>
                                        </p:attrNameLst>
                                      </p:cBhvr>
                                      <p:to>
                                        <p:strVal val="visible"/>
                                      </p:to>
                                    </p:set>
                                    <p:animEffect filter="fade" transition="in">
                                      <p:cBhvr>
                                        <p:cTn dur="1000"/>
                                        <p:tgtEl>
                                          <p:spTgt spid="8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0" st="0"/>
                                            </p:txEl>
                                          </p:spTgt>
                                        </p:tgtEl>
                                        <p:attrNameLst>
                                          <p:attrName>style.visibility</p:attrName>
                                        </p:attrNameLst>
                                      </p:cBhvr>
                                      <p:to>
                                        <p:strVal val="visible"/>
                                      </p:to>
                                    </p:set>
                                    <p:animEffect filter="fade" transition="in">
                                      <p:cBhvr>
                                        <p:cTn dur="1000"/>
                                        <p:tgtEl>
                                          <p:spTgt spid="8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1" st="1"/>
                                            </p:txEl>
                                          </p:spTgt>
                                        </p:tgtEl>
                                        <p:attrNameLst>
                                          <p:attrName>style.visibility</p:attrName>
                                        </p:attrNameLst>
                                      </p:cBhvr>
                                      <p:to>
                                        <p:strVal val="visible"/>
                                      </p:to>
                                    </p:set>
                                    <p:animEffect filter="fade" transition="in">
                                      <p:cBhvr>
                                        <p:cTn dur="1000"/>
                                        <p:tgtEl>
                                          <p:spTgt spid="8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2" st="2"/>
                                            </p:txEl>
                                          </p:spTgt>
                                        </p:tgtEl>
                                        <p:attrNameLst>
                                          <p:attrName>style.visibility</p:attrName>
                                        </p:attrNameLst>
                                      </p:cBhvr>
                                      <p:to>
                                        <p:strVal val="visible"/>
                                      </p:to>
                                    </p:set>
                                    <p:animEffect filter="fade" transition="in">
                                      <p:cBhvr>
                                        <p:cTn dur="1000"/>
                                        <p:tgtEl>
                                          <p:spTgt spid="8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3" st="3"/>
                                            </p:txEl>
                                          </p:spTgt>
                                        </p:tgtEl>
                                        <p:attrNameLst>
                                          <p:attrName>style.visibility</p:attrName>
                                        </p:attrNameLst>
                                      </p:cBhvr>
                                      <p:to>
                                        <p:strVal val="visible"/>
                                      </p:to>
                                    </p:set>
                                    <p:animEffect filter="fade" transition="in">
                                      <p:cBhvr>
                                        <p:cTn dur="1000"/>
                                        <p:tgtEl>
                                          <p:spTgt spid="8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4" st="4"/>
                                            </p:txEl>
                                          </p:spTgt>
                                        </p:tgtEl>
                                        <p:attrNameLst>
                                          <p:attrName>style.visibility</p:attrName>
                                        </p:attrNameLst>
                                      </p:cBhvr>
                                      <p:to>
                                        <p:strVal val="visible"/>
                                      </p:to>
                                    </p:set>
                                    <p:animEffect filter="fade" transition="in">
                                      <p:cBhvr>
                                        <p:cTn dur="1000"/>
                                        <p:tgtEl>
                                          <p:spTgt spid="8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5" st="5"/>
                                            </p:txEl>
                                          </p:spTgt>
                                        </p:tgtEl>
                                        <p:attrNameLst>
                                          <p:attrName>style.visibility</p:attrName>
                                        </p:attrNameLst>
                                      </p:cBhvr>
                                      <p:to>
                                        <p:strVal val="visible"/>
                                      </p:to>
                                    </p:set>
                                    <p:animEffect filter="fade" transition="in">
                                      <p:cBhvr>
                                        <p:cTn dur="1000"/>
                                        <p:tgtEl>
                                          <p:spTgt spid="84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6" name="Google Shape;846;p7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Hypothetical Scenario</a:t>
            </a:r>
            <a:endParaRPr/>
          </a:p>
        </p:txBody>
      </p:sp>
      <p:grpSp>
        <p:nvGrpSpPr>
          <p:cNvPr id="847" name="Google Shape;847;p70"/>
          <p:cNvGrpSpPr/>
          <p:nvPr/>
        </p:nvGrpSpPr>
        <p:grpSpPr>
          <a:xfrm>
            <a:off x="4461255" y="1347325"/>
            <a:ext cx="1474863" cy="1590557"/>
            <a:chOff x="5899532" y="1516100"/>
            <a:chExt cx="1094843" cy="1180726"/>
          </a:xfrm>
        </p:grpSpPr>
        <p:pic>
          <p:nvPicPr>
            <p:cNvPr id="848" name="Google Shape;848;p70"/>
            <p:cNvPicPr preferRelativeResize="0"/>
            <p:nvPr/>
          </p:nvPicPr>
          <p:blipFill>
            <a:blip r:embed="rId3">
              <a:alphaModFix/>
            </a:blip>
            <a:stretch>
              <a:fillRect/>
            </a:stretch>
          </p:blipFill>
          <p:spPr>
            <a:xfrm>
              <a:off x="5899532" y="1516100"/>
              <a:ext cx="695500" cy="947075"/>
            </a:xfrm>
            <a:prstGeom prst="rect">
              <a:avLst/>
            </a:prstGeom>
            <a:noFill/>
            <a:ln>
              <a:noFill/>
            </a:ln>
          </p:spPr>
        </p:pic>
        <p:pic>
          <p:nvPicPr>
            <p:cNvPr id="849" name="Google Shape;849;p70"/>
            <p:cNvPicPr preferRelativeResize="0"/>
            <p:nvPr/>
          </p:nvPicPr>
          <p:blipFill>
            <a:blip r:embed="rId4">
              <a:alphaModFix/>
            </a:blip>
            <a:stretch>
              <a:fillRect/>
            </a:stretch>
          </p:blipFill>
          <p:spPr>
            <a:xfrm>
              <a:off x="6162100" y="1896225"/>
              <a:ext cx="832275" cy="800601"/>
            </a:xfrm>
            <a:prstGeom prst="rect">
              <a:avLst/>
            </a:prstGeom>
            <a:noFill/>
            <a:ln>
              <a:noFill/>
            </a:ln>
          </p:spPr>
        </p:pic>
      </p:grpSp>
      <p:sp>
        <p:nvSpPr>
          <p:cNvPr id="850" name="Google Shape;850;p70"/>
          <p:cNvSpPr txBox="1"/>
          <p:nvPr/>
        </p:nvSpPr>
        <p:spPr>
          <a:xfrm>
            <a:off x="275900" y="1473775"/>
            <a:ext cx="2980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Imagine a scenario where a thread </a:t>
            </a:r>
            <a:r>
              <a:rPr b="1" i="1" lang="en" sz="1200">
                <a:solidFill>
                  <a:srgbClr val="FF0000"/>
                </a:solidFill>
              </a:rPr>
              <a:t>T1</a:t>
            </a:r>
            <a:r>
              <a:rPr lang="en" sz="1200"/>
              <a:t> has obtained a lock on resource </a:t>
            </a:r>
            <a:r>
              <a:rPr b="1" i="1" lang="en" sz="1200">
                <a:solidFill>
                  <a:srgbClr val="FF0000"/>
                </a:solidFill>
              </a:rPr>
              <a:t>R1</a:t>
            </a:r>
            <a:r>
              <a:rPr lang="en" sz="1200"/>
              <a:t>.</a:t>
            </a:r>
            <a:endParaRPr sz="1200"/>
          </a:p>
        </p:txBody>
      </p:sp>
      <p:sp>
        <p:nvSpPr>
          <p:cNvPr id="851" name="Google Shape;851;p70"/>
          <p:cNvSpPr txBox="1"/>
          <p:nvPr/>
        </p:nvSpPr>
        <p:spPr>
          <a:xfrm>
            <a:off x="275900" y="2159575"/>
            <a:ext cx="2980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And thread </a:t>
            </a:r>
            <a:r>
              <a:rPr b="1" i="1" lang="en" sz="1200">
                <a:solidFill>
                  <a:srgbClr val="FF0000"/>
                </a:solidFill>
              </a:rPr>
              <a:t>T2</a:t>
            </a:r>
            <a:r>
              <a:rPr lang="en" sz="1200"/>
              <a:t> has obtained a lock on resource </a:t>
            </a:r>
            <a:r>
              <a:rPr b="1" i="1" lang="en" sz="1200">
                <a:solidFill>
                  <a:srgbClr val="FF0000"/>
                </a:solidFill>
              </a:rPr>
              <a:t>R2</a:t>
            </a:r>
            <a:r>
              <a:rPr lang="en" sz="1200"/>
              <a:t>.</a:t>
            </a:r>
            <a:endParaRPr sz="1200"/>
          </a:p>
        </p:txBody>
      </p:sp>
      <p:grpSp>
        <p:nvGrpSpPr>
          <p:cNvPr id="852" name="Google Shape;852;p70"/>
          <p:cNvGrpSpPr/>
          <p:nvPr/>
        </p:nvGrpSpPr>
        <p:grpSpPr>
          <a:xfrm>
            <a:off x="4414266" y="3451597"/>
            <a:ext cx="1568852" cy="1590578"/>
            <a:chOff x="7017755" y="3146919"/>
            <a:chExt cx="1129321" cy="1144959"/>
          </a:xfrm>
        </p:grpSpPr>
        <p:pic>
          <p:nvPicPr>
            <p:cNvPr id="853" name="Google Shape;853;p70"/>
            <p:cNvPicPr preferRelativeResize="0"/>
            <p:nvPr/>
          </p:nvPicPr>
          <p:blipFill>
            <a:blip r:embed="rId5">
              <a:alphaModFix/>
            </a:blip>
            <a:stretch>
              <a:fillRect/>
            </a:stretch>
          </p:blipFill>
          <p:spPr>
            <a:xfrm>
              <a:off x="7451575" y="3146919"/>
              <a:ext cx="695500" cy="947101"/>
            </a:xfrm>
            <a:prstGeom prst="rect">
              <a:avLst/>
            </a:prstGeom>
            <a:noFill/>
            <a:ln>
              <a:noFill/>
            </a:ln>
          </p:spPr>
        </p:pic>
        <p:pic>
          <p:nvPicPr>
            <p:cNvPr id="854" name="Google Shape;854;p70"/>
            <p:cNvPicPr preferRelativeResize="0"/>
            <p:nvPr/>
          </p:nvPicPr>
          <p:blipFill>
            <a:blip r:embed="rId6">
              <a:alphaModFix/>
            </a:blip>
            <a:stretch>
              <a:fillRect/>
            </a:stretch>
          </p:blipFill>
          <p:spPr>
            <a:xfrm>
              <a:off x="7017755" y="3491269"/>
              <a:ext cx="832275" cy="800610"/>
            </a:xfrm>
            <a:prstGeom prst="rect">
              <a:avLst/>
            </a:prstGeom>
            <a:noFill/>
            <a:ln>
              <a:noFill/>
            </a:ln>
          </p:spPr>
        </p:pic>
      </p:grpSp>
      <p:sp>
        <p:nvSpPr>
          <p:cNvPr id="855" name="Google Shape;855;p70"/>
          <p:cNvSpPr txBox="1"/>
          <p:nvPr/>
        </p:nvSpPr>
        <p:spPr>
          <a:xfrm>
            <a:off x="275900" y="2845375"/>
            <a:ext cx="2980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What happens if </a:t>
            </a:r>
            <a:r>
              <a:rPr b="1" i="1" lang="en" sz="1200">
                <a:solidFill>
                  <a:srgbClr val="FF0000"/>
                </a:solidFill>
              </a:rPr>
              <a:t>T1</a:t>
            </a:r>
            <a:r>
              <a:rPr lang="en" sz="1200"/>
              <a:t> then tries to obtain a synchronization lock on </a:t>
            </a:r>
            <a:r>
              <a:rPr b="1" i="1" lang="en" sz="1200">
                <a:solidFill>
                  <a:srgbClr val="FF0000"/>
                </a:solidFill>
              </a:rPr>
              <a:t>R2</a:t>
            </a:r>
            <a:r>
              <a:rPr lang="en" sz="1200"/>
              <a:t>...</a:t>
            </a:r>
            <a:endParaRPr b="1" i="1" sz="1200"/>
          </a:p>
        </p:txBody>
      </p:sp>
      <p:sp>
        <p:nvSpPr>
          <p:cNvPr id="856" name="Google Shape;856;p70"/>
          <p:cNvSpPr txBox="1"/>
          <p:nvPr/>
        </p:nvSpPr>
        <p:spPr>
          <a:xfrm>
            <a:off x="275900" y="3531179"/>
            <a:ext cx="2980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...and at the </a:t>
            </a:r>
            <a:r>
              <a:rPr b="1" i="1" lang="en" sz="1200">
                <a:solidFill>
                  <a:srgbClr val="FF0000"/>
                </a:solidFill>
              </a:rPr>
              <a:t>same exact time T2</a:t>
            </a:r>
            <a:r>
              <a:rPr lang="en" sz="1200"/>
              <a:t> tries to obtain a synchronization lock on </a:t>
            </a:r>
            <a:r>
              <a:rPr b="1" i="1" lang="en" sz="1200">
                <a:solidFill>
                  <a:srgbClr val="FF0000"/>
                </a:solidFill>
              </a:rPr>
              <a:t>R1</a:t>
            </a:r>
            <a:r>
              <a:rPr lang="en" sz="1200"/>
              <a:t>.</a:t>
            </a:r>
            <a:endParaRPr sz="1200"/>
          </a:p>
        </p:txBody>
      </p:sp>
      <p:pic>
        <p:nvPicPr>
          <p:cNvPr id="857" name="Google Shape;857;p70"/>
          <p:cNvPicPr preferRelativeResize="0"/>
          <p:nvPr/>
        </p:nvPicPr>
        <p:blipFill>
          <a:blip r:embed="rId7">
            <a:alphaModFix/>
          </a:blip>
          <a:stretch>
            <a:fillRect/>
          </a:stretch>
        </p:blipFill>
        <p:spPr>
          <a:xfrm>
            <a:off x="4303750" y="3967300"/>
            <a:ext cx="492175" cy="492175"/>
          </a:xfrm>
          <a:prstGeom prst="rect">
            <a:avLst/>
          </a:prstGeom>
          <a:noFill/>
          <a:ln>
            <a:noFill/>
          </a:ln>
        </p:spPr>
      </p:pic>
      <p:sp>
        <p:nvSpPr>
          <p:cNvPr id="858" name="Google Shape;858;p70"/>
          <p:cNvSpPr/>
          <p:nvPr/>
        </p:nvSpPr>
        <p:spPr>
          <a:xfrm>
            <a:off x="3656809" y="2417587"/>
            <a:ext cx="820675" cy="1624975"/>
          </a:xfrm>
          <a:custGeom>
            <a:rect b="b" l="l" r="r" t="t"/>
            <a:pathLst>
              <a:path extrusionOk="0" h="64999" w="32827">
                <a:moveTo>
                  <a:pt x="32827" y="0"/>
                </a:moveTo>
                <a:cubicBezTo>
                  <a:pt x="27365" y="4590"/>
                  <a:pt x="878" y="16709"/>
                  <a:pt x="52" y="27542"/>
                </a:cubicBezTo>
                <a:cubicBezTo>
                  <a:pt x="-774" y="38375"/>
                  <a:pt x="23234" y="58756"/>
                  <a:pt x="27870" y="64999"/>
                </a:cubicBezTo>
              </a:path>
            </a:pathLst>
          </a:custGeom>
          <a:noFill/>
          <a:ln cap="flat" cmpd="sng" w="38100">
            <a:solidFill>
              <a:srgbClr val="FF0000"/>
            </a:solidFill>
            <a:prstDash val="solid"/>
            <a:round/>
            <a:headEnd len="med" w="med" type="none"/>
            <a:tailEnd len="med" w="med" type="triangle"/>
          </a:ln>
        </p:spPr>
      </p:sp>
      <p:pic>
        <p:nvPicPr>
          <p:cNvPr id="859" name="Google Shape;859;p70"/>
          <p:cNvPicPr preferRelativeResize="0"/>
          <p:nvPr/>
        </p:nvPicPr>
        <p:blipFill>
          <a:blip r:embed="rId7">
            <a:alphaModFix/>
          </a:blip>
          <a:stretch>
            <a:fillRect/>
          </a:stretch>
        </p:blipFill>
        <p:spPr>
          <a:xfrm>
            <a:off x="5550507" y="2244642"/>
            <a:ext cx="492175" cy="492175"/>
          </a:xfrm>
          <a:prstGeom prst="rect">
            <a:avLst/>
          </a:prstGeom>
          <a:noFill/>
          <a:ln>
            <a:noFill/>
          </a:ln>
        </p:spPr>
      </p:pic>
      <p:sp>
        <p:nvSpPr>
          <p:cNvPr id="860" name="Google Shape;860;p70"/>
          <p:cNvSpPr/>
          <p:nvPr/>
        </p:nvSpPr>
        <p:spPr>
          <a:xfrm rot="10800000">
            <a:off x="5942809" y="2569987"/>
            <a:ext cx="820675" cy="1624975"/>
          </a:xfrm>
          <a:custGeom>
            <a:rect b="b" l="l" r="r" t="t"/>
            <a:pathLst>
              <a:path extrusionOk="0" h="64999" w="32827">
                <a:moveTo>
                  <a:pt x="32827" y="0"/>
                </a:moveTo>
                <a:cubicBezTo>
                  <a:pt x="27365" y="4590"/>
                  <a:pt x="878" y="16709"/>
                  <a:pt x="52" y="27542"/>
                </a:cubicBezTo>
                <a:cubicBezTo>
                  <a:pt x="-774" y="38375"/>
                  <a:pt x="23234" y="58756"/>
                  <a:pt x="27870" y="64999"/>
                </a:cubicBezTo>
              </a:path>
            </a:pathLst>
          </a:custGeom>
          <a:noFill/>
          <a:ln cap="flat" cmpd="sng" w="38100">
            <a:solidFill>
              <a:srgbClr val="FF0000"/>
            </a:solidFill>
            <a:prstDash val="solid"/>
            <a:round/>
            <a:headEnd len="med" w="med" type="none"/>
            <a:tailEnd len="med" w="med" type="triangle"/>
          </a:ln>
        </p:spPr>
      </p:sp>
      <p:sp>
        <p:nvSpPr>
          <p:cNvPr id="861" name="Google Shape;861;p70"/>
          <p:cNvSpPr txBox="1"/>
          <p:nvPr/>
        </p:nvSpPr>
        <p:spPr>
          <a:xfrm>
            <a:off x="275900" y="4216979"/>
            <a:ext cx="2980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rgbClr val="FF0000"/>
                </a:solidFill>
              </a:rPr>
              <a:t>Both</a:t>
            </a:r>
            <a:r>
              <a:rPr lang="en" sz="1200">
                <a:solidFill>
                  <a:srgbClr val="FF0000"/>
                </a:solidFill>
              </a:rPr>
              <a:t> </a:t>
            </a:r>
            <a:r>
              <a:rPr lang="en" sz="1200"/>
              <a:t>threads are stuck in the </a:t>
            </a:r>
            <a:r>
              <a:rPr b="1" i="1" lang="en" sz="1200">
                <a:solidFill>
                  <a:srgbClr val="FF0000"/>
                </a:solidFill>
              </a:rPr>
              <a:t>blocked</a:t>
            </a:r>
            <a:r>
              <a:rPr lang="en" sz="1200">
                <a:solidFill>
                  <a:srgbClr val="FF0000"/>
                </a:solidFill>
              </a:rPr>
              <a:t> </a:t>
            </a:r>
            <a:r>
              <a:rPr lang="en" sz="1200"/>
              <a:t>state waiting for the other thread to give up its lock...which will </a:t>
            </a:r>
            <a:r>
              <a:rPr b="1" i="1" lang="en" sz="1200">
                <a:solidFill>
                  <a:srgbClr val="FF0000"/>
                </a:solidFill>
              </a:rPr>
              <a:t>never happen</a:t>
            </a:r>
            <a:r>
              <a:rPr lang="en" sz="1200"/>
              <a:t>.</a:t>
            </a:r>
            <a:endParaRPr sz="1200"/>
          </a:p>
        </p:txBody>
      </p:sp>
      <p:sp>
        <p:nvSpPr>
          <p:cNvPr id="862" name="Google Shape;862;p70"/>
          <p:cNvSpPr txBox="1"/>
          <p:nvPr/>
        </p:nvSpPr>
        <p:spPr>
          <a:xfrm>
            <a:off x="6857600" y="3099700"/>
            <a:ext cx="2038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These threads are </a:t>
            </a:r>
            <a:r>
              <a:rPr b="1" i="1" lang="en">
                <a:solidFill>
                  <a:srgbClr val="FF0000"/>
                </a:solidFill>
                <a:latin typeface="Roboto"/>
                <a:ea typeface="Roboto"/>
                <a:cs typeface="Roboto"/>
                <a:sym typeface="Roboto"/>
              </a:rPr>
              <a:t>permanently blocked</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1000"/>
                                        <p:tgtEl>
                                          <p:spTgt spid="8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10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1000"/>
                                        <p:tgtEl>
                                          <p:spTgt spid="8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1000"/>
                                        <p:tgtEl>
                                          <p:spTgt spid="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1000"/>
                                        <p:tgtEl>
                                          <p:spTgt spid="8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1000"/>
                                        <p:tgtEl>
                                          <p:spTgt spid="85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1000"/>
                                        <p:tgtEl>
                                          <p:spTgt spid="8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1000"/>
                                        <p:tgtEl>
                                          <p:spTgt spid="8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1000"/>
                                        <p:tgtEl>
                                          <p:spTgt spid="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1000"/>
                                        <p:tgtEl>
                                          <p:spTgt spid="8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71"/>
          <p:cNvSpPr txBox="1"/>
          <p:nvPr>
            <p:ph type="title"/>
          </p:nvPr>
        </p:nvSpPr>
        <p:spPr>
          <a:xfrm>
            <a:off x="51885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Deadlock</a:t>
            </a:r>
            <a:endParaRPr/>
          </a:p>
        </p:txBody>
      </p:sp>
      <p:sp>
        <p:nvSpPr>
          <p:cNvPr id="868" name="Google Shape;868;p71"/>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9" name="Google Shape;869;p71"/>
          <p:cNvSpPr txBox="1"/>
          <p:nvPr>
            <p:ph idx="1" type="body"/>
          </p:nvPr>
        </p:nvSpPr>
        <p:spPr>
          <a:xfrm>
            <a:off x="377475" y="2723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A thread that obtains a lock only gives up the lock under two circumstances:</a:t>
            </a:r>
            <a:endParaRPr/>
          </a:p>
          <a:p>
            <a:pPr indent="-298450" lvl="1" marL="914400" rtl="0" algn="l">
              <a:spcBef>
                <a:spcPts val="0"/>
              </a:spcBef>
              <a:spcAft>
                <a:spcPts val="0"/>
              </a:spcAft>
              <a:buSzPts val="1100"/>
              <a:buChar char="○"/>
            </a:pPr>
            <a:r>
              <a:rPr lang="en"/>
              <a:t>It calls </a:t>
            </a:r>
            <a:r>
              <a:rPr lang="en">
                <a:solidFill>
                  <a:srgbClr val="FF0000"/>
                </a:solidFill>
                <a:latin typeface="Courier New"/>
                <a:ea typeface="Courier New"/>
                <a:cs typeface="Courier New"/>
                <a:sym typeface="Courier New"/>
              </a:rPr>
              <a:t>a</a:t>
            </a:r>
            <a:r>
              <a:rPr lang="en">
                <a:solidFill>
                  <a:srgbClr val="FF0000"/>
                </a:solidFill>
                <a:latin typeface="Courier New"/>
                <a:ea typeface="Courier New"/>
                <a:cs typeface="Courier New"/>
                <a:sym typeface="Courier New"/>
              </a:rPr>
              <a:t>wait</a:t>
            </a:r>
            <a:r>
              <a:rPr lang="en">
                <a:solidFill>
                  <a:srgbClr val="FF0000"/>
                </a:solidFill>
                <a:latin typeface="Courier New"/>
                <a:ea typeface="Courier New"/>
                <a:cs typeface="Courier New"/>
                <a:sym typeface="Courier New"/>
              </a:rPr>
              <a:t>Uninterruptibly</a:t>
            </a:r>
            <a:r>
              <a:rPr lang="en">
                <a:solidFill>
                  <a:srgbClr val="FF0000"/>
                </a:solidFill>
                <a:latin typeface="Courier New"/>
                <a:ea typeface="Courier New"/>
                <a:cs typeface="Courier New"/>
                <a:sym typeface="Courier New"/>
              </a:rPr>
              <a:t>()</a:t>
            </a:r>
            <a:r>
              <a:rPr lang="en"/>
              <a:t> on an associated condition.</a:t>
            </a:r>
            <a:endParaRPr/>
          </a:p>
          <a:p>
            <a:pPr indent="-298450" lvl="1" marL="914400" rtl="0" algn="l">
              <a:spcBef>
                <a:spcPts val="0"/>
              </a:spcBef>
              <a:spcAft>
                <a:spcPts val="0"/>
              </a:spcAft>
              <a:buSzPts val="1100"/>
              <a:buChar char="○"/>
            </a:pPr>
            <a:r>
              <a:rPr lang="en"/>
              <a:t>It </a:t>
            </a:r>
            <a:r>
              <a:rPr b="1" i="1" lang="en">
                <a:solidFill>
                  <a:srgbClr val="FF0000"/>
                </a:solidFill>
              </a:rPr>
              <a:t>unlocks</a:t>
            </a:r>
            <a:r>
              <a:rPr lang="en"/>
              <a:t>.</a:t>
            </a:r>
            <a:endParaRPr/>
          </a:p>
          <a:p>
            <a:pPr indent="-311150" lvl="0" marL="457200" rtl="0" algn="l">
              <a:spcBef>
                <a:spcPts val="0"/>
              </a:spcBef>
              <a:spcAft>
                <a:spcPts val="0"/>
              </a:spcAft>
              <a:buSzPts val="1300"/>
              <a:buChar char="●"/>
            </a:pPr>
            <a:r>
              <a:rPr lang="en"/>
              <a:t>A thread that is holding one lock may try to lock a different </a:t>
            </a:r>
            <a:r>
              <a:rPr lang="en">
                <a:latin typeface="Courier New"/>
                <a:ea typeface="Courier New"/>
                <a:cs typeface="Courier New"/>
                <a:sym typeface="Courier New"/>
              </a:rPr>
              <a:t>Lock</a:t>
            </a:r>
            <a:r>
              <a:rPr lang="en"/>
              <a:t> at the same time.</a:t>
            </a:r>
            <a:endParaRPr/>
          </a:p>
          <a:p>
            <a:pPr indent="-311150" lvl="0" marL="457200" rtl="0" algn="l">
              <a:spcBef>
                <a:spcPts val="0"/>
              </a:spcBef>
              <a:spcAft>
                <a:spcPts val="0"/>
              </a:spcAft>
              <a:buSzPts val="1300"/>
              <a:buChar char="●"/>
            </a:pPr>
            <a:r>
              <a:rPr lang="en"/>
              <a:t>The previous scenario involved two locks and two threads. Each thread held one lock while trying to obtain the other.</a:t>
            </a:r>
            <a:endParaRPr/>
          </a:p>
          <a:p>
            <a:pPr indent="-298450" lvl="1" marL="914400" rtl="0" algn="l">
              <a:spcBef>
                <a:spcPts val="0"/>
              </a:spcBef>
              <a:spcAft>
                <a:spcPts val="0"/>
              </a:spcAft>
              <a:buSzPts val="1100"/>
              <a:buChar char="○"/>
            </a:pPr>
            <a:r>
              <a:rPr lang="en"/>
              <a:t>Neither thread gives up the lock that it already holds.</a:t>
            </a:r>
            <a:endParaRPr/>
          </a:p>
          <a:p>
            <a:pPr indent="-298450" lvl="1" marL="914400" rtl="0" algn="l">
              <a:spcBef>
                <a:spcPts val="0"/>
              </a:spcBef>
              <a:spcAft>
                <a:spcPts val="0"/>
              </a:spcAft>
              <a:buSzPts val="1100"/>
              <a:buChar char="○"/>
            </a:pPr>
            <a:r>
              <a:rPr lang="en"/>
              <a:t>Both threads became </a:t>
            </a:r>
            <a:r>
              <a:rPr b="1" i="1" lang="en">
                <a:solidFill>
                  <a:srgbClr val="FF0000"/>
                </a:solidFill>
              </a:rPr>
              <a:t>permanently blocked</a:t>
            </a:r>
            <a:r>
              <a:rPr lang="en">
                <a:solidFill>
                  <a:srgbClr val="FF0000"/>
                </a:solidFill>
              </a:rPr>
              <a:t> </a:t>
            </a:r>
            <a:r>
              <a:rPr lang="en"/>
              <a:t>while waiting for the other thread to give up its lock.</a:t>
            </a:r>
            <a:endParaRPr/>
          </a:p>
          <a:p>
            <a:pPr indent="-311150" lvl="0" marL="457200" rtl="0" algn="l">
              <a:spcBef>
                <a:spcPts val="0"/>
              </a:spcBef>
              <a:spcAft>
                <a:spcPts val="0"/>
              </a:spcAft>
              <a:buSzPts val="1300"/>
              <a:buChar char="●"/>
            </a:pPr>
            <a:r>
              <a:rPr lang="en"/>
              <a:t>This is a condition called </a:t>
            </a:r>
            <a:r>
              <a:rPr b="1" i="1" lang="en">
                <a:solidFill>
                  <a:srgbClr val="FF0000"/>
                </a:solidFill>
              </a:rPr>
              <a:t>deadlock</a:t>
            </a:r>
            <a:r>
              <a:rPr lang="en"/>
              <a:t>.</a:t>
            </a:r>
            <a:endParaRPr/>
          </a:p>
          <a:p>
            <a:pPr indent="-311150" lvl="0" marL="457200" rtl="0" algn="l">
              <a:spcBef>
                <a:spcPts val="0"/>
              </a:spcBef>
              <a:spcAft>
                <a:spcPts val="0"/>
              </a:spcAft>
              <a:buSzPts val="1300"/>
              <a:buChar char="●"/>
            </a:pPr>
            <a:r>
              <a:rPr lang="en"/>
              <a:t>Deadlock is really, really </a:t>
            </a:r>
            <a:r>
              <a:rPr b="1" i="1" lang="en">
                <a:solidFill>
                  <a:srgbClr val="FF0000"/>
                </a:solidFill>
              </a:rPr>
              <a:t>bad</a:t>
            </a:r>
            <a:r>
              <a:rPr lang="en"/>
              <a:t>: once deadlocked the threads involved </a:t>
            </a:r>
            <a:r>
              <a:rPr b="1" i="1" lang="en">
                <a:solidFill>
                  <a:srgbClr val="FF0000"/>
                </a:solidFill>
              </a:rPr>
              <a:t>will never recover</a:t>
            </a:r>
            <a:r>
              <a:rPr lang="en"/>
              <a:t>.</a:t>
            </a:r>
            <a:endParaRPr/>
          </a:p>
          <a:p>
            <a:pPr indent="-311150" lvl="0" marL="457200" rtl="0" algn="l">
              <a:spcBef>
                <a:spcPts val="0"/>
              </a:spcBef>
              <a:spcAft>
                <a:spcPts val="0"/>
              </a:spcAft>
              <a:buSzPts val="1300"/>
              <a:buChar char="●"/>
            </a:pPr>
            <a:r>
              <a:rPr lang="en"/>
              <a:t>Deadlock is possible whenever a thread tries to obtain </a:t>
            </a:r>
            <a:r>
              <a:rPr b="1" i="1" lang="en">
                <a:solidFill>
                  <a:srgbClr val="FF0000"/>
                </a:solidFill>
              </a:rPr>
              <a:t>more than one</a:t>
            </a:r>
            <a:r>
              <a:rPr lang="en"/>
              <a:t> lock at the</a:t>
            </a:r>
            <a:r>
              <a:rPr lang="en">
                <a:solidFill>
                  <a:srgbClr val="FF0000"/>
                </a:solidFill>
              </a:rPr>
              <a:t> </a:t>
            </a:r>
            <a:r>
              <a:rPr b="1" i="1" lang="en">
                <a:solidFill>
                  <a:srgbClr val="FF0000"/>
                </a:solidFill>
              </a:rPr>
              <a:t>same time</a:t>
            </a:r>
            <a:r>
              <a:rPr lang="en"/>
              <a:t>.</a:t>
            </a:r>
            <a:endParaRPr/>
          </a:p>
        </p:txBody>
      </p:sp>
      <p:sp>
        <p:nvSpPr>
          <p:cNvPr id="870" name="Google Shape;870;p71"/>
          <p:cNvSpPr txBox="1"/>
          <p:nvPr>
            <p:ph idx="3" type="body"/>
          </p:nvPr>
        </p:nvSpPr>
        <p:spPr>
          <a:xfrm>
            <a:off x="5192225" y="41658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thread may </a:t>
            </a:r>
            <a:r>
              <a:rPr b="1" i="1" lang="en">
                <a:solidFill>
                  <a:srgbClr val="FF0000"/>
                </a:solidFill>
              </a:rPr>
              <a:t>try</a:t>
            </a:r>
            <a:r>
              <a:rPr lang="en">
                <a:solidFill>
                  <a:srgbClr val="FF0000"/>
                </a:solidFill>
              </a:rPr>
              <a:t> </a:t>
            </a:r>
            <a:r>
              <a:rPr lang="en"/>
              <a:t>to obtain more than one lock at the same time, but this risks causing a </a:t>
            </a:r>
            <a:r>
              <a:rPr b="1" i="1" lang="en">
                <a:solidFill>
                  <a:srgbClr val="FF0000"/>
                </a:solidFill>
              </a:rPr>
              <a:t>circular hold and wait</a:t>
            </a:r>
            <a:r>
              <a:rPr lang="en"/>
              <a:t>, which could lead to deadlock.</a:t>
            </a:r>
            <a:endParaRPr/>
          </a:p>
        </p:txBody>
      </p:sp>
      <p:grpSp>
        <p:nvGrpSpPr>
          <p:cNvPr id="871" name="Google Shape;871;p71"/>
          <p:cNvGrpSpPr/>
          <p:nvPr/>
        </p:nvGrpSpPr>
        <p:grpSpPr>
          <a:xfrm>
            <a:off x="5065921" y="890882"/>
            <a:ext cx="3773067" cy="3059778"/>
            <a:chOff x="5065921" y="890882"/>
            <a:chExt cx="3773067" cy="3059778"/>
          </a:xfrm>
        </p:grpSpPr>
        <p:grpSp>
          <p:nvGrpSpPr>
            <p:cNvPr id="872" name="Google Shape;872;p71"/>
            <p:cNvGrpSpPr/>
            <p:nvPr/>
          </p:nvGrpSpPr>
          <p:grpSpPr>
            <a:xfrm>
              <a:off x="6460934" y="890882"/>
              <a:ext cx="910362" cy="981774"/>
              <a:chOff x="5899532" y="1516100"/>
              <a:chExt cx="1094843" cy="1180726"/>
            </a:xfrm>
          </p:grpSpPr>
          <p:pic>
            <p:nvPicPr>
              <p:cNvPr id="873" name="Google Shape;873;p71"/>
              <p:cNvPicPr preferRelativeResize="0"/>
              <p:nvPr/>
            </p:nvPicPr>
            <p:blipFill>
              <a:blip r:embed="rId3">
                <a:alphaModFix/>
              </a:blip>
              <a:stretch>
                <a:fillRect/>
              </a:stretch>
            </p:blipFill>
            <p:spPr>
              <a:xfrm>
                <a:off x="5899532" y="1516100"/>
                <a:ext cx="695500" cy="947075"/>
              </a:xfrm>
              <a:prstGeom prst="rect">
                <a:avLst/>
              </a:prstGeom>
              <a:noFill/>
              <a:ln>
                <a:noFill/>
              </a:ln>
            </p:spPr>
          </p:pic>
          <p:pic>
            <p:nvPicPr>
              <p:cNvPr id="874" name="Google Shape;874;p71"/>
              <p:cNvPicPr preferRelativeResize="0"/>
              <p:nvPr/>
            </p:nvPicPr>
            <p:blipFill>
              <a:blip r:embed="rId4">
                <a:alphaModFix/>
              </a:blip>
              <a:stretch>
                <a:fillRect/>
              </a:stretch>
            </p:blipFill>
            <p:spPr>
              <a:xfrm>
                <a:off x="6162100" y="1896225"/>
                <a:ext cx="832275" cy="800601"/>
              </a:xfrm>
              <a:prstGeom prst="rect">
                <a:avLst/>
              </a:prstGeom>
              <a:noFill/>
              <a:ln>
                <a:noFill/>
              </a:ln>
            </p:spPr>
          </p:pic>
        </p:grpSp>
        <p:grpSp>
          <p:nvGrpSpPr>
            <p:cNvPr id="875" name="Google Shape;875;p71"/>
            <p:cNvGrpSpPr/>
            <p:nvPr/>
          </p:nvGrpSpPr>
          <p:grpSpPr>
            <a:xfrm>
              <a:off x="7870595" y="1971047"/>
              <a:ext cx="968393" cy="981803"/>
              <a:chOff x="7498770" y="2646984"/>
              <a:chExt cx="968393" cy="981803"/>
            </a:xfrm>
          </p:grpSpPr>
          <p:pic>
            <p:nvPicPr>
              <p:cNvPr id="876" name="Google Shape;876;p71"/>
              <p:cNvPicPr preferRelativeResize="0"/>
              <p:nvPr/>
            </p:nvPicPr>
            <p:blipFill>
              <a:blip r:embed="rId5">
                <a:alphaModFix/>
              </a:blip>
              <a:stretch>
                <a:fillRect/>
              </a:stretch>
            </p:blipFill>
            <p:spPr>
              <a:xfrm>
                <a:off x="7870771" y="2646984"/>
                <a:ext cx="596392" cy="812139"/>
              </a:xfrm>
              <a:prstGeom prst="rect">
                <a:avLst/>
              </a:prstGeom>
              <a:noFill/>
              <a:ln>
                <a:noFill/>
              </a:ln>
            </p:spPr>
          </p:pic>
          <p:pic>
            <p:nvPicPr>
              <p:cNvPr id="877" name="Google Shape;877;p71"/>
              <p:cNvPicPr preferRelativeResize="0"/>
              <p:nvPr/>
            </p:nvPicPr>
            <p:blipFill>
              <a:blip r:embed="rId6">
                <a:alphaModFix/>
              </a:blip>
              <a:stretch>
                <a:fillRect/>
              </a:stretch>
            </p:blipFill>
            <p:spPr>
              <a:xfrm>
                <a:off x="7498770" y="2942264"/>
                <a:ext cx="713677" cy="686523"/>
              </a:xfrm>
              <a:prstGeom prst="rect">
                <a:avLst/>
              </a:prstGeom>
              <a:noFill/>
              <a:ln>
                <a:noFill/>
              </a:ln>
            </p:spPr>
          </p:pic>
        </p:grpSp>
        <p:grpSp>
          <p:nvGrpSpPr>
            <p:cNvPr id="878" name="Google Shape;878;p71"/>
            <p:cNvGrpSpPr/>
            <p:nvPr/>
          </p:nvGrpSpPr>
          <p:grpSpPr>
            <a:xfrm>
              <a:off x="6440263" y="2928492"/>
              <a:ext cx="951695" cy="1022168"/>
              <a:chOff x="6279400" y="2942267"/>
              <a:chExt cx="951695" cy="1022168"/>
            </a:xfrm>
          </p:grpSpPr>
          <p:pic>
            <p:nvPicPr>
              <p:cNvPr id="879" name="Google Shape;879;p71"/>
              <p:cNvPicPr preferRelativeResize="0"/>
              <p:nvPr/>
            </p:nvPicPr>
            <p:blipFill>
              <a:blip r:embed="rId7">
                <a:alphaModFix/>
              </a:blip>
              <a:stretch>
                <a:fillRect/>
              </a:stretch>
            </p:blipFill>
            <p:spPr>
              <a:xfrm>
                <a:off x="6279400" y="2942267"/>
                <a:ext cx="596400" cy="812183"/>
              </a:xfrm>
              <a:prstGeom prst="rect">
                <a:avLst/>
              </a:prstGeom>
              <a:noFill/>
              <a:ln>
                <a:noFill/>
              </a:ln>
            </p:spPr>
          </p:pic>
          <p:pic>
            <p:nvPicPr>
              <p:cNvPr id="880" name="Google Shape;880;p71"/>
              <p:cNvPicPr preferRelativeResize="0"/>
              <p:nvPr/>
            </p:nvPicPr>
            <p:blipFill>
              <a:blip r:embed="rId8">
                <a:alphaModFix/>
              </a:blip>
              <a:stretch>
                <a:fillRect/>
              </a:stretch>
            </p:blipFill>
            <p:spPr>
              <a:xfrm>
                <a:off x="6517420" y="3277884"/>
                <a:ext cx="713675" cy="686551"/>
              </a:xfrm>
              <a:prstGeom prst="rect">
                <a:avLst/>
              </a:prstGeom>
              <a:noFill/>
              <a:ln>
                <a:noFill/>
              </a:ln>
            </p:spPr>
          </p:pic>
        </p:grpSp>
        <p:grpSp>
          <p:nvGrpSpPr>
            <p:cNvPr id="881" name="Google Shape;881;p71"/>
            <p:cNvGrpSpPr/>
            <p:nvPr/>
          </p:nvGrpSpPr>
          <p:grpSpPr>
            <a:xfrm>
              <a:off x="5065921" y="1943725"/>
              <a:ext cx="928765" cy="1063700"/>
              <a:chOff x="5142121" y="1181725"/>
              <a:chExt cx="928765" cy="1063700"/>
            </a:xfrm>
          </p:grpSpPr>
          <p:pic>
            <p:nvPicPr>
              <p:cNvPr id="882" name="Google Shape;882;p71"/>
              <p:cNvPicPr preferRelativeResize="0"/>
              <p:nvPr/>
            </p:nvPicPr>
            <p:blipFill>
              <a:blip r:embed="rId9">
                <a:alphaModFix/>
              </a:blip>
              <a:stretch>
                <a:fillRect/>
              </a:stretch>
            </p:blipFill>
            <p:spPr>
              <a:xfrm>
                <a:off x="5142121" y="1181725"/>
                <a:ext cx="596400" cy="812151"/>
              </a:xfrm>
              <a:prstGeom prst="rect">
                <a:avLst/>
              </a:prstGeom>
              <a:noFill/>
              <a:ln>
                <a:noFill/>
              </a:ln>
            </p:spPr>
          </p:pic>
          <p:pic>
            <p:nvPicPr>
              <p:cNvPr id="883" name="Google Shape;883;p71"/>
              <p:cNvPicPr preferRelativeResize="0"/>
              <p:nvPr/>
            </p:nvPicPr>
            <p:blipFill>
              <a:blip r:embed="rId10">
                <a:alphaModFix/>
              </a:blip>
              <a:stretch>
                <a:fillRect/>
              </a:stretch>
            </p:blipFill>
            <p:spPr>
              <a:xfrm>
                <a:off x="5357210" y="1558893"/>
                <a:ext cx="713675" cy="686531"/>
              </a:xfrm>
              <a:prstGeom prst="rect">
                <a:avLst/>
              </a:prstGeom>
              <a:noFill/>
              <a:ln>
                <a:noFill/>
              </a:ln>
            </p:spPr>
          </p:pic>
        </p:grpSp>
      </p:grpSp>
      <p:pic>
        <p:nvPicPr>
          <p:cNvPr id="884" name="Google Shape;884;p71"/>
          <p:cNvPicPr preferRelativeResize="0"/>
          <p:nvPr/>
        </p:nvPicPr>
        <p:blipFill>
          <a:blip r:embed="rId11">
            <a:alphaModFix/>
          </a:blip>
          <a:stretch>
            <a:fillRect/>
          </a:stretch>
        </p:blipFill>
        <p:spPr>
          <a:xfrm>
            <a:off x="7740577" y="2217548"/>
            <a:ext cx="369300" cy="369300"/>
          </a:xfrm>
          <a:prstGeom prst="rect">
            <a:avLst/>
          </a:prstGeom>
          <a:noFill/>
          <a:ln>
            <a:noFill/>
          </a:ln>
        </p:spPr>
      </p:pic>
      <p:pic>
        <p:nvPicPr>
          <p:cNvPr id="885" name="Google Shape;885;p71"/>
          <p:cNvPicPr preferRelativeResize="0"/>
          <p:nvPr/>
        </p:nvPicPr>
        <p:blipFill>
          <a:blip r:embed="rId11">
            <a:alphaModFix/>
          </a:blip>
          <a:stretch>
            <a:fillRect/>
          </a:stretch>
        </p:blipFill>
        <p:spPr>
          <a:xfrm>
            <a:off x="7124091" y="3208148"/>
            <a:ext cx="369300" cy="369300"/>
          </a:xfrm>
          <a:prstGeom prst="rect">
            <a:avLst/>
          </a:prstGeom>
          <a:noFill/>
          <a:ln>
            <a:noFill/>
          </a:ln>
        </p:spPr>
      </p:pic>
      <p:pic>
        <p:nvPicPr>
          <p:cNvPr id="886" name="Google Shape;886;p71"/>
          <p:cNvPicPr preferRelativeResize="0"/>
          <p:nvPr/>
        </p:nvPicPr>
        <p:blipFill>
          <a:blip r:embed="rId11">
            <a:alphaModFix/>
          </a:blip>
          <a:stretch>
            <a:fillRect/>
          </a:stretch>
        </p:blipFill>
        <p:spPr>
          <a:xfrm>
            <a:off x="5752491" y="2522348"/>
            <a:ext cx="369300" cy="369300"/>
          </a:xfrm>
          <a:prstGeom prst="rect">
            <a:avLst/>
          </a:prstGeom>
          <a:noFill/>
          <a:ln>
            <a:noFill/>
          </a:ln>
        </p:spPr>
      </p:pic>
      <p:pic>
        <p:nvPicPr>
          <p:cNvPr id="887" name="Google Shape;887;p71"/>
          <p:cNvPicPr preferRelativeResize="0"/>
          <p:nvPr/>
        </p:nvPicPr>
        <p:blipFill>
          <a:blip r:embed="rId11">
            <a:alphaModFix/>
          </a:blip>
          <a:stretch>
            <a:fillRect/>
          </a:stretch>
        </p:blipFill>
        <p:spPr>
          <a:xfrm>
            <a:off x="6514491" y="1455548"/>
            <a:ext cx="369300" cy="369300"/>
          </a:xfrm>
          <a:prstGeom prst="rect">
            <a:avLst/>
          </a:prstGeom>
          <a:noFill/>
          <a:ln>
            <a:noFill/>
          </a:ln>
        </p:spPr>
      </p:pic>
      <p:sp>
        <p:nvSpPr>
          <p:cNvPr id="888" name="Google Shape;888;p71"/>
          <p:cNvSpPr/>
          <p:nvPr/>
        </p:nvSpPr>
        <p:spPr>
          <a:xfrm>
            <a:off x="6940675" y="1155353"/>
            <a:ext cx="950200" cy="1041425"/>
          </a:xfrm>
          <a:custGeom>
            <a:rect b="b" l="l" r="r" t="t"/>
            <a:pathLst>
              <a:path extrusionOk="0" h="41657" w="38008">
                <a:moveTo>
                  <a:pt x="0" y="69"/>
                </a:moveTo>
                <a:cubicBezTo>
                  <a:pt x="4866" y="849"/>
                  <a:pt x="22860" y="-2180"/>
                  <a:pt x="29195" y="4751"/>
                </a:cubicBezTo>
                <a:cubicBezTo>
                  <a:pt x="35530" y="11682"/>
                  <a:pt x="36539" y="35506"/>
                  <a:pt x="38008" y="41657"/>
                </a:cubicBezTo>
              </a:path>
            </a:pathLst>
          </a:custGeom>
          <a:noFill/>
          <a:ln cap="flat" cmpd="sng" w="28575">
            <a:solidFill>
              <a:srgbClr val="EA9999"/>
            </a:solidFill>
            <a:prstDash val="solid"/>
            <a:round/>
            <a:headEnd len="med" w="med" type="none"/>
            <a:tailEnd len="med" w="med" type="triangle"/>
          </a:ln>
        </p:spPr>
      </p:sp>
      <p:sp>
        <p:nvSpPr>
          <p:cNvPr id="889" name="Google Shape;889;p71"/>
          <p:cNvSpPr/>
          <p:nvPr/>
        </p:nvSpPr>
        <p:spPr>
          <a:xfrm>
            <a:off x="7553475" y="2747625"/>
            <a:ext cx="1156600" cy="633475"/>
          </a:xfrm>
          <a:custGeom>
            <a:rect b="b" l="l" r="r" t="t"/>
            <a:pathLst>
              <a:path extrusionOk="0" h="25339" w="46264">
                <a:moveTo>
                  <a:pt x="43242" y="0"/>
                </a:moveTo>
                <a:cubicBezTo>
                  <a:pt x="43196" y="2249"/>
                  <a:pt x="50173" y="9273"/>
                  <a:pt x="42966" y="13496"/>
                </a:cubicBezTo>
                <a:cubicBezTo>
                  <a:pt x="35759" y="17719"/>
                  <a:pt x="7161" y="23365"/>
                  <a:pt x="0" y="25339"/>
                </a:cubicBezTo>
              </a:path>
            </a:pathLst>
          </a:custGeom>
          <a:noFill/>
          <a:ln cap="flat" cmpd="sng" w="28575">
            <a:solidFill>
              <a:srgbClr val="EA9999"/>
            </a:solidFill>
            <a:prstDash val="solid"/>
            <a:round/>
            <a:headEnd len="med" w="med" type="none"/>
            <a:tailEnd len="med" w="med" type="triangle"/>
          </a:ln>
        </p:spPr>
      </p:sp>
      <p:sp>
        <p:nvSpPr>
          <p:cNvPr id="890" name="Google Shape;890;p71"/>
          <p:cNvSpPr/>
          <p:nvPr/>
        </p:nvSpPr>
        <p:spPr>
          <a:xfrm>
            <a:off x="6024900" y="2906000"/>
            <a:ext cx="509525" cy="513405"/>
          </a:xfrm>
          <a:custGeom>
            <a:rect b="b" l="l" r="r" t="t"/>
            <a:pathLst>
              <a:path extrusionOk="0" h="29350" w="20381">
                <a:moveTo>
                  <a:pt x="20381" y="28920"/>
                </a:moveTo>
                <a:cubicBezTo>
                  <a:pt x="18637" y="28507"/>
                  <a:pt x="13312" y="31261"/>
                  <a:pt x="9915" y="26441"/>
                </a:cubicBezTo>
                <a:cubicBezTo>
                  <a:pt x="6518" y="21621"/>
                  <a:pt x="1653" y="4407"/>
                  <a:pt x="0" y="0"/>
                </a:cubicBezTo>
              </a:path>
            </a:pathLst>
          </a:custGeom>
          <a:noFill/>
          <a:ln cap="flat" cmpd="sng" w="28575">
            <a:solidFill>
              <a:srgbClr val="EA9999"/>
            </a:solidFill>
            <a:prstDash val="solid"/>
            <a:round/>
            <a:headEnd len="med" w="med" type="none"/>
            <a:tailEnd len="med" w="med" type="triangle"/>
          </a:ln>
        </p:spPr>
      </p:sp>
      <p:sp>
        <p:nvSpPr>
          <p:cNvPr id="891" name="Google Shape;891;p71"/>
          <p:cNvSpPr/>
          <p:nvPr/>
        </p:nvSpPr>
        <p:spPr>
          <a:xfrm>
            <a:off x="5618650" y="1625275"/>
            <a:ext cx="846925" cy="316750"/>
          </a:xfrm>
          <a:custGeom>
            <a:rect b="b" l="l" r="r" t="t"/>
            <a:pathLst>
              <a:path extrusionOk="0" h="12670" w="33877">
                <a:moveTo>
                  <a:pt x="0" y="12670"/>
                </a:moveTo>
                <a:cubicBezTo>
                  <a:pt x="1744" y="10880"/>
                  <a:pt x="4820" y="4040"/>
                  <a:pt x="10466" y="1928"/>
                </a:cubicBezTo>
                <a:cubicBezTo>
                  <a:pt x="16112" y="-184"/>
                  <a:pt x="29975" y="321"/>
                  <a:pt x="33877" y="0"/>
                </a:cubicBezTo>
              </a:path>
            </a:pathLst>
          </a:custGeom>
          <a:noFill/>
          <a:ln cap="flat" cmpd="sng" w="28575">
            <a:solidFill>
              <a:srgbClr val="EA9999"/>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par>
                                <p:cTn fill="hold" nodeType="withEffect" presetClass="entr" presetID="10" presetSubtype="0">
                                  <p:stCondLst>
                                    <p:cond delay="0"/>
                                  </p:stCondLst>
                                  <p:childTnLst>
                                    <p:set>
                                      <p:cBhvr>
                                        <p:cTn dur="1" fill="hold">
                                          <p:stCondLst>
                                            <p:cond delay="0"/>
                                          </p:stCondLst>
                                        </p:cTn>
                                        <p:tgtEl>
                                          <p:spTgt spid="871"/>
                                        </p:tgtEl>
                                        <p:attrNameLst>
                                          <p:attrName>style.visibility</p:attrName>
                                        </p:attrNameLst>
                                      </p:cBhvr>
                                      <p:to>
                                        <p:strVal val="visible"/>
                                      </p:to>
                                    </p:set>
                                    <p:animEffect filter="fade" transition="in">
                                      <p:cBhvr>
                                        <p:cTn dur="1000"/>
                                        <p:tgtEl>
                                          <p:spTgt spid="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1000"/>
                                        <p:tgtEl>
                                          <p:spTgt spid="8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1000"/>
                                        <p:tgtEl>
                                          <p:spTgt spid="88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1000"/>
                                        <p:tgtEl>
                                          <p:spTgt spid="88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1000"/>
                                        <p:tgtEl>
                                          <p:spTgt spid="890"/>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1000"/>
                                        <p:tgtEl>
                                          <p:spTgt spid="8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1000"/>
                                        <p:tgtEl>
                                          <p:spTgt spid="8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Deadlock</a:t>
            </a:r>
            <a:endParaRPr/>
          </a:p>
        </p:txBody>
      </p:sp>
      <p:sp>
        <p:nvSpPr>
          <p:cNvPr id="897" name="Google Shape;897;p72"/>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We've already seen that multi-threaded programs may corrupt shared resources if care is not taken to protect the resource. But protecting shared resources may lead to </a:t>
            </a:r>
            <a:r>
              <a:rPr b="1" i="1" lang="en"/>
              <a:t>deadlock</a:t>
            </a:r>
            <a:r>
              <a:rPr lang="en"/>
              <a:t>, a condition from which there is no recovery. Try writing a new thread that is very likely to produce deadlock. Can you </a:t>
            </a:r>
            <a:r>
              <a:rPr i="1" lang="en"/>
              <a:t>guarantee</a:t>
            </a:r>
            <a:r>
              <a:rPr lang="en"/>
              <a:t> that it will deadlock?</a:t>
            </a:r>
            <a:endParaRPr/>
          </a:p>
        </p:txBody>
      </p:sp>
      <p:sp>
        <p:nvSpPr>
          <p:cNvPr id="898" name="Google Shape;898;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9" name="Google Shape;899;p72"/>
          <p:cNvSpPr txBox="1"/>
          <p:nvPr>
            <p:ph idx="2" type="body"/>
          </p:nvPr>
        </p:nvSpPr>
        <p:spPr>
          <a:xfrm>
            <a:off x="2518800" y="2013125"/>
            <a:ext cx="6422400" cy="2792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Deadlock</a:t>
            </a:r>
            <a:r>
              <a:rPr lang="en" sz="1500"/>
              <a:t>" and use your preferred method to make it a thread.</a:t>
            </a:r>
            <a:endParaRPr sz="1500"/>
          </a:p>
          <a:p>
            <a:pPr indent="-311150" lvl="1" marL="914400" rtl="0" algn="l">
              <a:spcBef>
                <a:spcPts val="0"/>
              </a:spcBef>
              <a:spcAft>
                <a:spcPts val="0"/>
              </a:spcAft>
              <a:buSzPts val="1300"/>
              <a:buChar char="○"/>
            </a:pPr>
            <a:r>
              <a:rPr lang="en" sz="1300"/>
              <a:t>Remember that you need at least </a:t>
            </a:r>
            <a:r>
              <a:rPr b="1" i="1" lang="en" sz="1300">
                <a:solidFill>
                  <a:srgbClr val="FF0000"/>
                </a:solidFill>
              </a:rPr>
              <a:t>two</a:t>
            </a:r>
            <a:r>
              <a:rPr lang="en" sz="1300">
                <a:solidFill>
                  <a:srgbClr val="FF0000"/>
                </a:solidFill>
              </a:rPr>
              <a:t> </a:t>
            </a:r>
            <a:r>
              <a:rPr lang="en" sz="1300"/>
              <a:t>different object keys and </a:t>
            </a:r>
            <a:r>
              <a:rPr b="1" i="1" lang="en" sz="1300">
                <a:solidFill>
                  <a:srgbClr val="FF0000"/>
                </a:solidFill>
              </a:rPr>
              <a:t>two</a:t>
            </a:r>
            <a:r>
              <a:rPr lang="en" sz="1300">
                <a:solidFill>
                  <a:srgbClr val="FF0000"/>
                </a:solidFill>
              </a:rPr>
              <a:t> </a:t>
            </a:r>
            <a:r>
              <a:rPr lang="en" sz="1300"/>
              <a:t>different threads to produce deadlock.</a:t>
            </a:r>
            <a:endParaRPr sz="1300"/>
          </a:p>
          <a:p>
            <a:pPr indent="-311150" lvl="1" marL="914400" rtl="0" algn="l">
              <a:spcBef>
                <a:spcPts val="0"/>
              </a:spcBef>
              <a:spcAft>
                <a:spcPts val="0"/>
              </a:spcAft>
              <a:buSzPts val="1300"/>
              <a:buChar char="○"/>
            </a:pPr>
            <a:r>
              <a:rPr lang="en" sz="1300"/>
              <a:t>Declare any fields and constructors that you think you might need.</a:t>
            </a:r>
            <a:endParaRPr sz="1300"/>
          </a:p>
          <a:p>
            <a:pPr indent="-311150" lvl="1" marL="914400" rtl="0" algn="l">
              <a:spcBef>
                <a:spcPts val="0"/>
              </a:spcBef>
              <a:spcAft>
                <a:spcPts val="0"/>
              </a:spcAft>
              <a:buSzPts val="1300"/>
              <a:buChar char="○"/>
            </a:pPr>
            <a:r>
              <a:rPr lang="en" sz="1300"/>
              <a:t>Implement a </a:t>
            </a:r>
            <a:r>
              <a:rPr lang="en" sz="1300">
                <a:latin typeface="Courier New"/>
                <a:ea typeface="Courier New"/>
                <a:cs typeface="Courier New"/>
                <a:sym typeface="Courier New"/>
              </a:rPr>
              <a:t>run()</a:t>
            </a:r>
            <a:r>
              <a:rPr lang="en" sz="1300"/>
              <a:t> method that is </a:t>
            </a:r>
            <a:r>
              <a:rPr lang="en" sz="1300">
                <a:solidFill>
                  <a:srgbClr val="FF0000"/>
                </a:solidFill>
              </a:rPr>
              <a:t>likely </a:t>
            </a:r>
            <a:r>
              <a:rPr lang="en" sz="1300"/>
              <a:t>to produce deadlock. Print messages to indicate what is happening.</a:t>
            </a:r>
            <a:endParaRPr sz="1300"/>
          </a:p>
          <a:p>
            <a:pPr indent="-323850" lvl="0" marL="457200" rtl="0" algn="l">
              <a:spcBef>
                <a:spcPts val="0"/>
              </a:spcBef>
              <a:spcAft>
                <a:spcPts val="0"/>
              </a:spcAft>
              <a:buSzPts val="1500"/>
              <a:buChar char="●"/>
            </a:pPr>
            <a:r>
              <a:rPr lang="en" sz="1500"/>
              <a:t>Define a </a:t>
            </a:r>
            <a:r>
              <a:rPr lang="en" sz="1500">
                <a:latin typeface="Courier New"/>
                <a:ea typeface="Courier New"/>
                <a:cs typeface="Courier New"/>
                <a:sym typeface="Courier New"/>
              </a:rPr>
              <a:t>main</a:t>
            </a:r>
            <a:r>
              <a:rPr lang="en" sz="1500"/>
              <a:t> method with the appropriate signature.</a:t>
            </a:r>
            <a:endParaRPr sz="1500"/>
          </a:p>
          <a:p>
            <a:pPr indent="-311150" lvl="1" marL="914400" rtl="0" algn="l">
              <a:spcBef>
                <a:spcPts val="0"/>
              </a:spcBef>
              <a:spcAft>
                <a:spcPts val="0"/>
              </a:spcAft>
              <a:buSzPts val="1300"/>
              <a:buChar char="○"/>
            </a:pPr>
            <a:r>
              <a:rPr lang="en" sz="1300"/>
              <a:t>Create and start two of your threads.</a:t>
            </a:r>
            <a:endParaRPr sz="1300"/>
          </a:p>
          <a:p>
            <a:pPr indent="-311150" lvl="1" marL="914400" rtl="0" algn="l">
              <a:spcBef>
                <a:spcPts val="0"/>
              </a:spcBef>
              <a:spcAft>
                <a:spcPts val="0"/>
              </a:spcAft>
              <a:buSzPts val="1300"/>
              <a:buChar char="○"/>
            </a:pPr>
            <a:r>
              <a:rPr lang="en" sz="1300"/>
              <a:t>Does deadlock occur?</a:t>
            </a:r>
            <a:endParaRPr sz="1300"/>
          </a:p>
          <a:p>
            <a:pPr indent="-311150" lvl="1" marL="914400" rtl="0" algn="l">
              <a:spcBef>
                <a:spcPts val="0"/>
              </a:spcBef>
              <a:spcAft>
                <a:spcPts val="0"/>
              </a:spcAft>
              <a:buSzPts val="1300"/>
              <a:buChar char="○"/>
            </a:pPr>
            <a:r>
              <a:rPr lang="en" sz="1300"/>
              <a:t>If so, is it guaranteed to occur </a:t>
            </a:r>
            <a:r>
              <a:rPr b="1" i="1" lang="en" sz="1300">
                <a:solidFill>
                  <a:srgbClr val="FF0000"/>
                </a:solidFill>
              </a:rPr>
              <a:t>every time</a:t>
            </a:r>
            <a:r>
              <a:rPr lang="en" sz="1300"/>
              <a:t>?</a:t>
            </a:r>
            <a:endParaRPr sz="1300"/>
          </a:p>
        </p:txBody>
      </p:sp>
      <p:sp>
        <p:nvSpPr>
          <p:cNvPr id="900" name="Google Shape;900;p72"/>
          <p:cNvSpPr txBox="1"/>
          <p:nvPr>
            <p:ph idx="3" type="title"/>
          </p:nvPr>
        </p:nvSpPr>
        <p:spPr>
          <a:xfrm>
            <a:off x="65250" y="100"/>
            <a:ext cx="1253700" cy="59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SzPts val="990"/>
              <a:buNone/>
            </a:pPr>
            <a:r>
              <a:rPr lang="en"/>
              <a:t>11.15</a:t>
            </a:r>
            <a:endParaRPr/>
          </a:p>
        </p:txBody>
      </p:sp>
      <p:pic>
        <p:nvPicPr>
          <p:cNvPr id="901" name="Google Shape;901;p72"/>
          <p:cNvPicPr preferRelativeResize="0"/>
          <p:nvPr/>
        </p:nvPicPr>
        <p:blipFill>
          <a:blip r:embed="rId3">
            <a:alphaModFix/>
          </a:blip>
          <a:stretch>
            <a:fillRect/>
          </a:stretch>
        </p:blipFill>
        <p:spPr>
          <a:xfrm>
            <a:off x="228600" y="2154175"/>
            <a:ext cx="2150175" cy="2150175"/>
          </a:xfrm>
          <a:prstGeom prst="rect">
            <a:avLst/>
          </a:prstGeom>
          <a:noFill/>
          <a:ln cap="flat" cmpd="sng" w="19050">
            <a:solidFill>
              <a:schemeClr val="dk2"/>
            </a:solidFill>
            <a:prstDash val="solid"/>
            <a:round/>
            <a:headEnd len="sm" w="sm" type="none"/>
            <a:tailEnd len="sm" w="sm" type="none"/>
          </a:ln>
        </p:spPr>
      </p:pic>
      <p:sp>
        <p:nvSpPr>
          <p:cNvPr id="902" name="Google Shape;902;p72"/>
          <p:cNvSpPr txBox="1"/>
          <p:nvPr/>
        </p:nvSpPr>
        <p:spPr>
          <a:xfrm>
            <a:off x="228637" y="4436850"/>
            <a:ext cx="21501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No, these are </a:t>
            </a:r>
            <a:r>
              <a:rPr b="1" i="1" lang="en" sz="1200"/>
              <a:t>dread</a:t>
            </a:r>
            <a:r>
              <a:rPr lang="en" sz="1200"/>
              <a:t>locks.</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8" name="Google Shape;908;p73"/>
          <p:cNvSpPr txBox="1"/>
          <p:nvPr>
            <p:ph type="title"/>
          </p:nvPr>
        </p:nvSpPr>
        <p:spPr>
          <a:xfrm>
            <a:off x="311725" y="3485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Deadlock Conditions</a:t>
            </a:r>
            <a:endParaRPr sz="2700"/>
          </a:p>
        </p:txBody>
      </p:sp>
      <p:sp>
        <p:nvSpPr>
          <p:cNvPr id="909" name="Google Shape;909;p73"/>
          <p:cNvSpPr txBox="1"/>
          <p:nvPr>
            <p:ph idx="1" type="body"/>
          </p:nvPr>
        </p:nvSpPr>
        <p:spPr>
          <a:xfrm>
            <a:off x="4644675" y="2723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There are </a:t>
            </a:r>
            <a:r>
              <a:rPr b="1" i="1" lang="en">
                <a:solidFill>
                  <a:srgbClr val="FF0000"/>
                </a:solidFill>
              </a:rPr>
              <a:t>four</a:t>
            </a:r>
            <a:r>
              <a:rPr lang="en">
                <a:solidFill>
                  <a:srgbClr val="FF0000"/>
                </a:solidFill>
              </a:rPr>
              <a:t> </a:t>
            </a:r>
            <a:r>
              <a:rPr lang="en"/>
              <a:t>conditions that must be true </a:t>
            </a:r>
            <a:r>
              <a:rPr b="1" i="1" lang="en">
                <a:solidFill>
                  <a:srgbClr val="FF0000"/>
                </a:solidFill>
              </a:rPr>
              <a:t>simultaneously</a:t>
            </a:r>
            <a:r>
              <a:rPr lang="en">
                <a:solidFill>
                  <a:srgbClr val="FF0000"/>
                </a:solidFill>
              </a:rPr>
              <a:t> </a:t>
            </a:r>
            <a:r>
              <a:rPr lang="en"/>
              <a:t>for deadlock to occur.</a:t>
            </a:r>
            <a:endParaRPr/>
          </a:p>
          <a:p>
            <a:pPr indent="-311150" lvl="0" marL="457200" rtl="0" algn="l">
              <a:spcBef>
                <a:spcPts val="0"/>
              </a:spcBef>
              <a:spcAft>
                <a:spcPts val="0"/>
              </a:spcAft>
              <a:buSzPts val="1300"/>
              <a:buChar char="●"/>
            </a:pPr>
            <a:r>
              <a:rPr b="1" i="1" lang="en">
                <a:solidFill>
                  <a:srgbClr val="FF0000"/>
                </a:solidFill>
              </a:rPr>
              <a:t>Mutual Exclusion</a:t>
            </a:r>
            <a:r>
              <a:rPr lang="en"/>
              <a:t> - at least one resource must be in a mode where it cannot be shared among processes.</a:t>
            </a:r>
            <a:endParaRPr/>
          </a:p>
          <a:p>
            <a:pPr indent="-298450" lvl="1" marL="914400" rtl="0" algn="l">
              <a:spcBef>
                <a:spcPts val="0"/>
              </a:spcBef>
              <a:spcAft>
                <a:spcPts val="0"/>
              </a:spcAft>
              <a:buSzPts val="1100"/>
              <a:buChar char="○"/>
            </a:pPr>
            <a:r>
              <a:rPr lang="en"/>
              <a:t>In Java this occurs whenever a thread synchronizes on an object key.</a:t>
            </a:r>
            <a:endParaRPr/>
          </a:p>
          <a:p>
            <a:pPr indent="-311150" lvl="0" marL="457200" rtl="0" algn="l">
              <a:spcBef>
                <a:spcPts val="0"/>
              </a:spcBef>
              <a:spcAft>
                <a:spcPts val="0"/>
              </a:spcAft>
              <a:buSzPts val="1300"/>
              <a:buChar char="●"/>
            </a:pPr>
            <a:r>
              <a:rPr b="1" i="1" lang="en">
                <a:solidFill>
                  <a:srgbClr val="FF0000"/>
                </a:solidFill>
              </a:rPr>
              <a:t>Hold and Wait</a:t>
            </a:r>
            <a:r>
              <a:rPr lang="en">
                <a:solidFill>
                  <a:srgbClr val="FF0000"/>
                </a:solidFill>
              </a:rPr>
              <a:t> </a:t>
            </a:r>
            <a:r>
              <a:rPr lang="en"/>
              <a:t>- a process must hold a lock on one resource while waiting for a lock on some other resource.</a:t>
            </a:r>
            <a:endParaRPr/>
          </a:p>
          <a:p>
            <a:pPr indent="-298450" lvl="1" marL="914400" rtl="0" algn="l">
              <a:spcBef>
                <a:spcPts val="0"/>
              </a:spcBef>
              <a:spcAft>
                <a:spcPts val="0"/>
              </a:spcAft>
              <a:buSzPts val="1100"/>
              <a:buChar char="○"/>
            </a:pPr>
            <a:r>
              <a:rPr lang="en"/>
              <a:t>This is caused when a process attempts to synchronize on two object keys at the same time.</a:t>
            </a:r>
            <a:endParaRPr/>
          </a:p>
          <a:p>
            <a:pPr indent="-311150" lvl="0" marL="457200" rtl="0" algn="l">
              <a:spcBef>
                <a:spcPts val="0"/>
              </a:spcBef>
              <a:spcAft>
                <a:spcPts val="0"/>
              </a:spcAft>
              <a:buSzPts val="1300"/>
              <a:buChar char="●"/>
            </a:pPr>
            <a:r>
              <a:rPr b="1" i="1" lang="en">
                <a:solidFill>
                  <a:srgbClr val="FF0000"/>
                </a:solidFill>
              </a:rPr>
              <a:t>No Preemption</a:t>
            </a:r>
            <a:r>
              <a:rPr lang="en"/>
              <a:t> - there is no mechanism to force a process to relinquish a lock that it holds.</a:t>
            </a:r>
            <a:endParaRPr/>
          </a:p>
          <a:p>
            <a:pPr indent="-298450" lvl="1" marL="914400" rtl="0" algn="l">
              <a:spcBef>
                <a:spcPts val="0"/>
              </a:spcBef>
              <a:spcAft>
                <a:spcPts val="0"/>
              </a:spcAft>
              <a:buSzPts val="1100"/>
              <a:buChar char="○"/>
            </a:pPr>
            <a:r>
              <a:rPr lang="en"/>
              <a:t>In Java there is no mechanism to force a thread that holds a lock to release it.</a:t>
            </a:r>
            <a:endParaRPr/>
          </a:p>
          <a:p>
            <a:pPr indent="-311150" lvl="0" marL="457200" rtl="0" algn="l">
              <a:spcBef>
                <a:spcPts val="0"/>
              </a:spcBef>
              <a:spcAft>
                <a:spcPts val="0"/>
              </a:spcAft>
              <a:buSzPts val="1300"/>
              <a:buChar char="●"/>
            </a:pPr>
            <a:r>
              <a:rPr b="1" i="1" lang="en">
                <a:solidFill>
                  <a:srgbClr val="FF0000"/>
                </a:solidFill>
              </a:rPr>
              <a:t>Circular Wait</a:t>
            </a:r>
            <a:r>
              <a:rPr lang="en"/>
              <a:t> - A process must be waiting for a resource that is being held by another process which in turn is </a:t>
            </a:r>
            <a:r>
              <a:rPr b="1" i="1" lang="en">
                <a:solidFill>
                  <a:srgbClr val="FF0000"/>
                </a:solidFill>
              </a:rPr>
              <a:t>also</a:t>
            </a:r>
            <a:r>
              <a:rPr lang="en">
                <a:solidFill>
                  <a:srgbClr val="FF0000"/>
                </a:solidFill>
              </a:rPr>
              <a:t> </a:t>
            </a:r>
            <a:r>
              <a:rPr lang="en"/>
              <a:t>waiting for a resource held by another process.</a:t>
            </a:r>
            <a:endParaRPr/>
          </a:p>
        </p:txBody>
      </p:sp>
      <p:sp>
        <p:nvSpPr>
          <p:cNvPr id="910" name="Google Shape;910;p73"/>
          <p:cNvSpPr txBox="1"/>
          <p:nvPr>
            <p:ph idx="2" type="body"/>
          </p:nvPr>
        </p:nvSpPr>
        <p:spPr>
          <a:xfrm>
            <a:off x="315425" y="1667175"/>
            <a:ext cx="3706500" cy="1828500"/>
          </a:xfrm>
          <a:prstGeom prst="rect">
            <a:avLst/>
          </a:prstGeom>
        </p:spPr>
        <p:txBody>
          <a:bodyPr anchorCtr="0" anchor="t" bIns="91425" lIns="91425" spcFirstLastPara="1" rIns="91425" wrap="square" tIns="91425">
            <a:spAutoFit/>
          </a:bodyPr>
          <a:lstStyle/>
          <a:p>
            <a:pPr indent="-381000" lvl="0" marL="457200" rtl="0" algn="l">
              <a:spcBef>
                <a:spcPts val="0"/>
              </a:spcBef>
              <a:spcAft>
                <a:spcPts val="0"/>
              </a:spcAft>
              <a:buSzPts val="2400"/>
              <a:buChar char="●"/>
            </a:pPr>
            <a:r>
              <a:rPr lang="en" sz="2400"/>
              <a:t>Mutual Exclusion</a:t>
            </a:r>
            <a:endParaRPr sz="2400"/>
          </a:p>
          <a:p>
            <a:pPr indent="-381000" lvl="0" marL="457200" rtl="0" algn="l">
              <a:spcBef>
                <a:spcPts val="0"/>
              </a:spcBef>
              <a:spcAft>
                <a:spcPts val="0"/>
              </a:spcAft>
              <a:buSzPts val="2400"/>
              <a:buChar char="●"/>
            </a:pPr>
            <a:r>
              <a:rPr lang="en" sz="2400"/>
              <a:t>Hold and Wait</a:t>
            </a:r>
            <a:endParaRPr sz="2400"/>
          </a:p>
          <a:p>
            <a:pPr indent="-381000" lvl="0" marL="457200" rtl="0" algn="l">
              <a:spcBef>
                <a:spcPts val="0"/>
              </a:spcBef>
              <a:spcAft>
                <a:spcPts val="0"/>
              </a:spcAft>
              <a:buSzPts val="2400"/>
              <a:buChar char="●"/>
            </a:pPr>
            <a:r>
              <a:rPr lang="en" sz="2400"/>
              <a:t>No Preemption</a:t>
            </a:r>
            <a:endParaRPr sz="2400"/>
          </a:p>
          <a:p>
            <a:pPr indent="-381000" lvl="0" marL="457200" rtl="0" algn="l">
              <a:spcBef>
                <a:spcPts val="0"/>
              </a:spcBef>
              <a:spcAft>
                <a:spcPts val="0"/>
              </a:spcAft>
              <a:buSzPts val="2400"/>
              <a:buChar char="●"/>
            </a:pPr>
            <a:r>
              <a:rPr lang="en" sz="2400"/>
              <a:t>Circular Wait</a:t>
            </a:r>
            <a:endParaRPr sz="2400"/>
          </a:p>
        </p:txBody>
      </p:sp>
      <p:sp>
        <p:nvSpPr>
          <p:cNvPr id="911" name="Google Shape;911;p73"/>
          <p:cNvSpPr txBox="1"/>
          <p:nvPr>
            <p:ph idx="3" type="body"/>
          </p:nvPr>
        </p:nvSpPr>
        <p:spPr>
          <a:xfrm>
            <a:off x="315425" y="10416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For deadlock to occur, </a:t>
            </a:r>
            <a:r>
              <a:rPr b="1" i="1" lang="en">
                <a:solidFill>
                  <a:srgbClr val="FF0000"/>
                </a:solidFill>
              </a:rPr>
              <a:t>four </a:t>
            </a:r>
            <a:r>
              <a:rPr lang="en"/>
              <a:t>conditions must be true </a:t>
            </a:r>
            <a:r>
              <a:rPr b="1" i="1" lang="en">
                <a:solidFill>
                  <a:srgbClr val="FF0000"/>
                </a:solidFill>
              </a:rPr>
              <a:t>simultaneously</a:t>
            </a:r>
            <a:r>
              <a:rPr lang="en"/>
              <a:t>.</a:t>
            </a:r>
            <a:endParaRPr/>
          </a:p>
        </p:txBody>
      </p:sp>
      <p:sp>
        <p:nvSpPr>
          <p:cNvPr id="912" name="Google Shape;912;p73"/>
          <p:cNvSpPr txBox="1"/>
          <p:nvPr>
            <p:ph idx="3" type="body"/>
          </p:nvPr>
        </p:nvSpPr>
        <p:spPr>
          <a:xfrm>
            <a:off x="315425" y="35562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Preventing deadlock means designing a system in which </a:t>
            </a:r>
            <a:r>
              <a:rPr b="1" i="1" lang="en">
                <a:solidFill>
                  <a:srgbClr val="FF0000"/>
                </a:solidFill>
              </a:rPr>
              <a:t>at least one</a:t>
            </a:r>
            <a:r>
              <a:rPr lang="en">
                <a:solidFill>
                  <a:srgbClr val="FF0000"/>
                </a:solidFill>
              </a:rPr>
              <a:t> </a:t>
            </a:r>
            <a:r>
              <a:rPr lang="en"/>
              <a:t>of these conditions is false </a:t>
            </a:r>
            <a:r>
              <a:rPr b="1" i="1" lang="en">
                <a:solidFill>
                  <a:srgbClr val="FF0000"/>
                </a:solidFill>
              </a:rPr>
              <a:t>at all times</a:t>
            </a:r>
            <a:r>
              <a:rPr lang="en"/>
              <a:t>.</a:t>
            </a:r>
            <a:endParaRPr/>
          </a:p>
        </p:txBody>
      </p:sp>
      <p:sp>
        <p:nvSpPr>
          <p:cNvPr id="913" name="Google Shape;913;p73"/>
          <p:cNvSpPr txBox="1"/>
          <p:nvPr>
            <p:ph idx="3" type="body"/>
          </p:nvPr>
        </p:nvSpPr>
        <p:spPr>
          <a:xfrm>
            <a:off x="315425" y="43944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best way to accomplish this depends on the problem.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1000"/>
                                        <p:tgtEl>
                                          <p:spTgt spid="9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0">
                                            <p:txEl>
                                              <p:pRg end="0" st="0"/>
                                            </p:txEl>
                                          </p:spTgt>
                                        </p:tgtEl>
                                        <p:attrNameLst>
                                          <p:attrName>style.visibility</p:attrName>
                                        </p:attrNameLst>
                                      </p:cBhvr>
                                      <p:to>
                                        <p:strVal val="visible"/>
                                      </p:to>
                                    </p:set>
                                    <p:animEffect filter="fade" transition="in">
                                      <p:cBhvr>
                                        <p:cTn dur="1000"/>
                                        <p:tgtEl>
                                          <p:spTgt spid="910">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10">
                                            <p:txEl>
                                              <p:pRg end="1" st="1"/>
                                            </p:txEl>
                                          </p:spTgt>
                                        </p:tgtEl>
                                        <p:attrNameLst>
                                          <p:attrName>style.visibility</p:attrName>
                                        </p:attrNameLst>
                                      </p:cBhvr>
                                      <p:to>
                                        <p:strVal val="visible"/>
                                      </p:to>
                                    </p:set>
                                    <p:animEffect filter="fade" transition="in">
                                      <p:cBhvr>
                                        <p:cTn dur="1000"/>
                                        <p:tgtEl>
                                          <p:spTgt spid="910">
                                            <p:txEl>
                                              <p:pRg end="1" st="1"/>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910">
                                            <p:txEl>
                                              <p:pRg end="2" st="2"/>
                                            </p:txEl>
                                          </p:spTgt>
                                        </p:tgtEl>
                                        <p:attrNameLst>
                                          <p:attrName>style.visibility</p:attrName>
                                        </p:attrNameLst>
                                      </p:cBhvr>
                                      <p:to>
                                        <p:strVal val="visible"/>
                                      </p:to>
                                    </p:set>
                                    <p:animEffect filter="fade" transition="in">
                                      <p:cBhvr>
                                        <p:cTn dur="1000"/>
                                        <p:tgtEl>
                                          <p:spTgt spid="910">
                                            <p:txEl>
                                              <p:pRg end="2" st="2"/>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910">
                                            <p:txEl>
                                              <p:pRg end="3" st="3"/>
                                            </p:txEl>
                                          </p:spTgt>
                                        </p:tgtEl>
                                        <p:attrNameLst>
                                          <p:attrName>style.visibility</p:attrName>
                                        </p:attrNameLst>
                                      </p:cBhvr>
                                      <p:to>
                                        <p:strVal val="visible"/>
                                      </p:to>
                                    </p:set>
                                    <p:animEffect filter="fade" transition="in">
                                      <p:cBhvr>
                                        <p:cTn dur="1000"/>
                                        <p:tgtEl>
                                          <p:spTgt spid="9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1000"/>
                                        <p:tgtEl>
                                          <p:spTgt spid="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1000"/>
                                        <p:tgtEl>
                                          <p:spTgt spid="9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74"/>
          <p:cNvSpPr txBox="1"/>
          <p:nvPr>
            <p:ph type="title"/>
          </p:nvPr>
        </p:nvSpPr>
        <p:spPr>
          <a:xfrm>
            <a:off x="186407" y="57496"/>
            <a:ext cx="39288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Deadlock and The Dining Philosophers*</a:t>
            </a:r>
            <a:endParaRPr sz="2400"/>
          </a:p>
        </p:txBody>
      </p:sp>
      <p:sp>
        <p:nvSpPr>
          <p:cNvPr id="919" name="Google Shape;919;p74"/>
          <p:cNvSpPr txBox="1"/>
          <p:nvPr>
            <p:ph idx="12" type="sldNum"/>
          </p:nvPr>
        </p:nvSpPr>
        <p:spPr>
          <a:xfrm>
            <a:off x="8611087"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20" name="Google Shape;920;p74"/>
          <p:cNvSpPr txBox="1"/>
          <p:nvPr>
            <p:ph idx="1" type="body"/>
          </p:nvPr>
        </p:nvSpPr>
        <p:spPr>
          <a:xfrm>
            <a:off x="4496300" y="348525"/>
            <a:ext cx="43035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a:solidFill>
                  <a:srgbClr val="FF0000"/>
                </a:solidFill>
              </a:rPr>
              <a:t>Starvation</a:t>
            </a:r>
            <a:r>
              <a:rPr lang="en">
                <a:solidFill>
                  <a:srgbClr val="FF0000"/>
                </a:solidFill>
              </a:rPr>
              <a:t> </a:t>
            </a:r>
            <a:r>
              <a:rPr lang="en"/>
              <a:t>refers to a thread that gets so little time on the processor that it is unable to do its work.</a:t>
            </a:r>
            <a:endParaRPr/>
          </a:p>
          <a:p>
            <a:pPr indent="-298450" lvl="1" marL="914400" rtl="0" algn="l">
              <a:spcBef>
                <a:spcPts val="0"/>
              </a:spcBef>
              <a:spcAft>
                <a:spcPts val="0"/>
              </a:spcAft>
              <a:buSzPts val="1100"/>
              <a:buChar char="○"/>
            </a:pPr>
            <a:r>
              <a:rPr b="1" i="1" lang="en">
                <a:solidFill>
                  <a:srgbClr val="FF0000"/>
                </a:solidFill>
              </a:rPr>
              <a:t>Deadlock</a:t>
            </a:r>
            <a:r>
              <a:rPr lang="en">
                <a:solidFill>
                  <a:srgbClr val="FF0000"/>
                </a:solidFill>
              </a:rPr>
              <a:t> </a:t>
            </a:r>
            <a:r>
              <a:rPr lang="en"/>
              <a:t>is the ultimate form of starvation because a thread is permanently blocked and </a:t>
            </a:r>
            <a:r>
              <a:rPr b="1" i="1" lang="en">
                <a:solidFill>
                  <a:srgbClr val="FF0000"/>
                </a:solidFill>
              </a:rPr>
              <a:t>never</a:t>
            </a:r>
            <a:r>
              <a:rPr lang="en">
                <a:solidFill>
                  <a:srgbClr val="FF0000"/>
                </a:solidFill>
              </a:rPr>
              <a:t> </a:t>
            </a:r>
            <a:r>
              <a:rPr lang="en"/>
              <a:t>gets time on the processor.</a:t>
            </a:r>
            <a:endParaRPr/>
          </a:p>
          <a:p>
            <a:pPr indent="-311150" lvl="0" marL="457200" rtl="0" algn="l">
              <a:spcBef>
                <a:spcPts val="0"/>
              </a:spcBef>
              <a:spcAft>
                <a:spcPts val="0"/>
              </a:spcAft>
              <a:buSzPts val="1300"/>
              <a:buChar char="●"/>
            </a:pPr>
            <a:r>
              <a:rPr lang="en"/>
              <a:t>The </a:t>
            </a:r>
            <a:r>
              <a:rPr b="1" i="1" lang="en">
                <a:solidFill>
                  <a:srgbClr val="FF0000"/>
                </a:solidFill>
              </a:rPr>
              <a:t>Dining Philosopher Problem</a:t>
            </a:r>
            <a:r>
              <a:rPr lang="en"/>
              <a:t> is a classic problem involving starvation and deadlock.</a:t>
            </a:r>
            <a:endParaRPr/>
          </a:p>
          <a:p>
            <a:pPr indent="-298450" lvl="1" marL="914400" rtl="0" algn="l">
              <a:spcBef>
                <a:spcPts val="0"/>
              </a:spcBef>
              <a:spcAft>
                <a:spcPts val="0"/>
              </a:spcAft>
              <a:buSzPts val="1100"/>
              <a:buChar char="○"/>
            </a:pPr>
            <a:r>
              <a:rPr lang="en"/>
              <a:t>There are </a:t>
            </a:r>
            <a:r>
              <a:rPr b="1" i="1" lang="en">
                <a:solidFill>
                  <a:srgbClr val="FF0000"/>
                </a:solidFill>
              </a:rPr>
              <a:t>five philosophers</a:t>
            </a:r>
            <a:r>
              <a:rPr lang="en"/>
              <a:t> seated around a table.</a:t>
            </a:r>
            <a:endParaRPr/>
          </a:p>
          <a:p>
            <a:pPr indent="-298450" lvl="1" marL="914400" rtl="0" algn="l">
              <a:spcBef>
                <a:spcPts val="0"/>
              </a:spcBef>
              <a:spcAft>
                <a:spcPts val="0"/>
              </a:spcAft>
              <a:buSzPts val="1100"/>
              <a:buChar char="○"/>
            </a:pPr>
            <a:r>
              <a:rPr lang="en"/>
              <a:t>Each philosopher has a </a:t>
            </a:r>
            <a:r>
              <a:rPr b="1" i="1" lang="en">
                <a:solidFill>
                  <a:srgbClr val="FF0000"/>
                </a:solidFill>
              </a:rPr>
              <a:t>bowl of rice</a:t>
            </a:r>
            <a:r>
              <a:rPr lang="en"/>
              <a:t> in front of them and needs </a:t>
            </a:r>
            <a:r>
              <a:rPr b="1" i="1" lang="en">
                <a:solidFill>
                  <a:srgbClr val="FF0000"/>
                </a:solidFill>
              </a:rPr>
              <a:t>two chopsticks</a:t>
            </a:r>
            <a:r>
              <a:rPr lang="en"/>
              <a:t> to eat some of the rice.</a:t>
            </a:r>
            <a:endParaRPr/>
          </a:p>
          <a:p>
            <a:pPr indent="-298450" lvl="1" marL="914400" rtl="0" algn="l">
              <a:spcBef>
                <a:spcPts val="0"/>
              </a:spcBef>
              <a:spcAft>
                <a:spcPts val="0"/>
              </a:spcAft>
              <a:buSzPts val="1100"/>
              <a:buChar char="○"/>
            </a:pPr>
            <a:r>
              <a:rPr lang="en"/>
              <a:t>There is </a:t>
            </a:r>
            <a:r>
              <a:rPr b="1" i="1" lang="en">
                <a:solidFill>
                  <a:srgbClr val="FF0000"/>
                </a:solidFill>
              </a:rPr>
              <a:t>one chopstick</a:t>
            </a:r>
            <a:r>
              <a:rPr i="1" lang="en"/>
              <a:t> </a:t>
            </a:r>
            <a:r>
              <a:rPr lang="en"/>
              <a:t>between each pair of philosophers, meaning that the philosophers must </a:t>
            </a:r>
            <a:r>
              <a:rPr b="1" i="1" lang="en">
                <a:solidFill>
                  <a:srgbClr val="FF0000"/>
                </a:solidFill>
              </a:rPr>
              <a:t>share</a:t>
            </a:r>
            <a:r>
              <a:rPr lang="en"/>
              <a:t>.</a:t>
            </a:r>
            <a:endParaRPr/>
          </a:p>
          <a:p>
            <a:pPr indent="-298450" lvl="1" marL="914400" rtl="0" algn="l">
              <a:spcBef>
                <a:spcPts val="0"/>
              </a:spcBef>
              <a:spcAft>
                <a:spcPts val="0"/>
              </a:spcAft>
              <a:buSzPts val="1100"/>
              <a:buChar char="○"/>
            </a:pPr>
            <a:r>
              <a:rPr lang="en"/>
              <a:t>If a philosopher goes too long without eating, they will </a:t>
            </a:r>
            <a:r>
              <a:rPr b="1" i="1" lang="en">
                <a:solidFill>
                  <a:srgbClr val="FF0000"/>
                </a:solidFill>
              </a:rPr>
              <a:t>starve</a:t>
            </a:r>
            <a:r>
              <a:rPr lang="en"/>
              <a:t>.</a:t>
            </a:r>
            <a:endParaRPr/>
          </a:p>
          <a:p>
            <a:pPr indent="-311150" lvl="0" marL="457200" rtl="0" algn="l">
              <a:spcBef>
                <a:spcPts val="0"/>
              </a:spcBef>
              <a:spcAft>
                <a:spcPts val="0"/>
              </a:spcAft>
              <a:buSzPts val="1300"/>
              <a:buChar char="●"/>
            </a:pPr>
            <a:r>
              <a:rPr lang="en"/>
              <a:t>How do the philosophers choose chopsticks in a way that will not cause one or more of their fellow philosophers to </a:t>
            </a:r>
            <a:r>
              <a:rPr b="1" i="1" lang="en">
                <a:solidFill>
                  <a:srgbClr val="FF0000"/>
                </a:solidFill>
              </a:rPr>
              <a:t>starve</a:t>
            </a:r>
            <a:r>
              <a:rPr lang="en"/>
              <a:t>?</a:t>
            </a:r>
            <a:endParaRPr/>
          </a:p>
          <a:p>
            <a:pPr indent="0" lvl="0" marL="0" rtl="0" algn="l">
              <a:spcBef>
                <a:spcPts val="1600"/>
              </a:spcBef>
              <a:spcAft>
                <a:spcPts val="1600"/>
              </a:spcAft>
              <a:buNone/>
            </a:pPr>
            <a:r>
              <a:t/>
            </a:r>
            <a:endParaRPr/>
          </a:p>
        </p:txBody>
      </p:sp>
      <p:sp>
        <p:nvSpPr>
          <p:cNvPr id="921" name="Google Shape;921;p74"/>
          <p:cNvSpPr txBox="1"/>
          <p:nvPr>
            <p:ph idx="3" type="body"/>
          </p:nvPr>
        </p:nvSpPr>
        <p:spPr>
          <a:xfrm>
            <a:off x="315425" y="43944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If you are interested in the solution to this problem, you should check out </a:t>
            </a:r>
            <a:r>
              <a:rPr lang="en" u="sng">
                <a:solidFill>
                  <a:srgbClr val="4A86E8"/>
                </a:solidFill>
                <a:hlinkClick r:id="rId3">
                  <a:extLst>
                    <a:ext uri="{A12FA001-AC4F-418D-AE19-62706E023703}">
                      <ahyp:hlinkClr val="tx"/>
                    </a:ext>
                  </a:extLst>
                </a:hlinkClick>
              </a:rPr>
              <a:t>this great explanation</a:t>
            </a:r>
            <a:r>
              <a:rPr lang="en"/>
              <a:t>.</a:t>
            </a:r>
            <a:endParaRPr/>
          </a:p>
        </p:txBody>
      </p:sp>
      <p:sp>
        <p:nvSpPr>
          <p:cNvPr id="922" name="Google Shape;922;p74"/>
          <p:cNvSpPr/>
          <p:nvPr/>
        </p:nvSpPr>
        <p:spPr>
          <a:xfrm>
            <a:off x="974250" y="1345280"/>
            <a:ext cx="2318700" cy="2203800"/>
          </a:xfrm>
          <a:prstGeom prst="pentagon">
            <a:avLst>
              <a:gd fmla="val 105146" name="hf"/>
              <a:gd fmla="val 110557" name="vf"/>
            </a:avLst>
          </a:prstGeom>
          <a:solidFill>
            <a:srgbClr val="999999"/>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3" name="Google Shape;923;p74"/>
          <p:cNvGrpSpPr/>
          <p:nvPr/>
        </p:nvGrpSpPr>
        <p:grpSpPr>
          <a:xfrm>
            <a:off x="473525" y="1160205"/>
            <a:ext cx="3265750" cy="3115250"/>
            <a:chOff x="1540325" y="1367250"/>
            <a:chExt cx="3265750" cy="3115250"/>
          </a:xfrm>
        </p:grpSpPr>
        <p:sp>
          <p:nvSpPr>
            <p:cNvPr id="924" name="Google Shape;924;p74"/>
            <p:cNvSpPr/>
            <p:nvPr/>
          </p:nvSpPr>
          <p:spPr>
            <a:xfrm>
              <a:off x="3793650" y="136725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4"/>
            <p:cNvSpPr/>
            <p:nvPr/>
          </p:nvSpPr>
          <p:spPr>
            <a:xfrm>
              <a:off x="4239975" y="291065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74"/>
            <p:cNvSpPr/>
            <p:nvPr/>
          </p:nvSpPr>
          <p:spPr>
            <a:xfrm>
              <a:off x="2890150" y="391640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4"/>
            <p:cNvSpPr/>
            <p:nvPr/>
          </p:nvSpPr>
          <p:spPr>
            <a:xfrm>
              <a:off x="1540325" y="296745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4"/>
            <p:cNvSpPr/>
            <p:nvPr/>
          </p:nvSpPr>
          <p:spPr>
            <a:xfrm>
              <a:off x="1975725" y="136725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9" name="Google Shape;929;p74"/>
          <p:cNvGrpSpPr/>
          <p:nvPr/>
        </p:nvGrpSpPr>
        <p:grpSpPr>
          <a:xfrm>
            <a:off x="1195164" y="1812373"/>
            <a:ext cx="1869799" cy="1607050"/>
            <a:chOff x="2261964" y="2019419"/>
            <a:chExt cx="1869799" cy="1607050"/>
          </a:xfrm>
        </p:grpSpPr>
        <p:pic>
          <p:nvPicPr>
            <p:cNvPr descr="bowl of rice.png" id="930" name="Google Shape;930;p74"/>
            <p:cNvPicPr preferRelativeResize="0"/>
            <p:nvPr/>
          </p:nvPicPr>
          <p:blipFill>
            <a:blip r:embed="rId4">
              <a:alphaModFix/>
            </a:blip>
            <a:stretch>
              <a:fillRect/>
            </a:stretch>
          </p:blipFill>
          <p:spPr>
            <a:xfrm>
              <a:off x="2261964" y="2722219"/>
              <a:ext cx="499675" cy="419150"/>
            </a:xfrm>
            <a:prstGeom prst="rect">
              <a:avLst/>
            </a:prstGeom>
            <a:noFill/>
            <a:ln>
              <a:noFill/>
            </a:ln>
          </p:spPr>
        </p:pic>
        <p:pic>
          <p:nvPicPr>
            <p:cNvPr descr="bowl of rice.png" id="931" name="Google Shape;931;p74"/>
            <p:cNvPicPr preferRelativeResize="0"/>
            <p:nvPr/>
          </p:nvPicPr>
          <p:blipFill>
            <a:blip r:embed="rId4">
              <a:alphaModFix/>
            </a:blip>
            <a:stretch>
              <a:fillRect/>
            </a:stretch>
          </p:blipFill>
          <p:spPr>
            <a:xfrm>
              <a:off x="2923351" y="3207319"/>
              <a:ext cx="499675" cy="419150"/>
            </a:xfrm>
            <a:prstGeom prst="rect">
              <a:avLst/>
            </a:prstGeom>
            <a:noFill/>
            <a:ln>
              <a:noFill/>
            </a:ln>
          </p:spPr>
        </p:pic>
        <p:pic>
          <p:nvPicPr>
            <p:cNvPr descr="bowl of rice.png" id="932" name="Google Shape;932;p74"/>
            <p:cNvPicPr preferRelativeResize="0"/>
            <p:nvPr/>
          </p:nvPicPr>
          <p:blipFill>
            <a:blip r:embed="rId4">
              <a:alphaModFix/>
            </a:blip>
            <a:stretch>
              <a:fillRect/>
            </a:stretch>
          </p:blipFill>
          <p:spPr>
            <a:xfrm>
              <a:off x="3632088" y="2731211"/>
              <a:ext cx="499675" cy="419150"/>
            </a:xfrm>
            <a:prstGeom prst="rect">
              <a:avLst/>
            </a:prstGeom>
            <a:noFill/>
            <a:ln>
              <a:noFill/>
            </a:ln>
          </p:spPr>
        </p:pic>
        <p:pic>
          <p:nvPicPr>
            <p:cNvPr descr="bowl of rice.png" id="933" name="Google Shape;933;p74"/>
            <p:cNvPicPr preferRelativeResize="0"/>
            <p:nvPr/>
          </p:nvPicPr>
          <p:blipFill>
            <a:blip r:embed="rId4">
              <a:alphaModFix/>
            </a:blip>
            <a:stretch>
              <a:fillRect/>
            </a:stretch>
          </p:blipFill>
          <p:spPr>
            <a:xfrm>
              <a:off x="3423014" y="2019419"/>
              <a:ext cx="499675" cy="419150"/>
            </a:xfrm>
            <a:prstGeom prst="rect">
              <a:avLst/>
            </a:prstGeom>
            <a:noFill/>
            <a:ln>
              <a:noFill/>
            </a:ln>
          </p:spPr>
        </p:pic>
        <p:pic>
          <p:nvPicPr>
            <p:cNvPr descr="bowl of rice.png" id="934" name="Google Shape;934;p74"/>
            <p:cNvPicPr preferRelativeResize="0"/>
            <p:nvPr/>
          </p:nvPicPr>
          <p:blipFill>
            <a:blip r:embed="rId4">
              <a:alphaModFix/>
            </a:blip>
            <a:stretch>
              <a:fillRect/>
            </a:stretch>
          </p:blipFill>
          <p:spPr>
            <a:xfrm>
              <a:off x="2475914" y="2019419"/>
              <a:ext cx="499675" cy="419150"/>
            </a:xfrm>
            <a:prstGeom prst="rect">
              <a:avLst/>
            </a:prstGeom>
            <a:noFill/>
            <a:ln>
              <a:noFill/>
            </a:ln>
          </p:spPr>
        </p:pic>
      </p:grpSp>
      <p:grpSp>
        <p:nvGrpSpPr>
          <p:cNvPr id="935" name="Google Shape;935;p74"/>
          <p:cNvGrpSpPr/>
          <p:nvPr/>
        </p:nvGrpSpPr>
        <p:grpSpPr>
          <a:xfrm>
            <a:off x="743436" y="1004017"/>
            <a:ext cx="2777250" cy="2896544"/>
            <a:chOff x="1810236" y="1211062"/>
            <a:chExt cx="2777250" cy="2896544"/>
          </a:xfrm>
        </p:grpSpPr>
        <p:pic>
          <p:nvPicPr>
            <p:cNvPr descr="chopstick.png" id="936" name="Google Shape;936;p74"/>
            <p:cNvPicPr preferRelativeResize="0"/>
            <p:nvPr/>
          </p:nvPicPr>
          <p:blipFill>
            <a:blip r:embed="rId5">
              <a:alphaModFix/>
            </a:blip>
            <a:stretch>
              <a:fillRect/>
            </a:stretch>
          </p:blipFill>
          <p:spPr>
            <a:xfrm rot="-7380993">
              <a:off x="4241875" y="2078925"/>
              <a:ext cx="114600" cy="613201"/>
            </a:xfrm>
            <a:prstGeom prst="rect">
              <a:avLst/>
            </a:prstGeom>
            <a:noFill/>
            <a:ln>
              <a:noFill/>
            </a:ln>
          </p:spPr>
        </p:pic>
        <p:pic>
          <p:nvPicPr>
            <p:cNvPr descr="chopstick.png" id="937" name="Google Shape;937;p74"/>
            <p:cNvPicPr preferRelativeResize="0"/>
            <p:nvPr/>
          </p:nvPicPr>
          <p:blipFill>
            <a:blip r:embed="rId5">
              <a:alphaModFix/>
            </a:blip>
            <a:stretch>
              <a:fillRect/>
            </a:stretch>
          </p:blipFill>
          <p:spPr>
            <a:xfrm rot="-2017497">
              <a:off x="3898350" y="3513975"/>
              <a:ext cx="114600" cy="613201"/>
            </a:xfrm>
            <a:prstGeom prst="rect">
              <a:avLst/>
            </a:prstGeom>
            <a:noFill/>
            <a:ln>
              <a:noFill/>
            </a:ln>
          </p:spPr>
        </p:pic>
        <p:pic>
          <p:nvPicPr>
            <p:cNvPr descr="chopstick.png" id="938" name="Google Shape;938;p74"/>
            <p:cNvPicPr preferRelativeResize="0"/>
            <p:nvPr/>
          </p:nvPicPr>
          <p:blipFill>
            <a:blip r:embed="rId5">
              <a:alphaModFix/>
            </a:blip>
            <a:stretch>
              <a:fillRect/>
            </a:stretch>
          </p:blipFill>
          <p:spPr>
            <a:xfrm rot="2245405">
              <a:off x="2387525" y="3513962"/>
              <a:ext cx="114600" cy="613202"/>
            </a:xfrm>
            <a:prstGeom prst="rect">
              <a:avLst/>
            </a:prstGeom>
            <a:noFill/>
            <a:ln>
              <a:noFill/>
            </a:ln>
          </p:spPr>
        </p:pic>
        <p:pic>
          <p:nvPicPr>
            <p:cNvPr descr="chopstick.png" id="939" name="Google Shape;939;p74"/>
            <p:cNvPicPr preferRelativeResize="0"/>
            <p:nvPr/>
          </p:nvPicPr>
          <p:blipFill>
            <a:blip r:embed="rId5">
              <a:alphaModFix/>
            </a:blip>
            <a:stretch>
              <a:fillRect/>
            </a:stretch>
          </p:blipFill>
          <p:spPr>
            <a:xfrm rot="7530493">
              <a:off x="2035800" y="2021187"/>
              <a:ext cx="114600" cy="613202"/>
            </a:xfrm>
            <a:prstGeom prst="rect">
              <a:avLst/>
            </a:prstGeom>
            <a:noFill/>
            <a:ln>
              <a:noFill/>
            </a:ln>
          </p:spPr>
        </p:pic>
        <p:pic>
          <p:nvPicPr>
            <p:cNvPr descr="chopstick.png" id="940" name="Google Shape;940;p74"/>
            <p:cNvPicPr preferRelativeResize="0"/>
            <p:nvPr/>
          </p:nvPicPr>
          <p:blipFill>
            <a:blip r:embed="rId5">
              <a:alphaModFix/>
            </a:blip>
            <a:stretch>
              <a:fillRect/>
            </a:stretch>
          </p:blipFill>
          <p:spPr>
            <a:xfrm rot="10799996">
              <a:off x="3143100" y="1211062"/>
              <a:ext cx="114600" cy="613202"/>
            </a:xfrm>
            <a:prstGeom prst="rect">
              <a:avLst/>
            </a:prstGeom>
            <a:noFill/>
            <a:ln>
              <a:noFill/>
            </a:ln>
          </p:spPr>
        </p:pic>
      </p:grpSp>
      <p:sp>
        <p:nvSpPr>
          <p:cNvPr id="941" name="Google Shape;941;p74"/>
          <p:cNvSpPr txBox="1"/>
          <p:nvPr/>
        </p:nvSpPr>
        <p:spPr>
          <a:xfrm>
            <a:off x="6612000" y="4778875"/>
            <a:ext cx="22239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latin typeface="Roboto"/>
                <a:ea typeface="Roboto"/>
                <a:cs typeface="Roboto"/>
                <a:sym typeface="Roboto"/>
              </a:rPr>
              <a:t>* A great name for a band.</a:t>
            </a:r>
            <a:endParaRPr sz="10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gtEl>
                                        <p:attrNameLst>
                                          <p:attrName>style.visibility</p:attrName>
                                        </p:attrNameLst>
                                      </p:cBhvr>
                                      <p:to>
                                        <p:strVal val="visible"/>
                                      </p:to>
                                    </p:set>
                                    <p:animEffect filter="fade" transition="in">
                                      <p:cBhvr>
                                        <p:cTn dur="1000"/>
                                        <p:tgtEl>
                                          <p:spTgt spid="9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7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Sleep vs. AwaitTermination vs. Wait vs. Notify</a:t>
            </a:r>
            <a:endParaRPr/>
          </a:p>
        </p:txBody>
      </p:sp>
      <p:sp>
        <p:nvSpPr>
          <p:cNvPr id="947" name="Google Shape;947;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948" name="Google Shape;948;p75"/>
          <p:cNvGraphicFramePr/>
          <p:nvPr/>
        </p:nvGraphicFramePr>
        <p:xfrm>
          <a:off x="125725" y="1541200"/>
          <a:ext cx="3000000" cy="3000000"/>
        </p:xfrm>
        <a:graphic>
          <a:graphicData uri="http://schemas.openxmlformats.org/drawingml/2006/table">
            <a:tbl>
              <a:tblPr>
                <a:noFill/>
                <a:tableStyleId>{903D5EA2-2314-425E-90A0-23183F944CD3}</a:tableStyleId>
              </a:tblPr>
              <a:tblGrid>
                <a:gridCol w="1763350"/>
                <a:gridCol w="1763350"/>
                <a:gridCol w="1763350"/>
                <a:gridCol w="1763350"/>
                <a:gridCol w="1763350"/>
              </a:tblGrid>
              <a:tr h="396200">
                <a:tc>
                  <a:txBody>
                    <a:bodyPr/>
                    <a:lstStyle/>
                    <a:p>
                      <a:pPr indent="0" lvl="0" marL="0" rtl="0" algn="l">
                        <a:spcBef>
                          <a:spcPts val="0"/>
                        </a:spcBef>
                        <a:spcAft>
                          <a:spcPts val="0"/>
                        </a:spcAft>
                        <a:buNone/>
                      </a:pPr>
                      <a:r>
                        <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rPr>
                        <a:t>Sleep</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rPr>
                        <a:t>AwaitTermination</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rPr>
                        <a:t>Wait</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rPr>
                        <a:t>Notify</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96200">
                <a:tc>
                  <a:txBody>
                    <a:bodyPr/>
                    <a:lstStyle/>
                    <a:p>
                      <a:pPr indent="0" lvl="0" marL="0" rtl="0" algn="l">
                        <a:spcBef>
                          <a:spcPts val="0"/>
                        </a:spcBef>
                        <a:spcAft>
                          <a:spcPts val="0"/>
                        </a:spcAft>
                        <a:buNone/>
                      </a:pPr>
                      <a:r>
                        <a:rPr lang="en">
                          <a:solidFill>
                            <a:srgbClr val="FFFFFF"/>
                          </a:solidFill>
                        </a:rPr>
                        <a:t>Called on...</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t>Thread class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Executor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A Condition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A Condition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9575">
                <a:tc>
                  <a:txBody>
                    <a:bodyPr/>
                    <a:lstStyle/>
                    <a:p>
                      <a:pPr indent="0" lvl="0" marL="0" rtl="0" algn="l">
                        <a:spcBef>
                          <a:spcPts val="0"/>
                        </a:spcBef>
                        <a:spcAft>
                          <a:spcPts val="0"/>
                        </a:spcAft>
                        <a:buNone/>
                      </a:pPr>
                      <a:r>
                        <a:rPr lang="en">
                          <a:solidFill>
                            <a:srgbClr val="FFFFFF"/>
                          </a:solidFill>
                        </a:rPr>
                        <a:t>For Example</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latin typeface="Courier New"/>
                          <a:ea typeface="Courier New"/>
                          <a:cs typeface="Courier New"/>
                          <a:sym typeface="Courier New"/>
                        </a:rPr>
                        <a:t>Thread.sleep(5)</a:t>
                      </a:r>
                      <a:endParaRPr sz="1200">
                        <a:latin typeface="Courier New"/>
                        <a:ea typeface="Courier New"/>
                        <a:cs typeface="Courier New"/>
                        <a:sym typeface="Courier New"/>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50">
                          <a:latin typeface="Courier New"/>
                          <a:ea typeface="Courier New"/>
                          <a:cs typeface="Courier New"/>
                          <a:sym typeface="Courier New"/>
                        </a:rPr>
                        <a:t>es.</a:t>
                      </a:r>
                      <a:endParaRPr sz="1150">
                        <a:latin typeface="Courier New"/>
                        <a:ea typeface="Courier New"/>
                        <a:cs typeface="Courier New"/>
                        <a:sym typeface="Courier New"/>
                      </a:endParaRPr>
                    </a:p>
                    <a:p>
                      <a:pPr indent="0" lvl="0" marL="0" rtl="0" algn="ctr">
                        <a:spcBef>
                          <a:spcPts val="0"/>
                        </a:spcBef>
                        <a:spcAft>
                          <a:spcPts val="0"/>
                        </a:spcAft>
                        <a:buNone/>
                      </a:pPr>
                      <a:r>
                        <a:rPr lang="en" sz="1150">
                          <a:latin typeface="Courier New"/>
                          <a:ea typeface="Courier New"/>
                          <a:cs typeface="Courier New"/>
                          <a:sym typeface="Courier New"/>
                        </a:rPr>
                        <a:t>awaitTermination()</a:t>
                      </a:r>
                      <a:endParaRPr sz="1150">
                        <a:latin typeface="Courier New"/>
                        <a:ea typeface="Courier New"/>
                        <a:cs typeface="Courier New"/>
                        <a:sym typeface="Courier New"/>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Courier New"/>
                          <a:ea typeface="Courier New"/>
                          <a:cs typeface="Courier New"/>
                          <a:sym typeface="Courier New"/>
                        </a:rPr>
                        <a:t>condition</a:t>
                      </a:r>
                      <a:r>
                        <a:rPr lang="en" sz="1200">
                          <a:latin typeface="Courier New"/>
                          <a:ea typeface="Courier New"/>
                          <a:cs typeface="Courier New"/>
                          <a:sym typeface="Courier New"/>
                        </a:rPr>
                        <a:t>.await</a:t>
                      </a:r>
                      <a:r>
                        <a:rPr lang="en" sz="1200">
                          <a:latin typeface="Courier New"/>
                          <a:ea typeface="Courier New"/>
                          <a:cs typeface="Courier New"/>
                          <a:sym typeface="Courier New"/>
                        </a:rPr>
                        <a:t>Uninterruptibly</a:t>
                      </a:r>
                      <a:r>
                        <a:rPr lang="en" sz="1200">
                          <a:latin typeface="Courier New"/>
                          <a:ea typeface="Courier New"/>
                          <a:cs typeface="Courier New"/>
                          <a:sym typeface="Courier New"/>
                        </a:rPr>
                        <a:t>()</a:t>
                      </a:r>
                      <a:endParaRPr sz="1200">
                        <a:latin typeface="Courier New"/>
                        <a:ea typeface="Courier New"/>
                        <a:cs typeface="Courier New"/>
                        <a:sym typeface="Courier New"/>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50">
                          <a:latin typeface="Courier New"/>
                          <a:ea typeface="Courier New"/>
                          <a:cs typeface="Courier New"/>
                          <a:sym typeface="Courier New"/>
                        </a:rPr>
                        <a:t>condtn</a:t>
                      </a:r>
                      <a:r>
                        <a:rPr lang="en" sz="1150">
                          <a:latin typeface="Courier New"/>
                          <a:ea typeface="Courier New"/>
                          <a:cs typeface="Courier New"/>
                          <a:sym typeface="Courier New"/>
                        </a:rPr>
                        <a:t>.signal()</a:t>
                      </a:r>
                      <a:endParaRPr sz="1150">
                        <a:latin typeface="Courier New"/>
                        <a:ea typeface="Courier New"/>
                        <a:cs typeface="Courier New"/>
                        <a:sym typeface="Courier New"/>
                      </a:endParaRPr>
                    </a:p>
                    <a:p>
                      <a:pPr indent="0" lvl="0" marL="0" rtl="0" algn="ctr">
                        <a:spcBef>
                          <a:spcPts val="0"/>
                        </a:spcBef>
                        <a:spcAft>
                          <a:spcPts val="0"/>
                        </a:spcAft>
                        <a:buNone/>
                      </a:pPr>
                      <a:r>
                        <a:rPr lang="en" sz="1150">
                          <a:latin typeface="Courier New"/>
                          <a:ea typeface="Courier New"/>
                          <a:cs typeface="Courier New"/>
                          <a:sym typeface="Courier New"/>
                        </a:rPr>
                        <a:t>condtn.signalAll()</a:t>
                      </a:r>
                      <a:endParaRPr sz="1150">
                        <a:latin typeface="Courier New"/>
                        <a:ea typeface="Courier New"/>
                        <a:cs typeface="Courier New"/>
                        <a:sym typeface="Courier New"/>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solidFill>
                            <a:srgbClr val="FFFFFF"/>
                          </a:solidFill>
                        </a:rPr>
                        <a:t>Waiting for...</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t>Time to pass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Thread to die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Notify/Notify All</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i="1" lang="en"/>
                        <a:t>NA</a:t>
                      </a:r>
                      <a:endParaRPr i="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B7B7B7"/>
                    </a:solidFill>
                  </a:tcPr>
                </a:tc>
              </a:tr>
              <a:tr h="396200">
                <a:tc>
                  <a:txBody>
                    <a:bodyPr/>
                    <a:lstStyle/>
                    <a:p>
                      <a:pPr indent="0" lvl="0" marL="0" rtl="0" algn="l">
                        <a:spcBef>
                          <a:spcPts val="0"/>
                        </a:spcBef>
                        <a:spcAft>
                          <a:spcPts val="0"/>
                        </a:spcAft>
                        <a:buNone/>
                      </a:pPr>
                      <a:r>
                        <a:rPr lang="en">
                          <a:solidFill>
                            <a:srgbClr val="FFFFFF"/>
                          </a:solidFill>
                        </a:rPr>
                        <a:t>Requires a lock?</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solidFill>
                            <a:srgbClr val="FFFFFF"/>
                          </a:solidFill>
                        </a:rPr>
                        <a:t>Gives up the lock?</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solidFill>
                            <a:srgbClr val="FFFFFF"/>
                          </a:solidFill>
                        </a:rPr>
                        <a:t>Interruptible?</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i="1" lang="en"/>
                        <a:t>NA</a:t>
                      </a:r>
                      <a:endParaRPr i="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B7B7B7"/>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Thread States</a:t>
            </a:r>
            <a:endParaRPr/>
          </a:p>
        </p:txBody>
      </p:sp>
      <p:sp>
        <p:nvSpPr>
          <p:cNvPr id="954" name="Google Shape;954;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955" name="Google Shape;955;p76"/>
          <p:cNvGrpSpPr/>
          <p:nvPr/>
        </p:nvGrpSpPr>
        <p:grpSpPr>
          <a:xfrm>
            <a:off x="4062814" y="1652513"/>
            <a:ext cx="1486500" cy="2959163"/>
            <a:chOff x="6958414" y="1195313"/>
            <a:chExt cx="1486500" cy="2959163"/>
          </a:xfrm>
        </p:grpSpPr>
        <p:sp>
          <p:nvSpPr>
            <p:cNvPr id="956" name="Google Shape;956;p76"/>
            <p:cNvSpPr/>
            <p:nvPr/>
          </p:nvSpPr>
          <p:spPr>
            <a:xfrm>
              <a:off x="6958414" y="1969300"/>
              <a:ext cx="1486500" cy="1411200"/>
            </a:xfrm>
            <a:prstGeom prst="roundRect">
              <a:avLst>
                <a:gd fmla="val 9698" name="adj"/>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76"/>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958" name="Google Shape;958;p76"/>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959" name="Google Shape;959;p76"/>
            <p:cNvSpPr/>
            <p:nvPr/>
          </p:nvSpPr>
          <p:spPr>
            <a:xfrm>
              <a:off x="7029750" y="29035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960" name="Google Shape;960;p76"/>
            <p:cNvSpPr/>
            <p:nvPr/>
          </p:nvSpPr>
          <p:spPr>
            <a:xfrm>
              <a:off x="7050682" y="3763875"/>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961" name="Google Shape;961;p76"/>
            <p:cNvCxnSpPr>
              <a:stCxn id="957" idx="2"/>
              <a:endCxn id="958" idx="0"/>
            </p:cNvCxnSpPr>
            <p:nvPr/>
          </p:nvCxnSpPr>
          <p:spPr>
            <a:xfrm>
              <a:off x="7702200" y="1585913"/>
              <a:ext cx="0" cy="463500"/>
            </a:xfrm>
            <a:prstGeom prst="straightConnector1">
              <a:avLst/>
            </a:prstGeom>
            <a:noFill/>
            <a:ln cap="flat" cmpd="sng" w="9525">
              <a:solidFill>
                <a:srgbClr val="000000"/>
              </a:solidFill>
              <a:prstDash val="solid"/>
              <a:round/>
              <a:headEnd len="med" w="med" type="none"/>
              <a:tailEnd len="med" w="med" type="triangle"/>
            </a:ln>
          </p:spPr>
        </p:cxnSp>
        <p:cxnSp>
          <p:nvCxnSpPr>
            <p:cNvPr id="962" name="Google Shape;962;p76"/>
            <p:cNvCxnSpPr>
              <a:stCxn id="959" idx="2"/>
              <a:endCxn id="960" idx="0"/>
            </p:cNvCxnSpPr>
            <p:nvPr/>
          </p:nvCxnSpPr>
          <p:spPr>
            <a:xfrm flipH="1">
              <a:off x="7701600" y="3294175"/>
              <a:ext cx="600" cy="469800"/>
            </a:xfrm>
            <a:prstGeom prst="straightConnector1">
              <a:avLst/>
            </a:prstGeom>
            <a:noFill/>
            <a:ln cap="flat" cmpd="sng" w="9525">
              <a:solidFill>
                <a:srgbClr val="000000"/>
              </a:solidFill>
              <a:prstDash val="solid"/>
              <a:round/>
              <a:headEnd len="med" w="med" type="none"/>
              <a:tailEnd len="med" w="med" type="triangle"/>
            </a:ln>
          </p:spPr>
        </p:cxnSp>
        <p:cxnSp>
          <p:nvCxnSpPr>
            <p:cNvPr id="963" name="Google Shape;963;p76"/>
            <p:cNvCxnSpPr/>
            <p:nvPr/>
          </p:nvCxnSpPr>
          <p:spPr>
            <a:xfrm>
              <a:off x="7333050" y="2445150"/>
              <a:ext cx="0" cy="470100"/>
            </a:xfrm>
            <a:prstGeom prst="straightConnector1">
              <a:avLst/>
            </a:prstGeom>
            <a:noFill/>
            <a:ln cap="flat" cmpd="sng" w="9525">
              <a:solidFill>
                <a:srgbClr val="000000"/>
              </a:solidFill>
              <a:prstDash val="solid"/>
              <a:round/>
              <a:headEnd len="med" w="med" type="none"/>
              <a:tailEnd len="med" w="med" type="triangle"/>
            </a:ln>
          </p:spPr>
        </p:cxnSp>
        <p:cxnSp>
          <p:nvCxnSpPr>
            <p:cNvPr id="964" name="Google Shape;964;p76"/>
            <p:cNvCxnSpPr/>
            <p:nvPr/>
          </p:nvCxnSpPr>
          <p:spPr>
            <a:xfrm rot="10800000">
              <a:off x="8094075" y="2445275"/>
              <a:ext cx="0" cy="470100"/>
            </a:xfrm>
            <a:prstGeom prst="straightConnector1">
              <a:avLst/>
            </a:prstGeom>
            <a:noFill/>
            <a:ln cap="flat" cmpd="sng" w="9525">
              <a:solidFill>
                <a:srgbClr val="000000"/>
              </a:solidFill>
              <a:prstDash val="solid"/>
              <a:round/>
              <a:headEnd len="med" w="med" type="none"/>
              <a:tailEnd len="med" w="med" type="triangle"/>
            </a:ln>
          </p:spPr>
        </p:cxnSp>
      </p:grpSp>
      <p:sp>
        <p:nvSpPr>
          <p:cNvPr id="965" name="Google Shape;965;p76"/>
          <p:cNvSpPr/>
          <p:nvPr/>
        </p:nvSpPr>
        <p:spPr>
          <a:xfrm>
            <a:off x="2299625" y="29701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966" name="Google Shape;966;p76"/>
          <p:cNvCxnSpPr>
            <a:stCxn id="959" idx="1"/>
            <a:endCxn id="965" idx="2"/>
          </p:cNvCxnSpPr>
          <p:nvPr/>
        </p:nvCxnSpPr>
        <p:spPr>
          <a:xfrm rot="10800000">
            <a:off x="2971950" y="3360775"/>
            <a:ext cx="1162200" cy="195300"/>
          </a:xfrm>
          <a:prstGeom prst="curvedConnector2">
            <a:avLst/>
          </a:prstGeom>
          <a:noFill/>
          <a:ln cap="flat" cmpd="sng" w="9525">
            <a:solidFill>
              <a:srgbClr val="000000"/>
            </a:solidFill>
            <a:prstDash val="solid"/>
            <a:round/>
            <a:headEnd len="med" w="med" type="none"/>
            <a:tailEnd len="med" w="med" type="triangle"/>
          </a:ln>
        </p:spPr>
      </p:cxnSp>
      <p:sp>
        <p:nvSpPr>
          <p:cNvPr id="967" name="Google Shape;967;p76"/>
          <p:cNvSpPr txBox="1"/>
          <p:nvPr/>
        </p:nvSpPr>
        <p:spPr>
          <a:xfrm>
            <a:off x="2759275" y="3556075"/>
            <a:ext cx="10941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sleep()</a:t>
            </a:r>
            <a:endParaRPr b="1" sz="800"/>
          </a:p>
          <a:p>
            <a:pPr indent="0" lvl="0" marL="0" rtl="0" algn="ctr">
              <a:spcBef>
                <a:spcPts val="0"/>
              </a:spcBef>
              <a:spcAft>
                <a:spcPts val="0"/>
              </a:spcAft>
              <a:buNone/>
            </a:pPr>
            <a:r>
              <a:rPr b="1" lang="en" sz="800"/>
              <a:t>awaitTermination()</a:t>
            </a:r>
            <a:endParaRPr b="1" sz="800"/>
          </a:p>
        </p:txBody>
      </p:sp>
      <p:grpSp>
        <p:nvGrpSpPr>
          <p:cNvPr id="968" name="Google Shape;968;p76"/>
          <p:cNvGrpSpPr/>
          <p:nvPr/>
        </p:nvGrpSpPr>
        <p:grpSpPr>
          <a:xfrm>
            <a:off x="5473125" y="2578351"/>
            <a:ext cx="1599150" cy="1137946"/>
            <a:chOff x="7149525" y="2044951"/>
            <a:chExt cx="1599150" cy="1137946"/>
          </a:xfrm>
        </p:grpSpPr>
        <p:sp>
          <p:nvSpPr>
            <p:cNvPr id="969" name="Google Shape;969;p76"/>
            <p:cNvSpPr/>
            <p:nvPr/>
          </p:nvSpPr>
          <p:spPr>
            <a:xfrm>
              <a:off x="7660575" y="2410450"/>
              <a:ext cx="1088100" cy="390600"/>
            </a:xfrm>
            <a:prstGeom prst="roundRect">
              <a:avLst>
                <a:gd fmla="val 16667"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BLOCKED</a:t>
              </a:r>
              <a:endParaRPr>
                <a:solidFill>
                  <a:srgbClr val="FFFFFF"/>
                </a:solidFill>
              </a:endParaRPr>
            </a:p>
          </p:txBody>
        </p:sp>
        <p:cxnSp>
          <p:nvCxnSpPr>
            <p:cNvPr id="970" name="Google Shape;970;p76"/>
            <p:cNvCxnSpPr>
              <a:endCxn id="969" idx="2"/>
            </p:cNvCxnSpPr>
            <p:nvPr/>
          </p:nvCxnSpPr>
          <p:spPr>
            <a:xfrm flipH="1" rot="10800000">
              <a:off x="7149525" y="2801050"/>
              <a:ext cx="1055100" cy="231600"/>
            </a:xfrm>
            <a:prstGeom prst="curvedConnector2">
              <a:avLst/>
            </a:prstGeom>
            <a:noFill/>
            <a:ln cap="flat" cmpd="sng" w="9525">
              <a:solidFill>
                <a:srgbClr val="000000"/>
              </a:solidFill>
              <a:prstDash val="solid"/>
              <a:round/>
              <a:headEnd len="med" w="med" type="none"/>
              <a:tailEnd len="med" w="med" type="triangle"/>
            </a:ln>
          </p:spPr>
        </p:cxnSp>
        <p:sp>
          <p:nvSpPr>
            <p:cNvPr id="971" name="Google Shape;971;p76"/>
            <p:cNvSpPr txBox="1"/>
            <p:nvPr/>
          </p:nvSpPr>
          <p:spPr>
            <a:xfrm>
              <a:off x="7386150" y="2987597"/>
              <a:ext cx="10731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unavailable</a:t>
              </a:r>
              <a:endParaRPr b="1" sz="800"/>
            </a:p>
          </p:txBody>
        </p:sp>
        <p:cxnSp>
          <p:nvCxnSpPr>
            <p:cNvPr id="972" name="Google Shape;972;p76"/>
            <p:cNvCxnSpPr>
              <a:stCxn id="969" idx="0"/>
            </p:cNvCxnSpPr>
            <p:nvPr/>
          </p:nvCxnSpPr>
          <p:spPr>
            <a:xfrm flipH="1" rot="5400000">
              <a:off x="7561125" y="1766950"/>
              <a:ext cx="231900" cy="1055100"/>
            </a:xfrm>
            <a:prstGeom prst="curvedConnector2">
              <a:avLst/>
            </a:prstGeom>
            <a:noFill/>
            <a:ln cap="flat" cmpd="sng" w="9525">
              <a:solidFill>
                <a:srgbClr val="000000"/>
              </a:solidFill>
              <a:prstDash val="solid"/>
              <a:round/>
              <a:headEnd len="med" w="med" type="none"/>
              <a:tailEnd len="med" w="med" type="triangle"/>
            </a:ln>
          </p:spPr>
        </p:cxnSp>
        <p:sp>
          <p:nvSpPr>
            <p:cNvPr id="973" name="Google Shape;973;p76"/>
            <p:cNvSpPr txBox="1"/>
            <p:nvPr/>
          </p:nvSpPr>
          <p:spPr>
            <a:xfrm>
              <a:off x="7463450" y="2044951"/>
              <a:ext cx="1073100" cy="23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obtained</a:t>
              </a:r>
              <a:endParaRPr b="1" sz="800"/>
            </a:p>
          </p:txBody>
        </p:sp>
      </p:grpSp>
      <p:cxnSp>
        <p:nvCxnSpPr>
          <p:cNvPr id="974" name="Google Shape;974;p76"/>
          <p:cNvCxnSpPr>
            <a:stCxn id="965" idx="1"/>
            <a:endCxn id="969" idx="3"/>
          </p:cNvCxnSpPr>
          <p:nvPr/>
        </p:nvCxnSpPr>
        <p:spPr>
          <a:xfrm flipH="1" rot="10800000">
            <a:off x="2299625" y="3139075"/>
            <a:ext cx="4772700" cy="26400"/>
          </a:xfrm>
          <a:prstGeom prst="curvedConnector5">
            <a:avLst>
              <a:gd fmla="val -4989" name="adj1"/>
              <a:gd fmla="val 6802083" name="adj2"/>
              <a:gd fmla="val 104988" name="adj3"/>
            </a:avLst>
          </a:prstGeom>
          <a:noFill/>
          <a:ln cap="flat" cmpd="sng" w="9525">
            <a:solidFill>
              <a:srgbClr val="FF0000"/>
            </a:solidFill>
            <a:prstDash val="dash"/>
            <a:round/>
            <a:headEnd len="med" w="med" type="none"/>
            <a:tailEnd len="med" w="med" type="triangle"/>
          </a:ln>
        </p:spPr>
      </p:cxnSp>
      <p:sp>
        <p:nvSpPr>
          <p:cNvPr id="975" name="Google Shape;975;p76"/>
          <p:cNvSpPr txBox="1"/>
          <p:nvPr/>
        </p:nvSpPr>
        <p:spPr>
          <a:xfrm>
            <a:off x="1002254" y="2395047"/>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timer expires</a:t>
            </a:r>
            <a:endParaRPr b="1" sz="800"/>
          </a:p>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notify/notifyAll</a:t>
            </a:r>
            <a:endParaRPr b="1" sz="800"/>
          </a:p>
        </p:txBody>
      </p:sp>
      <p:cxnSp>
        <p:nvCxnSpPr>
          <p:cNvPr id="976" name="Google Shape;976;p76"/>
          <p:cNvCxnSpPr>
            <a:stCxn id="958" idx="1"/>
            <a:endCxn id="965" idx="0"/>
          </p:cNvCxnSpPr>
          <p:nvPr/>
        </p:nvCxnSpPr>
        <p:spPr>
          <a:xfrm flipH="1">
            <a:off x="2971950" y="2701950"/>
            <a:ext cx="1162200" cy="268200"/>
          </a:xfrm>
          <a:prstGeom prst="curvedConnector2">
            <a:avLst/>
          </a:prstGeom>
          <a:noFill/>
          <a:ln cap="flat" cmpd="sng" w="9525">
            <a:solidFill>
              <a:srgbClr val="000000"/>
            </a:solidFill>
            <a:prstDash val="solid"/>
            <a:round/>
            <a:headEnd len="med" w="med" type="triangle"/>
            <a:tailEnd len="med" w="med" type="none"/>
          </a:ln>
        </p:spPr>
      </p:cxnSp>
      <p:sp>
        <p:nvSpPr>
          <p:cNvPr id="977" name="Google Shape;977;p76"/>
          <p:cNvSpPr txBox="1"/>
          <p:nvPr/>
        </p:nvSpPr>
        <p:spPr>
          <a:xfrm>
            <a:off x="4822000" y="3884400"/>
            <a:ext cx="8688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run() returns</a:t>
            </a:r>
            <a:endParaRPr sz="800"/>
          </a:p>
        </p:txBody>
      </p:sp>
      <p:sp>
        <p:nvSpPr>
          <p:cNvPr id="978" name="Google Shape;978;p76"/>
          <p:cNvSpPr txBox="1"/>
          <p:nvPr/>
        </p:nvSpPr>
        <p:spPr>
          <a:xfrm>
            <a:off x="3016500" y="2311350"/>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timer expires</a:t>
            </a:r>
            <a:endParaRPr b="1" sz="800"/>
          </a:p>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thread dies</a:t>
            </a:r>
            <a:endParaRPr b="1" sz="800"/>
          </a:p>
        </p:txBody>
      </p:sp>
      <p:sp>
        <p:nvSpPr>
          <p:cNvPr id="979" name="Google Shape;979;p76"/>
          <p:cNvSpPr txBox="1"/>
          <p:nvPr/>
        </p:nvSpPr>
        <p:spPr>
          <a:xfrm>
            <a:off x="4861925" y="2129425"/>
            <a:ext cx="5697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start()</a:t>
            </a:r>
            <a:endParaRPr b="1" sz="800"/>
          </a:p>
        </p:txBody>
      </p:sp>
      <p:sp>
        <p:nvSpPr>
          <p:cNvPr id="980" name="Google Shape;980;p76"/>
          <p:cNvSpPr txBox="1"/>
          <p:nvPr/>
        </p:nvSpPr>
        <p:spPr>
          <a:xfrm>
            <a:off x="5171225" y="2970175"/>
            <a:ext cx="5697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timeout</a:t>
            </a:r>
            <a:endParaRPr b="1" sz="800"/>
          </a:p>
        </p:txBody>
      </p:sp>
      <p:sp>
        <p:nvSpPr>
          <p:cNvPr id="981" name="Google Shape;981;p76"/>
          <p:cNvSpPr txBox="1"/>
          <p:nvPr/>
        </p:nvSpPr>
        <p:spPr>
          <a:xfrm>
            <a:off x="3773860" y="3034063"/>
            <a:ext cx="7173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scheduled</a:t>
            </a:r>
            <a:endParaRPr b="1" sz="800"/>
          </a:p>
        </p:txBody>
      </p:sp>
      <p:sp>
        <p:nvSpPr>
          <p:cNvPr id="982" name="Google Shape;982;p76"/>
          <p:cNvSpPr/>
          <p:nvPr/>
        </p:nvSpPr>
        <p:spPr>
          <a:xfrm>
            <a:off x="2759275" y="3371500"/>
            <a:ext cx="1379600" cy="1216575"/>
          </a:xfrm>
          <a:custGeom>
            <a:rect b="b" l="l" r="r" t="t"/>
            <a:pathLst>
              <a:path extrusionOk="0" h="48663" w="55184">
                <a:moveTo>
                  <a:pt x="55184" y="7497"/>
                </a:moveTo>
                <a:cubicBezTo>
                  <a:pt x="47336" y="14345"/>
                  <a:pt x="17295" y="49835"/>
                  <a:pt x="8098" y="48585"/>
                </a:cubicBezTo>
                <a:cubicBezTo>
                  <a:pt x="-1099" y="47336"/>
                  <a:pt x="1350" y="8098"/>
                  <a:pt x="0" y="0"/>
                </a:cubicBezTo>
              </a:path>
            </a:pathLst>
          </a:custGeom>
          <a:noFill/>
          <a:ln cap="flat" cmpd="sng" w="9525">
            <a:solidFill>
              <a:srgbClr val="FF0000"/>
            </a:solidFill>
            <a:prstDash val="dash"/>
            <a:round/>
            <a:headEnd len="med" w="med" type="none"/>
            <a:tailEnd len="med" w="med" type="triangle"/>
          </a:ln>
        </p:spPr>
      </p:sp>
      <p:sp>
        <p:nvSpPr>
          <p:cNvPr id="983" name="Google Shape;983;p76"/>
          <p:cNvSpPr txBox="1"/>
          <p:nvPr/>
        </p:nvSpPr>
        <p:spPr>
          <a:xfrm>
            <a:off x="2132405" y="4617740"/>
            <a:ext cx="1803600" cy="26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condition</a:t>
            </a:r>
            <a:r>
              <a:rPr b="1" lang="en" sz="800"/>
              <a:t>.await</a:t>
            </a:r>
            <a:r>
              <a:rPr b="1" lang="en" sz="800"/>
              <a:t>Uninterruptibly</a:t>
            </a:r>
            <a:r>
              <a:rPr b="1" lang="en" sz="800"/>
              <a:t>()</a:t>
            </a:r>
            <a:endParaRPr b="1" sz="8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77"/>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989" name="Google Shape;989;p77"/>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990" name="Google Shape;990;p7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91" name="Google Shape;991;p77"/>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992" name="Google Shape;992;p77"/>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993" name="Google Shape;993;p77"/>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994" name="Google Shape;994;p7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995" name="Google Shape;995;p77"/>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Shared Resources &amp; Critical Regions</a:t>
            </a:r>
            <a:endParaRPr sz="1800">
              <a:solidFill>
                <a:srgbClr val="FF0000"/>
              </a:solidFill>
              <a:latin typeface="Shadows Into Light"/>
              <a:ea typeface="Shadows Into Light"/>
              <a:cs typeface="Shadows Into Light"/>
              <a:sym typeface="Shadows Into Light"/>
            </a:endParaRPr>
          </a:p>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Synchronization</a:t>
            </a:r>
            <a:endParaRPr sz="1800">
              <a:solidFill>
                <a:srgbClr val="FF0000"/>
              </a:solidFill>
              <a:latin typeface="Shadows Into Light"/>
              <a:ea typeface="Shadows Into Light"/>
              <a:cs typeface="Shadows Into Light"/>
              <a:sym typeface="Shadows Into Light"/>
            </a:endParaRPr>
          </a:p>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wait/notify/notify all</a:t>
            </a:r>
            <a:endParaRPr sz="1800">
              <a:solidFill>
                <a:srgbClr val="FF0000"/>
              </a:solidFill>
              <a:latin typeface="Shadows Into Light"/>
              <a:ea typeface="Shadows Into Light"/>
              <a:cs typeface="Shadows Into Light"/>
              <a:sym typeface="Shadows Into Light"/>
            </a:endParaRPr>
          </a:p>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Producer/Consumer</a:t>
            </a:r>
            <a:endParaRPr sz="1800">
              <a:solidFill>
                <a:srgbClr val="FF0000"/>
              </a:solidFill>
              <a:latin typeface="Shadows Into Light"/>
              <a:ea typeface="Shadows Into Light"/>
              <a:cs typeface="Shadows Into Light"/>
              <a:sym typeface="Shadows Into Light"/>
            </a:endParaRPr>
          </a:p>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Deadlock</a:t>
            </a:r>
            <a:endParaRPr sz="1800">
              <a:solidFill>
                <a:srgbClr val="FF0000"/>
              </a:solidFill>
              <a:latin typeface="Shadows Into Light"/>
              <a:ea typeface="Shadows Into Light"/>
              <a:cs typeface="Shadows Into Light"/>
              <a:sym typeface="Shadows Into Light"/>
            </a:endParaRPr>
          </a:p>
        </p:txBody>
      </p:sp>
      <p:sp>
        <p:nvSpPr>
          <p:cNvPr id="996" name="Google Shape;996;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0" name="Shape 1000"/>
        <p:cNvGrpSpPr/>
        <p:nvPr/>
      </p:nvGrpSpPr>
      <p:grpSpPr>
        <a:xfrm>
          <a:off x="0" y="0"/>
          <a:ext cx="0" cy="0"/>
          <a:chOff x="0" y="0"/>
          <a:chExt cx="0" cy="0"/>
        </a:xfrm>
      </p:grpSpPr>
      <p:pic>
        <p:nvPicPr>
          <p:cNvPr id="1001" name="Google Shape;1001;p78"/>
          <p:cNvPicPr preferRelativeResize="0"/>
          <p:nvPr/>
        </p:nvPicPr>
        <p:blipFill>
          <a:blip r:embed="rId3">
            <a:alphaModFix/>
          </a:blip>
          <a:stretch>
            <a:fillRect/>
          </a:stretch>
        </p:blipFill>
        <p:spPr>
          <a:xfrm>
            <a:off x="5160250" y="80945"/>
            <a:ext cx="3706501" cy="2963079"/>
          </a:xfrm>
          <a:prstGeom prst="rect">
            <a:avLst/>
          </a:prstGeom>
          <a:noFill/>
          <a:ln>
            <a:noFill/>
          </a:ln>
        </p:spPr>
      </p:pic>
      <p:sp>
        <p:nvSpPr>
          <p:cNvPr id="1002" name="Google Shape;1002;p7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03" name="Google Shape;1003;p78"/>
          <p:cNvSpPr txBox="1"/>
          <p:nvPr>
            <p:ph idx="1" type="body"/>
          </p:nvPr>
        </p:nvSpPr>
        <p:spPr>
          <a:xfrm>
            <a:off x="301275" y="577125"/>
            <a:ext cx="4166400" cy="42123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a:solidFill>
                  <a:srgbClr val="FF0000"/>
                </a:solidFill>
              </a:rPr>
              <a:t>Club Chèvre*</a:t>
            </a:r>
            <a:r>
              <a:rPr lang="en">
                <a:solidFill>
                  <a:srgbClr val="FF0000"/>
                </a:solidFill>
              </a:rPr>
              <a:t> </a:t>
            </a:r>
            <a:r>
              <a:rPr lang="en"/>
              <a:t>is the hottest new nightclub in Goatsville.</a:t>
            </a:r>
            <a:endParaRPr/>
          </a:p>
          <a:p>
            <a:pPr indent="-311150" lvl="0" marL="457200" rtl="0" algn="l">
              <a:spcBef>
                <a:spcPts val="0"/>
              </a:spcBef>
              <a:spcAft>
                <a:spcPts val="0"/>
              </a:spcAft>
              <a:buSzPts val="1300"/>
              <a:buChar char="●"/>
            </a:pPr>
            <a:r>
              <a:rPr lang="en"/>
              <a:t>It’s so popular that they had to hire a </a:t>
            </a:r>
            <a:r>
              <a:rPr b="1" i="1" lang="en">
                <a:solidFill>
                  <a:srgbClr val="FF0000"/>
                </a:solidFill>
              </a:rPr>
              <a:t>Troll Bouncer</a:t>
            </a:r>
            <a:r>
              <a:rPr lang="en"/>
              <a:t> to make sure that the number of goats on the dance floor at any one time did not exceed the maximum occupancy mandated by the Goatsville fire code.</a:t>
            </a:r>
            <a:endParaRPr/>
          </a:p>
          <a:p>
            <a:pPr indent="-311150" lvl="0" marL="457200" rtl="0" algn="l">
              <a:spcBef>
                <a:spcPts val="0"/>
              </a:spcBef>
              <a:spcAft>
                <a:spcPts val="0"/>
              </a:spcAft>
              <a:buSzPts val="1300"/>
              <a:buChar char="●"/>
            </a:pPr>
            <a:r>
              <a:rPr lang="en"/>
              <a:t>The bouncer’s job is to make sure that the club is safe and fun for everyone, but he’s also paid to make sure that the </a:t>
            </a:r>
            <a:r>
              <a:rPr b="1" i="1" lang="en">
                <a:solidFill>
                  <a:srgbClr val="FF0000"/>
                </a:solidFill>
              </a:rPr>
              <a:t>coolest</a:t>
            </a:r>
            <a:r>
              <a:rPr lang="en">
                <a:solidFill>
                  <a:srgbClr val="FF0000"/>
                </a:solidFill>
              </a:rPr>
              <a:t> </a:t>
            </a:r>
            <a:r>
              <a:rPr lang="en"/>
              <a:t>goats get into the club first.</a:t>
            </a:r>
            <a:endParaRPr/>
          </a:p>
          <a:p>
            <a:pPr indent="-311150" lvl="0" marL="457200" rtl="0" algn="l">
              <a:spcBef>
                <a:spcPts val="0"/>
              </a:spcBef>
              <a:spcAft>
                <a:spcPts val="0"/>
              </a:spcAft>
              <a:buSzPts val="1300"/>
              <a:buChar char="●"/>
            </a:pPr>
            <a:r>
              <a:rPr lang="en"/>
              <a:t>Once inside the club, the goats </a:t>
            </a:r>
            <a:r>
              <a:rPr b="1" i="1" lang="en">
                <a:solidFill>
                  <a:srgbClr val="FF0000"/>
                </a:solidFill>
              </a:rPr>
              <a:t>dance</a:t>
            </a:r>
            <a:r>
              <a:rPr lang="en">
                <a:solidFill>
                  <a:srgbClr val="FF0000"/>
                </a:solidFill>
              </a:rPr>
              <a:t> </a:t>
            </a:r>
            <a:r>
              <a:rPr lang="en"/>
              <a:t>until they run out of stamina. </a:t>
            </a:r>
            <a:endParaRPr/>
          </a:p>
          <a:p>
            <a:pPr indent="-311150" lvl="0" marL="457200" rtl="0" algn="l">
              <a:spcBef>
                <a:spcPts val="0"/>
              </a:spcBef>
              <a:spcAft>
                <a:spcPts val="0"/>
              </a:spcAft>
              <a:buSzPts val="1300"/>
              <a:buChar char="●"/>
            </a:pPr>
            <a:r>
              <a:rPr lang="en"/>
              <a:t>Exhausted goats may decide to </a:t>
            </a:r>
            <a:r>
              <a:rPr b="1" i="1" lang="en">
                <a:solidFill>
                  <a:srgbClr val="FF0000"/>
                </a:solidFill>
              </a:rPr>
              <a:t>leave </a:t>
            </a:r>
            <a:r>
              <a:rPr lang="en"/>
              <a:t>or hang out at the </a:t>
            </a:r>
            <a:r>
              <a:rPr b="1" i="1" lang="en">
                <a:solidFill>
                  <a:srgbClr val="FF0000"/>
                </a:solidFill>
              </a:rPr>
              <a:t>bar </a:t>
            </a:r>
            <a:r>
              <a:rPr lang="en"/>
              <a:t>until they recover their energy.</a:t>
            </a:r>
            <a:endParaRPr/>
          </a:p>
          <a:p>
            <a:pPr indent="-311150" lvl="0" marL="457200" rtl="0" algn="l">
              <a:spcBef>
                <a:spcPts val="0"/>
              </a:spcBef>
              <a:spcAft>
                <a:spcPts val="0"/>
              </a:spcAft>
              <a:buSzPts val="1300"/>
              <a:buChar char="●"/>
            </a:pPr>
            <a:r>
              <a:rPr lang="en"/>
              <a:t>Today we'll be implementing a </a:t>
            </a:r>
            <a:r>
              <a:rPr b="1" i="1" lang="en">
                <a:solidFill>
                  <a:srgbClr val="FF0000"/>
                </a:solidFill>
              </a:rPr>
              <a:t>simulation</a:t>
            </a:r>
            <a:r>
              <a:rPr lang="en">
                <a:solidFill>
                  <a:srgbClr val="FF0000"/>
                </a:solidFill>
              </a:rPr>
              <a:t> </a:t>
            </a:r>
            <a:r>
              <a:rPr lang="en"/>
              <a:t>of the famous night club using </a:t>
            </a:r>
            <a:r>
              <a:rPr b="1" i="1" lang="en">
                <a:solidFill>
                  <a:srgbClr val="FF0000"/>
                </a:solidFill>
              </a:rPr>
              <a:t>threads</a:t>
            </a:r>
            <a:r>
              <a:rPr lang="en"/>
              <a:t>.</a:t>
            </a:r>
            <a:endParaRPr/>
          </a:p>
          <a:p>
            <a:pPr indent="0" lvl="0" marL="0" rtl="0" algn="l">
              <a:spcBef>
                <a:spcPts val="1600"/>
              </a:spcBef>
              <a:spcAft>
                <a:spcPts val="1600"/>
              </a:spcAft>
              <a:buNone/>
            </a:pPr>
            <a:r>
              <a:t/>
            </a:r>
            <a:endParaRPr/>
          </a:p>
        </p:txBody>
      </p:sp>
      <p:grpSp>
        <p:nvGrpSpPr>
          <p:cNvPr id="1004" name="Google Shape;1004;p78"/>
          <p:cNvGrpSpPr/>
          <p:nvPr/>
        </p:nvGrpSpPr>
        <p:grpSpPr>
          <a:xfrm>
            <a:off x="5455942" y="872495"/>
            <a:ext cx="4088560" cy="2359447"/>
            <a:chOff x="5455942" y="872495"/>
            <a:chExt cx="4088560" cy="2359447"/>
          </a:xfrm>
        </p:grpSpPr>
        <p:pic>
          <p:nvPicPr>
            <p:cNvPr id="1005" name="Google Shape;1005;p78"/>
            <p:cNvPicPr preferRelativeResize="0"/>
            <p:nvPr/>
          </p:nvPicPr>
          <p:blipFill>
            <a:blip r:embed="rId4">
              <a:alphaModFix/>
            </a:blip>
            <a:stretch>
              <a:fillRect/>
            </a:stretch>
          </p:blipFill>
          <p:spPr>
            <a:xfrm>
              <a:off x="6948952" y="901875"/>
              <a:ext cx="2595549" cy="2011550"/>
            </a:xfrm>
            <a:prstGeom prst="rect">
              <a:avLst/>
            </a:prstGeom>
            <a:noFill/>
            <a:ln>
              <a:noFill/>
            </a:ln>
          </p:spPr>
        </p:pic>
        <p:pic>
          <p:nvPicPr>
            <p:cNvPr id="1006" name="Google Shape;1006;p78"/>
            <p:cNvPicPr preferRelativeResize="0"/>
            <p:nvPr/>
          </p:nvPicPr>
          <p:blipFill>
            <a:blip r:embed="rId5">
              <a:alphaModFix/>
            </a:blip>
            <a:stretch>
              <a:fillRect/>
            </a:stretch>
          </p:blipFill>
          <p:spPr>
            <a:xfrm flipH="1">
              <a:off x="7735922" y="872495"/>
              <a:ext cx="904240" cy="714300"/>
            </a:xfrm>
            <a:prstGeom prst="rect">
              <a:avLst/>
            </a:prstGeom>
            <a:noFill/>
            <a:ln>
              <a:noFill/>
            </a:ln>
          </p:spPr>
        </p:pic>
        <p:grpSp>
          <p:nvGrpSpPr>
            <p:cNvPr id="1007" name="Google Shape;1007;p78"/>
            <p:cNvGrpSpPr/>
            <p:nvPr/>
          </p:nvGrpSpPr>
          <p:grpSpPr>
            <a:xfrm>
              <a:off x="5688409" y="932011"/>
              <a:ext cx="1872894" cy="1591319"/>
              <a:chOff x="99126" y="2442482"/>
              <a:chExt cx="1567800" cy="1332094"/>
            </a:xfrm>
          </p:grpSpPr>
          <p:sp>
            <p:nvSpPr>
              <p:cNvPr id="1008" name="Google Shape;1008;p78"/>
              <p:cNvSpPr/>
              <p:nvPr/>
            </p:nvSpPr>
            <p:spPr>
              <a:xfrm>
                <a:off x="311700" y="2468675"/>
                <a:ext cx="1247400" cy="733500"/>
              </a:xfrm>
              <a:prstGeom prst="triangle">
                <a:avLst>
                  <a:gd fmla="val 50000"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8"/>
              <p:cNvSpPr txBox="1"/>
              <p:nvPr/>
            </p:nvSpPr>
            <p:spPr>
              <a:xfrm rot="-762906">
                <a:off x="152460" y="2974929"/>
                <a:ext cx="1461132" cy="646793"/>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F0000"/>
                    </a:solidFill>
                    <a:latin typeface="Shadows Into Light"/>
                    <a:ea typeface="Shadows Into Light"/>
                    <a:cs typeface="Shadows Into Light"/>
                    <a:sym typeface="Shadows Into Light"/>
                  </a:rPr>
                  <a:t>BEWARE of the Troll Bouncer</a:t>
                </a:r>
                <a:endParaRPr sz="1700">
                  <a:solidFill>
                    <a:srgbClr val="FF0000"/>
                  </a:solidFill>
                  <a:latin typeface="Shadows Into Light"/>
                  <a:ea typeface="Shadows Into Light"/>
                  <a:cs typeface="Shadows Into Light"/>
                  <a:sym typeface="Shadows Into Light"/>
                </a:endParaRPr>
              </a:p>
            </p:txBody>
          </p:sp>
          <p:sp>
            <p:nvSpPr>
              <p:cNvPr id="1010" name="Google Shape;1010;p78"/>
              <p:cNvSpPr/>
              <p:nvPr/>
            </p:nvSpPr>
            <p:spPr>
              <a:xfrm>
                <a:off x="885532" y="2442482"/>
                <a:ext cx="105300" cy="105300"/>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11" name="Google Shape;1011;p78"/>
            <p:cNvPicPr preferRelativeResize="0"/>
            <p:nvPr/>
          </p:nvPicPr>
          <p:blipFill>
            <a:blip r:embed="rId6">
              <a:alphaModFix/>
            </a:blip>
            <a:stretch>
              <a:fillRect/>
            </a:stretch>
          </p:blipFill>
          <p:spPr>
            <a:xfrm flipH="1">
              <a:off x="5455942" y="1601426"/>
              <a:ext cx="1132303" cy="1630516"/>
            </a:xfrm>
            <a:prstGeom prst="rect">
              <a:avLst/>
            </a:prstGeom>
            <a:noFill/>
            <a:ln>
              <a:noFill/>
            </a:ln>
          </p:spPr>
        </p:pic>
        <p:pic>
          <p:nvPicPr>
            <p:cNvPr id="1012" name="Google Shape;1012;p78"/>
            <p:cNvPicPr preferRelativeResize="0"/>
            <p:nvPr/>
          </p:nvPicPr>
          <p:blipFill>
            <a:blip r:embed="rId6">
              <a:alphaModFix/>
            </a:blip>
            <a:stretch>
              <a:fillRect/>
            </a:stretch>
          </p:blipFill>
          <p:spPr>
            <a:xfrm flipH="1">
              <a:off x="6462310" y="1601426"/>
              <a:ext cx="1132303" cy="1630516"/>
            </a:xfrm>
            <a:prstGeom prst="rect">
              <a:avLst/>
            </a:prstGeom>
            <a:noFill/>
            <a:ln>
              <a:noFill/>
            </a:ln>
          </p:spPr>
        </p:pic>
      </p:grpSp>
      <p:sp>
        <p:nvSpPr>
          <p:cNvPr id="1013" name="Google Shape;1013;p78"/>
          <p:cNvSpPr txBox="1"/>
          <p:nvPr>
            <p:ph idx="3" type="body"/>
          </p:nvPr>
        </p:nvSpPr>
        <p:spPr>
          <a:xfrm>
            <a:off x="5161450" y="2919670"/>
            <a:ext cx="3706500" cy="5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Goatsville Troll's mom said that, if he wants to keep living in the basement, he needs to pay rent.</a:t>
            </a:r>
            <a:endParaRPr/>
          </a:p>
        </p:txBody>
      </p:sp>
      <p:sp>
        <p:nvSpPr>
          <p:cNvPr id="1014" name="Google Shape;1014;p78"/>
          <p:cNvSpPr txBox="1"/>
          <p:nvPr>
            <p:ph idx="3" type="body"/>
          </p:nvPr>
        </p:nvSpPr>
        <p:spPr>
          <a:xfrm>
            <a:off x="5161450" y="3547718"/>
            <a:ext cx="3706500" cy="67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He decided to get swole and work as a bouncer (because there's nothing that he likes more than beating up goats).</a:t>
            </a:r>
            <a:endParaRPr/>
          </a:p>
        </p:txBody>
      </p:sp>
      <p:sp>
        <p:nvSpPr>
          <p:cNvPr id="1015" name="Google Shape;1015;p78"/>
          <p:cNvSpPr txBox="1"/>
          <p:nvPr>
            <p:ph idx="3" type="body"/>
          </p:nvPr>
        </p:nvSpPr>
        <p:spPr>
          <a:xfrm>
            <a:off x="5161450" y="4309720"/>
            <a:ext cx="3706500" cy="5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But he takes his job (and the fire code!) very seriously.</a:t>
            </a:r>
            <a:endParaRPr/>
          </a:p>
        </p:txBody>
      </p:sp>
      <p:sp>
        <p:nvSpPr>
          <p:cNvPr id="1016" name="Google Shape;1016;p78"/>
          <p:cNvSpPr txBox="1"/>
          <p:nvPr/>
        </p:nvSpPr>
        <p:spPr>
          <a:xfrm>
            <a:off x="7426000" y="4922275"/>
            <a:ext cx="1621500" cy="190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a:t>
            </a:r>
            <a:r>
              <a:rPr lang="en" sz="1000">
                <a:solidFill>
                  <a:srgbClr val="FFFFFF"/>
                </a:solidFill>
                <a:latin typeface="Roboto"/>
                <a:ea typeface="Roboto"/>
                <a:cs typeface="Roboto"/>
                <a:sym typeface="Roboto"/>
              </a:rPr>
              <a:t> Pronounced "Sheh-vrah"</a:t>
            </a:r>
            <a:endParaRPr sz="1000">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0" st="0"/>
                                            </p:txEl>
                                          </p:spTgt>
                                        </p:tgtEl>
                                        <p:attrNameLst>
                                          <p:attrName>style.visibility</p:attrName>
                                        </p:attrNameLst>
                                      </p:cBhvr>
                                      <p:to>
                                        <p:strVal val="visible"/>
                                      </p:to>
                                    </p:set>
                                    <p:animEffect filter="fade" transition="in">
                                      <p:cBhvr>
                                        <p:cTn dur="1000"/>
                                        <p:tgtEl>
                                          <p:spTgt spid="10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 st="1"/>
                                            </p:txEl>
                                          </p:spTgt>
                                        </p:tgtEl>
                                        <p:attrNameLst>
                                          <p:attrName>style.visibility</p:attrName>
                                        </p:attrNameLst>
                                      </p:cBhvr>
                                      <p:to>
                                        <p:strVal val="visible"/>
                                      </p:to>
                                    </p:set>
                                    <p:animEffect filter="fade" transition="in">
                                      <p:cBhvr>
                                        <p:cTn dur="1000"/>
                                        <p:tgtEl>
                                          <p:spTgt spid="10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2" st="2"/>
                                            </p:txEl>
                                          </p:spTgt>
                                        </p:tgtEl>
                                        <p:attrNameLst>
                                          <p:attrName>style.visibility</p:attrName>
                                        </p:attrNameLst>
                                      </p:cBhvr>
                                      <p:to>
                                        <p:strVal val="visible"/>
                                      </p:to>
                                    </p:set>
                                    <p:animEffect filter="fade" transition="in">
                                      <p:cBhvr>
                                        <p:cTn dur="1000"/>
                                        <p:tgtEl>
                                          <p:spTgt spid="10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3" st="3"/>
                                            </p:txEl>
                                          </p:spTgt>
                                        </p:tgtEl>
                                        <p:attrNameLst>
                                          <p:attrName>style.visibility</p:attrName>
                                        </p:attrNameLst>
                                      </p:cBhvr>
                                      <p:to>
                                        <p:strVal val="visible"/>
                                      </p:to>
                                    </p:set>
                                    <p:animEffect filter="fade" transition="in">
                                      <p:cBhvr>
                                        <p:cTn dur="1000"/>
                                        <p:tgtEl>
                                          <p:spTgt spid="10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4" st="4"/>
                                            </p:txEl>
                                          </p:spTgt>
                                        </p:tgtEl>
                                        <p:attrNameLst>
                                          <p:attrName>style.visibility</p:attrName>
                                        </p:attrNameLst>
                                      </p:cBhvr>
                                      <p:to>
                                        <p:strVal val="visible"/>
                                      </p:to>
                                    </p:set>
                                    <p:animEffect filter="fade" transition="in">
                                      <p:cBhvr>
                                        <p:cTn dur="1000"/>
                                        <p:tgtEl>
                                          <p:spTgt spid="10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5" st="5"/>
                                            </p:txEl>
                                          </p:spTgt>
                                        </p:tgtEl>
                                        <p:attrNameLst>
                                          <p:attrName>style.visibility</p:attrName>
                                        </p:attrNameLst>
                                      </p:cBhvr>
                                      <p:to>
                                        <p:strVal val="visible"/>
                                      </p:to>
                                    </p:set>
                                    <p:animEffect filter="fade" transition="in">
                                      <p:cBhvr>
                                        <p:cTn dur="1000"/>
                                        <p:tgtEl>
                                          <p:spTgt spid="10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6" st="6"/>
                                            </p:txEl>
                                          </p:spTgt>
                                        </p:tgtEl>
                                        <p:attrNameLst>
                                          <p:attrName>style.visibility</p:attrName>
                                        </p:attrNameLst>
                                      </p:cBhvr>
                                      <p:to>
                                        <p:strVal val="visible"/>
                                      </p:to>
                                    </p:set>
                                    <p:animEffect filter="fade" transition="in">
                                      <p:cBhvr>
                                        <p:cTn dur="1000"/>
                                        <p:tgtEl>
                                          <p:spTgt spid="1003">
                                            <p:txEl>
                                              <p:pRg end="6" st="6"/>
                                            </p:txEl>
                                          </p:spTgt>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1000"/>
                                        <p:tgtEl>
                                          <p:spTgt spid="10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1000"/>
                                        <p:tgtEl>
                                          <p:spTgt spid="1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1000"/>
                                        <p:tgtEl>
                                          <p:spTgt spid="10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0" name="Shape 1020"/>
        <p:cNvGrpSpPr/>
        <p:nvPr/>
      </p:nvGrpSpPr>
      <p:grpSpPr>
        <a:xfrm>
          <a:off x="0" y="0"/>
          <a:ext cx="0" cy="0"/>
          <a:chOff x="0" y="0"/>
          <a:chExt cx="0" cy="0"/>
        </a:xfrm>
      </p:grpSpPr>
      <p:sp>
        <p:nvSpPr>
          <p:cNvPr id="1021" name="Google Shape;1021;p7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Inspecting the Club</a:t>
            </a:r>
            <a:endParaRPr/>
          </a:p>
        </p:txBody>
      </p:sp>
      <p:sp>
        <p:nvSpPr>
          <p:cNvPr id="1022" name="Google Shape;1022;p7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Club Chévre. has been provided to you in the chevre package of your repository. It uses several different data structures to keep track of the goats that are in and around the club. Spend a few minutes inspecting the code. If you have any questions, raise your hand!</a:t>
            </a:r>
            <a:endParaRPr/>
          </a:p>
        </p:txBody>
      </p:sp>
      <p:sp>
        <p:nvSpPr>
          <p:cNvPr id="1023" name="Google Shape;1023;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24" name="Google Shape;1024;p79"/>
          <p:cNvSpPr txBox="1"/>
          <p:nvPr>
            <p:ph idx="2" type="body"/>
          </p:nvPr>
        </p:nvSpPr>
        <p:spPr>
          <a:xfrm>
            <a:off x="3660975" y="1770725"/>
            <a:ext cx="5310300" cy="30222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provided </a:t>
            </a:r>
            <a:r>
              <a:rPr lang="en" sz="1500">
                <a:solidFill>
                  <a:srgbClr val="FF0000"/>
                </a:solidFill>
                <a:latin typeface="Courier New"/>
                <a:ea typeface="Courier New"/>
                <a:cs typeface="Courier New"/>
                <a:sym typeface="Courier New"/>
              </a:rPr>
              <a:t>ClubChevre</a:t>
            </a:r>
            <a:r>
              <a:rPr lang="en" sz="1500">
                <a:solidFill>
                  <a:srgbClr val="FF0000"/>
                </a:solidFill>
              </a:rPr>
              <a:t> </a:t>
            </a:r>
            <a:r>
              <a:rPr lang="en" sz="1500"/>
              <a:t>class and spend a few moments inspecting the code and consider the following questions:</a:t>
            </a:r>
            <a:endParaRPr sz="1500"/>
          </a:p>
          <a:p>
            <a:pPr indent="-311150" lvl="1" marL="914400" rtl="0" algn="l">
              <a:spcBef>
                <a:spcPts val="0"/>
              </a:spcBef>
              <a:spcAft>
                <a:spcPts val="0"/>
              </a:spcAft>
              <a:buSzPts val="1300"/>
              <a:buChar char="○"/>
            </a:pPr>
            <a:r>
              <a:rPr lang="en" sz="1300"/>
              <a:t>How are the </a:t>
            </a:r>
            <a:r>
              <a:rPr b="1" i="1" lang="en" sz="1300">
                <a:solidFill>
                  <a:srgbClr val="FF0000"/>
                </a:solidFill>
              </a:rPr>
              <a:t>line</a:t>
            </a:r>
            <a:r>
              <a:rPr lang="en" sz="1300"/>
              <a:t>, </a:t>
            </a:r>
            <a:r>
              <a:rPr b="1" i="1" lang="en" sz="1300">
                <a:solidFill>
                  <a:srgbClr val="FF0000"/>
                </a:solidFill>
              </a:rPr>
              <a:t>dance floor</a:t>
            </a:r>
            <a:r>
              <a:rPr lang="en" sz="1300"/>
              <a:t>, and </a:t>
            </a:r>
            <a:r>
              <a:rPr b="1" i="1" lang="en" sz="1300">
                <a:solidFill>
                  <a:srgbClr val="FF0000"/>
                </a:solidFill>
              </a:rPr>
              <a:t>bar</a:t>
            </a:r>
            <a:r>
              <a:rPr lang="en" sz="1300">
                <a:solidFill>
                  <a:srgbClr val="FF0000"/>
                </a:solidFill>
              </a:rPr>
              <a:t> </a:t>
            </a:r>
            <a:r>
              <a:rPr lang="en" sz="1300"/>
              <a:t>represented in the class?</a:t>
            </a:r>
            <a:endParaRPr sz="1300"/>
          </a:p>
          <a:p>
            <a:pPr indent="-311150" lvl="2" marL="1371600" rtl="0" algn="l">
              <a:spcBef>
                <a:spcPts val="0"/>
              </a:spcBef>
              <a:spcAft>
                <a:spcPts val="0"/>
              </a:spcAft>
              <a:buSzPts val="1300"/>
              <a:buChar char="■"/>
            </a:pPr>
            <a:r>
              <a:rPr b="1" i="1" lang="en" sz="1300">
                <a:solidFill>
                  <a:srgbClr val="FF0000"/>
                </a:solidFill>
              </a:rPr>
              <a:t>Why</a:t>
            </a:r>
            <a:r>
              <a:rPr lang="en" sz="1300">
                <a:solidFill>
                  <a:srgbClr val="FF0000"/>
                </a:solidFill>
              </a:rPr>
              <a:t> </a:t>
            </a:r>
            <a:r>
              <a:rPr lang="en" sz="1300"/>
              <a:t>do you think these data structures were chosen?</a:t>
            </a:r>
            <a:endParaRPr sz="1300"/>
          </a:p>
          <a:p>
            <a:pPr indent="-311150" lvl="1" marL="914400" rtl="0" algn="l">
              <a:spcBef>
                <a:spcPts val="0"/>
              </a:spcBef>
              <a:spcAft>
                <a:spcPts val="0"/>
              </a:spcAft>
              <a:buSzPts val="1300"/>
              <a:buChar char="○"/>
            </a:pPr>
            <a:r>
              <a:rPr lang="en" sz="1300"/>
              <a:t>How does a goat get </a:t>
            </a:r>
            <a:r>
              <a:rPr b="1" i="1" lang="en" sz="1300">
                <a:solidFill>
                  <a:srgbClr val="FF0000"/>
                </a:solidFill>
              </a:rPr>
              <a:t>into </a:t>
            </a:r>
            <a:r>
              <a:rPr lang="en" sz="1300"/>
              <a:t>and</a:t>
            </a:r>
            <a:r>
              <a:rPr lang="en" sz="1300">
                <a:solidFill>
                  <a:srgbClr val="FF0000"/>
                </a:solidFill>
              </a:rPr>
              <a:t> </a:t>
            </a:r>
            <a:r>
              <a:rPr b="1" i="1" lang="en" sz="1300">
                <a:solidFill>
                  <a:srgbClr val="FF0000"/>
                </a:solidFill>
              </a:rPr>
              <a:t>out of</a:t>
            </a:r>
            <a:r>
              <a:rPr lang="en" sz="1300"/>
              <a:t> the line?</a:t>
            </a:r>
            <a:endParaRPr sz="1300"/>
          </a:p>
          <a:p>
            <a:pPr indent="-311150" lvl="1" marL="914400" rtl="0" algn="l">
              <a:spcBef>
                <a:spcPts val="0"/>
              </a:spcBef>
              <a:spcAft>
                <a:spcPts val="0"/>
              </a:spcAft>
              <a:buSzPts val="1300"/>
              <a:buChar char="○"/>
            </a:pPr>
            <a:r>
              <a:rPr lang="en" sz="1300"/>
              <a:t>How does a goat get </a:t>
            </a:r>
            <a:r>
              <a:rPr b="1" i="1" lang="en" sz="1300">
                <a:solidFill>
                  <a:srgbClr val="FF0000"/>
                </a:solidFill>
              </a:rPr>
              <a:t>on</a:t>
            </a:r>
            <a:r>
              <a:rPr lang="en" sz="1300">
                <a:solidFill>
                  <a:srgbClr val="FF0000"/>
                </a:solidFill>
              </a:rPr>
              <a:t> </a:t>
            </a:r>
            <a:r>
              <a:rPr lang="en" sz="1300"/>
              <a:t>or </a:t>
            </a:r>
            <a:r>
              <a:rPr b="1" i="1" lang="en" sz="1300">
                <a:solidFill>
                  <a:srgbClr val="FF0000"/>
                </a:solidFill>
              </a:rPr>
              <a:t>off</a:t>
            </a:r>
            <a:r>
              <a:rPr lang="en" sz="1300">
                <a:solidFill>
                  <a:srgbClr val="FF0000"/>
                </a:solidFill>
              </a:rPr>
              <a:t> </a:t>
            </a:r>
            <a:r>
              <a:rPr lang="en" sz="1300"/>
              <a:t>the dance floor?</a:t>
            </a:r>
            <a:endParaRPr sz="1300"/>
          </a:p>
          <a:p>
            <a:pPr indent="-311150" lvl="1" marL="914400" rtl="0" algn="l">
              <a:spcBef>
                <a:spcPts val="0"/>
              </a:spcBef>
              <a:spcAft>
                <a:spcPts val="0"/>
              </a:spcAft>
              <a:buSzPts val="1300"/>
              <a:buChar char="○"/>
            </a:pPr>
            <a:r>
              <a:rPr lang="en" sz="1300"/>
              <a:t>How does a goat </a:t>
            </a:r>
            <a:r>
              <a:rPr b="1" i="1" lang="en" sz="1300">
                <a:solidFill>
                  <a:srgbClr val="FF0000"/>
                </a:solidFill>
              </a:rPr>
              <a:t>sit</a:t>
            </a:r>
            <a:r>
              <a:rPr lang="en" sz="1300">
                <a:solidFill>
                  <a:srgbClr val="FF0000"/>
                </a:solidFill>
              </a:rPr>
              <a:t> </a:t>
            </a:r>
            <a:r>
              <a:rPr b="1" i="1" lang="en" sz="1300">
                <a:solidFill>
                  <a:srgbClr val="FF0000"/>
                </a:solidFill>
              </a:rPr>
              <a:t>at</a:t>
            </a:r>
            <a:r>
              <a:rPr lang="en" sz="1300"/>
              <a:t> or </a:t>
            </a:r>
            <a:r>
              <a:rPr b="1" i="1" lang="en" sz="1300">
                <a:solidFill>
                  <a:srgbClr val="FF0000"/>
                </a:solidFill>
              </a:rPr>
              <a:t>leave</a:t>
            </a:r>
            <a:r>
              <a:rPr lang="en" sz="1300">
                <a:solidFill>
                  <a:srgbClr val="FF0000"/>
                </a:solidFill>
              </a:rPr>
              <a:t> </a:t>
            </a:r>
            <a:r>
              <a:rPr lang="en" sz="1300"/>
              <a:t>the bar?</a:t>
            </a:r>
            <a:endParaRPr sz="1300"/>
          </a:p>
          <a:p>
            <a:pPr indent="-311150" lvl="1" marL="914400" rtl="0" algn="l">
              <a:spcBef>
                <a:spcPts val="0"/>
              </a:spcBef>
              <a:spcAft>
                <a:spcPts val="0"/>
              </a:spcAft>
              <a:buSzPts val="1300"/>
              <a:buChar char="○"/>
            </a:pPr>
            <a:r>
              <a:rPr lang="en" sz="1300"/>
              <a:t>How does the Troll know if there is </a:t>
            </a:r>
            <a:r>
              <a:rPr b="1" i="1" lang="en" sz="1300">
                <a:solidFill>
                  <a:srgbClr val="FF0000"/>
                </a:solidFill>
              </a:rPr>
              <a:t>room for more goats</a:t>
            </a:r>
            <a:r>
              <a:rPr lang="en" sz="1300"/>
              <a:t> in the club?</a:t>
            </a:r>
            <a:endParaRPr sz="1300"/>
          </a:p>
        </p:txBody>
      </p:sp>
      <p:sp>
        <p:nvSpPr>
          <p:cNvPr id="1025" name="Google Shape;1025;p7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11.16</a:t>
            </a:r>
            <a:endParaRPr u="sng"/>
          </a:p>
        </p:txBody>
      </p:sp>
      <p:grpSp>
        <p:nvGrpSpPr>
          <p:cNvPr id="1026" name="Google Shape;1026;p79"/>
          <p:cNvGrpSpPr/>
          <p:nvPr/>
        </p:nvGrpSpPr>
        <p:grpSpPr>
          <a:xfrm>
            <a:off x="134175" y="1770725"/>
            <a:ext cx="3423625" cy="2570825"/>
            <a:chOff x="210375" y="1923125"/>
            <a:chExt cx="3423625" cy="2570825"/>
          </a:xfrm>
        </p:grpSpPr>
        <p:pic>
          <p:nvPicPr>
            <p:cNvPr id="1027" name="Google Shape;1027;p79"/>
            <p:cNvPicPr preferRelativeResize="0"/>
            <p:nvPr/>
          </p:nvPicPr>
          <p:blipFill>
            <a:blip r:embed="rId3">
              <a:alphaModFix/>
            </a:blip>
            <a:stretch>
              <a:fillRect/>
            </a:stretch>
          </p:blipFill>
          <p:spPr>
            <a:xfrm>
              <a:off x="210375" y="1923125"/>
              <a:ext cx="3423625" cy="2570825"/>
            </a:xfrm>
            <a:prstGeom prst="rect">
              <a:avLst/>
            </a:prstGeom>
            <a:noFill/>
            <a:ln cap="flat" cmpd="sng" w="19050">
              <a:solidFill>
                <a:srgbClr val="000000"/>
              </a:solidFill>
              <a:prstDash val="solid"/>
              <a:round/>
              <a:headEnd len="sm" w="sm" type="none"/>
              <a:tailEnd len="sm" w="sm" type="none"/>
            </a:ln>
          </p:spPr>
        </p:pic>
        <p:pic>
          <p:nvPicPr>
            <p:cNvPr id="1028" name="Google Shape;1028;p79"/>
            <p:cNvPicPr preferRelativeResize="0"/>
            <p:nvPr/>
          </p:nvPicPr>
          <p:blipFill rotWithShape="1">
            <a:blip r:embed="rId4">
              <a:alphaModFix/>
            </a:blip>
            <a:srcRect b="0" l="0" r="0" t="0"/>
            <a:stretch/>
          </p:blipFill>
          <p:spPr>
            <a:xfrm>
              <a:off x="806450" y="2652000"/>
              <a:ext cx="993924" cy="1458851"/>
            </a:xfrm>
            <a:prstGeom prst="rect">
              <a:avLst/>
            </a:prstGeom>
            <a:noFill/>
            <a:ln>
              <a:noFill/>
            </a:ln>
          </p:spPr>
        </p:pic>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2" name="Shape 1032"/>
        <p:cNvGrpSpPr/>
        <p:nvPr/>
      </p:nvGrpSpPr>
      <p:grpSpPr>
        <a:xfrm>
          <a:off x="0" y="0"/>
          <a:ext cx="0" cy="0"/>
          <a:chOff x="0" y="0"/>
          <a:chExt cx="0" cy="0"/>
        </a:xfrm>
      </p:grpSpPr>
      <p:sp>
        <p:nvSpPr>
          <p:cNvPr id="1033" name="Google Shape;1033;p8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Party Goats</a:t>
            </a:r>
            <a:endParaRPr/>
          </a:p>
        </p:txBody>
      </p:sp>
      <p:sp>
        <p:nvSpPr>
          <p:cNvPr id="1034" name="Google Shape;1034;p8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Each of the goats in </a:t>
            </a:r>
            <a:r>
              <a:rPr lang="en"/>
              <a:t>Club Chèvre will be represented as a thread.</a:t>
            </a:r>
            <a:r>
              <a:rPr lang="en"/>
              <a:t> Goats may be waiting in line outside of the club, dancing on the dance floor inside the club, or relaxing at the bar. </a:t>
            </a:r>
            <a:r>
              <a:rPr lang="en"/>
              <a:t>Begin implementing a class to represent a </a:t>
            </a:r>
            <a:r>
              <a:rPr lang="en">
                <a:latin typeface="Courier New"/>
                <a:ea typeface="Courier New"/>
                <a:cs typeface="Courier New"/>
                <a:sym typeface="Courier New"/>
              </a:rPr>
              <a:t>Goat</a:t>
            </a:r>
            <a:r>
              <a:rPr lang="en"/>
              <a:t> dancing the night away at world famous Club Chèvre.</a:t>
            </a:r>
            <a:endParaRPr/>
          </a:p>
        </p:txBody>
      </p:sp>
      <p:sp>
        <p:nvSpPr>
          <p:cNvPr id="1035" name="Google Shape;1035;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6" name="Google Shape;1036;p80"/>
          <p:cNvSpPr txBox="1"/>
          <p:nvPr>
            <p:ph idx="2" type="body"/>
          </p:nvPr>
        </p:nvSpPr>
        <p:spPr>
          <a:xfrm>
            <a:off x="3623150" y="1784525"/>
            <a:ext cx="5317800" cy="28275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provided </a:t>
            </a:r>
            <a:r>
              <a:rPr lang="en" sz="1500">
                <a:solidFill>
                  <a:srgbClr val="FF0000"/>
                </a:solidFill>
                <a:latin typeface="Courier New"/>
                <a:ea typeface="Courier New"/>
                <a:cs typeface="Courier New"/>
                <a:sym typeface="Courier New"/>
              </a:rPr>
              <a:t>Goat</a:t>
            </a:r>
            <a:r>
              <a:rPr lang="en" sz="1500">
                <a:solidFill>
                  <a:srgbClr val="FF0000"/>
                </a:solidFill>
              </a:rPr>
              <a:t> </a:t>
            </a:r>
            <a:r>
              <a:rPr lang="en" sz="1500"/>
              <a:t>class and add the following attributes (use the provided </a:t>
            </a:r>
            <a:r>
              <a:rPr lang="en" sz="1500">
                <a:solidFill>
                  <a:srgbClr val="FF0000"/>
                </a:solidFill>
                <a:latin typeface="Courier New"/>
                <a:ea typeface="Courier New"/>
                <a:cs typeface="Courier New"/>
                <a:sym typeface="Courier New"/>
              </a:rPr>
              <a:t>chevre.Utils</a:t>
            </a:r>
            <a:r>
              <a:rPr lang="en" sz="1500"/>
              <a:t> class to help with the </a:t>
            </a:r>
            <a:r>
              <a:rPr b="1" i="1" lang="en" sz="1500">
                <a:solidFill>
                  <a:srgbClr val="FF0000"/>
                </a:solidFill>
              </a:rPr>
              <a:t>random </a:t>
            </a:r>
            <a:r>
              <a:rPr lang="en" sz="1500"/>
              <a:t>stuff).</a:t>
            </a:r>
            <a:endParaRPr sz="1500"/>
          </a:p>
          <a:p>
            <a:pPr indent="-311150" lvl="1" marL="914400" rtl="0" algn="l">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name</a:t>
            </a:r>
            <a:r>
              <a:rPr lang="en" sz="1300"/>
              <a:t>.</a:t>
            </a:r>
            <a:endParaRPr sz="1300"/>
          </a:p>
          <a:p>
            <a:pPr indent="-311150" lvl="1" marL="914400" rtl="0" algn="l">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coolness</a:t>
            </a:r>
            <a:r>
              <a:rPr lang="en" sz="1300">
                <a:solidFill>
                  <a:srgbClr val="FF0000"/>
                </a:solidFill>
              </a:rPr>
              <a:t> </a:t>
            </a:r>
            <a:r>
              <a:rPr lang="en" sz="1300"/>
              <a:t>factor between </a:t>
            </a:r>
            <a:r>
              <a:rPr lang="en" sz="1300">
                <a:latin typeface="Courier New"/>
                <a:ea typeface="Courier New"/>
                <a:cs typeface="Courier New"/>
                <a:sym typeface="Courier New"/>
              </a:rPr>
              <a:t>1</a:t>
            </a:r>
            <a:r>
              <a:rPr lang="en" sz="1300"/>
              <a:t> and </a:t>
            </a:r>
            <a:r>
              <a:rPr lang="en" sz="1300">
                <a:latin typeface="Courier New"/>
                <a:ea typeface="Courier New"/>
                <a:cs typeface="Courier New"/>
                <a:sym typeface="Courier New"/>
              </a:rPr>
              <a:t>100</a:t>
            </a:r>
            <a:r>
              <a:rPr lang="en" sz="1300"/>
              <a:t>.</a:t>
            </a:r>
            <a:endParaRPr sz="1300"/>
          </a:p>
          <a:p>
            <a:pPr indent="-311150" lvl="1" marL="914400" rtl="0" algn="l">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stamina</a:t>
            </a:r>
            <a:r>
              <a:rPr lang="en" sz="1300">
                <a:solidFill>
                  <a:srgbClr val="FF0000"/>
                </a:solidFill>
              </a:rPr>
              <a:t> </a:t>
            </a:r>
            <a:r>
              <a:rPr lang="en" sz="1300"/>
              <a:t>between </a:t>
            </a:r>
            <a:r>
              <a:rPr lang="en" sz="1300">
                <a:latin typeface="Courier New"/>
                <a:ea typeface="Courier New"/>
                <a:cs typeface="Courier New"/>
                <a:sym typeface="Courier New"/>
              </a:rPr>
              <a:t>5</a:t>
            </a:r>
            <a:r>
              <a:rPr lang="en" sz="1300"/>
              <a:t> and </a:t>
            </a:r>
            <a:r>
              <a:rPr lang="en" sz="1300">
                <a:latin typeface="Courier New"/>
                <a:ea typeface="Courier New"/>
                <a:cs typeface="Courier New"/>
                <a:sym typeface="Courier New"/>
              </a:rPr>
              <a:t>10</a:t>
            </a:r>
            <a:r>
              <a:rPr lang="en" sz="1300"/>
              <a:t>. The goat's stamina indicates the number of seconds that the goat can party on the dance floor.</a:t>
            </a:r>
            <a:endParaRPr sz="1300"/>
          </a:p>
          <a:p>
            <a:pPr indent="-323850" lvl="0" marL="457200" rtl="0" algn="l">
              <a:spcBef>
                <a:spcPts val="0"/>
              </a:spcBef>
              <a:spcAft>
                <a:spcPts val="0"/>
              </a:spcAft>
              <a:buSzPts val="1500"/>
              <a:buChar char="●"/>
            </a:pPr>
            <a:r>
              <a:rPr lang="en" sz="1500"/>
              <a:t>Make the </a:t>
            </a:r>
            <a:r>
              <a:rPr lang="en" sz="1500">
                <a:latin typeface="Courier New"/>
                <a:ea typeface="Courier New"/>
                <a:cs typeface="Courier New"/>
                <a:sym typeface="Courier New"/>
              </a:rPr>
              <a:t>Goat</a:t>
            </a:r>
            <a:r>
              <a:rPr lang="en" sz="1500"/>
              <a:t> class.</a:t>
            </a:r>
            <a:endParaRPr sz="1500"/>
          </a:p>
          <a:p>
            <a:pPr indent="-311150" lvl="1" marL="914400" rtl="0" algn="l">
              <a:spcBef>
                <a:spcPts val="0"/>
              </a:spcBef>
              <a:spcAft>
                <a:spcPts val="0"/>
              </a:spcAft>
              <a:buSzPts val="1300"/>
              <a:buChar char="○"/>
            </a:pPr>
            <a:r>
              <a:rPr lang="en" sz="1300"/>
              <a:t>Don't worry about the </a:t>
            </a:r>
            <a:r>
              <a:rPr lang="en" sz="1300">
                <a:solidFill>
                  <a:srgbClr val="FF0000"/>
                </a:solidFill>
                <a:latin typeface="Courier New"/>
                <a:ea typeface="Courier New"/>
                <a:cs typeface="Courier New"/>
                <a:sym typeface="Courier New"/>
              </a:rPr>
              <a:t>run()</a:t>
            </a:r>
            <a:r>
              <a:rPr lang="en" sz="1300"/>
              <a:t> method yet; just stub it out for now.</a:t>
            </a:r>
            <a:endParaRPr sz="1300"/>
          </a:p>
        </p:txBody>
      </p:sp>
      <p:sp>
        <p:nvSpPr>
          <p:cNvPr id="1037" name="Google Shape;1037;p8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11.17</a:t>
            </a:r>
            <a:endParaRPr u="sng"/>
          </a:p>
        </p:txBody>
      </p:sp>
      <p:grpSp>
        <p:nvGrpSpPr>
          <p:cNvPr id="1038" name="Google Shape;1038;p80"/>
          <p:cNvGrpSpPr/>
          <p:nvPr/>
        </p:nvGrpSpPr>
        <p:grpSpPr>
          <a:xfrm>
            <a:off x="134175" y="1923125"/>
            <a:ext cx="3423625" cy="2570825"/>
            <a:chOff x="134175" y="1465925"/>
            <a:chExt cx="3423625" cy="2570825"/>
          </a:xfrm>
        </p:grpSpPr>
        <p:pic>
          <p:nvPicPr>
            <p:cNvPr id="1039" name="Google Shape;1039;p80"/>
            <p:cNvPicPr preferRelativeResize="0"/>
            <p:nvPr/>
          </p:nvPicPr>
          <p:blipFill>
            <a:blip r:embed="rId3">
              <a:alphaModFix/>
            </a:blip>
            <a:stretch>
              <a:fillRect/>
            </a:stretch>
          </p:blipFill>
          <p:spPr>
            <a:xfrm>
              <a:off x="134175" y="1465925"/>
              <a:ext cx="3423625" cy="2570825"/>
            </a:xfrm>
            <a:prstGeom prst="rect">
              <a:avLst/>
            </a:prstGeom>
            <a:noFill/>
            <a:ln cap="flat" cmpd="sng" w="19050">
              <a:solidFill>
                <a:srgbClr val="000000"/>
              </a:solidFill>
              <a:prstDash val="solid"/>
              <a:round/>
              <a:headEnd len="sm" w="sm" type="none"/>
              <a:tailEnd len="sm" w="sm" type="none"/>
            </a:ln>
          </p:spPr>
        </p:pic>
        <p:pic>
          <p:nvPicPr>
            <p:cNvPr id="1040" name="Google Shape;1040;p80"/>
            <p:cNvPicPr preferRelativeResize="0"/>
            <p:nvPr/>
          </p:nvPicPr>
          <p:blipFill rotWithShape="1">
            <a:blip r:embed="rId4">
              <a:alphaModFix/>
            </a:blip>
            <a:srcRect b="0" l="0" r="0" t="32116"/>
            <a:stretch/>
          </p:blipFill>
          <p:spPr>
            <a:xfrm>
              <a:off x="2417075" y="2532975"/>
              <a:ext cx="657175" cy="642425"/>
            </a:xfrm>
            <a:prstGeom prst="rect">
              <a:avLst/>
            </a:prstGeom>
            <a:noFill/>
            <a:ln>
              <a:noFill/>
            </a:ln>
          </p:spPr>
        </p:pic>
        <p:pic>
          <p:nvPicPr>
            <p:cNvPr id="1041" name="Google Shape;1041;p80"/>
            <p:cNvPicPr preferRelativeResize="0"/>
            <p:nvPr/>
          </p:nvPicPr>
          <p:blipFill rotWithShape="1">
            <a:blip r:embed="rId4">
              <a:alphaModFix/>
            </a:blip>
            <a:srcRect b="0" l="0" r="0" t="32116"/>
            <a:stretch/>
          </p:blipFill>
          <p:spPr>
            <a:xfrm>
              <a:off x="1077725" y="2279900"/>
              <a:ext cx="657175" cy="642425"/>
            </a:xfrm>
            <a:prstGeom prst="rect">
              <a:avLst/>
            </a:prstGeom>
            <a:noFill/>
            <a:ln>
              <a:noFill/>
            </a:ln>
          </p:spPr>
        </p:pic>
        <p:pic>
          <p:nvPicPr>
            <p:cNvPr id="1042" name="Google Shape;1042;p80"/>
            <p:cNvPicPr preferRelativeResize="0"/>
            <p:nvPr/>
          </p:nvPicPr>
          <p:blipFill rotWithShape="1">
            <a:blip r:embed="rId4">
              <a:alphaModFix/>
            </a:blip>
            <a:srcRect b="0" l="0" r="0" t="32116"/>
            <a:stretch/>
          </p:blipFill>
          <p:spPr>
            <a:xfrm flipH="1">
              <a:off x="1768925" y="2432300"/>
              <a:ext cx="657175" cy="642425"/>
            </a:xfrm>
            <a:prstGeom prst="rect">
              <a:avLst/>
            </a:prstGeom>
            <a:noFill/>
            <a:ln>
              <a:noFill/>
            </a:ln>
          </p:spPr>
        </p:pic>
        <p:pic>
          <p:nvPicPr>
            <p:cNvPr id="1043" name="Google Shape;1043;p80"/>
            <p:cNvPicPr preferRelativeResize="0"/>
            <p:nvPr/>
          </p:nvPicPr>
          <p:blipFill rotWithShape="1">
            <a:blip r:embed="rId4">
              <a:alphaModFix/>
            </a:blip>
            <a:srcRect b="0" l="0" r="0" t="32116"/>
            <a:stretch/>
          </p:blipFill>
          <p:spPr>
            <a:xfrm>
              <a:off x="2455275" y="2985300"/>
              <a:ext cx="657175" cy="642425"/>
            </a:xfrm>
            <a:prstGeom prst="rect">
              <a:avLst/>
            </a:prstGeom>
            <a:noFill/>
            <a:ln>
              <a:noFill/>
            </a:ln>
          </p:spPr>
        </p:pic>
        <p:pic>
          <p:nvPicPr>
            <p:cNvPr id="1044" name="Google Shape;1044;p80"/>
            <p:cNvPicPr preferRelativeResize="0"/>
            <p:nvPr/>
          </p:nvPicPr>
          <p:blipFill rotWithShape="1">
            <a:blip r:embed="rId4">
              <a:alphaModFix/>
            </a:blip>
            <a:srcRect b="0" l="0" r="0" t="32116"/>
            <a:stretch/>
          </p:blipFill>
          <p:spPr>
            <a:xfrm flipH="1">
              <a:off x="558050" y="2562475"/>
              <a:ext cx="657175" cy="642425"/>
            </a:xfrm>
            <a:prstGeom prst="rect">
              <a:avLst/>
            </a:prstGeom>
            <a:noFill/>
            <a:ln>
              <a:noFill/>
            </a:ln>
          </p:spPr>
        </p:pic>
        <p:pic>
          <p:nvPicPr>
            <p:cNvPr id="1045" name="Google Shape;1045;p80"/>
            <p:cNvPicPr preferRelativeResize="0"/>
            <p:nvPr/>
          </p:nvPicPr>
          <p:blipFill rotWithShape="1">
            <a:blip r:embed="rId4">
              <a:alphaModFix/>
            </a:blip>
            <a:srcRect b="0" l="0" r="0" t="32116"/>
            <a:stretch/>
          </p:blipFill>
          <p:spPr>
            <a:xfrm>
              <a:off x="785750" y="2985300"/>
              <a:ext cx="657175" cy="642425"/>
            </a:xfrm>
            <a:prstGeom prst="rect">
              <a:avLst/>
            </a:prstGeom>
            <a:noFill/>
            <a:ln>
              <a:noFill/>
            </a:ln>
          </p:spPr>
        </p:pic>
        <p:pic>
          <p:nvPicPr>
            <p:cNvPr id="1046" name="Google Shape;1046;p80"/>
            <p:cNvPicPr preferRelativeResize="0"/>
            <p:nvPr/>
          </p:nvPicPr>
          <p:blipFill rotWithShape="1">
            <a:blip r:embed="rId4">
              <a:alphaModFix/>
            </a:blip>
            <a:srcRect b="0" l="0" r="0" t="32116"/>
            <a:stretch/>
          </p:blipFill>
          <p:spPr>
            <a:xfrm flipH="1">
              <a:off x="1605600" y="3074725"/>
              <a:ext cx="657175" cy="642425"/>
            </a:xfrm>
            <a:prstGeom prst="rect">
              <a:avLst/>
            </a:prstGeom>
            <a:noFill/>
            <a:ln>
              <a:noFill/>
            </a:ln>
          </p:spPr>
        </p:pic>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0" name="Shape 1050"/>
        <p:cNvGrpSpPr/>
        <p:nvPr/>
      </p:nvGrpSpPr>
      <p:grpSpPr>
        <a:xfrm>
          <a:off x="0" y="0"/>
          <a:ext cx="0" cy="0"/>
          <a:chOff x="0" y="0"/>
          <a:chExt cx="0" cy="0"/>
        </a:xfrm>
      </p:grpSpPr>
      <p:sp>
        <p:nvSpPr>
          <p:cNvPr id="1051" name="Google Shape;1051;p8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Goat Lineup</a:t>
            </a:r>
            <a:endParaRPr/>
          </a:p>
        </p:txBody>
      </p:sp>
      <p:sp>
        <p:nvSpPr>
          <p:cNvPr id="1052" name="Google Shape;1052;p81"/>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Club Chèvre itself will be the resource shared by all of the goat threads in this simulation. Goats will use it to help decide when to wait, when to dance, and when to recover. Let's c</a:t>
            </a:r>
            <a:r>
              <a:rPr lang="en"/>
              <a:t>ontinue implementing the </a:t>
            </a:r>
            <a:r>
              <a:rPr lang="en">
                <a:latin typeface="Courier New"/>
                <a:ea typeface="Courier New"/>
                <a:cs typeface="Courier New"/>
                <a:sym typeface="Courier New"/>
              </a:rPr>
              <a:t>Goat</a:t>
            </a:r>
            <a:r>
              <a:rPr lang="en"/>
              <a:t> class.</a:t>
            </a:r>
            <a:endParaRPr/>
          </a:p>
        </p:txBody>
      </p:sp>
      <p:sp>
        <p:nvSpPr>
          <p:cNvPr id="1053" name="Google Shape;1053;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4" name="Google Shape;1054;p81"/>
          <p:cNvSpPr txBox="1"/>
          <p:nvPr>
            <p:ph idx="2" type="body"/>
          </p:nvPr>
        </p:nvSpPr>
        <p:spPr>
          <a:xfrm>
            <a:off x="3214125" y="1632125"/>
            <a:ext cx="5650800" cy="3181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Goat</a:t>
            </a:r>
            <a:r>
              <a:rPr lang="en">
                <a:solidFill>
                  <a:srgbClr val="FF0000"/>
                </a:solidFill>
              </a:rPr>
              <a:t> </a:t>
            </a:r>
            <a:r>
              <a:rPr lang="en"/>
              <a:t>class and update it to meet the following requirements:</a:t>
            </a:r>
            <a:endParaRPr/>
          </a:p>
          <a:p>
            <a:pPr indent="-298450" lvl="1" marL="914400" rtl="0" algn="l">
              <a:spcBef>
                <a:spcPts val="0"/>
              </a:spcBef>
              <a:spcAft>
                <a:spcPts val="0"/>
              </a:spcAft>
              <a:buSzPts val="1100"/>
              <a:buChar char="○"/>
            </a:pPr>
            <a:r>
              <a:rPr lang="en"/>
              <a:t>Pass an instance of </a:t>
            </a:r>
            <a:r>
              <a:rPr lang="en">
                <a:solidFill>
                  <a:srgbClr val="FF0000"/>
                </a:solidFill>
                <a:latin typeface="Courier New"/>
                <a:ea typeface="Courier New"/>
                <a:cs typeface="Courier New"/>
                <a:sym typeface="Courier New"/>
              </a:rPr>
              <a:t>ClubChevre</a:t>
            </a:r>
            <a:r>
              <a:rPr lang="en">
                <a:solidFill>
                  <a:srgbClr val="FF0000"/>
                </a:solidFill>
              </a:rPr>
              <a:t> </a:t>
            </a:r>
            <a:r>
              <a:rPr lang="en"/>
              <a:t>into the </a:t>
            </a:r>
            <a:r>
              <a:rPr lang="en">
                <a:latin typeface="Courier New"/>
                <a:ea typeface="Courier New"/>
                <a:cs typeface="Courier New"/>
                <a:sym typeface="Courier New"/>
              </a:rPr>
              <a:t>Goat</a:t>
            </a:r>
            <a:r>
              <a:rPr lang="en"/>
              <a:t> </a:t>
            </a:r>
            <a:r>
              <a:rPr b="1" i="1" lang="en">
                <a:solidFill>
                  <a:srgbClr val="FF0000"/>
                </a:solidFill>
              </a:rPr>
              <a:t>constructor</a:t>
            </a:r>
            <a:r>
              <a:rPr lang="en"/>
              <a:t>.</a:t>
            </a:r>
            <a:endParaRPr/>
          </a:p>
          <a:p>
            <a:pPr indent="-298450" lvl="1" marL="914400" rtl="0" algn="l">
              <a:spcBef>
                <a:spcPts val="0"/>
              </a:spcBef>
              <a:spcAft>
                <a:spcPts val="0"/>
              </a:spcAft>
              <a:buSzPts val="1100"/>
              <a:buChar char="○"/>
            </a:pPr>
            <a:r>
              <a:rPr lang="en"/>
              <a:t>Update the </a:t>
            </a:r>
            <a:r>
              <a:rPr lang="en">
                <a:solidFill>
                  <a:srgbClr val="FF0000"/>
                </a:solidFill>
                <a:latin typeface="Courier New"/>
                <a:ea typeface="Courier New"/>
                <a:cs typeface="Courier New"/>
                <a:sym typeface="Courier New"/>
              </a:rPr>
              <a:t>run()</a:t>
            </a:r>
            <a:r>
              <a:rPr lang="en"/>
              <a:t> method so that:</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b="1" i="1" lang="en">
                <a:solidFill>
                  <a:srgbClr val="FF0000"/>
                </a:solidFill>
              </a:rPr>
              <a:t>prints </a:t>
            </a:r>
            <a:r>
              <a:rPr lang="en"/>
              <a:t>a message that it is getting into line behind </a:t>
            </a:r>
            <a:r>
              <a:rPr b="1" i="1" lang="en">
                <a:solidFill>
                  <a:srgbClr val="FF0000"/>
                </a:solidFill>
              </a:rPr>
              <a:t>N</a:t>
            </a:r>
            <a:r>
              <a:rPr lang="en"/>
              <a:t> other goats (where </a:t>
            </a:r>
            <a:r>
              <a:rPr b="1" i="1" lang="en">
                <a:solidFill>
                  <a:srgbClr val="FF0000"/>
                </a:solidFill>
              </a:rPr>
              <a:t>N</a:t>
            </a:r>
            <a:r>
              <a:rPr lang="en"/>
              <a:t> is the number of goats already in line).</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b="1" i="1" lang="en">
                <a:solidFill>
                  <a:srgbClr val="FF0000"/>
                </a:solidFill>
              </a:rPr>
              <a:t>gets into line</a:t>
            </a:r>
            <a:r>
              <a:rPr lang="en"/>
              <a:t> outside the club.</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b="1" i="1" lang="en">
                <a:solidFill>
                  <a:srgbClr val="FF0000"/>
                </a:solidFill>
              </a:rPr>
              <a:t>waits </a:t>
            </a:r>
            <a:r>
              <a:rPr lang="en"/>
              <a:t>to be selected by the Troll Bouncer to enter the club.</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b="1" i="1" lang="en">
                <a:solidFill>
                  <a:srgbClr val="FF0000"/>
                </a:solidFill>
              </a:rPr>
              <a:t>prints </a:t>
            </a:r>
            <a:r>
              <a:rPr lang="en"/>
              <a:t>a message with its name after it is selected by the Troll Bouncer to enter the club.</a:t>
            </a:r>
            <a:r>
              <a:rPr lang="en"/>
              <a:t> It's the Troll's job to escort the Goat into the club.</a:t>
            </a:r>
            <a:endParaRPr/>
          </a:p>
          <a:p>
            <a:pPr indent="-298450" lvl="1" marL="914400" rtl="0" algn="l">
              <a:spcBef>
                <a:spcPts val="0"/>
              </a:spcBef>
              <a:spcAft>
                <a:spcPts val="0"/>
              </a:spcAft>
              <a:buSzPts val="1100"/>
              <a:buChar char="○"/>
            </a:pPr>
            <a:r>
              <a:rPr lang="en"/>
              <a:t>Add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 to </a:t>
            </a:r>
            <a:r>
              <a:rPr b="1" i="1" lang="en">
                <a:solidFill>
                  <a:srgbClr val="FF0000"/>
                </a:solidFill>
              </a:rPr>
              <a:t>create and start</a:t>
            </a:r>
            <a:r>
              <a:rPr lang="en"/>
              <a:t> one of your </a:t>
            </a:r>
            <a:r>
              <a:rPr lang="en">
                <a:latin typeface="Courier New"/>
                <a:ea typeface="Courier New"/>
                <a:cs typeface="Courier New"/>
                <a:sym typeface="Courier New"/>
              </a:rPr>
              <a:t>Goat</a:t>
            </a:r>
            <a:r>
              <a:rPr lang="en"/>
              <a:t> threads.</a:t>
            </a:r>
            <a:endParaRPr/>
          </a:p>
          <a:p>
            <a:pPr indent="-311150" lvl="0" marL="457200" rtl="0" algn="l">
              <a:spcBef>
                <a:spcPts val="0"/>
              </a:spcBef>
              <a:spcAft>
                <a:spcPts val="0"/>
              </a:spcAft>
              <a:buSzPts val="1300"/>
              <a:buChar char="●"/>
            </a:pPr>
            <a:r>
              <a:rPr b="1" i="1" lang="en">
                <a:solidFill>
                  <a:srgbClr val="FF0000"/>
                </a:solidFill>
              </a:rPr>
              <a:t>R</a:t>
            </a:r>
            <a:r>
              <a:rPr b="1" i="1" lang="en">
                <a:solidFill>
                  <a:srgbClr val="FF0000"/>
                </a:solidFill>
              </a:rPr>
              <a:t>un</a:t>
            </a:r>
            <a:r>
              <a:rPr lang="en">
                <a:solidFill>
                  <a:srgbClr val="FF0000"/>
                </a:solidFill>
              </a:rPr>
              <a:t> </a:t>
            </a:r>
            <a:r>
              <a:rPr lang="en"/>
              <a:t>your class.</a:t>
            </a:r>
            <a:endParaRPr/>
          </a:p>
        </p:txBody>
      </p:sp>
      <p:sp>
        <p:nvSpPr>
          <p:cNvPr id="1055" name="Google Shape;1055;p8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11.18</a:t>
            </a:r>
            <a:endParaRPr u="sng"/>
          </a:p>
        </p:txBody>
      </p:sp>
      <p:sp>
        <p:nvSpPr>
          <p:cNvPr id="1056" name="Google Shape;1056;p81"/>
          <p:cNvSpPr txBox="1"/>
          <p:nvPr/>
        </p:nvSpPr>
        <p:spPr>
          <a:xfrm>
            <a:off x="276850" y="4245500"/>
            <a:ext cx="2766900" cy="77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If we have no control over which waiting thread is picked when </a:t>
            </a:r>
            <a:r>
              <a:rPr lang="en" sz="1100">
                <a:latin typeface="Courier New"/>
                <a:ea typeface="Courier New"/>
                <a:cs typeface="Courier New"/>
                <a:sym typeface="Courier New"/>
              </a:rPr>
              <a:t>notify</a:t>
            </a:r>
            <a:r>
              <a:rPr lang="en" sz="1100"/>
              <a:t> or </a:t>
            </a:r>
            <a:r>
              <a:rPr lang="en" sz="1100">
                <a:latin typeface="Courier New"/>
                <a:ea typeface="Courier New"/>
                <a:cs typeface="Courier New"/>
                <a:sym typeface="Courier New"/>
              </a:rPr>
              <a:t>notifyAll</a:t>
            </a:r>
            <a:r>
              <a:rPr lang="en" sz="1100"/>
              <a:t> is used, how can we make sure to notify the exact right </a:t>
            </a:r>
            <a:r>
              <a:rPr lang="en" sz="1100">
                <a:latin typeface="Courier New"/>
                <a:ea typeface="Courier New"/>
                <a:cs typeface="Courier New"/>
                <a:sym typeface="Courier New"/>
              </a:rPr>
              <a:t>Goat</a:t>
            </a:r>
            <a:r>
              <a:rPr lang="en" sz="1100"/>
              <a:t>?!</a:t>
            </a:r>
            <a:endParaRPr sz="1100"/>
          </a:p>
        </p:txBody>
      </p:sp>
      <p:grpSp>
        <p:nvGrpSpPr>
          <p:cNvPr id="1057" name="Google Shape;1057;p81"/>
          <p:cNvGrpSpPr/>
          <p:nvPr/>
        </p:nvGrpSpPr>
        <p:grpSpPr>
          <a:xfrm>
            <a:off x="276738" y="1625856"/>
            <a:ext cx="2767048" cy="2568564"/>
            <a:chOff x="276725" y="1469825"/>
            <a:chExt cx="2934926" cy="2724400"/>
          </a:xfrm>
        </p:grpSpPr>
        <p:sp>
          <p:nvSpPr>
            <p:cNvPr id="1058" name="Google Shape;1058;p81"/>
            <p:cNvSpPr/>
            <p:nvPr/>
          </p:nvSpPr>
          <p:spPr>
            <a:xfrm>
              <a:off x="276725" y="3193425"/>
              <a:ext cx="2934900" cy="10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9" name="Google Shape;1059;p81"/>
            <p:cNvPicPr preferRelativeResize="0"/>
            <p:nvPr/>
          </p:nvPicPr>
          <p:blipFill>
            <a:blip r:embed="rId3">
              <a:alphaModFix/>
            </a:blip>
            <a:stretch>
              <a:fillRect/>
            </a:stretch>
          </p:blipFill>
          <p:spPr>
            <a:xfrm>
              <a:off x="276850" y="1469825"/>
              <a:ext cx="2934801" cy="2346161"/>
            </a:xfrm>
            <a:prstGeom prst="rect">
              <a:avLst/>
            </a:prstGeom>
            <a:noFill/>
            <a:ln>
              <a:noFill/>
            </a:ln>
          </p:spPr>
        </p:pic>
        <p:grpSp>
          <p:nvGrpSpPr>
            <p:cNvPr id="1060" name="Google Shape;1060;p81"/>
            <p:cNvGrpSpPr/>
            <p:nvPr/>
          </p:nvGrpSpPr>
          <p:grpSpPr>
            <a:xfrm>
              <a:off x="395462" y="2841485"/>
              <a:ext cx="2770655" cy="1352672"/>
              <a:chOff x="149800" y="2065525"/>
              <a:chExt cx="3499185" cy="1708351"/>
            </a:xfrm>
          </p:grpSpPr>
          <p:pic>
            <p:nvPicPr>
              <p:cNvPr id="1061" name="Google Shape;1061;p81"/>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062" name="Google Shape;1062;p81"/>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063" name="Google Shape;1063;p81"/>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064" name="Google Shape;1064;p81"/>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065" name="Google Shape;1065;p81"/>
              <p:cNvPicPr preferRelativeResize="0"/>
              <p:nvPr/>
            </p:nvPicPr>
            <p:blipFill rotWithShape="1">
              <a:blip r:embed="rId5">
                <a:alphaModFix/>
              </a:blip>
              <a:srcRect b="0" l="20213" r="14708" t="0"/>
              <a:stretch/>
            </p:blipFill>
            <p:spPr>
              <a:xfrm>
                <a:off x="149800" y="2537025"/>
                <a:ext cx="1724676" cy="1236851"/>
              </a:xfrm>
              <a:prstGeom prst="rect">
                <a:avLst/>
              </a:prstGeom>
              <a:noFill/>
              <a:ln>
                <a:noFill/>
              </a:ln>
            </p:spPr>
          </p:pic>
          <p:pic>
            <p:nvPicPr>
              <p:cNvPr id="1066" name="Google Shape;1066;p81"/>
              <p:cNvPicPr preferRelativeResize="0"/>
              <p:nvPr/>
            </p:nvPicPr>
            <p:blipFill rotWithShape="1">
              <a:blip r:embed="rId5">
                <a:alphaModFix/>
              </a:blip>
              <a:srcRect b="0" l="20213" r="14708" t="0"/>
              <a:stretch/>
            </p:blipFill>
            <p:spPr>
              <a:xfrm>
                <a:off x="1673800" y="2537025"/>
                <a:ext cx="1724676" cy="1236851"/>
              </a:xfrm>
              <a:prstGeom prst="rect">
                <a:avLst/>
              </a:prstGeom>
              <a:noFill/>
              <a:ln>
                <a:noFill/>
              </a:ln>
            </p:spPr>
          </p:pic>
        </p:gr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0" name="Shape 1070"/>
        <p:cNvGrpSpPr/>
        <p:nvPr/>
      </p:nvGrpSpPr>
      <p:grpSpPr>
        <a:xfrm>
          <a:off x="0" y="0"/>
          <a:ext cx="0" cy="0"/>
          <a:chOff x="0" y="0"/>
          <a:chExt cx="0" cy="0"/>
        </a:xfrm>
      </p:grpSpPr>
      <p:sp>
        <p:nvSpPr>
          <p:cNvPr id="1071" name="Google Shape;1071;p8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Main Program</a:t>
            </a:r>
            <a:endParaRPr/>
          </a:p>
        </p:txBody>
      </p:sp>
      <p:sp>
        <p:nvSpPr>
          <p:cNvPr id="1072" name="Google Shape;1072;p8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main program will create the club, all of the goats, and (eventually) the troll bouncer that manages the crowd inside and outside of the club. </a:t>
            </a:r>
            <a:r>
              <a:rPr lang="en"/>
              <a:t>Begin implementing the main Club Chévre simulation.</a:t>
            </a:r>
            <a:endParaRPr/>
          </a:p>
        </p:txBody>
      </p:sp>
      <p:sp>
        <p:nvSpPr>
          <p:cNvPr id="1073" name="Google Shape;1073;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4" name="Google Shape;1074;p82"/>
          <p:cNvSpPr txBox="1"/>
          <p:nvPr>
            <p:ph idx="2" type="body"/>
          </p:nvPr>
        </p:nvSpPr>
        <p:spPr>
          <a:xfrm>
            <a:off x="3161750" y="1694875"/>
            <a:ext cx="5628000" cy="30201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Create a new Java class in the </a:t>
            </a:r>
            <a:r>
              <a:rPr lang="en" sz="1600">
                <a:latin typeface="Courier New"/>
                <a:ea typeface="Courier New"/>
                <a:cs typeface="Courier New"/>
                <a:sym typeface="Courier New"/>
              </a:rPr>
              <a:t>chevre</a:t>
            </a:r>
            <a:r>
              <a:rPr lang="en" sz="1600"/>
              <a:t> package named "</a:t>
            </a:r>
            <a:r>
              <a:rPr lang="en" sz="1600">
                <a:solidFill>
                  <a:srgbClr val="FF0000"/>
                </a:solidFill>
                <a:latin typeface="Courier New"/>
                <a:ea typeface="Courier New"/>
                <a:cs typeface="Courier New"/>
                <a:sym typeface="Courier New"/>
              </a:rPr>
              <a:t>Main</a:t>
            </a:r>
            <a:r>
              <a:rPr lang="en" sz="1600"/>
              <a:t>" and define a </a:t>
            </a:r>
            <a:r>
              <a:rPr lang="en" sz="1600">
                <a:solidFill>
                  <a:srgbClr val="FF0000"/>
                </a:solidFill>
                <a:latin typeface="Courier New"/>
                <a:ea typeface="Courier New"/>
                <a:cs typeface="Courier New"/>
                <a:sym typeface="Courier New"/>
              </a:rPr>
              <a:t>main</a:t>
            </a:r>
            <a:r>
              <a:rPr lang="en" sz="1600">
                <a:solidFill>
                  <a:srgbClr val="FF0000"/>
                </a:solidFill>
              </a:rPr>
              <a:t> </a:t>
            </a:r>
            <a:r>
              <a:rPr lang="en" sz="1600"/>
              <a:t>method with an appropriate signature that does the following:</a:t>
            </a:r>
            <a:endParaRPr sz="1600"/>
          </a:p>
          <a:p>
            <a:pPr indent="-317500" lvl="1" marL="914400" rtl="0" algn="l">
              <a:spcBef>
                <a:spcPts val="0"/>
              </a:spcBef>
              <a:spcAft>
                <a:spcPts val="0"/>
              </a:spcAft>
              <a:buSzPts val="1400"/>
              <a:buChar char="○"/>
            </a:pPr>
            <a:r>
              <a:rPr b="1" i="1" lang="en" sz="1400">
                <a:solidFill>
                  <a:srgbClr val="FF0000"/>
                </a:solidFill>
              </a:rPr>
              <a:t>Creates </a:t>
            </a:r>
            <a:r>
              <a:rPr lang="en" sz="1400"/>
              <a:t>an instance of </a:t>
            </a:r>
            <a:r>
              <a:rPr lang="en" sz="1400">
                <a:solidFill>
                  <a:srgbClr val="FF0000"/>
                </a:solidFill>
                <a:latin typeface="Courier New"/>
                <a:ea typeface="Courier New"/>
                <a:cs typeface="Courier New"/>
                <a:sym typeface="Courier New"/>
              </a:rPr>
              <a:t>ClubChevre</a:t>
            </a:r>
            <a:r>
              <a:rPr lang="en" sz="1400"/>
              <a:t>.</a:t>
            </a:r>
            <a:endParaRPr sz="1400"/>
          </a:p>
          <a:p>
            <a:pPr indent="-317500" lvl="1" marL="914400" rtl="0" algn="l">
              <a:spcBef>
                <a:spcPts val="0"/>
              </a:spcBef>
              <a:spcAft>
                <a:spcPts val="0"/>
              </a:spcAft>
              <a:buSzPts val="1400"/>
              <a:buChar char="○"/>
            </a:pPr>
            <a:r>
              <a:rPr lang="en" sz="1400"/>
              <a:t>In a </a:t>
            </a:r>
            <a:r>
              <a:rPr b="1" i="1" lang="en" sz="1400">
                <a:solidFill>
                  <a:srgbClr val="FF0000"/>
                </a:solidFill>
              </a:rPr>
              <a:t>loop</a:t>
            </a:r>
            <a:r>
              <a:rPr lang="en" sz="1400"/>
              <a:t>, repeat the following 1000 times:</a:t>
            </a:r>
            <a:endParaRPr sz="1400"/>
          </a:p>
          <a:p>
            <a:pPr indent="-317500" lvl="2" marL="1371600" rtl="0" algn="l">
              <a:spcBef>
                <a:spcPts val="0"/>
              </a:spcBef>
              <a:spcAft>
                <a:spcPts val="0"/>
              </a:spcAft>
              <a:buSzPts val="1400"/>
              <a:buChar char="■"/>
            </a:pPr>
            <a:r>
              <a:rPr b="1" i="1" lang="en" sz="1400">
                <a:solidFill>
                  <a:srgbClr val="FF0000"/>
                </a:solidFill>
              </a:rPr>
              <a:t>Make</a:t>
            </a:r>
            <a:r>
              <a:rPr lang="en" sz="1400">
                <a:solidFill>
                  <a:srgbClr val="FF0000"/>
                </a:solidFill>
              </a:rPr>
              <a:t> </a:t>
            </a:r>
            <a:r>
              <a:rPr lang="en" sz="1400"/>
              <a:t>a </a:t>
            </a:r>
            <a:r>
              <a:rPr lang="en" sz="1400">
                <a:latin typeface="Courier New"/>
                <a:ea typeface="Courier New"/>
                <a:cs typeface="Courier New"/>
                <a:sym typeface="Courier New"/>
              </a:rPr>
              <a:t>Goat</a:t>
            </a:r>
            <a:r>
              <a:rPr lang="en" sz="1400"/>
              <a:t>.</a:t>
            </a:r>
            <a:endParaRPr sz="1400"/>
          </a:p>
          <a:p>
            <a:pPr indent="-317500" lvl="2" marL="1371600" rtl="0" algn="l">
              <a:spcBef>
                <a:spcPts val="0"/>
              </a:spcBef>
              <a:spcAft>
                <a:spcPts val="0"/>
              </a:spcAft>
              <a:buSzPts val="1400"/>
              <a:buChar char="■"/>
            </a:pPr>
            <a:r>
              <a:rPr b="1" i="1" lang="en" sz="1400">
                <a:solidFill>
                  <a:srgbClr val="FF0000"/>
                </a:solidFill>
              </a:rPr>
              <a:t>Create</a:t>
            </a:r>
            <a:r>
              <a:rPr lang="en" sz="1400">
                <a:solidFill>
                  <a:srgbClr val="FF0000"/>
                </a:solidFill>
              </a:rPr>
              <a:t> </a:t>
            </a:r>
            <a:r>
              <a:rPr lang="en" sz="1400"/>
              <a:t>and </a:t>
            </a:r>
            <a:r>
              <a:rPr b="1" i="1" lang="en" sz="1400">
                <a:solidFill>
                  <a:srgbClr val="FF0000"/>
                </a:solidFill>
              </a:rPr>
              <a:t>start</a:t>
            </a:r>
            <a:r>
              <a:rPr lang="en" sz="1400">
                <a:solidFill>
                  <a:srgbClr val="FF0000"/>
                </a:solidFill>
              </a:rPr>
              <a:t> </a:t>
            </a:r>
            <a:r>
              <a:rPr lang="en" sz="1400"/>
              <a:t>a thread for that </a:t>
            </a:r>
            <a:r>
              <a:rPr lang="en" sz="1400">
                <a:latin typeface="Courier New"/>
                <a:ea typeface="Courier New"/>
                <a:cs typeface="Courier New"/>
                <a:sym typeface="Courier New"/>
              </a:rPr>
              <a:t>Goat</a:t>
            </a:r>
            <a:r>
              <a:rPr lang="en" sz="1400"/>
              <a:t>.</a:t>
            </a:r>
            <a:endParaRPr sz="1400"/>
          </a:p>
          <a:p>
            <a:pPr indent="-330200" lvl="0" marL="457200" rtl="0" algn="l">
              <a:spcBef>
                <a:spcPts val="0"/>
              </a:spcBef>
              <a:spcAft>
                <a:spcPts val="0"/>
              </a:spcAft>
              <a:buSzPts val="1600"/>
              <a:buChar char="●"/>
            </a:pPr>
            <a:r>
              <a:rPr b="1" i="1" lang="en" sz="1600">
                <a:solidFill>
                  <a:srgbClr val="FF0000"/>
                </a:solidFill>
              </a:rPr>
              <a:t>R</a:t>
            </a:r>
            <a:r>
              <a:rPr b="1" i="1" lang="en" sz="1600">
                <a:solidFill>
                  <a:srgbClr val="FF0000"/>
                </a:solidFill>
              </a:rPr>
              <a:t>un</a:t>
            </a:r>
            <a:r>
              <a:rPr lang="en" sz="1600">
                <a:solidFill>
                  <a:srgbClr val="FF0000"/>
                </a:solidFill>
              </a:rPr>
              <a:t> </a:t>
            </a:r>
            <a:r>
              <a:rPr lang="en" sz="1600"/>
              <a:t>your simulation.</a:t>
            </a:r>
            <a:endParaRPr sz="1600"/>
          </a:p>
          <a:p>
            <a:pPr indent="-317500" lvl="1" marL="914400" rtl="0" algn="l">
              <a:spcBef>
                <a:spcPts val="0"/>
              </a:spcBef>
              <a:spcAft>
                <a:spcPts val="0"/>
              </a:spcAft>
              <a:buSzPts val="1400"/>
              <a:buChar char="○"/>
            </a:pPr>
            <a:r>
              <a:rPr lang="en" sz="1400"/>
              <a:t>At this point you should just see the goats getting into line. By the time the loop finishes, how many goats are in line?</a:t>
            </a:r>
            <a:endParaRPr sz="1600"/>
          </a:p>
        </p:txBody>
      </p:sp>
      <p:sp>
        <p:nvSpPr>
          <p:cNvPr id="1075" name="Google Shape;1075;p8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11.19</a:t>
            </a:r>
            <a:endParaRPr u="sng"/>
          </a:p>
        </p:txBody>
      </p:sp>
      <p:grpSp>
        <p:nvGrpSpPr>
          <p:cNvPr id="1076" name="Google Shape;1076;p82"/>
          <p:cNvGrpSpPr/>
          <p:nvPr/>
        </p:nvGrpSpPr>
        <p:grpSpPr>
          <a:xfrm>
            <a:off x="124325" y="1774625"/>
            <a:ext cx="2934926" cy="2724400"/>
            <a:chOff x="276725" y="1469825"/>
            <a:chExt cx="2934926" cy="2724400"/>
          </a:xfrm>
        </p:grpSpPr>
        <p:sp>
          <p:nvSpPr>
            <p:cNvPr id="1077" name="Google Shape;1077;p82"/>
            <p:cNvSpPr/>
            <p:nvPr/>
          </p:nvSpPr>
          <p:spPr>
            <a:xfrm>
              <a:off x="276725" y="3193425"/>
              <a:ext cx="2934900" cy="10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8" name="Google Shape;1078;p82"/>
            <p:cNvPicPr preferRelativeResize="0"/>
            <p:nvPr/>
          </p:nvPicPr>
          <p:blipFill>
            <a:blip r:embed="rId3">
              <a:alphaModFix/>
            </a:blip>
            <a:stretch>
              <a:fillRect/>
            </a:stretch>
          </p:blipFill>
          <p:spPr>
            <a:xfrm>
              <a:off x="276850" y="1469825"/>
              <a:ext cx="2934801" cy="2346161"/>
            </a:xfrm>
            <a:prstGeom prst="rect">
              <a:avLst/>
            </a:prstGeom>
            <a:noFill/>
            <a:ln>
              <a:noFill/>
            </a:ln>
          </p:spPr>
        </p:pic>
      </p:grpSp>
      <p:grpSp>
        <p:nvGrpSpPr>
          <p:cNvPr id="1079" name="Google Shape;1079;p82"/>
          <p:cNvGrpSpPr/>
          <p:nvPr/>
        </p:nvGrpSpPr>
        <p:grpSpPr>
          <a:xfrm>
            <a:off x="243062" y="3146285"/>
            <a:ext cx="2770655" cy="1352672"/>
            <a:chOff x="149800" y="2065525"/>
            <a:chExt cx="3499185" cy="1708351"/>
          </a:xfrm>
        </p:grpSpPr>
        <p:pic>
          <p:nvPicPr>
            <p:cNvPr id="1080" name="Google Shape;1080;p82"/>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081" name="Google Shape;1081;p82"/>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082" name="Google Shape;1082;p82"/>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083" name="Google Shape;1083;p82"/>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084" name="Google Shape;1084;p82"/>
            <p:cNvPicPr preferRelativeResize="0"/>
            <p:nvPr/>
          </p:nvPicPr>
          <p:blipFill rotWithShape="1">
            <a:blip r:embed="rId5">
              <a:alphaModFix/>
            </a:blip>
            <a:srcRect b="0" l="20213" r="14708" t="0"/>
            <a:stretch/>
          </p:blipFill>
          <p:spPr>
            <a:xfrm>
              <a:off x="149800" y="2537025"/>
              <a:ext cx="1724676" cy="1236851"/>
            </a:xfrm>
            <a:prstGeom prst="rect">
              <a:avLst/>
            </a:prstGeom>
            <a:noFill/>
            <a:ln>
              <a:noFill/>
            </a:ln>
          </p:spPr>
        </p:pic>
        <p:pic>
          <p:nvPicPr>
            <p:cNvPr id="1085" name="Google Shape;1085;p82"/>
            <p:cNvPicPr preferRelativeResize="0"/>
            <p:nvPr/>
          </p:nvPicPr>
          <p:blipFill rotWithShape="1">
            <a:blip r:embed="rId5">
              <a:alphaModFix/>
            </a:blip>
            <a:srcRect b="0" l="20213" r="14708" t="0"/>
            <a:stretch/>
          </p:blipFill>
          <p:spPr>
            <a:xfrm>
              <a:off x="1673800" y="2537025"/>
              <a:ext cx="1724676" cy="1236851"/>
            </a:xfrm>
            <a:prstGeom prst="rect">
              <a:avLst/>
            </a:prstGeom>
            <a:noFill/>
            <a:ln>
              <a:noFill/>
            </a:ln>
          </p:spPr>
        </p:pic>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9" name="Shape 1089"/>
        <p:cNvGrpSpPr/>
        <p:nvPr/>
      </p:nvGrpSpPr>
      <p:grpSpPr>
        <a:xfrm>
          <a:off x="0" y="0"/>
          <a:ext cx="0" cy="0"/>
          <a:chOff x="0" y="0"/>
          <a:chExt cx="0" cy="0"/>
        </a:xfrm>
      </p:grpSpPr>
      <p:sp>
        <p:nvSpPr>
          <p:cNvPr id="1090" name="Google Shape;1090;p8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Calamity of Goats</a:t>
            </a:r>
            <a:endParaRPr/>
          </a:p>
        </p:txBody>
      </p:sp>
      <p:sp>
        <p:nvSpPr>
          <p:cNvPr id="1091" name="Google Shape;1091;p83"/>
          <p:cNvSpPr txBox="1"/>
          <p:nvPr>
            <p:ph idx="1" type="body"/>
          </p:nvPr>
        </p:nvSpPr>
        <p:spPr>
          <a:xfrm>
            <a:off x="65250" y="6554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Hundreds of goats are crashing into the line at the same time, and this potentially causes problems. We need to fix this.</a:t>
            </a:r>
            <a:endParaRPr/>
          </a:p>
        </p:txBody>
      </p:sp>
      <p:sp>
        <p:nvSpPr>
          <p:cNvPr id="1092" name="Google Shape;1092;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3" name="Google Shape;1093;p83"/>
          <p:cNvSpPr txBox="1"/>
          <p:nvPr>
            <p:ph idx="2" type="body"/>
          </p:nvPr>
        </p:nvSpPr>
        <p:spPr>
          <a:xfrm>
            <a:off x="3291750" y="1445925"/>
            <a:ext cx="5729400" cy="35133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Goat</a:t>
            </a:r>
            <a:r>
              <a:rPr lang="en" sz="1700">
                <a:solidFill>
                  <a:srgbClr val="FF0000"/>
                </a:solidFill>
              </a:rPr>
              <a:t> </a:t>
            </a:r>
            <a:r>
              <a:rPr lang="en" sz="1700"/>
              <a:t>class and navigate to the</a:t>
            </a:r>
            <a:r>
              <a:rPr lang="en" sz="1700">
                <a:solidFill>
                  <a:srgbClr val="FF0000"/>
                </a:solidFill>
              </a:rPr>
              <a:t> </a:t>
            </a:r>
            <a:r>
              <a:rPr lang="en" sz="1700">
                <a:solidFill>
                  <a:srgbClr val="FF0000"/>
                </a:solidFill>
                <a:latin typeface="Courier New"/>
                <a:ea typeface="Courier New"/>
                <a:cs typeface="Courier New"/>
                <a:sym typeface="Courier New"/>
              </a:rPr>
              <a:t>run()</a:t>
            </a:r>
            <a:r>
              <a:rPr lang="en" sz="1700"/>
              <a:t>method.</a:t>
            </a:r>
            <a:endParaRPr sz="1700"/>
          </a:p>
          <a:p>
            <a:pPr indent="-323850" lvl="1" marL="914400" rtl="0" algn="l">
              <a:spcBef>
                <a:spcPts val="0"/>
              </a:spcBef>
              <a:spcAft>
                <a:spcPts val="0"/>
              </a:spcAft>
              <a:buSzPts val="1500"/>
              <a:buChar char="○"/>
            </a:pPr>
            <a:r>
              <a:rPr lang="en" sz="1500"/>
              <a:t>Can you identify what the</a:t>
            </a:r>
            <a:r>
              <a:rPr lang="en" sz="1500">
                <a:solidFill>
                  <a:srgbClr val="FF0000"/>
                </a:solidFill>
              </a:rPr>
              <a:t> </a:t>
            </a:r>
            <a:r>
              <a:rPr b="1" i="1" lang="en" sz="1500">
                <a:solidFill>
                  <a:srgbClr val="FF0000"/>
                </a:solidFill>
              </a:rPr>
              <a:t>possible problem</a:t>
            </a:r>
            <a:r>
              <a:rPr b="1" i="1" lang="en" sz="1500"/>
              <a:t> </a:t>
            </a:r>
            <a:r>
              <a:rPr lang="en" sz="1500"/>
              <a:t>is?</a:t>
            </a:r>
            <a:endParaRPr sz="1500"/>
          </a:p>
          <a:p>
            <a:pPr indent="-323850" lvl="1" marL="914400" rtl="0" algn="l">
              <a:spcBef>
                <a:spcPts val="0"/>
              </a:spcBef>
              <a:spcAft>
                <a:spcPts val="0"/>
              </a:spcAft>
              <a:buSzPts val="1500"/>
              <a:buChar char="○"/>
            </a:pPr>
            <a:r>
              <a:rPr lang="en" sz="1500"/>
              <a:t>What do you call a block of code that is </a:t>
            </a:r>
            <a:r>
              <a:rPr b="1" i="1" lang="en" sz="1500">
                <a:solidFill>
                  <a:srgbClr val="FF0000"/>
                </a:solidFill>
              </a:rPr>
              <a:t>vulnerable </a:t>
            </a:r>
            <a:r>
              <a:rPr lang="en" sz="1500"/>
              <a:t>when executed by more than one thread at the same time?</a:t>
            </a:r>
            <a:endParaRPr sz="1500"/>
          </a:p>
          <a:p>
            <a:pPr indent="-323850" lvl="1" marL="914400" rtl="0" algn="l">
              <a:spcBef>
                <a:spcPts val="0"/>
              </a:spcBef>
              <a:spcAft>
                <a:spcPts val="0"/>
              </a:spcAft>
              <a:buSzPts val="1500"/>
              <a:buChar char="○"/>
            </a:pPr>
            <a:r>
              <a:rPr lang="en" sz="1500"/>
              <a:t>What do you call the </a:t>
            </a:r>
            <a:r>
              <a:rPr b="1" i="1" lang="en" sz="1500">
                <a:solidFill>
                  <a:srgbClr val="FF0000"/>
                </a:solidFill>
              </a:rPr>
              <a:t>error</a:t>
            </a:r>
            <a:r>
              <a:rPr lang="en" sz="1500">
                <a:solidFill>
                  <a:srgbClr val="FF0000"/>
                </a:solidFill>
              </a:rPr>
              <a:t> </a:t>
            </a:r>
            <a:r>
              <a:rPr lang="en" sz="1500"/>
              <a:t>that may occur if two threads </a:t>
            </a:r>
            <a:r>
              <a:rPr b="1" i="1" lang="en" sz="1500">
                <a:solidFill>
                  <a:srgbClr val="FF0000"/>
                </a:solidFill>
              </a:rPr>
              <a:t>do</a:t>
            </a:r>
            <a:r>
              <a:rPr lang="en" sz="1500">
                <a:solidFill>
                  <a:srgbClr val="FF0000"/>
                </a:solidFill>
              </a:rPr>
              <a:t> </a:t>
            </a:r>
            <a:r>
              <a:rPr lang="en" sz="1500"/>
              <a:t>execute such a block of code?</a:t>
            </a:r>
            <a:endParaRPr sz="1500"/>
          </a:p>
          <a:p>
            <a:pPr indent="-336550" lvl="0" marL="457200" rtl="0" algn="l">
              <a:spcBef>
                <a:spcPts val="0"/>
              </a:spcBef>
              <a:spcAft>
                <a:spcPts val="0"/>
              </a:spcAft>
              <a:buSzPts val="1700"/>
              <a:buChar char="●"/>
            </a:pPr>
            <a:r>
              <a:rPr b="1" i="1" lang="en" sz="1700">
                <a:solidFill>
                  <a:srgbClr val="FF0000"/>
                </a:solidFill>
              </a:rPr>
              <a:t>Modify </a:t>
            </a:r>
            <a:r>
              <a:rPr lang="en" sz="1700"/>
              <a:t>the </a:t>
            </a:r>
            <a:r>
              <a:rPr lang="en" sz="1700">
                <a:latin typeface="Courier New"/>
                <a:ea typeface="Courier New"/>
                <a:cs typeface="Courier New"/>
                <a:sym typeface="Courier New"/>
              </a:rPr>
              <a:t>run()</a:t>
            </a:r>
            <a:r>
              <a:rPr lang="en" sz="1700"/>
              <a:t> method to </a:t>
            </a:r>
            <a:r>
              <a:rPr b="1" i="1" lang="en" sz="1700">
                <a:solidFill>
                  <a:srgbClr val="FF0000"/>
                </a:solidFill>
              </a:rPr>
              <a:t>prevent </a:t>
            </a:r>
            <a:r>
              <a:rPr lang="en" sz="1700"/>
              <a:t>errors from occurring.</a:t>
            </a:r>
            <a:endParaRPr sz="1700"/>
          </a:p>
          <a:p>
            <a:pPr indent="-336550" lvl="0" marL="457200" rtl="0" algn="l">
              <a:spcBef>
                <a:spcPts val="0"/>
              </a:spcBef>
              <a:spcAft>
                <a:spcPts val="0"/>
              </a:spcAft>
              <a:buSzPts val="1700"/>
              <a:buChar char="●"/>
            </a:pPr>
            <a:r>
              <a:rPr b="1" i="1" lang="en" sz="1700">
                <a:solidFill>
                  <a:srgbClr val="FF0000"/>
                </a:solidFill>
              </a:rPr>
              <a:t>Compile</a:t>
            </a:r>
            <a:r>
              <a:rPr lang="en" sz="1700">
                <a:solidFill>
                  <a:srgbClr val="FF0000"/>
                </a:solidFill>
              </a:rPr>
              <a:t> </a:t>
            </a:r>
            <a:r>
              <a:rPr lang="en" sz="1700"/>
              <a:t>and </a:t>
            </a:r>
            <a:r>
              <a:rPr b="1" i="1" lang="en" sz="1700">
                <a:solidFill>
                  <a:srgbClr val="FF0000"/>
                </a:solidFill>
              </a:rPr>
              <a:t>run</a:t>
            </a:r>
            <a:r>
              <a:rPr lang="en" sz="1700">
                <a:solidFill>
                  <a:srgbClr val="FF0000"/>
                </a:solidFill>
              </a:rPr>
              <a:t> </a:t>
            </a:r>
            <a:r>
              <a:rPr lang="en" sz="1700"/>
              <a:t>your </a:t>
            </a:r>
            <a:r>
              <a:rPr lang="en" sz="1700">
                <a:latin typeface="Courier New"/>
                <a:ea typeface="Courier New"/>
                <a:cs typeface="Courier New"/>
                <a:sym typeface="Courier New"/>
              </a:rPr>
              <a:t>Main</a:t>
            </a:r>
            <a:r>
              <a:rPr lang="en" sz="1700"/>
              <a:t> program again.</a:t>
            </a:r>
            <a:endParaRPr sz="1700"/>
          </a:p>
          <a:p>
            <a:pPr indent="-323850" lvl="1" marL="914400" rtl="0" algn="l">
              <a:spcBef>
                <a:spcPts val="0"/>
              </a:spcBef>
              <a:spcAft>
                <a:spcPts val="0"/>
              </a:spcAft>
              <a:buSzPts val="1500"/>
              <a:buChar char="○"/>
            </a:pPr>
            <a:r>
              <a:rPr lang="en" sz="1500"/>
              <a:t>Do all of the goats now successfully get into line?</a:t>
            </a:r>
            <a:endParaRPr sz="1500"/>
          </a:p>
        </p:txBody>
      </p:sp>
      <p:sp>
        <p:nvSpPr>
          <p:cNvPr id="1094" name="Google Shape;1094;p8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11.20</a:t>
            </a:r>
            <a:endParaRPr u="sng"/>
          </a:p>
        </p:txBody>
      </p:sp>
      <p:grpSp>
        <p:nvGrpSpPr>
          <p:cNvPr id="1095" name="Google Shape;1095;p83"/>
          <p:cNvGrpSpPr/>
          <p:nvPr/>
        </p:nvGrpSpPr>
        <p:grpSpPr>
          <a:xfrm>
            <a:off x="276854" y="1455132"/>
            <a:ext cx="2934926" cy="2724400"/>
            <a:chOff x="276725" y="1469825"/>
            <a:chExt cx="2934926" cy="2724400"/>
          </a:xfrm>
        </p:grpSpPr>
        <p:grpSp>
          <p:nvGrpSpPr>
            <p:cNvPr id="1096" name="Google Shape;1096;p83"/>
            <p:cNvGrpSpPr/>
            <p:nvPr/>
          </p:nvGrpSpPr>
          <p:grpSpPr>
            <a:xfrm>
              <a:off x="276725" y="1469825"/>
              <a:ext cx="2934926" cy="2724400"/>
              <a:chOff x="276725" y="1469825"/>
              <a:chExt cx="2934926" cy="2724400"/>
            </a:xfrm>
          </p:grpSpPr>
          <p:sp>
            <p:nvSpPr>
              <p:cNvPr id="1097" name="Google Shape;1097;p83"/>
              <p:cNvSpPr/>
              <p:nvPr/>
            </p:nvSpPr>
            <p:spPr>
              <a:xfrm>
                <a:off x="276725" y="3193425"/>
                <a:ext cx="2934900" cy="10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8" name="Google Shape;1098;p83"/>
              <p:cNvPicPr preferRelativeResize="0"/>
              <p:nvPr/>
            </p:nvPicPr>
            <p:blipFill>
              <a:blip r:embed="rId3">
                <a:alphaModFix/>
              </a:blip>
              <a:stretch>
                <a:fillRect/>
              </a:stretch>
            </p:blipFill>
            <p:spPr>
              <a:xfrm>
                <a:off x="276850" y="1469825"/>
                <a:ext cx="2934801" cy="2346161"/>
              </a:xfrm>
              <a:prstGeom prst="rect">
                <a:avLst/>
              </a:prstGeom>
              <a:noFill/>
              <a:ln>
                <a:noFill/>
              </a:ln>
            </p:spPr>
          </p:pic>
        </p:grpSp>
        <p:pic>
          <p:nvPicPr>
            <p:cNvPr id="1099" name="Google Shape;1099;p83"/>
            <p:cNvPicPr preferRelativeResize="0"/>
            <p:nvPr/>
          </p:nvPicPr>
          <p:blipFill>
            <a:blip r:embed="rId4">
              <a:alphaModFix/>
            </a:blip>
            <a:stretch>
              <a:fillRect/>
            </a:stretch>
          </p:blipFill>
          <p:spPr>
            <a:xfrm flipH="1" rot="-1501581">
              <a:off x="881014" y="2351238"/>
              <a:ext cx="749805" cy="1079721"/>
            </a:xfrm>
            <a:prstGeom prst="rect">
              <a:avLst/>
            </a:prstGeom>
            <a:noFill/>
            <a:ln>
              <a:noFill/>
            </a:ln>
          </p:spPr>
        </p:pic>
        <p:pic>
          <p:nvPicPr>
            <p:cNvPr id="1100" name="Google Shape;1100;p83"/>
            <p:cNvPicPr preferRelativeResize="0"/>
            <p:nvPr/>
          </p:nvPicPr>
          <p:blipFill>
            <a:blip r:embed="rId4">
              <a:alphaModFix/>
            </a:blip>
            <a:stretch>
              <a:fillRect/>
            </a:stretch>
          </p:blipFill>
          <p:spPr>
            <a:xfrm flipH="1">
              <a:off x="973536" y="2803511"/>
              <a:ext cx="749804" cy="1079722"/>
            </a:xfrm>
            <a:prstGeom prst="rect">
              <a:avLst/>
            </a:prstGeom>
            <a:noFill/>
            <a:ln>
              <a:noFill/>
            </a:ln>
          </p:spPr>
        </p:pic>
        <p:pic>
          <p:nvPicPr>
            <p:cNvPr id="1101" name="Google Shape;1101;p83"/>
            <p:cNvPicPr preferRelativeResize="0"/>
            <p:nvPr/>
          </p:nvPicPr>
          <p:blipFill>
            <a:blip r:embed="rId4">
              <a:alphaModFix/>
            </a:blip>
            <a:stretch>
              <a:fillRect/>
            </a:stretch>
          </p:blipFill>
          <p:spPr>
            <a:xfrm flipH="1">
              <a:off x="1645362" y="2803511"/>
              <a:ext cx="749804" cy="1079722"/>
            </a:xfrm>
            <a:prstGeom prst="rect">
              <a:avLst/>
            </a:prstGeom>
            <a:noFill/>
            <a:ln>
              <a:noFill/>
            </a:ln>
          </p:spPr>
        </p:pic>
        <p:pic>
          <p:nvPicPr>
            <p:cNvPr id="1102" name="Google Shape;1102;p83"/>
            <p:cNvPicPr preferRelativeResize="0"/>
            <p:nvPr/>
          </p:nvPicPr>
          <p:blipFill>
            <a:blip r:embed="rId4">
              <a:alphaModFix/>
            </a:blip>
            <a:stretch>
              <a:fillRect/>
            </a:stretch>
          </p:blipFill>
          <p:spPr>
            <a:xfrm flipH="1">
              <a:off x="2320346" y="2803511"/>
              <a:ext cx="749804" cy="1079722"/>
            </a:xfrm>
            <a:prstGeom prst="rect">
              <a:avLst/>
            </a:prstGeom>
            <a:noFill/>
            <a:ln>
              <a:noFill/>
            </a:ln>
          </p:spPr>
        </p:pic>
        <p:pic>
          <p:nvPicPr>
            <p:cNvPr id="1103" name="Google Shape;1103;p83"/>
            <p:cNvPicPr preferRelativeResize="0"/>
            <p:nvPr/>
          </p:nvPicPr>
          <p:blipFill>
            <a:blip r:embed="rId4">
              <a:alphaModFix/>
            </a:blip>
            <a:stretch>
              <a:fillRect/>
            </a:stretch>
          </p:blipFill>
          <p:spPr>
            <a:xfrm flipH="1" rot="2089065">
              <a:off x="1585067" y="2421008"/>
              <a:ext cx="749807" cy="1079719"/>
            </a:xfrm>
            <a:prstGeom prst="rect">
              <a:avLst/>
            </a:prstGeom>
            <a:noFill/>
            <a:ln>
              <a:noFill/>
            </a:ln>
          </p:spPr>
        </p:pic>
        <p:pic>
          <p:nvPicPr>
            <p:cNvPr id="1104" name="Google Shape;1104;p83"/>
            <p:cNvPicPr preferRelativeResize="0"/>
            <p:nvPr/>
          </p:nvPicPr>
          <p:blipFill>
            <a:blip r:embed="rId4">
              <a:alphaModFix/>
            </a:blip>
            <a:stretch>
              <a:fillRect/>
            </a:stretch>
          </p:blipFill>
          <p:spPr>
            <a:xfrm flipH="1" rot="-1644063">
              <a:off x="538459" y="2803512"/>
              <a:ext cx="749806" cy="1079719"/>
            </a:xfrm>
            <a:prstGeom prst="rect">
              <a:avLst/>
            </a:prstGeom>
            <a:noFill/>
            <a:ln>
              <a:noFill/>
            </a:ln>
          </p:spPr>
        </p:pic>
        <p:pic>
          <p:nvPicPr>
            <p:cNvPr id="1105" name="Google Shape;1105;p83"/>
            <p:cNvPicPr preferRelativeResize="0"/>
            <p:nvPr/>
          </p:nvPicPr>
          <p:blipFill>
            <a:blip r:embed="rId4">
              <a:alphaModFix/>
            </a:blip>
            <a:stretch>
              <a:fillRect/>
            </a:stretch>
          </p:blipFill>
          <p:spPr>
            <a:xfrm flipH="1" rot="472178">
              <a:off x="1998221" y="2736827"/>
              <a:ext cx="749805" cy="1079721"/>
            </a:xfrm>
            <a:prstGeom prst="rect">
              <a:avLst/>
            </a:prstGeom>
            <a:noFill/>
            <a:ln>
              <a:noFill/>
            </a:ln>
          </p:spPr>
        </p:pic>
        <p:pic>
          <p:nvPicPr>
            <p:cNvPr id="1106" name="Google Shape;1106;p83"/>
            <p:cNvPicPr preferRelativeResize="0"/>
            <p:nvPr/>
          </p:nvPicPr>
          <p:blipFill rotWithShape="1">
            <a:blip r:embed="rId5">
              <a:alphaModFix/>
            </a:blip>
            <a:srcRect b="0" l="20213" r="14708" t="0"/>
            <a:stretch/>
          </p:blipFill>
          <p:spPr>
            <a:xfrm>
              <a:off x="302200" y="3176483"/>
              <a:ext cx="1364264" cy="978391"/>
            </a:xfrm>
            <a:prstGeom prst="rect">
              <a:avLst/>
            </a:prstGeom>
            <a:noFill/>
            <a:ln>
              <a:noFill/>
            </a:ln>
          </p:spPr>
        </p:pic>
        <p:pic>
          <p:nvPicPr>
            <p:cNvPr id="1107" name="Google Shape;1107;p83"/>
            <p:cNvPicPr preferRelativeResize="0"/>
            <p:nvPr/>
          </p:nvPicPr>
          <p:blipFill rotWithShape="1">
            <a:blip r:embed="rId5">
              <a:alphaModFix/>
            </a:blip>
            <a:srcRect b="0" l="20213" r="14708" t="0"/>
            <a:stretch/>
          </p:blipFill>
          <p:spPr>
            <a:xfrm>
              <a:off x="1507725" y="3176483"/>
              <a:ext cx="1364264" cy="978391"/>
            </a:xfrm>
            <a:prstGeom prst="rect">
              <a:avLst/>
            </a:prstGeom>
            <a:noFill/>
            <a:ln>
              <a:noFill/>
            </a:ln>
          </p:spPr>
        </p:pic>
      </p:grpSp>
      <p:sp>
        <p:nvSpPr>
          <p:cNvPr id="1108" name="Google Shape;1108;p83"/>
          <p:cNvSpPr txBox="1"/>
          <p:nvPr/>
        </p:nvSpPr>
        <p:spPr>
          <a:xfrm>
            <a:off x="276850" y="4236300"/>
            <a:ext cx="2934900" cy="77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Due to the nature of multi-threaded code, you </a:t>
            </a:r>
            <a:r>
              <a:rPr b="1" i="1" lang="en" sz="1100">
                <a:solidFill>
                  <a:srgbClr val="FF0000"/>
                </a:solidFill>
              </a:rPr>
              <a:t>may not</a:t>
            </a:r>
            <a:r>
              <a:rPr lang="en" sz="1100"/>
              <a:t> see this problem on your computer! You should still protect your code in case it is executed on another computer.</a:t>
            </a:r>
            <a:endParaRPr sz="11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2" name="Shape 1112"/>
        <p:cNvGrpSpPr/>
        <p:nvPr/>
      </p:nvGrpSpPr>
      <p:grpSpPr>
        <a:xfrm>
          <a:off x="0" y="0"/>
          <a:ext cx="0" cy="0"/>
          <a:chOff x="0" y="0"/>
          <a:chExt cx="0" cy="0"/>
        </a:xfrm>
      </p:grpSpPr>
      <p:sp>
        <p:nvSpPr>
          <p:cNvPr id="1113" name="Google Shape;1113;p8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Troll Bouncer</a:t>
            </a:r>
            <a:endParaRPr/>
          </a:p>
        </p:txBody>
      </p:sp>
      <p:sp>
        <p:nvSpPr>
          <p:cNvPr id="1114" name="Google Shape;1114;p8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Once the goats have managed to line up without crashing into each other and destroying the line, it's time for the Troll Bouncer to get to work! It's the troll's job to make sure that Club Chévre is at maximum occupancy at all times (until there are no Goats left in line). </a:t>
            </a:r>
            <a:endParaRPr/>
          </a:p>
        </p:txBody>
      </p:sp>
      <p:sp>
        <p:nvSpPr>
          <p:cNvPr id="1115" name="Google Shape;1115;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6" name="Google Shape;1116;p84"/>
          <p:cNvSpPr txBox="1"/>
          <p:nvPr>
            <p:ph idx="2" type="body"/>
          </p:nvPr>
        </p:nvSpPr>
        <p:spPr>
          <a:xfrm>
            <a:off x="3207125" y="1860725"/>
            <a:ext cx="5733900" cy="2956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TrollBouncer</a:t>
            </a:r>
            <a:r>
              <a:rPr lang="en"/>
              <a:t>" that meets the following requirements:</a:t>
            </a:r>
            <a:endParaRPr/>
          </a:p>
          <a:p>
            <a:pPr indent="-298450" lvl="1" marL="914400" rtl="0" algn="l">
              <a:spcBef>
                <a:spcPts val="0"/>
              </a:spcBef>
              <a:spcAft>
                <a:spcPts val="0"/>
              </a:spcAft>
              <a:buSzPts val="1100"/>
              <a:buChar char="○"/>
            </a:pPr>
            <a:r>
              <a:rPr lang="en"/>
              <a:t>It will need a reference to the </a:t>
            </a:r>
            <a:r>
              <a:rPr b="1" i="1" lang="en">
                <a:solidFill>
                  <a:srgbClr val="FF0000"/>
                </a:solidFill>
              </a:rPr>
              <a:t>same </a:t>
            </a:r>
            <a:r>
              <a:rPr lang="en">
                <a:solidFill>
                  <a:srgbClr val="FF0000"/>
                </a:solidFill>
                <a:latin typeface="Courier New"/>
                <a:ea typeface="Courier New"/>
                <a:cs typeface="Courier New"/>
                <a:sym typeface="Courier New"/>
              </a:rPr>
              <a:t>ClubChevre</a:t>
            </a:r>
            <a:r>
              <a:rPr lang="en"/>
              <a:t> shared by the goats.</a:t>
            </a:r>
            <a:endParaRPr/>
          </a:p>
          <a:p>
            <a:pPr indent="-298450" lvl="1" marL="914400" rtl="0" algn="l">
              <a:spcBef>
                <a:spcPts val="0"/>
              </a:spcBef>
              <a:spcAft>
                <a:spcPts val="0"/>
              </a:spcAft>
              <a:buSzPts val="1100"/>
              <a:buChar char="○"/>
            </a:pPr>
            <a:r>
              <a:rPr lang="en"/>
              <a:t>The </a:t>
            </a:r>
            <a:r>
              <a:rPr lang="en">
                <a:latin typeface="Courier New"/>
                <a:ea typeface="Courier New"/>
                <a:cs typeface="Courier New"/>
                <a:sym typeface="Courier New"/>
              </a:rPr>
              <a:t>TrollBouncer</a:t>
            </a:r>
            <a:r>
              <a:rPr lang="en"/>
              <a:t> should be a </a:t>
            </a:r>
            <a:r>
              <a:rPr b="1" i="1" lang="en">
                <a:solidFill>
                  <a:srgbClr val="FF0000"/>
                </a:solidFill>
              </a:rPr>
              <a:t>task</a:t>
            </a:r>
            <a:r>
              <a:rPr lang="en"/>
              <a:t>, and use its </a:t>
            </a:r>
            <a:r>
              <a:rPr lang="en">
                <a:solidFill>
                  <a:srgbClr val="FF0000"/>
                </a:solidFill>
                <a:latin typeface="Courier New"/>
                <a:ea typeface="Courier New"/>
                <a:cs typeface="Courier New"/>
                <a:sym typeface="Courier New"/>
              </a:rPr>
              <a:t>run()</a:t>
            </a:r>
            <a:r>
              <a:rPr lang="en">
                <a:solidFill>
                  <a:srgbClr val="FF0000"/>
                </a:solidFill>
              </a:rPr>
              <a:t> </a:t>
            </a:r>
            <a:r>
              <a:rPr lang="en"/>
              <a:t>method to do its best to ensure that the club remains at max capacity at all times.</a:t>
            </a:r>
            <a:endParaRPr/>
          </a:p>
          <a:p>
            <a:pPr indent="-298450" lvl="2" marL="1371600" rtl="0" algn="l">
              <a:spcBef>
                <a:spcPts val="0"/>
              </a:spcBef>
              <a:spcAft>
                <a:spcPts val="0"/>
              </a:spcAft>
              <a:buSzPts val="1100"/>
              <a:buChar char="■"/>
            </a:pPr>
            <a:r>
              <a:rPr lang="en"/>
              <a:t>Once the </a:t>
            </a:r>
            <a:r>
              <a:rPr lang="en">
                <a:latin typeface="Courier New"/>
                <a:ea typeface="Courier New"/>
                <a:cs typeface="Courier New"/>
                <a:sym typeface="Courier New"/>
              </a:rPr>
              <a:t>TrollBouncer</a:t>
            </a:r>
            <a:r>
              <a:rPr lang="en"/>
              <a:t> selects a </a:t>
            </a:r>
            <a:r>
              <a:rPr lang="en">
                <a:latin typeface="Courier New"/>
                <a:ea typeface="Courier New"/>
                <a:cs typeface="Courier New"/>
                <a:sym typeface="Courier New"/>
              </a:rPr>
              <a:t>Goat</a:t>
            </a:r>
            <a:r>
              <a:rPr lang="en"/>
              <a:t> from the line, he should </a:t>
            </a:r>
            <a:r>
              <a:rPr b="1" i="1" lang="en">
                <a:solidFill>
                  <a:srgbClr val="FF0000"/>
                </a:solidFill>
              </a:rPr>
              <a:t>escort </a:t>
            </a:r>
            <a:r>
              <a:rPr lang="en"/>
              <a:t>the </a:t>
            </a:r>
            <a:r>
              <a:rPr lang="en">
                <a:latin typeface="Courier New"/>
                <a:ea typeface="Courier New"/>
                <a:cs typeface="Courier New"/>
                <a:sym typeface="Courier New"/>
              </a:rPr>
              <a:t>Goat</a:t>
            </a:r>
            <a:r>
              <a:rPr lang="en"/>
              <a:t> to the dance floor.</a:t>
            </a:r>
            <a:endParaRPr/>
          </a:p>
          <a:p>
            <a:pPr indent="-298450" lvl="3" marL="1828800" rtl="0" algn="l">
              <a:spcBef>
                <a:spcPts val="0"/>
              </a:spcBef>
              <a:spcAft>
                <a:spcPts val="0"/>
              </a:spcAft>
              <a:buSzPts val="1100"/>
              <a:buChar char="●"/>
            </a:pPr>
            <a:r>
              <a:rPr b="1" i="1" lang="en">
                <a:solidFill>
                  <a:srgbClr val="FF0000"/>
                </a:solidFill>
              </a:rPr>
              <a:t>For now</a:t>
            </a:r>
            <a:r>
              <a:rPr lang="en"/>
              <a:t>, the </a:t>
            </a:r>
            <a:r>
              <a:rPr lang="en">
                <a:latin typeface="Courier New"/>
                <a:ea typeface="Courier New"/>
                <a:cs typeface="Courier New"/>
                <a:sym typeface="Courier New"/>
              </a:rPr>
              <a:t>TrollBouncer</a:t>
            </a:r>
            <a:r>
              <a:rPr lang="en"/>
              <a:t> will always pick the </a:t>
            </a:r>
            <a:r>
              <a:rPr b="1" i="1" lang="en">
                <a:solidFill>
                  <a:srgbClr val="FF0000"/>
                </a:solidFill>
              </a:rPr>
              <a:t>first</a:t>
            </a:r>
            <a:r>
              <a:rPr lang="en">
                <a:solidFill>
                  <a:srgbClr val="FF0000"/>
                </a:solidFill>
              </a:rPr>
              <a:t> </a:t>
            </a:r>
            <a:r>
              <a:rPr lang="en">
                <a:latin typeface="Courier New"/>
                <a:ea typeface="Courier New"/>
                <a:cs typeface="Courier New"/>
                <a:sym typeface="Courier New"/>
              </a:rPr>
              <a:t>Goat</a:t>
            </a:r>
            <a:r>
              <a:rPr lang="en"/>
              <a:t> in line.</a:t>
            </a:r>
            <a:endParaRPr/>
          </a:p>
          <a:p>
            <a:pPr indent="-298450" lvl="3" marL="1828800" rtl="0" algn="l">
              <a:spcBef>
                <a:spcPts val="0"/>
              </a:spcBef>
              <a:spcAft>
                <a:spcPts val="0"/>
              </a:spcAft>
              <a:buSzPts val="1100"/>
              <a:buChar char="●"/>
            </a:pPr>
            <a:r>
              <a:rPr lang="en"/>
              <a:t>How does the </a:t>
            </a:r>
            <a:r>
              <a:rPr lang="en">
                <a:latin typeface="Courier New"/>
                <a:ea typeface="Courier New"/>
                <a:cs typeface="Courier New"/>
                <a:sym typeface="Courier New"/>
              </a:rPr>
              <a:t>TrollBouncer</a:t>
            </a:r>
            <a:r>
              <a:rPr lang="en"/>
              <a:t> inform a </a:t>
            </a:r>
            <a:r>
              <a:rPr lang="en">
                <a:latin typeface="Courier New"/>
                <a:ea typeface="Courier New"/>
                <a:cs typeface="Courier New"/>
                <a:sym typeface="Courier New"/>
              </a:rPr>
              <a:t>Goat</a:t>
            </a:r>
            <a:r>
              <a:rPr lang="en"/>
              <a:t> that it is safely on the dance floor and can begin dancing?</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TrollBouncer</a:t>
            </a:r>
            <a:r>
              <a:rPr lang="en"/>
              <a:t> takes short naps whenever the club is full. He should wake up immediately whenever a </a:t>
            </a:r>
            <a:r>
              <a:rPr lang="en">
                <a:latin typeface="Courier New"/>
                <a:ea typeface="Courier New"/>
                <a:cs typeface="Courier New"/>
                <a:sym typeface="Courier New"/>
              </a:rPr>
              <a:t>Goat</a:t>
            </a:r>
            <a:r>
              <a:rPr lang="en"/>
              <a:t> leaves the club or joins the line so that he can take appropriate action.</a:t>
            </a:r>
            <a:endParaRPr/>
          </a:p>
        </p:txBody>
      </p:sp>
      <p:sp>
        <p:nvSpPr>
          <p:cNvPr id="1117" name="Google Shape;1117;p8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11.21</a:t>
            </a:r>
            <a:endParaRPr u="sng"/>
          </a:p>
        </p:txBody>
      </p:sp>
      <p:grpSp>
        <p:nvGrpSpPr>
          <p:cNvPr id="1118" name="Google Shape;1118;p84"/>
          <p:cNvGrpSpPr/>
          <p:nvPr/>
        </p:nvGrpSpPr>
        <p:grpSpPr>
          <a:xfrm>
            <a:off x="187750" y="1843175"/>
            <a:ext cx="2887675" cy="2206751"/>
            <a:chOff x="187756" y="1690834"/>
            <a:chExt cx="2795426" cy="2136255"/>
          </a:xfrm>
        </p:grpSpPr>
        <p:pic>
          <p:nvPicPr>
            <p:cNvPr id="1119" name="Google Shape;1119;p84"/>
            <p:cNvPicPr preferRelativeResize="0"/>
            <p:nvPr/>
          </p:nvPicPr>
          <p:blipFill rotWithShape="1">
            <a:blip r:embed="rId3">
              <a:alphaModFix/>
            </a:blip>
            <a:srcRect b="4407" l="0" r="0" t="0"/>
            <a:stretch/>
          </p:blipFill>
          <p:spPr>
            <a:xfrm>
              <a:off x="187756" y="1690834"/>
              <a:ext cx="2795426" cy="2136253"/>
            </a:xfrm>
            <a:prstGeom prst="rect">
              <a:avLst/>
            </a:prstGeom>
            <a:noFill/>
            <a:ln>
              <a:noFill/>
            </a:ln>
          </p:spPr>
        </p:pic>
        <p:pic>
          <p:nvPicPr>
            <p:cNvPr id="1120" name="Google Shape;1120;p84"/>
            <p:cNvPicPr preferRelativeResize="0"/>
            <p:nvPr/>
          </p:nvPicPr>
          <p:blipFill rotWithShape="1">
            <a:blip r:embed="rId4">
              <a:alphaModFix/>
            </a:blip>
            <a:srcRect b="0" l="0" r="26112" t="0"/>
            <a:stretch/>
          </p:blipFill>
          <p:spPr>
            <a:xfrm>
              <a:off x="1536788" y="2309978"/>
              <a:ext cx="1446393" cy="1517111"/>
            </a:xfrm>
            <a:prstGeom prst="rect">
              <a:avLst/>
            </a:prstGeom>
            <a:noFill/>
            <a:ln>
              <a:noFill/>
            </a:ln>
          </p:spPr>
        </p:pic>
        <p:grpSp>
          <p:nvGrpSpPr>
            <p:cNvPr id="1121" name="Google Shape;1121;p84"/>
            <p:cNvGrpSpPr/>
            <p:nvPr/>
          </p:nvGrpSpPr>
          <p:grpSpPr>
            <a:xfrm>
              <a:off x="586090" y="2287812"/>
              <a:ext cx="2226212" cy="1245060"/>
              <a:chOff x="5688409" y="872495"/>
              <a:chExt cx="2951753" cy="1650835"/>
            </a:xfrm>
          </p:grpSpPr>
          <p:pic>
            <p:nvPicPr>
              <p:cNvPr id="1122" name="Google Shape;1122;p84"/>
              <p:cNvPicPr preferRelativeResize="0"/>
              <p:nvPr/>
            </p:nvPicPr>
            <p:blipFill>
              <a:blip r:embed="rId5">
                <a:alphaModFix/>
              </a:blip>
              <a:stretch>
                <a:fillRect/>
              </a:stretch>
            </p:blipFill>
            <p:spPr>
              <a:xfrm flipH="1">
                <a:off x="7735922" y="872495"/>
                <a:ext cx="904240" cy="714300"/>
              </a:xfrm>
              <a:prstGeom prst="rect">
                <a:avLst/>
              </a:prstGeom>
              <a:noFill/>
              <a:ln>
                <a:noFill/>
              </a:ln>
            </p:spPr>
          </p:pic>
          <p:grpSp>
            <p:nvGrpSpPr>
              <p:cNvPr id="1123" name="Google Shape;1123;p84"/>
              <p:cNvGrpSpPr/>
              <p:nvPr/>
            </p:nvGrpSpPr>
            <p:grpSpPr>
              <a:xfrm>
                <a:off x="5688409" y="932011"/>
                <a:ext cx="1872894" cy="1591319"/>
                <a:chOff x="99126" y="2442482"/>
                <a:chExt cx="1567800" cy="1332094"/>
              </a:xfrm>
            </p:grpSpPr>
            <p:sp>
              <p:nvSpPr>
                <p:cNvPr id="1124" name="Google Shape;1124;p84"/>
                <p:cNvSpPr/>
                <p:nvPr/>
              </p:nvSpPr>
              <p:spPr>
                <a:xfrm>
                  <a:off x="311700" y="2468675"/>
                  <a:ext cx="1247400" cy="733500"/>
                </a:xfrm>
                <a:prstGeom prst="triangle">
                  <a:avLst>
                    <a:gd fmla="val 50000"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84"/>
                <p:cNvSpPr txBox="1"/>
                <p:nvPr/>
              </p:nvSpPr>
              <p:spPr>
                <a:xfrm rot="-762906">
                  <a:off x="152460" y="2974929"/>
                  <a:ext cx="1461132" cy="646793"/>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BEWARE of the Troll Bouncer</a:t>
                  </a:r>
                  <a:endParaRPr>
                    <a:solidFill>
                      <a:srgbClr val="FF0000"/>
                    </a:solidFill>
                    <a:latin typeface="Shadows Into Light"/>
                    <a:ea typeface="Shadows Into Light"/>
                    <a:cs typeface="Shadows Into Light"/>
                    <a:sym typeface="Shadows Into Light"/>
                  </a:endParaRPr>
                </a:p>
              </p:txBody>
            </p:sp>
            <p:sp>
              <p:nvSpPr>
                <p:cNvPr id="1126" name="Google Shape;1126;p84"/>
                <p:cNvSpPr/>
                <p:nvPr/>
              </p:nvSpPr>
              <p:spPr>
                <a:xfrm>
                  <a:off x="885532" y="2442482"/>
                  <a:ext cx="105300" cy="105300"/>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0" name="Shape 1130"/>
        <p:cNvGrpSpPr/>
        <p:nvPr/>
      </p:nvGrpSpPr>
      <p:grpSpPr>
        <a:xfrm>
          <a:off x="0" y="0"/>
          <a:ext cx="0" cy="0"/>
          <a:chOff x="0" y="0"/>
          <a:chExt cx="0" cy="0"/>
        </a:xfrm>
      </p:grpSpPr>
      <p:sp>
        <p:nvSpPr>
          <p:cNvPr id="1131" name="Google Shape;1131;p8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Trolls Gonna Troll</a:t>
            </a:r>
            <a:endParaRPr/>
          </a:p>
        </p:txBody>
      </p:sp>
      <p:sp>
        <p:nvSpPr>
          <p:cNvPr id="1132" name="Google Shape;1132;p85"/>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Once you are reasonably certain that your Troll Bouncer is ready to get to work, integrate the class into the main </a:t>
            </a:r>
            <a:r>
              <a:rPr lang="en"/>
              <a:t>Club Chévre program. </a:t>
            </a:r>
            <a:endParaRPr/>
          </a:p>
        </p:txBody>
      </p:sp>
      <p:sp>
        <p:nvSpPr>
          <p:cNvPr id="1133" name="Google Shape;1133;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4" name="Google Shape;1134;p85"/>
          <p:cNvSpPr txBox="1"/>
          <p:nvPr>
            <p:ph idx="2" type="body"/>
          </p:nvPr>
        </p:nvSpPr>
        <p:spPr>
          <a:xfrm>
            <a:off x="3328150" y="1550100"/>
            <a:ext cx="5620500" cy="26589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SzPts val="1900"/>
              <a:buChar char="●"/>
            </a:pPr>
            <a:r>
              <a:rPr lang="en" sz="1900"/>
              <a:t>Open the </a:t>
            </a:r>
            <a:r>
              <a:rPr lang="en" sz="1900">
                <a:solidFill>
                  <a:srgbClr val="FF0000"/>
                </a:solidFill>
                <a:latin typeface="Courier New"/>
                <a:ea typeface="Courier New"/>
                <a:cs typeface="Courier New"/>
                <a:sym typeface="Courier New"/>
              </a:rPr>
              <a:t>Main</a:t>
            </a:r>
            <a:r>
              <a:rPr lang="en" sz="1900">
                <a:solidFill>
                  <a:srgbClr val="FF0000"/>
                </a:solidFill>
              </a:rPr>
              <a:t> </a:t>
            </a:r>
            <a:r>
              <a:rPr lang="en" sz="1900"/>
              <a:t>class and update it to </a:t>
            </a:r>
            <a:r>
              <a:rPr b="1" i="1" lang="en" sz="1900">
                <a:solidFill>
                  <a:srgbClr val="FF0000"/>
                </a:solidFill>
              </a:rPr>
              <a:t>create </a:t>
            </a:r>
            <a:r>
              <a:rPr lang="en" sz="1900"/>
              <a:t>and </a:t>
            </a:r>
            <a:r>
              <a:rPr b="1" i="1" lang="en" sz="1900">
                <a:solidFill>
                  <a:srgbClr val="FF0000"/>
                </a:solidFill>
              </a:rPr>
              <a:t>start </a:t>
            </a:r>
            <a:r>
              <a:rPr lang="en" sz="1900"/>
              <a:t>a </a:t>
            </a:r>
            <a:r>
              <a:rPr lang="en" sz="1900">
                <a:latin typeface="Courier New"/>
                <a:ea typeface="Courier New"/>
                <a:cs typeface="Courier New"/>
                <a:sym typeface="Courier New"/>
              </a:rPr>
              <a:t>TrollBouncer</a:t>
            </a:r>
            <a:r>
              <a:rPr lang="en" sz="1900"/>
              <a:t> thread.</a:t>
            </a:r>
            <a:endParaRPr sz="1900"/>
          </a:p>
          <a:p>
            <a:pPr indent="-349250" lvl="0" marL="457200" rtl="0" algn="l">
              <a:spcBef>
                <a:spcPts val="0"/>
              </a:spcBef>
              <a:spcAft>
                <a:spcPts val="0"/>
              </a:spcAft>
              <a:buSzPts val="1900"/>
              <a:buChar char="●"/>
            </a:pPr>
            <a:r>
              <a:rPr b="1" i="1" lang="en" sz="1900">
                <a:solidFill>
                  <a:srgbClr val="FF0000"/>
                </a:solidFill>
              </a:rPr>
              <a:t>R</a:t>
            </a:r>
            <a:r>
              <a:rPr b="1" i="1" lang="en" sz="1900">
                <a:solidFill>
                  <a:srgbClr val="FF0000"/>
                </a:solidFill>
              </a:rPr>
              <a:t>un</a:t>
            </a:r>
            <a:r>
              <a:rPr lang="en" sz="1900">
                <a:solidFill>
                  <a:srgbClr val="FF0000"/>
                </a:solidFill>
              </a:rPr>
              <a:t> </a:t>
            </a:r>
            <a:r>
              <a:rPr lang="en" sz="1900"/>
              <a:t>your simulation.</a:t>
            </a:r>
            <a:endParaRPr sz="1900"/>
          </a:p>
          <a:p>
            <a:pPr indent="-336550" lvl="1" marL="914400" rtl="0" algn="l">
              <a:spcBef>
                <a:spcPts val="0"/>
              </a:spcBef>
              <a:spcAft>
                <a:spcPts val="0"/>
              </a:spcAft>
              <a:buSzPts val="1700"/>
              <a:buChar char="○"/>
            </a:pPr>
            <a:r>
              <a:rPr lang="en" sz="1700"/>
              <a:t>You </a:t>
            </a:r>
            <a:r>
              <a:rPr b="1" i="1" lang="en" sz="1700">
                <a:solidFill>
                  <a:srgbClr val="FF0000"/>
                </a:solidFill>
              </a:rPr>
              <a:t>should </a:t>
            </a:r>
            <a:r>
              <a:rPr lang="en" sz="1700"/>
              <a:t>see the </a:t>
            </a:r>
            <a:r>
              <a:rPr lang="en" sz="1700">
                <a:latin typeface="Courier New"/>
                <a:ea typeface="Courier New"/>
                <a:cs typeface="Courier New"/>
                <a:sym typeface="Courier New"/>
              </a:rPr>
              <a:t>TrollBouncer</a:t>
            </a:r>
            <a:r>
              <a:rPr lang="en" sz="1700"/>
              <a:t> </a:t>
            </a:r>
            <a:r>
              <a:rPr b="1" i="1" lang="en" sz="1700">
                <a:solidFill>
                  <a:srgbClr val="FF0000"/>
                </a:solidFill>
              </a:rPr>
              <a:t>selecting </a:t>
            </a:r>
            <a:r>
              <a:rPr lang="en" sz="1700"/>
              <a:t>goats from the line and </a:t>
            </a:r>
            <a:r>
              <a:rPr b="1" i="1" lang="en" sz="1700">
                <a:solidFill>
                  <a:srgbClr val="FF0000"/>
                </a:solidFill>
              </a:rPr>
              <a:t>escorting </a:t>
            </a:r>
            <a:r>
              <a:rPr lang="en" sz="1700"/>
              <a:t>them to the dance floor.</a:t>
            </a:r>
            <a:endParaRPr sz="1700"/>
          </a:p>
          <a:p>
            <a:pPr indent="-336550" lvl="1" marL="914400" rtl="0" algn="l">
              <a:spcBef>
                <a:spcPts val="0"/>
              </a:spcBef>
              <a:spcAft>
                <a:spcPts val="0"/>
              </a:spcAft>
              <a:buSzPts val="1700"/>
              <a:buChar char="○"/>
            </a:pPr>
            <a:r>
              <a:rPr lang="en" sz="1700"/>
              <a:t>What happens when the club </a:t>
            </a:r>
            <a:r>
              <a:rPr b="1" i="1" lang="en" sz="1700">
                <a:solidFill>
                  <a:srgbClr val="FF0000"/>
                </a:solidFill>
              </a:rPr>
              <a:t>fills up</a:t>
            </a:r>
            <a:r>
              <a:rPr lang="en" sz="1700"/>
              <a:t> with goats?</a:t>
            </a:r>
            <a:endParaRPr sz="1700"/>
          </a:p>
        </p:txBody>
      </p:sp>
      <p:sp>
        <p:nvSpPr>
          <p:cNvPr id="1135" name="Google Shape;1135;p8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11.22</a:t>
            </a:r>
            <a:endParaRPr u="sng"/>
          </a:p>
        </p:txBody>
      </p:sp>
      <p:grpSp>
        <p:nvGrpSpPr>
          <p:cNvPr id="1136" name="Google Shape;1136;p85"/>
          <p:cNvGrpSpPr/>
          <p:nvPr/>
        </p:nvGrpSpPr>
        <p:grpSpPr>
          <a:xfrm>
            <a:off x="276725" y="1609920"/>
            <a:ext cx="2934926" cy="2724400"/>
            <a:chOff x="276725" y="1469825"/>
            <a:chExt cx="2934926" cy="2724400"/>
          </a:xfrm>
        </p:grpSpPr>
        <p:sp>
          <p:nvSpPr>
            <p:cNvPr id="1137" name="Google Shape;1137;p85"/>
            <p:cNvSpPr/>
            <p:nvPr/>
          </p:nvSpPr>
          <p:spPr>
            <a:xfrm>
              <a:off x="276725" y="3193425"/>
              <a:ext cx="2934900" cy="10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8" name="Google Shape;1138;p85"/>
            <p:cNvPicPr preferRelativeResize="0"/>
            <p:nvPr/>
          </p:nvPicPr>
          <p:blipFill>
            <a:blip r:embed="rId3">
              <a:alphaModFix/>
            </a:blip>
            <a:stretch>
              <a:fillRect/>
            </a:stretch>
          </p:blipFill>
          <p:spPr>
            <a:xfrm>
              <a:off x="276850" y="1469825"/>
              <a:ext cx="2934801" cy="2346161"/>
            </a:xfrm>
            <a:prstGeom prst="rect">
              <a:avLst/>
            </a:prstGeom>
            <a:noFill/>
            <a:ln>
              <a:noFill/>
            </a:ln>
          </p:spPr>
        </p:pic>
      </p:grpSp>
      <p:grpSp>
        <p:nvGrpSpPr>
          <p:cNvPr id="1139" name="Google Shape;1139;p85"/>
          <p:cNvGrpSpPr/>
          <p:nvPr/>
        </p:nvGrpSpPr>
        <p:grpSpPr>
          <a:xfrm>
            <a:off x="395462" y="2981580"/>
            <a:ext cx="2770655" cy="1352672"/>
            <a:chOff x="149800" y="2065525"/>
            <a:chExt cx="3499185" cy="1708351"/>
          </a:xfrm>
        </p:grpSpPr>
        <p:pic>
          <p:nvPicPr>
            <p:cNvPr id="1140" name="Google Shape;1140;p85"/>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141" name="Google Shape;1141;p85"/>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142" name="Google Shape;1142;p85"/>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143" name="Google Shape;1143;p85"/>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144" name="Google Shape;1144;p85"/>
            <p:cNvPicPr preferRelativeResize="0"/>
            <p:nvPr/>
          </p:nvPicPr>
          <p:blipFill rotWithShape="1">
            <a:blip r:embed="rId5">
              <a:alphaModFix/>
            </a:blip>
            <a:srcRect b="0" l="20213" r="14708" t="0"/>
            <a:stretch/>
          </p:blipFill>
          <p:spPr>
            <a:xfrm>
              <a:off x="149800" y="2537025"/>
              <a:ext cx="1724676" cy="1236851"/>
            </a:xfrm>
            <a:prstGeom prst="rect">
              <a:avLst/>
            </a:prstGeom>
            <a:noFill/>
            <a:ln>
              <a:noFill/>
            </a:ln>
          </p:spPr>
        </p:pic>
        <p:pic>
          <p:nvPicPr>
            <p:cNvPr id="1145" name="Google Shape;1145;p85"/>
            <p:cNvPicPr preferRelativeResize="0"/>
            <p:nvPr/>
          </p:nvPicPr>
          <p:blipFill rotWithShape="1">
            <a:blip r:embed="rId5">
              <a:alphaModFix/>
            </a:blip>
            <a:srcRect b="0" l="20213" r="14708" t="0"/>
            <a:stretch/>
          </p:blipFill>
          <p:spPr>
            <a:xfrm>
              <a:off x="1673800" y="2537025"/>
              <a:ext cx="1724676" cy="1236851"/>
            </a:xfrm>
            <a:prstGeom prst="rect">
              <a:avLst/>
            </a:prstGeom>
            <a:noFill/>
            <a:ln>
              <a:noFill/>
            </a:ln>
          </p:spPr>
        </p:pic>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9" name="Shape 1149"/>
        <p:cNvGrpSpPr/>
        <p:nvPr/>
      </p:nvGrpSpPr>
      <p:grpSpPr>
        <a:xfrm>
          <a:off x="0" y="0"/>
          <a:ext cx="0" cy="0"/>
          <a:chOff x="0" y="0"/>
          <a:chExt cx="0" cy="0"/>
        </a:xfrm>
      </p:grpSpPr>
      <p:sp>
        <p:nvSpPr>
          <p:cNvPr id="1150" name="Google Shape;1150;p8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Ain't no Party...</a:t>
            </a:r>
            <a:endParaRPr/>
          </a:p>
        </p:txBody>
      </p:sp>
      <p:sp>
        <p:nvSpPr>
          <p:cNvPr id="1151" name="Google Shape;1151;p8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party hasn't started until the goats start dancing. Exhausted goats should also exit the club to make room for those that are waiting in line. </a:t>
            </a:r>
            <a:endParaRPr/>
          </a:p>
        </p:txBody>
      </p:sp>
      <p:sp>
        <p:nvSpPr>
          <p:cNvPr id="1152" name="Google Shape;1152;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3" name="Google Shape;1153;p86"/>
          <p:cNvSpPr txBox="1"/>
          <p:nvPr>
            <p:ph idx="2" type="body"/>
          </p:nvPr>
        </p:nvSpPr>
        <p:spPr>
          <a:xfrm>
            <a:off x="3660425" y="1496750"/>
            <a:ext cx="5144100" cy="34470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solidFill>
                  <a:srgbClr val="FF0000"/>
                </a:solidFill>
                <a:latin typeface="Courier New"/>
                <a:ea typeface="Courier New"/>
                <a:cs typeface="Courier New"/>
                <a:sym typeface="Courier New"/>
              </a:rPr>
              <a:t>Goat</a:t>
            </a:r>
            <a:r>
              <a:rPr lang="en" sz="1500">
                <a:solidFill>
                  <a:srgbClr val="FF0000"/>
                </a:solidFill>
              </a:rPr>
              <a:t> </a:t>
            </a:r>
            <a:r>
              <a:rPr lang="en" sz="1500"/>
              <a:t>class and navigate to the </a:t>
            </a:r>
            <a:r>
              <a:rPr lang="en" sz="1500">
                <a:solidFill>
                  <a:srgbClr val="FF0000"/>
                </a:solidFill>
                <a:latin typeface="Courier New"/>
                <a:ea typeface="Courier New"/>
                <a:cs typeface="Courier New"/>
                <a:sym typeface="Courier New"/>
              </a:rPr>
              <a:t>run()</a:t>
            </a:r>
            <a:r>
              <a:rPr lang="en" sz="1500"/>
              <a:t> method to make the following improvements:</a:t>
            </a:r>
            <a:endParaRPr sz="1500"/>
          </a:p>
          <a:p>
            <a:pPr indent="-311150" lvl="1" marL="914400" rtl="0" algn="l">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a:t>
            </a:r>
            <a:r>
              <a:rPr b="1" i="1" lang="en" sz="1300">
                <a:solidFill>
                  <a:srgbClr val="FF0000"/>
                </a:solidFill>
              </a:rPr>
              <a:t>start dancing</a:t>
            </a:r>
            <a:r>
              <a:rPr lang="en" sz="1300">
                <a:solidFill>
                  <a:srgbClr val="FF0000"/>
                </a:solidFill>
              </a:rPr>
              <a:t> </a:t>
            </a:r>
            <a:r>
              <a:rPr lang="en" sz="1300"/>
              <a:t>once it is on the dance floor.</a:t>
            </a:r>
            <a:endParaRPr sz="1300"/>
          </a:p>
          <a:p>
            <a:pPr indent="-311150" lvl="2" marL="1371600" rtl="0" algn="l">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dance for a number of </a:t>
            </a:r>
            <a:r>
              <a:rPr b="1" i="1" lang="en" sz="1300">
                <a:solidFill>
                  <a:srgbClr val="FF0000"/>
                </a:solidFill>
              </a:rPr>
              <a:t>seconds</a:t>
            </a:r>
            <a:r>
              <a:rPr lang="en" sz="1300">
                <a:solidFill>
                  <a:srgbClr val="FF0000"/>
                </a:solidFill>
              </a:rPr>
              <a:t> </a:t>
            </a:r>
            <a:r>
              <a:rPr lang="en" sz="1300"/>
              <a:t>equal to the </a:t>
            </a:r>
            <a:r>
              <a:rPr lang="en" sz="1300">
                <a:solidFill>
                  <a:srgbClr val="FF0000"/>
                </a:solidFill>
                <a:latin typeface="Courier New"/>
                <a:ea typeface="Courier New"/>
                <a:cs typeface="Courier New"/>
                <a:sym typeface="Courier New"/>
              </a:rPr>
              <a:t>Goat</a:t>
            </a:r>
            <a:r>
              <a:rPr b="1" i="1" lang="en" sz="1300">
                <a:solidFill>
                  <a:srgbClr val="FF0000"/>
                </a:solidFill>
              </a:rPr>
              <a:t>'s</a:t>
            </a:r>
            <a:r>
              <a:rPr lang="en" sz="1300">
                <a:solidFill>
                  <a:srgbClr val="FF0000"/>
                </a:solidFill>
              </a:rPr>
              <a:t> </a:t>
            </a:r>
            <a:r>
              <a:rPr lang="en" sz="1300">
                <a:solidFill>
                  <a:srgbClr val="FF0000"/>
                </a:solidFill>
                <a:latin typeface="Courier New"/>
                <a:ea typeface="Courier New"/>
                <a:cs typeface="Courier New"/>
                <a:sym typeface="Courier New"/>
              </a:rPr>
              <a:t>stamina</a:t>
            </a:r>
            <a:r>
              <a:rPr lang="en" sz="1300"/>
              <a:t>. </a:t>
            </a:r>
            <a:endParaRPr sz="1300"/>
          </a:p>
          <a:p>
            <a:pPr indent="-311150" lvl="2" marL="1371600" rtl="0" algn="l">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a:t>
            </a:r>
            <a:r>
              <a:rPr b="1" i="1" lang="en" sz="1300">
                <a:solidFill>
                  <a:srgbClr val="FF0000"/>
                </a:solidFill>
              </a:rPr>
              <a:t>print</a:t>
            </a:r>
            <a:r>
              <a:rPr lang="en" sz="1300">
                <a:solidFill>
                  <a:srgbClr val="FF0000"/>
                </a:solidFill>
              </a:rPr>
              <a:t> </a:t>
            </a:r>
            <a:r>
              <a:rPr lang="en" sz="1300"/>
              <a:t>a message </a:t>
            </a:r>
            <a:r>
              <a:rPr b="1" i="1" lang="en" sz="1300">
                <a:solidFill>
                  <a:srgbClr val="FF0000"/>
                </a:solidFill>
              </a:rPr>
              <a:t>once per second</a:t>
            </a:r>
            <a:r>
              <a:rPr lang="en" sz="1300">
                <a:solidFill>
                  <a:srgbClr val="FF0000"/>
                </a:solidFill>
              </a:rPr>
              <a:t> </a:t>
            </a:r>
            <a:r>
              <a:rPr lang="en" sz="1300"/>
              <a:t>indicating that it is dancing.</a:t>
            </a:r>
            <a:endParaRPr sz="1300"/>
          </a:p>
          <a:p>
            <a:pPr indent="-311150" lvl="1" marL="914400" rtl="0" algn="l">
              <a:spcBef>
                <a:spcPts val="0"/>
              </a:spcBef>
              <a:spcAft>
                <a:spcPts val="0"/>
              </a:spcAft>
              <a:buSzPts val="1300"/>
              <a:buChar char="○"/>
            </a:pPr>
            <a:r>
              <a:rPr lang="en" sz="1300"/>
              <a:t>Once the </a:t>
            </a:r>
            <a:r>
              <a:rPr lang="en" sz="1300">
                <a:latin typeface="Courier New"/>
                <a:ea typeface="Courier New"/>
                <a:cs typeface="Courier New"/>
                <a:sym typeface="Courier New"/>
              </a:rPr>
              <a:t>Goat</a:t>
            </a:r>
            <a:r>
              <a:rPr lang="en" sz="1300"/>
              <a:t> runs out of stamina, it should </a:t>
            </a:r>
            <a:r>
              <a:rPr b="1" i="1" lang="en" sz="1300">
                <a:solidFill>
                  <a:srgbClr val="FF0000"/>
                </a:solidFill>
              </a:rPr>
              <a:t>leave </a:t>
            </a:r>
            <a:r>
              <a:rPr lang="en" sz="1300"/>
              <a:t>the dance floor and head home.</a:t>
            </a:r>
            <a:endParaRPr sz="1300"/>
          </a:p>
          <a:p>
            <a:pPr indent="-311150" lvl="2" marL="1371600" rtl="0" algn="l">
              <a:spcBef>
                <a:spcPts val="0"/>
              </a:spcBef>
              <a:spcAft>
                <a:spcPts val="0"/>
              </a:spcAft>
              <a:buSzPts val="1300"/>
              <a:buChar char="■"/>
            </a:pPr>
            <a:r>
              <a:rPr lang="en" sz="1300"/>
              <a:t>More than one </a:t>
            </a:r>
            <a:r>
              <a:rPr lang="en" sz="1300">
                <a:latin typeface="Courier New"/>
                <a:ea typeface="Courier New"/>
                <a:cs typeface="Courier New"/>
                <a:sym typeface="Courier New"/>
              </a:rPr>
              <a:t>Goat</a:t>
            </a:r>
            <a:r>
              <a:rPr lang="en" sz="1300"/>
              <a:t> may try to leave at the same time! Make sure that they do it </a:t>
            </a:r>
            <a:r>
              <a:rPr b="1" i="1" lang="en" sz="1300">
                <a:solidFill>
                  <a:srgbClr val="FF0000"/>
                </a:solidFill>
              </a:rPr>
              <a:t>safely</a:t>
            </a:r>
            <a:r>
              <a:rPr lang="en" sz="1300"/>
              <a:t>!</a:t>
            </a:r>
            <a:endParaRPr sz="1300"/>
          </a:p>
          <a:p>
            <a:pPr indent="-311150" lvl="1" marL="914400" rtl="0" algn="l">
              <a:spcBef>
                <a:spcPts val="0"/>
              </a:spcBef>
              <a:spcAft>
                <a:spcPts val="0"/>
              </a:spcAft>
              <a:buSzPts val="1300"/>
              <a:buChar char="○"/>
            </a:pPr>
            <a:r>
              <a:rPr lang="en" sz="1300"/>
              <a:t>Every time a </a:t>
            </a:r>
            <a:r>
              <a:rPr lang="en" sz="1300">
                <a:latin typeface="Courier New"/>
                <a:ea typeface="Courier New"/>
                <a:cs typeface="Courier New"/>
                <a:sym typeface="Courier New"/>
              </a:rPr>
              <a:t>Goat</a:t>
            </a:r>
            <a:r>
              <a:rPr lang="en" sz="1300"/>
              <a:t> leaves, the </a:t>
            </a:r>
            <a:r>
              <a:rPr lang="en" sz="1300">
                <a:latin typeface="Courier New"/>
                <a:ea typeface="Courier New"/>
                <a:cs typeface="Courier New"/>
                <a:sym typeface="Courier New"/>
              </a:rPr>
              <a:t>TrollBouncer</a:t>
            </a:r>
            <a:r>
              <a:rPr lang="en" sz="1300"/>
              <a:t> should</a:t>
            </a:r>
            <a:r>
              <a:rPr b="1" i="1" lang="en" sz="1300">
                <a:solidFill>
                  <a:srgbClr val="FF0000"/>
                </a:solidFill>
              </a:rPr>
              <a:t> wake up</a:t>
            </a:r>
            <a:r>
              <a:rPr lang="en" sz="1300"/>
              <a:t> to escort the next </a:t>
            </a:r>
            <a:r>
              <a:rPr lang="en" sz="1300">
                <a:latin typeface="Courier New"/>
                <a:ea typeface="Courier New"/>
                <a:cs typeface="Courier New"/>
                <a:sym typeface="Courier New"/>
              </a:rPr>
              <a:t>Goat</a:t>
            </a:r>
            <a:r>
              <a:rPr lang="en" sz="1300"/>
              <a:t> into the club.</a:t>
            </a:r>
            <a:endParaRPr sz="1300"/>
          </a:p>
        </p:txBody>
      </p:sp>
      <p:sp>
        <p:nvSpPr>
          <p:cNvPr id="1154" name="Google Shape;1154;p8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11.23</a:t>
            </a:r>
            <a:endParaRPr u="sng"/>
          </a:p>
        </p:txBody>
      </p:sp>
      <p:grpSp>
        <p:nvGrpSpPr>
          <p:cNvPr id="1155" name="Google Shape;1155;p86"/>
          <p:cNvGrpSpPr/>
          <p:nvPr/>
        </p:nvGrpSpPr>
        <p:grpSpPr>
          <a:xfrm>
            <a:off x="210375" y="1683350"/>
            <a:ext cx="3423625" cy="2570825"/>
            <a:chOff x="134175" y="1465925"/>
            <a:chExt cx="3423625" cy="2570825"/>
          </a:xfrm>
        </p:grpSpPr>
        <p:pic>
          <p:nvPicPr>
            <p:cNvPr id="1156" name="Google Shape;1156;p86"/>
            <p:cNvPicPr preferRelativeResize="0"/>
            <p:nvPr/>
          </p:nvPicPr>
          <p:blipFill>
            <a:blip r:embed="rId3">
              <a:alphaModFix/>
            </a:blip>
            <a:stretch>
              <a:fillRect/>
            </a:stretch>
          </p:blipFill>
          <p:spPr>
            <a:xfrm>
              <a:off x="134175" y="1465925"/>
              <a:ext cx="3423625" cy="2570825"/>
            </a:xfrm>
            <a:prstGeom prst="rect">
              <a:avLst/>
            </a:prstGeom>
            <a:noFill/>
            <a:ln cap="flat" cmpd="sng" w="19050">
              <a:solidFill>
                <a:srgbClr val="000000"/>
              </a:solidFill>
              <a:prstDash val="solid"/>
              <a:round/>
              <a:headEnd len="sm" w="sm" type="none"/>
              <a:tailEnd len="sm" w="sm" type="none"/>
            </a:ln>
          </p:spPr>
        </p:pic>
        <p:pic>
          <p:nvPicPr>
            <p:cNvPr id="1157" name="Google Shape;1157;p86"/>
            <p:cNvPicPr preferRelativeResize="0"/>
            <p:nvPr/>
          </p:nvPicPr>
          <p:blipFill rotWithShape="1">
            <a:blip r:embed="rId4">
              <a:alphaModFix/>
            </a:blip>
            <a:srcRect b="0" l="0" r="0" t="32116"/>
            <a:stretch/>
          </p:blipFill>
          <p:spPr>
            <a:xfrm>
              <a:off x="2417075" y="2532975"/>
              <a:ext cx="657175" cy="642425"/>
            </a:xfrm>
            <a:prstGeom prst="rect">
              <a:avLst/>
            </a:prstGeom>
            <a:noFill/>
            <a:ln>
              <a:noFill/>
            </a:ln>
          </p:spPr>
        </p:pic>
        <p:pic>
          <p:nvPicPr>
            <p:cNvPr id="1158" name="Google Shape;1158;p86"/>
            <p:cNvPicPr preferRelativeResize="0"/>
            <p:nvPr/>
          </p:nvPicPr>
          <p:blipFill rotWithShape="1">
            <a:blip r:embed="rId4">
              <a:alphaModFix/>
            </a:blip>
            <a:srcRect b="0" l="0" r="0" t="32116"/>
            <a:stretch/>
          </p:blipFill>
          <p:spPr>
            <a:xfrm>
              <a:off x="1077725" y="2279900"/>
              <a:ext cx="657175" cy="642425"/>
            </a:xfrm>
            <a:prstGeom prst="rect">
              <a:avLst/>
            </a:prstGeom>
            <a:noFill/>
            <a:ln>
              <a:noFill/>
            </a:ln>
          </p:spPr>
        </p:pic>
        <p:pic>
          <p:nvPicPr>
            <p:cNvPr id="1159" name="Google Shape;1159;p86"/>
            <p:cNvPicPr preferRelativeResize="0"/>
            <p:nvPr/>
          </p:nvPicPr>
          <p:blipFill rotWithShape="1">
            <a:blip r:embed="rId4">
              <a:alphaModFix/>
            </a:blip>
            <a:srcRect b="0" l="0" r="0" t="32116"/>
            <a:stretch/>
          </p:blipFill>
          <p:spPr>
            <a:xfrm flipH="1">
              <a:off x="1768925" y="2432300"/>
              <a:ext cx="657175" cy="642425"/>
            </a:xfrm>
            <a:prstGeom prst="rect">
              <a:avLst/>
            </a:prstGeom>
            <a:noFill/>
            <a:ln>
              <a:noFill/>
            </a:ln>
          </p:spPr>
        </p:pic>
        <p:pic>
          <p:nvPicPr>
            <p:cNvPr id="1160" name="Google Shape;1160;p86"/>
            <p:cNvPicPr preferRelativeResize="0"/>
            <p:nvPr/>
          </p:nvPicPr>
          <p:blipFill rotWithShape="1">
            <a:blip r:embed="rId4">
              <a:alphaModFix/>
            </a:blip>
            <a:srcRect b="0" l="0" r="0" t="32116"/>
            <a:stretch/>
          </p:blipFill>
          <p:spPr>
            <a:xfrm>
              <a:off x="2455275" y="2985300"/>
              <a:ext cx="657175" cy="642425"/>
            </a:xfrm>
            <a:prstGeom prst="rect">
              <a:avLst/>
            </a:prstGeom>
            <a:noFill/>
            <a:ln>
              <a:noFill/>
            </a:ln>
          </p:spPr>
        </p:pic>
        <p:pic>
          <p:nvPicPr>
            <p:cNvPr id="1161" name="Google Shape;1161;p86"/>
            <p:cNvPicPr preferRelativeResize="0"/>
            <p:nvPr/>
          </p:nvPicPr>
          <p:blipFill rotWithShape="1">
            <a:blip r:embed="rId4">
              <a:alphaModFix/>
            </a:blip>
            <a:srcRect b="0" l="0" r="0" t="32116"/>
            <a:stretch/>
          </p:blipFill>
          <p:spPr>
            <a:xfrm flipH="1">
              <a:off x="558050" y="2562475"/>
              <a:ext cx="657175" cy="642425"/>
            </a:xfrm>
            <a:prstGeom prst="rect">
              <a:avLst/>
            </a:prstGeom>
            <a:noFill/>
            <a:ln>
              <a:noFill/>
            </a:ln>
          </p:spPr>
        </p:pic>
        <p:pic>
          <p:nvPicPr>
            <p:cNvPr id="1162" name="Google Shape;1162;p86"/>
            <p:cNvPicPr preferRelativeResize="0"/>
            <p:nvPr/>
          </p:nvPicPr>
          <p:blipFill rotWithShape="1">
            <a:blip r:embed="rId4">
              <a:alphaModFix/>
            </a:blip>
            <a:srcRect b="0" l="0" r="0" t="32116"/>
            <a:stretch/>
          </p:blipFill>
          <p:spPr>
            <a:xfrm>
              <a:off x="785750" y="2985300"/>
              <a:ext cx="657175" cy="642425"/>
            </a:xfrm>
            <a:prstGeom prst="rect">
              <a:avLst/>
            </a:prstGeom>
            <a:noFill/>
            <a:ln>
              <a:noFill/>
            </a:ln>
          </p:spPr>
        </p:pic>
        <p:pic>
          <p:nvPicPr>
            <p:cNvPr id="1163" name="Google Shape;1163;p86"/>
            <p:cNvPicPr preferRelativeResize="0"/>
            <p:nvPr/>
          </p:nvPicPr>
          <p:blipFill rotWithShape="1">
            <a:blip r:embed="rId4">
              <a:alphaModFix/>
            </a:blip>
            <a:srcRect b="0" l="0" r="0" t="32116"/>
            <a:stretch/>
          </p:blipFill>
          <p:spPr>
            <a:xfrm flipH="1">
              <a:off x="1605600" y="3074725"/>
              <a:ext cx="657175" cy="642425"/>
            </a:xfrm>
            <a:prstGeom prst="rect">
              <a:avLst/>
            </a:prstGeom>
            <a:noFill/>
            <a:ln>
              <a:noFill/>
            </a:ln>
          </p:spPr>
        </p:pic>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7" name="Shape 1167"/>
        <p:cNvGrpSpPr/>
        <p:nvPr/>
      </p:nvGrpSpPr>
      <p:grpSpPr>
        <a:xfrm>
          <a:off x="0" y="0"/>
          <a:ext cx="0" cy="0"/>
          <a:chOff x="0" y="0"/>
          <a:chExt cx="0" cy="0"/>
        </a:xfrm>
      </p:grpSpPr>
      <p:sp>
        <p:nvSpPr>
          <p:cNvPr id="1168" name="Google Shape;1168;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9" name="Google Shape;1169;p8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11.24</a:t>
            </a:r>
            <a:endParaRPr u="sng"/>
          </a:p>
        </p:txBody>
      </p:sp>
      <p:grpSp>
        <p:nvGrpSpPr>
          <p:cNvPr id="1170" name="Google Shape;1170;p87"/>
          <p:cNvGrpSpPr/>
          <p:nvPr/>
        </p:nvGrpSpPr>
        <p:grpSpPr>
          <a:xfrm>
            <a:off x="134175" y="1542125"/>
            <a:ext cx="3423625" cy="2570825"/>
            <a:chOff x="134175" y="1465925"/>
            <a:chExt cx="3423625" cy="2570825"/>
          </a:xfrm>
        </p:grpSpPr>
        <p:pic>
          <p:nvPicPr>
            <p:cNvPr id="1171" name="Google Shape;1171;p87"/>
            <p:cNvPicPr preferRelativeResize="0"/>
            <p:nvPr/>
          </p:nvPicPr>
          <p:blipFill>
            <a:blip r:embed="rId3">
              <a:alphaModFix/>
            </a:blip>
            <a:stretch>
              <a:fillRect/>
            </a:stretch>
          </p:blipFill>
          <p:spPr>
            <a:xfrm>
              <a:off x="134175" y="1465925"/>
              <a:ext cx="3423625" cy="2570825"/>
            </a:xfrm>
            <a:prstGeom prst="rect">
              <a:avLst/>
            </a:prstGeom>
            <a:noFill/>
            <a:ln cap="flat" cmpd="sng" w="19050">
              <a:solidFill>
                <a:srgbClr val="000000"/>
              </a:solidFill>
              <a:prstDash val="solid"/>
              <a:round/>
              <a:headEnd len="sm" w="sm" type="none"/>
              <a:tailEnd len="sm" w="sm" type="none"/>
            </a:ln>
          </p:spPr>
        </p:pic>
        <p:pic>
          <p:nvPicPr>
            <p:cNvPr id="1172" name="Google Shape;1172;p87"/>
            <p:cNvPicPr preferRelativeResize="0"/>
            <p:nvPr/>
          </p:nvPicPr>
          <p:blipFill rotWithShape="1">
            <a:blip r:embed="rId4">
              <a:alphaModFix/>
            </a:blip>
            <a:srcRect b="0" l="0" r="0" t="32116"/>
            <a:stretch/>
          </p:blipFill>
          <p:spPr>
            <a:xfrm>
              <a:off x="2417075" y="2532975"/>
              <a:ext cx="657175" cy="642425"/>
            </a:xfrm>
            <a:prstGeom prst="rect">
              <a:avLst/>
            </a:prstGeom>
            <a:noFill/>
            <a:ln>
              <a:noFill/>
            </a:ln>
          </p:spPr>
        </p:pic>
        <p:pic>
          <p:nvPicPr>
            <p:cNvPr id="1173" name="Google Shape;1173;p87"/>
            <p:cNvPicPr preferRelativeResize="0"/>
            <p:nvPr/>
          </p:nvPicPr>
          <p:blipFill rotWithShape="1">
            <a:blip r:embed="rId4">
              <a:alphaModFix/>
            </a:blip>
            <a:srcRect b="0" l="0" r="0" t="32116"/>
            <a:stretch/>
          </p:blipFill>
          <p:spPr>
            <a:xfrm>
              <a:off x="1077725" y="2279900"/>
              <a:ext cx="657175" cy="642425"/>
            </a:xfrm>
            <a:prstGeom prst="rect">
              <a:avLst/>
            </a:prstGeom>
            <a:noFill/>
            <a:ln>
              <a:noFill/>
            </a:ln>
          </p:spPr>
        </p:pic>
        <p:pic>
          <p:nvPicPr>
            <p:cNvPr id="1174" name="Google Shape;1174;p87"/>
            <p:cNvPicPr preferRelativeResize="0"/>
            <p:nvPr/>
          </p:nvPicPr>
          <p:blipFill rotWithShape="1">
            <a:blip r:embed="rId4">
              <a:alphaModFix/>
            </a:blip>
            <a:srcRect b="0" l="0" r="0" t="32116"/>
            <a:stretch/>
          </p:blipFill>
          <p:spPr>
            <a:xfrm flipH="1">
              <a:off x="1768925" y="2432300"/>
              <a:ext cx="657175" cy="642425"/>
            </a:xfrm>
            <a:prstGeom prst="rect">
              <a:avLst/>
            </a:prstGeom>
            <a:noFill/>
            <a:ln>
              <a:noFill/>
            </a:ln>
          </p:spPr>
        </p:pic>
        <p:pic>
          <p:nvPicPr>
            <p:cNvPr id="1175" name="Google Shape;1175;p87"/>
            <p:cNvPicPr preferRelativeResize="0"/>
            <p:nvPr/>
          </p:nvPicPr>
          <p:blipFill rotWithShape="1">
            <a:blip r:embed="rId4">
              <a:alphaModFix/>
            </a:blip>
            <a:srcRect b="0" l="0" r="0" t="32116"/>
            <a:stretch/>
          </p:blipFill>
          <p:spPr>
            <a:xfrm>
              <a:off x="2455275" y="2985300"/>
              <a:ext cx="657175" cy="642425"/>
            </a:xfrm>
            <a:prstGeom prst="rect">
              <a:avLst/>
            </a:prstGeom>
            <a:noFill/>
            <a:ln>
              <a:noFill/>
            </a:ln>
          </p:spPr>
        </p:pic>
        <p:pic>
          <p:nvPicPr>
            <p:cNvPr id="1176" name="Google Shape;1176;p87"/>
            <p:cNvPicPr preferRelativeResize="0"/>
            <p:nvPr/>
          </p:nvPicPr>
          <p:blipFill rotWithShape="1">
            <a:blip r:embed="rId4">
              <a:alphaModFix/>
            </a:blip>
            <a:srcRect b="0" l="0" r="0" t="32116"/>
            <a:stretch/>
          </p:blipFill>
          <p:spPr>
            <a:xfrm flipH="1">
              <a:off x="558050" y="2562475"/>
              <a:ext cx="657175" cy="642425"/>
            </a:xfrm>
            <a:prstGeom prst="rect">
              <a:avLst/>
            </a:prstGeom>
            <a:noFill/>
            <a:ln>
              <a:noFill/>
            </a:ln>
          </p:spPr>
        </p:pic>
        <p:pic>
          <p:nvPicPr>
            <p:cNvPr id="1177" name="Google Shape;1177;p87"/>
            <p:cNvPicPr preferRelativeResize="0"/>
            <p:nvPr/>
          </p:nvPicPr>
          <p:blipFill rotWithShape="1">
            <a:blip r:embed="rId4">
              <a:alphaModFix/>
            </a:blip>
            <a:srcRect b="0" l="0" r="0" t="32116"/>
            <a:stretch/>
          </p:blipFill>
          <p:spPr>
            <a:xfrm>
              <a:off x="785750" y="2985300"/>
              <a:ext cx="657175" cy="642425"/>
            </a:xfrm>
            <a:prstGeom prst="rect">
              <a:avLst/>
            </a:prstGeom>
            <a:noFill/>
            <a:ln>
              <a:noFill/>
            </a:ln>
          </p:spPr>
        </p:pic>
        <p:pic>
          <p:nvPicPr>
            <p:cNvPr id="1178" name="Google Shape;1178;p87"/>
            <p:cNvPicPr preferRelativeResize="0"/>
            <p:nvPr/>
          </p:nvPicPr>
          <p:blipFill rotWithShape="1">
            <a:blip r:embed="rId4">
              <a:alphaModFix/>
            </a:blip>
            <a:srcRect b="0" l="0" r="0" t="32116"/>
            <a:stretch/>
          </p:blipFill>
          <p:spPr>
            <a:xfrm flipH="1">
              <a:off x="1605600" y="3074725"/>
              <a:ext cx="657175" cy="642425"/>
            </a:xfrm>
            <a:prstGeom prst="rect">
              <a:avLst/>
            </a:prstGeom>
            <a:noFill/>
            <a:ln>
              <a:noFill/>
            </a:ln>
          </p:spPr>
        </p:pic>
      </p:grpSp>
      <p:sp>
        <p:nvSpPr>
          <p:cNvPr id="1179" name="Google Shape;1179;p8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3000"/>
              <a:t>Be Excellent to Each Other</a:t>
            </a:r>
            <a:endParaRPr sz="3000"/>
          </a:p>
        </p:txBody>
      </p:sp>
      <p:sp>
        <p:nvSpPr>
          <p:cNvPr id="1180" name="Google Shape;1180;p87"/>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Construction on </a:t>
            </a:r>
            <a:r>
              <a:rPr lang="en"/>
              <a:t>Club Chévre isn't over yet! There is lots of room for improvement. Let's get to work.</a:t>
            </a:r>
            <a:endParaRPr/>
          </a:p>
        </p:txBody>
      </p:sp>
      <p:sp>
        <p:nvSpPr>
          <p:cNvPr id="1181" name="Google Shape;1181;p87"/>
          <p:cNvSpPr txBox="1"/>
          <p:nvPr>
            <p:ph idx="2" type="body"/>
          </p:nvPr>
        </p:nvSpPr>
        <p:spPr>
          <a:xfrm>
            <a:off x="3645825" y="1389725"/>
            <a:ext cx="5234400" cy="31815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Make the following enhancements to the simulation:</a:t>
            </a:r>
            <a:endParaRPr sz="1500"/>
          </a:p>
          <a:p>
            <a:pPr indent="-311150" lvl="1" marL="914400" rtl="0" algn="l">
              <a:spcBef>
                <a:spcPts val="0"/>
              </a:spcBef>
              <a:spcAft>
                <a:spcPts val="0"/>
              </a:spcAft>
              <a:buSzPts val="1300"/>
              <a:buChar char="○"/>
            </a:pPr>
            <a:r>
              <a:rPr lang="en" sz="1300"/>
              <a:t>Print each different kind of message in its own color (check out the </a:t>
            </a:r>
            <a:r>
              <a:rPr lang="en" sz="1300">
                <a:latin typeface="Courier New"/>
                <a:ea typeface="Courier New"/>
                <a:cs typeface="Courier New"/>
                <a:sym typeface="Courier New"/>
              </a:rPr>
              <a:t>TextColor</a:t>
            </a:r>
            <a:r>
              <a:rPr lang="en" sz="1300"/>
              <a:t> enumeration for help).</a:t>
            </a:r>
            <a:endParaRPr sz="1300"/>
          </a:p>
          <a:p>
            <a:pPr indent="-311150" lvl="1" marL="914400" rtl="0" algn="l">
              <a:spcBef>
                <a:spcPts val="0"/>
              </a:spcBef>
              <a:spcAft>
                <a:spcPts val="0"/>
              </a:spcAft>
              <a:buSzPts val="1300"/>
              <a:buChar char="○"/>
            </a:pPr>
            <a:r>
              <a:rPr lang="en" sz="1300"/>
              <a:t>The </a:t>
            </a:r>
            <a:r>
              <a:rPr lang="en" sz="1300">
                <a:latin typeface="Courier New"/>
                <a:ea typeface="Courier New"/>
                <a:cs typeface="Courier New"/>
                <a:sym typeface="Courier New"/>
              </a:rPr>
              <a:t>TrollBouncer</a:t>
            </a:r>
            <a:r>
              <a:rPr lang="en" sz="1300"/>
              <a:t> should only pick the best </a:t>
            </a:r>
            <a:r>
              <a:rPr lang="en" sz="1300">
                <a:latin typeface="Courier New"/>
                <a:ea typeface="Courier New"/>
                <a:cs typeface="Courier New"/>
                <a:sym typeface="Courier New"/>
              </a:rPr>
              <a:t>Goat</a:t>
            </a:r>
            <a:r>
              <a:rPr lang="en" sz="1300"/>
              <a:t> each time using the following simple formula:</a:t>
            </a:r>
            <a:endParaRPr sz="1300"/>
          </a:p>
          <a:p>
            <a:pPr indent="-311150" lvl="2" marL="1371600" rtl="0" algn="l">
              <a:spcBef>
                <a:spcPts val="0"/>
              </a:spcBef>
              <a:spcAft>
                <a:spcPts val="0"/>
              </a:spcAft>
              <a:buSzPts val="1300"/>
              <a:buFont typeface="Courier New"/>
              <a:buChar char="■"/>
            </a:pPr>
            <a:r>
              <a:rPr lang="en" sz="1300">
                <a:latin typeface="Courier New"/>
                <a:ea typeface="Courier New"/>
                <a:cs typeface="Courier New"/>
                <a:sym typeface="Courier New"/>
              </a:rPr>
              <a:t>length / (positionInLine + 1) * coolness</a:t>
            </a:r>
            <a:endParaRPr sz="1300">
              <a:latin typeface="Courier New"/>
              <a:ea typeface="Courier New"/>
              <a:cs typeface="Courier New"/>
              <a:sym typeface="Courier New"/>
            </a:endParaRPr>
          </a:p>
          <a:p>
            <a:pPr indent="-311150" lvl="1" marL="914400" rtl="0" algn="l">
              <a:spcBef>
                <a:spcPts val="0"/>
              </a:spcBef>
              <a:spcAft>
                <a:spcPts val="0"/>
              </a:spcAft>
              <a:buSzPts val="1300"/>
              <a:buChar char="○"/>
            </a:pPr>
            <a:r>
              <a:rPr lang="en" sz="1300"/>
              <a:t>Exhausted goats have a 50% chance of deciding to go to the bar instead of heading home. If they rest a number of seconds equal to their stamina, they will be able to head back to the dance floor!</a:t>
            </a:r>
            <a:endParaRPr sz="1300"/>
          </a:p>
          <a:p>
            <a:pPr indent="-311150" lvl="1" marL="914400" rtl="0" algn="l">
              <a:spcBef>
                <a:spcPts val="0"/>
              </a:spcBef>
              <a:spcAft>
                <a:spcPts val="0"/>
              </a:spcAft>
              <a:buSzPts val="1300"/>
              <a:buChar char="○"/>
            </a:pPr>
            <a:r>
              <a:rPr lang="en" sz="1300"/>
              <a:t>The main thread should wait until the simulation is finished before printing a goodbye message.</a:t>
            </a:r>
            <a:endParaRPr sz="1300"/>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