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06" r:id="rId1"/>
    <p:sldMasterId id="2147483707" r:id="rId2"/>
    <p:sldMasterId id="2147483708" r:id="rId3"/>
    <p:sldMasterId id="2147483709" r:id="rId4"/>
  </p:sldMasterIdLst>
  <p:notesMasterIdLst>
    <p:notesMasterId r:id="rId7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Lst>
  <p:sldSz cx="9144000" cy="5143500" type="screen16x9"/>
  <p:notesSz cx="6858000" cy="9144000"/>
  <p:embeddedFontLst>
    <p:embeddedFont>
      <p:font typeface="Consolas" panose="020B0609020204030204" pitchFamily="49" charset="0"/>
      <p:regular r:id="rId79"/>
      <p:bold r:id="rId80"/>
      <p:italic r:id="rId81"/>
      <p:boldItalic r:id="rId82"/>
    </p:embeddedFont>
    <p:embeddedFont>
      <p:font typeface="Lato" panose="020F0502020204030203" pitchFamily="34" charset="0"/>
      <p:regular r:id="rId83"/>
      <p:bold r:id="rId84"/>
      <p:italic r:id="rId85"/>
      <p:boldItalic r:id="rId86"/>
    </p:embeddedFont>
    <p:embeddedFont>
      <p:font typeface="Merriweather" panose="00000500000000000000" pitchFamily="2" charset="0"/>
      <p:regular r:id="rId87"/>
      <p:bold r:id="rId88"/>
      <p:italic r:id="rId89"/>
      <p:boldItalic r:id="rId90"/>
    </p:embeddedFont>
    <p:embeddedFont>
      <p:font typeface="Roboto" panose="02000000000000000000" pitchFamily="2" charset="0"/>
      <p:regular r:id="rId91"/>
      <p:bold r:id="rId92"/>
      <p:italic r:id="rId93"/>
      <p:boldItalic r:id="rId94"/>
    </p:embeddedFont>
    <p:embeddedFont>
      <p:font typeface="Shadows Into Light" panose="020B0604020202020204" charset="0"/>
      <p:regular r:id="rId9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F442979-C056-43AA-83C6-67E564C60A4D}">
  <a:tblStyle styleId="{7F442979-C056-43AA-83C6-67E564C60A4D}"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BB7116F7-C15E-4CF7-A1A4-3F0B48A09751}"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5697" autoAdjust="0"/>
  </p:normalViewPr>
  <p:slideViewPr>
    <p:cSldViewPr snapToGrid="0">
      <p:cViewPr varScale="1">
        <p:scale>
          <a:sx n="116" d="100"/>
          <a:sy n="116" d="100"/>
        </p:scale>
        <p:origin x="114"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6.fntdata"/><Relationship Id="rId89" Type="http://schemas.openxmlformats.org/officeDocument/2006/relationships/font" Target="fonts/font11.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1.fntdata"/><Relationship Id="rId5" Type="http://schemas.openxmlformats.org/officeDocument/2006/relationships/slide" Target="slides/slide1.xml"/><Relationship Id="rId90" Type="http://schemas.openxmlformats.org/officeDocument/2006/relationships/font" Target="fonts/font12.fntdata"/><Relationship Id="rId95" Type="http://schemas.openxmlformats.org/officeDocument/2006/relationships/font" Target="fonts/font17.fntdata"/><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2.fntdata"/><Relationship Id="rId85" Type="http://schemas.openxmlformats.org/officeDocument/2006/relationships/font" Target="fonts/font7.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font" Target="fonts/font13.fntdata"/><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notesMaster" Target="notesMasters/notesMaster1.xml"/><Relationship Id="rId81" Type="http://schemas.openxmlformats.org/officeDocument/2006/relationships/font" Target="fonts/font3.fntdata"/><Relationship Id="rId86" Type="http://schemas.openxmlformats.org/officeDocument/2006/relationships/font" Target="fonts/font8.fntdata"/><Relationship Id="rId94" Type="http://schemas.openxmlformats.org/officeDocument/2006/relationships/font" Target="fonts/font16.fntdata"/><Relationship Id="rId9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4.fntdata"/><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9.fntdata"/><Relationship Id="rId61" Type="http://schemas.openxmlformats.org/officeDocument/2006/relationships/slide" Target="slides/slide57.xml"/><Relationship Id="rId82" Type="http://schemas.openxmlformats.org/officeDocument/2006/relationships/font" Target="fonts/font4.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5.fntdata"/><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1d361f69cb2_1_1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1d361f69cb2_1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1fcac5a0e77_0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fcac5a0e77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Example Car, Donut</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4" name="Google Shape;38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dirty="0"/>
              <a:t>In that screenshot, </a:t>
            </a:r>
            <a:r>
              <a:rPr lang="en-US" b="1" dirty="0"/>
              <a:t>Hit Points (HP)</a:t>
            </a:r>
            <a:r>
              <a:rPr lang="en-US" dirty="0"/>
              <a:t> represent a character’s </a:t>
            </a:r>
            <a:r>
              <a:rPr lang="en-US" b="1" dirty="0"/>
              <a:t>health</a:t>
            </a:r>
            <a:r>
              <a:rPr lang="en-US" dirty="0"/>
              <a:t> — how much damage they can take before being defeated.</a:t>
            </a:r>
          </a:p>
          <a:p>
            <a:r>
              <a:rPr lang="en-US" dirty="0"/>
              <a:t>From the table shown:</a:t>
            </a:r>
          </a:p>
          <a:p>
            <a:r>
              <a:rPr lang="en-US" b="1" dirty="0"/>
              <a:t>Mage:</a:t>
            </a:r>
            <a:r>
              <a:rPr lang="en-US" dirty="0"/>
              <a:t> </a:t>
            </a:r>
            <a:r>
              <a:rPr lang="en-US" b="1" dirty="0"/>
              <a:t>120 HP</a:t>
            </a:r>
            <a:endParaRPr lang="en-US" dirty="0"/>
          </a:p>
          <a:p>
            <a:r>
              <a:rPr lang="en-US" b="1" dirty="0"/>
              <a:t>Fighter:</a:t>
            </a:r>
            <a:r>
              <a:rPr lang="en-US" dirty="0"/>
              <a:t> </a:t>
            </a:r>
            <a:r>
              <a:rPr lang="en-US" b="1" dirty="0"/>
              <a:t>150 HP</a:t>
            </a:r>
            <a:endParaRPr lang="en-US" dirty="0"/>
          </a:p>
          <a:p>
            <a:r>
              <a:rPr lang="en-US" b="1" dirty="0"/>
              <a:t>What that means</a:t>
            </a:r>
          </a:p>
          <a:p>
            <a:r>
              <a:rPr lang="en-US" dirty="0"/>
              <a:t>Every time a goat takes damage, that damage is </a:t>
            </a:r>
            <a:r>
              <a:rPr lang="en-US" b="1" dirty="0"/>
              <a:t>subtracted from its Hit Points</a:t>
            </a:r>
            <a:r>
              <a:rPr lang="en-US" dirty="0"/>
              <a:t>.</a:t>
            </a:r>
          </a:p>
          <a:p>
            <a:r>
              <a:rPr lang="en-US" dirty="0"/>
              <a:t>When a character’s HP reaches </a:t>
            </a:r>
            <a:r>
              <a:rPr lang="en-US" b="1" dirty="0"/>
              <a:t>0</a:t>
            </a:r>
            <a:r>
              <a:rPr lang="en-US" dirty="0"/>
              <a:t>, that character is </a:t>
            </a:r>
            <a:r>
              <a:rPr lang="en-US" b="1" dirty="0"/>
              <a:t>defeated / knocked out</a:t>
            </a:r>
            <a:r>
              <a:rPr lang="en-US" dirty="0"/>
              <a:t>.</a:t>
            </a:r>
          </a:p>
          <a:p>
            <a:r>
              <a:rPr lang="en-US" dirty="0"/>
              <a:t>The Fighter has more HP because it’s a frontline, physical-damage class, while the Mage is weaker defensively but stronger with magic.</a:t>
            </a:r>
          </a:p>
          <a:p>
            <a:r>
              <a:rPr lang="en-US" dirty="0"/>
              <a:t>So in short:</a:t>
            </a:r>
            <a:br>
              <a:rPr lang="en-US" dirty="0"/>
            </a:br>
            <a:r>
              <a:rPr lang="en-US" dirty="0"/>
              <a:t>👉 </a:t>
            </a:r>
            <a:r>
              <a:rPr lang="en-US" b="1" dirty="0"/>
              <a:t>Hit Points = total health / survivability of the character</a:t>
            </a:r>
            <a:r>
              <a:rPr lang="en-US" dirty="0"/>
              <a:t>, and in this problem those values are </a:t>
            </a:r>
            <a:r>
              <a:rPr lang="en-US" b="1" dirty="0"/>
              <a:t>120 (Mage)</a:t>
            </a:r>
            <a:r>
              <a:rPr lang="en-US" dirty="0"/>
              <a:t> and </a:t>
            </a:r>
            <a:r>
              <a:rPr lang="en-US" b="1" dirty="0"/>
              <a:t>150 (Fighter)</a:t>
            </a:r>
            <a:r>
              <a:rPr lang="en-US" dirty="0"/>
              <a:t>.</a:t>
            </a:r>
          </a:p>
          <a:p>
            <a:pPr marL="158750" indent="0">
              <a:buNone/>
            </a:pPr>
            <a:endParaRPr lang="en-US" b="0" dirty="0"/>
          </a:p>
          <a:p>
            <a:pPr marL="158750" indent="0">
              <a:buNone/>
            </a:pPr>
            <a:r>
              <a:rPr lang="en-US" b="1" dirty="0"/>
              <a:t>Mage – Attack Point Explained</a:t>
            </a:r>
          </a:p>
          <a:p>
            <a:r>
              <a:rPr lang="en-US" b="1" dirty="0"/>
              <a:t>Attack:</a:t>
            </a:r>
            <a:endParaRPr lang="en-US" dirty="0"/>
          </a:p>
          <a:p>
            <a:r>
              <a:rPr lang="en-US" b="1" dirty="0"/>
              <a:t>Magic Missile – 9 (Magic Damage), hits 4 times</a:t>
            </a:r>
            <a:endParaRPr lang="en-US" dirty="0"/>
          </a:p>
          <a:p>
            <a:r>
              <a:rPr lang="en-US" b="1" dirty="0"/>
              <a:t>Meaning:</a:t>
            </a:r>
            <a:endParaRPr lang="en-US" dirty="0"/>
          </a:p>
          <a:p>
            <a:r>
              <a:rPr lang="en-US" dirty="0"/>
              <a:t>Each Magic Missile hit does </a:t>
            </a:r>
            <a:r>
              <a:rPr lang="en-US" b="1" dirty="0"/>
              <a:t>9 magic damage</a:t>
            </a:r>
            <a:endParaRPr lang="en-US" dirty="0"/>
          </a:p>
          <a:p>
            <a:r>
              <a:rPr lang="en-US" dirty="0"/>
              <a:t>The attack </a:t>
            </a:r>
            <a:r>
              <a:rPr lang="en-US" b="1" dirty="0"/>
              <a:t>hits 4 times</a:t>
            </a:r>
            <a:endParaRPr lang="en-US" dirty="0"/>
          </a:p>
          <a:p>
            <a:r>
              <a:rPr lang="en-US" dirty="0"/>
              <a:t>Total potential damage per attack:</a:t>
            </a:r>
          </a:p>
          <a:p>
            <a:pPr rtl="0"/>
            <a:r>
              <a:rPr lang="en-US" sz="1100" b="0" i="0" u="none" strike="noStrike" cap="none" dirty="0">
                <a:solidFill>
                  <a:srgbClr val="000000"/>
                </a:solidFill>
                <a:latin typeface="Arial"/>
                <a:ea typeface="Arial"/>
                <a:cs typeface="Arial"/>
                <a:sym typeface="Arial"/>
              </a:rPr>
              <a:t>9 × 4 = 36 magic damage</a:t>
            </a:r>
          </a:p>
          <a:p>
            <a:pPr marL="0" lvl="0" indent="0" algn="l" rtl="0">
              <a:lnSpc>
                <a:spcPct val="100000"/>
              </a:lnSpc>
              <a:spcBef>
                <a:spcPts val="0"/>
              </a:spcBef>
              <a:spcAft>
                <a:spcPts val="0"/>
              </a:spcAft>
              <a:buSzPts val="1100"/>
              <a:buNone/>
            </a:pPr>
            <a:endParaRPr lang="en-US" dirty="0"/>
          </a:p>
          <a:p>
            <a:pPr marL="158750" indent="0">
              <a:buNone/>
            </a:pPr>
            <a:r>
              <a:rPr lang="en-US" b="1" dirty="0"/>
              <a:t>Mage – Special Explained</a:t>
            </a:r>
          </a:p>
          <a:p>
            <a:r>
              <a:rPr lang="en-US" b="1" dirty="0"/>
              <a:t>Special:</a:t>
            </a:r>
            <a:endParaRPr lang="en-US" dirty="0"/>
          </a:p>
          <a:p>
            <a:r>
              <a:rPr lang="en-US" b="1" dirty="0"/>
              <a:t>+25% physical damage taken</a:t>
            </a:r>
            <a:endParaRPr lang="en-US" dirty="0"/>
          </a:p>
          <a:p>
            <a:r>
              <a:rPr lang="en-US" b="1" dirty="0"/>
              <a:t>–25% magical damage taken</a:t>
            </a:r>
            <a:endParaRPr lang="en-US" dirty="0"/>
          </a:p>
          <a:p>
            <a:r>
              <a:rPr lang="en-US" b="1" dirty="0"/>
              <a:t>Meaning</a:t>
            </a:r>
          </a:p>
          <a:p>
            <a:r>
              <a:rPr lang="en-US" dirty="0"/>
              <a:t>If the Mage is hit by </a:t>
            </a:r>
            <a:r>
              <a:rPr lang="en-US" b="1" dirty="0"/>
              <a:t>physical damage</a:t>
            </a:r>
            <a:r>
              <a:rPr lang="en-US" dirty="0"/>
              <a:t>:</a:t>
            </a:r>
          </a:p>
          <a:p>
            <a:pPr lvl="1"/>
            <a:r>
              <a:rPr lang="en-US" dirty="0"/>
              <a:t>Damage is </a:t>
            </a:r>
            <a:r>
              <a:rPr lang="en-US" b="1" dirty="0"/>
              <a:t>increased by 25%</a:t>
            </a:r>
            <a:endParaRPr lang="en-US" dirty="0"/>
          </a:p>
          <a:p>
            <a:r>
              <a:rPr lang="en-US" dirty="0"/>
              <a:t>If the Mage is hit by </a:t>
            </a:r>
            <a:r>
              <a:rPr lang="en-US" b="1" dirty="0"/>
              <a:t>magic damage</a:t>
            </a:r>
            <a:r>
              <a:rPr lang="en-US" dirty="0"/>
              <a:t>:</a:t>
            </a:r>
          </a:p>
          <a:p>
            <a:pPr lvl="1"/>
            <a:r>
              <a:rPr lang="en-US" dirty="0"/>
              <a:t>Damage is </a:t>
            </a:r>
            <a:r>
              <a:rPr lang="en-US" b="1" dirty="0"/>
              <a:t>reduced by 25%</a:t>
            </a:r>
            <a:endParaRPr lang="en-US"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1d361f69cb2_1_6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1d361f69cb2_1_6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Domain Analysis (big picture)</a:t>
            </a:r>
          </a:p>
          <a:p>
            <a:r>
              <a:rPr lang="en-US" b="1" dirty="0"/>
              <a:t>Domain analysis</a:t>
            </a:r>
            <a:r>
              <a:rPr lang="en-US" dirty="0"/>
              <a:t> is the overall process of understanding </a:t>
            </a:r>
            <a:r>
              <a:rPr lang="en-US" i="1" dirty="0"/>
              <a:t>what exists</a:t>
            </a:r>
            <a:r>
              <a:rPr lang="en-US" dirty="0"/>
              <a:t> and </a:t>
            </a:r>
            <a:r>
              <a:rPr lang="en-US" i="1" dirty="0"/>
              <a:t>how things behave</a:t>
            </a:r>
            <a:r>
              <a:rPr lang="en-US" dirty="0"/>
              <a:t> in the problem space before you design or code.</a:t>
            </a:r>
          </a:p>
          <a:p>
            <a:r>
              <a:rPr lang="en-US" dirty="0"/>
              <a:t>It focuses on:</a:t>
            </a:r>
          </a:p>
          <a:p>
            <a:r>
              <a:rPr lang="en-US" dirty="0"/>
              <a:t>Key </a:t>
            </a:r>
            <a:r>
              <a:rPr lang="en-US" b="1" dirty="0"/>
              <a:t>concepts/entities</a:t>
            </a:r>
            <a:r>
              <a:rPr lang="en-US" dirty="0"/>
              <a:t> in the domain</a:t>
            </a:r>
          </a:p>
          <a:p>
            <a:r>
              <a:rPr lang="en-US" b="1" dirty="0"/>
              <a:t>Relationships</a:t>
            </a:r>
            <a:r>
              <a:rPr lang="en-US" dirty="0"/>
              <a:t> between those concepts</a:t>
            </a:r>
          </a:p>
          <a:p>
            <a:r>
              <a:rPr lang="en-US" b="1" dirty="0"/>
              <a:t>Rules &amp; constraints</a:t>
            </a:r>
            <a:endParaRPr lang="en-US" dirty="0"/>
          </a:p>
          <a:p>
            <a:r>
              <a:rPr lang="en-US" b="1" dirty="0"/>
              <a:t>Responsibilities and behaviors</a:t>
            </a:r>
            <a:endParaRPr lang="en-US" dirty="0"/>
          </a:p>
          <a:p>
            <a:r>
              <a:rPr lang="en-US" dirty="0"/>
              <a:t>Outputs often include:</a:t>
            </a:r>
          </a:p>
          <a:p>
            <a:r>
              <a:rPr lang="en-US" dirty="0"/>
              <a:t>Conceptual/class diagrams</a:t>
            </a:r>
          </a:p>
          <a:p>
            <a:r>
              <a:rPr lang="en-US" dirty="0"/>
              <a:t>Domain models</a:t>
            </a:r>
          </a:p>
          <a:p>
            <a:r>
              <a:rPr lang="en-US" dirty="0"/>
              <a:t>Identified business rules</a:t>
            </a:r>
          </a:p>
          <a:p>
            <a:r>
              <a:rPr lang="en-US" dirty="0"/>
              <a:t>Clarified terminology (ubiquitous language)</a:t>
            </a:r>
          </a:p>
          <a:p>
            <a:pPr marL="0" lvl="0" indent="0" algn="l" rtl="0">
              <a:spcBef>
                <a:spcPts val="0"/>
              </a:spcBef>
              <a:spcAft>
                <a:spcPts val="0"/>
              </a:spcAft>
              <a:buNone/>
            </a:pPr>
            <a:endParaRPr lang="en-US" dirty="0"/>
          </a:p>
          <a:p>
            <a:r>
              <a:rPr lang="en-US" b="1" dirty="0"/>
              <a:t>Noun–Verb Analysis (specific technique)</a:t>
            </a:r>
          </a:p>
          <a:p>
            <a:r>
              <a:rPr lang="en-US" b="1" dirty="0"/>
              <a:t>Noun–verb analysis</a:t>
            </a:r>
            <a:r>
              <a:rPr lang="en-US" dirty="0"/>
              <a:t> is a </a:t>
            </a:r>
            <a:r>
              <a:rPr lang="en-US" b="1" dirty="0"/>
              <a:t>heuristic used during domain analysis</a:t>
            </a:r>
            <a:r>
              <a:rPr lang="en-US" dirty="0"/>
              <a:t>, especially early on.</a:t>
            </a:r>
          </a:p>
          <a:p>
            <a:r>
              <a:rPr lang="en-US" dirty="0"/>
              <a:t>How it works:</a:t>
            </a:r>
          </a:p>
          <a:p>
            <a:r>
              <a:rPr lang="en-US" b="1" dirty="0"/>
              <a:t>Nouns → candidate classes / attributes</a:t>
            </a:r>
            <a:endParaRPr lang="en-US" dirty="0"/>
          </a:p>
          <a:p>
            <a:r>
              <a:rPr lang="en-US" b="1" dirty="0"/>
              <a:t>Verbs → candidate methods / behaviors</a:t>
            </a:r>
            <a:endParaRPr lang="en-US" dirty="0"/>
          </a:p>
          <a:p>
            <a:r>
              <a:rPr lang="en-US" b="1" dirty="0"/>
              <a:t>Adjectives → attributes or constraints</a:t>
            </a:r>
            <a:endParaRPr lang="en-US" dirty="0"/>
          </a:p>
          <a:p>
            <a:r>
              <a:rPr lang="en-US" dirty="0"/>
              <a:t>Example sentence:</a:t>
            </a:r>
          </a:p>
          <a:p>
            <a:r>
              <a:rPr lang="en-US" dirty="0"/>
              <a:t>“Each ship has shields that recharge over time and weapons that deal damage.”</a:t>
            </a:r>
          </a:p>
          <a:p>
            <a:r>
              <a:rPr lang="en-US" dirty="0"/>
              <a:t>Nouns: </a:t>
            </a:r>
            <a:r>
              <a:rPr lang="en-US" sz="1100" b="0" i="0" u="none" strike="noStrike" cap="none" dirty="0">
                <a:solidFill>
                  <a:srgbClr val="000000"/>
                </a:solidFill>
                <a:latin typeface="Arial"/>
                <a:ea typeface="Arial"/>
                <a:cs typeface="Arial"/>
                <a:sym typeface="Arial"/>
              </a:rPr>
              <a:t>Ship</a:t>
            </a:r>
            <a:r>
              <a:rPr lang="en-US" dirty="0"/>
              <a:t>, </a:t>
            </a:r>
            <a:r>
              <a:rPr lang="en-US" sz="1100" b="0" i="0" u="none" strike="noStrike" cap="none" dirty="0">
                <a:solidFill>
                  <a:srgbClr val="000000"/>
                </a:solidFill>
                <a:latin typeface="Arial"/>
                <a:ea typeface="Arial"/>
                <a:cs typeface="Arial"/>
                <a:sym typeface="Arial"/>
              </a:rPr>
              <a:t>Shield</a:t>
            </a:r>
            <a:r>
              <a:rPr lang="en-US" dirty="0"/>
              <a:t>, </a:t>
            </a:r>
            <a:r>
              <a:rPr lang="en-US" sz="1100" b="0" i="0" u="none" strike="noStrike" cap="none" dirty="0">
                <a:solidFill>
                  <a:srgbClr val="000000"/>
                </a:solidFill>
                <a:latin typeface="Arial"/>
                <a:ea typeface="Arial"/>
                <a:cs typeface="Arial"/>
                <a:sym typeface="Arial"/>
              </a:rPr>
              <a:t>Weapon</a:t>
            </a:r>
            <a:r>
              <a:rPr lang="en-US" dirty="0"/>
              <a:t>, </a:t>
            </a:r>
            <a:r>
              <a:rPr lang="en-US" sz="1100" b="0" i="0" u="none" strike="noStrike" cap="none" dirty="0">
                <a:solidFill>
                  <a:srgbClr val="000000"/>
                </a:solidFill>
                <a:latin typeface="Arial"/>
                <a:ea typeface="Arial"/>
                <a:cs typeface="Arial"/>
                <a:sym typeface="Arial"/>
              </a:rPr>
              <a:t>Damage</a:t>
            </a:r>
            <a:endParaRPr lang="en-US" dirty="0"/>
          </a:p>
          <a:p>
            <a:r>
              <a:rPr lang="en-US" dirty="0"/>
              <a:t>Verbs: </a:t>
            </a:r>
            <a:r>
              <a:rPr lang="en-US" sz="1100" b="0" i="0" u="none" strike="noStrike" cap="none" dirty="0">
                <a:solidFill>
                  <a:srgbClr val="000000"/>
                </a:solidFill>
                <a:latin typeface="Arial"/>
                <a:ea typeface="Arial"/>
                <a:cs typeface="Arial"/>
                <a:sym typeface="Arial"/>
              </a:rPr>
              <a:t>recharge</a:t>
            </a:r>
            <a:r>
              <a:rPr lang="en-US" dirty="0"/>
              <a:t>, </a:t>
            </a:r>
            <a:r>
              <a:rPr lang="en-US" sz="1100" b="0" i="0" u="none" strike="noStrike" cap="none" dirty="0">
                <a:solidFill>
                  <a:srgbClr val="000000"/>
                </a:solidFill>
                <a:latin typeface="Arial"/>
                <a:ea typeface="Arial"/>
                <a:cs typeface="Arial"/>
                <a:sym typeface="Arial"/>
              </a:rPr>
              <a:t>deal</a:t>
            </a:r>
            <a:endParaRPr lang="en-US" dirty="0"/>
          </a:p>
          <a:p>
            <a:r>
              <a:rPr lang="en-US" dirty="0"/>
              <a:t>Adjectives: </a:t>
            </a:r>
            <a:r>
              <a:rPr lang="en-US" sz="1100" b="0" i="0" u="none" strike="noStrike" cap="none" dirty="0">
                <a:solidFill>
                  <a:srgbClr val="000000"/>
                </a:solidFill>
                <a:latin typeface="Arial"/>
                <a:ea typeface="Arial"/>
                <a:cs typeface="Arial"/>
                <a:sym typeface="Arial"/>
              </a:rPr>
              <a:t>over time</a:t>
            </a:r>
            <a:r>
              <a:rPr lang="en-US" dirty="0"/>
              <a:t> (constraint/behavior detail)</a:t>
            </a:r>
          </a:p>
          <a:p>
            <a:r>
              <a:rPr lang="en-US" dirty="0"/>
              <a:t>👉 It answers: </a:t>
            </a:r>
            <a:r>
              <a:rPr lang="en-US" b="1" dirty="0"/>
              <a:t>“What classes and behaviors might exist?”</a:t>
            </a:r>
            <a:endParaRPr lang="en-US" dirty="0"/>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1d361f69cb2_1_6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1d361f69cb2_1_6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1d361f69cb2_1_6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1d361f69cb2_1_6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1d361f69cb2_1_6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1d361f69cb2_1_6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1d361f69cb2_1_6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1d361f69cb2_1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1d361f69cb2_1_6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1d361f69cb2_1_6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dirty="0"/>
              <a:t>Remember that </a:t>
            </a:r>
            <a:r>
              <a:rPr lang="en" sz="1100" b="1" i="1" dirty="0">
                <a:solidFill>
                  <a:srgbClr val="FF0000"/>
                </a:solidFill>
              </a:rPr>
              <a:t>magical damage</a:t>
            </a:r>
            <a:r>
              <a:rPr lang="en" sz="1100" dirty="0"/>
              <a:t> is reduced by 25%  </a:t>
            </a:r>
            <a:r>
              <a:rPr lang="en" sz="1100" dirty="0">
                <a:sym typeface="Wingdings" panose="05000000000000000000" pitchFamily="2" charset="2"/>
              </a:rPr>
              <a:t> total damage affect is reduced by 25%</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d361f69cb2_1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1d361f69cb2_1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fcac5a0e77_0_2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fcac5a0e77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1d361f69cb2_1_7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1d361f69cb2_1_7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Use Starter code</a:t>
            </a:r>
            <a:endParaRPr b="1"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1d361f69cb2_1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1d361f69cb2_1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TALK A BIT ABOUT METHOD OVERLOAD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1. What happened if I want to fight between two mage.</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1" name="Google Shape;53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So far we discussed, moving repeated code to a function</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What about code is being repeated across different class.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 dirty="0"/>
              <a:t>What if two or more classes implement the </a:t>
            </a:r>
            <a:r>
              <a:rPr lang="en-US" b="1" i="1" dirty="0">
                <a:solidFill>
                  <a:srgbClr val="FF0000"/>
                </a:solidFill>
              </a:rPr>
              <a:t>same behavior</a:t>
            </a:r>
            <a:r>
              <a:rPr lang="en-US" dirty="0">
                <a:solidFill>
                  <a:srgbClr val="FF0000"/>
                </a:solidFill>
              </a:rPr>
              <a:t> </a:t>
            </a:r>
            <a:r>
              <a:rPr lang="en-US" dirty="0"/>
              <a:t>in exactly the same way?</a:t>
            </a:r>
          </a:p>
          <a:p>
            <a:pPr marL="0" lvl="0" indent="0" algn="l" rtl="0">
              <a:lnSpc>
                <a:spcPct val="100000"/>
              </a:lnSpc>
              <a:spcBef>
                <a:spcPts val="0"/>
              </a:spcBef>
              <a:spcAft>
                <a:spcPts val="0"/>
              </a:spcAft>
              <a:buSzPts val="1100"/>
              <a:buNone/>
            </a:pPr>
            <a:endParaRPr lang="en-US" dirty="0"/>
          </a:p>
          <a:p>
            <a:pPr marL="457200" lvl="0" indent="-311150" algn="l" rtl="0">
              <a:lnSpc>
                <a:spcPct val="115000"/>
              </a:lnSpc>
              <a:spcBef>
                <a:spcPts val="0"/>
              </a:spcBef>
              <a:spcAft>
                <a:spcPts val="0"/>
              </a:spcAft>
              <a:buSzPts val="1300"/>
              <a:buChar char="●"/>
            </a:pPr>
            <a:r>
              <a:rPr lang="en-US" dirty="0"/>
              <a:t>Object-oriented programming provides a core feature that allows different classes to</a:t>
            </a:r>
            <a:r>
              <a:rPr lang="en-US" dirty="0">
                <a:highlight>
                  <a:srgbClr val="FFFF00"/>
                </a:highlight>
              </a:rPr>
              <a:t> </a:t>
            </a:r>
            <a:r>
              <a:rPr lang="en-US" b="1" i="1" dirty="0">
                <a:solidFill>
                  <a:srgbClr val="FF0000"/>
                </a:solidFill>
                <a:highlight>
                  <a:srgbClr val="FFFF00"/>
                </a:highlight>
              </a:rPr>
              <a:t>reuse</a:t>
            </a:r>
            <a:r>
              <a:rPr lang="en-US" i="1" dirty="0">
                <a:solidFill>
                  <a:srgbClr val="FF0000"/>
                </a:solidFill>
                <a:highlight>
                  <a:srgbClr val="FFFF00"/>
                </a:highlight>
              </a:rPr>
              <a:t> </a:t>
            </a:r>
            <a:r>
              <a:rPr lang="en-US" dirty="0">
                <a:highlight>
                  <a:srgbClr val="FFFF00"/>
                </a:highlight>
              </a:rPr>
              <a:t>code: </a:t>
            </a:r>
            <a:r>
              <a:rPr lang="en-US" b="1" i="1" dirty="0">
                <a:solidFill>
                  <a:srgbClr val="FF0000"/>
                </a:solidFill>
                <a:highlight>
                  <a:srgbClr val="FFFF00"/>
                </a:highlight>
              </a:rPr>
              <a:t>inheritance</a:t>
            </a:r>
            <a:r>
              <a:rPr lang="en-US" dirty="0">
                <a:highlight>
                  <a:srgbClr val="FFFF00"/>
                </a:highlight>
              </a:rPr>
              <a:t>.</a:t>
            </a:r>
          </a:p>
          <a:p>
            <a:pPr marL="914400" lvl="1" indent="-298450" algn="l" rtl="0">
              <a:lnSpc>
                <a:spcPct val="115000"/>
              </a:lnSpc>
              <a:spcBef>
                <a:spcPts val="0"/>
              </a:spcBef>
              <a:spcAft>
                <a:spcPts val="0"/>
              </a:spcAft>
              <a:buSzPts val="1100"/>
              <a:buChar char="○"/>
            </a:pPr>
            <a:r>
              <a:rPr lang="en-US" dirty="0"/>
              <a:t>One class may </a:t>
            </a:r>
            <a:r>
              <a:rPr lang="en-US" b="1" i="1" dirty="0">
                <a:solidFill>
                  <a:srgbClr val="FF0000"/>
                </a:solidFill>
                <a:highlight>
                  <a:srgbClr val="FFFF00"/>
                </a:highlight>
              </a:rPr>
              <a:t>extend</a:t>
            </a:r>
            <a:r>
              <a:rPr lang="en-US" dirty="0">
                <a:solidFill>
                  <a:srgbClr val="FF0000"/>
                </a:solidFill>
                <a:highlight>
                  <a:srgbClr val="FFFF00"/>
                </a:highlight>
              </a:rPr>
              <a:t> </a:t>
            </a:r>
            <a:r>
              <a:rPr lang="en-US" dirty="0">
                <a:highlight>
                  <a:srgbClr val="FFFF00"/>
                </a:highlight>
              </a:rPr>
              <a:t>another class to inherit its accessible </a:t>
            </a:r>
            <a:r>
              <a:rPr lang="en-US" b="1" i="1" dirty="0">
                <a:solidFill>
                  <a:srgbClr val="FF0000"/>
                </a:solidFill>
                <a:highlight>
                  <a:srgbClr val="FFFF00"/>
                </a:highlight>
              </a:rPr>
              <a:t>state</a:t>
            </a:r>
            <a:r>
              <a:rPr lang="en-US" dirty="0">
                <a:solidFill>
                  <a:srgbClr val="FF0000"/>
                </a:solidFill>
                <a:highlight>
                  <a:srgbClr val="FFFF00"/>
                </a:highlight>
              </a:rPr>
              <a:t> </a:t>
            </a:r>
            <a:r>
              <a:rPr lang="en-US" dirty="0">
                <a:highlight>
                  <a:srgbClr val="FFFF00"/>
                </a:highlight>
              </a:rPr>
              <a:t>and </a:t>
            </a:r>
            <a:r>
              <a:rPr lang="en-US" b="1" i="1" dirty="0">
                <a:solidFill>
                  <a:srgbClr val="FF0000"/>
                </a:solidFill>
                <a:highlight>
                  <a:srgbClr val="FFFF00"/>
                </a:highlight>
              </a:rPr>
              <a:t>behavior</a:t>
            </a:r>
            <a:r>
              <a:rPr lang="en-US" dirty="0">
                <a:highlight>
                  <a:srgbClr val="FFFF00"/>
                </a:highlight>
              </a:rPr>
              <a:t>.</a:t>
            </a:r>
          </a:p>
          <a:p>
            <a:pPr marL="914400" lvl="1" indent="-298450" algn="l" rtl="0">
              <a:lnSpc>
                <a:spcPct val="115000"/>
              </a:lnSpc>
              <a:spcBef>
                <a:spcPts val="0"/>
              </a:spcBef>
              <a:spcAft>
                <a:spcPts val="0"/>
              </a:spcAft>
              <a:buSzPts val="1100"/>
              <a:buChar char="○"/>
            </a:pPr>
            <a:r>
              <a:rPr lang="en-US" dirty="0"/>
              <a:t>This creates a </a:t>
            </a:r>
            <a:r>
              <a:rPr lang="en-US" b="1" i="1" dirty="0">
                <a:solidFill>
                  <a:srgbClr val="FF0000"/>
                </a:solidFill>
                <a:highlight>
                  <a:srgbClr val="FFFF00"/>
                </a:highlight>
              </a:rPr>
              <a:t>parent/child</a:t>
            </a:r>
            <a:r>
              <a:rPr lang="en-US" dirty="0">
                <a:highlight>
                  <a:srgbClr val="FFFF00"/>
                </a:highlight>
              </a:rPr>
              <a:t> </a:t>
            </a:r>
            <a:r>
              <a:rPr lang="en-US" dirty="0"/>
              <a:t>relationship between the two classes.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1d361f69cb2_1_7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1d361f69cb2_1_7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1d361f69cb2_1_7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1d361f69cb2_1_7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1d361f69cb2_1_7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1d361f69cb2_1_7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Use Mage to copy all the code.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When you are building a new class by extracting common functionality, ensure that parent and child share common characteristics, build on similar concepts</a:t>
            </a:r>
          </a:p>
          <a:p>
            <a:pPr marL="0" lvl="0" indent="0" algn="l" rtl="0">
              <a:spcBef>
                <a:spcPts val="0"/>
              </a:spcBef>
              <a:spcAft>
                <a:spcPts val="0"/>
              </a:spcAft>
              <a:buNone/>
            </a:pPr>
            <a:r>
              <a:rPr lang="en-US" dirty="0"/>
              <a:t>Goat </a:t>
            </a:r>
            <a:r>
              <a:rPr lang="en-US" dirty="0">
                <a:sym typeface="Wingdings" panose="05000000000000000000" pitchFamily="2" charset="2"/>
              </a:rPr>
              <a:t> Mage / Fighter</a:t>
            </a:r>
          </a:p>
          <a:p>
            <a:pPr marL="0" lvl="0" indent="0" algn="l" rtl="0">
              <a:spcBef>
                <a:spcPts val="0"/>
              </a:spcBef>
              <a:spcAft>
                <a:spcPts val="0"/>
              </a:spcAft>
              <a:buNone/>
            </a:pPr>
            <a:endParaRPr lang="en-US" dirty="0">
              <a:sym typeface="Wingdings" panose="05000000000000000000" pitchFamily="2" charset="2"/>
            </a:endParaRPr>
          </a:p>
          <a:p>
            <a:pPr marL="0" lvl="0" indent="0" algn="l" rtl="0">
              <a:spcBef>
                <a:spcPts val="0"/>
              </a:spcBef>
              <a:spcAft>
                <a:spcPts val="0"/>
              </a:spcAft>
              <a:buNone/>
            </a:pPr>
            <a:r>
              <a:rPr lang="en-US" dirty="0">
                <a:sym typeface="Wingdings" panose="05000000000000000000" pitchFamily="2" charset="2"/>
              </a:rPr>
              <a:t>Boat  Car just because they both run on gas. They are totally different things / concepts</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6" name="Google Shape;60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Every Mage is goat</a:t>
            </a:r>
          </a:p>
          <a:p>
            <a:pPr marL="0" lvl="0" indent="0" algn="l" rtl="0">
              <a:lnSpc>
                <a:spcPct val="100000"/>
              </a:lnSpc>
              <a:spcBef>
                <a:spcPts val="0"/>
              </a:spcBef>
              <a:spcAft>
                <a:spcPts val="0"/>
              </a:spcAft>
              <a:buSzPts val="1100"/>
              <a:buNone/>
            </a:pPr>
            <a:r>
              <a:rPr lang="en-US" dirty="0"/>
              <a:t>Every goat is not mage.</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RIT, </a:t>
            </a:r>
          </a:p>
          <a:p>
            <a:pPr marL="0" lvl="0" indent="0" algn="l" rtl="0">
              <a:lnSpc>
                <a:spcPct val="100000"/>
              </a:lnSpc>
              <a:spcBef>
                <a:spcPts val="0"/>
              </a:spcBef>
              <a:spcAft>
                <a:spcPts val="0"/>
              </a:spcAft>
              <a:buSzPts val="1100"/>
              <a:buNone/>
            </a:pPr>
            <a:r>
              <a:rPr lang="en-US" dirty="0"/>
              <a:t>Human – Prof. , Student</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Only Prof. and Student is allowed in the classroom </a:t>
            </a:r>
            <a:r>
              <a:rPr lang="en-US" dirty="0">
                <a:sym typeface="Wingdings" panose="05000000000000000000" pitchFamily="2" charset="2"/>
              </a:rPr>
              <a:t> Not everybody allowed</a:t>
            </a:r>
          </a:p>
          <a:p>
            <a:pPr marL="0" lvl="0" indent="0" algn="l" rtl="0">
              <a:lnSpc>
                <a:spcPct val="100000"/>
              </a:lnSpc>
              <a:spcBef>
                <a:spcPts val="0"/>
              </a:spcBef>
              <a:spcAft>
                <a:spcPts val="0"/>
              </a:spcAft>
              <a:buSzPts val="1100"/>
              <a:buNone/>
            </a:pPr>
            <a:r>
              <a:rPr lang="en-US" dirty="0">
                <a:sym typeface="Wingdings" panose="05000000000000000000" pitchFamily="2" charset="2"/>
              </a:rPr>
              <a:t>All Humans are allowed  Everybody allowed</a:t>
            </a:r>
            <a:endParaRPr lang="en-US"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9" name="Google Shape;619;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1" name="Google Shape;641;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The caveat regarding constructors is the a default or parameterless constructor in the parent will be automatically invoked if it exists and no other constructor is explicitly called by the child.</a:t>
            </a:r>
          </a:p>
          <a:p>
            <a:pPr marL="0" lvl="0" indent="0" algn="l" rtl="0">
              <a:lnSpc>
                <a:spcPct val="100000"/>
              </a:lnSpc>
              <a:spcBef>
                <a:spcPts val="0"/>
              </a:spcBef>
              <a:spcAft>
                <a:spcPts val="0"/>
              </a:spcAft>
              <a:buSzPts val="1100"/>
              <a:buNone/>
            </a:pPr>
            <a:endParaRPr lang="en" dirty="0"/>
          </a:p>
          <a:p>
            <a:pPr marL="0" lvl="0" indent="0" algn="l" rtl="0">
              <a:lnSpc>
                <a:spcPct val="100000"/>
              </a:lnSpc>
              <a:spcBef>
                <a:spcPts val="0"/>
              </a:spcBef>
              <a:spcAft>
                <a:spcPts val="0"/>
              </a:spcAft>
              <a:buSzPts val="1100"/>
              <a:buNone/>
            </a:pPr>
            <a:r>
              <a:rPr lang="en-US" dirty="0"/>
              <a:t>H</a:t>
            </a:r>
            <a:r>
              <a:rPr lang="en" dirty="0"/>
              <a:t>ere you can’t call a.move() because Animal class does not know about move method. </a:t>
            </a:r>
          </a:p>
          <a:p>
            <a:pPr marL="0" lvl="0" indent="0" algn="l" rtl="0">
              <a:lnSpc>
                <a:spcPct val="100000"/>
              </a:lnSpc>
              <a:spcBef>
                <a:spcPts val="0"/>
              </a:spcBef>
              <a:spcAft>
                <a:spcPts val="0"/>
              </a:spcAft>
              <a:buSzPts val="1100"/>
              <a:buNone/>
            </a:pPr>
            <a:r>
              <a:rPr lang="en-US" dirty="0"/>
              <a:t>S</a:t>
            </a:r>
            <a:r>
              <a:rPr lang="en" dirty="0"/>
              <a:t>o you need to convert animal class back to Rabbit</a:t>
            </a:r>
          </a:p>
          <a:p>
            <a:pPr marL="0" lvl="0" indent="0" algn="l" rtl="0">
              <a:lnSpc>
                <a:spcPct val="100000"/>
              </a:lnSpc>
              <a:spcBef>
                <a:spcPts val="0"/>
              </a:spcBef>
              <a:spcAft>
                <a:spcPts val="0"/>
              </a:spcAft>
              <a:buSzPts val="1100"/>
              <a:buNone/>
            </a:pPr>
            <a:r>
              <a:rPr lang="en" dirty="0"/>
              <a:t>((Rabbit)a).move()</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1d361f69cb2_1_7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1d361f69cb2_1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Update Goat to include maximum hit point.</a:t>
            </a:r>
          </a:p>
          <a:p>
            <a:pPr marL="0" lvl="0" indent="0" algn="l" rtl="0">
              <a:spcBef>
                <a:spcPts val="0"/>
              </a:spcBef>
              <a:spcAft>
                <a:spcPts val="0"/>
              </a:spcAft>
              <a:buNone/>
            </a:pPr>
            <a:r>
              <a:rPr lang="en-US" dirty="0"/>
              <a:t>Also, Create a constants class to define all constants.</a:t>
            </a:r>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6" name="Google Shape;67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highlight>
                  <a:srgbClr val="FFFF00"/>
                </a:highlight>
              </a:rPr>
              <a:t>Conversely, this means that state and behavior that is </a:t>
            </a:r>
            <a:r>
              <a:rPr lang="en-US" b="1" i="1" dirty="0">
                <a:solidFill>
                  <a:srgbClr val="FF0000"/>
                </a:solidFill>
                <a:highlight>
                  <a:srgbClr val="FFFF00"/>
                </a:highlight>
              </a:rPr>
              <a:t>not</a:t>
            </a:r>
            <a:r>
              <a:rPr lang="en-US" dirty="0">
                <a:solidFill>
                  <a:srgbClr val="FF0000"/>
                </a:solidFill>
                <a:highlight>
                  <a:srgbClr val="FFFF00"/>
                </a:highlight>
              </a:rPr>
              <a:t> </a:t>
            </a:r>
            <a:r>
              <a:rPr lang="en-US" dirty="0">
                <a:highlight>
                  <a:srgbClr val="FFFF00"/>
                </a:highlight>
              </a:rPr>
              <a:t>defined in the parent, </a:t>
            </a:r>
            <a:r>
              <a:rPr lang="en-US" b="1" i="1" dirty="0">
                <a:solidFill>
                  <a:srgbClr val="FF0000"/>
                </a:solidFill>
                <a:highlight>
                  <a:srgbClr val="FFFF00"/>
                </a:highlight>
              </a:rPr>
              <a:t>cannot </a:t>
            </a:r>
            <a:r>
              <a:rPr lang="en-US" dirty="0">
                <a:highlight>
                  <a:srgbClr val="FFFF00"/>
                </a:highlight>
              </a:rPr>
              <a:t>be used via polymorphism.</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1d623b8ce9b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1d623b8ce9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All instance field not needed.</a:t>
            </a:r>
          </a:p>
          <a:p>
            <a:pPr marL="0" lvl="0" indent="0" algn="l" rtl="0">
              <a:spcBef>
                <a:spcPts val="0"/>
              </a:spcBef>
              <a:spcAft>
                <a:spcPts val="0"/>
              </a:spcAft>
              <a:buNone/>
            </a:pPr>
            <a:r>
              <a:rPr lang="en-US" dirty="0"/>
              <a:t>All accessor not needed.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Attack &amp; Take damage need to be overwritten</a:t>
            </a:r>
          </a:p>
          <a:p>
            <a:pPr marL="0" lvl="0" indent="0" algn="l" rtl="0">
              <a:spcBef>
                <a:spcPts val="0"/>
              </a:spcBef>
              <a:spcAft>
                <a:spcPts val="0"/>
              </a:spcAft>
              <a:buNone/>
            </a:pPr>
            <a:r>
              <a:rPr lang="en-US" dirty="0"/>
              <a:t>Need to define the mutator for setting hp</a:t>
            </a: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g1d623b8ce9b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4" name="Google Shape;704;g1d623b8ce9b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1d361f69cb2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1d361f69cb2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It's worth pointing out that there are exceptions to every rule, and polymorphism/inheritance can be taken too far. For example: having flower and bicycle classes share a common parent because they both have a color...</a:t>
            </a:r>
          </a:p>
          <a:p>
            <a:pPr marL="0" lvl="0" indent="0" algn="l" rtl="0">
              <a:spcBef>
                <a:spcPts val="0"/>
              </a:spcBef>
              <a:spcAft>
                <a:spcPts val="0"/>
              </a:spcAft>
              <a:buNone/>
            </a:pPr>
            <a:endParaRPr lang="en" dirty="0"/>
          </a:p>
          <a:p>
            <a:r>
              <a:rPr lang="en-US" b="1" dirty="0"/>
              <a:t>Polymorphism</a:t>
            </a:r>
            <a:r>
              <a:rPr lang="en-US" dirty="0"/>
              <a:t> is an object-oriented programming concept where </a:t>
            </a:r>
            <a:r>
              <a:rPr lang="en-US" b="1" dirty="0"/>
              <a:t>the same method call behaves differently depending on the object’s actual type</a:t>
            </a:r>
            <a:r>
              <a:rPr lang="en-US" dirty="0"/>
              <a:t>.</a:t>
            </a:r>
          </a:p>
          <a:p>
            <a:r>
              <a:rPr lang="en-US" dirty="0"/>
              <a:t>In simple words:</a:t>
            </a:r>
          </a:p>
          <a:p>
            <a:r>
              <a:rPr lang="en-US" b="1" dirty="0"/>
              <a:t>One interface, many implementations.</a:t>
            </a:r>
            <a:endParaRPr lang="en-US" dirty="0"/>
          </a:p>
          <a:p>
            <a:pPr marL="0" lvl="0" indent="0" algn="l" rtl="0">
              <a:spcBef>
                <a:spcPts val="0"/>
              </a:spcBef>
              <a:spcAft>
                <a:spcPts val="0"/>
              </a:spcAft>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1d623b8ce9b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1d623b8ce9b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ERROR: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Attack and </a:t>
            </a:r>
            <a:r>
              <a:rPr lang="en-US" dirty="0" err="1"/>
              <a:t>takeDamage</a:t>
            </a:r>
            <a:r>
              <a:rPr lang="en-US" dirty="0"/>
              <a:t> method is missing.</a:t>
            </a:r>
          </a:p>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2b0f774a3bf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2b0f774a3bf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2b0f774a3bf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9" name="Google Shape;759;g2b0f774a3bf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1d623b8ce9b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8" name="Google Shape;778;g1d623b8ce9b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It works. Common mistake people do.</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highlight>
                  <a:srgbClr val="FFFF00"/>
                </a:highlight>
              </a:rPr>
              <a:t>What happens if you try to pit a plain </a:t>
            </a:r>
            <a:r>
              <a:rPr lang="en-US" sz="1100" dirty="0">
                <a:highlight>
                  <a:srgbClr val="FFFF00"/>
                </a:highlight>
                <a:latin typeface="Courier New"/>
                <a:ea typeface="Courier New"/>
                <a:cs typeface="Courier New"/>
                <a:sym typeface="Courier New"/>
              </a:rPr>
              <a:t>Goat</a:t>
            </a:r>
            <a:r>
              <a:rPr lang="en-US" sz="1100" dirty="0">
                <a:highlight>
                  <a:srgbClr val="FFFF00"/>
                </a:highlight>
              </a:rPr>
              <a:t> against another plain </a:t>
            </a:r>
            <a:r>
              <a:rPr lang="en-US" sz="1100" dirty="0">
                <a:highlight>
                  <a:srgbClr val="FFFF00"/>
                </a:highlight>
                <a:latin typeface="Courier New"/>
                <a:ea typeface="Courier New"/>
                <a:cs typeface="Courier New"/>
                <a:sym typeface="Courier New"/>
              </a:rPr>
              <a:t>Goat</a:t>
            </a:r>
            <a:r>
              <a:rPr lang="en-US" sz="1100" dirty="0">
                <a:highlight>
                  <a:srgbClr val="FFFF00"/>
                </a:highlight>
              </a:rPr>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Error</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1d623b8ce9b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1" name="Google Shape;791;g1d623b8ce9b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OK TO SKIP/SKIM</a:t>
            </a:r>
          </a:p>
          <a:p>
            <a:pPr marL="0" lvl="0" indent="0" algn="l" rtl="0">
              <a:spcBef>
                <a:spcPts val="0"/>
              </a:spcBef>
              <a:spcAft>
                <a:spcPts val="0"/>
              </a:spcAft>
              <a:buNone/>
            </a:pPr>
            <a:r>
              <a:rPr lang="en" b="1" dirty="0"/>
              <a:t>Do it if time permits</a:t>
            </a:r>
          </a:p>
          <a:p>
            <a:pPr marL="0" lvl="0" indent="0" algn="l" rtl="0">
              <a:spcBef>
                <a:spcPts val="0"/>
              </a:spcBef>
              <a:spcAft>
                <a:spcPts val="0"/>
              </a:spcAft>
              <a:buNone/>
            </a:pPr>
            <a:endParaRPr b="1"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1d623b8ce9b_0_1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1d623b8ce9b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OK TO SKIP/SKIM</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1d623b8ce9b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3" name="Google Shape;813;g1d623b8ce9b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solidFill>
                  <a:schemeClr val="dk1"/>
                </a:solidFill>
              </a:rPr>
              <a:t>OK TO SKIP/SKIM</a:t>
            </a:r>
          </a:p>
          <a:p>
            <a:pPr marL="0" lvl="0" indent="0" algn="l" rtl="0">
              <a:spcBef>
                <a:spcPts val="0"/>
              </a:spcBef>
              <a:spcAft>
                <a:spcPts val="0"/>
              </a:spcAft>
              <a:buClr>
                <a:schemeClr val="dk1"/>
              </a:buClr>
              <a:buSzPts val="1100"/>
              <a:buFont typeface="Arial"/>
              <a:buNone/>
            </a:pPr>
            <a:endParaRPr lang="en" dirty="0">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1d361f69cb2_0_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0" name="Google Shape;830;g1d361f69cb2_0_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Import point</a:t>
            </a:r>
          </a:p>
          <a:p>
            <a:pPr marL="228600" lvl="0" indent="-228600" algn="l" rtl="0">
              <a:spcBef>
                <a:spcPts val="0"/>
              </a:spcBef>
              <a:spcAft>
                <a:spcPts val="0"/>
              </a:spcAft>
              <a:buAutoNum type="arabicPeriod"/>
            </a:pPr>
            <a:r>
              <a:rPr lang="en-US" dirty="0"/>
              <a:t>Nothing stopping you from creating a GOAT class and making the fight.</a:t>
            </a:r>
          </a:p>
          <a:p>
            <a:pPr marL="228600" lvl="0" indent="-228600" algn="l" rtl="0">
              <a:spcBef>
                <a:spcPts val="0"/>
              </a:spcBef>
              <a:spcAft>
                <a:spcPts val="0"/>
              </a:spcAft>
              <a:buAutoNum type="arabicPeriod"/>
            </a:pPr>
            <a:r>
              <a:rPr lang="en-US" dirty="0"/>
              <a:t>Create a goat class. And make it fight. You will get exception.  </a:t>
            </a:r>
            <a:r>
              <a:rPr lang="en-US" dirty="0">
                <a:sym typeface="Wingdings" panose="05000000000000000000" pitchFamily="2" charset="2"/>
              </a:rPr>
              <a:t> Goat is pretty generic. It does not know what attack it does. It need to be </a:t>
            </a:r>
            <a:r>
              <a:rPr lang="en-US" dirty="0" err="1">
                <a:sym typeface="Wingdings" panose="05000000000000000000" pitchFamily="2" charset="2"/>
              </a:rPr>
              <a:t>specifric</a:t>
            </a:r>
            <a:r>
              <a:rPr lang="en-US" dirty="0">
                <a:sym typeface="Wingdings" panose="05000000000000000000" pitchFamily="2" charset="2"/>
              </a:rPr>
              <a:t>.</a:t>
            </a:r>
            <a:endParaRPr lang="en-US" dirty="0"/>
          </a:p>
          <a:p>
            <a:pPr marL="228600" lvl="0" indent="-228600" algn="l" rtl="0">
              <a:spcBef>
                <a:spcPts val="0"/>
              </a:spcBef>
              <a:spcAft>
                <a:spcPts val="0"/>
              </a:spcAft>
              <a:buAutoNum type="arabicPeriod"/>
            </a:pPr>
            <a:r>
              <a:rPr lang="en-US" dirty="0"/>
              <a:t>Now get into Abstract class.</a:t>
            </a:r>
          </a:p>
          <a:p>
            <a:pPr marL="228600" lvl="0" indent="-228600" algn="l" rtl="0">
              <a:spcBef>
                <a:spcPts val="0"/>
              </a:spcBef>
              <a:spcAft>
                <a:spcPts val="0"/>
              </a:spcAft>
              <a:buAutoNum type="arabicPeriod"/>
            </a:pPr>
            <a:endParaRPr lang="en-US" dirty="0"/>
          </a:p>
          <a:p>
            <a:pPr marL="228600" lvl="0" indent="-228600" algn="l" rtl="0">
              <a:spcBef>
                <a:spcPts val="0"/>
              </a:spcBef>
              <a:spcAft>
                <a:spcPts val="0"/>
              </a:spcAft>
              <a:buAutoNum type="arabicPeriod"/>
            </a:pPr>
            <a:endParaRPr lang="en-US" dirty="0"/>
          </a:p>
          <a:p>
            <a:pPr marL="0" lvl="0" indent="0" algn="l" rtl="0">
              <a:spcBef>
                <a:spcPts val="0"/>
              </a:spcBef>
              <a:spcAft>
                <a:spcPts val="0"/>
              </a:spcAft>
              <a:buNone/>
            </a:pPr>
            <a:r>
              <a:rPr lang="en-US" dirty="0"/>
              <a:t>Problem 1</a:t>
            </a:r>
          </a:p>
          <a:p>
            <a:pPr marL="228600" lvl="0" indent="-228600" algn="l" rtl="0">
              <a:spcBef>
                <a:spcPts val="0"/>
              </a:spcBef>
              <a:spcAft>
                <a:spcPts val="0"/>
              </a:spcAft>
              <a:buAutoNum type="arabicPeriod"/>
            </a:pPr>
            <a:r>
              <a:rPr lang="en-US" dirty="0"/>
              <a:t>Instantiating Goat is not needed. – Make it abstract.</a:t>
            </a:r>
          </a:p>
          <a:p>
            <a:pPr marL="228600" lvl="0" indent="-228600" algn="l" rtl="0">
              <a:spcBef>
                <a:spcPts val="0"/>
              </a:spcBef>
              <a:spcAft>
                <a:spcPts val="0"/>
              </a:spcAft>
              <a:buAutoNum type="arabicPeriod"/>
            </a:pPr>
            <a:r>
              <a:rPr lang="en-US" dirty="0"/>
              <a:t>Now create another Goat type </a:t>
            </a:r>
          </a:p>
          <a:p>
            <a:pPr marL="228600" lvl="0" indent="-228600" algn="l" rtl="0">
              <a:spcBef>
                <a:spcPts val="0"/>
              </a:spcBef>
              <a:spcAft>
                <a:spcPts val="0"/>
              </a:spcAft>
              <a:buAutoNum type="arabicPeriod"/>
            </a:pPr>
            <a:r>
              <a:rPr lang="en-US" dirty="0"/>
              <a:t>and don’t implement Attack and Takedamage(), it uses parent. HOW DO YOU FORCE IT TO IMPLEMENT. It forces child to implement it.</a:t>
            </a:r>
          </a:p>
          <a:p>
            <a:pPr marL="228600" lvl="0" indent="-228600" algn="l" rtl="0">
              <a:spcBef>
                <a:spcPts val="0"/>
              </a:spcBef>
              <a:spcAft>
                <a:spcPts val="0"/>
              </a:spcAft>
              <a:buAutoNum type="arabicPeriod"/>
            </a:pPr>
            <a:endParaRPr lang="en-US" dirty="0"/>
          </a:p>
          <a:p>
            <a:pPr marL="228600" lvl="0" indent="-228600" algn="l" rtl="0">
              <a:spcBef>
                <a:spcPts val="0"/>
              </a:spcBef>
              <a:spcAft>
                <a:spcPts val="0"/>
              </a:spcAft>
              <a:buAutoNum type="arabicPeriod"/>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If a class extends an abstract class it </a:t>
            </a:r>
            <a:r>
              <a:rPr lang="en-US" sz="1100" b="1" i="1" dirty="0">
                <a:solidFill>
                  <a:srgbClr val="FF0000"/>
                </a:solidFill>
              </a:rPr>
              <a:t>must</a:t>
            </a:r>
            <a:r>
              <a:rPr lang="en-US" sz="1100" dirty="0">
                <a:solidFill>
                  <a:srgbClr val="FF0000"/>
                </a:solidFill>
              </a:rPr>
              <a:t> </a:t>
            </a:r>
            <a:r>
              <a:rPr lang="en-US" sz="1100" dirty="0"/>
              <a:t>provide an implementation of </a:t>
            </a:r>
            <a:r>
              <a:rPr lang="en-US" sz="1100" b="1" i="1" dirty="0">
                <a:solidFill>
                  <a:srgbClr val="FF0000"/>
                </a:solidFill>
                <a:highlight>
                  <a:srgbClr val="FFFF00"/>
                </a:highlight>
              </a:rPr>
              <a:t>all</a:t>
            </a:r>
            <a:r>
              <a:rPr lang="en-US" sz="1100" dirty="0">
                <a:solidFill>
                  <a:srgbClr val="FF0000"/>
                </a:solidFill>
                <a:highlight>
                  <a:srgbClr val="FFFF00"/>
                </a:highlight>
              </a:rPr>
              <a:t> </a:t>
            </a:r>
            <a:r>
              <a:rPr lang="en-US" sz="1100" dirty="0">
                <a:highlight>
                  <a:srgbClr val="FFFF00"/>
                </a:highlight>
              </a:rPr>
              <a:t>abstract methods </a:t>
            </a:r>
            <a:r>
              <a:rPr lang="en-US" sz="1100" dirty="0"/>
              <a:t>or it also has to be declared abstract.</a:t>
            </a:r>
          </a:p>
          <a:p>
            <a:pPr marL="171450" lvl="0" indent="-171450" algn="l" rtl="0">
              <a:spcBef>
                <a:spcPts val="0"/>
              </a:spcBef>
              <a:spcAft>
                <a:spcPts val="0"/>
              </a:spcAft>
              <a:buFont typeface="Wingdings" panose="05000000000000000000" pitchFamily="2" charset="2"/>
              <a:buChar char="à"/>
            </a:pPr>
            <a:r>
              <a:rPr lang="en-US" dirty="0">
                <a:sym typeface="Wingdings" panose="05000000000000000000" pitchFamily="2" charset="2"/>
              </a:rPr>
              <a:t>If not then make it abstract and let its child handle implementation.</a:t>
            </a:r>
          </a:p>
          <a:p>
            <a:pPr marL="171450" lvl="0" indent="-171450" algn="l" rtl="0">
              <a:spcBef>
                <a:spcPts val="0"/>
              </a:spcBef>
              <a:spcAft>
                <a:spcPts val="0"/>
              </a:spcAft>
              <a:buFont typeface="Wingdings" panose="05000000000000000000" pitchFamily="2" charset="2"/>
              <a:buChar char="à"/>
            </a:pPr>
            <a:r>
              <a:rPr lang="en-US" dirty="0">
                <a:sym typeface="Wingdings" panose="05000000000000000000" pitchFamily="2" charset="2"/>
              </a:rPr>
              <a:t>Inheritance does not stop here. </a:t>
            </a:r>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1fcac5a0e77_0_3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7" name="Google Shape;847;g1fcac5a0e77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1fcac5a0e77_0_4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4" name="Google Shape;854;g1fcac5a0e77_0_4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An abstract class may also define </a:t>
            </a:r>
            <a:r>
              <a:rPr lang="en-US" sz="1100" b="1" i="1" dirty="0">
                <a:solidFill>
                  <a:srgbClr val="FF0000"/>
                </a:solidFill>
                <a:highlight>
                  <a:srgbClr val="FFFF00"/>
                </a:highlight>
              </a:rPr>
              <a:t>zero or more</a:t>
            </a:r>
            <a:r>
              <a:rPr lang="en-US" sz="1100" dirty="0"/>
              <a:t> </a:t>
            </a:r>
            <a:r>
              <a:rPr lang="en-US" sz="1100" dirty="0">
                <a:latin typeface="Courier New"/>
                <a:ea typeface="Courier New"/>
                <a:cs typeface="Courier New"/>
                <a:sym typeface="Courier New"/>
              </a:rPr>
              <a:t>abstract</a:t>
            </a:r>
            <a:r>
              <a:rPr lang="en-US" sz="1100" dirty="0"/>
              <a:t> methods.</a:t>
            </a:r>
          </a:p>
          <a:p>
            <a:pPr marL="0" lvl="0" indent="0" algn="l" rtl="0">
              <a:spcBef>
                <a:spcPts val="0"/>
              </a:spcBef>
              <a:spcAft>
                <a:spcPts val="0"/>
              </a:spcAft>
              <a:buNone/>
            </a:pPr>
            <a:r>
              <a:rPr lang="en-US" dirty="0"/>
              <a:t>WHEN YOU DON’T WANT YOUR CLASS TO BE INSTANTIATED.</a:t>
            </a: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1fcac5a0e77_0_4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fcac5a0e77_0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1fcac5a0e77_0_5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1fcac5a0e77_0_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1fcac5a0e77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4" name="Google Shape;924;g1fcac5a0e77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What changes are necessary in any of the </a:t>
            </a:r>
            <a:r>
              <a:rPr lang="en-US" sz="1100" dirty="0">
                <a:latin typeface="Courier New"/>
                <a:ea typeface="Courier New"/>
                <a:cs typeface="Courier New"/>
                <a:sym typeface="Courier New"/>
              </a:rPr>
              <a:t>Goat</a:t>
            </a:r>
            <a:r>
              <a:rPr lang="en-US" sz="1100" dirty="0"/>
              <a:t> child classes?</a:t>
            </a:r>
          </a:p>
          <a:p>
            <a:pPr marL="0" lvl="0" indent="0" algn="l" rtl="0">
              <a:spcBef>
                <a:spcPts val="0"/>
              </a:spcBef>
              <a:spcAft>
                <a:spcPts val="0"/>
              </a:spcAft>
              <a:buNone/>
            </a:pPr>
            <a:r>
              <a:rPr lang="en-US" dirty="0"/>
              <a:t>Need to implement all the abstract method</a:t>
            </a:r>
          </a:p>
          <a:p>
            <a:pPr marL="0" lvl="0" indent="0" algn="l" rtl="0">
              <a:spcBef>
                <a:spcPts val="0"/>
              </a:spcBef>
              <a:spcAft>
                <a:spcPts val="0"/>
              </a:spcAft>
              <a:buNone/>
            </a:pP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1d361f69cb2_0_4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6" name="Google Shape;936;g1d361f69cb2_0_4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1fcac5a0e77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8" name="Google Shape;948;g1fcac5a0e77_0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1fcac5a0e77_0_5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1fcac5a0e77_0_5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1d361f69cb2_0_5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6" name="Google Shape;976;g1d361f69cb2_0_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1fcac5a0e77_0_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8" name="Google Shape;988;g1fcac5a0e77_0_5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1fcac5a0e77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1" name="Google Shape;1001;g1fcac5a0e77_0_5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1fcac5a0e77_0_6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0" name="Google Shape;1020;g1fcac5a0e77_0_6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b0f774a3bf_0_2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7" name="Google Shape;1027;g2b0f774a3bf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1fcac5a0e77_0_5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1" name="Google Shape;1051;g1fcac5a0e77_0_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1fcac5a0e77_0_6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1" name="Google Shape;1061;g1fcac5a0e77_0_6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1fcac5a0e77_0_6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7" name="Google Shape;1067;g1fcac5a0e77_0_6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1fcac5a0e77_0_6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1fcac5a0e77_0_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1ebeccc2898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2" name="Google Shape;1092;g1ebeccc2898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1d361f69cb2_0_7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3" name="Google Shape;1103;g1d361f69cb2_0_7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
        <p:cNvGrpSpPr/>
        <p:nvPr/>
      </p:nvGrpSpPr>
      <p:grpSpPr>
        <a:xfrm>
          <a:off x="0" y="0"/>
          <a:ext cx="0" cy="0"/>
          <a:chOff x="0" y="0"/>
          <a:chExt cx="0" cy="0"/>
        </a:xfrm>
      </p:grpSpPr>
      <p:sp>
        <p:nvSpPr>
          <p:cNvPr id="1114" name="Google Shape;1114;g1d361f69cb2_0_7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5" name="Google Shape;1115;g1d361f69cb2_0_7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g1ebeccc2898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4" name="Google Shape;1154;g1ebeccc2898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1ebeccc2898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4" name="Google Shape;1164;g1ebeccc2898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9"/>
        <p:cNvGrpSpPr/>
        <p:nvPr/>
      </p:nvGrpSpPr>
      <p:grpSpPr>
        <a:xfrm>
          <a:off x="0" y="0"/>
          <a:ext cx="0" cy="0"/>
          <a:chOff x="0" y="0"/>
          <a:chExt cx="0" cy="0"/>
        </a:xfrm>
      </p:grpSpPr>
      <p:sp>
        <p:nvSpPr>
          <p:cNvPr id="1180" name="Google Shape;1180;g1ebeccc2898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1" name="Google Shape;1181;g1ebeccc2898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8"/>
        <p:cNvGrpSpPr/>
        <p:nvPr/>
      </p:nvGrpSpPr>
      <p:grpSpPr>
        <a:xfrm>
          <a:off x="0" y="0"/>
          <a:ext cx="0" cy="0"/>
          <a:chOff x="0" y="0"/>
          <a:chExt cx="0" cy="0"/>
        </a:xfrm>
      </p:grpSpPr>
      <p:sp>
        <p:nvSpPr>
          <p:cNvPr id="1189" name="Google Shape;1189;g1ebeccc2898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0" name="Google Shape;1190;g1ebeccc2898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g1d361f69cb2_0_8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4" name="Google Shape;1214;g1d361f69cb2_0_8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ebeccc2898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ebeccc2898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3"/>
        <p:cNvGrpSpPr/>
        <p:nvPr/>
      </p:nvGrpSpPr>
      <p:grpSpPr>
        <a:xfrm>
          <a:off x="0" y="0"/>
          <a:ext cx="0" cy="0"/>
          <a:chOff x="0" y="0"/>
          <a:chExt cx="0" cy="0"/>
        </a:xfrm>
      </p:grpSpPr>
      <p:sp>
        <p:nvSpPr>
          <p:cNvPr id="1234" name="Google Shape;1234;g1ebeccc2898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5" name="Google Shape;1235;g1ebeccc2898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4"/>
        <p:cNvGrpSpPr/>
        <p:nvPr/>
      </p:nvGrpSpPr>
      <p:grpSpPr>
        <a:xfrm>
          <a:off x="0" y="0"/>
          <a:ext cx="0" cy="0"/>
          <a:chOff x="0" y="0"/>
          <a:chExt cx="0" cy="0"/>
        </a:xfrm>
      </p:grpSpPr>
      <p:sp>
        <p:nvSpPr>
          <p:cNvPr id="1245" name="Google Shape;1245;g1ebeccc2898_0_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6" name="Google Shape;1246;g1ebeccc2898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5"/>
        <p:cNvGrpSpPr/>
        <p:nvPr/>
      </p:nvGrpSpPr>
      <p:grpSpPr>
        <a:xfrm>
          <a:off x="0" y="0"/>
          <a:ext cx="0" cy="0"/>
          <a:chOff x="0" y="0"/>
          <a:chExt cx="0" cy="0"/>
        </a:xfrm>
      </p:grpSpPr>
      <p:sp>
        <p:nvSpPr>
          <p:cNvPr id="1256" name="Google Shape;1256;g1ebeccc2898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7" name="Google Shape;1257;g1ebeccc2898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g1d361f69cb2_0_8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2" name="Google Shape;1292;g1d361f69cb2_0_8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0"/>
        <p:cNvGrpSpPr/>
        <p:nvPr/>
      </p:nvGrpSpPr>
      <p:grpSpPr>
        <a:xfrm>
          <a:off x="0" y="0"/>
          <a:ext cx="0" cy="0"/>
          <a:chOff x="0" y="0"/>
          <a:chExt cx="0" cy="0"/>
        </a:xfrm>
      </p:grpSpPr>
      <p:sp>
        <p:nvSpPr>
          <p:cNvPr id="1311" name="Google Shape;1311;g1d361f69cb2_0_8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2" name="Google Shape;1312;g1d361f69cb2_0_8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g1d361f69cb2_0_8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8" name="Google Shape;1328;g1d361f69cb2_0_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One of your students may have used default methods before. If they ask, just point out that we won't be covering them in this course because they muddy the water between abstract classes and interfaces too much for students that are just learning.</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0"/>
        <p:cNvGrpSpPr/>
        <p:nvPr/>
      </p:nvGrpSpPr>
      <p:grpSpPr>
        <a:xfrm>
          <a:off x="0" y="0"/>
          <a:ext cx="0" cy="0"/>
          <a:chOff x="0" y="0"/>
          <a:chExt cx="0" cy="0"/>
        </a:xfrm>
      </p:grpSpPr>
      <p:sp>
        <p:nvSpPr>
          <p:cNvPr id="1351" name="Google Shape;1351;g1ebeccc2898_0_1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2" name="Google Shape;1352;g1ebeccc2898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1"/>
        <p:cNvGrpSpPr/>
        <p:nvPr/>
      </p:nvGrpSpPr>
      <p:grpSpPr>
        <a:xfrm>
          <a:off x="0" y="0"/>
          <a:ext cx="0" cy="0"/>
          <a:chOff x="0" y="0"/>
          <a:chExt cx="0" cy="0"/>
        </a:xfrm>
      </p:grpSpPr>
      <p:sp>
        <p:nvSpPr>
          <p:cNvPr id="1362" name="Google Shape;1362;g1d361f69cb2_0_9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3" name="Google Shape;1363;g1d361f69cb2_0_9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may want to note that one interface may extend another.</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6"/>
        <p:cNvGrpSpPr/>
        <p:nvPr/>
      </p:nvGrpSpPr>
      <p:grpSpPr>
        <a:xfrm>
          <a:off x="0" y="0"/>
          <a:ext cx="0" cy="0"/>
          <a:chOff x="0" y="0"/>
          <a:chExt cx="0" cy="0"/>
        </a:xfrm>
      </p:grpSpPr>
      <p:sp>
        <p:nvSpPr>
          <p:cNvPr id="1377" name="Google Shape;1377;g1d361f69cb2_0_9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8" name="Google Shape;1378;g1d361f69cb2_0_9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g1d361f69cb2_0_9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5" name="Google Shape;1385;g1d361f69cb2_0_9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1"/>
        <p:cNvGrpSpPr/>
        <p:nvPr/>
      </p:nvGrpSpPr>
      <p:grpSpPr>
        <a:xfrm>
          <a:off x="0" y="0"/>
          <a:ext cx="0" cy="0"/>
          <a:chOff x="0" y="0"/>
          <a:chExt cx="0" cy="0"/>
        </a:xfrm>
      </p:grpSpPr>
      <p:sp>
        <p:nvSpPr>
          <p:cNvPr id="1402" name="Google Shape;1402;g1d361f69cb2_0_9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3" name="Google Shape;1403;g1d361f69cb2_0_9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3"/>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1">
  <p:cSld name="AUTOLAYOUT_1">
    <p:bg>
      <p:bgPr>
        <a:solidFill>
          <a:srgbClr val="FFFFFF"/>
        </a:solidFill>
        <a:effectLst/>
      </p:bgPr>
    </p:bg>
    <p:spTree>
      <p:nvGrpSpPr>
        <p:cNvPr id="1" name="Shape 18"/>
        <p:cNvGrpSpPr/>
        <p:nvPr/>
      </p:nvGrpSpPr>
      <p:grpSpPr>
        <a:xfrm>
          <a:off x="0" y="0"/>
          <a:ext cx="0" cy="0"/>
          <a:chOff x="0" y="0"/>
          <a:chExt cx="0" cy="0"/>
        </a:xfrm>
      </p:grpSpPr>
      <p:sp>
        <p:nvSpPr>
          <p:cNvPr id="19" name="Google Shape;19;p4"/>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4"/>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4"/>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3600"/>
              <a:buNone/>
              <a:defRPr sz="3600" b="1">
                <a:solidFill>
                  <a:schemeClr val="dk1"/>
                </a:solidFill>
              </a:defRPr>
            </a:lvl1pPr>
            <a:lvl2pPr lvl="1" algn="l">
              <a:lnSpc>
                <a:spcPct val="100000"/>
              </a:lnSpc>
              <a:spcBef>
                <a:spcPts val="0"/>
              </a:spcBef>
              <a:spcAft>
                <a:spcPts val="0"/>
              </a:spcAft>
              <a:buClr>
                <a:schemeClr val="dk1"/>
              </a:buClr>
              <a:buSzPts val="3600"/>
              <a:buNone/>
              <a:defRPr sz="3600" b="1">
                <a:solidFill>
                  <a:schemeClr val="dk1"/>
                </a:solidFill>
              </a:defRPr>
            </a:lvl2pPr>
            <a:lvl3pPr lvl="2" algn="l">
              <a:lnSpc>
                <a:spcPct val="100000"/>
              </a:lnSpc>
              <a:spcBef>
                <a:spcPts val="0"/>
              </a:spcBef>
              <a:spcAft>
                <a:spcPts val="0"/>
              </a:spcAft>
              <a:buClr>
                <a:schemeClr val="dk1"/>
              </a:buClr>
              <a:buSzPts val="3600"/>
              <a:buNone/>
              <a:defRPr sz="3600" b="1">
                <a:solidFill>
                  <a:schemeClr val="dk1"/>
                </a:solidFill>
              </a:defRPr>
            </a:lvl3pPr>
            <a:lvl4pPr lvl="3" algn="l">
              <a:lnSpc>
                <a:spcPct val="100000"/>
              </a:lnSpc>
              <a:spcBef>
                <a:spcPts val="0"/>
              </a:spcBef>
              <a:spcAft>
                <a:spcPts val="0"/>
              </a:spcAft>
              <a:buClr>
                <a:schemeClr val="dk1"/>
              </a:buClr>
              <a:buSzPts val="3600"/>
              <a:buNone/>
              <a:defRPr sz="3600" b="1">
                <a:solidFill>
                  <a:schemeClr val="dk1"/>
                </a:solidFill>
              </a:defRPr>
            </a:lvl4pPr>
            <a:lvl5pPr lvl="4" algn="l">
              <a:lnSpc>
                <a:spcPct val="100000"/>
              </a:lnSpc>
              <a:spcBef>
                <a:spcPts val="0"/>
              </a:spcBef>
              <a:spcAft>
                <a:spcPts val="0"/>
              </a:spcAft>
              <a:buClr>
                <a:schemeClr val="dk1"/>
              </a:buClr>
              <a:buSzPts val="3600"/>
              <a:buNone/>
              <a:defRPr sz="3600" b="1">
                <a:solidFill>
                  <a:schemeClr val="dk1"/>
                </a:solidFill>
              </a:defRPr>
            </a:lvl5pPr>
            <a:lvl6pPr lvl="5" algn="l">
              <a:lnSpc>
                <a:spcPct val="100000"/>
              </a:lnSpc>
              <a:spcBef>
                <a:spcPts val="0"/>
              </a:spcBef>
              <a:spcAft>
                <a:spcPts val="0"/>
              </a:spcAft>
              <a:buClr>
                <a:schemeClr val="dk1"/>
              </a:buClr>
              <a:buSzPts val="3600"/>
              <a:buNone/>
              <a:defRPr sz="3600" b="1">
                <a:solidFill>
                  <a:schemeClr val="dk1"/>
                </a:solidFill>
              </a:defRPr>
            </a:lvl6pPr>
            <a:lvl7pPr lvl="6" algn="l">
              <a:lnSpc>
                <a:spcPct val="100000"/>
              </a:lnSpc>
              <a:spcBef>
                <a:spcPts val="0"/>
              </a:spcBef>
              <a:spcAft>
                <a:spcPts val="0"/>
              </a:spcAft>
              <a:buClr>
                <a:schemeClr val="dk1"/>
              </a:buClr>
              <a:buSzPts val="3600"/>
              <a:buNone/>
              <a:defRPr sz="3600" b="1">
                <a:solidFill>
                  <a:schemeClr val="dk1"/>
                </a:solidFill>
              </a:defRPr>
            </a:lvl7pPr>
            <a:lvl8pPr lvl="7" algn="l">
              <a:lnSpc>
                <a:spcPct val="100000"/>
              </a:lnSpc>
              <a:spcBef>
                <a:spcPts val="0"/>
              </a:spcBef>
              <a:spcAft>
                <a:spcPts val="0"/>
              </a:spcAft>
              <a:buClr>
                <a:schemeClr val="dk1"/>
              </a:buClr>
              <a:buSzPts val="3600"/>
              <a:buNone/>
              <a:defRPr sz="3600" b="1">
                <a:solidFill>
                  <a:schemeClr val="dk1"/>
                </a:solidFill>
              </a:defRPr>
            </a:lvl8pPr>
            <a:lvl9pPr lvl="8" algn="l">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4" name="Google Shape;24;p4"/>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Clr>
                <a:schemeClr val="dk2"/>
              </a:buClr>
              <a:buSzPts val="1600"/>
              <a:buChar char="●"/>
              <a:defRPr sz="1600">
                <a:solidFill>
                  <a:schemeClr val="dk2"/>
                </a:solidFill>
              </a:defRPr>
            </a:lvl1pPr>
            <a:lvl2pPr marL="914400" lvl="1" indent="-298450" algn="l">
              <a:lnSpc>
                <a:spcPct val="115000"/>
              </a:lnSpc>
              <a:spcBef>
                <a:spcPts val="1600"/>
              </a:spcBef>
              <a:spcAft>
                <a:spcPts val="0"/>
              </a:spcAft>
              <a:buClr>
                <a:schemeClr val="dk2"/>
              </a:buClr>
              <a:buSzPts val="1100"/>
              <a:buChar char="○"/>
              <a:defRPr sz="1400">
                <a:solidFill>
                  <a:schemeClr val="dk2"/>
                </a:solidFill>
              </a:defRPr>
            </a:lvl2pPr>
            <a:lvl3pPr marL="1371600" lvl="2" indent="-298450" algn="l">
              <a:lnSpc>
                <a:spcPct val="115000"/>
              </a:lnSpc>
              <a:spcBef>
                <a:spcPts val="1600"/>
              </a:spcBef>
              <a:spcAft>
                <a:spcPts val="0"/>
              </a:spcAft>
              <a:buClr>
                <a:schemeClr val="dk2"/>
              </a:buClr>
              <a:buSzPts val="1100"/>
              <a:buChar char="■"/>
              <a:defRPr sz="1400">
                <a:solidFill>
                  <a:schemeClr val="dk2"/>
                </a:solidFill>
              </a:defRPr>
            </a:lvl3pPr>
            <a:lvl4pPr marL="1828800" lvl="3" indent="-298450" algn="l">
              <a:lnSpc>
                <a:spcPct val="115000"/>
              </a:lnSpc>
              <a:spcBef>
                <a:spcPts val="1600"/>
              </a:spcBef>
              <a:spcAft>
                <a:spcPts val="0"/>
              </a:spcAft>
              <a:buClr>
                <a:schemeClr val="dk2"/>
              </a:buClr>
              <a:buSzPts val="1100"/>
              <a:buChar char="●"/>
              <a:defRPr sz="1400">
                <a:solidFill>
                  <a:schemeClr val="dk2"/>
                </a:solidFill>
              </a:defRPr>
            </a:lvl4pPr>
            <a:lvl5pPr marL="2286000" lvl="4" indent="-298450" algn="l">
              <a:lnSpc>
                <a:spcPct val="115000"/>
              </a:lnSpc>
              <a:spcBef>
                <a:spcPts val="1600"/>
              </a:spcBef>
              <a:spcAft>
                <a:spcPts val="0"/>
              </a:spcAft>
              <a:buClr>
                <a:schemeClr val="dk2"/>
              </a:buClr>
              <a:buSzPts val="1100"/>
              <a:buChar char="○"/>
              <a:defRPr sz="1400">
                <a:solidFill>
                  <a:schemeClr val="dk2"/>
                </a:solidFill>
              </a:defRPr>
            </a:lvl5pPr>
            <a:lvl6pPr marL="2743200" lvl="5" indent="-298450" algn="l">
              <a:lnSpc>
                <a:spcPct val="115000"/>
              </a:lnSpc>
              <a:spcBef>
                <a:spcPts val="1600"/>
              </a:spcBef>
              <a:spcAft>
                <a:spcPts val="0"/>
              </a:spcAft>
              <a:buClr>
                <a:schemeClr val="dk2"/>
              </a:buClr>
              <a:buSzPts val="1100"/>
              <a:buChar char="■"/>
              <a:defRPr sz="1400">
                <a:solidFill>
                  <a:schemeClr val="dk2"/>
                </a:solidFill>
              </a:defRPr>
            </a:lvl6pPr>
            <a:lvl7pPr marL="3200400" lvl="6" indent="-298450" algn="l">
              <a:lnSpc>
                <a:spcPct val="115000"/>
              </a:lnSpc>
              <a:spcBef>
                <a:spcPts val="1600"/>
              </a:spcBef>
              <a:spcAft>
                <a:spcPts val="0"/>
              </a:spcAft>
              <a:buClr>
                <a:schemeClr val="dk2"/>
              </a:buClr>
              <a:buSzPts val="1100"/>
              <a:buChar char="●"/>
              <a:defRPr sz="1400">
                <a:solidFill>
                  <a:schemeClr val="dk2"/>
                </a:solidFill>
              </a:defRPr>
            </a:lvl7pPr>
            <a:lvl8pPr marL="3657600" lvl="7" indent="-298450" algn="l">
              <a:lnSpc>
                <a:spcPct val="115000"/>
              </a:lnSpc>
              <a:spcBef>
                <a:spcPts val="1600"/>
              </a:spcBef>
              <a:spcAft>
                <a:spcPts val="0"/>
              </a:spcAft>
              <a:buClr>
                <a:schemeClr val="dk2"/>
              </a:buClr>
              <a:buSzPts val="1100"/>
              <a:buChar char="○"/>
              <a:defRPr sz="1400">
                <a:solidFill>
                  <a:schemeClr val="dk2"/>
                </a:solidFill>
              </a:defRPr>
            </a:lvl8pPr>
            <a:lvl9pPr marL="4114800" lvl="8" indent="-298450" algn="l">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4"/>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7" name="Google Shape;27;p4"/>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8" name="Google Shape;28;p4"/>
          <p:cNvSpPr txBox="1">
            <a:spLocks noGrp="1"/>
          </p:cNvSpPr>
          <p:nvPr>
            <p:ph type="title" idx="4"/>
          </p:nvPr>
        </p:nvSpPr>
        <p:spPr>
          <a:xfrm>
            <a:off x="427525" y="32875"/>
            <a:ext cx="933900" cy="749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rgbClr val="FFFFFF"/>
                </a:solidFill>
                <a:latin typeface="Roboto"/>
                <a:ea typeface="Roboto"/>
                <a:cs typeface="Roboto"/>
                <a:sym typeface="Roboto"/>
              </a:defRPr>
            </a:lvl1pPr>
            <a:lvl2pPr lvl="1" algn="l">
              <a:lnSpc>
                <a:spcPct val="100000"/>
              </a:lnSpc>
              <a:spcBef>
                <a:spcPts val="0"/>
              </a:spcBef>
              <a:spcAft>
                <a:spcPts val="0"/>
              </a:spcAft>
              <a:buSzPts val="2800"/>
              <a:buNone/>
              <a:defRPr>
                <a:latin typeface="Roboto"/>
                <a:ea typeface="Roboto"/>
                <a:cs typeface="Roboto"/>
                <a:sym typeface="Roboto"/>
              </a:defRPr>
            </a:lvl2pPr>
            <a:lvl3pPr lvl="2" algn="l">
              <a:lnSpc>
                <a:spcPct val="100000"/>
              </a:lnSpc>
              <a:spcBef>
                <a:spcPts val="0"/>
              </a:spcBef>
              <a:spcAft>
                <a:spcPts val="0"/>
              </a:spcAft>
              <a:buSzPts val="2800"/>
              <a:buNone/>
              <a:defRPr>
                <a:latin typeface="Roboto"/>
                <a:ea typeface="Roboto"/>
                <a:cs typeface="Roboto"/>
                <a:sym typeface="Roboto"/>
              </a:defRPr>
            </a:lvl3pPr>
            <a:lvl4pPr lvl="3" algn="l">
              <a:lnSpc>
                <a:spcPct val="100000"/>
              </a:lnSpc>
              <a:spcBef>
                <a:spcPts val="0"/>
              </a:spcBef>
              <a:spcAft>
                <a:spcPts val="0"/>
              </a:spcAft>
              <a:buSzPts val="2800"/>
              <a:buNone/>
              <a:defRPr>
                <a:latin typeface="Roboto"/>
                <a:ea typeface="Roboto"/>
                <a:cs typeface="Roboto"/>
                <a:sym typeface="Roboto"/>
              </a:defRPr>
            </a:lvl4pPr>
            <a:lvl5pPr lvl="4" algn="l">
              <a:lnSpc>
                <a:spcPct val="100000"/>
              </a:lnSpc>
              <a:spcBef>
                <a:spcPts val="0"/>
              </a:spcBef>
              <a:spcAft>
                <a:spcPts val="0"/>
              </a:spcAft>
              <a:buSzPts val="2800"/>
              <a:buNone/>
              <a:defRPr>
                <a:latin typeface="Roboto"/>
                <a:ea typeface="Roboto"/>
                <a:cs typeface="Roboto"/>
                <a:sym typeface="Roboto"/>
              </a:defRPr>
            </a:lvl5pPr>
            <a:lvl6pPr lvl="5" algn="l">
              <a:lnSpc>
                <a:spcPct val="100000"/>
              </a:lnSpc>
              <a:spcBef>
                <a:spcPts val="0"/>
              </a:spcBef>
              <a:spcAft>
                <a:spcPts val="0"/>
              </a:spcAft>
              <a:buSzPts val="2800"/>
              <a:buNone/>
              <a:defRPr>
                <a:latin typeface="Roboto"/>
                <a:ea typeface="Roboto"/>
                <a:cs typeface="Roboto"/>
                <a:sym typeface="Roboto"/>
              </a:defRPr>
            </a:lvl6pPr>
            <a:lvl7pPr lvl="6" algn="l">
              <a:lnSpc>
                <a:spcPct val="100000"/>
              </a:lnSpc>
              <a:spcBef>
                <a:spcPts val="0"/>
              </a:spcBef>
              <a:spcAft>
                <a:spcPts val="0"/>
              </a:spcAft>
              <a:buSzPts val="2800"/>
              <a:buNone/>
              <a:defRPr>
                <a:latin typeface="Roboto"/>
                <a:ea typeface="Roboto"/>
                <a:cs typeface="Roboto"/>
                <a:sym typeface="Roboto"/>
              </a:defRPr>
            </a:lvl7pPr>
            <a:lvl8pPr lvl="7" algn="l">
              <a:lnSpc>
                <a:spcPct val="100000"/>
              </a:lnSpc>
              <a:spcBef>
                <a:spcPts val="0"/>
              </a:spcBef>
              <a:spcAft>
                <a:spcPts val="0"/>
              </a:spcAft>
              <a:buSzPts val="2800"/>
              <a:buNone/>
              <a:defRPr>
                <a:latin typeface="Roboto"/>
                <a:ea typeface="Roboto"/>
                <a:cs typeface="Roboto"/>
                <a:sym typeface="Roboto"/>
              </a:defRPr>
            </a:lvl8pPr>
            <a:lvl9pPr lvl="8" algn="l">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p5"/>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31" name="Google Shape;31;p5"/>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5"/>
          <p:cNvSpPr txBox="1">
            <a:spLocks noGrp="1"/>
          </p:cNvSpPr>
          <p:nvPr>
            <p:ph type="title"/>
          </p:nvPr>
        </p:nvSpPr>
        <p:spPr>
          <a:xfrm>
            <a:off x="311725" y="500925"/>
            <a:ext cx="3706500" cy="638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3" name="Google Shape;33;p5"/>
          <p:cNvSpPr txBox="1">
            <a:spLocks noGrp="1"/>
          </p:cNvSpPr>
          <p:nvPr>
            <p:ph type="body" idx="1"/>
          </p:nvPr>
        </p:nvSpPr>
        <p:spPr>
          <a:xfrm>
            <a:off x="4644675" y="500925"/>
            <a:ext cx="4166400" cy="4432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34" name="Google Shape;3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35" name="Google Shape;35;p5"/>
          <p:cNvSpPr txBox="1">
            <a:spLocks noGrp="1"/>
          </p:cNvSpPr>
          <p:nvPr>
            <p:ph type="body" idx="2"/>
          </p:nvPr>
        </p:nvSpPr>
        <p:spPr>
          <a:xfrm>
            <a:off x="315425" y="1286175"/>
            <a:ext cx="3706500" cy="26973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rgbClr val="FFFFFF"/>
              </a:buClr>
              <a:buSzPts val="1300"/>
              <a:buChar char="●"/>
              <a:defRPr>
                <a:solidFill>
                  <a:srgbClr val="FFFFFF"/>
                </a:solidFill>
              </a:defRPr>
            </a:lvl1pPr>
            <a:lvl2pPr marL="914400" lvl="1" indent="-298450" algn="l">
              <a:lnSpc>
                <a:spcPct val="115000"/>
              </a:lnSpc>
              <a:spcBef>
                <a:spcPts val="1600"/>
              </a:spcBef>
              <a:spcAft>
                <a:spcPts val="0"/>
              </a:spcAft>
              <a:buClr>
                <a:srgbClr val="FFFFFF"/>
              </a:buClr>
              <a:buSzPts val="1100"/>
              <a:buChar char="○"/>
              <a:defRPr>
                <a:solidFill>
                  <a:srgbClr val="FFFFFF"/>
                </a:solidFill>
              </a:defRPr>
            </a:lvl2pPr>
            <a:lvl3pPr marL="1371600" lvl="2" indent="-298450" algn="l">
              <a:lnSpc>
                <a:spcPct val="115000"/>
              </a:lnSpc>
              <a:spcBef>
                <a:spcPts val="1600"/>
              </a:spcBef>
              <a:spcAft>
                <a:spcPts val="0"/>
              </a:spcAft>
              <a:buClr>
                <a:srgbClr val="FFFFFF"/>
              </a:buClr>
              <a:buSzPts val="1100"/>
              <a:buChar char="■"/>
              <a:defRPr>
                <a:solidFill>
                  <a:srgbClr val="FFFFFF"/>
                </a:solidFill>
              </a:defRPr>
            </a:lvl3pPr>
            <a:lvl4pPr marL="1828800" lvl="3" indent="-298450" algn="l">
              <a:lnSpc>
                <a:spcPct val="115000"/>
              </a:lnSpc>
              <a:spcBef>
                <a:spcPts val="1600"/>
              </a:spcBef>
              <a:spcAft>
                <a:spcPts val="0"/>
              </a:spcAft>
              <a:buClr>
                <a:srgbClr val="FFFFFF"/>
              </a:buClr>
              <a:buSzPts val="1100"/>
              <a:buChar char="●"/>
              <a:defRPr>
                <a:solidFill>
                  <a:srgbClr val="FFFFFF"/>
                </a:solidFill>
              </a:defRPr>
            </a:lvl4pPr>
            <a:lvl5pPr marL="2286000" lvl="4" indent="-298450" algn="l">
              <a:lnSpc>
                <a:spcPct val="115000"/>
              </a:lnSpc>
              <a:spcBef>
                <a:spcPts val="1600"/>
              </a:spcBef>
              <a:spcAft>
                <a:spcPts val="0"/>
              </a:spcAft>
              <a:buClr>
                <a:srgbClr val="FFFFFF"/>
              </a:buClr>
              <a:buSzPts val="1100"/>
              <a:buChar char="○"/>
              <a:defRPr>
                <a:solidFill>
                  <a:srgbClr val="FFFFFF"/>
                </a:solidFill>
              </a:defRPr>
            </a:lvl5pPr>
            <a:lvl6pPr marL="2743200" lvl="5" indent="-298450" algn="l">
              <a:lnSpc>
                <a:spcPct val="115000"/>
              </a:lnSpc>
              <a:spcBef>
                <a:spcPts val="1600"/>
              </a:spcBef>
              <a:spcAft>
                <a:spcPts val="0"/>
              </a:spcAft>
              <a:buClr>
                <a:srgbClr val="FFFFFF"/>
              </a:buClr>
              <a:buSzPts val="1100"/>
              <a:buChar char="■"/>
              <a:defRPr>
                <a:solidFill>
                  <a:srgbClr val="FFFFFF"/>
                </a:solidFill>
              </a:defRPr>
            </a:lvl6pPr>
            <a:lvl7pPr marL="3200400" lvl="6" indent="-298450" algn="l">
              <a:lnSpc>
                <a:spcPct val="115000"/>
              </a:lnSpc>
              <a:spcBef>
                <a:spcPts val="1600"/>
              </a:spcBef>
              <a:spcAft>
                <a:spcPts val="0"/>
              </a:spcAft>
              <a:buClr>
                <a:srgbClr val="FFFFFF"/>
              </a:buClr>
              <a:buSzPts val="1100"/>
              <a:buChar char="●"/>
              <a:defRPr>
                <a:solidFill>
                  <a:srgbClr val="FFFFFF"/>
                </a:solidFill>
              </a:defRPr>
            </a:lvl7pPr>
            <a:lvl8pPr marL="3657600" lvl="7" indent="-298450" algn="l">
              <a:lnSpc>
                <a:spcPct val="115000"/>
              </a:lnSpc>
              <a:spcBef>
                <a:spcPts val="1600"/>
              </a:spcBef>
              <a:spcAft>
                <a:spcPts val="0"/>
              </a:spcAft>
              <a:buClr>
                <a:srgbClr val="FFFFFF"/>
              </a:buClr>
              <a:buSzPts val="1100"/>
              <a:buChar char="○"/>
              <a:defRPr>
                <a:solidFill>
                  <a:srgbClr val="FFFFFF"/>
                </a:solidFill>
              </a:defRPr>
            </a:lvl8pPr>
            <a:lvl9pPr marL="4114800" lvl="8" indent="-298450" algn="l">
              <a:lnSpc>
                <a:spcPct val="115000"/>
              </a:lnSpc>
              <a:spcBef>
                <a:spcPts val="1600"/>
              </a:spcBef>
              <a:spcAft>
                <a:spcPts val="1600"/>
              </a:spcAft>
              <a:buClr>
                <a:srgbClr val="FFFFFF"/>
              </a:buClr>
              <a:buSzPts val="1100"/>
              <a:buChar char="■"/>
              <a:defRPr>
                <a:solidFill>
                  <a:srgbClr val="FFFFFF"/>
                </a:solidFill>
              </a:defRPr>
            </a:lvl9pPr>
          </a:lstStyle>
          <a:p>
            <a:endParaRPr/>
          </a:p>
        </p:txBody>
      </p:sp>
      <p:sp>
        <p:nvSpPr>
          <p:cNvPr id="36" name="Google Shape;36;p5"/>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
        <p:cNvGrpSpPr/>
        <p:nvPr/>
      </p:nvGrpSpPr>
      <p:grpSpPr>
        <a:xfrm>
          <a:off x="0" y="0"/>
          <a:ext cx="0" cy="0"/>
          <a:chOff x="0" y="0"/>
          <a:chExt cx="0" cy="0"/>
        </a:xfrm>
      </p:grpSpPr>
      <p:sp>
        <p:nvSpPr>
          <p:cNvPr id="38" name="Google Shape;38;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6"/>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40" name="Google Shape;40;p6"/>
          <p:cNvSpPr txBox="1">
            <a:spLocks noGrp="1"/>
          </p:cNvSpPr>
          <p:nvPr>
            <p:ph type="body" idx="1"/>
          </p:nvPr>
        </p:nvSpPr>
        <p:spPr>
          <a:xfrm>
            <a:off x="311700" y="1505700"/>
            <a:ext cx="3999900" cy="3076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1" name="Google Shape;41;p6"/>
          <p:cNvSpPr txBox="1">
            <a:spLocks noGrp="1"/>
          </p:cNvSpPr>
          <p:nvPr>
            <p:ph type="body" idx="2"/>
          </p:nvPr>
        </p:nvSpPr>
        <p:spPr>
          <a:xfrm>
            <a:off x="4832400" y="1505700"/>
            <a:ext cx="3999900" cy="3076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2" name="Google Shape;42;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3"/>
        <p:cNvGrpSpPr/>
        <p:nvPr/>
      </p:nvGrpSpPr>
      <p:grpSpPr>
        <a:xfrm>
          <a:off x="0" y="0"/>
          <a:ext cx="0" cy="0"/>
          <a:chOff x="0" y="0"/>
          <a:chExt cx="0" cy="0"/>
        </a:xfrm>
      </p:grpSpPr>
      <p:sp>
        <p:nvSpPr>
          <p:cNvPr id="44" name="Google Shape;44;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6" name="Google Shape;46;p7"/>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47" name="Google Shape;47;p7"/>
          <p:cNvSpPr txBox="1">
            <a:spLocks noGrp="1"/>
          </p:cNvSpPr>
          <p:nvPr>
            <p:ph type="title"/>
          </p:nvPr>
        </p:nvSpPr>
        <p:spPr>
          <a:xfrm>
            <a:off x="5264725" y="500925"/>
            <a:ext cx="3706500" cy="638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48" name="Google Shape;48;p7"/>
          <p:cNvSpPr txBox="1">
            <a:spLocks noGrp="1"/>
          </p:cNvSpPr>
          <p:nvPr>
            <p:ph type="body" idx="1"/>
          </p:nvPr>
        </p:nvSpPr>
        <p:spPr>
          <a:xfrm>
            <a:off x="301275" y="500925"/>
            <a:ext cx="4166400" cy="4432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9" name="Google Shape;49;p7"/>
          <p:cNvSpPr txBox="1">
            <a:spLocks noGrp="1"/>
          </p:cNvSpPr>
          <p:nvPr>
            <p:ph type="body" idx="2"/>
          </p:nvPr>
        </p:nvSpPr>
        <p:spPr>
          <a:xfrm>
            <a:off x="5192225" y="1286175"/>
            <a:ext cx="3706500" cy="26973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rgbClr val="FFFFFF"/>
              </a:buClr>
              <a:buSzPts val="1300"/>
              <a:buChar char="●"/>
              <a:defRPr>
                <a:solidFill>
                  <a:srgbClr val="FFFFFF"/>
                </a:solidFill>
              </a:defRPr>
            </a:lvl1pPr>
            <a:lvl2pPr marL="914400" lvl="1" indent="-298450" algn="l">
              <a:lnSpc>
                <a:spcPct val="115000"/>
              </a:lnSpc>
              <a:spcBef>
                <a:spcPts val="1600"/>
              </a:spcBef>
              <a:spcAft>
                <a:spcPts val="0"/>
              </a:spcAft>
              <a:buClr>
                <a:srgbClr val="FFFFFF"/>
              </a:buClr>
              <a:buSzPts val="1100"/>
              <a:buChar char="○"/>
              <a:defRPr>
                <a:solidFill>
                  <a:srgbClr val="FFFFFF"/>
                </a:solidFill>
              </a:defRPr>
            </a:lvl2pPr>
            <a:lvl3pPr marL="1371600" lvl="2" indent="-298450" algn="l">
              <a:lnSpc>
                <a:spcPct val="115000"/>
              </a:lnSpc>
              <a:spcBef>
                <a:spcPts val="1600"/>
              </a:spcBef>
              <a:spcAft>
                <a:spcPts val="0"/>
              </a:spcAft>
              <a:buClr>
                <a:srgbClr val="FFFFFF"/>
              </a:buClr>
              <a:buSzPts val="1100"/>
              <a:buChar char="■"/>
              <a:defRPr>
                <a:solidFill>
                  <a:srgbClr val="FFFFFF"/>
                </a:solidFill>
              </a:defRPr>
            </a:lvl3pPr>
            <a:lvl4pPr marL="1828800" lvl="3" indent="-298450" algn="l">
              <a:lnSpc>
                <a:spcPct val="115000"/>
              </a:lnSpc>
              <a:spcBef>
                <a:spcPts val="1600"/>
              </a:spcBef>
              <a:spcAft>
                <a:spcPts val="0"/>
              </a:spcAft>
              <a:buClr>
                <a:srgbClr val="FFFFFF"/>
              </a:buClr>
              <a:buSzPts val="1100"/>
              <a:buChar char="●"/>
              <a:defRPr>
                <a:solidFill>
                  <a:srgbClr val="FFFFFF"/>
                </a:solidFill>
              </a:defRPr>
            </a:lvl4pPr>
            <a:lvl5pPr marL="2286000" lvl="4" indent="-298450" algn="l">
              <a:lnSpc>
                <a:spcPct val="115000"/>
              </a:lnSpc>
              <a:spcBef>
                <a:spcPts val="1600"/>
              </a:spcBef>
              <a:spcAft>
                <a:spcPts val="0"/>
              </a:spcAft>
              <a:buClr>
                <a:srgbClr val="FFFFFF"/>
              </a:buClr>
              <a:buSzPts val="1100"/>
              <a:buChar char="○"/>
              <a:defRPr>
                <a:solidFill>
                  <a:srgbClr val="FFFFFF"/>
                </a:solidFill>
              </a:defRPr>
            </a:lvl5pPr>
            <a:lvl6pPr marL="2743200" lvl="5" indent="-298450" algn="l">
              <a:lnSpc>
                <a:spcPct val="115000"/>
              </a:lnSpc>
              <a:spcBef>
                <a:spcPts val="1600"/>
              </a:spcBef>
              <a:spcAft>
                <a:spcPts val="0"/>
              </a:spcAft>
              <a:buClr>
                <a:srgbClr val="FFFFFF"/>
              </a:buClr>
              <a:buSzPts val="1100"/>
              <a:buChar char="■"/>
              <a:defRPr>
                <a:solidFill>
                  <a:srgbClr val="FFFFFF"/>
                </a:solidFill>
              </a:defRPr>
            </a:lvl6pPr>
            <a:lvl7pPr marL="3200400" lvl="6" indent="-298450" algn="l">
              <a:lnSpc>
                <a:spcPct val="115000"/>
              </a:lnSpc>
              <a:spcBef>
                <a:spcPts val="1600"/>
              </a:spcBef>
              <a:spcAft>
                <a:spcPts val="0"/>
              </a:spcAft>
              <a:buClr>
                <a:srgbClr val="FFFFFF"/>
              </a:buClr>
              <a:buSzPts val="1100"/>
              <a:buChar char="●"/>
              <a:defRPr>
                <a:solidFill>
                  <a:srgbClr val="FFFFFF"/>
                </a:solidFill>
              </a:defRPr>
            </a:lvl7pPr>
            <a:lvl8pPr marL="3657600" lvl="7" indent="-298450" algn="l">
              <a:lnSpc>
                <a:spcPct val="115000"/>
              </a:lnSpc>
              <a:spcBef>
                <a:spcPts val="1600"/>
              </a:spcBef>
              <a:spcAft>
                <a:spcPts val="0"/>
              </a:spcAft>
              <a:buClr>
                <a:srgbClr val="FFFFFF"/>
              </a:buClr>
              <a:buSzPts val="1100"/>
              <a:buChar char="○"/>
              <a:defRPr>
                <a:solidFill>
                  <a:srgbClr val="FFFFFF"/>
                </a:solidFill>
              </a:defRPr>
            </a:lvl8pPr>
            <a:lvl9pPr marL="4114800" lvl="8" indent="-298450" algn="l">
              <a:lnSpc>
                <a:spcPct val="115000"/>
              </a:lnSpc>
              <a:spcBef>
                <a:spcPts val="1600"/>
              </a:spcBef>
              <a:spcAft>
                <a:spcPts val="1600"/>
              </a:spcAft>
              <a:buClr>
                <a:srgbClr val="FFFFFF"/>
              </a:buClr>
              <a:buSzPts val="1100"/>
              <a:buChar char="■"/>
              <a:defRPr>
                <a:solidFill>
                  <a:srgbClr val="FFFFFF"/>
                </a:solidFill>
              </a:defRPr>
            </a:lvl9pPr>
          </a:lstStyle>
          <a:p>
            <a:endParaRPr/>
          </a:p>
        </p:txBody>
      </p:sp>
      <p:sp>
        <p:nvSpPr>
          <p:cNvPr id="50" name="Google Shape;50;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51"/>
        <p:cNvGrpSpPr/>
        <p:nvPr/>
      </p:nvGrpSpPr>
      <p:grpSpPr>
        <a:xfrm>
          <a:off x="0" y="0"/>
          <a:ext cx="0" cy="0"/>
          <a:chOff x="0" y="0"/>
          <a:chExt cx="0" cy="0"/>
        </a:xfrm>
      </p:grpSpPr>
      <p:sp>
        <p:nvSpPr>
          <p:cNvPr id="52" name="Google Shape;52;p8"/>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53" name="Google Shape;53;p8"/>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54" name="Google Shape;54;p8"/>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55" name="Google Shape;55;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6"/>
        <p:cNvGrpSpPr/>
        <p:nvPr/>
      </p:nvGrpSpPr>
      <p:grpSpPr>
        <a:xfrm>
          <a:off x="0" y="0"/>
          <a:ext cx="0" cy="0"/>
          <a:chOff x="0" y="0"/>
          <a:chExt cx="0" cy="0"/>
        </a:xfrm>
      </p:grpSpPr>
      <p:sp>
        <p:nvSpPr>
          <p:cNvPr id="57" name="Google Shape;57;p9"/>
          <p:cNvSpPr txBox="1">
            <a:spLocks noGrp="1"/>
          </p:cNvSpPr>
          <p:nvPr>
            <p:ph type="title"/>
          </p:nvPr>
        </p:nvSpPr>
        <p:spPr>
          <a:xfrm>
            <a:off x="311675" y="798600"/>
            <a:ext cx="6247800" cy="3546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58" name="Google Shape;5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10"/>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0"/>
          <p:cNvSpPr txBox="1">
            <a:spLocks noGrp="1"/>
          </p:cNvSpPr>
          <p:nvPr>
            <p:ph type="title"/>
          </p:nvPr>
        </p:nvSpPr>
        <p:spPr>
          <a:xfrm>
            <a:off x="311300" y="500925"/>
            <a:ext cx="3704400" cy="20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62" name="Google Shape;62;p10"/>
          <p:cNvSpPr txBox="1">
            <a:spLocks noGrp="1"/>
          </p:cNvSpPr>
          <p:nvPr>
            <p:ph type="subTitle" idx="1"/>
          </p:nvPr>
        </p:nvSpPr>
        <p:spPr>
          <a:xfrm>
            <a:off x="304800" y="2626725"/>
            <a:ext cx="3704400" cy="926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63" name="Google Shape;63;p10"/>
          <p:cNvSpPr txBox="1">
            <a:spLocks noGrp="1"/>
          </p:cNvSpPr>
          <p:nvPr>
            <p:ph type="body" idx="2"/>
          </p:nvPr>
        </p:nvSpPr>
        <p:spPr>
          <a:xfrm>
            <a:off x="4879025" y="500925"/>
            <a:ext cx="3954000" cy="4111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64" name="Google Shape;64;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5"/>
        <p:cNvGrpSpPr/>
        <p:nvPr/>
      </p:nvGrpSpPr>
      <p:grpSpPr>
        <a:xfrm>
          <a:off x="0" y="0"/>
          <a:ext cx="0" cy="0"/>
          <a:chOff x="0" y="0"/>
          <a:chExt cx="0" cy="0"/>
        </a:xfrm>
      </p:grpSpPr>
      <p:sp>
        <p:nvSpPr>
          <p:cNvPr id="66" name="Google Shape;66;p11"/>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11"/>
          <p:cNvSpPr txBox="1">
            <a:spLocks noGrp="1"/>
          </p:cNvSpPr>
          <p:nvPr>
            <p:ph type="body" idx="1"/>
          </p:nvPr>
        </p:nvSpPr>
        <p:spPr>
          <a:xfrm>
            <a:off x="311700" y="4521400"/>
            <a:ext cx="7979400" cy="4605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68" name="Google Shape;6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sp>
        <p:nvSpPr>
          <p:cNvPr id="70" name="Google Shape;70;p12"/>
          <p:cNvSpPr txBox="1">
            <a:spLocks noGrp="1"/>
          </p:cNvSpPr>
          <p:nvPr>
            <p:ph type="title" hasCustomPrompt="1"/>
          </p:nvPr>
        </p:nvSpPr>
        <p:spPr>
          <a:xfrm>
            <a:off x="311750" y="831175"/>
            <a:ext cx="5334900" cy="1244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71" name="Google Shape;71;p12"/>
          <p:cNvSpPr txBox="1">
            <a:spLocks noGrp="1"/>
          </p:cNvSpPr>
          <p:nvPr>
            <p:ph type="body" idx="1"/>
          </p:nvPr>
        </p:nvSpPr>
        <p:spPr>
          <a:xfrm>
            <a:off x="311700" y="2121425"/>
            <a:ext cx="5334900" cy="9426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chemeClr val="accent2"/>
              </a:buClr>
              <a:buSzPts val="1300"/>
              <a:buChar char="●"/>
              <a:defRPr>
                <a:solidFill>
                  <a:schemeClr val="accent2"/>
                </a:solidFill>
              </a:defRPr>
            </a:lvl1pPr>
            <a:lvl2pPr marL="914400" lvl="1" indent="-298450" algn="l">
              <a:lnSpc>
                <a:spcPct val="115000"/>
              </a:lnSpc>
              <a:spcBef>
                <a:spcPts val="1600"/>
              </a:spcBef>
              <a:spcAft>
                <a:spcPts val="0"/>
              </a:spcAft>
              <a:buClr>
                <a:schemeClr val="accent2"/>
              </a:buClr>
              <a:buSzPts val="1100"/>
              <a:buChar char="○"/>
              <a:defRPr>
                <a:solidFill>
                  <a:schemeClr val="accent2"/>
                </a:solidFill>
              </a:defRPr>
            </a:lvl2pPr>
            <a:lvl3pPr marL="1371600" lvl="2" indent="-298450" algn="l">
              <a:lnSpc>
                <a:spcPct val="115000"/>
              </a:lnSpc>
              <a:spcBef>
                <a:spcPts val="1600"/>
              </a:spcBef>
              <a:spcAft>
                <a:spcPts val="0"/>
              </a:spcAft>
              <a:buClr>
                <a:schemeClr val="accent2"/>
              </a:buClr>
              <a:buSzPts val="1100"/>
              <a:buChar char="■"/>
              <a:defRPr>
                <a:solidFill>
                  <a:schemeClr val="accent2"/>
                </a:solidFill>
              </a:defRPr>
            </a:lvl3pPr>
            <a:lvl4pPr marL="1828800" lvl="3" indent="-298450" algn="l">
              <a:lnSpc>
                <a:spcPct val="115000"/>
              </a:lnSpc>
              <a:spcBef>
                <a:spcPts val="1600"/>
              </a:spcBef>
              <a:spcAft>
                <a:spcPts val="0"/>
              </a:spcAft>
              <a:buClr>
                <a:schemeClr val="accent2"/>
              </a:buClr>
              <a:buSzPts val="1100"/>
              <a:buChar char="●"/>
              <a:defRPr>
                <a:solidFill>
                  <a:schemeClr val="accent2"/>
                </a:solidFill>
              </a:defRPr>
            </a:lvl4pPr>
            <a:lvl5pPr marL="2286000" lvl="4" indent="-298450" algn="l">
              <a:lnSpc>
                <a:spcPct val="115000"/>
              </a:lnSpc>
              <a:spcBef>
                <a:spcPts val="1600"/>
              </a:spcBef>
              <a:spcAft>
                <a:spcPts val="0"/>
              </a:spcAft>
              <a:buClr>
                <a:schemeClr val="accent2"/>
              </a:buClr>
              <a:buSzPts val="1100"/>
              <a:buChar char="○"/>
              <a:defRPr>
                <a:solidFill>
                  <a:schemeClr val="accent2"/>
                </a:solidFill>
              </a:defRPr>
            </a:lvl5pPr>
            <a:lvl6pPr marL="2743200" lvl="5" indent="-298450" algn="l">
              <a:lnSpc>
                <a:spcPct val="115000"/>
              </a:lnSpc>
              <a:spcBef>
                <a:spcPts val="1600"/>
              </a:spcBef>
              <a:spcAft>
                <a:spcPts val="0"/>
              </a:spcAft>
              <a:buClr>
                <a:schemeClr val="accent2"/>
              </a:buClr>
              <a:buSzPts val="1100"/>
              <a:buChar char="■"/>
              <a:defRPr>
                <a:solidFill>
                  <a:schemeClr val="accent2"/>
                </a:solidFill>
              </a:defRPr>
            </a:lvl6pPr>
            <a:lvl7pPr marL="3200400" lvl="6" indent="-298450" algn="l">
              <a:lnSpc>
                <a:spcPct val="115000"/>
              </a:lnSpc>
              <a:spcBef>
                <a:spcPts val="1600"/>
              </a:spcBef>
              <a:spcAft>
                <a:spcPts val="0"/>
              </a:spcAft>
              <a:buClr>
                <a:schemeClr val="accent2"/>
              </a:buClr>
              <a:buSzPts val="1100"/>
              <a:buChar char="●"/>
              <a:defRPr>
                <a:solidFill>
                  <a:schemeClr val="accent2"/>
                </a:solidFill>
              </a:defRPr>
            </a:lvl7pPr>
            <a:lvl8pPr marL="3657600" lvl="7" indent="-298450" algn="l">
              <a:lnSpc>
                <a:spcPct val="115000"/>
              </a:lnSpc>
              <a:spcBef>
                <a:spcPts val="1600"/>
              </a:spcBef>
              <a:spcAft>
                <a:spcPts val="0"/>
              </a:spcAft>
              <a:buClr>
                <a:schemeClr val="accent2"/>
              </a:buClr>
              <a:buSzPts val="1100"/>
              <a:buChar char="○"/>
              <a:defRPr>
                <a:solidFill>
                  <a:schemeClr val="accent2"/>
                </a:solidFill>
              </a:defRPr>
            </a:lvl8pPr>
            <a:lvl9pPr marL="4114800" lvl="8" indent="-298450" algn="l">
              <a:lnSpc>
                <a:spcPct val="115000"/>
              </a:lnSpc>
              <a:spcBef>
                <a:spcPts val="1600"/>
              </a:spcBef>
              <a:spcAft>
                <a:spcPts val="1600"/>
              </a:spcAft>
              <a:buClr>
                <a:schemeClr val="accent2"/>
              </a:buClr>
              <a:buSzPts val="1100"/>
              <a:buChar char="■"/>
              <a:defRPr>
                <a:solidFill>
                  <a:schemeClr val="accent2"/>
                </a:solidFill>
              </a:defRPr>
            </a:lvl9pPr>
          </a:lstStyle>
          <a:p>
            <a:endParaRPr/>
          </a:p>
        </p:txBody>
      </p:sp>
      <p:sp>
        <p:nvSpPr>
          <p:cNvPr id="72" name="Google Shape;72;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3"/>
        <p:cNvGrpSpPr/>
        <p:nvPr/>
      </p:nvGrpSpPr>
      <p:grpSpPr>
        <a:xfrm>
          <a:off x="0" y="0"/>
          <a:ext cx="0" cy="0"/>
          <a:chOff x="0" y="0"/>
          <a:chExt cx="0" cy="0"/>
        </a:xfrm>
      </p:grpSpPr>
      <p:sp>
        <p:nvSpPr>
          <p:cNvPr id="74" name="Google Shape;7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75"/>
        <p:cNvGrpSpPr/>
        <p:nvPr/>
      </p:nvGrpSpPr>
      <p:grpSpPr>
        <a:xfrm>
          <a:off x="0" y="0"/>
          <a:ext cx="0" cy="0"/>
          <a:chOff x="0" y="0"/>
          <a:chExt cx="0" cy="0"/>
        </a:xfrm>
      </p:grpSpPr>
      <p:sp>
        <p:nvSpPr>
          <p:cNvPr id="76" name="Google Shape;76;p1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8" name="Google Shape;78;p14"/>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79" name="Google Shape;7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2" name="Google Shape;82;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83" name="Google Shape;83;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84"/>
        <p:cNvGrpSpPr/>
        <p:nvPr/>
      </p:nvGrpSpPr>
      <p:grpSpPr>
        <a:xfrm>
          <a:off x="0" y="0"/>
          <a:ext cx="0" cy="0"/>
          <a:chOff x="0" y="0"/>
          <a:chExt cx="0" cy="0"/>
        </a:xfrm>
      </p:grpSpPr>
      <p:sp>
        <p:nvSpPr>
          <p:cNvPr id="85" name="Google Shape;85;p16"/>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6"/>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87" name="Google Shape;87;p16"/>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8" name="Google Shape;88;p16"/>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9" name="Google Shape;89;p16"/>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6"/>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1" name="Google Shape;91;p16"/>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6"/>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3" name="Google Shape;93;p16"/>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8"/>
        <p:cNvGrpSpPr/>
        <p:nvPr/>
      </p:nvGrpSpPr>
      <p:grpSpPr>
        <a:xfrm>
          <a:off x="0" y="0"/>
          <a:ext cx="0" cy="0"/>
          <a:chOff x="0" y="0"/>
          <a:chExt cx="0" cy="0"/>
        </a:xfrm>
      </p:grpSpPr>
      <p:sp>
        <p:nvSpPr>
          <p:cNvPr id="99" name="Google Shape;99;p18"/>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00" name="Google Shape;100;p18"/>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01" name="Google Shape;101;p18"/>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02" name="Google Shape;102;p1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03"/>
        <p:cNvGrpSpPr/>
        <p:nvPr/>
      </p:nvGrpSpPr>
      <p:grpSpPr>
        <a:xfrm>
          <a:off x="0" y="0"/>
          <a:ext cx="0" cy="0"/>
          <a:chOff x="0" y="0"/>
          <a:chExt cx="0" cy="0"/>
        </a:xfrm>
      </p:grpSpPr>
      <p:sp>
        <p:nvSpPr>
          <p:cNvPr id="104" name="Google Shape;104;p19"/>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05" name="Google Shape;105;p19"/>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06" name="Google Shape;106;p19"/>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07" name="Google Shape;107;p1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8"/>
        <p:cNvGrpSpPr/>
        <p:nvPr/>
      </p:nvGrpSpPr>
      <p:grpSpPr>
        <a:xfrm>
          <a:off x="0" y="0"/>
          <a:ext cx="0" cy="0"/>
          <a:chOff x="0" y="0"/>
          <a:chExt cx="0" cy="0"/>
        </a:xfrm>
      </p:grpSpPr>
      <p:sp>
        <p:nvSpPr>
          <p:cNvPr id="109" name="Google Shape;109;p20"/>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10" name="Google Shape;110;p20"/>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0"/>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2" name="Google Shape;112;p20"/>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3" name="Google Shape;113;p2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4" name="Google Shape;114;p20"/>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15" name="Google Shape;115;p20"/>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6"/>
        <p:cNvGrpSpPr/>
        <p:nvPr/>
      </p:nvGrpSpPr>
      <p:grpSpPr>
        <a:xfrm>
          <a:off x="0" y="0"/>
          <a:ext cx="0" cy="0"/>
          <a:chOff x="0" y="0"/>
          <a:chExt cx="0" cy="0"/>
        </a:xfrm>
      </p:grpSpPr>
      <p:sp>
        <p:nvSpPr>
          <p:cNvPr id="117" name="Google Shape;117;p21"/>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9" name="Google Shape;119;p21"/>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20" name="Google Shape;120;p21"/>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21" name="Google Shape;121;p2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2"/>
        <p:cNvGrpSpPr/>
        <p:nvPr/>
      </p:nvGrpSpPr>
      <p:grpSpPr>
        <a:xfrm>
          <a:off x="0" y="0"/>
          <a:ext cx="0" cy="0"/>
          <a:chOff x="0" y="0"/>
          <a:chExt cx="0" cy="0"/>
        </a:xfrm>
      </p:grpSpPr>
      <p:sp>
        <p:nvSpPr>
          <p:cNvPr id="123" name="Google Shape;123;p22"/>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2"/>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5" name="Google Shape;125;p2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6"/>
        <p:cNvGrpSpPr/>
        <p:nvPr/>
      </p:nvGrpSpPr>
      <p:grpSpPr>
        <a:xfrm>
          <a:off x="0" y="0"/>
          <a:ext cx="0" cy="0"/>
          <a:chOff x="0" y="0"/>
          <a:chExt cx="0" cy="0"/>
        </a:xfrm>
      </p:grpSpPr>
      <p:sp>
        <p:nvSpPr>
          <p:cNvPr id="127" name="Google Shape;127;p23"/>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3"/>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29" name="Google Shape;129;p23"/>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0" name="Google Shape;130;p23"/>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31" name="Google Shape;131;p23"/>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2" name="Google Shape;132;p23"/>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33" name="Google Shape;133;p23"/>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36" name="Google Shape;136;p2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7"/>
        <p:cNvGrpSpPr/>
        <p:nvPr/>
      </p:nvGrpSpPr>
      <p:grpSpPr>
        <a:xfrm>
          <a:off x="0" y="0"/>
          <a:ext cx="0" cy="0"/>
          <a:chOff x="0" y="0"/>
          <a:chExt cx="0" cy="0"/>
        </a:xfrm>
      </p:grpSpPr>
      <p:sp>
        <p:nvSpPr>
          <p:cNvPr id="138" name="Google Shape;138;p25"/>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5"/>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0" name="Google Shape;140;p25"/>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141" name="Google Shape;141;p25"/>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2" name="Google Shape;142;p2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3"/>
        <p:cNvGrpSpPr/>
        <p:nvPr/>
      </p:nvGrpSpPr>
      <p:grpSpPr>
        <a:xfrm>
          <a:off x="0" y="0"/>
          <a:ext cx="0" cy="0"/>
          <a:chOff x="0" y="0"/>
          <a:chExt cx="0" cy="0"/>
        </a:xfrm>
      </p:grpSpPr>
      <p:sp>
        <p:nvSpPr>
          <p:cNvPr id="144" name="Google Shape;144;p26"/>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6"/>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46" name="Google Shape;146;p2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47"/>
        <p:cNvGrpSpPr/>
        <p:nvPr/>
      </p:nvGrpSpPr>
      <p:grpSpPr>
        <a:xfrm>
          <a:off x="0" y="0"/>
          <a:ext cx="0" cy="0"/>
          <a:chOff x="0" y="0"/>
          <a:chExt cx="0" cy="0"/>
        </a:xfrm>
      </p:grpSpPr>
      <p:sp>
        <p:nvSpPr>
          <p:cNvPr id="148" name="Google Shape;148;p27"/>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49" name="Google Shape;149;p27"/>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150" name="Google Shape;150;p2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1"/>
        <p:cNvGrpSpPr/>
        <p:nvPr/>
      </p:nvGrpSpPr>
      <p:grpSpPr>
        <a:xfrm>
          <a:off x="0" y="0"/>
          <a:ext cx="0" cy="0"/>
          <a:chOff x="0" y="0"/>
          <a:chExt cx="0" cy="0"/>
        </a:xfrm>
      </p:grpSpPr>
      <p:sp>
        <p:nvSpPr>
          <p:cNvPr id="152" name="Google Shape;152;p2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53"/>
        <p:cNvGrpSpPr/>
        <p:nvPr/>
      </p:nvGrpSpPr>
      <p:grpSpPr>
        <a:xfrm>
          <a:off x="0" y="0"/>
          <a:ext cx="0" cy="0"/>
          <a:chOff x="0" y="0"/>
          <a:chExt cx="0" cy="0"/>
        </a:xfrm>
      </p:grpSpPr>
      <p:sp>
        <p:nvSpPr>
          <p:cNvPr id="154" name="Google Shape;154;p2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9"/>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6" name="Google Shape;156;p29"/>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57" name="Google Shape;157;p2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158"/>
        <p:cNvGrpSpPr/>
        <p:nvPr/>
      </p:nvGrpSpPr>
      <p:grpSpPr>
        <a:xfrm>
          <a:off x="0" y="0"/>
          <a:ext cx="0" cy="0"/>
          <a:chOff x="0" y="0"/>
          <a:chExt cx="0" cy="0"/>
        </a:xfrm>
      </p:grpSpPr>
      <p:sp>
        <p:nvSpPr>
          <p:cNvPr id="159" name="Google Shape;159;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0" name="Google Shape;160;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61" name="Google Shape;161;p3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66"/>
        <p:cNvGrpSpPr/>
        <p:nvPr/>
      </p:nvGrpSpPr>
      <p:grpSpPr>
        <a:xfrm>
          <a:off x="0" y="0"/>
          <a:ext cx="0" cy="0"/>
          <a:chOff x="0" y="0"/>
          <a:chExt cx="0" cy="0"/>
        </a:xfrm>
      </p:grpSpPr>
      <p:sp>
        <p:nvSpPr>
          <p:cNvPr id="167" name="Google Shape;167;p3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8" name="Google Shape;168;p3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69" name="Google Shape;169;p3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70" name="Google Shape;170;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71"/>
        <p:cNvGrpSpPr/>
        <p:nvPr/>
      </p:nvGrpSpPr>
      <p:grpSpPr>
        <a:xfrm>
          <a:off x="0" y="0"/>
          <a:ext cx="0" cy="0"/>
          <a:chOff x="0" y="0"/>
          <a:chExt cx="0" cy="0"/>
        </a:xfrm>
      </p:grpSpPr>
      <p:sp>
        <p:nvSpPr>
          <p:cNvPr id="172" name="Google Shape;172;p3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73" name="Google Shape;173;p3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4" name="Google Shape;174;p3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75" name="Google Shape;175;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6"/>
        <p:cNvGrpSpPr/>
        <p:nvPr/>
      </p:nvGrpSpPr>
      <p:grpSpPr>
        <a:xfrm>
          <a:off x="0" y="0"/>
          <a:ext cx="0" cy="0"/>
          <a:chOff x="0" y="0"/>
          <a:chExt cx="0" cy="0"/>
        </a:xfrm>
      </p:grpSpPr>
      <p:sp>
        <p:nvSpPr>
          <p:cNvPr id="177" name="Google Shape;177;p3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78" name="Google Shape;178;p3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80" name="Google Shape;180;p3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81" name="Google Shape;18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82" name="Google Shape;182;p3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83" name="Google Shape;183;p3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4"/>
        <p:cNvGrpSpPr/>
        <p:nvPr/>
      </p:nvGrpSpPr>
      <p:grpSpPr>
        <a:xfrm>
          <a:off x="0" y="0"/>
          <a:ext cx="0" cy="0"/>
          <a:chOff x="0" y="0"/>
          <a:chExt cx="0" cy="0"/>
        </a:xfrm>
      </p:grpSpPr>
      <p:sp>
        <p:nvSpPr>
          <p:cNvPr id="185" name="Google Shape;185;p3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87" name="Google Shape;187;p3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88" name="Google Shape;188;p3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89" name="Google Shape;189;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0"/>
        <p:cNvGrpSpPr/>
        <p:nvPr/>
      </p:nvGrpSpPr>
      <p:grpSpPr>
        <a:xfrm>
          <a:off x="0" y="0"/>
          <a:ext cx="0" cy="0"/>
          <a:chOff x="0" y="0"/>
          <a:chExt cx="0" cy="0"/>
        </a:xfrm>
      </p:grpSpPr>
      <p:sp>
        <p:nvSpPr>
          <p:cNvPr id="191" name="Google Shape;191;p3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93" name="Google Shape;193;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94"/>
        <p:cNvGrpSpPr/>
        <p:nvPr/>
      </p:nvGrpSpPr>
      <p:grpSpPr>
        <a:xfrm>
          <a:off x="0" y="0"/>
          <a:ext cx="0" cy="0"/>
          <a:chOff x="0" y="0"/>
          <a:chExt cx="0" cy="0"/>
        </a:xfrm>
      </p:grpSpPr>
      <p:sp>
        <p:nvSpPr>
          <p:cNvPr id="195" name="Google Shape;195;p3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97" name="Google Shape;197;p3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98" name="Google Shape;198;p3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99" name="Google Shape;199;p3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00" name="Google Shape;200;p3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201" name="Google Shape;201;p3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202"/>
        <p:cNvGrpSpPr/>
        <p:nvPr/>
      </p:nvGrpSpPr>
      <p:grpSpPr>
        <a:xfrm>
          <a:off x="0" y="0"/>
          <a:ext cx="0" cy="0"/>
          <a:chOff x="0" y="0"/>
          <a:chExt cx="0" cy="0"/>
        </a:xfrm>
      </p:grpSpPr>
      <p:sp>
        <p:nvSpPr>
          <p:cNvPr id="203" name="Google Shape;203;p3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04" name="Google Shape;204;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5"/>
        <p:cNvGrpSpPr/>
        <p:nvPr/>
      </p:nvGrpSpPr>
      <p:grpSpPr>
        <a:xfrm>
          <a:off x="0" y="0"/>
          <a:ext cx="0" cy="0"/>
          <a:chOff x="0" y="0"/>
          <a:chExt cx="0" cy="0"/>
        </a:xfrm>
      </p:grpSpPr>
      <p:sp>
        <p:nvSpPr>
          <p:cNvPr id="206" name="Google Shape;206;p3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8" name="Google Shape;208;p3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09" name="Google Shape;209;p3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10" name="Google Shape;210;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11"/>
        <p:cNvGrpSpPr/>
        <p:nvPr/>
      </p:nvGrpSpPr>
      <p:grpSpPr>
        <a:xfrm>
          <a:off x="0" y="0"/>
          <a:ext cx="0" cy="0"/>
          <a:chOff x="0" y="0"/>
          <a:chExt cx="0" cy="0"/>
        </a:xfrm>
      </p:grpSpPr>
      <p:sp>
        <p:nvSpPr>
          <p:cNvPr id="212" name="Google Shape;212;p4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14" name="Google Shape;214;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15"/>
        <p:cNvGrpSpPr/>
        <p:nvPr/>
      </p:nvGrpSpPr>
      <p:grpSpPr>
        <a:xfrm>
          <a:off x="0" y="0"/>
          <a:ext cx="0" cy="0"/>
          <a:chOff x="0" y="0"/>
          <a:chExt cx="0" cy="0"/>
        </a:xfrm>
      </p:grpSpPr>
      <p:sp>
        <p:nvSpPr>
          <p:cNvPr id="216" name="Google Shape;216;p4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217" name="Google Shape;217;p4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218" name="Google Shape;218;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9"/>
        <p:cNvGrpSpPr/>
        <p:nvPr/>
      </p:nvGrpSpPr>
      <p:grpSpPr>
        <a:xfrm>
          <a:off x="0" y="0"/>
          <a:ext cx="0" cy="0"/>
          <a:chOff x="0" y="0"/>
          <a:chExt cx="0" cy="0"/>
        </a:xfrm>
      </p:grpSpPr>
      <p:sp>
        <p:nvSpPr>
          <p:cNvPr id="220" name="Google Shape;220;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21"/>
        <p:cNvGrpSpPr/>
        <p:nvPr/>
      </p:nvGrpSpPr>
      <p:grpSpPr>
        <a:xfrm>
          <a:off x="0" y="0"/>
          <a:ext cx="0" cy="0"/>
          <a:chOff x="0" y="0"/>
          <a:chExt cx="0" cy="0"/>
        </a:xfrm>
      </p:grpSpPr>
      <p:cxnSp>
        <p:nvCxnSpPr>
          <p:cNvPr id="222" name="Google Shape;222;p43"/>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223" name="Google Shape;223;p43"/>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224" name="Google Shape;224;p43"/>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225" name="Google Shape;225;p43"/>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6" name="Google Shape;226;p43"/>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27" name="Google Shape;227;p4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228"/>
        <p:cNvGrpSpPr/>
        <p:nvPr/>
      </p:nvGrpSpPr>
      <p:grpSpPr>
        <a:xfrm>
          <a:off x="0" y="0"/>
          <a:ext cx="0" cy="0"/>
          <a:chOff x="0" y="0"/>
          <a:chExt cx="0" cy="0"/>
        </a:xfrm>
      </p:grpSpPr>
      <p:sp>
        <p:nvSpPr>
          <p:cNvPr id="229" name="Google Shape;229;p44"/>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44"/>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1" name="Google Shape;231;p44"/>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32" name="Google Shape;232;p44"/>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233" name="Google Shape;233;p44"/>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234" name="Google Shape;234;p44"/>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0"/>
              </a:spcBef>
              <a:spcAft>
                <a:spcPts val="0"/>
              </a:spcAft>
              <a:buSzPts val="1100"/>
              <a:buChar char="○"/>
              <a:defRPr/>
            </a:lvl2pPr>
            <a:lvl3pPr marL="1371600" lvl="2" indent="-298450" algn="l" rtl="0">
              <a:lnSpc>
                <a:spcPct val="115000"/>
              </a:lnSpc>
              <a:spcBef>
                <a:spcPts val="0"/>
              </a:spcBef>
              <a:spcAft>
                <a:spcPts val="0"/>
              </a:spcAft>
              <a:buSzPts val="1100"/>
              <a:buChar char="■"/>
              <a:defRPr/>
            </a:lvl3pPr>
            <a:lvl4pPr marL="1828800" lvl="3" indent="-298450" algn="l" rtl="0">
              <a:lnSpc>
                <a:spcPct val="115000"/>
              </a:lnSpc>
              <a:spcBef>
                <a:spcPts val="0"/>
              </a:spcBef>
              <a:spcAft>
                <a:spcPts val="0"/>
              </a:spcAft>
              <a:buSzPts val="1100"/>
              <a:buChar char="●"/>
              <a:defRPr/>
            </a:lvl4pPr>
            <a:lvl5pPr marL="2286000" lvl="4" indent="-298450" algn="l" rtl="0">
              <a:lnSpc>
                <a:spcPct val="115000"/>
              </a:lnSpc>
              <a:spcBef>
                <a:spcPts val="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235" name="Google Shape;235;p44"/>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ustom layout">
  <p:cSld name="AUTOLAYOUT_2">
    <p:bg>
      <p:bgPr>
        <a:solidFill>
          <a:srgbClr val="FFFFFF"/>
        </a:solidFill>
        <a:effectLst/>
      </p:bgPr>
    </p:bg>
    <p:spTree>
      <p:nvGrpSpPr>
        <p:cNvPr id="1" name="Shape 236"/>
        <p:cNvGrpSpPr/>
        <p:nvPr/>
      </p:nvGrpSpPr>
      <p:grpSpPr>
        <a:xfrm>
          <a:off x="0" y="0"/>
          <a:ext cx="0" cy="0"/>
          <a:chOff x="0" y="0"/>
          <a:chExt cx="0" cy="0"/>
        </a:xfrm>
      </p:grpSpPr>
      <p:sp>
        <p:nvSpPr>
          <p:cNvPr id="237" name="Google Shape;237;p45"/>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45"/>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45"/>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45"/>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45"/>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42" name="Google Shape;242;p45"/>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243" name="Google Shape;243;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44" name="Google Shape;244;p45"/>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245" name="Google Shape;245;p45"/>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246" name="Google Shape;246;p45"/>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251"/>
        <p:cNvGrpSpPr/>
        <p:nvPr/>
      </p:nvGrpSpPr>
      <p:grpSpPr>
        <a:xfrm>
          <a:off x="0" y="0"/>
          <a:ext cx="0" cy="0"/>
          <a:chOff x="0" y="0"/>
          <a:chExt cx="0" cy="0"/>
        </a:xfrm>
      </p:grpSpPr>
      <p:sp>
        <p:nvSpPr>
          <p:cNvPr id="252" name="Google Shape;252;p47"/>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53" name="Google Shape;253;p47"/>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54" name="Google Shape;254;p47"/>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255" name="Google Shape;25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256"/>
        <p:cNvGrpSpPr/>
        <p:nvPr/>
      </p:nvGrpSpPr>
      <p:grpSpPr>
        <a:xfrm>
          <a:off x="0" y="0"/>
          <a:ext cx="0" cy="0"/>
          <a:chOff x="0" y="0"/>
          <a:chExt cx="0" cy="0"/>
        </a:xfrm>
      </p:grpSpPr>
      <p:sp>
        <p:nvSpPr>
          <p:cNvPr id="257" name="Google Shape;257;p48"/>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58" name="Google Shape;258;p48"/>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259" name="Google Shape;259;p48"/>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60" name="Google Shape;260;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1"/>
        <p:cNvGrpSpPr/>
        <p:nvPr/>
      </p:nvGrpSpPr>
      <p:grpSpPr>
        <a:xfrm>
          <a:off x="0" y="0"/>
          <a:ext cx="0" cy="0"/>
          <a:chOff x="0" y="0"/>
          <a:chExt cx="0" cy="0"/>
        </a:xfrm>
      </p:grpSpPr>
      <p:sp>
        <p:nvSpPr>
          <p:cNvPr id="262" name="Google Shape;262;p49"/>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63" name="Google Shape;263;p49"/>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9"/>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65" name="Google Shape;265;p49"/>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66" name="Google Shape;266;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67" name="Google Shape;267;p49"/>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268" name="Google Shape;268;p49"/>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9"/>
        <p:cNvGrpSpPr/>
        <p:nvPr/>
      </p:nvGrpSpPr>
      <p:grpSpPr>
        <a:xfrm>
          <a:off x="0" y="0"/>
          <a:ext cx="0" cy="0"/>
          <a:chOff x="0" y="0"/>
          <a:chExt cx="0" cy="0"/>
        </a:xfrm>
      </p:grpSpPr>
      <p:sp>
        <p:nvSpPr>
          <p:cNvPr id="270" name="Google Shape;270;p50"/>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5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72" name="Google Shape;272;p50"/>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73" name="Google Shape;273;p50"/>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74" name="Google Shape;274;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5"/>
        <p:cNvGrpSpPr/>
        <p:nvPr/>
      </p:nvGrpSpPr>
      <p:grpSpPr>
        <a:xfrm>
          <a:off x="0" y="0"/>
          <a:ext cx="0" cy="0"/>
          <a:chOff x="0" y="0"/>
          <a:chExt cx="0" cy="0"/>
        </a:xfrm>
      </p:grpSpPr>
      <p:sp>
        <p:nvSpPr>
          <p:cNvPr id="276" name="Google Shape;276;p51"/>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5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78" name="Google Shape;278;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9"/>
        <p:cNvGrpSpPr/>
        <p:nvPr/>
      </p:nvGrpSpPr>
      <p:grpSpPr>
        <a:xfrm>
          <a:off x="0" y="0"/>
          <a:ext cx="0" cy="0"/>
          <a:chOff x="0" y="0"/>
          <a:chExt cx="0" cy="0"/>
        </a:xfrm>
      </p:grpSpPr>
      <p:sp>
        <p:nvSpPr>
          <p:cNvPr id="280" name="Google Shape;280;p52"/>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52"/>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82" name="Google Shape;282;p5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83" name="Google Shape;283;p52"/>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84" name="Google Shape;284;p52"/>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5" name="Google Shape;285;p52"/>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286" name="Google Shape;286;p52"/>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287"/>
        <p:cNvGrpSpPr/>
        <p:nvPr/>
      </p:nvGrpSpPr>
      <p:grpSpPr>
        <a:xfrm>
          <a:off x="0" y="0"/>
          <a:ext cx="0" cy="0"/>
          <a:chOff x="0" y="0"/>
          <a:chExt cx="0" cy="0"/>
        </a:xfrm>
      </p:grpSpPr>
      <p:sp>
        <p:nvSpPr>
          <p:cNvPr id="288" name="Google Shape;288;p53"/>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89" name="Google Shape;289;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90"/>
        <p:cNvGrpSpPr/>
        <p:nvPr/>
      </p:nvGrpSpPr>
      <p:grpSpPr>
        <a:xfrm>
          <a:off x="0" y="0"/>
          <a:ext cx="0" cy="0"/>
          <a:chOff x="0" y="0"/>
          <a:chExt cx="0" cy="0"/>
        </a:xfrm>
      </p:grpSpPr>
      <p:sp>
        <p:nvSpPr>
          <p:cNvPr id="291" name="Google Shape;291;p54"/>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54"/>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93" name="Google Shape;293;p54"/>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94" name="Google Shape;294;p54"/>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95" name="Google Shape;295;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96"/>
        <p:cNvGrpSpPr/>
        <p:nvPr/>
      </p:nvGrpSpPr>
      <p:grpSpPr>
        <a:xfrm>
          <a:off x="0" y="0"/>
          <a:ext cx="0" cy="0"/>
          <a:chOff x="0" y="0"/>
          <a:chExt cx="0" cy="0"/>
        </a:xfrm>
      </p:grpSpPr>
      <p:sp>
        <p:nvSpPr>
          <p:cNvPr id="297" name="Google Shape;297;p55"/>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55"/>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99" name="Google Shape;299;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300"/>
        <p:cNvGrpSpPr/>
        <p:nvPr/>
      </p:nvGrpSpPr>
      <p:grpSpPr>
        <a:xfrm>
          <a:off x="0" y="0"/>
          <a:ext cx="0" cy="0"/>
          <a:chOff x="0" y="0"/>
          <a:chExt cx="0" cy="0"/>
        </a:xfrm>
      </p:grpSpPr>
      <p:sp>
        <p:nvSpPr>
          <p:cNvPr id="301" name="Google Shape;301;p56"/>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302" name="Google Shape;302;p56"/>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303" name="Google Shape;303;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04"/>
        <p:cNvGrpSpPr/>
        <p:nvPr/>
      </p:nvGrpSpPr>
      <p:grpSpPr>
        <a:xfrm>
          <a:off x="0" y="0"/>
          <a:ext cx="0" cy="0"/>
          <a:chOff x="0" y="0"/>
          <a:chExt cx="0" cy="0"/>
        </a:xfrm>
      </p:grpSpPr>
      <p:sp>
        <p:nvSpPr>
          <p:cNvPr id="305" name="Google Shape;305;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306"/>
        <p:cNvGrpSpPr/>
        <p:nvPr/>
      </p:nvGrpSpPr>
      <p:grpSpPr>
        <a:xfrm>
          <a:off x="0" y="0"/>
          <a:ext cx="0" cy="0"/>
          <a:chOff x="0" y="0"/>
          <a:chExt cx="0" cy="0"/>
        </a:xfrm>
      </p:grpSpPr>
      <p:sp>
        <p:nvSpPr>
          <p:cNvPr id="307" name="Google Shape;307;p5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58"/>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09" name="Google Shape;309;p58"/>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310" name="Google Shape;310;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311"/>
        <p:cNvGrpSpPr/>
        <p:nvPr/>
      </p:nvGrpSpPr>
      <p:grpSpPr>
        <a:xfrm>
          <a:off x="0" y="0"/>
          <a:ext cx="0" cy="0"/>
          <a:chOff x="0" y="0"/>
          <a:chExt cx="0" cy="0"/>
        </a:xfrm>
      </p:grpSpPr>
      <p:sp>
        <p:nvSpPr>
          <p:cNvPr id="312" name="Google Shape;312;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3" name="Google Shape;313;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314" name="Google Shape;314;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315"/>
        <p:cNvGrpSpPr/>
        <p:nvPr/>
      </p:nvGrpSpPr>
      <p:grpSpPr>
        <a:xfrm>
          <a:off x="0" y="0"/>
          <a:ext cx="0" cy="0"/>
          <a:chOff x="0" y="0"/>
          <a:chExt cx="0" cy="0"/>
        </a:xfrm>
      </p:grpSpPr>
      <p:sp>
        <p:nvSpPr>
          <p:cNvPr id="316" name="Google Shape;316;p60"/>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60"/>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318" name="Google Shape;318;p60"/>
          <p:cNvSpPr txBox="1">
            <a:spLocks noGrp="1"/>
          </p:cNvSpPr>
          <p:nvPr>
            <p:ph type="sldNum" idx="12"/>
          </p:nvPr>
        </p:nvSpPr>
        <p:spPr>
          <a:xfrm>
            <a:off x="0" y="4946700"/>
            <a:ext cx="422100" cy="196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319" name="Google Shape;319;p60"/>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320" name="Google Shape;320;p60"/>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321" name="Google Shape;321;p60"/>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600"/>
              </a:spcBef>
              <a:spcAft>
                <a:spcPts val="0"/>
              </a:spcAft>
              <a:buSzPts val="1100"/>
              <a:buChar char="○"/>
              <a:defRPr sz="1200"/>
            </a:lvl2pPr>
            <a:lvl3pPr marL="1371600" lvl="2" indent="-298450" algn="l" rtl="0">
              <a:lnSpc>
                <a:spcPct val="115000"/>
              </a:lnSpc>
              <a:spcBef>
                <a:spcPts val="600"/>
              </a:spcBef>
              <a:spcAft>
                <a:spcPts val="0"/>
              </a:spcAft>
              <a:buSzPts val="1100"/>
              <a:buChar char="■"/>
              <a:defRPr/>
            </a:lvl3pPr>
            <a:lvl4pPr marL="1828800" lvl="3" indent="-298450" algn="l" rtl="0">
              <a:lnSpc>
                <a:spcPct val="115000"/>
              </a:lnSpc>
              <a:spcBef>
                <a:spcPts val="600"/>
              </a:spcBef>
              <a:spcAft>
                <a:spcPts val="0"/>
              </a:spcAft>
              <a:buSzPts val="1100"/>
              <a:buChar char="●"/>
              <a:defRPr/>
            </a:lvl4pPr>
            <a:lvl5pPr marL="2286000" lvl="4" indent="-298450" algn="l" rtl="0">
              <a:lnSpc>
                <a:spcPct val="115000"/>
              </a:lnSpc>
              <a:spcBef>
                <a:spcPts val="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322" name="Google Shape;322;p60"/>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sz="1200">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Custom layout">
  <p:cSld name="Activity">
    <p:bg>
      <p:bgPr>
        <a:solidFill>
          <a:srgbClr val="FFFFFF"/>
        </a:solidFill>
        <a:effectLst/>
      </p:bgPr>
    </p:bg>
    <p:spTree>
      <p:nvGrpSpPr>
        <p:cNvPr id="1" name="Shape 323"/>
        <p:cNvGrpSpPr/>
        <p:nvPr/>
      </p:nvGrpSpPr>
      <p:grpSpPr>
        <a:xfrm>
          <a:off x="0" y="0"/>
          <a:ext cx="0" cy="0"/>
          <a:chOff x="0" y="0"/>
          <a:chExt cx="0" cy="0"/>
        </a:xfrm>
      </p:grpSpPr>
      <p:sp>
        <p:nvSpPr>
          <p:cNvPr id="324" name="Google Shape;324;p61"/>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61"/>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61"/>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61"/>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61"/>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329" name="Google Shape;329;p61"/>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330" name="Google Shape;330;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331" name="Google Shape;331;p61"/>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332" name="Google Shape;332;p61"/>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333" name="Google Shape;333;p61"/>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only 1">
  <p:cSld name="Tow Collumns">
    <p:spTree>
      <p:nvGrpSpPr>
        <p:cNvPr id="1" name="Shape 334"/>
        <p:cNvGrpSpPr/>
        <p:nvPr/>
      </p:nvGrpSpPr>
      <p:grpSpPr>
        <a:xfrm>
          <a:off x="0" y="0"/>
          <a:ext cx="0" cy="0"/>
          <a:chOff x="0" y="0"/>
          <a:chExt cx="0" cy="0"/>
        </a:xfrm>
      </p:grpSpPr>
      <p:sp>
        <p:nvSpPr>
          <p:cNvPr id="335" name="Google Shape;335;p6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62"/>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337" name="Google Shape;337;p62"/>
          <p:cNvSpPr txBox="1">
            <a:spLocks noGrp="1"/>
          </p:cNvSpPr>
          <p:nvPr>
            <p:ph type="sldNum" idx="12"/>
          </p:nvPr>
        </p:nvSpPr>
        <p:spPr>
          <a:xfrm>
            <a:off x="8622145" y="4922423"/>
            <a:ext cx="486900" cy="207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338" name="Google Shape;338;p62"/>
          <p:cNvSpPr txBox="1">
            <a:spLocks noGrp="1"/>
          </p:cNvSpPr>
          <p:nvPr>
            <p:ph type="body" idx="1"/>
          </p:nvPr>
        </p:nvSpPr>
        <p:spPr>
          <a:xfrm>
            <a:off x="311675" y="1316038"/>
            <a:ext cx="4141800" cy="36624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339" name="Google Shape;339;p62"/>
          <p:cNvSpPr txBox="1">
            <a:spLocks noGrp="1"/>
          </p:cNvSpPr>
          <p:nvPr>
            <p:ph type="body" idx="2"/>
          </p:nvPr>
        </p:nvSpPr>
        <p:spPr>
          <a:xfrm>
            <a:off x="4690538" y="1320512"/>
            <a:ext cx="4141800" cy="36624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theme" Target="../theme/theme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theme" Target="../theme/theme4.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1pPr>
            <a:lvl2pPr marR="0" lvl="1"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2pPr>
            <a:lvl3pPr marR="0" lvl="2"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3pPr>
            <a:lvl4pPr marR="0" lvl="3"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4pPr>
            <a:lvl5pPr marR="0" lvl="4"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5pPr>
            <a:lvl6pPr marR="0" lvl="5"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6pPr>
            <a:lvl7pPr marR="0" lvl="6"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7pPr>
            <a:lvl8pPr marR="0" lvl="7"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8pPr>
            <a:lvl9pPr marR="0" lvl="8"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94"/>
        <p:cNvGrpSpPr/>
        <p:nvPr/>
      </p:nvGrpSpPr>
      <p:grpSpPr>
        <a:xfrm>
          <a:off x="0" y="0"/>
          <a:ext cx="0" cy="0"/>
          <a:chOff x="0" y="0"/>
          <a:chExt cx="0" cy="0"/>
        </a:xfrm>
      </p:grpSpPr>
      <p:sp>
        <p:nvSpPr>
          <p:cNvPr id="95" name="Google Shape;95;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96" name="Google Shape;96;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97" name="Google Shape;97;p17"/>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62"/>
        <p:cNvGrpSpPr/>
        <p:nvPr/>
      </p:nvGrpSpPr>
      <p:grpSpPr>
        <a:xfrm>
          <a:off x="0" y="0"/>
          <a:ext cx="0" cy="0"/>
          <a:chOff x="0" y="0"/>
          <a:chExt cx="0" cy="0"/>
        </a:xfrm>
      </p:grpSpPr>
      <p:sp>
        <p:nvSpPr>
          <p:cNvPr id="163" name="Google Shape;163;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64" name="Google Shape;164;p3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65" name="Google Shape;165;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247"/>
        <p:cNvGrpSpPr/>
        <p:nvPr/>
      </p:nvGrpSpPr>
      <p:grpSpPr>
        <a:xfrm>
          <a:off x="0" y="0"/>
          <a:ext cx="0" cy="0"/>
          <a:chOff x="0" y="0"/>
          <a:chExt cx="0" cy="0"/>
        </a:xfrm>
      </p:grpSpPr>
      <p:sp>
        <p:nvSpPr>
          <p:cNvPr id="248" name="Google Shape;248;p4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249" name="Google Shape;249;p4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250" name="Google Shape;250;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5.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9.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5.xml"/><Relationship Id="rId5" Type="http://schemas.openxmlformats.org/officeDocument/2006/relationships/image" Target="../media/image18.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5.xml"/><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5.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7.png"/><Relationship Id="rId7"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24.png"/><Relationship Id="rId4" Type="http://schemas.openxmlformats.org/officeDocument/2006/relationships/image" Target="../media/image26.png"/><Relationship Id="rId9" Type="http://schemas.openxmlformats.org/officeDocument/2006/relationships/image" Target="../media/image2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20.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46.xml"/><Relationship Id="rId5" Type="http://schemas.openxmlformats.org/officeDocument/2006/relationships/image" Target="../media/image5.png"/><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5.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15.xml"/><Relationship Id="rId5" Type="http://schemas.openxmlformats.org/officeDocument/2006/relationships/image" Target="../media/image34.png"/><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15.xml"/><Relationship Id="rId5" Type="http://schemas.openxmlformats.org/officeDocument/2006/relationships/image" Target="../media/image34.png"/><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15.xml"/><Relationship Id="rId4" Type="http://schemas.openxmlformats.org/officeDocument/2006/relationships/image" Target="../media/image38.png"/></Relationships>
</file>

<file path=ppt/slides/_rels/slide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hyperlink" Target="https://en.wikipedia.org/wiki/Shunting-yard_algorithm" TargetMode="External"/><Relationship Id="rId2" Type="http://schemas.openxmlformats.org/officeDocument/2006/relationships/notesSlide" Target="../notesSlides/notesSlide55.xml"/><Relationship Id="rId1" Type="http://schemas.openxmlformats.org/officeDocument/2006/relationships/slideLayout" Target="../slideLayouts/slideLayout4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8.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7.xml"/></Relationships>
</file>

<file path=ppt/slides/_rels/slide6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7.xml"/></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1.xml"/><Relationship Id="rId1" Type="http://schemas.openxmlformats.org/officeDocument/2006/relationships/slideLayout" Target="../slideLayouts/slideLayout47.xml"/></Relationships>
</file>

<file path=ppt/slides/_rels/slide7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2.xml"/><Relationship Id="rId1" Type="http://schemas.openxmlformats.org/officeDocument/2006/relationships/slideLayout" Target="../slideLayouts/slideLayout47.xml"/></Relationships>
</file>

<file path=ppt/slides/_rels/slide7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3.xml"/><Relationship Id="rId1" Type="http://schemas.openxmlformats.org/officeDocument/2006/relationships/slideLayout" Target="../slideLayouts/slideLayout46.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63"/>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GCIS-124</a:t>
            </a:r>
            <a:endParaRPr/>
          </a:p>
          <a:p>
            <a:pPr marL="0" lvl="0" indent="0" algn="l" rtl="0">
              <a:lnSpc>
                <a:spcPct val="100000"/>
              </a:lnSpc>
              <a:spcBef>
                <a:spcPts val="0"/>
              </a:spcBef>
              <a:spcAft>
                <a:spcPts val="0"/>
              </a:spcAft>
              <a:buSzPts val="3600"/>
              <a:buNone/>
            </a:pPr>
            <a:r>
              <a:rPr lang="en" sz="3100"/>
              <a:t>Software Development &amp; Problem Solving</a:t>
            </a:r>
            <a:endParaRPr sz="3100"/>
          </a:p>
        </p:txBody>
      </p:sp>
      <p:sp>
        <p:nvSpPr>
          <p:cNvPr id="345" name="Google Shape;345;p63"/>
          <p:cNvSpPr txBox="1">
            <a:spLocks noGrp="1"/>
          </p:cNvSpPr>
          <p:nvPr>
            <p:ph type="subTitle" idx="1"/>
          </p:nvPr>
        </p:nvSpPr>
        <p:spPr>
          <a:xfrm>
            <a:off x="311700" y="1878550"/>
            <a:ext cx="4491300" cy="738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sz="2600" i="1"/>
              <a:t>3: Inheritance</a:t>
            </a:r>
            <a:endParaRPr sz="2600" i="1">
              <a:solidFill>
                <a:srgbClr val="FF0000"/>
              </a:solidFill>
            </a:endParaRPr>
          </a:p>
        </p:txBody>
      </p:sp>
      <p:grpSp>
        <p:nvGrpSpPr>
          <p:cNvPr id="346" name="Google Shape;346;p63"/>
          <p:cNvGrpSpPr/>
          <p:nvPr/>
        </p:nvGrpSpPr>
        <p:grpSpPr>
          <a:xfrm>
            <a:off x="5001999" y="4264475"/>
            <a:ext cx="3908400" cy="738300"/>
            <a:chOff x="5001999" y="4264475"/>
            <a:chExt cx="3908400" cy="738300"/>
          </a:xfrm>
        </p:grpSpPr>
        <p:sp>
          <p:nvSpPr>
            <p:cNvPr id="347" name="Google Shape;347;p63"/>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48" name="Google Shape;348;p63"/>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64"/>
          <p:cNvSpPr txBox="1">
            <a:spLocks noGrp="1"/>
          </p:cNvSpPr>
          <p:nvPr>
            <p:ph type="title"/>
          </p:nvPr>
        </p:nvSpPr>
        <p:spPr>
          <a:xfrm>
            <a:off x="1436850" y="100"/>
            <a:ext cx="7642500" cy="6618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3100"/>
              <a:t>Accept the Assignment</a:t>
            </a:r>
            <a:r>
              <a:rPr lang="en"/>
              <a:t> </a:t>
            </a:r>
            <a:endParaRPr/>
          </a:p>
        </p:txBody>
      </p:sp>
      <p:sp>
        <p:nvSpPr>
          <p:cNvPr id="354" name="Google Shape;354;p6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You will create a new repository at the beginning of every new unit in this course. Accept the GitHub Classroom assignment for this unit and clone the new repository to your computer.</a:t>
            </a:r>
            <a:endParaRPr/>
          </a:p>
        </p:txBody>
      </p:sp>
      <p:sp>
        <p:nvSpPr>
          <p:cNvPr id="355" name="Google Shape;355;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356" name="Google Shape;356;p64"/>
          <p:cNvSpPr txBox="1">
            <a:spLocks noGrp="1"/>
          </p:cNvSpPr>
          <p:nvPr>
            <p:ph type="body" idx="2"/>
          </p:nvPr>
        </p:nvSpPr>
        <p:spPr>
          <a:xfrm>
            <a:off x="2983575" y="1445925"/>
            <a:ext cx="5856600" cy="30708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Your instructor will provide you with a new GitHub classroom invitation for this unit.</a:t>
            </a:r>
            <a:endParaRPr sz="1500"/>
          </a:p>
          <a:p>
            <a:pPr marL="457200" lvl="0" indent="-323850" algn="l" rtl="0">
              <a:spcBef>
                <a:spcPts val="0"/>
              </a:spcBef>
              <a:spcAft>
                <a:spcPts val="0"/>
              </a:spcAft>
              <a:buSzPts val="1500"/>
              <a:buChar char="●"/>
            </a:pPr>
            <a:r>
              <a:rPr lang="en" sz="1500"/>
              <a:t>Upon accepting the invitation, you will be provided with the URL to your new repository, click it to verify that your repository has been created.</a:t>
            </a:r>
            <a:endParaRPr sz="1500"/>
          </a:p>
          <a:p>
            <a:pPr marL="457200" lvl="0" indent="-323850" algn="l" rtl="0">
              <a:spcBef>
                <a:spcPts val="0"/>
              </a:spcBef>
              <a:spcAft>
                <a:spcPts val="0"/>
              </a:spcAft>
              <a:buSzPts val="1500"/>
              <a:buChar char="●"/>
            </a:pPr>
            <a:r>
              <a:rPr lang="en" sz="1500"/>
              <a:t>You should create a </a:t>
            </a:r>
            <a:r>
              <a:rPr lang="en" sz="1500">
                <a:solidFill>
                  <a:srgbClr val="FF0000"/>
                </a:solidFill>
                <a:latin typeface="Courier New"/>
                <a:ea typeface="Courier New"/>
                <a:cs typeface="Courier New"/>
                <a:sym typeface="Courier New"/>
              </a:rPr>
              <a:t>SoftDevII</a:t>
            </a:r>
            <a:r>
              <a:rPr lang="en" sz="1500"/>
              <a:t> directory if you have not done so already.</a:t>
            </a:r>
            <a:endParaRPr sz="1500"/>
          </a:p>
          <a:p>
            <a:pPr marL="914400" lvl="1" indent="-323850" algn="l" rtl="0">
              <a:spcBef>
                <a:spcPts val="0"/>
              </a:spcBef>
              <a:spcAft>
                <a:spcPts val="0"/>
              </a:spcAft>
              <a:buSzPts val="1500"/>
              <a:buChar char="○"/>
            </a:pPr>
            <a:r>
              <a:rPr lang="en" sz="1500"/>
              <a:t>Navigate to your </a:t>
            </a:r>
            <a:r>
              <a:rPr lang="en" sz="1500">
                <a:latin typeface="Courier New"/>
                <a:ea typeface="Courier New"/>
                <a:cs typeface="Courier New"/>
                <a:sym typeface="Courier New"/>
              </a:rPr>
              <a:t>SoftDevII</a:t>
            </a:r>
            <a:r>
              <a:rPr lang="en" sz="1500"/>
              <a:t> directory and clone the new repository there.</a:t>
            </a:r>
            <a:endParaRPr sz="1500"/>
          </a:p>
          <a:p>
            <a:pPr marL="457200" lvl="0" indent="-323850" algn="l" rtl="0">
              <a:spcBef>
                <a:spcPts val="0"/>
              </a:spcBef>
              <a:spcAft>
                <a:spcPts val="0"/>
              </a:spcAft>
              <a:buSzPts val="1500"/>
              <a:buChar char="●"/>
            </a:pPr>
            <a:r>
              <a:rPr lang="en" sz="1500"/>
              <a:t>Open your repository in VSCode and make sure that you have a terminal open with the </a:t>
            </a:r>
            <a:r>
              <a:rPr lang="en" sz="1500" b="1">
                <a:solidFill>
                  <a:srgbClr val="FF0000"/>
                </a:solidFill>
              </a:rPr>
              <a:t>PROBLEMS</a:t>
            </a:r>
            <a:r>
              <a:rPr lang="en" sz="1500"/>
              <a:t> tab visible.</a:t>
            </a:r>
            <a:endParaRPr/>
          </a:p>
        </p:txBody>
      </p:sp>
      <p:sp>
        <p:nvSpPr>
          <p:cNvPr id="357" name="Google Shape;357;p6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3.0</a:t>
            </a:r>
            <a:endParaRPr/>
          </a:p>
        </p:txBody>
      </p:sp>
      <p:pic>
        <p:nvPicPr>
          <p:cNvPr id="358" name="Google Shape;358;p64"/>
          <p:cNvPicPr preferRelativeResize="0"/>
          <p:nvPr/>
        </p:nvPicPr>
        <p:blipFill>
          <a:blip r:embed="rId3">
            <a:alphaModFix/>
          </a:blip>
          <a:stretch>
            <a:fillRect/>
          </a:stretch>
        </p:blipFill>
        <p:spPr>
          <a:xfrm>
            <a:off x="220999" y="1732794"/>
            <a:ext cx="2762576" cy="27625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65"/>
          <p:cNvPicPr preferRelativeResize="0"/>
          <p:nvPr/>
        </p:nvPicPr>
        <p:blipFill>
          <a:blip r:embed="rId3">
            <a:alphaModFix/>
          </a:blip>
          <a:stretch>
            <a:fillRect/>
          </a:stretch>
        </p:blipFill>
        <p:spPr>
          <a:xfrm>
            <a:off x="3547097" y="1068325"/>
            <a:ext cx="1326913" cy="3727775"/>
          </a:xfrm>
          <a:prstGeom prst="rect">
            <a:avLst/>
          </a:prstGeom>
          <a:noFill/>
          <a:ln>
            <a:noFill/>
          </a:ln>
        </p:spPr>
      </p:pic>
      <p:sp>
        <p:nvSpPr>
          <p:cNvPr id="364" name="Google Shape;364;p6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3</a:t>
            </a:fld>
            <a:endParaRPr/>
          </a:p>
        </p:txBody>
      </p:sp>
      <p:pic>
        <p:nvPicPr>
          <p:cNvPr id="365" name="Google Shape;365;p65"/>
          <p:cNvPicPr preferRelativeResize="0"/>
          <p:nvPr/>
        </p:nvPicPr>
        <p:blipFill>
          <a:blip r:embed="rId4">
            <a:alphaModFix/>
          </a:blip>
          <a:stretch>
            <a:fillRect/>
          </a:stretch>
        </p:blipFill>
        <p:spPr>
          <a:xfrm>
            <a:off x="4941475" y="1121750"/>
            <a:ext cx="1283245" cy="3727775"/>
          </a:xfrm>
          <a:prstGeom prst="rect">
            <a:avLst/>
          </a:prstGeom>
          <a:noFill/>
          <a:ln>
            <a:noFill/>
          </a:ln>
        </p:spPr>
      </p:pic>
      <p:sp>
        <p:nvSpPr>
          <p:cNvPr id="366" name="Google Shape;366;p65"/>
          <p:cNvSpPr/>
          <p:nvPr/>
        </p:nvSpPr>
        <p:spPr>
          <a:xfrm>
            <a:off x="2148675" y="1271744"/>
            <a:ext cx="1369200" cy="615600"/>
          </a:xfrm>
          <a:prstGeom prst="wedgeRoundRectCallout">
            <a:avLst>
              <a:gd name="adj1" fmla="val 83507"/>
              <a:gd name="adj2" fmla="val 4459"/>
              <a:gd name="adj3" fmla="val 0"/>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 don't understand part 4.c. on the homework.</a:t>
            </a:r>
            <a:endParaRPr sz="1000"/>
          </a:p>
        </p:txBody>
      </p:sp>
      <p:sp>
        <p:nvSpPr>
          <p:cNvPr id="367" name="Google Shape;367;p65"/>
          <p:cNvSpPr/>
          <p:nvPr/>
        </p:nvSpPr>
        <p:spPr>
          <a:xfrm>
            <a:off x="6153675" y="1271750"/>
            <a:ext cx="2877000" cy="1961700"/>
          </a:xfrm>
          <a:prstGeom prst="wedgeRoundRectCallout">
            <a:avLst>
              <a:gd name="adj1" fmla="val -64417"/>
              <a:gd name="adj2" fmla="val -25380"/>
              <a:gd name="adj3" fmla="val 0"/>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Part 4.c. on homework 2.2 asks us to write a function that prompts the user to enter two floating point values and to print the product.</a:t>
            </a:r>
            <a:endParaRPr sz="1000"/>
          </a:p>
          <a:p>
            <a:pPr marL="0" lvl="0" indent="0" algn="ctr" rtl="0">
              <a:spcBef>
                <a:spcPts val="0"/>
              </a:spcBef>
              <a:spcAft>
                <a:spcPts val="0"/>
              </a:spcAft>
              <a:buNone/>
            </a:pPr>
            <a:endParaRPr sz="1000"/>
          </a:p>
          <a:p>
            <a:pPr marL="0" lvl="0" indent="0" algn="ctr" rtl="0">
              <a:spcBef>
                <a:spcPts val="0"/>
              </a:spcBef>
              <a:spcAft>
                <a:spcPts val="0"/>
              </a:spcAft>
              <a:buNone/>
            </a:pPr>
            <a:r>
              <a:rPr lang="en" sz="1000"/>
              <a:t>I reviewed slides 17-18 in the lecture, and I finished the practice activity. That all works fine.</a:t>
            </a:r>
            <a:endParaRPr sz="1000"/>
          </a:p>
          <a:p>
            <a:pPr marL="0" lvl="0" indent="0" algn="ctr" rtl="0">
              <a:spcBef>
                <a:spcPts val="0"/>
              </a:spcBef>
              <a:spcAft>
                <a:spcPts val="0"/>
              </a:spcAft>
              <a:buNone/>
            </a:pPr>
            <a:endParaRPr sz="1000"/>
          </a:p>
          <a:p>
            <a:pPr marL="0" lvl="0" indent="0" algn="ctr" rtl="0">
              <a:spcBef>
                <a:spcPts val="0"/>
              </a:spcBef>
              <a:spcAft>
                <a:spcPts val="0"/>
              </a:spcAft>
              <a:buNone/>
            </a:pPr>
            <a:r>
              <a:rPr lang="en" sz="1000"/>
              <a:t>But when I try to use the values entered by the user, I am getting an "input mismatch" error. Does anyone have a suggestion?</a:t>
            </a:r>
            <a:endParaRPr sz="1000"/>
          </a:p>
        </p:txBody>
      </p:sp>
      <p:sp>
        <p:nvSpPr>
          <p:cNvPr id="368" name="Google Shape;368;p65"/>
          <p:cNvSpPr txBox="1">
            <a:spLocks noGrp="1"/>
          </p:cNvSpPr>
          <p:nvPr>
            <p:ph type="title"/>
          </p:nvPr>
        </p:nvSpPr>
        <p:spPr>
          <a:xfrm>
            <a:off x="311725" y="67171"/>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Asking for Help</a:t>
            </a:r>
            <a:endParaRPr/>
          </a:p>
        </p:txBody>
      </p:sp>
      <p:sp>
        <p:nvSpPr>
          <p:cNvPr id="369" name="Google Shape;369;p65"/>
          <p:cNvSpPr txBox="1"/>
          <p:nvPr/>
        </p:nvSpPr>
        <p:spPr>
          <a:xfrm>
            <a:off x="127425" y="1984400"/>
            <a:ext cx="3363600" cy="2724300"/>
          </a:xfrm>
          <a:prstGeom prst="rect">
            <a:avLst/>
          </a:prstGeom>
          <a:solidFill>
            <a:srgbClr val="CFE2F3"/>
          </a:solidFill>
          <a:ln w="19050"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You have all the resources that you need to solve the problems that have been given to you, but sometimes you may not be able to find the answers to the problems that you encounter.</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en" sz="1100"/>
              <a:t>Asking for help in this course is both </a:t>
            </a:r>
            <a:r>
              <a:rPr lang="en" sz="1100" b="1" i="1">
                <a:solidFill>
                  <a:srgbClr val="FF0000"/>
                </a:solidFill>
              </a:rPr>
              <a:t>expected</a:t>
            </a:r>
            <a:r>
              <a:rPr lang="en" sz="1100">
                <a:solidFill>
                  <a:srgbClr val="FF0000"/>
                </a:solidFill>
              </a:rPr>
              <a:t> </a:t>
            </a:r>
            <a:r>
              <a:rPr lang="en" sz="1100"/>
              <a:t>and </a:t>
            </a:r>
            <a:r>
              <a:rPr lang="en" sz="1100" b="1" i="1">
                <a:solidFill>
                  <a:srgbClr val="FF0000"/>
                </a:solidFill>
              </a:rPr>
              <a:t>encouraged</a:t>
            </a:r>
            <a:r>
              <a:rPr lang="en" sz="1100"/>
              <a:t>.</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en" sz="1100"/>
              <a:t>Spending time trying to solve the problem yourself will be a more valuable learning experience in the long run.</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en" sz="1100"/>
              <a:t>If you </a:t>
            </a:r>
            <a:r>
              <a:rPr lang="en" sz="1100" b="1" i="1">
                <a:solidFill>
                  <a:srgbClr val="FF0000"/>
                </a:solidFill>
              </a:rPr>
              <a:t>do</a:t>
            </a:r>
            <a:r>
              <a:rPr lang="en" sz="1100">
                <a:solidFill>
                  <a:srgbClr val="FF0000"/>
                </a:solidFill>
              </a:rPr>
              <a:t> </a:t>
            </a:r>
            <a:r>
              <a:rPr lang="en" sz="1100"/>
              <a:t>ask for help, try to be as detailed as possible to make it easier for others to help you by providing as much detail as you can.</a:t>
            </a:r>
            <a:endParaRPr sz="1100"/>
          </a:p>
        </p:txBody>
      </p:sp>
      <p:sp>
        <p:nvSpPr>
          <p:cNvPr id="370" name="Google Shape;370;p65"/>
          <p:cNvSpPr txBox="1"/>
          <p:nvPr/>
        </p:nvSpPr>
        <p:spPr>
          <a:xfrm>
            <a:off x="6153675" y="3355825"/>
            <a:ext cx="2877000" cy="1262100"/>
          </a:xfrm>
          <a:prstGeom prst="rect">
            <a:avLst/>
          </a:prstGeom>
          <a:solidFill>
            <a:srgbClr val="CFE2F3"/>
          </a:solidFill>
          <a:ln w="19050"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228600" lvl="0" indent="-177800" algn="l" rtl="0">
              <a:spcBef>
                <a:spcPts val="0"/>
              </a:spcBef>
              <a:spcAft>
                <a:spcPts val="0"/>
              </a:spcAft>
              <a:buSzPts val="1000"/>
              <a:buFont typeface="Roboto"/>
              <a:buAutoNum type="arabicPeriod"/>
            </a:pPr>
            <a:r>
              <a:rPr lang="en" sz="1000">
                <a:latin typeface="Roboto"/>
                <a:ea typeface="Roboto"/>
                <a:cs typeface="Roboto"/>
                <a:sym typeface="Roboto"/>
              </a:rPr>
              <a:t>Begin by reviewing the lecture slides related to the problem that you are trying to solve</a:t>
            </a:r>
            <a:endParaRPr sz="1000">
              <a:latin typeface="Roboto"/>
              <a:ea typeface="Roboto"/>
              <a:cs typeface="Roboto"/>
              <a:sym typeface="Roboto"/>
            </a:endParaRPr>
          </a:p>
          <a:p>
            <a:pPr marL="228600" lvl="0" indent="-177800" algn="l" rtl="0">
              <a:spcBef>
                <a:spcPts val="0"/>
              </a:spcBef>
              <a:spcAft>
                <a:spcPts val="0"/>
              </a:spcAft>
              <a:buSzPts val="1000"/>
              <a:buFont typeface="Roboto"/>
              <a:buAutoNum type="arabicPeriod"/>
            </a:pPr>
            <a:r>
              <a:rPr lang="en" sz="1000">
                <a:latin typeface="Roboto"/>
                <a:ea typeface="Roboto"/>
                <a:cs typeface="Roboto"/>
                <a:sym typeface="Roboto"/>
              </a:rPr>
              <a:t>Try to solve the related class activities without looking at the answer</a:t>
            </a:r>
            <a:endParaRPr sz="1000">
              <a:latin typeface="Roboto"/>
              <a:ea typeface="Roboto"/>
              <a:cs typeface="Roboto"/>
              <a:sym typeface="Roboto"/>
            </a:endParaRPr>
          </a:p>
          <a:p>
            <a:pPr marL="228600" lvl="0" indent="-177800" algn="l" rtl="0">
              <a:spcBef>
                <a:spcPts val="0"/>
              </a:spcBef>
              <a:spcAft>
                <a:spcPts val="0"/>
              </a:spcAft>
              <a:buSzPts val="1000"/>
              <a:buFont typeface="Roboto"/>
              <a:buAutoNum type="arabicPeriod"/>
            </a:pPr>
            <a:r>
              <a:rPr lang="en" sz="1000">
                <a:latin typeface="Roboto"/>
                <a:ea typeface="Roboto"/>
                <a:cs typeface="Roboto"/>
                <a:sym typeface="Roboto"/>
              </a:rPr>
              <a:t>When asking for help, try to be as specific as possible about the problem you are having</a:t>
            </a:r>
            <a:endParaRPr sz="1000">
              <a:latin typeface="Roboto"/>
              <a:ea typeface="Roboto"/>
              <a:cs typeface="Roboto"/>
              <a:sym typeface="Roboto"/>
            </a:endParaRPr>
          </a:p>
        </p:txBody>
      </p:sp>
      <p:sp>
        <p:nvSpPr>
          <p:cNvPr id="371" name="Google Shape;371;p65"/>
          <p:cNvSpPr txBox="1"/>
          <p:nvPr/>
        </p:nvSpPr>
        <p:spPr>
          <a:xfrm>
            <a:off x="2148625" y="982750"/>
            <a:ext cx="13695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0000"/>
                </a:solidFill>
                <a:latin typeface="Roboto"/>
                <a:ea typeface="Roboto"/>
                <a:cs typeface="Roboto"/>
                <a:sym typeface="Roboto"/>
              </a:rPr>
              <a:t>Could be Improved</a:t>
            </a:r>
            <a:endParaRPr sz="1100">
              <a:solidFill>
                <a:srgbClr val="FF0000"/>
              </a:solidFill>
              <a:latin typeface="Roboto"/>
              <a:ea typeface="Roboto"/>
              <a:cs typeface="Roboto"/>
              <a:sym typeface="Roboto"/>
            </a:endParaRPr>
          </a:p>
        </p:txBody>
      </p:sp>
      <p:sp>
        <p:nvSpPr>
          <p:cNvPr id="372" name="Google Shape;372;p65"/>
          <p:cNvSpPr txBox="1"/>
          <p:nvPr/>
        </p:nvSpPr>
        <p:spPr>
          <a:xfrm>
            <a:off x="7107475" y="982751"/>
            <a:ext cx="10461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0000"/>
                </a:solidFill>
                <a:latin typeface="Roboto"/>
                <a:ea typeface="Roboto"/>
                <a:cs typeface="Roboto"/>
                <a:sym typeface="Roboto"/>
              </a:rPr>
              <a:t>MUCH Better</a:t>
            </a:r>
            <a:endParaRPr sz="1100">
              <a:solidFill>
                <a:srgbClr val="FF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66"/>
          <p:cNvSpPr txBox="1">
            <a:spLocks noGrp="1"/>
          </p:cNvSpPr>
          <p:nvPr>
            <p:ph type="title"/>
          </p:nvPr>
        </p:nvSpPr>
        <p:spPr>
          <a:xfrm>
            <a:off x="311725" y="3485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Inheritance</a:t>
            </a:r>
            <a:endParaRPr/>
          </a:p>
        </p:txBody>
      </p:sp>
      <p:sp>
        <p:nvSpPr>
          <p:cNvPr id="378" name="Google Shape;378;p66"/>
          <p:cNvSpPr txBox="1">
            <a:spLocks noGrp="1"/>
          </p:cNvSpPr>
          <p:nvPr>
            <p:ph type="body" idx="1"/>
          </p:nvPr>
        </p:nvSpPr>
        <p:spPr>
          <a:xfrm>
            <a:off x="4644675" y="272325"/>
            <a:ext cx="4166400" cy="45774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dirty="0"/>
              <a:t>In the previous unit, we learned how to create classes in Java that include:</a:t>
            </a:r>
            <a:endParaRPr dirty="0"/>
          </a:p>
          <a:p>
            <a:pPr marL="914400" lvl="1" indent="-298450" algn="l" rtl="0">
              <a:lnSpc>
                <a:spcPct val="115000"/>
              </a:lnSpc>
              <a:spcBef>
                <a:spcPts val="0"/>
              </a:spcBef>
              <a:spcAft>
                <a:spcPts val="0"/>
              </a:spcAft>
              <a:buSzPts val="1100"/>
              <a:buChar char="○"/>
            </a:pPr>
            <a:r>
              <a:rPr lang="en" dirty="0"/>
              <a:t>State (Fields)</a:t>
            </a:r>
            <a:endParaRPr dirty="0"/>
          </a:p>
          <a:p>
            <a:pPr marL="914400" lvl="1" indent="-298450" algn="l" rtl="0">
              <a:lnSpc>
                <a:spcPct val="115000"/>
              </a:lnSpc>
              <a:spcBef>
                <a:spcPts val="0"/>
              </a:spcBef>
              <a:spcAft>
                <a:spcPts val="0"/>
              </a:spcAft>
              <a:buSzPts val="1100"/>
              <a:buChar char="○"/>
            </a:pPr>
            <a:r>
              <a:rPr lang="en" dirty="0"/>
              <a:t>Behavior (Methods)</a:t>
            </a:r>
            <a:endParaRPr dirty="0"/>
          </a:p>
          <a:p>
            <a:pPr marL="914400" lvl="1" indent="-298450" algn="l" rtl="0">
              <a:lnSpc>
                <a:spcPct val="115000"/>
              </a:lnSpc>
              <a:spcBef>
                <a:spcPts val="0"/>
              </a:spcBef>
              <a:spcAft>
                <a:spcPts val="0"/>
              </a:spcAft>
              <a:buSzPts val="1100"/>
              <a:buChar char="○"/>
            </a:pPr>
            <a:r>
              <a:rPr lang="en" dirty="0"/>
              <a:t>Data privacy (Access Modifiers)</a:t>
            </a:r>
            <a:endParaRPr dirty="0"/>
          </a:p>
          <a:p>
            <a:pPr marL="914400" lvl="1" indent="-298450" algn="l" rtl="0">
              <a:lnSpc>
                <a:spcPct val="115000"/>
              </a:lnSpc>
              <a:spcBef>
                <a:spcPts val="0"/>
              </a:spcBef>
              <a:spcAft>
                <a:spcPts val="0"/>
              </a:spcAft>
              <a:buSzPts val="1100"/>
              <a:buChar char="○"/>
            </a:pPr>
            <a:r>
              <a:rPr lang="en" dirty="0"/>
              <a:t>Constructors</a:t>
            </a:r>
            <a:endParaRPr dirty="0"/>
          </a:p>
          <a:p>
            <a:pPr marL="914400" lvl="1" indent="-298450" algn="l" rtl="0">
              <a:lnSpc>
                <a:spcPct val="115000"/>
              </a:lnSpc>
              <a:spcBef>
                <a:spcPts val="0"/>
              </a:spcBef>
              <a:spcAft>
                <a:spcPts val="0"/>
              </a:spcAft>
              <a:buSzPts val="1100"/>
              <a:buChar char="○"/>
            </a:pPr>
            <a:r>
              <a:rPr lang="en" dirty="0"/>
              <a:t>Static and non-static state and behavior</a:t>
            </a:r>
            <a:endParaRPr dirty="0"/>
          </a:p>
          <a:p>
            <a:pPr marL="457200" lvl="0" indent="-311150" algn="l" rtl="0">
              <a:lnSpc>
                <a:spcPct val="115000"/>
              </a:lnSpc>
              <a:spcBef>
                <a:spcPts val="0"/>
              </a:spcBef>
              <a:spcAft>
                <a:spcPts val="0"/>
              </a:spcAft>
              <a:buSzPts val="1300"/>
              <a:buChar char="●"/>
            </a:pPr>
            <a:r>
              <a:rPr lang="en" dirty="0"/>
              <a:t>During this unit we will learn about a very powerful feature of </a:t>
            </a:r>
            <a:r>
              <a:rPr lang="en" b="1" i="1" dirty="0">
                <a:solidFill>
                  <a:srgbClr val="FF0000"/>
                </a:solidFill>
              </a:rPr>
              <a:t>object-oriented programming</a:t>
            </a:r>
            <a:r>
              <a:rPr lang="en" dirty="0"/>
              <a:t>: </a:t>
            </a:r>
            <a:r>
              <a:rPr lang="en" b="1" i="1" dirty="0">
                <a:solidFill>
                  <a:srgbClr val="FF0000"/>
                </a:solidFill>
              </a:rPr>
              <a:t>inheritance</a:t>
            </a:r>
            <a:r>
              <a:rPr lang="en" dirty="0"/>
              <a:t>.</a:t>
            </a:r>
            <a:endParaRPr dirty="0"/>
          </a:p>
          <a:p>
            <a:pPr marL="914400" lvl="1" indent="-298450" algn="l" rtl="0">
              <a:lnSpc>
                <a:spcPct val="115000"/>
              </a:lnSpc>
              <a:spcBef>
                <a:spcPts val="0"/>
              </a:spcBef>
              <a:spcAft>
                <a:spcPts val="0"/>
              </a:spcAft>
              <a:buSzPts val="1100"/>
              <a:buChar char="○"/>
            </a:pPr>
            <a:r>
              <a:rPr lang="en" dirty="0">
                <a:highlight>
                  <a:srgbClr val="FFFF00"/>
                </a:highlight>
              </a:rPr>
              <a:t>Subclassing</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Overriding Methods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Polymorphism</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Abstract Classes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Interfaces</a:t>
            </a:r>
            <a:endParaRPr dirty="0">
              <a:highlight>
                <a:srgbClr val="FFFF00"/>
              </a:highlight>
            </a:endParaRPr>
          </a:p>
          <a:p>
            <a:pPr marL="457200" lvl="0" indent="-311150" algn="l" rtl="0">
              <a:lnSpc>
                <a:spcPct val="115000"/>
              </a:lnSpc>
              <a:spcBef>
                <a:spcPts val="0"/>
              </a:spcBef>
              <a:spcAft>
                <a:spcPts val="0"/>
              </a:spcAft>
              <a:buSzPts val="1300"/>
              <a:buChar char="●"/>
            </a:pPr>
            <a:r>
              <a:rPr lang="en" dirty="0"/>
              <a:t>Today we will specifically focus on </a:t>
            </a:r>
            <a:r>
              <a:rPr lang="en" b="1" i="1" dirty="0">
                <a:solidFill>
                  <a:srgbClr val="FF0000"/>
                </a:solidFill>
                <a:highlight>
                  <a:srgbClr val="FFFF00"/>
                </a:highlight>
              </a:rPr>
              <a:t>reuse</a:t>
            </a:r>
            <a:r>
              <a:rPr lang="en" dirty="0">
                <a:solidFill>
                  <a:srgbClr val="FF0000"/>
                </a:solidFill>
              </a:rPr>
              <a:t> </a:t>
            </a:r>
            <a:r>
              <a:rPr lang="en" dirty="0"/>
              <a:t>through subclassing.</a:t>
            </a:r>
            <a:endParaRPr dirty="0"/>
          </a:p>
          <a:p>
            <a:pPr marL="914400" lvl="1" indent="-298450" algn="l" rtl="0">
              <a:lnSpc>
                <a:spcPct val="115000"/>
              </a:lnSpc>
              <a:spcBef>
                <a:spcPts val="0"/>
              </a:spcBef>
              <a:spcAft>
                <a:spcPts val="0"/>
              </a:spcAft>
              <a:buSzPts val="1100"/>
              <a:buChar char="○"/>
            </a:pPr>
            <a:r>
              <a:rPr lang="en" dirty="0">
                <a:highlight>
                  <a:srgbClr val="FFFF00"/>
                </a:highlight>
              </a:rPr>
              <a:t>One class </a:t>
            </a:r>
            <a:r>
              <a:rPr lang="en" b="1" i="1" dirty="0">
                <a:solidFill>
                  <a:srgbClr val="FF0000"/>
                </a:solidFill>
                <a:highlight>
                  <a:srgbClr val="FFFF00"/>
                </a:highlight>
              </a:rPr>
              <a:t>inherits </a:t>
            </a:r>
            <a:r>
              <a:rPr lang="en" dirty="0">
                <a:highlight>
                  <a:srgbClr val="FFFF00"/>
                </a:highlight>
              </a:rPr>
              <a:t>the state and behavior defined in another class.</a:t>
            </a:r>
            <a:endParaRPr dirty="0">
              <a:highlight>
                <a:srgbClr val="FFFF00"/>
              </a:highlight>
            </a:endParaRPr>
          </a:p>
          <a:p>
            <a:pPr marL="914400" lvl="1" indent="-298450" algn="l" rtl="0">
              <a:lnSpc>
                <a:spcPct val="115000"/>
              </a:lnSpc>
              <a:spcBef>
                <a:spcPts val="0"/>
              </a:spcBef>
              <a:spcAft>
                <a:spcPts val="0"/>
              </a:spcAft>
              <a:buSzPts val="1100"/>
              <a:buChar char="○"/>
            </a:pPr>
            <a:r>
              <a:rPr lang="en" dirty="0"/>
              <a:t>The </a:t>
            </a:r>
            <a:r>
              <a:rPr lang="en" dirty="0">
                <a:highlight>
                  <a:srgbClr val="FFFF00"/>
                </a:highlight>
              </a:rPr>
              <a:t>new class can then modify existing </a:t>
            </a:r>
            <a:r>
              <a:rPr lang="en" dirty="0"/>
              <a:t>behavior or add new state and/or behavior.</a:t>
            </a:r>
            <a:endParaRPr dirty="0"/>
          </a:p>
        </p:txBody>
      </p:sp>
      <p:sp>
        <p:nvSpPr>
          <p:cNvPr id="379" name="Google Shape;379;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4</a:t>
            </a:fld>
            <a:endParaRPr/>
          </a:p>
        </p:txBody>
      </p:sp>
      <p:sp>
        <p:nvSpPr>
          <p:cNvPr id="380" name="Google Shape;380;p66"/>
          <p:cNvSpPr txBox="1">
            <a:spLocks noGrp="1"/>
          </p:cNvSpPr>
          <p:nvPr>
            <p:ph type="body" idx="3"/>
          </p:nvPr>
        </p:nvSpPr>
        <p:spPr>
          <a:xfrm>
            <a:off x="315425" y="3937250"/>
            <a:ext cx="3706500" cy="74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a:t>We'll spend most of this unit using different types of </a:t>
            </a:r>
            <a:r>
              <a:rPr lang="en" b="1" i="1">
                <a:solidFill>
                  <a:srgbClr val="FF0000"/>
                </a:solidFill>
              </a:rPr>
              <a:t>inheritance</a:t>
            </a:r>
            <a:r>
              <a:rPr lang="en">
                <a:solidFill>
                  <a:srgbClr val="FF0000"/>
                </a:solidFill>
              </a:rPr>
              <a:t> </a:t>
            </a:r>
            <a:r>
              <a:rPr lang="en"/>
              <a:t>to implement an RPG based on the classic </a:t>
            </a:r>
            <a:r>
              <a:rPr lang="en" i="1"/>
              <a:t>Goats vs. Trolls</a:t>
            </a:r>
            <a:r>
              <a:rPr lang="en"/>
              <a:t> CCG.</a:t>
            </a:r>
            <a:endParaRPr/>
          </a:p>
        </p:txBody>
      </p:sp>
      <p:pic>
        <p:nvPicPr>
          <p:cNvPr id="381" name="Google Shape;381;p66"/>
          <p:cNvPicPr preferRelativeResize="0"/>
          <p:nvPr/>
        </p:nvPicPr>
        <p:blipFill rotWithShape="1">
          <a:blip r:embed="rId3">
            <a:alphaModFix/>
          </a:blip>
          <a:srcRect/>
          <a:stretch/>
        </p:blipFill>
        <p:spPr>
          <a:xfrm>
            <a:off x="562225" y="1050135"/>
            <a:ext cx="3052199" cy="2668315"/>
          </a:xfrm>
          <a:prstGeom prst="rect">
            <a:avLst/>
          </a:prstGeom>
          <a:noFill/>
          <a:ln w="19050" cap="flat" cmpd="sng">
            <a:solidFill>
              <a:srgbClr val="B7B7B7"/>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7"/>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Goats vs. Trolls V: The Trolls Strike Back</a:t>
            </a:r>
            <a:endParaRPr/>
          </a:p>
          <a:p>
            <a:pPr marL="0" lvl="0" indent="0" algn="l" rtl="0">
              <a:lnSpc>
                <a:spcPct val="100000"/>
              </a:lnSpc>
              <a:spcBef>
                <a:spcPts val="0"/>
              </a:spcBef>
              <a:spcAft>
                <a:spcPts val="0"/>
              </a:spcAft>
              <a:buSzPts val="2800"/>
              <a:buNone/>
            </a:pPr>
            <a:endParaRPr/>
          </a:p>
          <a:p>
            <a:pPr marL="0" lvl="0" indent="0" algn="l" rtl="0">
              <a:lnSpc>
                <a:spcPct val="100000"/>
              </a:lnSpc>
              <a:spcBef>
                <a:spcPts val="0"/>
              </a:spcBef>
              <a:spcAft>
                <a:spcPts val="0"/>
              </a:spcAft>
              <a:buSzPts val="2800"/>
              <a:buNone/>
            </a:pPr>
            <a:endParaRPr/>
          </a:p>
        </p:txBody>
      </p:sp>
      <p:sp>
        <p:nvSpPr>
          <p:cNvPr id="387" name="Google Shape;387;p67"/>
          <p:cNvSpPr txBox="1">
            <a:spLocks noGrp="1"/>
          </p:cNvSpPr>
          <p:nvPr>
            <p:ph type="body" idx="1"/>
          </p:nvPr>
        </p:nvSpPr>
        <p:spPr>
          <a:xfrm>
            <a:off x="3411925" y="1353300"/>
            <a:ext cx="5344200" cy="17976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1600"/>
              </a:spcAft>
              <a:buSzPts val="1300"/>
              <a:buNone/>
            </a:pPr>
            <a:r>
              <a:rPr lang="en" dirty="0"/>
              <a:t>The </a:t>
            </a:r>
            <a:r>
              <a:rPr lang="en" i="1" dirty="0"/>
              <a:t>Goats vs. Trolls</a:t>
            </a:r>
            <a:r>
              <a:rPr lang="en" dirty="0"/>
              <a:t> CCG has been so wildly successful that the powers that be have decided to expand the IP into a new video game inspired by the classic JRPGs of the 1980s. </a:t>
            </a:r>
            <a:r>
              <a:rPr lang="en" dirty="0">
                <a:highlight>
                  <a:srgbClr val="FFFF00"/>
                </a:highlight>
              </a:rPr>
              <a:t>Your software </a:t>
            </a:r>
            <a:r>
              <a:rPr lang="en" dirty="0"/>
              <a:t>development company has been contracted to develop the highly anticipated game</a:t>
            </a:r>
            <a:r>
              <a:rPr lang="en" dirty="0">
                <a:highlight>
                  <a:srgbClr val="FFFF00"/>
                </a:highlight>
              </a:rPr>
              <a:t>. Goats vs. Trolls: </a:t>
            </a:r>
            <a:r>
              <a:rPr lang="en" dirty="0"/>
              <a:t>The RPG. </a:t>
            </a:r>
            <a:r>
              <a:rPr lang="en" dirty="0">
                <a:highlight>
                  <a:srgbClr val="FFFF00"/>
                </a:highlight>
              </a:rPr>
              <a:t>The player will control a party of 4 goats</a:t>
            </a:r>
            <a:r>
              <a:rPr lang="en" dirty="0"/>
              <a:t>, as they battle against endless waves of enemy trolls. Your team will begin its design by focusing on the </a:t>
            </a:r>
            <a:r>
              <a:rPr lang="en" dirty="0">
                <a:highlight>
                  <a:srgbClr val="FFFF00"/>
                </a:highlight>
              </a:rPr>
              <a:t>heroic Goats.</a:t>
            </a:r>
            <a:endParaRPr dirty="0">
              <a:highlight>
                <a:srgbClr val="FFFF00"/>
              </a:highlight>
            </a:endParaRPr>
          </a:p>
        </p:txBody>
      </p:sp>
      <p:sp>
        <p:nvSpPr>
          <p:cNvPr id="388" name="Google Shape;388;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5</a:t>
            </a:fld>
            <a:endParaRPr/>
          </a:p>
        </p:txBody>
      </p:sp>
      <p:graphicFrame>
        <p:nvGraphicFramePr>
          <p:cNvPr id="389" name="Google Shape;389;p67"/>
          <p:cNvGraphicFramePr/>
          <p:nvPr/>
        </p:nvGraphicFramePr>
        <p:xfrm>
          <a:off x="3371925" y="3041350"/>
          <a:ext cx="5384125" cy="1980200"/>
        </p:xfrm>
        <a:graphic>
          <a:graphicData uri="http://schemas.openxmlformats.org/drawingml/2006/table">
            <a:tbl>
              <a:tblPr>
                <a:noFill/>
                <a:tableStyleId>{7F442979-C056-43AA-83C6-67E564C60A4D}</a:tableStyleId>
              </a:tblPr>
              <a:tblGrid>
                <a:gridCol w="1346025">
                  <a:extLst>
                    <a:ext uri="{9D8B030D-6E8A-4147-A177-3AD203B41FA5}">
                      <a16:colId xmlns:a16="http://schemas.microsoft.com/office/drawing/2014/main" val="20000"/>
                    </a:ext>
                  </a:extLst>
                </a:gridCol>
                <a:gridCol w="1056350">
                  <a:extLst>
                    <a:ext uri="{9D8B030D-6E8A-4147-A177-3AD203B41FA5}">
                      <a16:colId xmlns:a16="http://schemas.microsoft.com/office/drawing/2014/main" val="20001"/>
                    </a:ext>
                  </a:extLst>
                </a:gridCol>
                <a:gridCol w="1680075">
                  <a:extLst>
                    <a:ext uri="{9D8B030D-6E8A-4147-A177-3AD203B41FA5}">
                      <a16:colId xmlns:a16="http://schemas.microsoft.com/office/drawing/2014/main" val="20002"/>
                    </a:ext>
                  </a:extLst>
                </a:gridCol>
                <a:gridCol w="1301675">
                  <a:extLst>
                    <a:ext uri="{9D8B030D-6E8A-4147-A177-3AD203B41FA5}">
                      <a16:colId xmlns:a16="http://schemas.microsoft.com/office/drawing/2014/main" val="20003"/>
                    </a:ext>
                  </a:extLst>
                </a:gridCol>
              </a:tblGrid>
              <a:tr h="377750">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FFFF"/>
                          </a:solidFill>
                        </a:rPr>
                        <a:t>Type</a:t>
                      </a:r>
                      <a:endParaRPr sz="1200" b="1" u="none" strike="noStrike" cap="none">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FFFF"/>
                          </a:solidFill>
                        </a:rPr>
                        <a:t>Hit Points</a:t>
                      </a:r>
                      <a:endParaRPr sz="1200" b="1" u="none" strike="noStrike" cap="none">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dirty="0">
                          <a:solidFill>
                            <a:srgbClr val="FFFFFF"/>
                          </a:solidFill>
                        </a:rPr>
                        <a:t>Attack </a:t>
                      </a:r>
                      <a:endParaRPr sz="1200" b="1" u="none" strike="noStrike" cap="none" dirty="0">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dirty="0">
                          <a:solidFill>
                            <a:srgbClr val="FFFFFF"/>
                          </a:solidFill>
                        </a:rPr>
                        <a:t>Special</a:t>
                      </a:r>
                      <a:endParaRPr sz="1200" b="1" u="none" strike="noStrike" cap="none" dirty="0">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801225">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Mage</a:t>
                      </a:r>
                      <a:endParaRPr sz="1200" u="none" strike="noStrike" cap="none"/>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dirty="0"/>
                        <a:t>1</a:t>
                      </a:r>
                      <a:r>
                        <a:rPr lang="en" sz="1200" dirty="0"/>
                        <a:t>2</a:t>
                      </a:r>
                      <a:r>
                        <a:rPr lang="en" sz="1200" u="none" strike="noStrike" cap="none" dirty="0"/>
                        <a:t>0</a:t>
                      </a:r>
                      <a:endParaRPr sz="1200" u="none" strike="noStrike" cap="none" dirty="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dirty="0"/>
                        <a:t>Magic Missile</a:t>
                      </a:r>
                      <a:endParaRPr sz="1200" u="none" strike="noStrike" cap="none" dirty="0"/>
                    </a:p>
                    <a:p>
                      <a:pPr marL="0" marR="0" lvl="0" indent="0" algn="ctr" rtl="0">
                        <a:lnSpc>
                          <a:spcPct val="100000"/>
                        </a:lnSpc>
                        <a:spcBef>
                          <a:spcPts val="0"/>
                        </a:spcBef>
                        <a:spcAft>
                          <a:spcPts val="0"/>
                        </a:spcAft>
                        <a:buClr>
                          <a:srgbClr val="000000"/>
                        </a:buClr>
                        <a:buSzPts val="1200"/>
                        <a:buFont typeface="Arial"/>
                        <a:buNone/>
                      </a:pPr>
                      <a:r>
                        <a:rPr lang="en" sz="1200" u="none" strike="noStrike" cap="none" dirty="0"/>
                        <a:t>9 (Magic Damage)</a:t>
                      </a:r>
                      <a:endParaRPr sz="1200" u="none" strike="noStrike" cap="none" dirty="0"/>
                    </a:p>
                    <a:p>
                      <a:pPr marL="0" marR="0" lvl="0" indent="0" algn="ctr" rtl="0">
                        <a:lnSpc>
                          <a:spcPct val="100000"/>
                        </a:lnSpc>
                        <a:spcBef>
                          <a:spcPts val="0"/>
                        </a:spcBef>
                        <a:spcAft>
                          <a:spcPts val="0"/>
                        </a:spcAft>
                        <a:buClr>
                          <a:srgbClr val="000000"/>
                        </a:buClr>
                        <a:buSzPts val="1200"/>
                        <a:buFont typeface="Arial"/>
                        <a:buNone/>
                      </a:pPr>
                      <a:r>
                        <a:rPr lang="en" sz="1200" u="none" strike="noStrike" cap="none" dirty="0"/>
                        <a:t>hits 4 times</a:t>
                      </a:r>
                      <a:endParaRPr sz="1200" u="none" strike="noStrike" cap="none" dirty="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dirty="0"/>
                        <a:t>+25% physical damage taken </a:t>
                      </a:r>
                      <a:endParaRPr sz="1000" u="none" strike="noStrike" cap="none" dirty="0"/>
                    </a:p>
                    <a:p>
                      <a:pPr marL="0" marR="0" lvl="0" indent="0" algn="ctr" rtl="0">
                        <a:lnSpc>
                          <a:spcPct val="100000"/>
                        </a:lnSpc>
                        <a:spcBef>
                          <a:spcPts val="0"/>
                        </a:spcBef>
                        <a:spcAft>
                          <a:spcPts val="0"/>
                        </a:spcAft>
                        <a:buClr>
                          <a:srgbClr val="000000"/>
                        </a:buClr>
                        <a:buSzPts val="1000"/>
                        <a:buFont typeface="Arial"/>
                        <a:buNone/>
                      </a:pPr>
                      <a:r>
                        <a:rPr lang="en" sz="1000" u="none" strike="noStrike" cap="none" dirty="0"/>
                        <a:t>-25% magical damage taken</a:t>
                      </a:r>
                      <a:endParaRPr sz="1000" u="none" strike="noStrike" cap="none" dirty="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801225">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Fighter</a:t>
                      </a:r>
                      <a:endParaRPr sz="1200" u="none" strike="noStrike" cap="none"/>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dirty="0"/>
                        <a:t>150</a:t>
                      </a:r>
                      <a:endParaRPr sz="1200" u="none" strike="noStrike" cap="none" dirty="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dirty="0"/>
                        <a:t>Cleave</a:t>
                      </a:r>
                      <a:endParaRPr sz="1200" u="none" strike="noStrike" cap="none" dirty="0"/>
                    </a:p>
                    <a:p>
                      <a:pPr marL="0" marR="0" lvl="0" indent="0" algn="ctr" rtl="0">
                        <a:lnSpc>
                          <a:spcPct val="100000"/>
                        </a:lnSpc>
                        <a:spcBef>
                          <a:spcPts val="0"/>
                        </a:spcBef>
                        <a:spcAft>
                          <a:spcPts val="0"/>
                        </a:spcAft>
                        <a:buClr>
                          <a:srgbClr val="000000"/>
                        </a:buClr>
                        <a:buSzPts val="1200"/>
                        <a:buFont typeface="Arial"/>
                        <a:buNone/>
                      </a:pPr>
                      <a:r>
                        <a:rPr lang="en" sz="1200" u="none" strike="noStrike" cap="none" dirty="0"/>
                        <a:t>25 (Physical Damage)</a:t>
                      </a:r>
                      <a:endParaRPr sz="1200" u="none" strike="noStrike" cap="none" dirty="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dirty="0"/>
                        <a:t>-25% physical damage taken </a:t>
                      </a:r>
                      <a:endParaRPr sz="1000" u="none" strike="noStrike" cap="none" dirty="0"/>
                    </a:p>
                    <a:p>
                      <a:pPr marL="0" marR="0" lvl="0" indent="0" algn="ctr" rtl="0">
                        <a:lnSpc>
                          <a:spcPct val="100000"/>
                        </a:lnSpc>
                        <a:spcBef>
                          <a:spcPts val="0"/>
                        </a:spcBef>
                        <a:spcAft>
                          <a:spcPts val="0"/>
                        </a:spcAft>
                        <a:buClr>
                          <a:srgbClr val="000000"/>
                        </a:buClr>
                        <a:buSzPts val="1100"/>
                        <a:buFont typeface="Arial"/>
                        <a:buNone/>
                      </a:pPr>
                      <a:r>
                        <a:rPr lang="en" sz="1000" u="none" strike="noStrike" cap="none" dirty="0"/>
                        <a:t>+25% magical damage taken </a:t>
                      </a:r>
                      <a:endParaRPr sz="1000" u="none" strike="noStrike" cap="none" dirty="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390" name="Google Shape;390;p67"/>
          <p:cNvSpPr txBox="1"/>
          <p:nvPr/>
        </p:nvSpPr>
        <p:spPr>
          <a:xfrm>
            <a:off x="181225" y="4208325"/>
            <a:ext cx="3052200" cy="802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As the screen above shows, GvTV will leverage modern hardware to enable its cutting edge graphics.</a:t>
            </a:r>
            <a:endParaRPr sz="1400" b="0" i="0" u="none" strike="noStrike" cap="none">
              <a:solidFill>
                <a:srgbClr val="000000"/>
              </a:solidFill>
              <a:latin typeface="Lato"/>
              <a:ea typeface="Lato"/>
              <a:cs typeface="Lato"/>
              <a:sym typeface="Lato"/>
            </a:endParaRPr>
          </a:p>
        </p:txBody>
      </p:sp>
      <p:pic>
        <p:nvPicPr>
          <p:cNvPr id="391" name="Google Shape;391;p67"/>
          <p:cNvPicPr preferRelativeResize="0"/>
          <p:nvPr/>
        </p:nvPicPr>
        <p:blipFill rotWithShape="1">
          <a:blip r:embed="rId3">
            <a:alphaModFix/>
          </a:blip>
          <a:srcRect/>
          <a:stretch/>
        </p:blipFill>
        <p:spPr>
          <a:xfrm>
            <a:off x="181225" y="1431135"/>
            <a:ext cx="3052199" cy="2668315"/>
          </a:xfrm>
          <a:prstGeom prst="rect">
            <a:avLst/>
          </a:prstGeom>
          <a:noFill/>
          <a:ln w="19050" cap="flat" cmpd="sng">
            <a:solidFill>
              <a:srgbClr val="000000"/>
            </a:solidFill>
            <a:prstDash val="solid"/>
            <a:round/>
            <a:headEnd type="none" w="sm" len="sm"/>
            <a:tailEnd type="none" w="sm" len="sm"/>
          </a:ln>
        </p:spPr>
      </p:pic>
      <p:pic>
        <p:nvPicPr>
          <p:cNvPr id="392" name="Google Shape;392;p67"/>
          <p:cNvPicPr preferRelativeResize="0"/>
          <p:nvPr/>
        </p:nvPicPr>
        <p:blipFill rotWithShape="1">
          <a:blip r:embed="rId4">
            <a:alphaModFix/>
          </a:blip>
          <a:srcRect/>
          <a:stretch/>
        </p:blipFill>
        <p:spPr>
          <a:xfrm>
            <a:off x="3578441" y="3479491"/>
            <a:ext cx="438150" cy="685800"/>
          </a:xfrm>
          <a:prstGeom prst="rect">
            <a:avLst/>
          </a:prstGeom>
          <a:noFill/>
          <a:ln>
            <a:noFill/>
          </a:ln>
        </p:spPr>
      </p:pic>
      <p:pic>
        <p:nvPicPr>
          <p:cNvPr id="393" name="Google Shape;393;p67"/>
          <p:cNvPicPr preferRelativeResize="0"/>
          <p:nvPr/>
        </p:nvPicPr>
        <p:blipFill rotWithShape="1">
          <a:blip r:embed="rId5">
            <a:alphaModFix/>
          </a:blip>
          <a:srcRect/>
          <a:stretch/>
        </p:blipFill>
        <p:spPr>
          <a:xfrm>
            <a:off x="3634605" y="4258320"/>
            <a:ext cx="419100" cy="685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graphicFrame>
        <p:nvGraphicFramePr>
          <p:cNvPr id="398" name="Google Shape;398;p68"/>
          <p:cNvGraphicFramePr/>
          <p:nvPr/>
        </p:nvGraphicFramePr>
        <p:xfrm>
          <a:off x="2490850" y="1574350"/>
          <a:ext cx="6257775" cy="3330050"/>
        </p:xfrm>
        <a:graphic>
          <a:graphicData uri="http://schemas.openxmlformats.org/drawingml/2006/table">
            <a:tbl>
              <a:tblPr>
                <a:noFill/>
                <a:tableStyleId>{7F442979-C056-43AA-83C6-67E564C60A4D}</a:tableStyleId>
              </a:tblPr>
              <a:tblGrid>
                <a:gridCol w="900075">
                  <a:extLst>
                    <a:ext uri="{9D8B030D-6E8A-4147-A177-3AD203B41FA5}">
                      <a16:colId xmlns:a16="http://schemas.microsoft.com/office/drawing/2014/main" val="20000"/>
                    </a:ext>
                  </a:extLst>
                </a:gridCol>
                <a:gridCol w="1785900">
                  <a:extLst>
                    <a:ext uri="{9D8B030D-6E8A-4147-A177-3AD203B41FA5}">
                      <a16:colId xmlns:a16="http://schemas.microsoft.com/office/drawing/2014/main" val="20001"/>
                    </a:ext>
                  </a:extLst>
                </a:gridCol>
                <a:gridCol w="1785900">
                  <a:extLst>
                    <a:ext uri="{9D8B030D-6E8A-4147-A177-3AD203B41FA5}">
                      <a16:colId xmlns:a16="http://schemas.microsoft.com/office/drawing/2014/main" val="20002"/>
                    </a:ext>
                  </a:extLst>
                </a:gridCol>
                <a:gridCol w="1785900">
                  <a:extLst>
                    <a:ext uri="{9D8B030D-6E8A-4147-A177-3AD203B41FA5}">
                      <a16:colId xmlns:a16="http://schemas.microsoft.com/office/drawing/2014/main" val="20003"/>
                    </a:ext>
                  </a:extLst>
                </a:gridCol>
              </a:tblGrid>
              <a:tr h="4170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Class </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State</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Behavior</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399" name="Google Shape;399;p6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Clr>
                <a:srgbClr val="000000"/>
              </a:buClr>
              <a:buSzPts val="1600"/>
              <a:buFont typeface="Arial"/>
              <a:buNone/>
            </a:pPr>
            <a:r>
              <a:rPr lang="en" dirty="0"/>
              <a:t>Domain analysis is the activity of identifying and documenting the commonalities and variabilities in related software systems. Begin your design with a simple domain analysis.</a:t>
            </a:r>
            <a:endParaRPr dirty="0"/>
          </a:p>
        </p:txBody>
      </p:sp>
      <p:sp>
        <p:nvSpPr>
          <p:cNvPr id="400" name="Google Shape;400;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401" name="Google Shape;401;p6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Simple Domain Analysis</a:t>
            </a:r>
            <a:endParaRPr/>
          </a:p>
        </p:txBody>
      </p:sp>
      <p:sp>
        <p:nvSpPr>
          <p:cNvPr id="402" name="Google Shape;402;p6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a:t>
            </a:r>
            <a:endParaRPr/>
          </a:p>
        </p:txBody>
      </p:sp>
      <p:sp>
        <p:nvSpPr>
          <p:cNvPr id="403" name="Google Shape;403;p68"/>
          <p:cNvSpPr txBox="1"/>
          <p:nvPr/>
        </p:nvSpPr>
        <p:spPr>
          <a:xfrm>
            <a:off x="51775" y="1574350"/>
            <a:ext cx="2381700" cy="2174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dirty="0">
                <a:solidFill>
                  <a:schemeClr val="lt2"/>
                </a:solidFill>
                <a:latin typeface="Roboto"/>
                <a:ea typeface="Roboto"/>
                <a:cs typeface="Roboto"/>
                <a:sym typeface="Roboto"/>
              </a:rPr>
              <a:t>Things to Note:</a:t>
            </a:r>
            <a:endParaRPr sz="1300" b="0" i="0" u="none" strike="noStrike" cap="none" dirty="0">
              <a:solidFill>
                <a:schemeClr val="lt2"/>
              </a:solidFill>
              <a:latin typeface="Roboto"/>
              <a:ea typeface="Roboto"/>
              <a:cs typeface="Roboto"/>
              <a:sym typeface="Roboto"/>
            </a:endParaRPr>
          </a:p>
          <a:p>
            <a:pPr marL="457200" marR="0" lvl="0" indent="-311150" algn="l" rtl="0">
              <a:lnSpc>
                <a:spcPct val="100000"/>
              </a:lnSpc>
              <a:spcBef>
                <a:spcPts val="0"/>
              </a:spcBef>
              <a:spcAft>
                <a:spcPts val="0"/>
              </a:spcAft>
              <a:buClr>
                <a:schemeClr val="lt2"/>
              </a:buClr>
              <a:buSzPts val="1300"/>
              <a:buFont typeface="Lato"/>
              <a:buChar char="●"/>
            </a:pPr>
            <a:r>
              <a:rPr lang="en" sz="1300" b="0" i="0" u="none" strike="noStrike" cap="none" dirty="0">
                <a:solidFill>
                  <a:schemeClr val="lt2"/>
                </a:solidFill>
                <a:latin typeface="Roboto"/>
                <a:ea typeface="Roboto"/>
                <a:cs typeface="Roboto"/>
                <a:sym typeface="Roboto"/>
              </a:rPr>
              <a:t>All goats have a </a:t>
            </a:r>
            <a:r>
              <a:rPr lang="en" sz="1300" b="1" i="0" u="sng" strike="noStrike" cap="none" dirty="0">
                <a:solidFill>
                  <a:srgbClr val="FF0000"/>
                </a:solidFill>
                <a:latin typeface="Roboto"/>
                <a:ea typeface="Roboto"/>
                <a:cs typeface="Roboto"/>
                <a:sym typeface="Roboto"/>
              </a:rPr>
              <a:t>name</a:t>
            </a:r>
            <a:r>
              <a:rPr lang="en" sz="1300" b="0" i="0" u="none" strike="noStrike" cap="none" dirty="0">
                <a:solidFill>
                  <a:schemeClr val="lt2"/>
                </a:solidFill>
                <a:latin typeface="Roboto"/>
                <a:ea typeface="Roboto"/>
                <a:cs typeface="Roboto"/>
                <a:sym typeface="Roboto"/>
              </a:rPr>
              <a:t>, e.g. “Hairy Potter.”</a:t>
            </a:r>
            <a:endParaRPr sz="1300" b="0" i="0" u="none" strike="noStrike" cap="none" dirty="0">
              <a:solidFill>
                <a:schemeClr val="lt2"/>
              </a:solidFill>
              <a:latin typeface="Roboto"/>
              <a:ea typeface="Roboto"/>
              <a:cs typeface="Roboto"/>
              <a:sym typeface="Roboto"/>
            </a:endParaRPr>
          </a:p>
          <a:p>
            <a:pPr marL="457200" marR="0" lvl="0" indent="-311150" algn="l" rtl="0">
              <a:lnSpc>
                <a:spcPct val="100000"/>
              </a:lnSpc>
              <a:spcBef>
                <a:spcPts val="0"/>
              </a:spcBef>
              <a:spcAft>
                <a:spcPts val="0"/>
              </a:spcAft>
              <a:buClr>
                <a:schemeClr val="lt2"/>
              </a:buClr>
              <a:buSzPts val="1300"/>
              <a:buFont typeface="Lato"/>
              <a:buChar char="●"/>
            </a:pPr>
            <a:r>
              <a:rPr lang="en" sz="1300" b="0" i="0" u="none" strike="noStrike" cap="none" dirty="0">
                <a:solidFill>
                  <a:schemeClr val="lt2"/>
                </a:solidFill>
                <a:latin typeface="Roboto"/>
                <a:ea typeface="Roboto"/>
                <a:cs typeface="Roboto"/>
                <a:sym typeface="Roboto"/>
              </a:rPr>
              <a:t>All goats can be </a:t>
            </a:r>
            <a:r>
              <a:rPr lang="en" sz="1300" b="1" i="0" u="sng" strike="noStrike" cap="none" dirty="0">
                <a:solidFill>
                  <a:srgbClr val="FF0000"/>
                </a:solidFill>
                <a:latin typeface="Roboto"/>
                <a:ea typeface="Roboto"/>
                <a:cs typeface="Roboto"/>
                <a:sym typeface="Roboto"/>
              </a:rPr>
              <a:t>healed</a:t>
            </a:r>
            <a:r>
              <a:rPr lang="en" sz="1300" b="1" i="0" u="sng" strike="noStrike" cap="none" dirty="0">
                <a:solidFill>
                  <a:schemeClr val="lt2"/>
                </a:solidFill>
                <a:latin typeface="Roboto"/>
                <a:ea typeface="Roboto"/>
                <a:cs typeface="Roboto"/>
                <a:sym typeface="Roboto"/>
              </a:rPr>
              <a:t> </a:t>
            </a:r>
            <a:r>
              <a:rPr lang="en" sz="1300" b="0" i="0" u="none" strike="noStrike" cap="none" dirty="0">
                <a:solidFill>
                  <a:schemeClr val="lt2"/>
                </a:solidFill>
                <a:latin typeface="Roboto"/>
                <a:ea typeface="Roboto"/>
                <a:cs typeface="Roboto"/>
                <a:sym typeface="Roboto"/>
              </a:rPr>
              <a:t>for some of their hit points.</a:t>
            </a:r>
            <a:endParaRPr sz="1300" b="0" i="0" u="none" strike="noStrike" cap="none" dirty="0">
              <a:solidFill>
                <a:schemeClr val="lt2"/>
              </a:solidFill>
              <a:latin typeface="Roboto"/>
              <a:ea typeface="Roboto"/>
              <a:cs typeface="Roboto"/>
              <a:sym typeface="Roboto"/>
            </a:endParaRPr>
          </a:p>
          <a:p>
            <a:pPr marL="457200" marR="0" lvl="0" indent="-311150" algn="l" rtl="0">
              <a:lnSpc>
                <a:spcPct val="100000"/>
              </a:lnSpc>
              <a:spcBef>
                <a:spcPts val="0"/>
              </a:spcBef>
              <a:spcAft>
                <a:spcPts val="0"/>
              </a:spcAft>
              <a:buClr>
                <a:schemeClr val="lt2"/>
              </a:buClr>
              <a:buSzPts val="1300"/>
              <a:buFont typeface="Lato"/>
              <a:buChar char="●"/>
            </a:pPr>
            <a:r>
              <a:rPr lang="en" sz="1300" b="0" i="0" u="none" strike="noStrike" cap="none" dirty="0">
                <a:solidFill>
                  <a:schemeClr val="lt2"/>
                </a:solidFill>
                <a:latin typeface="Roboto"/>
                <a:ea typeface="Roboto"/>
                <a:cs typeface="Roboto"/>
                <a:sym typeface="Roboto"/>
              </a:rPr>
              <a:t>If a goats current HP drops to 0, the goat is knocked </a:t>
            </a:r>
            <a:r>
              <a:rPr lang="en" sz="1300" b="1" i="0" u="sng" strike="noStrike" cap="none" dirty="0">
                <a:solidFill>
                  <a:srgbClr val="FF0000"/>
                </a:solidFill>
                <a:latin typeface="Roboto"/>
                <a:ea typeface="Roboto"/>
                <a:cs typeface="Roboto"/>
                <a:sym typeface="Roboto"/>
              </a:rPr>
              <a:t>unconscious</a:t>
            </a:r>
            <a:r>
              <a:rPr lang="en" sz="1300" b="0" i="0" u="none" strike="noStrike" cap="none" dirty="0">
                <a:solidFill>
                  <a:schemeClr val="lt2"/>
                </a:solidFill>
                <a:latin typeface="Roboto"/>
                <a:ea typeface="Roboto"/>
                <a:cs typeface="Roboto"/>
                <a:sym typeface="Roboto"/>
              </a:rPr>
              <a:t>.</a:t>
            </a:r>
            <a:endParaRPr sz="1300" b="0" i="0" u="none" strike="noStrike" cap="none" dirty="0">
              <a:solidFill>
                <a:schemeClr val="lt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graphicFrame>
        <p:nvGraphicFramePr>
          <p:cNvPr id="408" name="Google Shape;408;p69"/>
          <p:cNvGraphicFramePr/>
          <p:nvPr/>
        </p:nvGraphicFramePr>
        <p:xfrm>
          <a:off x="2490850" y="1574350"/>
          <a:ext cx="6257775" cy="3330050"/>
        </p:xfrm>
        <a:graphic>
          <a:graphicData uri="http://schemas.openxmlformats.org/drawingml/2006/table">
            <a:tbl>
              <a:tblPr>
                <a:noFill/>
                <a:tableStyleId>{7F442979-C056-43AA-83C6-67E564C60A4D}</a:tableStyleId>
              </a:tblPr>
              <a:tblGrid>
                <a:gridCol w="900075">
                  <a:extLst>
                    <a:ext uri="{9D8B030D-6E8A-4147-A177-3AD203B41FA5}">
                      <a16:colId xmlns:a16="http://schemas.microsoft.com/office/drawing/2014/main" val="20000"/>
                    </a:ext>
                  </a:extLst>
                </a:gridCol>
                <a:gridCol w="1785900">
                  <a:extLst>
                    <a:ext uri="{9D8B030D-6E8A-4147-A177-3AD203B41FA5}">
                      <a16:colId xmlns:a16="http://schemas.microsoft.com/office/drawing/2014/main" val="20001"/>
                    </a:ext>
                  </a:extLst>
                </a:gridCol>
                <a:gridCol w="1785900">
                  <a:extLst>
                    <a:ext uri="{9D8B030D-6E8A-4147-A177-3AD203B41FA5}">
                      <a16:colId xmlns:a16="http://schemas.microsoft.com/office/drawing/2014/main" val="20002"/>
                    </a:ext>
                  </a:extLst>
                </a:gridCol>
                <a:gridCol w="1785900">
                  <a:extLst>
                    <a:ext uri="{9D8B030D-6E8A-4147-A177-3AD203B41FA5}">
                      <a16:colId xmlns:a16="http://schemas.microsoft.com/office/drawing/2014/main" val="20003"/>
                    </a:ext>
                  </a:extLst>
                </a:gridCol>
              </a:tblGrid>
              <a:tr h="4170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Class </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t>State</a:t>
                      </a:r>
                      <a:endParaRPr sz="14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Behavior</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409" name="Google Shape;409;p6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Domain analysis is the activity of identifying and documenting the commonalities and variabilities in related software systems. Begin your design with a simple domain analysis.</a:t>
            </a:r>
            <a:endParaRPr/>
          </a:p>
        </p:txBody>
      </p:sp>
      <p:sp>
        <p:nvSpPr>
          <p:cNvPr id="410" name="Google Shape;410;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411" name="Google Shape;411;p6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Simple Domain Analysis</a:t>
            </a:r>
            <a:endParaRPr/>
          </a:p>
        </p:txBody>
      </p:sp>
      <p:sp>
        <p:nvSpPr>
          <p:cNvPr id="412" name="Google Shape;412;p6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a:t>
            </a:r>
            <a:endParaRPr/>
          </a:p>
        </p:txBody>
      </p:sp>
      <p:sp>
        <p:nvSpPr>
          <p:cNvPr id="413" name="Google Shape;413;p69"/>
          <p:cNvSpPr txBox="1"/>
          <p:nvPr/>
        </p:nvSpPr>
        <p:spPr>
          <a:xfrm>
            <a:off x="3446150" y="1648968"/>
            <a:ext cx="1565100" cy="315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ATTACK</a:t>
            </a:r>
            <a:endParaRPr sz="1800" b="0" i="0" u="none" strike="noStrike" cap="none">
              <a:solidFill>
                <a:srgbClr val="FF0000"/>
              </a:solidFill>
              <a:latin typeface="Shadows Into Light"/>
              <a:ea typeface="Shadows Into Light"/>
              <a:cs typeface="Shadows Into Light"/>
              <a:sym typeface="Shadows Into Light"/>
            </a:endParaRPr>
          </a:p>
        </p:txBody>
      </p:sp>
      <p:sp>
        <p:nvSpPr>
          <p:cNvPr id="414" name="Google Shape;414;p69"/>
          <p:cNvSpPr txBox="1"/>
          <p:nvPr/>
        </p:nvSpPr>
        <p:spPr>
          <a:xfrm>
            <a:off x="3446150" y="2106168"/>
            <a:ext cx="1565100" cy="123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NAME</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 OF HITS</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DAMAGE TYPE</a:t>
            </a:r>
            <a:endParaRPr sz="1800" b="0" i="0" u="none" strike="noStrike" cap="none" dirty="0">
              <a:solidFill>
                <a:srgbClr val="FF0000"/>
              </a:solidFill>
              <a:latin typeface="Shadows Into Light"/>
              <a:ea typeface="Shadows Into Light"/>
              <a:cs typeface="Shadows Into Light"/>
              <a:sym typeface="Shadows Into Light"/>
            </a:endParaRPr>
          </a:p>
        </p:txBody>
      </p:sp>
      <p:sp>
        <p:nvSpPr>
          <p:cNvPr id="415" name="Google Shape;415;p69"/>
          <p:cNvSpPr txBox="1"/>
          <p:nvPr/>
        </p:nvSpPr>
        <p:spPr>
          <a:xfrm>
            <a:off x="3446150" y="3553968"/>
            <a:ext cx="1565100" cy="123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GETTERS</a:t>
            </a:r>
            <a:endParaRPr sz="1800" b="0" i="0" u="none" strike="noStrike" cap="none" dirty="0">
              <a:solidFill>
                <a:srgbClr val="FF0000"/>
              </a:solidFill>
              <a:latin typeface="Shadows Into Light"/>
              <a:ea typeface="Shadows Into Light"/>
              <a:cs typeface="Shadows Into Light"/>
              <a:sym typeface="Shadows Into Light"/>
            </a:endParaRPr>
          </a:p>
        </p:txBody>
      </p:sp>
      <p:sp>
        <p:nvSpPr>
          <p:cNvPr id="416" name="Google Shape;416;p69"/>
          <p:cNvSpPr txBox="1"/>
          <p:nvPr/>
        </p:nvSpPr>
        <p:spPr>
          <a:xfrm>
            <a:off x="5198750" y="1648968"/>
            <a:ext cx="1565100" cy="315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MAGE</a:t>
            </a:r>
            <a:endParaRPr sz="1800" b="0" i="0" u="none" strike="noStrike" cap="none">
              <a:solidFill>
                <a:srgbClr val="FF0000"/>
              </a:solidFill>
              <a:latin typeface="Shadows Into Light"/>
              <a:ea typeface="Shadows Into Light"/>
              <a:cs typeface="Shadows Into Light"/>
              <a:sym typeface="Shadows Into Light"/>
            </a:endParaRPr>
          </a:p>
        </p:txBody>
      </p:sp>
      <p:sp>
        <p:nvSpPr>
          <p:cNvPr id="417" name="Google Shape;417;p69"/>
          <p:cNvSpPr txBox="1"/>
          <p:nvPr/>
        </p:nvSpPr>
        <p:spPr>
          <a:xfrm>
            <a:off x="5179534" y="2106168"/>
            <a:ext cx="1785900" cy="123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NAME</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MAX HP</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CURRENT HP</a:t>
            </a:r>
            <a:endParaRPr sz="1800" b="0" i="0" u="none" strike="noStrike" cap="none" dirty="0">
              <a:solidFill>
                <a:srgbClr val="FF0000"/>
              </a:solidFill>
              <a:latin typeface="Shadows Into Light"/>
              <a:ea typeface="Shadows Into Light"/>
              <a:cs typeface="Shadows Into Light"/>
              <a:sym typeface="Shadows Into Light"/>
            </a:endParaRPr>
          </a:p>
        </p:txBody>
      </p:sp>
      <p:sp>
        <p:nvSpPr>
          <p:cNvPr id="418" name="Google Shape;418;p69"/>
          <p:cNvSpPr txBox="1"/>
          <p:nvPr/>
        </p:nvSpPr>
        <p:spPr>
          <a:xfrm>
            <a:off x="5274950" y="3553968"/>
            <a:ext cx="1565100" cy="123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ATTACK</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ATTACKED</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HEAL</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IS CONSCIOUS?</a:t>
            </a:r>
            <a:endParaRPr sz="1800" b="0" i="0" u="none" strike="noStrike" cap="none" dirty="0">
              <a:solidFill>
                <a:srgbClr val="FF0000"/>
              </a:solidFill>
              <a:latin typeface="Shadows Into Light"/>
              <a:ea typeface="Shadows Into Light"/>
              <a:cs typeface="Shadows Into Light"/>
              <a:sym typeface="Shadows Into Light"/>
            </a:endParaRPr>
          </a:p>
        </p:txBody>
      </p:sp>
      <p:sp>
        <p:nvSpPr>
          <p:cNvPr id="419" name="Google Shape;419;p69"/>
          <p:cNvSpPr txBox="1"/>
          <p:nvPr/>
        </p:nvSpPr>
        <p:spPr>
          <a:xfrm>
            <a:off x="7027550" y="1648968"/>
            <a:ext cx="1565100" cy="315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FIGHTER</a:t>
            </a:r>
            <a:endParaRPr sz="1800" b="0" i="0" u="none" strike="noStrike" cap="none">
              <a:solidFill>
                <a:srgbClr val="FF0000"/>
              </a:solidFill>
              <a:latin typeface="Shadows Into Light"/>
              <a:ea typeface="Shadows Into Light"/>
              <a:cs typeface="Shadows Into Light"/>
              <a:sym typeface="Shadows Into Light"/>
            </a:endParaRPr>
          </a:p>
        </p:txBody>
      </p:sp>
      <p:sp>
        <p:nvSpPr>
          <p:cNvPr id="420" name="Google Shape;420;p69"/>
          <p:cNvSpPr txBox="1"/>
          <p:nvPr/>
        </p:nvSpPr>
        <p:spPr>
          <a:xfrm>
            <a:off x="6963184" y="2106168"/>
            <a:ext cx="1785900" cy="123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NAME</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MAX HP</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CURRENT HP</a:t>
            </a:r>
            <a:endParaRPr sz="1800" b="0" i="0" u="none" strike="noStrike" cap="none" dirty="0">
              <a:solidFill>
                <a:srgbClr val="FF0000"/>
              </a:solidFill>
              <a:latin typeface="Shadows Into Light"/>
              <a:ea typeface="Shadows Into Light"/>
              <a:cs typeface="Shadows Into Light"/>
              <a:sym typeface="Shadows Into Light"/>
            </a:endParaRPr>
          </a:p>
        </p:txBody>
      </p:sp>
      <p:sp>
        <p:nvSpPr>
          <p:cNvPr id="421" name="Google Shape;421;p69"/>
          <p:cNvSpPr txBox="1"/>
          <p:nvPr/>
        </p:nvSpPr>
        <p:spPr>
          <a:xfrm>
            <a:off x="7027550" y="3553968"/>
            <a:ext cx="1565100" cy="123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ATTACK</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ATTACKED</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HEAL</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IS CONSCIOUS?</a:t>
            </a:r>
            <a:endParaRPr sz="1800" b="0" i="0" u="none" strike="noStrike" cap="none" dirty="0">
              <a:solidFill>
                <a:srgbClr val="FF0000"/>
              </a:solidFill>
              <a:latin typeface="Shadows Into Light"/>
              <a:ea typeface="Shadows Into Light"/>
              <a:cs typeface="Shadows Into Light"/>
              <a:sym typeface="Shadows Into Light"/>
            </a:endParaRPr>
          </a:p>
        </p:txBody>
      </p:sp>
      <p:sp>
        <p:nvSpPr>
          <p:cNvPr id="422" name="Google Shape;422;p69"/>
          <p:cNvSpPr txBox="1"/>
          <p:nvPr/>
        </p:nvSpPr>
        <p:spPr>
          <a:xfrm>
            <a:off x="51775" y="1574350"/>
            <a:ext cx="2381700" cy="2174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lt2"/>
                </a:solidFill>
                <a:latin typeface="Roboto"/>
                <a:ea typeface="Roboto"/>
                <a:cs typeface="Roboto"/>
                <a:sym typeface="Roboto"/>
              </a:rPr>
              <a:t>Things to Note:</a:t>
            </a:r>
            <a:endParaRPr sz="1300" b="0" i="0" u="none" strike="noStrike" cap="none">
              <a:solidFill>
                <a:schemeClr val="lt2"/>
              </a:solidFill>
              <a:latin typeface="Roboto"/>
              <a:ea typeface="Roboto"/>
              <a:cs typeface="Roboto"/>
              <a:sym typeface="Roboto"/>
            </a:endParaRPr>
          </a:p>
          <a:p>
            <a:pPr marL="457200" marR="0" lvl="0" indent="-311150" algn="l" rtl="0">
              <a:lnSpc>
                <a:spcPct val="100000"/>
              </a:lnSpc>
              <a:spcBef>
                <a:spcPts val="0"/>
              </a:spcBef>
              <a:spcAft>
                <a:spcPts val="0"/>
              </a:spcAft>
              <a:buClr>
                <a:schemeClr val="lt2"/>
              </a:buClr>
              <a:buSzPts val="1300"/>
              <a:buFont typeface="Lato"/>
              <a:buChar char="●"/>
            </a:pPr>
            <a:r>
              <a:rPr lang="en" sz="1300" b="0" i="0" u="none" strike="noStrike" cap="none">
                <a:solidFill>
                  <a:schemeClr val="lt2"/>
                </a:solidFill>
                <a:latin typeface="Roboto"/>
                <a:ea typeface="Roboto"/>
                <a:cs typeface="Roboto"/>
                <a:sym typeface="Roboto"/>
              </a:rPr>
              <a:t>All goats have a </a:t>
            </a:r>
            <a:r>
              <a:rPr lang="en" sz="1300" b="1" i="0" u="sng" strike="noStrike" cap="none">
                <a:solidFill>
                  <a:srgbClr val="FF0000"/>
                </a:solidFill>
                <a:latin typeface="Roboto"/>
                <a:ea typeface="Roboto"/>
                <a:cs typeface="Roboto"/>
                <a:sym typeface="Roboto"/>
              </a:rPr>
              <a:t>name</a:t>
            </a:r>
            <a:r>
              <a:rPr lang="en" sz="1300" b="0" i="0" u="none" strike="noStrike" cap="none">
                <a:solidFill>
                  <a:schemeClr val="lt2"/>
                </a:solidFill>
                <a:latin typeface="Roboto"/>
                <a:ea typeface="Roboto"/>
                <a:cs typeface="Roboto"/>
                <a:sym typeface="Roboto"/>
              </a:rPr>
              <a:t>, e.g. “Hairy Potter.”</a:t>
            </a:r>
            <a:endParaRPr sz="1300" b="0" i="0" u="none" strike="noStrike" cap="none">
              <a:solidFill>
                <a:schemeClr val="lt2"/>
              </a:solidFill>
              <a:latin typeface="Roboto"/>
              <a:ea typeface="Roboto"/>
              <a:cs typeface="Roboto"/>
              <a:sym typeface="Roboto"/>
            </a:endParaRPr>
          </a:p>
          <a:p>
            <a:pPr marL="457200" marR="0" lvl="0" indent="-311150" algn="l" rtl="0">
              <a:lnSpc>
                <a:spcPct val="100000"/>
              </a:lnSpc>
              <a:spcBef>
                <a:spcPts val="0"/>
              </a:spcBef>
              <a:spcAft>
                <a:spcPts val="0"/>
              </a:spcAft>
              <a:buClr>
                <a:schemeClr val="lt2"/>
              </a:buClr>
              <a:buSzPts val="1300"/>
              <a:buFont typeface="Lato"/>
              <a:buChar char="●"/>
            </a:pPr>
            <a:r>
              <a:rPr lang="en" sz="1300" b="0" i="0" u="none" strike="noStrike" cap="none">
                <a:solidFill>
                  <a:schemeClr val="lt2"/>
                </a:solidFill>
                <a:latin typeface="Roboto"/>
                <a:ea typeface="Roboto"/>
                <a:cs typeface="Roboto"/>
                <a:sym typeface="Roboto"/>
              </a:rPr>
              <a:t>All goats can be </a:t>
            </a:r>
            <a:r>
              <a:rPr lang="en" sz="1300" b="1" i="0" u="sng" strike="noStrike" cap="none">
                <a:solidFill>
                  <a:srgbClr val="FF0000"/>
                </a:solidFill>
                <a:latin typeface="Roboto"/>
                <a:ea typeface="Roboto"/>
                <a:cs typeface="Roboto"/>
                <a:sym typeface="Roboto"/>
              </a:rPr>
              <a:t>healed</a:t>
            </a:r>
            <a:r>
              <a:rPr lang="en" sz="1300" b="1" i="0" u="sng" strike="noStrike" cap="none">
                <a:solidFill>
                  <a:schemeClr val="lt2"/>
                </a:solidFill>
                <a:latin typeface="Roboto"/>
                <a:ea typeface="Roboto"/>
                <a:cs typeface="Roboto"/>
                <a:sym typeface="Roboto"/>
              </a:rPr>
              <a:t> </a:t>
            </a:r>
            <a:r>
              <a:rPr lang="en" sz="1300" b="0" i="0" u="none" strike="noStrike" cap="none">
                <a:solidFill>
                  <a:schemeClr val="lt2"/>
                </a:solidFill>
                <a:latin typeface="Roboto"/>
                <a:ea typeface="Roboto"/>
                <a:cs typeface="Roboto"/>
                <a:sym typeface="Roboto"/>
              </a:rPr>
              <a:t>for some of their hit points.</a:t>
            </a:r>
            <a:endParaRPr sz="1300" b="0" i="0" u="none" strike="noStrike" cap="none">
              <a:solidFill>
                <a:schemeClr val="lt2"/>
              </a:solidFill>
              <a:latin typeface="Roboto"/>
              <a:ea typeface="Roboto"/>
              <a:cs typeface="Roboto"/>
              <a:sym typeface="Roboto"/>
            </a:endParaRPr>
          </a:p>
          <a:p>
            <a:pPr marL="457200" marR="0" lvl="0" indent="-311150" algn="l" rtl="0">
              <a:lnSpc>
                <a:spcPct val="100000"/>
              </a:lnSpc>
              <a:spcBef>
                <a:spcPts val="0"/>
              </a:spcBef>
              <a:spcAft>
                <a:spcPts val="0"/>
              </a:spcAft>
              <a:buClr>
                <a:schemeClr val="lt2"/>
              </a:buClr>
              <a:buSzPts val="1300"/>
              <a:buFont typeface="Lato"/>
              <a:buChar char="●"/>
            </a:pPr>
            <a:r>
              <a:rPr lang="en" sz="1300" b="0" i="0" u="none" strike="noStrike" cap="none">
                <a:solidFill>
                  <a:schemeClr val="lt2"/>
                </a:solidFill>
                <a:latin typeface="Roboto"/>
                <a:ea typeface="Roboto"/>
                <a:cs typeface="Roboto"/>
                <a:sym typeface="Roboto"/>
              </a:rPr>
              <a:t>If a goats current HP drops to 0, the goat is knocked </a:t>
            </a:r>
            <a:r>
              <a:rPr lang="en" sz="1300" b="1" i="0" u="sng" strike="noStrike" cap="none">
                <a:solidFill>
                  <a:srgbClr val="FF0000"/>
                </a:solidFill>
                <a:latin typeface="Roboto"/>
                <a:ea typeface="Roboto"/>
                <a:cs typeface="Roboto"/>
                <a:sym typeface="Roboto"/>
              </a:rPr>
              <a:t>unconscious</a:t>
            </a:r>
            <a:r>
              <a:rPr lang="en" sz="1300" b="0" i="0" u="none" strike="noStrike" cap="none">
                <a:solidFill>
                  <a:schemeClr val="lt2"/>
                </a:solidFill>
                <a:latin typeface="Roboto"/>
                <a:ea typeface="Roboto"/>
                <a:cs typeface="Roboto"/>
                <a:sym typeface="Roboto"/>
              </a:rPr>
              <a:t>.</a:t>
            </a:r>
            <a:endParaRPr sz="1300" b="0" i="0" u="none" strike="noStrike" cap="none">
              <a:solidFill>
                <a:schemeClr val="lt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70"/>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Clr>
                <a:srgbClr val="000000"/>
              </a:buClr>
              <a:buSzPts val="1600"/>
              <a:buFont typeface="Arial"/>
              <a:buNone/>
            </a:pPr>
            <a:r>
              <a:rPr lang="en"/>
              <a:t>An attack in GvT may do one of several predefined types of damage. Define a Java enumeration that can be used to represent the different damage types in a game of GvT.</a:t>
            </a:r>
            <a:endParaRPr/>
          </a:p>
        </p:txBody>
      </p:sp>
      <p:sp>
        <p:nvSpPr>
          <p:cNvPr id="428" name="Google Shape;428;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429" name="Google Shape;429;p70"/>
          <p:cNvSpPr txBox="1">
            <a:spLocks noGrp="1"/>
          </p:cNvSpPr>
          <p:nvPr>
            <p:ph type="body" idx="2"/>
          </p:nvPr>
        </p:nvSpPr>
        <p:spPr>
          <a:xfrm>
            <a:off x="2969600" y="1479725"/>
            <a:ext cx="5971500" cy="28938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Create a new package under </a:t>
            </a:r>
            <a:r>
              <a:rPr lang="en" sz="1500" dirty="0">
                <a:latin typeface="Courier New"/>
                <a:ea typeface="Courier New"/>
                <a:cs typeface="Courier New"/>
                <a:sym typeface="Courier New"/>
              </a:rPr>
              <a:t>unit03</a:t>
            </a:r>
            <a:r>
              <a:rPr lang="en" sz="1500" dirty="0"/>
              <a:t> named "</a:t>
            </a:r>
            <a:r>
              <a:rPr lang="en" sz="1500" dirty="0">
                <a:latin typeface="Courier New"/>
                <a:ea typeface="Courier New"/>
                <a:cs typeface="Courier New"/>
                <a:sym typeface="Courier New"/>
              </a:rPr>
              <a:t>gvt</a:t>
            </a:r>
            <a:r>
              <a:rPr lang="en" sz="1500" dirty="0"/>
              <a:t>". You will use this package for all of the code that you write today. </a:t>
            </a:r>
            <a:endParaRPr sz="1500" dirty="0"/>
          </a:p>
          <a:p>
            <a:pPr marL="457200" lvl="0" indent="-323850" algn="l" rtl="0">
              <a:spcBef>
                <a:spcPts val="0"/>
              </a:spcBef>
              <a:spcAft>
                <a:spcPts val="0"/>
              </a:spcAft>
              <a:buSzPts val="1500"/>
              <a:buChar char="●"/>
            </a:pPr>
            <a:r>
              <a:rPr lang="en" sz="1500" dirty="0"/>
              <a:t>Create a new Java enum named "</a:t>
            </a:r>
            <a:r>
              <a:rPr lang="en" sz="1500" dirty="0">
                <a:latin typeface="Courier New"/>
                <a:ea typeface="Courier New"/>
                <a:cs typeface="Courier New"/>
                <a:sym typeface="Courier New"/>
              </a:rPr>
              <a:t>DamageType</a:t>
            </a:r>
            <a:r>
              <a:rPr lang="en" sz="1500" dirty="0"/>
              <a:t>". Enumerate the possible values for damage types including:</a:t>
            </a:r>
            <a:endParaRPr sz="1500" dirty="0"/>
          </a:p>
          <a:p>
            <a:pPr marL="914400" lvl="1" indent="-311150" algn="l" rtl="0">
              <a:spcBef>
                <a:spcPts val="0"/>
              </a:spcBef>
              <a:spcAft>
                <a:spcPts val="0"/>
              </a:spcAft>
              <a:buSzPts val="1300"/>
              <a:buChar char="○"/>
            </a:pPr>
            <a:r>
              <a:rPr lang="en" sz="1300" dirty="0"/>
              <a:t>Physical</a:t>
            </a:r>
            <a:endParaRPr sz="1300" dirty="0"/>
          </a:p>
          <a:p>
            <a:pPr marL="914400" lvl="1" indent="-311150" algn="l" rtl="0">
              <a:spcBef>
                <a:spcPts val="0"/>
              </a:spcBef>
              <a:spcAft>
                <a:spcPts val="0"/>
              </a:spcAft>
              <a:buSzPts val="1300"/>
              <a:buChar char="○"/>
            </a:pPr>
            <a:r>
              <a:rPr lang="en" sz="1300" dirty="0"/>
              <a:t>Magical</a:t>
            </a:r>
            <a:endParaRPr sz="1300" dirty="0"/>
          </a:p>
          <a:p>
            <a:pPr marL="914400" lvl="1" indent="-311150" algn="l" rtl="0">
              <a:spcBef>
                <a:spcPts val="0"/>
              </a:spcBef>
              <a:spcAft>
                <a:spcPts val="0"/>
              </a:spcAft>
              <a:buSzPts val="1300"/>
              <a:buChar char="○"/>
            </a:pPr>
            <a:r>
              <a:rPr lang="en" sz="1300" dirty="0"/>
              <a:t>Poison</a:t>
            </a:r>
            <a:endParaRPr sz="1300" dirty="0"/>
          </a:p>
          <a:p>
            <a:pPr marL="914400" lvl="1" indent="-311150" algn="l" rtl="0">
              <a:spcBef>
                <a:spcPts val="0"/>
              </a:spcBef>
              <a:spcAft>
                <a:spcPts val="0"/>
              </a:spcAft>
              <a:buSzPts val="1300"/>
              <a:buChar char="○"/>
            </a:pPr>
            <a:r>
              <a:rPr lang="en" sz="1300" dirty="0"/>
              <a:t>Holy</a:t>
            </a:r>
            <a:endParaRPr sz="1300" dirty="0"/>
          </a:p>
          <a:p>
            <a:pPr marL="914400" lvl="1" indent="-311150" algn="l" rtl="0">
              <a:spcBef>
                <a:spcPts val="0"/>
              </a:spcBef>
              <a:spcAft>
                <a:spcPts val="0"/>
              </a:spcAft>
              <a:buSzPts val="1300"/>
              <a:buChar char="○"/>
            </a:pPr>
            <a:r>
              <a:rPr lang="en" sz="1300" dirty="0"/>
              <a:t>Elemental</a:t>
            </a:r>
            <a:endParaRPr sz="1300" dirty="0"/>
          </a:p>
          <a:p>
            <a:pPr marL="457200" lvl="0" indent="-323850" algn="l" rtl="0">
              <a:spcBef>
                <a:spcPts val="0"/>
              </a:spcBef>
              <a:spcAft>
                <a:spcPts val="0"/>
              </a:spcAft>
              <a:buSzPts val="1500"/>
              <a:buChar char="●"/>
            </a:pPr>
            <a:r>
              <a:rPr lang="en" sz="1500" dirty="0"/>
              <a:t>There is no need to test your new </a:t>
            </a:r>
            <a:r>
              <a:rPr lang="en" sz="1500" dirty="0">
                <a:latin typeface="Courier New"/>
                <a:ea typeface="Courier New"/>
                <a:cs typeface="Courier New"/>
                <a:sym typeface="Courier New"/>
              </a:rPr>
              <a:t>enum</a:t>
            </a:r>
            <a:r>
              <a:rPr lang="en" sz="1500" dirty="0"/>
              <a:t>; you will be using it in the next activity.</a:t>
            </a:r>
            <a:endParaRPr sz="1500" dirty="0"/>
          </a:p>
        </p:txBody>
      </p:sp>
      <p:sp>
        <p:nvSpPr>
          <p:cNvPr id="430" name="Google Shape;430;p7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Damage Types</a:t>
            </a:r>
            <a:endParaRPr/>
          </a:p>
        </p:txBody>
      </p:sp>
      <p:sp>
        <p:nvSpPr>
          <p:cNvPr id="431" name="Google Shape;431;p7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a:t>
            </a:r>
            <a:endParaRPr/>
          </a:p>
        </p:txBody>
      </p:sp>
      <p:pic>
        <p:nvPicPr>
          <p:cNvPr id="432" name="Google Shape;432;p70"/>
          <p:cNvPicPr preferRelativeResize="0"/>
          <p:nvPr/>
        </p:nvPicPr>
        <p:blipFill rotWithShape="1">
          <a:blip r:embed="rId3">
            <a:alphaModFix/>
          </a:blip>
          <a:srcRect/>
          <a:stretch/>
        </p:blipFill>
        <p:spPr>
          <a:xfrm>
            <a:off x="1521400" y="3257552"/>
            <a:ext cx="581625" cy="951750"/>
          </a:xfrm>
          <a:prstGeom prst="rect">
            <a:avLst/>
          </a:prstGeom>
          <a:noFill/>
          <a:ln>
            <a:noFill/>
          </a:ln>
        </p:spPr>
      </p:pic>
      <p:pic>
        <p:nvPicPr>
          <p:cNvPr id="433" name="Google Shape;433;p70"/>
          <p:cNvPicPr preferRelativeResize="0"/>
          <p:nvPr/>
        </p:nvPicPr>
        <p:blipFill rotWithShape="1">
          <a:blip r:embed="rId4">
            <a:alphaModFix/>
          </a:blip>
          <a:srcRect/>
          <a:stretch/>
        </p:blipFill>
        <p:spPr>
          <a:xfrm>
            <a:off x="1617533" y="1469250"/>
            <a:ext cx="465665" cy="737430"/>
          </a:xfrm>
          <a:prstGeom prst="rect">
            <a:avLst/>
          </a:prstGeom>
          <a:noFill/>
          <a:ln>
            <a:noFill/>
          </a:ln>
        </p:spPr>
      </p:pic>
      <p:pic>
        <p:nvPicPr>
          <p:cNvPr id="434" name="Google Shape;434;p70"/>
          <p:cNvPicPr preferRelativeResize="0"/>
          <p:nvPr/>
        </p:nvPicPr>
        <p:blipFill rotWithShape="1">
          <a:blip r:embed="rId5">
            <a:alphaModFix/>
          </a:blip>
          <a:srcRect/>
          <a:stretch/>
        </p:blipFill>
        <p:spPr>
          <a:xfrm>
            <a:off x="1281191" y="1770662"/>
            <a:ext cx="1012315" cy="389199"/>
          </a:xfrm>
          <a:prstGeom prst="rect">
            <a:avLst/>
          </a:prstGeom>
          <a:noFill/>
          <a:ln>
            <a:noFill/>
          </a:ln>
        </p:spPr>
      </p:pic>
      <p:pic>
        <p:nvPicPr>
          <p:cNvPr id="435" name="Google Shape;435;p70"/>
          <p:cNvPicPr preferRelativeResize="0"/>
          <p:nvPr/>
        </p:nvPicPr>
        <p:blipFill rotWithShape="1">
          <a:blip r:embed="rId6">
            <a:alphaModFix/>
          </a:blip>
          <a:srcRect/>
          <a:stretch/>
        </p:blipFill>
        <p:spPr>
          <a:xfrm>
            <a:off x="635383" y="1880366"/>
            <a:ext cx="615318" cy="169784"/>
          </a:xfrm>
          <a:prstGeom prst="rect">
            <a:avLst/>
          </a:prstGeom>
          <a:noFill/>
          <a:ln>
            <a:noFill/>
          </a:ln>
        </p:spPr>
      </p:pic>
      <p:sp>
        <p:nvSpPr>
          <p:cNvPr id="436" name="Google Shape;436;p70"/>
          <p:cNvSpPr txBox="1"/>
          <p:nvPr/>
        </p:nvSpPr>
        <p:spPr>
          <a:xfrm>
            <a:off x="205650" y="2494950"/>
            <a:ext cx="2693400" cy="519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Goat Mage’s </a:t>
            </a:r>
            <a:r>
              <a:rPr lang="en" sz="1200" b="0" i="1" u="none" strike="noStrike" cap="none">
                <a:solidFill>
                  <a:srgbClr val="000000"/>
                </a:solidFill>
                <a:latin typeface="Arial"/>
                <a:ea typeface="Arial"/>
                <a:cs typeface="Arial"/>
                <a:sym typeface="Arial"/>
              </a:rPr>
              <a:t>Magic Missile</a:t>
            </a:r>
            <a:r>
              <a:rPr lang="en" sz="1200" b="0" i="0" u="none" strike="noStrike" cap="none">
                <a:solidFill>
                  <a:srgbClr val="000000"/>
                </a:solidFill>
                <a:latin typeface="Arial"/>
                <a:ea typeface="Arial"/>
                <a:cs typeface="Arial"/>
                <a:sym typeface="Arial"/>
              </a:rPr>
              <a:t> attack does </a:t>
            </a:r>
            <a:r>
              <a:rPr lang="en" sz="1200" b="0" i="1" u="none" strike="noStrike" cap="none">
                <a:solidFill>
                  <a:srgbClr val="000000"/>
                </a:solidFill>
                <a:latin typeface="Arial"/>
                <a:ea typeface="Arial"/>
                <a:cs typeface="Arial"/>
                <a:sym typeface="Arial"/>
              </a:rPr>
              <a:t>Magical</a:t>
            </a:r>
            <a:r>
              <a:rPr lang="en" sz="1200" b="0" i="0" u="none" strike="noStrike" cap="none">
                <a:solidFill>
                  <a:srgbClr val="000000"/>
                </a:solidFill>
                <a:latin typeface="Arial"/>
                <a:ea typeface="Arial"/>
                <a:cs typeface="Arial"/>
                <a:sym typeface="Arial"/>
              </a:rPr>
              <a:t> damage...</a:t>
            </a:r>
            <a:endParaRPr sz="1200" b="0" i="0" u="none" strike="noStrike" cap="none">
              <a:solidFill>
                <a:srgbClr val="000000"/>
              </a:solidFill>
              <a:latin typeface="Arial"/>
              <a:ea typeface="Arial"/>
              <a:cs typeface="Arial"/>
              <a:sym typeface="Arial"/>
            </a:endParaRPr>
          </a:p>
        </p:txBody>
      </p:sp>
      <p:pic>
        <p:nvPicPr>
          <p:cNvPr id="437" name="Google Shape;437;p70"/>
          <p:cNvPicPr preferRelativeResize="0"/>
          <p:nvPr/>
        </p:nvPicPr>
        <p:blipFill rotWithShape="1">
          <a:blip r:embed="rId6">
            <a:alphaModFix/>
          </a:blip>
          <a:srcRect/>
          <a:stretch/>
        </p:blipFill>
        <p:spPr>
          <a:xfrm>
            <a:off x="473850" y="1651181"/>
            <a:ext cx="615318" cy="169784"/>
          </a:xfrm>
          <a:prstGeom prst="rect">
            <a:avLst/>
          </a:prstGeom>
          <a:noFill/>
          <a:ln>
            <a:noFill/>
          </a:ln>
        </p:spPr>
      </p:pic>
      <p:pic>
        <p:nvPicPr>
          <p:cNvPr id="438" name="Google Shape;438;p70"/>
          <p:cNvPicPr preferRelativeResize="0"/>
          <p:nvPr/>
        </p:nvPicPr>
        <p:blipFill rotWithShape="1">
          <a:blip r:embed="rId6">
            <a:alphaModFix/>
          </a:blip>
          <a:srcRect/>
          <a:stretch/>
        </p:blipFill>
        <p:spPr>
          <a:xfrm>
            <a:off x="473850" y="2103938"/>
            <a:ext cx="615318" cy="169784"/>
          </a:xfrm>
          <a:prstGeom prst="rect">
            <a:avLst/>
          </a:prstGeom>
          <a:noFill/>
          <a:ln>
            <a:noFill/>
          </a:ln>
        </p:spPr>
      </p:pic>
      <p:pic>
        <p:nvPicPr>
          <p:cNvPr id="439" name="Google Shape;439;p70"/>
          <p:cNvPicPr preferRelativeResize="0"/>
          <p:nvPr/>
        </p:nvPicPr>
        <p:blipFill rotWithShape="1">
          <a:blip r:embed="rId7">
            <a:alphaModFix/>
          </a:blip>
          <a:srcRect/>
          <a:stretch/>
        </p:blipFill>
        <p:spPr>
          <a:xfrm rot="-2332448">
            <a:off x="868753" y="3093309"/>
            <a:ext cx="613892" cy="1280235"/>
          </a:xfrm>
          <a:prstGeom prst="rect">
            <a:avLst/>
          </a:prstGeom>
          <a:noFill/>
          <a:ln>
            <a:noFill/>
          </a:ln>
        </p:spPr>
      </p:pic>
      <p:sp>
        <p:nvSpPr>
          <p:cNvPr id="440" name="Google Shape;440;p70"/>
          <p:cNvSpPr txBox="1"/>
          <p:nvPr/>
        </p:nvSpPr>
        <p:spPr>
          <a:xfrm>
            <a:off x="205650" y="4323750"/>
            <a:ext cx="2693400" cy="519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...while Goat Fighter's </a:t>
            </a:r>
            <a:r>
              <a:rPr lang="en" sz="1200" b="0" i="1" u="none" strike="noStrike" cap="none">
                <a:solidFill>
                  <a:srgbClr val="000000"/>
                </a:solidFill>
                <a:latin typeface="Arial"/>
                <a:ea typeface="Arial"/>
                <a:cs typeface="Arial"/>
                <a:sym typeface="Arial"/>
              </a:rPr>
              <a:t>Cleave</a:t>
            </a:r>
            <a:r>
              <a:rPr lang="en" sz="1200" b="0" i="0" u="none" strike="noStrike" cap="none">
                <a:solidFill>
                  <a:srgbClr val="000000"/>
                </a:solidFill>
                <a:latin typeface="Arial"/>
                <a:ea typeface="Arial"/>
                <a:cs typeface="Arial"/>
                <a:sym typeface="Arial"/>
              </a:rPr>
              <a:t> attack does </a:t>
            </a:r>
            <a:r>
              <a:rPr lang="en" sz="1200" b="0" i="1" u="none" strike="noStrike" cap="none">
                <a:solidFill>
                  <a:srgbClr val="000000"/>
                </a:solidFill>
                <a:latin typeface="Arial"/>
                <a:ea typeface="Arial"/>
                <a:cs typeface="Arial"/>
                <a:sym typeface="Arial"/>
              </a:rPr>
              <a:t>physical</a:t>
            </a:r>
            <a:r>
              <a:rPr lang="en" sz="1200" b="0" i="0" u="none" strike="noStrike" cap="none">
                <a:solidFill>
                  <a:srgbClr val="000000"/>
                </a:solidFill>
                <a:latin typeface="Arial"/>
                <a:ea typeface="Arial"/>
                <a:cs typeface="Arial"/>
                <a:sym typeface="Arial"/>
              </a:rPr>
              <a:t> damage.</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71"/>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Attacks in GvT are too complex to be represented by a simple primitive type. Each attack has a name, a number of hits (each of which has its own damage amount), and a damage type. Create a new class to represent an attack.</a:t>
            </a:r>
            <a:endParaRPr/>
          </a:p>
        </p:txBody>
      </p:sp>
      <p:sp>
        <p:nvSpPr>
          <p:cNvPr id="446" name="Google Shape;446;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447" name="Google Shape;447;p71"/>
          <p:cNvSpPr txBox="1">
            <a:spLocks noGrp="1"/>
          </p:cNvSpPr>
          <p:nvPr>
            <p:ph type="body" idx="2"/>
          </p:nvPr>
        </p:nvSpPr>
        <p:spPr>
          <a:xfrm>
            <a:off x="3026425" y="1708325"/>
            <a:ext cx="5914800" cy="28383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Create a new Java class named "</a:t>
            </a:r>
            <a:r>
              <a:rPr lang="en" sz="1600" dirty="0">
                <a:solidFill>
                  <a:srgbClr val="FF0000"/>
                </a:solidFill>
                <a:latin typeface="Courier New"/>
                <a:ea typeface="Courier New"/>
                <a:cs typeface="Courier New"/>
                <a:sym typeface="Courier New"/>
              </a:rPr>
              <a:t>Attack</a:t>
            </a:r>
            <a:r>
              <a:rPr lang="en" sz="1600" dirty="0"/>
              <a:t>". An attack includes:</a:t>
            </a:r>
            <a:endParaRPr sz="1600" dirty="0"/>
          </a:p>
          <a:p>
            <a:pPr marL="914400" lvl="1" indent="-317500" algn="l" rtl="0">
              <a:spcBef>
                <a:spcPts val="0"/>
              </a:spcBef>
              <a:spcAft>
                <a:spcPts val="0"/>
              </a:spcAft>
              <a:buSzPts val="1400"/>
              <a:buChar char="○"/>
            </a:pPr>
            <a:r>
              <a:rPr lang="en" sz="1400" dirty="0"/>
              <a:t>A </a:t>
            </a:r>
            <a:r>
              <a:rPr lang="en" sz="1400" b="1" i="1" dirty="0">
                <a:solidFill>
                  <a:srgbClr val="FF0000"/>
                </a:solidFill>
              </a:rPr>
              <a:t>name</a:t>
            </a:r>
            <a:r>
              <a:rPr lang="en" sz="1400" dirty="0"/>
              <a:t>, e.g. "Magic Missiles".</a:t>
            </a:r>
            <a:endParaRPr sz="1400" dirty="0"/>
          </a:p>
          <a:p>
            <a:pPr marL="914400" lvl="1" indent="-317500" algn="l" rtl="0">
              <a:spcBef>
                <a:spcPts val="0"/>
              </a:spcBef>
              <a:spcAft>
                <a:spcPts val="0"/>
              </a:spcAft>
              <a:buSzPts val="1400"/>
              <a:buChar char="○"/>
            </a:pPr>
            <a:r>
              <a:rPr lang="en" sz="1400" dirty="0"/>
              <a:t>A variable number of </a:t>
            </a:r>
            <a:r>
              <a:rPr lang="en" sz="1400" b="1" i="1" dirty="0">
                <a:solidFill>
                  <a:srgbClr val="FF0000"/>
                </a:solidFill>
              </a:rPr>
              <a:t>hits</a:t>
            </a:r>
            <a:r>
              <a:rPr lang="en" sz="1400" dirty="0"/>
              <a:t>, each of which is an integer value (hint: use an array).</a:t>
            </a:r>
            <a:endParaRPr sz="1400" dirty="0"/>
          </a:p>
          <a:p>
            <a:pPr marL="914400" lvl="1" indent="-317500" algn="l" rtl="0">
              <a:spcBef>
                <a:spcPts val="0"/>
              </a:spcBef>
              <a:spcAft>
                <a:spcPts val="0"/>
              </a:spcAft>
              <a:buSzPts val="1400"/>
              <a:buChar char="○"/>
            </a:pPr>
            <a:r>
              <a:rPr lang="en" sz="1400" dirty="0"/>
              <a:t>A </a:t>
            </a:r>
            <a:r>
              <a:rPr lang="en" sz="1400" b="1" i="1" dirty="0">
                <a:solidFill>
                  <a:srgbClr val="FF0000"/>
                </a:solidFill>
              </a:rPr>
              <a:t>damage type</a:t>
            </a:r>
            <a:r>
              <a:rPr lang="en" sz="1400" dirty="0"/>
              <a:t>.</a:t>
            </a:r>
            <a:endParaRPr sz="1400" b="1" i="1" dirty="0">
              <a:solidFill>
                <a:srgbClr val="FF0000"/>
              </a:solidFill>
            </a:endParaRPr>
          </a:p>
          <a:p>
            <a:pPr marL="457200" lvl="0" indent="-330200" algn="l" rtl="0">
              <a:spcBef>
                <a:spcPts val="0"/>
              </a:spcBef>
              <a:spcAft>
                <a:spcPts val="0"/>
              </a:spcAft>
              <a:buSzPts val="1600"/>
              <a:buChar char="●"/>
            </a:pPr>
            <a:r>
              <a:rPr lang="en" sz="1600" dirty="0"/>
              <a:t>Create a </a:t>
            </a:r>
            <a:r>
              <a:rPr lang="en" sz="1600" b="1" i="1" dirty="0">
                <a:solidFill>
                  <a:srgbClr val="FF0000"/>
                </a:solidFill>
              </a:rPr>
              <a:t>constructor</a:t>
            </a:r>
            <a:r>
              <a:rPr lang="en" sz="1600" dirty="0"/>
              <a:t> that sets all three fields.</a:t>
            </a:r>
            <a:endParaRPr sz="1600" dirty="0"/>
          </a:p>
          <a:p>
            <a:pPr marL="457200" lvl="0" indent="-330200" algn="l" rtl="0">
              <a:spcBef>
                <a:spcPts val="0"/>
              </a:spcBef>
              <a:spcAft>
                <a:spcPts val="0"/>
              </a:spcAft>
              <a:buSzPts val="1600"/>
              <a:buChar char="●"/>
            </a:pPr>
            <a:r>
              <a:rPr lang="en" sz="1600" dirty="0"/>
              <a:t>Create an </a:t>
            </a:r>
            <a:r>
              <a:rPr lang="en" sz="1600" b="1" i="1" dirty="0">
                <a:solidFill>
                  <a:srgbClr val="FF0000"/>
                </a:solidFill>
              </a:rPr>
              <a:t>accessor</a:t>
            </a:r>
            <a:r>
              <a:rPr lang="en" sz="1600" dirty="0"/>
              <a:t> for each of the fields.</a:t>
            </a:r>
            <a:endParaRPr sz="1600" dirty="0"/>
          </a:p>
          <a:p>
            <a:pPr marL="457200" lvl="0" indent="-330200" algn="l" rtl="0">
              <a:spcBef>
                <a:spcPts val="0"/>
              </a:spcBef>
              <a:spcAft>
                <a:spcPts val="0"/>
              </a:spcAft>
              <a:buSzPts val="1600"/>
              <a:buChar char="●"/>
            </a:pPr>
            <a:r>
              <a:rPr lang="en" sz="1600" dirty="0"/>
              <a:t>Once assigned, none of the values in an attack should ever change, so there is no need for any </a:t>
            </a:r>
            <a:r>
              <a:rPr lang="en" sz="1600" b="1" i="1" dirty="0">
                <a:solidFill>
                  <a:srgbClr val="FF0000"/>
                </a:solidFill>
              </a:rPr>
              <a:t>mutators</a:t>
            </a:r>
            <a:r>
              <a:rPr lang="en" sz="1600" dirty="0"/>
              <a:t>.</a:t>
            </a:r>
            <a:endParaRPr sz="1600" dirty="0"/>
          </a:p>
        </p:txBody>
      </p:sp>
      <p:sp>
        <p:nvSpPr>
          <p:cNvPr id="448" name="Google Shape;448;p7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Plan of Attack</a:t>
            </a:r>
            <a:endParaRPr/>
          </a:p>
        </p:txBody>
      </p:sp>
      <p:sp>
        <p:nvSpPr>
          <p:cNvPr id="449" name="Google Shape;449;p7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3.3</a:t>
            </a:r>
            <a:endParaRPr/>
          </a:p>
        </p:txBody>
      </p:sp>
      <p:sp>
        <p:nvSpPr>
          <p:cNvPr id="450" name="Google Shape;450;p71"/>
          <p:cNvSpPr txBox="1"/>
          <p:nvPr/>
        </p:nvSpPr>
        <p:spPr>
          <a:xfrm>
            <a:off x="205650" y="3595725"/>
            <a:ext cx="2693400" cy="693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The Mage's primary attack is </a:t>
            </a:r>
            <a:r>
              <a:rPr lang="en" sz="1200" b="0" i="1" u="none" strike="noStrike" cap="none">
                <a:solidFill>
                  <a:srgbClr val="000000"/>
                </a:solidFill>
                <a:latin typeface="Arial"/>
                <a:ea typeface="Arial"/>
                <a:cs typeface="Arial"/>
                <a:sym typeface="Arial"/>
              </a:rPr>
              <a:t>"Magic Missiles."</a:t>
            </a:r>
            <a:r>
              <a:rPr lang="en" sz="1200" b="0" i="0" u="none" strike="noStrike" cap="none">
                <a:solidFill>
                  <a:srgbClr val="000000"/>
                </a:solidFill>
                <a:latin typeface="Arial"/>
                <a:ea typeface="Arial"/>
                <a:cs typeface="Arial"/>
                <a:sym typeface="Arial"/>
              </a:rPr>
              <a:t> It hits </a:t>
            </a:r>
            <a:r>
              <a:rPr lang="en" sz="1200" b="0" i="1" u="none" strike="noStrike" cap="none">
                <a:solidFill>
                  <a:srgbClr val="000000"/>
                </a:solidFill>
                <a:latin typeface="Arial"/>
                <a:ea typeface="Arial"/>
                <a:cs typeface="Arial"/>
                <a:sym typeface="Arial"/>
              </a:rPr>
              <a:t>4 times</a:t>
            </a:r>
            <a:r>
              <a:rPr lang="en" sz="1200" b="0" i="0" u="none" strike="noStrike" cap="none">
                <a:solidFill>
                  <a:srgbClr val="000000"/>
                </a:solidFill>
                <a:latin typeface="Arial"/>
                <a:ea typeface="Arial"/>
                <a:cs typeface="Arial"/>
                <a:sym typeface="Arial"/>
              </a:rPr>
              <a:t> for </a:t>
            </a:r>
            <a:r>
              <a:rPr lang="en" sz="1200" b="0" i="1" u="none" strike="noStrike" cap="none">
                <a:solidFill>
                  <a:srgbClr val="000000"/>
                </a:solidFill>
                <a:latin typeface="Arial"/>
                <a:ea typeface="Arial"/>
                <a:cs typeface="Arial"/>
                <a:sym typeface="Arial"/>
              </a:rPr>
              <a:t>9 points</a:t>
            </a:r>
            <a:r>
              <a:rPr lang="en" sz="1200" b="0" i="0" u="none" strike="noStrike" cap="none">
                <a:solidFill>
                  <a:srgbClr val="000000"/>
                </a:solidFill>
                <a:latin typeface="Arial"/>
                <a:ea typeface="Arial"/>
                <a:cs typeface="Arial"/>
                <a:sym typeface="Arial"/>
              </a:rPr>
              <a:t> of </a:t>
            </a:r>
            <a:r>
              <a:rPr lang="en" sz="1200" b="0" i="1" u="none" strike="noStrike" cap="none">
                <a:solidFill>
                  <a:srgbClr val="000000"/>
                </a:solidFill>
                <a:latin typeface="Arial"/>
                <a:ea typeface="Arial"/>
                <a:cs typeface="Arial"/>
                <a:sym typeface="Arial"/>
              </a:rPr>
              <a:t>magical damage</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grpSp>
        <p:nvGrpSpPr>
          <p:cNvPr id="451" name="Google Shape;451;p71"/>
          <p:cNvGrpSpPr/>
          <p:nvPr/>
        </p:nvGrpSpPr>
        <p:grpSpPr>
          <a:xfrm>
            <a:off x="205591" y="2155021"/>
            <a:ext cx="2693357" cy="1176912"/>
            <a:chOff x="473850" y="1774050"/>
            <a:chExt cx="2272875" cy="993175"/>
          </a:xfrm>
        </p:grpSpPr>
        <p:pic>
          <p:nvPicPr>
            <p:cNvPr id="452" name="Google Shape;452;p71"/>
            <p:cNvPicPr preferRelativeResize="0"/>
            <p:nvPr/>
          </p:nvPicPr>
          <p:blipFill rotWithShape="1">
            <a:blip r:embed="rId3">
              <a:alphaModFix/>
            </a:blip>
            <a:srcRect/>
            <a:stretch/>
          </p:blipFill>
          <p:spPr>
            <a:xfrm>
              <a:off x="1902388" y="1774050"/>
              <a:ext cx="581648" cy="910407"/>
            </a:xfrm>
            <a:prstGeom prst="rect">
              <a:avLst/>
            </a:prstGeom>
            <a:noFill/>
            <a:ln>
              <a:noFill/>
            </a:ln>
          </p:spPr>
        </p:pic>
        <p:pic>
          <p:nvPicPr>
            <p:cNvPr id="453" name="Google Shape;453;p71"/>
            <p:cNvPicPr preferRelativeResize="0"/>
            <p:nvPr/>
          </p:nvPicPr>
          <p:blipFill rotWithShape="1">
            <a:blip r:embed="rId4">
              <a:alphaModFix/>
            </a:blip>
            <a:srcRect/>
            <a:stretch/>
          </p:blipFill>
          <p:spPr>
            <a:xfrm>
              <a:off x="1482274" y="2146163"/>
              <a:ext cx="1264451" cy="480493"/>
            </a:xfrm>
            <a:prstGeom prst="rect">
              <a:avLst/>
            </a:prstGeom>
            <a:noFill/>
            <a:ln>
              <a:noFill/>
            </a:ln>
          </p:spPr>
        </p:pic>
        <p:pic>
          <p:nvPicPr>
            <p:cNvPr id="454" name="Google Shape;454;p71"/>
            <p:cNvPicPr preferRelativeResize="0"/>
            <p:nvPr/>
          </p:nvPicPr>
          <p:blipFill rotWithShape="1">
            <a:blip r:embed="rId5">
              <a:alphaModFix/>
            </a:blip>
            <a:srcRect/>
            <a:stretch/>
          </p:blipFill>
          <p:spPr>
            <a:xfrm>
              <a:off x="675616" y="2281600"/>
              <a:ext cx="768574" cy="209610"/>
            </a:xfrm>
            <a:prstGeom prst="rect">
              <a:avLst/>
            </a:prstGeom>
            <a:noFill/>
            <a:ln>
              <a:noFill/>
            </a:ln>
          </p:spPr>
        </p:pic>
        <p:pic>
          <p:nvPicPr>
            <p:cNvPr id="455" name="Google Shape;455;p71"/>
            <p:cNvPicPr preferRelativeResize="0"/>
            <p:nvPr/>
          </p:nvPicPr>
          <p:blipFill rotWithShape="1">
            <a:blip r:embed="rId5">
              <a:alphaModFix/>
            </a:blip>
            <a:srcRect/>
            <a:stretch/>
          </p:blipFill>
          <p:spPr>
            <a:xfrm>
              <a:off x="473850" y="1998656"/>
              <a:ext cx="768574" cy="209610"/>
            </a:xfrm>
            <a:prstGeom prst="rect">
              <a:avLst/>
            </a:prstGeom>
            <a:noFill/>
            <a:ln>
              <a:noFill/>
            </a:ln>
          </p:spPr>
        </p:pic>
        <p:pic>
          <p:nvPicPr>
            <p:cNvPr id="456" name="Google Shape;456;p71"/>
            <p:cNvPicPr preferRelativeResize="0"/>
            <p:nvPr/>
          </p:nvPicPr>
          <p:blipFill rotWithShape="1">
            <a:blip r:embed="rId5">
              <a:alphaModFix/>
            </a:blip>
            <a:srcRect/>
            <a:stretch/>
          </p:blipFill>
          <p:spPr>
            <a:xfrm>
              <a:off x="473850" y="2557615"/>
              <a:ext cx="768574" cy="209610"/>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72"/>
          <p:cNvSpPr txBox="1">
            <a:spLocks noGrp="1"/>
          </p:cNvSpPr>
          <p:nvPr>
            <p:ph type="body" idx="1"/>
          </p:nvPr>
        </p:nvSpPr>
        <p:spPr>
          <a:xfrm>
            <a:off x="65250" y="8840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A professional software developer will design the software that they write </a:t>
            </a:r>
            <a:r>
              <a:rPr lang="en" b="1" i="1" dirty="0"/>
              <a:t>first</a:t>
            </a:r>
            <a:r>
              <a:rPr lang="en" dirty="0"/>
              <a:t> and then implement their design. Software developers must be able to read UML class diagrams and implement classes based on the design. Use the UML class diagram to begin implementing the Mage class.</a:t>
            </a:r>
            <a:endParaRPr dirty="0"/>
          </a:p>
        </p:txBody>
      </p:sp>
      <p:sp>
        <p:nvSpPr>
          <p:cNvPr id="462" name="Google Shape;462;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463" name="Google Shape;463;p72"/>
          <p:cNvSpPr txBox="1">
            <a:spLocks noGrp="1"/>
          </p:cNvSpPr>
          <p:nvPr>
            <p:ph type="body" idx="2"/>
          </p:nvPr>
        </p:nvSpPr>
        <p:spPr>
          <a:xfrm>
            <a:off x="3196925" y="2165525"/>
            <a:ext cx="5744100" cy="27921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Create a new Java class named "</a:t>
            </a:r>
            <a:r>
              <a:rPr lang="en" sz="1500" dirty="0">
                <a:solidFill>
                  <a:srgbClr val="FF0000"/>
                </a:solidFill>
                <a:latin typeface="Courier New"/>
                <a:ea typeface="Courier New"/>
                <a:cs typeface="Courier New"/>
                <a:sym typeface="Courier New"/>
              </a:rPr>
              <a:t>Mage</a:t>
            </a:r>
            <a:r>
              <a:rPr lang="en" sz="1500" dirty="0"/>
              <a:t>" and begin implementing the class.</a:t>
            </a:r>
            <a:endParaRPr dirty="0"/>
          </a:p>
          <a:p>
            <a:pPr marL="914400" lvl="1" indent="-311150" algn="l" rtl="0">
              <a:spcBef>
                <a:spcPts val="0"/>
              </a:spcBef>
              <a:spcAft>
                <a:spcPts val="0"/>
              </a:spcAft>
              <a:buSzPts val="1300"/>
              <a:buChar char="○"/>
            </a:pPr>
            <a:r>
              <a:rPr lang="en" sz="1300" dirty="0"/>
              <a:t>Add the necessary fields.</a:t>
            </a:r>
            <a:endParaRPr sz="1300" dirty="0">
              <a:solidFill>
                <a:srgbClr val="FF0000"/>
              </a:solidFill>
            </a:endParaRPr>
          </a:p>
          <a:p>
            <a:pPr marL="914400" lvl="1" indent="-298450" algn="l" rtl="0">
              <a:spcBef>
                <a:spcPts val="0"/>
              </a:spcBef>
              <a:spcAft>
                <a:spcPts val="0"/>
              </a:spcAft>
              <a:buSzPts val="1100"/>
              <a:buChar char="○"/>
            </a:pPr>
            <a:r>
              <a:rPr lang="en" sz="1300" dirty="0"/>
              <a:t>Create a constructor that initializes the name and sets the current and max HP to the default values (120).</a:t>
            </a:r>
            <a:endParaRPr sz="1300" dirty="0"/>
          </a:p>
          <a:p>
            <a:pPr marL="914400" lvl="1" indent="-285750" algn="l" rtl="0">
              <a:spcBef>
                <a:spcPts val="0"/>
              </a:spcBef>
              <a:spcAft>
                <a:spcPts val="0"/>
              </a:spcAft>
              <a:buSzPts val="900"/>
              <a:buChar char="○"/>
            </a:pPr>
            <a:r>
              <a:rPr lang="en" sz="1300" dirty="0"/>
              <a:t>Add a </a:t>
            </a:r>
            <a:r>
              <a:rPr lang="en" sz="1300" dirty="0">
                <a:latin typeface="Courier New"/>
                <a:ea typeface="Courier New"/>
                <a:cs typeface="Courier New"/>
                <a:sym typeface="Courier New"/>
              </a:rPr>
              <a:t>toString()</a:t>
            </a:r>
            <a:r>
              <a:rPr lang="en" sz="1300" dirty="0"/>
              <a:t> that returns a String in the format </a:t>
            </a:r>
            <a:r>
              <a:rPr lang="en" sz="1300" dirty="0">
                <a:latin typeface="Courier New"/>
                <a:ea typeface="Courier New"/>
                <a:cs typeface="Courier New"/>
                <a:sym typeface="Courier New"/>
              </a:rPr>
              <a:t>"A mage named Hairy Potter with 120/120 hit points!"</a:t>
            </a:r>
            <a:endParaRPr sz="1300" dirty="0">
              <a:latin typeface="Courier New"/>
              <a:ea typeface="Courier New"/>
              <a:cs typeface="Courier New"/>
              <a:sym typeface="Courier New"/>
            </a:endParaRPr>
          </a:p>
          <a:p>
            <a:pPr marL="457200" lvl="0" indent="-323850" algn="l" rtl="0">
              <a:spcBef>
                <a:spcPts val="0"/>
              </a:spcBef>
              <a:spcAft>
                <a:spcPts val="0"/>
              </a:spcAft>
              <a:buSzPts val="1500"/>
              <a:buChar char="●"/>
            </a:pPr>
            <a:r>
              <a:rPr lang="en" sz="1500" dirty="0"/>
              <a:t>Add a </a:t>
            </a:r>
            <a:r>
              <a:rPr lang="en" sz="1500" dirty="0">
                <a:latin typeface="Courier New"/>
                <a:ea typeface="Courier New"/>
                <a:cs typeface="Courier New"/>
                <a:sym typeface="Courier New"/>
              </a:rPr>
              <a:t>main</a:t>
            </a:r>
            <a:r>
              <a:rPr lang="en" sz="1500" dirty="0"/>
              <a:t> method with the appropriate signature.</a:t>
            </a:r>
            <a:endParaRPr sz="1500" dirty="0"/>
          </a:p>
          <a:p>
            <a:pPr marL="914400" lvl="1" indent="-311150" algn="l" rtl="0">
              <a:spcBef>
                <a:spcPts val="0"/>
              </a:spcBef>
              <a:spcAft>
                <a:spcPts val="0"/>
              </a:spcAft>
              <a:buSzPts val="1300"/>
              <a:buChar char="○"/>
            </a:pPr>
            <a:r>
              <a:rPr lang="en" sz="1300" dirty="0"/>
              <a:t>Create two instances of your new class.</a:t>
            </a:r>
            <a:endParaRPr sz="1300" dirty="0"/>
          </a:p>
          <a:p>
            <a:pPr marL="914400" lvl="1" indent="-311150" algn="l" rtl="0">
              <a:spcBef>
                <a:spcPts val="0"/>
              </a:spcBef>
              <a:spcAft>
                <a:spcPts val="0"/>
              </a:spcAft>
              <a:buSzPts val="1300"/>
              <a:buChar char="○"/>
            </a:pPr>
            <a:r>
              <a:rPr lang="en" sz="1300" dirty="0"/>
              <a:t>Print the mages to standard output.</a:t>
            </a:r>
            <a:endParaRPr sz="1300" dirty="0"/>
          </a:p>
        </p:txBody>
      </p:sp>
      <p:sp>
        <p:nvSpPr>
          <p:cNvPr id="464" name="Google Shape;464;p7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Goat Mage</a:t>
            </a:r>
            <a:endParaRPr/>
          </a:p>
        </p:txBody>
      </p:sp>
      <p:sp>
        <p:nvSpPr>
          <p:cNvPr id="465" name="Google Shape;465;p7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3.4</a:t>
            </a:r>
            <a:endParaRPr/>
          </a:p>
        </p:txBody>
      </p:sp>
      <p:pic>
        <p:nvPicPr>
          <p:cNvPr id="466" name="Google Shape;466;p72"/>
          <p:cNvPicPr preferRelativeResize="0"/>
          <p:nvPr/>
        </p:nvPicPr>
        <p:blipFill>
          <a:blip r:embed="rId3">
            <a:alphaModFix/>
          </a:blip>
          <a:stretch>
            <a:fillRect/>
          </a:stretch>
        </p:blipFill>
        <p:spPr>
          <a:xfrm>
            <a:off x="241800" y="2156775"/>
            <a:ext cx="2791200" cy="2791200"/>
          </a:xfrm>
          <a:prstGeom prst="rect">
            <a:avLst/>
          </a:prstGeom>
          <a:noFill/>
          <a:ln>
            <a:noFill/>
          </a:ln>
        </p:spPr>
      </p:pic>
      <p:pic>
        <p:nvPicPr>
          <p:cNvPr id="467" name="Google Shape;467;p72"/>
          <p:cNvPicPr preferRelativeResize="0"/>
          <p:nvPr/>
        </p:nvPicPr>
        <p:blipFill rotWithShape="1">
          <a:blip r:embed="rId4">
            <a:alphaModFix/>
          </a:blip>
          <a:srcRect/>
          <a:stretch/>
        </p:blipFill>
        <p:spPr>
          <a:xfrm>
            <a:off x="1912375" y="2215027"/>
            <a:ext cx="938200" cy="1115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7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Goat Mage is still missing some essential functionality. Mages can create Magic Missile attacks, can be attacked by other characters, and can be knocked unconscious. Finish implementing the Mage class now.</a:t>
            </a:r>
            <a:endParaRPr/>
          </a:p>
        </p:txBody>
      </p:sp>
      <p:sp>
        <p:nvSpPr>
          <p:cNvPr id="473" name="Google Shape;473;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474" name="Google Shape;474;p73"/>
          <p:cNvSpPr txBox="1">
            <a:spLocks noGrp="1"/>
          </p:cNvSpPr>
          <p:nvPr>
            <p:ph type="body" idx="2"/>
          </p:nvPr>
        </p:nvSpPr>
        <p:spPr>
          <a:xfrm>
            <a:off x="3189825" y="1936925"/>
            <a:ext cx="5751300" cy="3024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Use the UML as your guide to implement the remaining methods in the Mage class. Remember the following:</a:t>
            </a:r>
            <a:endParaRPr sz="1400" dirty="0"/>
          </a:p>
          <a:p>
            <a:pPr marL="914400" lvl="1" indent="-304800" algn="l" rtl="0">
              <a:spcBef>
                <a:spcPts val="0"/>
              </a:spcBef>
              <a:spcAft>
                <a:spcPts val="0"/>
              </a:spcAft>
              <a:buSzPts val="1200"/>
              <a:buChar char="○"/>
            </a:pPr>
            <a:r>
              <a:rPr lang="en" sz="1200" dirty="0">
                <a:highlight>
                  <a:srgbClr val="FFFF00"/>
                </a:highlight>
              </a:rPr>
              <a:t>They can </a:t>
            </a:r>
            <a:r>
              <a:rPr lang="en" sz="1200" b="1" i="1" dirty="0">
                <a:solidFill>
                  <a:srgbClr val="FF0000"/>
                </a:solidFill>
                <a:highlight>
                  <a:srgbClr val="FFFF00"/>
                </a:highlight>
              </a:rPr>
              <a:t>attack</a:t>
            </a:r>
            <a:r>
              <a:rPr lang="en" sz="1200" dirty="0">
                <a:solidFill>
                  <a:srgbClr val="FF0000"/>
                </a:solidFill>
                <a:highlight>
                  <a:srgbClr val="FFFF00"/>
                </a:highlight>
              </a:rPr>
              <a:t> </a:t>
            </a:r>
            <a:r>
              <a:rPr lang="en" sz="1200" dirty="0">
                <a:highlight>
                  <a:srgbClr val="FFFF00"/>
                </a:highlight>
              </a:rPr>
              <a:t>with </a:t>
            </a:r>
            <a:r>
              <a:rPr lang="en" sz="1200" b="1" i="1" dirty="0">
                <a:solidFill>
                  <a:srgbClr val="FF0000"/>
                </a:solidFill>
                <a:highlight>
                  <a:srgbClr val="FFFF00"/>
                </a:highlight>
              </a:rPr>
              <a:t>"Magic Missiles,"</a:t>
            </a:r>
            <a:r>
              <a:rPr lang="en" sz="1200" dirty="0">
                <a:highlight>
                  <a:srgbClr val="FFFF00"/>
                </a:highlight>
              </a:rPr>
              <a:t> hitting </a:t>
            </a:r>
            <a:r>
              <a:rPr lang="en" sz="1200" b="1" i="1" dirty="0">
                <a:solidFill>
                  <a:srgbClr val="FF0000"/>
                </a:solidFill>
                <a:highlight>
                  <a:srgbClr val="FFFF00"/>
                </a:highlight>
              </a:rPr>
              <a:t>4 times</a:t>
            </a:r>
            <a:r>
              <a:rPr lang="en" sz="1200" dirty="0">
                <a:highlight>
                  <a:srgbClr val="FFFF00"/>
                </a:highlight>
              </a:rPr>
              <a:t> for </a:t>
            </a:r>
            <a:r>
              <a:rPr lang="en" sz="1200" b="1" i="1" dirty="0">
                <a:solidFill>
                  <a:srgbClr val="FF0000"/>
                </a:solidFill>
                <a:highlight>
                  <a:srgbClr val="FFFF00"/>
                </a:highlight>
              </a:rPr>
              <a:t>9 points</a:t>
            </a:r>
            <a:r>
              <a:rPr lang="en" sz="1200" dirty="0">
                <a:highlight>
                  <a:srgbClr val="FFFF00"/>
                </a:highlight>
              </a:rPr>
              <a:t> of </a:t>
            </a:r>
            <a:r>
              <a:rPr lang="en" sz="1200" b="1" i="1" dirty="0">
                <a:solidFill>
                  <a:srgbClr val="FF0000"/>
                </a:solidFill>
                <a:highlight>
                  <a:srgbClr val="FFFF00"/>
                </a:highlight>
              </a:rPr>
              <a:t>magical</a:t>
            </a:r>
            <a:r>
              <a:rPr lang="en" sz="1200" b="1" i="1" dirty="0">
                <a:highlight>
                  <a:srgbClr val="FFFF00"/>
                </a:highlight>
              </a:rPr>
              <a:t> </a:t>
            </a:r>
            <a:r>
              <a:rPr lang="en" sz="1200" dirty="0">
                <a:highlight>
                  <a:srgbClr val="FFFF00"/>
                </a:highlight>
              </a:rPr>
              <a:t>damage.</a:t>
            </a:r>
            <a:endParaRPr sz="1200" dirty="0">
              <a:highlight>
                <a:srgbClr val="FFFF00"/>
              </a:highlight>
            </a:endParaRPr>
          </a:p>
          <a:p>
            <a:pPr marL="914400" lvl="1" indent="-304800" algn="l" rtl="0">
              <a:spcBef>
                <a:spcPts val="0"/>
              </a:spcBef>
              <a:spcAft>
                <a:spcPts val="0"/>
              </a:spcAft>
              <a:buSzPts val="1200"/>
              <a:buChar char="○"/>
            </a:pPr>
            <a:r>
              <a:rPr lang="en" sz="1200" dirty="0"/>
              <a:t>They can </a:t>
            </a:r>
            <a:r>
              <a:rPr lang="en" sz="1200" b="1" i="1" dirty="0">
                <a:solidFill>
                  <a:srgbClr val="FF0000"/>
                </a:solidFill>
              </a:rPr>
              <a:t>heal </a:t>
            </a:r>
            <a:r>
              <a:rPr lang="en" sz="1200" dirty="0"/>
              <a:t>for a specified number of hit points, but not above the max HP.</a:t>
            </a:r>
            <a:endParaRPr sz="1200" dirty="0"/>
          </a:p>
          <a:p>
            <a:pPr marL="914400" lvl="1" indent="-304800" algn="l" rtl="0">
              <a:spcBef>
                <a:spcPts val="0"/>
              </a:spcBef>
              <a:spcAft>
                <a:spcPts val="0"/>
              </a:spcAft>
              <a:buSzPts val="1200"/>
              <a:buChar char="○"/>
            </a:pPr>
            <a:r>
              <a:rPr lang="en" sz="1200" dirty="0"/>
              <a:t>They may be </a:t>
            </a:r>
            <a:r>
              <a:rPr lang="en" sz="1200" b="1" i="1" dirty="0">
                <a:solidFill>
                  <a:srgbClr val="FF0000"/>
                </a:solidFill>
              </a:rPr>
              <a:t>unconscious</a:t>
            </a:r>
            <a:r>
              <a:rPr lang="en" sz="1200" dirty="0">
                <a:solidFill>
                  <a:srgbClr val="FF0000"/>
                </a:solidFill>
              </a:rPr>
              <a:t> </a:t>
            </a:r>
            <a:r>
              <a:rPr lang="en" sz="1200" dirty="0"/>
              <a:t>if the current HP is at 0.</a:t>
            </a:r>
            <a:endParaRPr sz="1200" dirty="0"/>
          </a:p>
          <a:p>
            <a:pPr marL="914400" lvl="1" indent="-304800" algn="l" rtl="0">
              <a:spcBef>
                <a:spcPts val="0"/>
              </a:spcBef>
              <a:spcAft>
                <a:spcPts val="0"/>
              </a:spcAft>
              <a:buSzPts val="1200"/>
              <a:buChar char="○"/>
            </a:pPr>
            <a:r>
              <a:rPr lang="en" sz="1200" dirty="0"/>
              <a:t>They can  </a:t>
            </a:r>
            <a:r>
              <a:rPr lang="en" sz="1200" b="1" i="1" dirty="0">
                <a:solidFill>
                  <a:srgbClr val="FF0000"/>
                </a:solidFill>
              </a:rPr>
              <a:t>take damage </a:t>
            </a:r>
            <a:r>
              <a:rPr lang="en" sz="1200" dirty="0"/>
              <a:t>from an attack which reduces their current HP, but not below 0. Remember that </a:t>
            </a:r>
            <a:r>
              <a:rPr lang="en" sz="1200" b="1" i="1" dirty="0">
                <a:solidFill>
                  <a:srgbClr val="FF0000"/>
                </a:solidFill>
              </a:rPr>
              <a:t>magical damage</a:t>
            </a:r>
            <a:r>
              <a:rPr lang="en" sz="1200" dirty="0"/>
              <a:t> is reduced by 25% but </a:t>
            </a:r>
            <a:r>
              <a:rPr lang="en" sz="1200" b="1" i="1" dirty="0">
                <a:solidFill>
                  <a:srgbClr val="FF0000"/>
                </a:solidFill>
              </a:rPr>
              <a:t>physical damage</a:t>
            </a:r>
            <a:r>
              <a:rPr lang="en" sz="1200" dirty="0"/>
              <a:t> is increased by 25%.</a:t>
            </a:r>
            <a:endParaRPr sz="1200" dirty="0"/>
          </a:p>
          <a:p>
            <a:pPr marL="457200" lvl="0" indent="-317500" algn="l" rtl="0">
              <a:spcBef>
                <a:spcPts val="0"/>
              </a:spcBef>
              <a:spcAft>
                <a:spcPts val="0"/>
              </a:spcAft>
              <a:buSzPts val="1400"/>
              <a:buChar char="●"/>
            </a:pPr>
            <a:r>
              <a:rPr lang="en" sz="1400" dirty="0"/>
              <a:t>Use the </a:t>
            </a:r>
            <a:r>
              <a:rPr lang="en" sz="1400" dirty="0">
                <a:latin typeface="Courier New"/>
                <a:ea typeface="Courier New"/>
                <a:cs typeface="Courier New"/>
                <a:sym typeface="Courier New"/>
              </a:rPr>
              <a:t>main</a:t>
            </a:r>
            <a:r>
              <a:rPr lang="en" sz="1400" dirty="0"/>
              <a:t> method to test your class.</a:t>
            </a:r>
            <a:endParaRPr sz="1400" dirty="0"/>
          </a:p>
          <a:p>
            <a:pPr marL="914400" lvl="1" indent="-304800" algn="l" rtl="0">
              <a:spcBef>
                <a:spcPts val="0"/>
              </a:spcBef>
              <a:spcAft>
                <a:spcPts val="0"/>
              </a:spcAft>
              <a:buSzPts val="1200"/>
              <a:buChar char="○"/>
            </a:pPr>
            <a:r>
              <a:rPr lang="en" sz="1200" dirty="0"/>
              <a:t>Have your mages attack each other.</a:t>
            </a:r>
            <a:endParaRPr sz="1200" dirty="0"/>
          </a:p>
          <a:p>
            <a:pPr marL="914400" lvl="1" indent="-304800" algn="l" rtl="0">
              <a:spcBef>
                <a:spcPts val="0"/>
              </a:spcBef>
              <a:spcAft>
                <a:spcPts val="0"/>
              </a:spcAft>
              <a:buSzPts val="1200"/>
              <a:buChar char="○"/>
            </a:pPr>
            <a:r>
              <a:rPr lang="en" sz="1200" dirty="0"/>
              <a:t>Print the mages to standard output after the attacks.</a:t>
            </a:r>
            <a:endParaRPr sz="1400" dirty="0"/>
          </a:p>
        </p:txBody>
      </p:sp>
      <p:sp>
        <p:nvSpPr>
          <p:cNvPr id="475" name="Google Shape;475;p7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Goat Mage (continued)</a:t>
            </a:r>
            <a:endParaRPr/>
          </a:p>
        </p:txBody>
      </p:sp>
      <p:sp>
        <p:nvSpPr>
          <p:cNvPr id="476" name="Google Shape;476;p7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3.5</a:t>
            </a:r>
            <a:endParaRPr/>
          </a:p>
        </p:txBody>
      </p:sp>
      <p:pic>
        <p:nvPicPr>
          <p:cNvPr id="477" name="Google Shape;477;p73"/>
          <p:cNvPicPr preferRelativeResize="0"/>
          <p:nvPr/>
        </p:nvPicPr>
        <p:blipFill>
          <a:blip r:embed="rId3">
            <a:alphaModFix/>
          </a:blip>
          <a:stretch>
            <a:fillRect/>
          </a:stretch>
        </p:blipFill>
        <p:spPr>
          <a:xfrm>
            <a:off x="241800" y="2080575"/>
            <a:ext cx="2791200" cy="2791200"/>
          </a:xfrm>
          <a:prstGeom prst="rect">
            <a:avLst/>
          </a:prstGeom>
          <a:noFill/>
          <a:ln>
            <a:noFill/>
          </a:ln>
        </p:spPr>
      </p:pic>
      <p:pic>
        <p:nvPicPr>
          <p:cNvPr id="478" name="Google Shape;478;p73"/>
          <p:cNvPicPr preferRelativeResize="0"/>
          <p:nvPr/>
        </p:nvPicPr>
        <p:blipFill rotWithShape="1">
          <a:blip r:embed="rId4">
            <a:alphaModFix/>
          </a:blip>
          <a:srcRect/>
          <a:stretch/>
        </p:blipFill>
        <p:spPr>
          <a:xfrm>
            <a:off x="1912375" y="2138827"/>
            <a:ext cx="938200" cy="1115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7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GvT wouldn't be a very fun game with only one character class! Let's implement a new class to represent Goat Fighters.</a:t>
            </a:r>
            <a:endParaRPr/>
          </a:p>
        </p:txBody>
      </p:sp>
      <p:sp>
        <p:nvSpPr>
          <p:cNvPr id="484" name="Google Shape;484;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485" name="Google Shape;485;p74"/>
          <p:cNvSpPr txBox="1">
            <a:spLocks noGrp="1"/>
          </p:cNvSpPr>
          <p:nvPr>
            <p:ph type="body" idx="2"/>
          </p:nvPr>
        </p:nvSpPr>
        <p:spPr>
          <a:xfrm>
            <a:off x="3083250" y="1403525"/>
            <a:ext cx="5857800" cy="3865643"/>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Java class named "</a:t>
            </a:r>
            <a:r>
              <a:rPr lang="en" dirty="0">
                <a:solidFill>
                  <a:srgbClr val="FF0000"/>
                </a:solidFill>
                <a:latin typeface="Courier New"/>
                <a:ea typeface="Courier New"/>
                <a:cs typeface="Courier New"/>
                <a:sym typeface="Courier New"/>
              </a:rPr>
              <a:t>Fighter</a:t>
            </a:r>
            <a:r>
              <a:rPr lang="en" dirty="0"/>
              <a:t>" and begin implementing the class. </a:t>
            </a:r>
            <a:r>
              <a:rPr lang="en" b="1" i="1" dirty="0">
                <a:solidFill>
                  <a:srgbClr val="FF0000"/>
                </a:solidFill>
              </a:rPr>
              <a:t>Hint</a:t>
            </a:r>
            <a:r>
              <a:rPr lang="en" dirty="0"/>
              <a:t>: </a:t>
            </a:r>
            <a:r>
              <a:rPr lang="en" dirty="0">
                <a:highlight>
                  <a:srgbClr val="FFFF00"/>
                </a:highlight>
              </a:rPr>
              <a:t>begin by copy/pasting your </a:t>
            </a:r>
            <a:r>
              <a:rPr lang="en" dirty="0">
                <a:highlight>
                  <a:srgbClr val="FFFF00"/>
                </a:highlight>
                <a:latin typeface="Courier New"/>
                <a:ea typeface="Courier New"/>
                <a:cs typeface="Courier New"/>
                <a:sym typeface="Courier New"/>
              </a:rPr>
              <a:t>Mage</a:t>
            </a:r>
            <a:r>
              <a:rPr lang="en" dirty="0">
                <a:highlight>
                  <a:srgbClr val="FFFF00"/>
                </a:highlight>
              </a:rPr>
              <a:t> code.</a:t>
            </a:r>
            <a:endParaRPr dirty="0">
              <a:highlight>
                <a:srgbClr val="FFFF00"/>
              </a:highlight>
            </a:endParaRPr>
          </a:p>
          <a:p>
            <a:pPr marL="457200" lvl="0" indent="-311150" algn="l" rtl="0">
              <a:spcBef>
                <a:spcPts val="0"/>
              </a:spcBef>
              <a:spcAft>
                <a:spcPts val="0"/>
              </a:spcAft>
              <a:buSzPts val="1300"/>
              <a:buChar char="●"/>
            </a:pPr>
            <a:r>
              <a:rPr lang="en" dirty="0"/>
              <a:t>Use the UML as a guide.</a:t>
            </a:r>
            <a:endParaRPr dirty="0">
              <a:solidFill>
                <a:srgbClr val="FF0000"/>
              </a:solidFill>
            </a:endParaRPr>
          </a:p>
          <a:p>
            <a:pPr marL="914400" lvl="1" indent="-311150" algn="l" rtl="0">
              <a:spcBef>
                <a:spcPts val="0"/>
              </a:spcBef>
              <a:spcAft>
                <a:spcPts val="0"/>
              </a:spcAft>
              <a:buSzPts val="1300"/>
              <a:buChar char="○"/>
            </a:pPr>
            <a:r>
              <a:rPr lang="en" dirty="0"/>
              <a:t>Add fields and a constructor. The maximum HP should be 150.</a:t>
            </a:r>
            <a:endParaRPr dirty="0"/>
          </a:p>
          <a:p>
            <a:pPr marL="914400" lvl="1" indent="-298450" algn="l" rtl="0">
              <a:spcBef>
                <a:spcPts val="0"/>
              </a:spcBef>
              <a:spcAft>
                <a:spcPts val="0"/>
              </a:spcAft>
              <a:buSzPts val="1100"/>
              <a:buChar char="○"/>
            </a:pPr>
            <a:r>
              <a:rPr lang="en" dirty="0"/>
              <a:t>Add the </a:t>
            </a:r>
            <a:r>
              <a:rPr lang="en" dirty="0">
                <a:latin typeface="Courier New"/>
                <a:ea typeface="Courier New"/>
                <a:cs typeface="Courier New"/>
                <a:sym typeface="Courier New"/>
              </a:rPr>
              <a:t>toString()</a:t>
            </a:r>
            <a:r>
              <a:rPr lang="en" dirty="0"/>
              <a:t> method.</a:t>
            </a:r>
            <a:endParaRPr dirty="0"/>
          </a:p>
          <a:p>
            <a:pPr marL="457200" lvl="0" indent="-311150" algn="l" rtl="0">
              <a:spcBef>
                <a:spcPts val="0"/>
              </a:spcBef>
              <a:spcAft>
                <a:spcPts val="0"/>
              </a:spcAft>
              <a:buSzPts val="1300"/>
              <a:buChar char="●"/>
            </a:pPr>
            <a:r>
              <a:rPr lang="en" dirty="0"/>
              <a:t>When implementing the Fighter's </a:t>
            </a:r>
            <a:r>
              <a:rPr lang="en" b="1" i="1" dirty="0">
                <a:solidFill>
                  <a:srgbClr val="FF0000"/>
                </a:solidFill>
              </a:rPr>
              <a:t>behavior</a:t>
            </a:r>
            <a:r>
              <a:rPr lang="en" dirty="0"/>
              <a:t>:</a:t>
            </a:r>
            <a:endParaRPr dirty="0"/>
          </a:p>
          <a:p>
            <a:pPr marL="914400" lvl="1" indent="-298450" algn="l" rtl="0">
              <a:spcBef>
                <a:spcPts val="0"/>
              </a:spcBef>
              <a:spcAft>
                <a:spcPts val="0"/>
              </a:spcAft>
              <a:buSzPts val="1100"/>
              <a:buChar char="○"/>
            </a:pPr>
            <a:r>
              <a:rPr lang="en" dirty="0"/>
              <a:t>They can </a:t>
            </a:r>
            <a:r>
              <a:rPr lang="en" b="1" i="1" dirty="0">
                <a:solidFill>
                  <a:srgbClr val="FF0000"/>
                </a:solidFill>
              </a:rPr>
              <a:t>attack</a:t>
            </a:r>
            <a:r>
              <a:rPr lang="en" dirty="0">
                <a:solidFill>
                  <a:srgbClr val="FF0000"/>
                </a:solidFill>
              </a:rPr>
              <a:t> </a:t>
            </a:r>
            <a:r>
              <a:rPr lang="en" dirty="0"/>
              <a:t>with </a:t>
            </a:r>
            <a:r>
              <a:rPr lang="en" b="1" i="1" dirty="0">
                <a:solidFill>
                  <a:srgbClr val="FF0000"/>
                </a:solidFill>
              </a:rPr>
              <a:t>"Cleave,"</a:t>
            </a:r>
            <a:r>
              <a:rPr lang="en" dirty="0"/>
              <a:t> hitting </a:t>
            </a:r>
            <a:r>
              <a:rPr lang="en" b="1" i="1" dirty="0">
                <a:solidFill>
                  <a:srgbClr val="FF0000"/>
                </a:solidFill>
              </a:rPr>
              <a:t>once </a:t>
            </a:r>
            <a:r>
              <a:rPr lang="en" dirty="0"/>
              <a:t>for </a:t>
            </a:r>
            <a:r>
              <a:rPr lang="en" b="1" i="1" dirty="0">
                <a:solidFill>
                  <a:srgbClr val="FF0000"/>
                </a:solidFill>
              </a:rPr>
              <a:t>25 points</a:t>
            </a:r>
            <a:r>
              <a:rPr lang="en" dirty="0"/>
              <a:t> of </a:t>
            </a:r>
            <a:r>
              <a:rPr lang="en" b="1" i="1" dirty="0">
                <a:solidFill>
                  <a:srgbClr val="FF0000"/>
                </a:solidFill>
              </a:rPr>
              <a:t>physical damage</a:t>
            </a:r>
            <a:r>
              <a:rPr lang="en" dirty="0"/>
              <a:t>.</a:t>
            </a:r>
            <a:endParaRPr dirty="0"/>
          </a:p>
          <a:p>
            <a:pPr marL="914400" lvl="1" indent="-298450" algn="l" rtl="0">
              <a:spcBef>
                <a:spcPts val="0"/>
              </a:spcBef>
              <a:spcAft>
                <a:spcPts val="0"/>
              </a:spcAft>
              <a:buSzPts val="1100"/>
              <a:buChar char="○"/>
            </a:pPr>
            <a:r>
              <a:rPr lang="en" dirty="0"/>
              <a:t>They can </a:t>
            </a:r>
            <a:r>
              <a:rPr lang="en" b="1" i="1" dirty="0">
                <a:solidFill>
                  <a:srgbClr val="FF0000"/>
                </a:solidFill>
              </a:rPr>
              <a:t>heal </a:t>
            </a:r>
            <a:r>
              <a:rPr lang="en" dirty="0"/>
              <a:t>for a specified number of hit points, but not above the max HP.</a:t>
            </a:r>
            <a:endParaRPr dirty="0"/>
          </a:p>
          <a:p>
            <a:pPr marL="914400" lvl="1" indent="-298450" algn="l" rtl="0">
              <a:spcBef>
                <a:spcPts val="0"/>
              </a:spcBef>
              <a:spcAft>
                <a:spcPts val="0"/>
              </a:spcAft>
              <a:buSzPts val="1100"/>
              <a:buChar char="○"/>
            </a:pPr>
            <a:r>
              <a:rPr lang="en" dirty="0"/>
              <a:t>They may be </a:t>
            </a:r>
            <a:r>
              <a:rPr lang="en" b="1" i="1" dirty="0">
                <a:solidFill>
                  <a:srgbClr val="FF0000"/>
                </a:solidFill>
              </a:rPr>
              <a:t>unconscious</a:t>
            </a:r>
            <a:r>
              <a:rPr lang="en" dirty="0">
                <a:solidFill>
                  <a:srgbClr val="FF0000"/>
                </a:solidFill>
              </a:rPr>
              <a:t> </a:t>
            </a:r>
            <a:r>
              <a:rPr lang="en" dirty="0"/>
              <a:t>if the current HP is at 0.</a:t>
            </a:r>
            <a:endParaRPr dirty="0"/>
          </a:p>
          <a:p>
            <a:pPr marL="914400" lvl="1" indent="-298450" algn="l" rtl="0">
              <a:spcBef>
                <a:spcPts val="0"/>
              </a:spcBef>
              <a:spcAft>
                <a:spcPts val="0"/>
              </a:spcAft>
              <a:buSzPts val="1100"/>
              <a:buChar char="○"/>
            </a:pPr>
            <a:r>
              <a:rPr lang="en" dirty="0"/>
              <a:t>They can  </a:t>
            </a:r>
            <a:r>
              <a:rPr lang="en" b="1" i="1" dirty="0">
                <a:solidFill>
                  <a:srgbClr val="FF0000"/>
                </a:solidFill>
              </a:rPr>
              <a:t>take damage </a:t>
            </a:r>
            <a:r>
              <a:rPr lang="en" dirty="0"/>
              <a:t>when from an attack which reduces their current HP, but not below 0. Remember that </a:t>
            </a:r>
            <a:r>
              <a:rPr lang="en" b="1" i="1" dirty="0">
                <a:solidFill>
                  <a:srgbClr val="FF0000"/>
                </a:solidFill>
              </a:rPr>
              <a:t>magical damage</a:t>
            </a:r>
            <a:r>
              <a:rPr lang="en" dirty="0"/>
              <a:t> is increased by 25% but </a:t>
            </a:r>
            <a:r>
              <a:rPr lang="en" b="1" i="1" dirty="0">
                <a:solidFill>
                  <a:srgbClr val="FF0000"/>
                </a:solidFill>
              </a:rPr>
              <a:t>physical damage</a:t>
            </a:r>
            <a:r>
              <a:rPr lang="en" dirty="0"/>
              <a:t> is reduced by 25%.</a:t>
            </a:r>
            <a:endParaRPr dirty="0"/>
          </a:p>
          <a:p>
            <a:pPr marL="457200" lvl="0" indent="-311150" algn="l" rtl="0">
              <a:spcBef>
                <a:spcPts val="0"/>
              </a:spcBef>
              <a:spcAft>
                <a:spcPts val="0"/>
              </a:spcAft>
              <a:buSzPts val="1300"/>
              <a:buChar char="●"/>
            </a:pPr>
            <a:r>
              <a:rPr lang="en" dirty="0"/>
              <a:t>Add a </a:t>
            </a:r>
            <a:r>
              <a:rPr lang="en" dirty="0">
                <a:latin typeface="Courier New"/>
                <a:ea typeface="Courier New"/>
                <a:cs typeface="Courier New"/>
                <a:sym typeface="Courier New"/>
              </a:rPr>
              <a:t>main</a:t>
            </a:r>
            <a:r>
              <a:rPr lang="en" dirty="0"/>
              <a:t> method with the appropriate signature.</a:t>
            </a:r>
            <a:endParaRPr dirty="0"/>
          </a:p>
          <a:p>
            <a:pPr marL="914400" lvl="1" indent="-298450" algn="l" rtl="0">
              <a:spcBef>
                <a:spcPts val="0"/>
              </a:spcBef>
              <a:spcAft>
                <a:spcPts val="0"/>
              </a:spcAft>
              <a:buSzPts val="1100"/>
              <a:buChar char="○"/>
            </a:pPr>
            <a:r>
              <a:rPr lang="en" dirty="0"/>
              <a:t>Create two instances of your new class.</a:t>
            </a:r>
            <a:endParaRPr dirty="0"/>
          </a:p>
          <a:p>
            <a:pPr marL="914400" lvl="1" indent="-298450" algn="l" rtl="0">
              <a:spcBef>
                <a:spcPts val="0"/>
              </a:spcBef>
              <a:spcAft>
                <a:spcPts val="0"/>
              </a:spcAft>
              <a:buSzPts val="1100"/>
              <a:buChar char="○"/>
            </a:pPr>
            <a:r>
              <a:rPr lang="en" dirty="0"/>
              <a:t>Print both to standard output.</a:t>
            </a:r>
            <a:endParaRPr dirty="0"/>
          </a:p>
          <a:p>
            <a:pPr marL="914400" lvl="1" indent="-298450" algn="l" rtl="0">
              <a:spcBef>
                <a:spcPts val="0"/>
              </a:spcBef>
              <a:spcAft>
                <a:spcPts val="0"/>
              </a:spcAft>
              <a:buSzPts val="1100"/>
              <a:buChar char="○"/>
            </a:pPr>
            <a:r>
              <a:rPr lang="en" dirty="0"/>
              <a:t>Have your fighters attack each other, and print them to standard output after the attacks.</a:t>
            </a:r>
            <a:endParaRPr dirty="0"/>
          </a:p>
        </p:txBody>
      </p:sp>
      <p:sp>
        <p:nvSpPr>
          <p:cNvPr id="486" name="Google Shape;486;p7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Goat Fighter</a:t>
            </a:r>
            <a:endParaRPr/>
          </a:p>
        </p:txBody>
      </p:sp>
      <p:sp>
        <p:nvSpPr>
          <p:cNvPr id="487" name="Google Shape;487;p7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3.6</a:t>
            </a:r>
            <a:endParaRPr/>
          </a:p>
        </p:txBody>
      </p:sp>
      <p:pic>
        <p:nvPicPr>
          <p:cNvPr id="488" name="Google Shape;488;p74"/>
          <p:cNvPicPr preferRelativeResize="0"/>
          <p:nvPr/>
        </p:nvPicPr>
        <p:blipFill>
          <a:blip r:embed="rId3">
            <a:alphaModFix/>
          </a:blip>
          <a:stretch>
            <a:fillRect/>
          </a:stretch>
        </p:blipFill>
        <p:spPr>
          <a:xfrm>
            <a:off x="202475" y="1571925"/>
            <a:ext cx="2733625" cy="2733625"/>
          </a:xfrm>
          <a:prstGeom prst="rect">
            <a:avLst/>
          </a:prstGeom>
          <a:noFill/>
          <a:ln>
            <a:noFill/>
          </a:ln>
        </p:spPr>
      </p:pic>
      <p:pic>
        <p:nvPicPr>
          <p:cNvPr id="489" name="Google Shape;489;p74"/>
          <p:cNvPicPr preferRelativeResize="0"/>
          <p:nvPr/>
        </p:nvPicPr>
        <p:blipFill rotWithShape="1">
          <a:blip r:embed="rId4">
            <a:alphaModFix/>
          </a:blip>
          <a:srcRect/>
          <a:stretch/>
        </p:blipFill>
        <p:spPr>
          <a:xfrm>
            <a:off x="2051439" y="1649075"/>
            <a:ext cx="808611" cy="1164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pic>
        <p:nvPicPr>
          <p:cNvPr id="494" name="Google Shape;494;p75"/>
          <p:cNvPicPr preferRelativeResize="0"/>
          <p:nvPr/>
        </p:nvPicPr>
        <p:blipFill>
          <a:blip r:embed="rId3">
            <a:alphaModFix/>
          </a:blip>
          <a:stretch>
            <a:fillRect/>
          </a:stretch>
        </p:blipFill>
        <p:spPr>
          <a:xfrm rot="-765610">
            <a:off x="449225" y="787878"/>
            <a:ext cx="7060149" cy="1793925"/>
          </a:xfrm>
          <a:prstGeom prst="rect">
            <a:avLst/>
          </a:prstGeom>
          <a:noFill/>
          <a:ln>
            <a:noFill/>
          </a:ln>
        </p:spPr>
      </p:pic>
      <p:sp>
        <p:nvSpPr>
          <p:cNvPr id="495" name="Google Shape;495;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496" name="Google Shape;496;p75"/>
          <p:cNvSpPr/>
          <p:nvPr/>
        </p:nvSpPr>
        <p:spPr>
          <a:xfrm>
            <a:off x="539700" y="2876850"/>
            <a:ext cx="2559300" cy="1008600"/>
          </a:xfrm>
          <a:prstGeom prst="wedgeRoundRectCallout">
            <a:avLst>
              <a:gd name="adj1" fmla="val 56459"/>
              <a:gd name="adj2" fmla="val 32210"/>
              <a:gd name="adj3" fmla="val 0"/>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t>Whenever you see this image, it's a reminder to check your PROBLEMS tab.</a:t>
            </a:r>
            <a:endParaRPr sz="1500"/>
          </a:p>
        </p:txBody>
      </p:sp>
      <p:sp>
        <p:nvSpPr>
          <p:cNvPr id="497" name="Google Shape;497;p75"/>
          <p:cNvSpPr/>
          <p:nvPr/>
        </p:nvSpPr>
        <p:spPr>
          <a:xfrm>
            <a:off x="5602300" y="1933650"/>
            <a:ext cx="2828100" cy="1008600"/>
          </a:xfrm>
          <a:prstGeom prst="wedgeRoundRectCallout">
            <a:avLst>
              <a:gd name="adj1" fmla="val -45574"/>
              <a:gd name="adj2" fmla="val 75991"/>
              <a:gd name="adj3" fmla="val 0"/>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If VSCode has identified any problems, try to fix them. If you're not sure how, raise your hand and ask for help!</a:t>
            </a:r>
            <a:endParaRPr/>
          </a:p>
        </p:txBody>
      </p:sp>
      <p:pic>
        <p:nvPicPr>
          <p:cNvPr id="498" name="Google Shape;498;p75"/>
          <p:cNvPicPr preferRelativeResize="0"/>
          <p:nvPr/>
        </p:nvPicPr>
        <p:blipFill>
          <a:blip r:embed="rId4">
            <a:alphaModFix/>
          </a:blip>
          <a:stretch>
            <a:fillRect/>
          </a:stretch>
        </p:blipFill>
        <p:spPr>
          <a:xfrm flipH="1">
            <a:off x="3231514" y="2601712"/>
            <a:ext cx="2437860" cy="2424974"/>
          </a:xfrm>
          <a:prstGeom prst="rect">
            <a:avLst/>
          </a:prstGeom>
          <a:noFill/>
          <a:ln>
            <a:noFill/>
          </a:ln>
        </p:spPr>
      </p:pic>
      <p:sp>
        <p:nvSpPr>
          <p:cNvPr id="499" name="Google Shape;499;p75"/>
          <p:cNvSpPr/>
          <p:nvPr/>
        </p:nvSpPr>
        <p:spPr>
          <a:xfrm>
            <a:off x="5669375" y="3404175"/>
            <a:ext cx="2828100" cy="1008600"/>
          </a:xfrm>
          <a:prstGeom prst="wedgeRoundRectCallout">
            <a:avLst>
              <a:gd name="adj1" fmla="val -69654"/>
              <a:gd name="adj2" fmla="val 21495"/>
              <a:gd name="adj3" fmla="val 0"/>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And remember: it's not about </a:t>
            </a:r>
            <a:r>
              <a:rPr lang="en" i="1"/>
              <a:t>avoiding</a:t>
            </a:r>
            <a:r>
              <a:rPr lang="en"/>
              <a:t> making mistakes. It's about learning how to fix them as we make them.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6"/>
                                        </p:tgtEl>
                                        <p:attrNameLst>
                                          <p:attrName>style.visibility</p:attrName>
                                        </p:attrNameLst>
                                      </p:cBhvr>
                                      <p:to>
                                        <p:strVal val="visible"/>
                                      </p:to>
                                    </p:set>
                                    <p:animEffect transition="in" filter="fade">
                                      <p:cBhvr>
                                        <p:cTn id="7" dur="1000"/>
                                        <p:tgtEl>
                                          <p:spTgt spid="49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7"/>
                                        </p:tgtEl>
                                        <p:attrNameLst>
                                          <p:attrName>style.visibility</p:attrName>
                                        </p:attrNameLst>
                                      </p:cBhvr>
                                      <p:to>
                                        <p:strVal val="visible"/>
                                      </p:to>
                                    </p:set>
                                    <p:animEffect transition="in" filter="fade">
                                      <p:cBhvr>
                                        <p:cTn id="12" dur="1000"/>
                                        <p:tgtEl>
                                          <p:spTgt spid="49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9"/>
                                        </p:tgtEl>
                                        <p:attrNameLst>
                                          <p:attrName>style.visibility</p:attrName>
                                        </p:attrNameLst>
                                      </p:cBhvr>
                                      <p:to>
                                        <p:strVal val="visible"/>
                                      </p:to>
                                    </p:set>
                                    <p:animEffect transition="in" filter="fade">
                                      <p:cBhvr>
                                        <p:cTn id="17" dur="1000"/>
                                        <p:tgtEl>
                                          <p:spTgt spid="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7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Now that we have a couple of goat character classes, let's put them to the test by creating an arena in which they can do battle!</a:t>
            </a:r>
            <a:endParaRPr/>
          </a:p>
        </p:txBody>
      </p:sp>
      <p:sp>
        <p:nvSpPr>
          <p:cNvPr id="505" name="Google Shape;505;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506" name="Google Shape;506;p76"/>
          <p:cNvSpPr txBox="1">
            <a:spLocks noGrp="1"/>
          </p:cNvSpPr>
          <p:nvPr>
            <p:ph type="body" idx="2"/>
          </p:nvPr>
        </p:nvSpPr>
        <p:spPr>
          <a:xfrm>
            <a:off x="3652825" y="1479725"/>
            <a:ext cx="5288100" cy="30954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Create a new Java class named "</a:t>
            </a:r>
            <a:r>
              <a:rPr lang="en" sz="1400" dirty="0">
                <a:latin typeface="Courier New"/>
                <a:ea typeface="Courier New"/>
                <a:cs typeface="Courier New"/>
                <a:sym typeface="Courier New"/>
              </a:rPr>
              <a:t>GoatArena</a:t>
            </a:r>
            <a:r>
              <a:rPr lang="en" sz="1400" dirty="0"/>
              <a:t>" and define a </a:t>
            </a:r>
            <a:r>
              <a:rPr lang="en" sz="1400" dirty="0">
                <a:latin typeface="Courier New"/>
                <a:ea typeface="Courier New"/>
                <a:cs typeface="Courier New"/>
                <a:sym typeface="Courier New"/>
              </a:rPr>
              <a:t>static</a:t>
            </a:r>
            <a:r>
              <a:rPr lang="en" sz="1400" dirty="0"/>
              <a:t> method named "</a:t>
            </a:r>
            <a:r>
              <a:rPr lang="en" sz="1400" dirty="0">
                <a:latin typeface="Courier New"/>
                <a:ea typeface="Courier New"/>
                <a:cs typeface="Courier New"/>
                <a:sym typeface="Courier New"/>
              </a:rPr>
              <a:t>battle</a:t>
            </a:r>
            <a:r>
              <a:rPr lang="en" sz="1400" dirty="0"/>
              <a:t>" that declares parameter for </a:t>
            </a:r>
            <a:r>
              <a:rPr lang="en" sz="1400" dirty="0">
                <a:solidFill>
                  <a:srgbClr val="FF0000"/>
                </a:solidFill>
                <a:highlight>
                  <a:srgbClr val="FFFF00"/>
                </a:highlight>
                <a:latin typeface="Courier New"/>
                <a:ea typeface="Courier New"/>
                <a:cs typeface="Courier New"/>
                <a:sym typeface="Courier New"/>
              </a:rPr>
              <a:t>goat1</a:t>
            </a:r>
            <a:r>
              <a:rPr lang="en" sz="1400" dirty="0">
                <a:solidFill>
                  <a:srgbClr val="FF0000"/>
                </a:solidFill>
                <a:highlight>
                  <a:srgbClr val="FFFF00"/>
                </a:highlight>
              </a:rPr>
              <a:t> </a:t>
            </a:r>
            <a:r>
              <a:rPr lang="en" sz="1400" dirty="0">
                <a:highlight>
                  <a:srgbClr val="FFFF00"/>
                </a:highlight>
              </a:rPr>
              <a:t>(a </a:t>
            </a:r>
            <a:r>
              <a:rPr lang="en" sz="1400" dirty="0">
                <a:highlight>
                  <a:srgbClr val="FFFF00"/>
                </a:highlight>
                <a:latin typeface="Courier New"/>
                <a:ea typeface="Courier New"/>
                <a:cs typeface="Courier New"/>
                <a:sym typeface="Courier New"/>
              </a:rPr>
              <a:t>Mage</a:t>
            </a:r>
            <a:r>
              <a:rPr lang="en" sz="1400" dirty="0">
                <a:highlight>
                  <a:srgbClr val="FFFF00"/>
                </a:highlight>
              </a:rPr>
              <a:t>) and </a:t>
            </a:r>
            <a:r>
              <a:rPr lang="en" sz="1400" dirty="0">
                <a:solidFill>
                  <a:srgbClr val="FF0000"/>
                </a:solidFill>
                <a:highlight>
                  <a:srgbClr val="FFFF00"/>
                </a:highlight>
                <a:latin typeface="Courier New"/>
                <a:ea typeface="Courier New"/>
                <a:cs typeface="Courier New"/>
                <a:sym typeface="Courier New"/>
              </a:rPr>
              <a:t>goat2</a:t>
            </a:r>
            <a:r>
              <a:rPr lang="en" sz="1400" dirty="0">
                <a:highlight>
                  <a:srgbClr val="FFFF00"/>
                </a:highlight>
              </a:rPr>
              <a:t> (a </a:t>
            </a:r>
            <a:r>
              <a:rPr lang="en" sz="1400" dirty="0">
                <a:highlight>
                  <a:srgbClr val="FFFF00"/>
                </a:highlight>
                <a:latin typeface="Courier New"/>
                <a:ea typeface="Courier New"/>
                <a:cs typeface="Courier New"/>
                <a:sym typeface="Courier New"/>
              </a:rPr>
              <a:t>Fighter</a:t>
            </a:r>
            <a:r>
              <a:rPr lang="en" sz="1400" dirty="0">
                <a:highlight>
                  <a:srgbClr val="FFFF00"/>
                </a:highlight>
              </a:rPr>
              <a:t>).</a:t>
            </a:r>
            <a:endParaRPr sz="1400" dirty="0">
              <a:highlight>
                <a:srgbClr val="FFFF00"/>
              </a:highlight>
            </a:endParaRPr>
          </a:p>
          <a:p>
            <a:pPr marL="457200" lvl="0" indent="-317500" algn="l" rtl="0">
              <a:spcBef>
                <a:spcPts val="0"/>
              </a:spcBef>
              <a:spcAft>
                <a:spcPts val="0"/>
              </a:spcAft>
              <a:buSzPts val="1400"/>
              <a:buChar char="●"/>
            </a:pPr>
            <a:r>
              <a:rPr lang="en" sz="1400" dirty="0"/>
              <a:t>Have the two goats engage in an epic battle! </a:t>
            </a:r>
            <a:endParaRPr sz="1400" dirty="0"/>
          </a:p>
          <a:p>
            <a:pPr marL="914400" lvl="1" indent="-304800" algn="l" rtl="0">
              <a:spcBef>
                <a:spcPts val="0"/>
              </a:spcBef>
              <a:spcAft>
                <a:spcPts val="0"/>
              </a:spcAft>
              <a:buSzPts val="1200"/>
              <a:buChar char="○"/>
            </a:pPr>
            <a:r>
              <a:rPr lang="en" sz="1200" dirty="0"/>
              <a:t>As long as both goats are conscious, have each goat attack the other in turn.</a:t>
            </a:r>
            <a:endParaRPr sz="1200" dirty="0"/>
          </a:p>
          <a:p>
            <a:pPr marL="914400" lvl="1" indent="-304800" algn="l" rtl="0">
              <a:spcBef>
                <a:spcPts val="0"/>
              </a:spcBef>
              <a:spcAft>
                <a:spcPts val="0"/>
              </a:spcAft>
              <a:buSzPts val="1200"/>
              <a:buChar char="○"/>
            </a:pPr>
            <a:r>
              <a:rPr lang="en" sz="1200" dirty="0"/>
              <a:t>To be fair, both goats will always get to attack the other.</a:t>
            </a:r>
            <a:endParaRPr sz="1200" dirty="0"/>
          </a:p>
          <a:p>
            <a:pPr marL="914400" lvl="1" indent="-304800" algn="l" rtl="0">
              <a:spcBef>
                <a:spcPts val="0"/>
              </a:spcBef>
              <a:spcAft>
                <a:spcPts val="0"/>
              </a:spcAft>
              <a:buSzPts val="1200"/>
              <a:buChar char="○"/>
            </a:pPr>
            <a:r>
              <a:rPr lang="en" sz="1200" dirty="0"/>
              <a:t>Be sure to print attacks and the status of each goat after each round.</a:t>
            </a:r>
            <a:endParaRPr sz="1200" dirty="0"/>
          </a:p>
          <a:p>
            <a:pPr marL="914400" lvl="1" indent="-304800" algn="l" rtl="0">
              <a:spcBef>
                <a:spcPts val="0"/>
              </a:spcBef>
              <a:spcAft>
                <a:spcPts val="0"/>
              </a:spcAft>
              <a:buSzPts val="1200"/>
              <a:buChar char="○"/>
            </a:pPr>
            <a:r>
              <a:rPr lang="en" sz="1200" dirty="0"/>
              <a:t>Once the battle is over, determine the winner by checking to see which goat is still conscious.</a:t>
            </a:r>
            <a:endParaRPr sz="1200" dirty="0"/>
          </a:p>
          <a:p>
            <a:pPr marL="457200" lvl="0" indent="-317500" algn="l" rtl="0">
              <a:spcBef>
                <a:spcPts val="0"/>
              </a:spcBef>
              <a:spcAft>
                <a:spcPts val="0"/>
              </a:spcAft>
              <a:buSzPts val="1400"/>
              <a:buChar char="●"/>
            </a:pPr>
            <a:r>
              <a:rPr lang="en" sz="1400" dirty="0"/>
              <a:t>Define a </a:t>
            </a:r>
            <a:r>
              <a:rPr lang="en" sz="1400" dirty="0">
                <a:latin typeface="Courier New"/>
                <a:ea typeface="Courier New"/>
                <a:cs typeface="Courier New"/>
                <a:sym typeface="Courier New"/>
              </a:rPr>
              <a:t>main</a:t>
            </a:r>
            <a:r>
              <a:rPr lang="en" sz="1400" dirty="0"/>
              <a:t> method with the appropriate signature.</a:t>
            </a:r>
            <a:endParaRPr sz="1400" dirty="0"/>
          </a:p>
          <a:p>
            <a:pPr marL="914400" lvl="1" indent="-304800" algn="l" rtl="0">
              <a:spcBef>
                <a:spcPts val="0"/>
              </a:spcBef>
              <a:spcAft>
                <a:spcPts val="0"/>
              </a:spcAft>
              <a:buSzPts val="1200"/>
              <a:buChar char="○"/>
            </a:pPr>
            <a:r>
              <a:rPr lang="en" sz="1200" dirty="0"/>
              <a:t>Make one of each type of goat and send them to battle.</a:t>
            </a:r>
            <a:endParaRPr sz="1200" dirty="0"/>
          </a:p>
        </p:txBody>
      </p:sp>
      <p:sp>
        <p:nvSpPr>
          <p:cNvPr id="507" name="Google Shape;507;p7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Goat Fight Club</a:t>
            </a:r>
            <a:endParaRPr/>
          </a:p>
        </p:txBody>
      </p:sp>
      <p:sp>
        <p:nvSpPr>
          <p:cNvPr id="508" name="Google Shape;508;p7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3.7</a:t>
            </a:r>
            <a:endParaRPr/>
          </a:p>
        </p:txBody>
      </p:sp>
      <p:pic>
        <p:nvPicPr>
          <p:cNvPr id="509" name="Google Shape;509;p76"/>
          <p:cNvPicPr preferRelativeResize="0"/>
          <p:nvPr/>
        </p:nvPicPr>
        <p:blipFill>
          <a:blip r:embed="rId3">
            <a:alphaModFix/>
          </a:blip>
          <a:stretch>
            <a:fillRect/>
          </a:stretch>
        </p:blipFill>
        <p:spPr>
          <a:xfrm>
            <a:off x="152400" y="1686175"/>
            <a:ext cx="3500427" cy="1980499"/>
          </a:xfrm>
          <a:prstGeom prst="rect">
            <a:avLst/>
          </a:prstGeom>
          <a:noFill/>
          <a:ln w="19050" cap="flat" cmpd="sng">
            <a:solidFill>
              <a:schemeClr val="dk2"/>
            </a:solidFill>
            <a:prstDash val="solid"/>
            <a:round/>
            <a:headEnd type="none" w="sm" len="sm"/>
            <a:tailEnd type="none" w="sm" len="sm"/>
          </a:ln>
        </p:spPr>
      </p:pic>
      <p:sp>
        <p:nvSpPr>
          <p:cNvPr id="510" name="Google Shape;510;p76"/>
          <p:cNvSpPr txBox="1"/>
          <p:nvPr/>
        </p:nvSpPr>
        <p:spPr>
          <a:xfrm>
            <a:off x="146000" y="3772875"/>
            <a:ext cx="35004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Two goats enter. One goat leaves.</a:t>
            </a:r>
            <a:endParaRPr sz="1200"/>
          </a:p>
        </p:txBody>
      </p:sp>
      <p:pic>
        <p:nvPicPr>
          <p:cNvPr id="511" name="Google Shape;511;p76"/>
          <p:cNvPicPr preferRelativeResize="0"/>
          <p:nvPr/>
        </p:nvPicPr>
        <p:blipFill rotWithShape="1">
          <a:blip r:embed="rId4">
            <a:alphaModFix/>
          </a:blip>
          <a:srcRect/>
          <a:stretch/>
        </p:blipFill>
        <p:spPr>
          <a:xfrm rot="-900005">
            <a:off x="1892166" y="2348692"/>
            <a:ext cx="545794" cy="785994"/>
          </a:xfrm>
          <a:prstGeom prst="rect">
            <a:avLst/>
          </a:prstGeom>
          <a:noFill/>
          <a:ln>
            <a:noFill/>
          </a:ln>
        </p:spPr>
      </p:pic>
      <p:pic>
        <p:nvPicPr>
          <p:cNvPr id="512" name="Google Shape;512;p76"/>
          <p:cNvPicPr preferRelativeResize="0"/>
          <p:nvPr/>
        </p:nvPicPr>
        <p:blipFill rotWithShape="1">
          <a:blip r:embed="rId5">
            <a:alphaModFix/>
          </a:blip>
          <a:srcRect/>
          <a:stretch/>
        </p:blipFill>
        <p:spPr>
          <a:xfrm rot="900000" flipH="1">
            <a:off x="1295496" y="2348986"/>
            <a:ext cx="548700" cy="790139"/>
          </a:xfrm>
          <a:prstGeom prst="rect">
            <a:avLst/>
          </a:prstGeom>
          <a:noFill/>
          <a:ln>
            <a:noFill/>
          </a:ln>
        </p:spPr>
      </p:pic>
      <p:pic>
        <p:nvPicPr>
          <p:cNvPr id="513" name="Google Shape;513;p76"/>
          <p:cNvPicPr preferRelativeResize="0"/>
          <p:nvPr/>
        </p:nvPicPr>
        <p:blipFill>
          <a:blip r:embed="rId6">
            <a:alphaModFix/>
          </a:blip>
          <a:stretch>
            <a:fillRect/>
          </a:stretch>
        </p:blipFill>
        <p:spPr>
          <a:xfrm>
            <a:off x="7135025" y="87075"/>
            <a:ext cx="1886124" cy="483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77"/>
          <p:cNvSpPr txBox="1">
            <a:spLocks noGrp="1"/>
          </p:cNvSpPr>
          <p:nvPr>
            <p:ph type="body" idx="1"/>
          </p:nvPr>
        </p:nvSpPr>
        <p:spPr>
          <a:xfrm>
            <a:off x="65250" y="731625"/>
            <a:ext cx="8955900" cy="750945"/>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highlight>
                  <a:srgbClr val="FFFF00"/>
                </a:highlight>
              </a:rPr>
              <a:t>Who says that it always has to be a mage vs. a fighter in the arena? </a:t>
            </a:r>
            <a:r>
              <a:rPr lang="en" dirty="0"/>
              <a:t>What if we wanted two mages to fight each other? Or what about two fighters?</a:t>
            </a:r>
            <a:endParaRPr dirty="0"/>
          </a:p>
        </p:txBody>
      </p:sp>
      <p:sp>
        <p:nvSpPr>
          <p:cNvPr id="519" name="Google Shape;519;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520" name="Google Shape;520;p77"/>
          <p:cNvSpPr txBox="1">
            <a:spLocks noGrp="1"/>
          </p:cNvSpPr>
          <p:nvPr>
            <p:ph type="body" idx="2"/>
          </p:nvPr>
        </p:nvSpPr>
        <p:spPr>
          <a:xfrm>
            <a:off x="3652825" y="1609975"/>
            <a:ext cx="5261100" cy="3405517"/>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Open the "</a:t>
            </a:r>
            <a:r>
              <a:rPr lang="en" sz="1600" dirty="0">
                <a:highlight>
                  <a:srgbClr val="FFFF00"/>
                </a:highlight>
                <a:latin typeface="Courier New"/>
                <a:ea typeface="Courier New"/>
                <a:cs typeface="Courier New"/>
                <a:sym typeface="Courier New"/>
              </a:rPr>
              <a:t>GoatArena</a:t>
            </a:r>
            <a:r>
              <a:rPr lang="en" sz="1600" dirty="0">
                <a:highlight>
                  <a:srgbClr val="FFFF00"/>
                </a:highlight>
              </a:rPr>
              <a:t>" and overload the "</a:t>
            </a:r>
            <a:r>
              <a:rPr lang="en" sz="1600" dirty="0">
                <a:highlight>
                  <a:srgbClr val="FFFF00"/>
                </a:highlight>
                <a:latin typeface="Courier New"/>
                <a:ea typeface="Courier New"/>
                <a:cs typeface="Courier New"/>
                <a:sym typeface="Courier New"/>
              </a:rPr>
              <a:t>battle</a:t>
            </a:r>
            <a:r>
              <a:rPr lang="en" sz="1600" dirty="0">
                <a:highlight>
                  <a:srgbClr val="FFFF00"/>
                </a:highlight>
              </a:rPr>
              <a:t>" </a:t>
            </a:r>
            <a:r>
              <a:rPr lang="en" sz="1600" dirty="0"/>
              <a:t>method so that it declares parameters for </a:t>
            </a:r>
            <a:r>
              <a:rPr lang="en" sz="1600" dirty="0">
                <a:solidFill>
                  <a:srgbClr val="FF0000"/>
                </a:solidFill>
                <a:latin typeface="Courier New"/>
                <a:ea typeface="Courier New"/>
                <a:cs typeface="Courier New"/>
                <a:sym typeface="Courier New"/>
              </a:rPr>
              <a:t>goat1</a:t>
            </a:r>
            <a:r>
              <a:rPr lang="en" sz="1600" dirty="0">
                <a:solidFill>
                  <a:srgbClr val="FF0000"/>
                </a:solidFill>
              </a:rPr>
              <a:t> </a:t>
            </a:r>
            <a:r>
              <a:rPr lang="en" sz="1600" dirty="0"/>
              <a:t>and </a:t>
            </a:r>
            <a:r>
              <a:rPr lang="en" sz="1600" dirty="0">
                <a:solidFill>
                  <a:srgbClr val="FF0000"/>
                </a:solidFill>
                <a:latin typeface="Courier New"/>
                <a:ea typeface="Courier New"/>
                <a:cs typeface="Courier New"/>
                <a:sym typeface="Courier New"/>
              </a:rPr>
              <a:t>goat2</a:t>
            </a:r>
            <a:r>
              <a:rPr lang="en" sz="1600" dirty="0">
                <a:solidFill>
                  <a:srgbClr val="FF0000"/>
                </a:solidFill>
              </a:rPr>
              <a:t> </a:t>
            </a:r>
            <a:r>
              <a:rPr lang="en" sz="1600" dirty="0"/>
              <a:t>(both mages).</a:t>
            </a:r>
            <a:endParaRPr sz="1600" dirty="0"/>
          </a:p>
          <a:p>
            <a:pPr marL="914400" lvl="1" indent="-317500" algn="l" rtl="0">
              <a:spcBef>
                <a:spcPts val="0"/>
              </a:spcBef>
              <a:spcAft>
                <a:spcPts val="0"/>
              </a:spcAft>
              <a:buSzPts val="1400"/>
              <a:buChar char="○"/>
            </a:pPr>
            <a:r>
              <a:rPr lang="en" sz="1400" dirty="0"/>
              <a:t>To speed things up, copy and paste the code from the other battle method. </a:t>
            </a:r>
            <a:endParaRPr sz="1400" dirty="0"/>
          </a:p>
          <a:p>
            <a:pPr marL="914400" lvl="1" indent="-317500" algn="l" rtl="0">
              <a:spcBef>
                <a:spcPts val="0"/>
              </a:spcBef>
              <a:spcAft>
                <a:spcPts val="0"/>
              </a:spcAft>
              <a:buSzPts val="1400"/>
              <a:buChar char="○"/>
            </a:pPr>
            <a:r>
              <a:rPr lang="en" sz="1400" dirty="0"/>
              <a:t>If you make sure that the parameter names are the same, how much of the code do you need to change?</a:t>
            </a:r>
            <a:endParaRPr sz="1400" dirty="0"/>
          </a:p>
          <a:p>
            <a:pPr marL="457200" lvl="0" indent="-330200" algn="l" rtl="0">
              <a:spcBef>
                <a:spcPts val="0"/>
              </a:spcBef>
              <a:spcAft>
                <a:spcPts val="0"/>
              </a:spcAft>
              <a:buSzPts val="1600"/>
              <a:buChar char="●"/>
            </a:pPr>
            <a:r>
              <a:rPr lang="en" sz="1600" dirty="0"/>
              <a:t>Use </a:t>
            </a:r>
            <a:r>
              <a:rPr lang="en" sz="1600" dirty="0">
                <a:latin typeface="Courier New"/>
                <a:ea typeface="Courier New"/>
                <a:cs typeface="Courier New"/>
                <a:sym typeface="Courier New"/>
              </a:rPr>
              <a:t>main</a:t>
            </a:r>
            <a:r>
              <a:rPr lang="en" sz="1600" dirty="0"/>
              <a:t> to call the new battle function, this time with two mages.</a:t>
            </a:r>
            <a:endParaRPr sz="1600" dirty="0"/>
          </a:p>
          <a:p>
            <a:pPr marL="457200" lvl="0" indent="-330200" algn="l" rtl="0">
              <a:spcBef>
                <a:spcPts val="0"/>
              </a:spcBef>
              <a:spcAft>
                <a:spcPts val="0"/>
              </a:spcAft>
              <a:buSzPts val="1600"/>
              <a:buChar char="●"/>
            </a:pPr>
            <a:r>
              <a:rPr lang="en" sz="1600" dirty="0"/>
              <a:t>Repeat the entire process, but this time both </a:t>
            </a:r>
            <a:r>
              <a:rPr lang="en" sz="1600" dirty="0">
                <a:solidFill>
                  <a:srgbClr val="FF0000"/>
                </a:solidFill>
                <a:latin typeface="Courier New"/>
                <a:ea typeface="Courier New"/>
                <a:cs typeface="Courier New"/>
                <a:sym typeface="Courier New"/>
              </a:rPr>
              <a:t>goat1</a:t>
            </a:r>
            <a:r>
              <a:rPr lang="en" sz="1600" dirty="0"/>
              <a:t> and </a:t>
            </a:r>
            <a:r>
              <a:rPr lang="en" sz="1600" dirty="0">
                <a:solidFill>
                  <a:srgbClr val="FF0000"/>
                </a:solidFill>
                <a:latin typeface="Courier New"/>
                <a:ea typeface="Courier New"/>
                <a:cs typeface="Courier New"/>
                <a:sym typeface="Courier New"/>
              </a:rPr>
              <a:t>goat2</a:t>
            </a:r>
            <a:r>
              <a:rPr lang="en" sz="1600" dirty="0"/>
              <a:t> should be fighters.</a:t>
            </a:r>
            <a:endParaRPr sz="1600" dirty="0"/>
          </a:p>
        </p:txBody>
      </p:sp>
      <p:sp>
        <p:nvSpPr>
          <p:cNvPr id="521" name="Google Shape;521;p7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Mage Fight?</a:t>
            </a:r>
            <a:endParaRPr/>
          </a:p>
        </p:txBody>
      </p:sp>
      <p:sp>
        <p:nvSpPr>
          <p:cNvPr id="522" name="Google Shape;522;p7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3.8</a:t>
            </a:r>
            <a:endParaRPr/>
          </a:p>
        </p:txBody>
      </p:sp>
      <p:pic>
        <p:nvPicPr>
          <p:cNvPr id="523" name="Google Shape;523;p77"/>
          <p:cNvPicPr preferRelativeResize="0"/>
          <p:nvPr/>
        </p:nvPicPr>
        <p:blipFill>
          <a:blip r:embed="rId3">
            <a:alphaModFix/>
          </a:blip>
          <a:stretch>
            <a:fillRect/>
          </a:stretch>
        </p:blipFill>
        <p:spPr>
          <a:xfrm>
            <a:off x="152400" y="1609975"/>
            <a:ext cx="3500427" cy="1980499"/>
          </a:xfrm>
          <a:prstGeom prst="rect">
            <a:avLst/>
          </a:prstGeom>
          <a:noFill/>
          <a:ln w="19050" cap="flat" cmpd="sng">
            <a:solidFill>
              <a:schemeClr val="dk2"/>
            </a:solidFill>
            <a:prstDash val="solid"/>
            <a:round/>
            <a:headEnd type="none" w="sm" len="sm"/>
            <a:tailEnd type="none" w="sm" len="sm"/>
          </a:ln>
        </p:spPr>
      </p:pic>
      <p:sp>
        <p:nvSpPr>
          <p:cNvPr id="524" name="Google Shape;524;p77"/>
          <p:cNvSpPr txBox="1"/>
          <p:nvPr/>
        </p:nvSpPr>
        <p:spPr>
          <a:xfrm>
            <a:off x="146000" y="3696675"/>
            <a:ext cx="3500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highlight>
                  <a:srgbClr val="FFFF00"/>
                </a:highlight>
              </a:rPr>
              <a:t>At this point, we have </a:t>
            </a:r>
            <a:r>
              <a:rPr lang="en" sz="1200" b="1" i="1" dirty="0">
                <a:solidFill>
                  <a:srgbClr val="FF0000"/>
                </a:solidFill>
                <a:highlight>
                  <a:srgbClr val="FFFF00"/>
                </a:highlight>
              </a:rPr>
              <a:t>a lot</a:t>
            </a:r>
            <a:r>
              <a:rPr lang="en" sz="1200" dirty="0">
                <a:highlight>
                  <a:srgbClr val="FFFF00"/>
                </a:highlight>
              </a:rPr>
              <a:t> of duplicated (or </a:t>
            </a:r>
            <a:r>
              <a:rPr lang="en" sz="1200" i="1" dirty="0">
                <a:highlight>
                  <a:srgbClr val="FFFF00"/>
                </a:highlight>
              </a:rPr>
              <a:t>nearly</a:t>
            </a:r>
            <a:r>
              <a:rPr lang="en" sz="1200" dirty="0">
                <a:highlight>
                  <a:srgbClr val="FFFF00"/>
                </a:highlight>
              </a:rPr>
              <a:t> duplicated code).</a:t>
            </a:r>
            <a:endParaRPr sz="1200" dirty="0">
              <a:highlight>
                <a:srgbClr val="FFFF00"/>
              </a:highlight>
            </a:endParaRPr>
          </a:p>
        </p:txBody>
      </p:sp>
      <p:pic>
        <p:nvPicPr>
          <p:cNvPr id="525" name="Google Shape;525;p77"/>
          <p:cNvPicPr preferRelativeResize="0"/>
          <p:nvPr/>
        </p:nvPicPr>
        <p:blipFill rotWithShape="1">
          <a:blip r:embed="rId4">
            <a:alphaModFix/>
          </a:blip>
          <a:srcRect/>
          <a:stretch/>
        </p:blipFill>
        <p:spPr>
          <a:xfrm rot="-900005">
            <a:off x="1892166" y="2272492"/>
            <a:ext cx="545794" cy="785994"/>
          </a:xfrm>
          <a:prstGeom prst="rect">
            <a:avLst/>
          </a:prstGeom>
          <a:noFill/>
          <a:ln>
            <a:noFill/>
          </a:ln>
        </p:spPr>
      </p:pic>
      <p:pic>
        <p:nvPicPr>
          <p:cNvPr id="526" name="Google Shape;526;p77"/>
          <p:cNvPicPr preferRelativeResize="0"/>
          <p:nvPr/>
        </p:nvPicPr>
        <p:blipFill rotWithShape="1">
          <a:blip r:embed="rId4">
            <a:alphaModFix/>
          </a:blip>
          <a:srcRect/>
          <a:stretch/>
        </p:blipFill>
        <p:spPr>
          <a:xfrm rot="900005" flipH="1">
            <a:off x="1340341" y="2272492"/>
            <a:ext cx="545794" cy="785994"/>
          </a:xfrm>
          <a:prstGeom prst="rect">
            <a:avLst/>
          </a:prstGeom>
          <a:noFill/>
          <a:ln>
            <a:noFill/>
          </a:ln>
        </p:spPr>
      </p:pic>
      <p:sp>
        <p:nvSpPr>
          <p:cNvPr id="527" name="Google Shape;527;p77"/>
          <p:cNvSpPr txBox="1"/>
          <p:nvPr/>
        </p:nvSpPr>
        <p:spPr>
          <a:xfrm>
            <a:off x="146000" y="4382475"/>
            <a:ext cx="3500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highlight>
                  <a:srgbClr val="FFFF00"/>
                </a:highlight>
              </a:rPr>
              <a:t>What happens if we add a Thief class? Or a Cleric? Or a Paladin?</a:t>
            </a:r>
            <a:endParaRPr sz="1200" dirty="0">
              <a:highlight>
                <a:srgbClr val="FFFF00"/>
              </a:highlight>
            </a:endParaRPr>
          </a:p>
        </p:txBody>
      </p:sp>
      <p:pic>
        <p:nvPicPr>
          <p:cNvPr id="528" name="Google Shape;528;p77"/>
          <p:cNvPicPr preferRelativeResize="0"/>
          <p:nvPr/>
        </p:nvPicPr>
        <p:blipFill>
          <a:blip r:embed="rId5">
            <a:alphaModFix/>
          </a:blip>
          <a:stretch>
            <a:fillRect/>
          </a:stretch>
        </p:blipFill>
        <p:spPr>
          <a:xfrm>
            <a:off x="7135025" y="87075"/>
            <a:ext cx="1886124" cy="483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78"/>
          <p:cNvSpPr txBox="1">
            <a:spLocks noGrp="1"/>
          </p:cNvSpPr>
          <p:nvPr>
            <p:ph type="title"/>
          </p:nvPr>
        </p:nvSpPr>
        <p:spPr>
          <a:xfrm>
            <a:off x="311725" y="1961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500"/>
              <a:t>Reuse </a:t>
            </a:r>
            <a:endParaRPr sz="2500"/>
          </a:p>
        </p:txBody>
      </p:sp>
      <p:sp>
        <p:nvSpPr>
          <p:cNvPr id="534" name="Google Shape;534;p78"/>
          <p:cNvSpPr txBox="1">
            <a:spLocks noGrp="1"/>
          </p:cNvSpPr>
          <p:nvPr>
            <p:ph type="body" idx="1"/>
          </p:nvPr>
        </p:nvSpPr>
        <p:spPr>
          <a:xfrm>
            <a:off x="4541225" y="203000"/>
            <a:ext cx="4166400" cy="46893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dirty="0">
                <a:highlight>
                  <a:srgbClr val="FFFF00"/>
                </a:highlight>
              </a:rPr>
              <a:t>One of the major benefits of </a:t>
            </a:r>
            <a:r>
              <a:rPr lang="en" b="1" i="1" dirty="0">
                <a:solidFill>
                  <a:srgbClr val="FF0000"/>
                </a:solidFill>
                <a:highlight>
                  <a:srgbClr val="FFFF00"/>
                </a:highlight>
              </a:rPr>
              <a:t>object-oriented programming</a:t>
            </a:r>
            <a:r>
              <a:rPr lang="en" dirty="0">
                <a:highlight>
                  <a:srgbClr val="FFFF00"/>
                </a:highlight>
              </a:rPr>
              <a:t> is </a:t>
            </a:r>
            <a:r>
              <a:rPr lang="en" b="1" i="1" dirty="0">
                <a:solidFill>
                  <a:srgbClr val="FF0000"/>
                </a:solidFill>
                <a:highlight>
                  <a:srgbClr val="FFFF00"/>
                </a:highlight>
              </a:rPr>
              <a:t>reuse</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t>Write code </a:t>
            </a:r>
            <a:r>
              <a:rPr lang="en" b="1" i="1" dirty="0">
                <a:solidFill>
                  <a:srgbClr val="FF0000"/>
                </a:solidFill>
              </a:rPr>
              <a:t>once</a:t>
            </a:r>
            <a:r>
              <a:rPr lang="en" dirty="0"/>
              <a:t>, and use it in lots of places.</a:t>
            </a:r>
            <a:endParaRPr dirty="0"/>
          </a:p>
          <a:p>
            <a:pPr marL="457200" lvl="0" indent="-311150" algn="l" rtl="0">
              <a:lnSpc>
                <a:spcPct val="115000"/>
              </a:lnSpc>
              <a:spcBef>
                <a:spcPts val="0"/>
              </a:spcBef>
              <a:spcAft>
                <a:spcPts val="0"/>
              </a:spcAft>
              <a:buSzPts val="1300"/>
              <a:buChar char="●"/>
            </a:pPr>
            <a:r>
              <a:rPr lang="en" dirty="0">
                <a:highlight>
                  <a:srgbClr val="FFFF00"/>
                </a:highlight>
              </a:rPr>
              <a:t>Reuse is an alternative to </a:t>
            </a:r>
            <a:r>
              <a:rPr lang="en" b="1" i="1" dirty="0">
                <a:solidFill>
                  <a:srgbClr val="FF0000"/>
                </a:solidFill>
                <a:highlight>
                  <a:srgbClr val="FFFF00"/>
                </a:highlight>
              </a:rPr>
              <a:t>"copy and paste" coding</a:t>
            </a:r>
            <a:r>
              <a:rPr lang="en" dirty="0">
                <a:highlight>
                  <a:srgbClr val="FFFF00"/>
                </a:highlight>
              </a:rPr>
              <a:t>, which </a:t>
            </a:r>
            <a:r>
              <a:rPr lang="en" b="1" i="1" dirty="0">
                <a:solidFill>
                  <a:srgbClr val="FF0000"/>
                </a:solidFill>
                <a:highlight>
                  <a:srgbClr val="FFFF00"/>
                </a:highlight>
              </a:rPr>
              <a:t>duplicates</a:t>
            </a:r>
            <a:r>
              <a:rPr lang="en" dirty="0">
                <a:solidFill>
                  <a:srgbClr val="FF0000"/>
                </a:solidFill>
                <a:highlight>
                  <a:srgbClr val="FFFF00"/>
                </a:highlight>
              </a:rPr>
              <a:t> </a:t>
            </a:r>
            <a:r>
              <a:rPr lang="en" dirty="0">
                <a:highlight>
                  <a:srgbClr val="FFFF00"/>
                </a:highlight>
              </a:rPr>
              <a:t>the same code wherever it is needed.</a:t>
            </a:r>
            <a:endParaRPr dirty="0">
              <a:highlight>
                <a:srgbClr val="FFFF00"/>
              </a:highlight>
            </a:endParaRPr>
          </a:p>
          <a:p>
            <a:pPr marL="914400" lvl="1" indent="-298450" algn="l" rtl="0">
              <a:lnSpc>
                <a:spcPct val="115000"/>
              </a:lnSpc>
              <a:spcBef>
                <a:spcPts val="0"/>
              </a:spcBef>
              <a:spcAft>
                <a:spcPts val="0"/>
              </a:spcAft>
              <a:buSzPts val="1100"/>
              <a:buChar char="○"/>
            </a:pPr>
            <a:r>
              <a:rPr lang="en" dirty="0"/>
              <a:t>There are many drawbacks to duplicating code, not the least of which is that it is </a:t>
            </a:r>
            <a:r>
              <a:rPr lang="en" b="1" i="1" dirty="0">
                <a:solidFill>
                  <a:srgbClr val="FF0000"/>
                </a:solidFill>
              </a:rPr>
              <a:t>wasteful</a:t>
            </a:r>
            <a:r>
              <a:rPr lang="en" dirty="0"/>
              <a:t>, </a:t>
            </a:r>
            <a:r>
              <a:rPr lang="en" b="1" i="1" dirty="0">
                <a:solidFill>
                  <a:srgbClr val="FF0000"/>
                </a:solidFill>
              </a:rPr>
              <a:t>inefficient</a:t>
            </a:r>
            <a:r>
              <a:rPr lang="en" dirty="0"/>
              <a:t>, and duplicates </a:t>
            </a:r>
            <a:r>
              <a:rPr lang="en" b="1" i="1" dirty="0">
                <a:solidFill>
                  <a:srgbClr val="FF0000"/>
                </a:solidFill>
              </a:rPr>
              <a:t>bugs</a:t>
            </a:r>
            <a:r>
              <a:rPr lang="en" dirty="0"/>
              <a:t>.</a:t>
            </a:r>
            <a:endParaRPr dirty="0"/>
          </a:p>
          <a:p>
            <a:pPr marL="457200" lvl="0" indent="-311150" algn="l" rtl="0">
              <a:lnSpc>
                <a:spcPct val="115000"/>
              </a:lnSpc>
              <a:spcBef>
                <a:spcPts val="0"/>
              </a:spcBef>
              <a:spcAft>
                <a:spcPts val="0"/>
              </a:spcAft>
              <a:buSzPts val="1300"/>
              <a:buChar char="●"/>
            </a:pPr>
            <a:r>
              <a:rPr lang="en" dirty="0"/>
              <a:t>Up to this point, the primary mechanism for </a:t>
            </a:r>
            <a:r>
              <a:rPr lang="en" b="1" i="1" dirty="0">
                <a:solidFill>
                  <a:srgbClr val="FF0000"/>
                </a:solidFill>
              </a:rPr>
              <a:t>reuse</a:t>
            </a:r>
            <a:r>
              <a:rPr lang="en" dirty="0">
                <a:solidFill>
                  <a:srgbClr val="FF0000"/>
                </a:solidFill>
              </a:rPr>
              <a:t> </a:t>
            </a:r>
            <a:r>
              <a:rPr lang="en" dirty="0"/>
              <a:t>has been </a:t>
            </a:r>
            <a:r>
              <a:rPr lang="en" b="1" i="1" dirty="0">
                <a:solidFill>
                  <a:srgbClr val="FF0000"/>
                </a:solidFill>
                <a:highlight>
                  <a:srgbClr val="FFFF00"/>
                </a:highlight>
              </a:rPr>
              <a:t>functions</a:t>
            </a:r>
            <a:r>
              <a:rPr lang="en" dirty="0">
                <a:highlight>
                  <a:srgbClr val="FFFF00"/>
                </a:highlight>
              </a:rPr>
              <a:t>, but what if two </a:t>
            </a:r>
            <a:r>
              <a:rPr lang="en" b="1" i="1" dirty="0">
                <a:solidFill>
                  <a:srgbClr val="FF0000"/>
                </a:solidFill>
                <a:highlight>
                  <a:srgbClr val="FFFF00"/>
                </a:highlight>
              </a:rPr>
              <a:t>different</a:t>
            </a:r>
            <a:r>
              <a:rPr lang="en" dirty="0">
                <a:solidFill>
                  <a:srgbClr val="FF0000"/>
                </a:solidFill>
                <a:highlight>
                  <a:srgbClr val="FFFF00"/>
                </a:highlight>
              </a:rPr>
              <a:t> </a:t>
            </a:r>
            <a:r>
              <a:rPr lang="en" dirty="0">
                <a:highlight>
                  <a:srgbClr val="FFFF00"/>
                </a:highlight>
              </a:rPr>
              <a:t>classes need the </a:t>
            </a:r>
            <a:r>
              <a:rPr lang="en" b="1" i="1" dirty="0">
                <a:solidFill>
                  <a:srgbClr val="FF0000"/>
                </a:solidFill>
                <a:highlight>
                  <a:srgbClr val="FFFF00"/>
                </a:highlight>
              </a:rPr>
              <a:t>same</a:t>
            </a:r>
            <a:r>
              <a:rPr lang="en" dirty="0">
                <a:solidFill>
                  <a:srgbClr val="FF0000"/>
                </a:solidFill>
                <a:highlight>
                  <a:srgbClr val="FFFF00"/>
                </a:highlight>
              </a:rPr>
              <a:t> </a:t>
            </a:r>
            <a:r>
              <a:rPr lang="en" dirty="0">
                <a:highlight>
                  <a:srgbClr val="FFFF00"/>
                </a:highlight>
              </a:rPr>
              <a:t>functionality?</a:t>
            </a:r>
            <a:endParaRPr dirty="0">
              <a:highlight>
                <a:srgbClr val="FFFF00"/>
              </a:highlight>
            </a:endParaRPr>
          </a:p>
          <a:p>
            <a:pPr marL="914400" lvl="1" indent="-298450" algn="l" rtl="0">
              <a:lnSpc>
                <a:spcPct val="115000"/>
              </a:lnSpc>
              <a:spcBef>
                <a:spcPts val="0"/>
              </a:spcBef>
              <a:spcAft>
                <a:spcPts val="0"/>
              </a:spcAft>
              <a:buSzPts val="1100"/>
              <a:buChar char="○"/>
            </a:pPr>
            <a:r>
              <a:rPr lang="en" dirty="0"/>
              <a:t>What if two or more classes implement the </a:t>
            </a:r>
            <a:r>
              <a:rPr lang="en" b="1" i="1" dirty="0">
                <a:solidFill>
                  <a:srgbClr val="FF0000"/>
                </a:solidFill>
              </a:rPr>
              <a:t>same behavior</a:t>
            </a:r>
            <a:r>
              <a:rPr lang="en" dirty="0">
                <a:solidFill>
                  <a:srgbClr val="FF0000"/>
                </a:solidFill>
              </a:rPr>
              <a:t> </a:t>
            </a:r>
            <a:r>
              <a:rPr lang="en" dirty="0"/>
              <a:t>in exactly the same way?</a:t>
            </a:r>
            <a:endParaRPr dirty="0"/>
          </a:p>
          <a:p>
            <a:pPr marL="914400" lvl="1" indent="-298450" algn="l" rtl="0">
              <a:lnSpc>
                <a:spcPct val="115000"/>
              </a:lnSpc>
              <a:spcBef>
                <a:spcPts val="0"/>
              </a:spcBef>
              <a:spcAft>
                <a:spcPts val="0"/>
              </a:spcAft>
              <a:buSzPts val="1100"/>
              <a:buChar char="○"/>
            </a:pPr>
            <a:r>
              <a:rPr lang="en" dirty="0"/>
              <a:t>What if two classes have </a:t>
            </a:r>
            <a:r>
              <a:rPr lang="en" b="1" i="1" dirty="0">
                <a:solidFill>
                  <a:srgbClr val="FF0000"/>
                </a:solidFill>
              </a:rPr>
              <a:t>identical state</a:t>
            </a:r>
            <a:r>
              <a:rPr lang="en" dirty="0"/>
              <a:t>?</a:t>
            </a:r>
            <a:endParaRPr dirty="0"/>
          </a:p>
          <a:p>
            <a:pPr marL="457200" lvl="0" indent="-311150" algn="l" rtl="0">
              <a:lnSpc>
                <a:spcPct val="115000"/>
              </a:lnSpc>
              <a:spcBef>
                <a:spcPts val="0"/>
              </a:spcBef>
              <a:spcAft>
                <a:spcPts val="0"/>
              </a:spcAft>
              <a:buSzPts val="1300"/>
              <a:buChar char="●"/>
            </a:pPr>
            <a:r>
              <a:rPr lang="en" dirty="0"/>
              <a:t>Object-oriented programming provides a core feature that allows different classes to</a:t>
            </a:r>
            <a:r>
              <a:rPr lang="en" dirty="0">
                <a:highlight>
                  <a:srgbClr val="FFFF00"/>
                </a:highlight>
              </a:rPr>
              <a:t> </a:t>
            </a:r>
            <a:r>
              <a:rPr lang="en" b="1" i="1" dirty="0">
                <a:solidFill>
                  <a:srgbClr val="FF0000"/>
                </a:solidFill>
                <a:highlight>
                  <a:srgbClr val="FFFF00"/>
                </a:highlight>
              </a:rPr>
              <a:t>reuse</a:t>
            </a:r>
            <a:r>
              <a:rPr lang="en" i="1" dirty="0">
                <a:solidFill>
                  <a:srgbClr val="FF0000"/>
                </a:solidFill>
                <a:highlight>
                  <a:srgbClr val="FFFF00"/>
                </a:highlight>
              </a:rPr>
              <a:t> </a:t>
            </a:r>
            <a:r>
              <a:rPr lang="en" dirty="0">
                <a:highlight>
                  <a:srgbClr val="FFFF00"/>
                </a:highlight>
              </a:rPr>
              <a:t>code: </a:t>
            </a:r>
            <a:r>
              <a:rPr lang="en" b="1" i="1" dirty="0">
                <a:solidFill>
                  <a:srgbClr val="FF0000"/>
                </a:solidFill>
                <a:highlight>
                  <a:srgbClr val="FFFF00"/>
                </a:highlight>
              </a:rPr>
              <a:t>inheritance</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t>One class may </a:t>
            </a:r>
            <a:r>
              <a:rPr lang="en" b="1" i="1" dirty="0">
                <a:solidFill>
                  <a:srgbClr val="FF0000"/>
                </a:solidFill>
                <a:highlight>
                  <a:srgbClr val="FFFF00"/>
                </a:highlight>
              </a:rPr>
              <a:t>extend</a:t>
            </a:r>
            <a:r>
              <a:rPr lang="en" dirty="0">
                <a:solidFill>
                  <a:srgbClr val="FF0000"/>
                </a:solidFill>
                <a:highlight>
                  <a:srgbClr val="FFFF00"/>
                </a:highlight>
              </a:rPr>
              <a:t> </a:t>
            </a:r>
            <a:r>
              <a:rPr lang="en" dirty="0">
                <a:highlight>
                  <a:srgbClr val="FFFF00"/>
                </a:highlight>
              </a:rPr>
              <a:t>another class to inherit its accessible </a:t>
            </a:r>
            <a:r>
              <a:rPr lang="en" b="1" i="1" dirty="0">
                <a:solidFill>
                  <a:srgbClr val="FF0000"/>
                </a:solidFill>
                <a:highlight>
                  <a:srgbClr val="FFFF00"/>
                </a:highlight>
              </a:rPr>
              <a:t>state</a:t>
            </a:r>
            <a:r>
              <a:rPr lang="en" dirty="0">
                <a:solidFill>
                  <a:srgbClr val="FF0000"/>
                </a:solidFill>
                <a:highlight>
                  <a:srgbClr val="FFFF00"/>
                </a:highlight>
              </a:rPr>
              <a:t> </a:t>
            </a:r>
            <a:r>
              <a:rPr lang="en" dirty="0">
                <a:highlight>
                  <a:srgbClr val="FFFF00"/>
                </a:highlight>
              </a:rPr>
              <a:t>and </a:t>
            </a:r>
            <a:r>
              <a:rPr lang="en" b="1" i="1" dirty="0">
                <a:solidFill>
                  <a:srgbClr val="FF0000"/>
                </a:solidFill>
                <a:highlight>
                  <a:srgbClr val="FFFF00"/>
                </a:highlight>
              </a:rPr>
              <a:t>behavior</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t>This creates a </a:t>
            </a:r>
            <a:r>
              <a:rPr lang="en" b="1" i="1" dirty="0">
                <a:solidFill>
                  <a:srgbClr val="FF0000"/>
                </a:solidFill>
                <a:highlight>
                  <a:srgbClr val="FFFF00"/>
                </a:highlight>
              </a:rPr>
              <a:t>parent/child</a:t>
            </a:r>
            <a:r>
              <a:rPr lang="en" dirty="0">
                <a:highlight>
                  <a:srgbClr val="FFFF00"/>
                </a:highlight>
              </a:rPr>
              <a:t> </a:t>
            </a:r>
            <a:r>
              <a:rPr lang="en" dirty="0"/>
              <a:t>relationship between the two classes.</a:t>
            </a:r>
            <a:endParaRPr dirty="0"/>
          </a:p>
        </p:txBody>
      </p:sp>
      <p:sp>
        <p:nvSpPr>
          <p:cNvPr id="535" name="Google Shape;535;p7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16</a:t>
            </a:fld>
            <a:endParaRPr/>
          </a:p>
        </p:txBody>
      </p:sp>
      <p:sp>
        <p:nvSpPr>
          <p:cNvPr id="536" name="Google Shape;536;p78"/>
          <p:cNvSpPr txBox="1"/>
          <p:nvPr/>
        </p:nvSpPr>
        <p:spPr>
          <a:xfrm>
            <a:off x="239225" y="676575"/>
            <a:ext cx="3706500" cy="12855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1600"/>
              </a:spcAft>
              <a:buClr>
                <a:srgbClr val="000000"/>
              </a:buClr>
              <a:buSzPts val="7500"/>
              <a:buFont typeface="Arial"/>
              <a:buNone/>
            </a:pPr>
            <a:r>
              <a:rPr lang="en" sz="7500" b="0" i="0" u="none" strike="noStrike" cap="none">
                <a:solidFill>
                  <a:srgbClr val="FFFFFF"/>
                </a:solidFill>
                <a:latin typeface="Roboto"/>
                <a:ea typeface="Roboto"/>
                <a:cs typeface="Roboto"/>
                <a:sym typeface="Roboto"/>
              </a:rPr>
              <a:t>DRY</a:t>
            </a:r>
            <a:endParaRPr sz="7500" b="0" i="0" u="none" strike="noStrike" cap="none">
              <a:solidFill>
                <a:srgbClr val="FFFFFF"/>
              </a:solidFill>
              <a:latin typeface="Roboto"/>
              <a:ea typeface="Roboto"/>
              <a:cs typeface="Roboto"/>
              <a:sym typeface="Roboto"/>
            </a:endParaRPr>
          </a:p>
        </p:txBody>
      </p:sp>
      <p:sp>
        <p:nvSpPr>
          <p:cNvPr id="537" name="Google Shape;537;p78"/>
          <p:cNvSpPr txBox="1"/>
          <p:nvPr/>
        </p:nvSpPr>
        <p:spPr>
          <a:xfrm>
            <a:off x="268225" y="2524250"/>
            <a:ext cx="3706500" cy="55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DRY is a driving principle of software engineering that will be continuously emphasized.</a:t>
            </a:r>
            <a:endParaRPr sz="1200" b="0" i="0" u="none" strike="noStrike" cap="none">
              <a:solidFill>
                <a:srgbClr val="000000"/>
              </a:solidFill>
              <a:latin typeface="Arial"/>
              <a:ea typeface="Arial"/>
              <a:cs typeface="Arial"/>
              <a:sym typeface="Arial"/>
            </a:endParaRPr>
          </a:p>
        </p:txBody>
      </p:sp>
      <p:sp>
        <p:nvSpPr>
          <p:cNvPr id="538" name="Google Shape;538;p78"/>
          <p:cNvSpPr txBox="1"/>
          <p:nvPr/>
        </p:nvSpPr>
        <p:spPr>
          <a:xfrm>
            <a:off x="268225" y="1819850"/>
            <a:ext cx="3706500" cy="63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 sz="2700" b="0" i="0" u="sng" strike="noStrike" cap="none">
                <a:solidFill>
                  <a:srgbClr val="FFFFFF"/>
                </a:solidFill>
                <a:latin typeface="Roboto"/>
                <a:ea typeface="Roboto"/>
                <a:cs typeface="Roboto"/>
                <a:sym typeface="Roboto"/>
              </a:rPr>
              <a:t>D</a:t>
            </a:r>
            <a:r>
              <a:rPr lang="en" sz="2700" b="0" i="0" u="none" strike="noStrike" cap="none">
                <a:solidFill>
                  <a:srgbClr val="FFFFFF"/>
                </a:solidFill>
                <a:latin typeface="Roboto"/>
                <a:ea typeface="Roboto"/>
                <a:cs typeface="Roboto"/>
                <a:sym typeface="Roboto"/>
              </a:rPr>
              <a:t>on’t </a:t>
            </a:r>
            <a:r>
              <a:rPr lang="en" sz="2700" b="0" i="0" u="sng" strike="noStrike" cap="none">
                <a:solidFill>
                  <a:srgbClr val="FFFFFF"/>
                </a:solidFill>
                <a:latin typeface="Roboto"/>
                <a:ea typeface="Roboto"/>
                <a:cs typeface="Roboto"/>
                <a:sym typeface="Roboto"/>
              </a:rPr>
              <a:t>R</a:t>
            </a:r>
            <a:r>
              <a:rPr lang="en" sz="2700" b="0" i="0" u="none" strike="noStrike" cap="none">
                <a:solidFill>
                  <a:srgbClr val="FFFFFF"/>
                </a:solidFill>
                <a:latin typeface="Roboto"/>
                <a:ea typeface="Roboto"/>
                <a:cs typeface="Roboto"/>
                <a:sym typeface="Roboto"/>
              </a:rPr>
              <a:t>epeat </a:t>
            </a:r>
            <a:r>
              <a:rPr lang="en" sz="2700" b="0" i="0" u="sng" strike="noStrike" cap="none">
                <a:solidFill>
                  <a:srgbClr val="FFFFFF"/>
                </a:solidFill>
                <a:latin typeface="Roboto"/>
                <a:ea typeface="Roboto"/>
                <a:cs typeface="Roboto"/>
                <a:sym typeface="Roboto"/>
              </a:rPr>
              <a:t>Y</a:t>
            </a:r>
            <a:r>
              <a:rPr lang="en" sz="2700" b="0" i="0" u="none" strike="noStrike" cap="none">
                <a:solidFill>
                  <a:srgbClr val="FFFFFF"/>
                </a:solidFill>
                <a:latin typeface="Roboto"/>
                <a:ea typeface="Roboto"/>
                <a:cs typeface="Roboto"/>
                <a:sym typeface="Roboto"/>
              </a:rPr>
              <a:t>ourself</a:t>
            </a:r>
            <a:endParaRPr sz="2700" b="0" i="0" u="none" strike="noStrike" cap="none">
              <a:solidFill>
                <a:srgbClr val="FFFFFF"/>
              </a:solidFill>
              <a:latin typeface="Roboto"/>
              <a:ea typeface="Roboto"/>
              <a:cs typeface="Roboto"/>
              <a:sym typeface="Roboto"/>
            </a:endParaRPr>
          </a:p>
        </p:txBody>
      </p:sp>
      <p:sp>
        <p:nvSpPr>
          <p:cNvPr id="539" name="Google Shape;539;p78"/>
          <p:cNvSpPr txBox="1"/>
          <p:nvPr/>
        </p:nvSpPr>
        <p:spPr>
          <a:xfrm>
            <a:off x="268225" y="3214550"/>
            <a:ext cx="3706500" cy="706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Up until now, we have used </a:t>
            </a:r>
            <a:r>
              <a:rPr lang="en" sz="1200" b="1" i="1" u="none" strike="noStrike" cap="none">
                <a:solidFill>
                  <a:srgbClr val="FF0000"/>
                </a:solidFill>
                <a:latin typeface="Arial"/>
                <a:ea typeface="Arial"/>
                <a:cs typeface="Arial"/>
                <a:sym typeface="Arial"/>
              </a:rPr>
              <a:t>functions</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to reuse code, but that technique will </a:t>
            </a:r>
            <a:r>
              <a:rPr lang="en" sz="1200" b="1" i="1" u="none" strike="noStrike" cap="none">
                <a:solidFill>
                  <a:srgbClr val="FF0000"/>
                </a:solidFill>
                <a:latin typeface="Arial"/>
                <a:ea typeface="Arial"/>
                <a:cs typeface="Arial"/>
                <a:sym typeface="Arial"/>
              </a:rPr>
              <a:t>not work</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if two or more classes need the same functionality.</a:t>
            </a:r>
            <a:endParaRPr sz="1200" b="0" i="0" u="none" strike="noStrike" cap="none">
              <a:solidFill>
                <a:srgbClr val="000000"/>
              </a:solidFill>
              <a:latin typeface="Arial"/>
              <a:ea typeface="Arial"/>
              <a:cs typeface="Arial"/>
              <a:sym typeface="Arial"/>
            </a:endParaRPr>
          </a:p>
        </p:txBody>
      </p:sp>
      <p:sp>
        <p:nvSpPr>
          <p:cNvPr id="540" name="Google Shape;540;p78"/>
          <p:cNvSpPr txBox="1"/>
          <p:nvPr/>
        </p:nvSpPr>
        <p:spPr>
          <a:xfrm>
            <a:off x="268225" y="4052750"/>
            <a:ext cx="3706500" cy="706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When using classes and objects, identical functionality in two or more classes may indicate an opportunity to leverage </a:t>
            </a:r>
            <a:r>
              <a:rPr lang="en" sz="1200" b="1" i="1" u="none" strike="noStrike" cap="none">
                <a:solidFill>
                  <a:srgbClr val="FF0000"/>
                </a:solidFill>
                <a:latin typeface="Arial"/>
                <a:ea typeface="Arial"/>
                <a:cs typeface="Arial"/>
                <a:sym typeface="Arial"/>
              </a:rPr>
              <a:t>inheritance</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6"/>
                                        </p:tgtEl>
                                        <p:attrNameLst>
                                          <p:attrName>style.visibility</p:attrName>
                                        </p:attrNameLst>
                                      </p:cBhvr>
                                      <p:to>
                                        <p:strVal val="visible"/>
                                      </p:to>
                                    </p:set>
                                    <p:animEffect transition="in" filter="fade">
                                      <p:cBhvr>
                                        <p:cTn id="7" dur="1000"/>
                                        <p:tgtEl>
                                          <p:spTgt spid="536"/>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38"/>
                                        </p:tgtEl>
                                        <p:attrNameLst>
                                          <p:attrName>style.visibility</p:attrName>
                                        </p:attrNameLst>
                                      </p:cBhvr>
                                      <p:to>
                                        <p:strVal val="visible"/>
                                      </p:to>
                                    </p:set>
                                    <p:animEffect transition="in" filter="fade">
                                      <p:cBhvr>
                                        <p:cTn id="11" dur="1000"/>
                                        <p:tgtEl>
                                          <p:spTgt spid="53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37"/>
                                        </p:tgtEl>
                                        <p:attrNameLst>
                                          <p:attrName>style.visibility</p:attrName>
                                        </p:attrNameLst>
                                      </p:cBhvr>
                                      <p:to>
                                        <p:strVal val="visible"/>
                                      </p:to>
                                    </p:set>
                                    <p:animEffect transition="in" filter="fade">
                                      <p:cBhvr>
                                        <p:cTn id="16" dur="1000"/>
                                        <p:tgtEl>
                                          <p:spTgt spid="53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39"/>
                                        </p:tgtEl>
                                        <p:attrNameLst>
                                          <p:attrName>style.visibility</p:attrName>
                                        </p:attrNameLst>
                                      </p:cBhvr>
                                      <p:to>
                                        <p:strVal val="visible"/>
                                      </p:to>
                                    </p:set>
                                    <p:animEffect transition="in" filter="fade">
                                      <p:cBhvr>
                                        <p:cTn id="21" dur="1000"/>
                                        <p:tgtEl>
                                          <p:spTgt spid="53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40"/>
                                        </p:tgtEl>
                                        <p:attrNameLst>
                                          <p:attrName>style.visibility</p:attrName>
                                        </p:attrNameLst>
                                      </p:cBhvr>
                                      <p:to>
                                        <p:strVal val="visible"/>
                                      </p:to>
                                    </p:set>
                                    <p:animEffect transition="in" filter="fade">
                                      <p:cBhvr>
                                        <p:cTn id="26" dur="1000"/>
                                        <p:tgtEl>
                                          <p:spTgt spid="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7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 will be creating a new </a:t>
            </a:r>
            <a:r>
              <a:rPr lang="en" b="1" i="1">
                <a:solidFill>
                  <a:srgbClr val="FF0000"/>
                </a:solidFill>
              </a:rPr>
              <a:t>parent</a:t>
            </a:r>
            <a:r>
              <a:rPr lang="en">
                <a:solidFill>
                  <a:srgbClr val="FF0000"/>
                </a:solidFill>
              </a:rPr>
              <a:t> </a:t>
            </a:r>
            <a:r>
              <a:rPr lang="en"/>
              <a:t>class to contain all of the fields and methods that our two goats have in common. Let's start by identifying what those are!</a:t>
            </a:r>
            <a:endParaRPr/>
          </a:p>
        </p:txBody>
      </p:sp>
      <p:sp>
        <p:nvSpPr>
          <p:cNvPr id="546" name="Google Shape;546;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547" name="Google Shape;547;p7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Identifying Common Attributes</a:t>
            </a:r>
            <a:endParaRPr/>
          </a:p>
        </p:txBody>
      </p:sp>
      <p:sp>
        <p:nvSpPr>
          <p:cNvPr id="548" name="Google Shape;548;p7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3.9</a:t>
            </a:r>
            <a:endParaRPr/>
          </a:p>
        </p:txBody>
      </p:sp>
      <p:graphicFrame>
        <p:nvGraphicFramePr>
          <p:cNvPr id="549" name="Google Shape;549;p79"/>
          <p:cNvGraphicFramePr/>
          <p:nvPr/>
        </p:nvGraphicFramePr>
        <p:xfrm>
          <a:off x="2490850" y="1650550"/>
          <a:ext cx="6257775" cy="3330050"/>
        </p:xfrm>
        <a:graphic>
          <a:graphicData uri="http://schemas.openxmlformats.org/drawingml/2006/table">
            <a:tbl>
              <a:tblPr>
                <a:noFill/>
                <a:tableStyleId>{7F442979-C056-43AA-83C6-67E564C60A4D}</a:tableStyleId>
              </a:tblPr>
              <a:tblGrid>
                <a:gridCol w="900075">
                  <a:extLst>
                    <a:ext uri="{9D8B030D-6E8A-4147-A177-3AD203B41FA5}">
                      <a16:colId xmlns:a16="http://schemas.microsoft.com/office/drawing/2014/main" val="20000"/>
                    </a:ext>
                  </a:extLst>
                </a:gridCol>
                <a:gridCol w="1785900">
                  <a:extLst>
                    <a:ext uri="{9D8B030D-6E8A-4147-A177-3AD203B41FA5}">
                      <a16:colId xmlns:a16="http://schemas.microsoft.com/office/drawing/2014/main" val="20001"/>
                    </a:ext>
                  </a:extLst>
                </a:gridCol>
                <a:gridCol w="1785900">
                  <a:extLst>
                    <a:ext uri="{9D8B030D-6E8A-4147-A177-3AD203B41FA5}">
                      <a16:colId xmlns:a16="http://schemas.microsoft.com/office/drawing/2014/main" val="20002"/>
                    </a:ext>
                  </a:extLst>
                </a:gridCol>
                <a:gridCol w="1785900">
                  <a:extLst>
                    <a:ext uri="{9D8B030D-6E8A-4147-A177-3AD203B41FA5}">
                      <a16:colId xmlns:a16="http://schemas.microsoft.com/office/drawing/2014/main" val="20003"/>
                    </a:ext>
                  </a:extLst>
                </a:gridCol>
              </a:tblGrid>
              <a:tr h="4170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Common to Both</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Unique to Mage</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Unique to Fighter</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State</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Behavior</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pic>
        <p:nvPicPr>
          <p:cNvPr id="550" name="Google Shape;550;p79"/>
          <p:cNvPicPr preferRelativeResize="0"/>
          <p:nvPr/>
        </p:nvPicPr>
        <p:blipFill rotWithShape="1">
          <a:blip r:embed="rId3">
            <a:alphaModFix/>
          </a:blip>
          <a:srcRect/>
          <a:stretch/>
        </p:blipFill>
        <p:spPr>
          <a:xfrm>
            <a:off x="133025" y="1650550"/>
            <a:ext cx="1086384" cy="1564401"/>
          </a:xfrm>
          <a:prstGeom prst="rect">
            <a:avLst/>
          </a:prstGeom>
          <a:noFill/>
          <a:ln>
            <a:noFill/>
          </a:ln>
        </p:spPr>
      </p:pic>
      <p:pic>
        <p:nvPicPr>
          <p:cNvPr id="551" name="Google Shape;551;p79"/>
          <p:cNvPicPr preferRelativeResize="0"/>
          <p:nvPr/>
        </p:nvPicPr>
        <p:blipFill rotWithShape="1">
          <a:blip r:embed="rId4">
            <a:alphaModFix/>
          </a:blip>
          <a:srcRect/>
          <a:stretch/>
        </p:blipFill>
        <p:spPr>
          <a:xfrm>
            <a:off x="1219408" y="1650557"/>
            <a:ext cx="1086384" cy="1564390"/>
          </a:xfrm>
          <a:prstGeom prst="rect">
            <a:avLst/>
          </a:prstGeom>
          <a:noFill/>
          <a:ln>
            <a:noFill/>
          </a:ln>
        </p:spPr>
      </p:pic>
      <p:sp>
        <p:nvSpPr>
          <p:cNvPr id="552" name="Google Shape;552;p79"/>
          <p:cNvSpPr txBox="1"/>
          <p:nvPr/>
        </p:nvSpPr>
        <p:spPr>
          <a:xfrm>
            <a:off x="285425" y="3347700"/>
            <a:ext cx="1995300" cy="85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You may find it useful to open the two classes side-by-side in your editor (i.e. split to the right).</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80"/>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 will be creating a new </a:t>
            </a:r>
            <a:r>
              <a:rPr lang="en" b="1" i="1">
                <a:solidFill>
                  <a:srgbClr val="FF0000"/>
                </a:solidFill>
              </a:rPr>
              <a:t>parent</a:t>
            </a:r>
            <a:r>
              <a:rPr lang="en">
                <a:solidFill>
                  <a:srgbClr val="FF0000"/>
                </a:solidFill>
              </a:rPr>
              <a:t> </a:t>
            </a:r>
            <a:r>
              <a:rPr lang="en"/>
              <a:t>class to contain all of the fields and methods that our two goats have in common. Let's start by identifying what those are!</a:t>
            </a:r>
            <a:endParaRPr/>
          </a:p>
        </p:txBody>
      </p:sp>
      <p:sp>
        <p:nvSpPr>
          <p:cNvPr id="558" name="Google Shape;558;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559" name="Google Shape;559;p8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Identifying Common Attributes</a:t>
            </a:r>
            <a:endParaRPr/>
          </a:p>
        </p:txBody>
      </p:sp>
      <p:sp>
        <p:nvSpPr>
          <p:cNvPr id="560" name="Google Shape;560;p8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3.9</a:t>
            </a:r>
            <a:endParaRPr/>
          </a:p>
        </p:txBody>
      </p:sp>
      <p:graphicFrame>
        <p:nvGraphicFramePr>
          <p:cNvPr id="561" name="Google Shape;561;p80"/>
          <p:cNvGraphicFramePr/>
          <p:nvPr/>
        </p:nvGraphicFramePr>
        <p:xfrm>
          <a:off x="2490850" y="1650550"/>
          <a:ext cx="6257775" cy="3330050"/>
        </p:xfrm>
        <a:graphic>
          <a:graphicData uri="http://schemas.openxmlformats.org/drawingml/2006/table">
            <a:tbl>
              <a:tblPr>
                <a:noFill/>
                <a:tableStyleId>{7F442979-C056-43AA-83C6-67E564C60A4D}</a:tableStyleId>
              </a:tblPr>
              <a:tblGrid>
                <a:gridCol w="900075">
                  <a:extLst>
                    <a:ext uri="{9D8B030D-6E8A-4147-A177-3AD203B41FA5}">
                      <a16:colId xmlns:a16="http://schemas.microsoft.com/office/drawing/2014/main" val="20000"/>
                    </a:ext>
                  </a:extLst>
                </a:gridCol>
                <a:gridCol w="1785900">
                  <a:extLst>
                    <a:ext uri="{9D8B030D-6E8A-4147-A177-3AD203B41FA5}">
                      <a16:colId xmlns:a16="http://schemas.microsoft.com/office/drawing/2014/main" val="20001"/>
                    </a:ext>
                  </a:extLst>
                </a:gridCol>
                <a:gridCol w="1785900">
                  <a:extLst>
                    <a:ext uri="{9D8B030D-6E8A-4147-A177-3AD203B41FA5}">
                      <a16:colId xmlns:a16="http://schemas.microsoft.com/office/drawing/2014/main" val="20002"/>
                    </a:ext>
                  </a:extLst>
                </a:gridCol>
                <a:gridCol w="1785900">
                  <a:extLst>
                    <a:ext uri="{9D8B030D-6E8A-4147-A177-3AD203B41FA5}">
                      <a16:colId xmlns:a16="http://schemas.microsoft.com/office/drawing/2014/main" val="20003"/>
                    </a:ext>
                  </a:extLst>
                </a:gridCol>
              </a:tblGrid>
              <a:tr h="4170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Common to Both</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Unique to Mage</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Unique to Fighter</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State</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456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Behavior</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pic>
        <p:nvPicPr>
          <p:cNvPr id="562" name="Google Shape;562;p80"/>
          <p:cNvPicPr preferRelativeResize="0"/>
          <p:nvPr/>
        </p:nvPicPr>
        <p:blipFill rotWithShape="1">
          <a:blip r:embed="rId3">
            <a:alphaModFix/>
          </a:blip>
          <a:srcRect/>
          <a:stretch/>
        </p:blipFill>
        <p:spPr>
          <a:xfrm>
            <a:off x="133025" y="1650550"/>
            <a:ext cx="1086384" cy="1564401"/>
          </a:xfrm>
          <a:prstGeom prst="rect">
            <a:avLst/>
          </a:prstGeom>
          <a:noFill/>
          <a:ln>
            <a:noFill/>
          </a:ln>
        </p:spPr>
      </p:pic>
      <p:pic>
        <p:nvPicPr>
          <p:cNvPr id="563" name="Google Shape;563;p80"/>
          <p:cNvPicPr preferRelativeResize="0"/>
          <p:nvPr/>
        </p:nvPicPr>
        <p:blipFill rotWithShape="1">
          <a:blip r:embed="rId4">
            <a:alphaModFix/>
          </a:blip>
          <a:srcRect/>
          <a:stretch/>
        </p:blipFill>
        <p:spPr>
          <a:xfrm>
            <a:off x="1219408" y="1650557"/>
            <a:ext cx="1086384" cy="1564390"/>
          </a:xfrm>
          <a:prstGeom prst="rect">
            <a:avLst/>
          </a:prstGeom>
          <a:noFill/>
          <a:ln>
            <a:noFill/>
          </a:ln>
        </p:spPr>
      </p:pic>
      <p:sp>
        <p:nvSpPr>
          <p:cNvPr id="564" name="Google Shape;564;p80"/>
          <p:cNvSpPr txBox="1"/>
          <p:nvPr/>
        </p:nvSpPr>
        <p:spPr>
          <a:xfrm>
            <a:off x="285425" y="3347700"/>
            <a:ext cx="1995300" cy="85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You may find it useful to open the two classes side-by-side in your editor (i.e. split to the right).</a:t>
            </a:r>
            <a:endParaRPr sz="1200" b="0" i="0" u="none" strike="noStrike" cap="none">
              <a:solidFill>
                <a:srgbClr val="000000"/>
              </a:solidFill>
              <a:latin typeface="Arial"/>
              <a:ea typeface="Arial"/>
              <a:cs typeface="Arial"/>
              <a:sym typeface="Arial"/>
            </a:endParaRPr>
          </a:p>
        </p:txBody>
      </p:sp>
      <p:sp>
        <p:nvSpPr>
          <p:cNvPr id="565" name="Google Shape;565;p80"/>
          <p:cNvSpPr txBox="1"/>
          <p:nvPr/>
        </p:nvSpPr>
        <p:spPr>
          <a:xfrm>
            <a:off x="5174375" y="3527300"/>
            <a:ext cx="1788300" cy="1453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ATTACK</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TAKE DAMAGE</a:t>
            </a:r>
            <a:endParaRPr sz="1800" b="0" i="0" u="none" strike="noStrike" cap="none" dirty="0">
              <a:solidFill>
                <a:srgbClr val="FF0000"/>
              </a:solidFill>
              <a:latin typeface="Shadows Into Light"/>
              <a:ea typeface="Shadows Into Light"/>
              <a:cs typeface="Shadows Into Light"/>
              <a:sym typeface="Shadows Into Light"/>
            </a:endParaRPr>
          </a:p>
        </p:txBody>
      </p:sp>
      <p:sp>
        <p:nvSpPr>
          <p:cNvPr id="566" name="Google Shape;566;p80"/>
          <p:cNvSpPr txBox="1"/>
          <p:nvPr/>
        </p:nvSpPr>
        <p:spPr>
          <a:xfrm>
            <a:off x="6960003" y="3532100"/>
            <a:ext cx="1788300" cy="1453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ATTACK</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TAKE DAMAGE</a:t>
            </a:r>
            <a:endParaRPr sz="1800" b="0" i="0" u="none" strike="noStrike" cap="none" dirty="0">
              <a:solidFill>
                <a:srgbClr val="FF0000"/>
              </a:solidFill>
              <a:latin typeface="Shadows Into Light"/>
              <a:ea typeface="Shadows Into Light"/>
              <a:cs typeface="Shadows Into Light"/>
              <a:sym typeface="Shadows Into Light"/>
            </a:endParaRPr>
          </a:p>
        </p:txBody>
      </p:sp>
      <p:sp>
        <p:nvSpPr>
          <p:cNvPr id="567" name="Google Shape;567;p80"/>
          <p:cNvSpPr txBox="1"/>
          <p:nvPr/>
        </p:nvSpPr>
        <p:spPr>
          <a:xfrm>
            <a:off x="3391175" y="2068549"/>
            <a:ext cx="1788300" cy="1453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NAME</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MAX HP</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CURRENT HP</a:t>
            </a:r>
            <a:endParaRPr sz="1800" b="0" i="0" u="none" strike="noStrike" cap="none" dirty="0">
              <a:solidFill>
                <a:srgbClr val="FF0000"/>
              </a:solidFill>
              <a:latin typeface="Shadows Into Light"/>
              <a:ea typeface="Shadows Into Light"/>
              <a:cs typeface="Shadows Into Light"/>
              <a:sym typeface="Shadows Into Light"/>
            </a:endParaRPr>
          </a:p>
        </p:txBody>
      </p:sp>
      <p:sp>
        <p:nvSpPr>
          <p:cNvPr id="568" name="Google Shape;568;p80"/>
          <p:cNvSpPr txBox="1"/>
          <p:nvPr/>
        </p:nvSpPr>
        <p:spPr>
          <a:xfrm>
            <a:off x="5174425" y="2067600"/>
            <a:ext cx="1788300" cy="1453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dirty="0">
                <a:solidFill>
                  <a:srgbClr val="FF0000"/>
                </a:solidFill>
                <a:latin typeface="Shadows Into Light"/>
                <a:ea typeface="Shadows Into Light"/>
                <a:cs typeface="Shadows Into Light"/>
                <a:sym typeface="Shadows Into Light"/>
              </a:rPr>
              <a:t>MAX_HP</a:t>
            </a:r>
            <a:endParaRPr sz="1800" b="0" i="0" u="none" strike="noStrike" cap="none" dirty="0">
              <a:solidFill>
                <a:srgbClr val="FF0000"/>
              </a:solidFill>
              <a:latin typeface="Shadows Into Light"/>
              <a:ea typeface="Shadows Into Light"/>
              <a:cs typeface="Shadows Into Light"/>
              <a:sym typeface="Shadows Into Light"/>
            </a:endParaRPr>
          </a:p>
        </p:txBody>
      </p:sp>
      <p:sp>
        <p:nvSpPr>
          <p:cNvPr id="569" name="Google Shape;569;p80"/>
          <p:cNvSpPr txBox="1"/>
          <p:nvPr/>
        </p:nvSpPr>
        <p:spPr>
          <a:xfrm>
            <a:off x="6962725" y="2067600"/>
            <a:ext cx="1788300" cy="1453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dirty="0">
                <a:solidFill>
                  <a:srgbClr val="FF0000"/>
                </a:solidFill>
                <a:latin typeface="Shadows Into Light"/>
                <a:ea typeface="Shadows Into Light"/>
                <a:cs typeface="Shadows Into Light"/>
                <a:sym typeface="Shadows Into Light"/>
              </a:rPr>
              <a:t>MAX_HP</a:t>
            </a:r>
            <a:endParaRPr sz="1800" b="0" i="0" u="none" strike="noStrike" cap="none" dirty="0">
              <a:solidFill>
                <a:srgbClr val="FF0000"/>
              </a:solidFill>
              <a:latin typeface="Shadows Into Light"/>
              <a:ea typeface="Shadows Into Light"/>
              <a:cs typeface="Shadows Into Light"/>
              <a:sym typeface="Shadows Into Light"/>
            </a:endParaRPr>
          </a:p>
        </p:txBody>
      </p:sp>
      <p:sp>
        <p:nvSpPr>
          <p:cNvPr id="570" name="Google Shape;570;p80"/>
          <p:cNvSpPr txBox="1"/>
          <p:nvPr/>
        </p:nvSpPr>
        <p:spPr>
          <a:xfrm>
            <a:off x="3391175" y="3529325"/>
            <a:ext cx="1788300" cy="1453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CONSTRUCTOR</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ACCESSORS</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HEAL</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Shadows Into Light"/>
                <a:ea typeface="Shadows Into Light"/>
                <a:cs typeface="Shadows Into Light"/>
                <a:sym typeface="Shadows Into Light"/>
              </a:rPr>
              <a:t>IS CONSCIOUS</a:t>
            </a:r>
            <a:endParaRPr sz="18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0000"/>
              </a:solidFill>
              <a:latin typeface="Shadows Into Light"/>
              <a:ea typeface="Shadows Into Light"/>
              <a:cs typeface="Shadows Into Light"/>
              <a:sym typeface="Shadows Into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81"/>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 Common Goat </a:t>
            </a:r>
            <a:endParaRPr/>
          </a:p>
        </p:txBody>
      </p:sp>
      <p:sp>
        <p:nvSpPr>
          <p:cNvPr id="576" name="Google Shape;576;p81"/>
          <p:cNvSpPr txBox="1">
            <a:spLocks noGrp="1"/>
          </p:cNvSpPr>
          <p:nvPr>
            <p:ph type="body" idx="1"/>
          </p:nvPr>
        </p:nvSpPr>
        <p:spPr>
          <a:xfrm>
            <a:off x="311700" y="1505700"/>
            <a:ext cx="3999900" cy="3261000"/>
          </a:xfrm>
          <a:prstGeom prst="rect">
            <a:avLst/>
          </a:prstGeom>
          <a:noFill/>
          <a:ln>
            <a:noFill/>
          </a:ln>
        </p:spPr>
        <p:txBody>
          <a:bodyPr spcFirstLastPara="1" wrap="square" lIns="91425" tIns="91425" rIns="91425" bIns="91425" anchor="ctr" anchorCtr="0">
            <a:noAutofit/>
          </a:bodyPr>
          <a:lstStyle/>
          <a:p>
            <a:pPr marL="457200" lvl="0" indent="-311150" algn="l" rtl="0">
              <a:lnSpc>
                <a:spcPct val="115000"/>
              </a:lnSpc>
              <a:spcBef>
                <a:spcPts val="0"/>
              </a:spcBef>
              <a:spcAft>
                <a:spcPts val="0"/>
              </a:spcAft>
              <a:buSzPts val="1300"/>
              <a:buChar char="●"/>
            </a:pPr>
            <a:r>
              <a:rPr lang="en" dirty="0"/>
              <a:t>The Mage and Fighter classes share all of the same </a:t>
            </a:r>
            <a:r>
              <a:rPr lang="en" b="1" i="1" dirty="0">
                <a:solidFill>
                  <a:srgbClr val="FF0000"/>
                </a:solidFill>
              </a:rPr>
              <a:t>state</a:t>
            </a:r>
            <a:r>
              <a:rPr lang="en" dirty="0"/>
              <a:t>:</a:t>
            </a:r>
            <a:endParaRPr dirty="0"/>
          </a:p>
          <a:p>
            <a:pPr marL="914400" lvl="1" indent="-298450" algn="l" rtl="0">
              <a:lnSpc>
                <a:spcPct val="115000"/>
              </a:lnSpc>
              <a:spcBef>
                <a:spcPts val="0"/>
              </a:spcBef>
              <a:spcAft>
                <a:spcPts val="0"/>
              </a:spcAft>
              <a:buSzPts val="1100"/>
              <a:buChar char="○"/>
            </a:pPr>
            <a:r>
              <a:rPr lang="en" dirty="0">
                <a:highlight>
                  <a:srgbClr val="FFFF00"/>
                </a:highlight>
              </a:rPr>
              <a:t>Name, Max HP, Current HP</a:t>
            </a:r>
            <a:endParaRPr dirty="0">
              <a:highlight>
                <a:srgbClr val="FFFF00"/>
              </a:highlight>
            </a:endParaRPr>
          </a:p>
          <a:p>
            <a:pPr marL="457200" lvl="0" indent="-311150" algn="l" rtl="0">
              <a:lnSpc>
                <a:spcPct val="115000"/>
              </a:lnSpc>
              <a:spcBef>
                <a:spcPts val="0"/>
              </a:spcBef>
              <a:spcAft>
                <a:spcPts val="0"/>
              </a:spcAft>
              <a:buSzPts val="1300"/>
              <a:buChar char="●"/>
            </a:pPr>
            <a:r>
              <a:rPr lang="en" dirty="0"/>
              <a:t>Both classes also implement some of the exact same </a:t>
            </a:r>
            <a:r>
              <a:rPr lang="en" b="1" i="1" dirty="0">
                <a:solidFill>
                  <a:srgbClr val="FF0000"/>
                </a:solidFill>
              </a:rPr>
              <a:t>behavior</a:t>
            </a:r>
            <a:r>
              <a:rPr lang="en" dirty="0"/>
              <a:t>:</a:t>
            </a:r>
            <a:endParaRPr dirty="0"/>
          </a:p>
          <a:p>
            <a:pPr marL="914400" lvl="1" indent="-298450" algn="l" rtl="0">
              <a:lnSpc>
                <a:spcPct val="115000"/>
              </a:lnSpc>
              <a:spcBef>
                <a:spcPts val="0"/>
              </a:spcBef>
              <a:spcAft>
                <a:spcPts val="0"/>
              </a:spcAft>
              <a:buSzPts val="1100"/>
              <a:buChar char="○"/>
            </a:pPr>
            <a:r>
              <a:rPr lang="en" dirty="0"/>
              <a:t>Very similar </a:t>
            </a:r>
            <a:r>
              <a:rPr lang="en" dirty="0">
                <a:solidFill>
                  <a:srgbClr val="FF0000"/>
                </a:solidFill>
                <a:highlight>
                  <a:srgbClr val="FFFF00"/>
                </a:highlight>
              </a:rPr>
              <a:t>constructors</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solidFill>
                  <a:srgbClr val="FF0000"/>
                </a:solidFill>
                <a:highlight>
                  <a:srgbClr val="FFFF00"/>
                </a:highlight>
              </a:rPr>
              <a:t>Accessors </a:t>
            </a:r>
            <a:r>
              <a:rPr lang="en" dirty="0">
                <a:highlight>
                  <a:srgbClr val="FFFF00"/>
                </a:highlight>
              </a:rPr>
              <a:t>for name, current HP, &amp; Max HP.</a:t>
            </a:r>
            <a:endParaRPr dirty="0">
              <a:highlight>
                <a:srgbClr val="FFFF00"/>
              </a:highlight>
            </a:endParaRPr>
          </a:p>
          <a:p>
            <a:pPr marL="914400" lvl="1" indent="-298450" algn="l" rtl="0">
              <a:lnSpc>
                <a:spcPct val="115000"/>
              </a:lnSpc>
              <a:spcBef>
                <a:spcPts val="0"/>
              </a:spcBef>
              <a:spcAft>
                <a:spcPts val="0"/>
              </a:spcAft>
              <a:buSzPts val="1100"/>
              <a:buChar char="○"/>
            </a:pPr>
            <a:r>
              <a:rPr lang="en" dirty="0">
                <a:solidFill>
                  <a:srgbClr val="FF0000"/>
                </a:solidFill>
                <a:highlight>
                  <a:srgbClr val="FFFF00"/>
                </a:highlight>
              </a:rPr>
              <a:t>Methods </a:t>
            </a:r>
            <a:r>
              <a:rPr lang="en" dirty="0">
                <a:highlight>
                  <a:srgbClr val="FFFF00"/>
                </a:highlight>
              </a:rPr>
              <a:t>for healing and consciousness.</a:t>
            </a:r>
            <a:endParaRPr dirty="0">
              <a:highlight>
                <a:srgbClr val="FFFF00"/>
              </a:highlight>
            </a:endParaRPr>
          </a:p>
          <a:p>
            <a:pPr marL="457200" lvl="0" indent="-311150" algn="l" rtl="0">
              <a:lnSpc>
                <a:spcPct val="115000"/>
              </a:lnSpc>
              <a:spcBef>
                <a:spcPts val="0"/>
              </a:spcBef>
              <a:spcAft>
                <a:spcPts val="0"/>
              </a:spcAft>
              <a:buSzPts val="1300"/>
              <a:buChar char="●"/>
            </a:pPr>
            <a:r>
              <a:rPr lang="en" dirty="0">
                <a:highlight>
                  <a:srgbClr val="FFFF00"/>
                </a:highlight>
              </a:rPr>
              <a:t>We will create a class that encapsulates all of the common state and behavior so that the Mage and Fighter classes can </a:t>
            </a:r>
            <a:r>
              <a:rPr lang="en" b="1" i="1" dirty="0">
                <a:solidFill>
                  <a:srgbClr val="FF0000"/>
                </a:solidFill>
                <a:highlight>
                  <a:srgbClr val="FFFF00"/>
                </a:highlight>
              </a:rPr>
              <a:t>reuse </a:t>
            </a:r>
            <a:r>
              <a:rPr lang="en" dirty="0">
                <a:highlight>
                  <a:srgbClr val="FFFF00"/>
                </a:highlight>
              </a:rPr>
              <a:t>it.</a:t>
            </a:r>
            <a:endParaRPr dirty="0">
              <a:highlight>
                <a:srgbClr val="FFFF00"/>
              </a:highlight>
            </a:endParaRPr>
          </a:p>
          <a:p>
            <a:pPr marL="914400" lvl="1" indent="-298450" algn="l" rtl="0">
              <a:lnSpc>
                <a:spcPct val="115000"/>
              </a:lnSpc>
              <a:spcBef>
                <a:spcPts val="0"/>
              </a:spcBef>
              <a:spcAft>
                <a:spcPts val="0"/>
              </a:spcAft>
              <a:buSzPts val="1100"/>
              <a:buChar char="○"/>
            </a:pPr>
            <a:r>
              <a:rPr lang="en" dirty="0"/>
              <a:t>We'll see exactly how to do this presently.</a:t>
            </a:r>
            <a:endParaRPr dirty="0"/>
          </a:p>
          <a:p>
            <a:pPr marL="457200" lvl="0" indent="-311150" algn="l" rtl="0">
              <a:lnSpc>
                <a:spcPct val="115000"/>
              </a:lnSpc>
              <a:spcBef>
                <a:spcPts val="0"/>
              </a:spcBef>
              <a:spcAft>
                <a:spcPts val="0"/>
              </a:spcAft>
              <a:buSzPts val="1300"/>
              <a:buChar char="●"/>
            </a:pPr>
            <a:r>
              <a:rPr lang="en" dirty="0"/>
              <a:t>The process of identifying common state and behavior and putting it into a parent class is called </a:t>
            </a:r>
            <a:r>
              <a:rPr lang="en" b="1" i="1" dirty="0">
                <a:solidFill>
                  <a:srgbClr val="FF0000"/>
                </a:solidFill>
                <a:highlight>
                  <a:srgbClr val="FFFF00"/>
                </a:highlight>
              </a:rPr>
              <a:t>creating an abstraction</a:t>
            </a:r>
            <a:r>
              <a:rPr lang="en" dirty="0">
                <a:highlight>
                  <a:srgbClr val="FFFF00"/>
                </a:highlight>
              </a:rPr>
              <a:t>.</a:t>
            </a:r>
            <a:endParaRPr dirty="0">
              <a:highlight>
                <a:srgbClr val="FFFF00"/>
              </a:highlight>
            </a:endParaRPr>
          </a:p>
        </p:txBody>
      </p:sp>
      <p:sp>
        <p:nvSpPr>
          <p:cNvPr id="577" name="Google Shape;577;p8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19</a:t>
            </a:fld>
            <a:endParaRPr/>
          </a:p>
        </p:txBody>
      </p:sp>
      <p:grpSp>
        <p:nvGrpSpPr>
          <p:cNvPr id="578" name="Google Shape;578;p81"/>
          <p:cNvGrpSpPr/>
          <p:nvPr/>
        </p:nvGrpSpPr>
        <p:grpSpPr>
          <a:xfrm>
            <a:off x="5577825" y="3112241"/>
            <a:ext cx="2693989" cy="1709959"/>
            <a:chOff x="5577825" y="3112241"/>
            <a:chExt cx="2693989" cy="1709959"/>
          </a:xfrm>
        </p:grpSpPr>
        <p:pic>
          <p:nvPicPr>
            <p:cNvPr id="579" name="Google Shape;579;p81"/>
            <p:cNvPicPr preferRelativeResize="0"/>
            <p:nvPr/>
          </p:nvPicPr>
          <p:blipFill rotWithShape="1">
            <a:blip r:embed="rId3">
              <a:alphaModFix/>
            </a:blip>
            <a:srcRect/>
            <a:stretch/>
          </p:blipFill>
          <p:spPr>
            <a:xfrm>
              <a:off x="5577825" y="3112241"/>
              <a:ext cx="842974" cy="1213885"/>
            </a:xfrm>
            <a:prstGeom prst="rect">
              <a:avLst/>
            </a:prstGeom>
            <a:noFill/>
            <a:ln>
              <a:noFill/>
            </a:ln>
          </p:spPr>
        </p:pic>
        <p:pic>
          <p:nvPicPr>
            <p:cNvPr id="580" name="Google Shape;580;p81"/>
            <p:cNvPicPr preferRelativeResize="0"/>
            <p:nvPr/>
          </p:nvPicPr>
          <p:blipFill rotWithShape="1">
            <a:blip r:embed="rId4">
              <a:alphaModFix/>
            </a:blip>
            <a:srcRect/>
            <a:stretch/>
          </p:blipFill>
          <p:spPr>
            <a:xfrm>
              <a:off x="7316349" y="3112245"/>
              <a:ext cx="842974" cy="1213885"/>
            </a:xfrm>
            <a:prstGeom prst="rect">
              <a:avLst/>
            </a:prstGeom>
            <a:noFill/>
            <a:ln>
              <a:noFill/>
            </a:ln>
          </p:spPr>
        </p:pic>
        <p:sp>
          <p:nvSpPr>
            <p:cNvPr id="581" name="Google Shape;581;p81"/>
            <p:cNvSpPr txBox="1"/>
            <p:nvPr/>
          </p:nvSpPr>
          <p:spPr>
            <a:xfrm>
              <a:off x="6126372" y="4503900"/>
              <a:ext cx="1866600" cy="318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FF0000"/>
                  </a:solidFill>
                  <a:latin typeface="Shadows Into Light"/>
                  <a:ea typeface="Shadows Into Light"/>
                  <a:cs typeface="Shadows Into Light"/>
                  <a:sym typeface="Shadows Into Light"/>
                </a:rPr>
                <a:t>UNIQUE/DIFFERENT STUFF GOES HERE</a:t>
              </a:r>
              <a:endParaRPr sz="1500" b="0" i="0" u="none" strike="noStrike" cap="none">
                <a:solidFill>
                  <a:srgbClr val="FF0000"/>
                </a:solidFill>
                <a:latin typeface="Shadows Into Light"/>
                <a:ea typeface="Shadows Into Light"/>
                <a:cs typeface="Shadows Into Light"/>
                <a:sym typeface="Shadows Into Light"/>
              </a:endParaRPr>
            </a:p>
          </p:txBody>
        </p:sp>
        <p:sp>
          <p:nvSpPr>
            <p:cNvPr id="582" name="Google Shape;582;p81"/>
            <p:cNvSpPr/>
            <p:nvPr/>
          </p:nvSpPr>
          <p:spPr>
            <a:xfrm>
              <a:off x="5617384" y="4341853"/>
              <a:ext cx="464457" cy="408141"/>
            </a:xfrm>
            <a:custGeom>
              <a:avLst/>
              <a:gdLst/>
              <a:ahLst/>
              <a:cxnLst/>
              <a:rect l="l" t="t" r="r" b="b"/>
              <a:pathLst>
                <a:path w="25311" h="22242" extrusionOk="0">
                  <a:moveTo>
                    <a:pt x="25311" y="22242"/>
                  </a:moveTo>
                  <a:cubicBezTo>
                    <a:pt x="21168" y="21097"/>
                    <a:pt x="3070" y="19080"/>
                    <a:pt x="453" y="15373"/>
                  </a:cubicBezTo>
                  <a:cubicBezTo>
                    <a:pt x="-2164" y="11666"/>
                    <a:pt x="8085" y="2562"/>
                    <a:pt x="9611" y="0"/>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81"/>
            <p:cNvSpPr/>
            <p:nvPr/>
          </p:nvSpPr>
          <p:spPr>
            <a:xfrm>
              <a:off x="7922172" y="4269825"/>
              <a:ext cx="349642" cy="372138"/>
            </a:xfrm>
            <a:custGeom>
              <a:avLst/>
              <a:gdLst/>
              <a:ahLst/>
              <a:cxnLst/>
              <a:rect l="l" t="t" r="r" b="b"/>
              <a:pathLst>
                <a:path w="14393" h="20280" extrusionOk="0">
                  <a:moveTo>
                    <a:pt x="0" y="20280"/>
                  </a:moveTo>
                  <a:cubicBezTo>
                    <a:pt x="2344" y="18372"/>
                    <a:pt x="12429" y="12211"/>
                    <a:pt x="14064" y="8831"/>
                  </a:cubicBezTo>
                  <a:cubicBezTo>
                    <a:pt x="15699" y="5451"/>
                    <a:pt x="10521" y="1472"/>
                    <a:pt x="9812" y="0"/>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 name="Google Shape;584;p81"/>
          <p:cNvGrpSpPr/>
          <p:nvPr/>
        </p:nvGrpSpPr>
        <p:grpSpPr>
          <a:xfrm>
            <a:off x="5967077" y="1441100"/>
            <a:ext cx="2185200" cy="1309395"/>
            <a:chOff x="5967077" y="1441100"/>
            <a:chExt cx="2185200" cy="1309395"/>
          </a:xfrm>
        </p:grpSpPr>
        <p:pic>
          <p:nvPicPr>
            <p:cNvPr id="585" name="Google Shape;585;p81"/>
            <p:cNvPicPr preferRelativeResize="0"/>
            <p:nvPr/>
          </p:nvPicPr>
          <p:blipFill rotWithShape="1">
            <a:blip r:embed="rId5">
              <a:alphaModFix/>
            </a:blip>
            <a:srcRect t="30656"/>
            <a:stretch/>
          </p:blipFill>
          <p:spPr>
            <a:xfrm>
              <a:off x="6470652" y="1908771"/>
              <a:ext cx="842974" cy="841724"/>
            </a:xfrm>
            <a:prstGeom prst="rect">
              <a:avLst/>
            </a:prstGeom>
            <a:noFill/>
            <a:ln>
              <a:noFill/>
            </a:ln>
          </p:spPr>
        </p:pic>
        <p:sp>
          <p:nvSpPr>
            <p:cNvPr id="586" name="Google Shape;586;p81"/>
            <p:cNvSpPr txBox="1"/>
            <p:nvPr/>
          </p:nvSpPr>
          <p:spPr>
            <a:xfrm>
              <a:off x="5967077" y="1441100"/>
              <a:ext cx="2185200" cy="318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FF0000"/>
                  </a:solidFill>
                  <a:latin typeface="Shadows Into Light"/>
                  <a:ea typeface="Shadows Into Light"/>
                  <a:cs typeface="Shadows Into Light"/>
                  <a:sym typeface="Shadows Into Light"/>
                </a:rPr>
                <a:t>COMMON STUFF GOES HERE</a:t>
              </a:r>
              <a:endParaRPr sz="1300" b="0" i="0" u="none" strike="noStrike" cap="none">
                <a:solidFill>
                  <a:srgbClr val="FF0000"/>
                </a:solidFill>
                <a:latin typeface="Shadows Into Light"/>
                <a:ea typeface="Shadows Into Light"/>
                <a:cs typeface="Shadows Into Light"/>
                <a:sym typeface="Shadows Into Light"/>
              </a:endParaRPr>
            </a:p>
          </p:txBody>
        </p:sp>
        <p:sp>
          <p:nvSpPr>
            <p:cNvPr id="587" name="Google Shape;587;p81"/>
            <p:cNvSpPr/>
            <p:nvPr/>
          </p:nvSpPr>
          <p:spPr>
            <a:xfrm>
              <a:off x="6320474" y="1769384"/>
              <a:ext cx="204199" cy="402140"/>
            </a:xfrm>
            <a:custGeom>
              <a:avLst/>
              <a:gdLst/>
              <a:ahLst/>
              <a:cxnLst/>
              <a:rect l="l" t="t" r="r" b="b"/>
              <a:pathLst>
                <a:path w="11128" h="21915" extrusionOk="0">
                  <a:moveTo>
                    <a:pt x="10801" y="0"/>
                  </a:moveTo>
                  <a:cubicBezTo>
                    <a:pt x="9002" y="2780"/>
                    <a:pt x="-47" y="13030"/>
                    <a:pt x="7" y="16682"/>
                  </a:cubicBezTo>
                  <a:cubicBezTo>
                    <a:pt x="62" y="20335"/>
                    <a:pt x="9275" y="21043"/>
                    <a:pt x="11128" y="21915"/>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 name="Google Shape;588;p81"/>
          <p:cNvGrpSpPr/>
          <p:nvPr/>
        </p:nvGrpSpPr>
        <p:grpSpPr>
          <a:xfrm>
            <a:off x="5999312" y="2750441"/>
            <a:ext cx="1738524" cy="361804"/>
            <a:chOff x="5999312" y="2750441"/>
            <a:chExt cx="1738524" cy="361804"/>
          </a:xfrm>
        </p:grpSpPr>
        <p:cxnSp>
          <p:nvCxnSpPr>
            <p:cNvPr id="589" name="Google Shape;589;p81"/>
            <p:cNvCxnSpPr>
              <a:stCxn id="579" idx="0"/>
              <a:endCxn id="585" idx="2"/>
            </p:cNvCxnSpPr>
            <p:nvPr/>
          </p:nvCxnSpPr>
          <p:spPr>
            <a:xfrm rot="-5400000">
              <a:off x="6264812" y="2484941"/>
              <a:ext cx="361800" cy="892800"/>
            </a:xfrm>
            <a:prstGeom prst="bentConnector3">
              <a:avLst>
                <a:gd name="adj1" fmla="val 49992"/>
              </a:avLst>
            </a:prstGeom>
            <a:noFill/>
            <a:ln w="19050" cap="flat" cmpd="sng">
              <a:solidFill>
                <a:srgbClr val="FF0000"/>
              </a:solidFill>
              <a:prstDash val="solid"/>
              <a:round/>
              <a:headEnd type="none" w="sm" len="sm"/>
              <a:tailEnd type="triangle" w="med" len="med"/>
            </a:ln>
          </p:spPr>
        </p:cxnSp>
        <p:cxnSp>
          <p:nvCxnSpPr>
            <p:cNvPr id="590" name="Google Shape;590;p81"/>
            <p:cNvCxnSpPr>
              <a:stCxn id="580" idx="0"/>
              <a:endCxn id="585" idx="2"/>
            </p:cNvCxnSpPr>
            <p:nvPr/>
          </p:nvCxnSpPr>
          <p:spPr>
            <a:xfrm rot="5400000" flipH="1">
              <a:off x="7134086" y="2508495"/>
              <a:ext cx="361800" cy="845700"/>
            </a:xfrm>
            <a:prstGeom prst="bentConnector3">
              <a:avLst>
                <a:gd name="adj1" fmla="val 49993"/>
              </a:avLst>
            </a:prstGeom>
            <a:noFill/>
            <a:ln w="19050" cap="flat" cmpd="sng">
              <a:solidFill>
                <a:srgbClr val="FF0000"/>
              </a:solidFill>
              <a:prstDash val="solid"/>
              <a:round/>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4"/>
                                        </p:tgtEl>
                                        <p:attrNameLst>
                                          <p:attrName>style.visibility</p:attrName>
                                        </p:attrNameLst>
                                      </p:cBhvr>
                                      <p:to>
                                        <p:strVal val="visible"/>
                                      </p:to>
                                    </p:set>
                                    <p:animEffect transition="in" filter="fade">
                                      <p:cBhvr>
                                        <p:cTn id="7" dur="1000"/>
                                        <p:tgtEl>
                                          <p:spTgt spid="5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78"/>
                                        </p:tgtEl>
                                        <p:attrNameLst>
                                          <p:attrName>style.visibility</p:attrName>
                                        </p:attrNameLst>
                                      </p:cBhvr>
                                      <p:to>
                                        <p:strVal val="visible"/>
                                      </p:to>
                                    </p:set>
                                    <p:animEffect transition="in" filter="fade">
                                      <p:cBhvr>
                                        <p:cTn id="12" dur="1000"/>
                                        <p:tgtEl>
                                          <p:spTgt spid="578"/>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588"/>
                                        </p:tgtEl>
                                        <p:attrNameLst>
                                          <p:attrName>style.visibility</p:attrName>
                                        </p:attrNameLst>
                                      </p:cBhvr>
                                      <p:to>
                                        <p:strVal val="visible"/>
                                      </p:to>
                                    </p:set>
                                    <p:animEffect transition="in" filter="fade">
                                      <p:cBhvr>
                                        <p:cTn id="16" dur="1000"/>
                                        <p:tgtEl>
                                          <p:spTgt spid="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82"/>
          <p:cNvSpPr txBox="1">
            <a:spLocks noGrp="1"/>
          </p:cNvSpPr>
          <p:nvPr>
            <p:ph type="body" idx="1"/>
          </p:nvPr>
        </p:nvSpPr>
        <p:spPr>
          <a:xfrm>
            <a:off x="65250" y="731625"/>
            <a:ext cx="8955900" cy="1239283"/>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highlight>
                  <a:srgbClr val="FFFF00"/>
                </a:highlight>
              </a:rPr>
              <a:t>Inheritance allows one class to reuse the accessible state and behavior defined by another class so that we don't need to copy-and-paste it in multiple places. </a:t>
            </a:r>
            <a:r>
              <a:rPr lang="en" dirty="0"/>
              <a:t>Let's create a new Goat class that contains all of the common attributes of the Mage and Fighter classes.</a:t>
            </a:r>
            <a:endParaRPr dirty="0"/>
          </a:p>
        </p:txBody>
      </p:sp>
      <p:sp>
        <p:nvSpPr>
          <p:cNvPr id="596" name="Google Shape;596;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597" name="Google Shape;597;p82"/>
          <p:cNvSpPr txBox="1">
            <a:spLocks noGrp="1"/>
          </p:cNvSpPr>
          <p:nvPr>
            <p:ph type="body" idx="2"/>
          </p:nvPr>
        </p:nvSpPr>
        <p:spPr>
          <a:xfrm>
            <a:off x="2898550" y="1860725"/>
            <a:ext cx="6042600" cy="2591448"/>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Create a new Java class named "</a:t>
            </a:r>
            <a:r>
              <a:rPr lang="en" sz="1600" dirty="0">
                <a:solidFill>
                  <a:srgbClr val="FF0000"/>
                </a:solidFill>
                <a:latin typeface="Courier New"/>
                <a:ea typeface="Courier New"/>
                <a:cs typeface="Courier New"/>
                <a:sym typeface="Courier New"/>
              </a:rPr>
              <a:t>Goat</a:t>
            </a:r>
            <a:r>
              <a:rPr lang="en" sz="1600" dirty="0"/>
              <a:t>" and use it to encapsulate all of the common state and behavior between your two existing goat classes.</a:t>
            </a:r>
            <a:endParaRPr sz="1600" dirty="0"/>
          </a:p>
          <a:p>
            <a:pPr marL="914400" lvl="1" indent="-317500" algn="l" rtl="0">
              <a:spcBef>
                <a:spcPts val="0"/>
              </a:spcBef>
              <a:spcAft>
                <a:spcPts val="0"/>
              </a:spcAft>
              <a:buSzPts val="1400"/>
              <a:buChar char="○"/>
            </a:pPr>
            <a:r>
              <a:rPr lang="en" sz="1400" b="1" i="1" dirty="0">
                <a:solidFill>
                  <a:srgbClr val="FF0000"/>
                </a:solidFill>
              </a:rPr>
              <a:t>Copy/paste</a:t>
            </a:r>
            <a:r>
              <a:rPr lang="en" sz="1400" dirty="0"/>
              <a:t> all of the code from one of the two goat classes.</a:t>
            </a:r>
            <a:endParaRPr sz="1400" dirty="0"/>
          </a:p>
          <a:p>
            <a:pPr marL="914400" lvl="1" indent="-317500" algn="l" rtl="0">
              <a:spcBef>
                <a:spcPts val="0"/>
              </a:spcBef>
              <a:spcAft>
                <a:spcPts val="0"/>
              </a:spcAft>
              <a:buSzPts val="1400"/>
              <a:buChar char="○"/>
            </a:pPr>
            <a:r>
              <a:rPr lang="en" sz="1400" dirty="0"/>
              <a:t>Update the name of the constructor.</a:t>
            </a:r>
            <a:endParaRPr sz="1400" dirty="0"/>
          </a:p>
          <a:p>
            <a:pPr marL="457200" lvl="0" indent="-330200" algn="l" rtl="0">
              <a:spcBef>
                <a:spcPts val="0"/>
              </a:spcBef>
              <a:spcAft>
                <a:spcPts val="0"/>
              </a:spcAft>
              <a:buSzPts val="1600"/>
              <a:buChar char="●"/>
            </a:pPr>
            <a:r>
              <a:rPr lang="en" sz="1600" dirty="0"/>
              <a:t>How should you handle the </a:t>
            </a:r>
            <a:r>
              <a:rPr lang="en" sz="1600" b="1" i="1" dirty="0">
                <a:solidFill>
                  <a:srgbClr val="FF0000"/>
                </a:solidFill>
                <a:highlight>
                  <a:srgbClr val="FFFF00"/>
                </a:highlight>
              </a:rPr>
              <a:t>attack</a:t>
            </a:r>
            <a:r>
              <a:rPr lang="en" sz="1600" dirty="0">
                <a:solidFill>
                  <a:srgbClr val="FF0000"/>
                </a:solidFill>
              </a:rPr>
              <a:t> </a:t>
            </a:r>
            <a:r>
              <a:rPr lang="en" sz="1600" dirty="0"/>
              <a:t>and </a:t>
            </a:r>
            <a:r>
              <a:rPr lang="en" sz="1600" b="1" i="1" dirty="0">
                <a:solidFill>
                  <a:srgbClr val="FF0000"/>
                </a:solidFill>
                <a:highlight>
                  <a:srgbClr val="FFFF00"/>
                </a:highlight>
              </a:rPr>
              <a:t>take damage</a:t>
            </a:r>
            <a:r>
              <a:rPr lang="en" sz="1600" dirty="0">
                <a:solidFill>
                  <a:srgbClr val="FF0000"/>
                </a:solidFill>
              </a:rPr>
              <a:t> </a:t>
            </a:r>
            <a:r>
              <a:rPr lang="en" sz="1600" dirty="0"/>
              <a:t>methods?</a:t>
            </a:r>
            <a:endParaRPr sz="1600" dirty="0"/>
          </a:p>
          <a:p>
            <a:pPr marL="914400" lvl="1" indent="-317500" algn="l" rtl="0">
              <a:spcBef>
                <a:spcPts val="0"/>
              </a:spcBef>
              <a:spcAft>
                <a:spcPts val="0"/>
              </a:spcAft>
              <a:buSzPts val="1400"/>
              <a:buChar char="○"/>
            </a:pPr>
            <a:r>
              <a:rPr lang="en" sz="1400" dirty="0">
                <a:highlight>
                  <a:srgbClr val="FFFF00"/>
                </a:highlight>
              </a:rPr>
              <a:t>All goats </a:t>
            </a:r>
            <a:r>
              <a:rPr lang="en" sz="1400" b="1" i="1" dirty="0">
                <a:solidFill>
                  <a:srgbClr val="FF0000"/>
                </a:solidFill>
                <a:highlight>
                  <a:srgbClr val="FFFF00"/>
                </a:highlight>
              </a:rPr>
              <a:t>need</a:t>
            </a:r>
            <a:r>
              <a:rPr lang="en" sz="1400" dirty="0">
                <a:solidFill>
                  <a:srgbClr val="FF0000"/>
                </a:solidFill>
                <a:highlight>
                  <a:srgbClr val="FFFF00"/>
                </a:highlight>
              </a:rPr>
              <a:t> </a:t>
            </a:r>
            <a:r>
              <a:rPr lang="en" sz="1400" dirty="0">
                <a:highlight>
                  <a:srgbClr val="FFFF00"/>
                </a:highlight>
              </a:rPr>
              <a:t>both of these methods.</a:t>
            </a:r>
            <a:endParaRPr sz="1400" dirty="0">
              <a:highlight>
                <a:srgbClr val="FFFF00"/>
              </a:highlight>
            </a:endParaRPr>
          </a:p>
          <a:p>
            <a:pPr marL="914400" lvl="1" indent="-317500" algn="l" rtl="0">
              <a:spcBef>
                <a:spcPts val="0"/>
              </a:spcBef>
              <a:spcAft>
                <a:spcPts val="0"/>
              </a:spcAft>
              <a:buSzPts val="1400"/>
              <a:buChar char="○"/>
            </a:pPr>
            <a:r>
              <a:rPr lang="en" sz="1400" dirty="0"/>
              <a:t>But there is no common implementation.</a:t>
            </a:r>
            <a:endParaRPr sz="1400" dirty="0"/>
          </a:p>
        </p:txBody>
      </p:sp>
      <p:sp>
        <p:nvSpPr>
          <p:cNvPr id="598" name="Google Shape;598;p8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Common Goat</a:t>
            </a:r>
            <a:endParaRPr/>
          </a:p>
        </p:txBody>
      </p:sp>
      <p:sp>
        <p:nvSpPr>
          <p:cNvPr id="599" name="Google Shape;599;p8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3.10</a:t>
            </a:r>
            <a:endParaRPr/>
          </a:p>
        </p:txBody>
      </p:sp>
      <p:pic>
        <p:nvPicPr>
          <p:cNvPr id="600" name="Google Shape;600;p82"/>
          <p:cNvPicPr preferRelativeResize="0"/>
          <p:nvPr/>
        </p:nvPicPr>
        <p:blipFill rotWithShape="1">
          <a:blip r:embed="rId3">
            <a:alphaModFix/>
          </a:blip>
          <a:srcRect/>
          <a:stretch/>
        </p:blipFill>
        <p:spPr>
          <a:xfrm>
            <a:off x="1361425" y="2258453"/>
            <a:ext cx="1033850" cy="1488723"/>
          </a:xfrm>
          <a:prstGeom prst="rect">
            <a:avLst/>
          </a:prstGeom>
          <a:noFill/>
          <a:ln>
            <a:noFill/>
          </a:ln>
        </p:spPr>
      </p:pic>
      <p:pic>
        <p:nvPicPr>
          <p:cNvPr id="601" name="Google Shape;601;p82"/>
          <p:cNvPicPr preferRelativeResize="0"/>
          <p:nvPr/>
        </p:nvPicPr>
        <p:blipFill rotWithShape="1">
          <a:blip r:embed="rId4">
            <a:alphaModFix/>
          </a:blip>
          <a:srcRect/>
          <a:stretch/>
        </p:blipFill>
        <p:spPr>
          <a:xfrm>
            <a:off x="377550" y="2883440"/>
            <a:ext cx="1033850" cy="1488735"/>
          </a:xfrm>
          <a:prstGeom prst="rect">
            <a:avLst/>
          </a:prstGeom>
          <a:noFill/>
          <a:ln>
            <a:noFill/>
          </a:ln>
        </p:spPr>
      </p:pic>
      <p:pic>
        <p:nvPicPr>
          <p:cNvPr id="602" name="Google Shape;602;p82"/>
          <p:cNvPicPr preferRelativeResize="0"/>
          <p:nvPr/>
        </p:nvPicPr>
        <p:blipFill rotWithShape="1">
          <a:blip r:embed="rId5">
            <a:alphaModFix/>
          </a:blip>
          <a:srcRect/>
          <a:stretch/>
        </p:blipFill>
        <p:spPr>
          <a:xfrm>
            <a:off x="327575" y="1550909"/>
            <a:ext cx="1033850" cy="1488741"/>
          </a:xfrm>
          <a:prstGeom prst="rect">
            <a:avLst/>
          </a:prstGeom>
          <a:noFill/>
          <a:ln>
            <a:noFill/>
          </a:ln>
        </p:spPr>
      </p:pic>
      <p:sp>
        <p:nvSpPr>
          <p:cNvPr id="603" name="Google Shape;603;p82"/>
          <p:cNvSpPr txBox="1"/>
          <p:nvPr/>
        </p:nvSpPr>
        <p:spPr>
          <a:xfrm>
            <a:off x="197000" y="4505150"/>
            <a:ext cx="2529900" cy="497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Not all heroes wear capes. And not all goats wear hats.</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83"/>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21</a:t>
            </a:fld>
            <a:endParaRPr/>
          </a:p>
        </p:txBody>
      </p:sp>
      <p:sp>
        <p:nvSpPr>
          <p:cNvPr id="609" name="Google Shape;609;p83"/>
          <p:cNvSpPr txBox="1">
            <a:spLocks noGrp="1"/>
          </p:cNvSpPr>
          <p:nvPr>
            <p:ph type="title"/>
          </p:nvPr>
        </p:nvSpPr>
        <p:spPr>
          <a:xfrm>
            <a:off x="5264725" y="119925"/>
            <a:ext cx="3706500" cy="522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a:t>Inheritance</a:t>
            </a:r>
            <a:endParaRPr sz="1800"/>
          </a:p>
        </p:txBody>
      </p:sp>
      <p:sp>
        <p:nvSpPr>
          <p:cNvPr id="610" name="Google Shape;610;p83"/>
          <p:cNvSpPr txBox="1">
            <a:spLocks noGrp="1"/>
          </p:cNvSpPr>
          <p:nvPr>
            <p:ph type="body" idx="1"/>
          </p:nvPr>
        </p:nvSpPr>
        <p:spPr>
          <a:xfrm>
            <a:off x="0" y="272325"/>
            <a:ext cx="4788900" cy="4432200"/>
          </a:xfrm>
          <a:prstGeom prst="rect">
            <a:avLst/>
          </a:prstGeom>
          <a:noFill/>
          <a:ln>
            <a:noFill/>
          </a:ln>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dirty="0"/>
              <a:t>A child class </a:t>
            </a:r>
            <a:r>
              <a:rPr lang="en" b="1" i="1" dirty="0">
                <a:solidFill>
                  <a:srgbClr val="FF0000"/>
                </a:solidFill>
                <a:highlight>
                  <a:srgbClr val="FFFF00"/>
                </a:highlight>
              </a:rPr>
              <a:t>inherits</a:t>
            </a:r>
            <a:r>
              <a:rPr lang="en" dirty="0">
                <a:solidFill>
                  <a:srgbClr val="FF0000"/>
                </a:solidFill>
                <a:highlight>
                  <a:srgbClr val="FFFF00"/>
                </a:highlight>
              </a:rPr>
              <a:t> </a:t>
            </a:r>
            <a:r>
              <a:rPr lang="en" dirty="0">
                <a:highlight>
                  <a:srgbClr val="FFFF00"/>
                </a:highlight>
              </a:rPr>
              <a:t>the </a:t>
            </a:r>
            <a:r>
              <a:rPr lang="en" b="1" i="1" dirty="0">
                <a:solidFill>
                  <a:srgbClr val="FF0000"/>
                </a:solidFill>
                <a:highlight>
                  <a:srgbClr val="FFFF00"/>
                </a:highlight>
              </a:rPr>
              <a:t>accessible</a:t>
            </a:r>
            <a:r>
              <a:rPr lang="en" dirty="0">
                <a:solidFill>
                  <a:srgbClr val="FF0000"/>
                </a:solidFill>
                <a:highlight>
                  <a:srgbClr val="FFFF00"/>
                </a:highlight>
              </a:rPr>
              <a:t> </a:t>
            </a:r>
            <a:r>
              <a:rPr lang="en" dirty="0">
                <a:highlight>
                  <a:srgbClr val="FFFF00"/>
                </a:highlight>
              </a:rPr>
              <a:t>state and behavior of its </a:t>
            </a:r>
            <a:r>
              <a:rPr lang="en" b="1" i="1" dirty="0">
                <a:solidFill>
                  <a:srgbClr val="FF0000"/>
                </a:solidFill>
                <a:highlight>
                  <a:srgbClr val="FFFF00"/>
                </a:highlight>
              </a:rPr>
              <a:t>parent class</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b="1" i="1" dirty="0">
                <a:solidFill>
                  <a:srgbClr val="FF0000"/>
                </a:solidFill>
                <a:highlight>
                  <a:srgbClr val="FFFF00"/>
                </a:highlight>
              </a:rPr>
              <a:t>Private</a:t>
            </a:r>
            <a:r>
              <a:rPr lang="en" dirty="0">
                <a:solidFill>
                  <a:srgbClr val="FF0000"/>
                </a:solidFill>
                <a:highlight>
                  <a:srgbClr val="FFFF00"/>
                </a:highlight>
              </a:rPr>
              <a:t> </a:t>
            </a:r>
            <a:r>
              <a:rPr lang="en" dirty="0">
                <a:highlight>
                  <a:srgbClr val="FFFF00"/>
                </a:highlight>
              </a:rPr>
              <a:t>members are not inherited.</a:t>
            </a:r>
            <a:endParaRPr dirty="0">
              <a:highlight>
                <a:srgbClr val="FFFF00"/>
              </a:highlight>
            </a:endParaRPr>
          </a:p>
          <a:p>
            <a:pPr marL="914400" lvl="1" indent="-298450" algn="l" rtl="0">
              <a:lnSpc>
                <a:spcPct val="100000"/>
              </a:lnSpc>
              <a:spcBef>
                <a:spcPts val="0"/>
              </a:spcBef>
              <a:spcAft>
                <a:spcPts val="0"/>
              </a:spcAft>
              <a:buSzPts val="1100"/>
              <a:buChar char="○"/>
            </a:pPr>
            <a:r>
              <a:rPr lang="en" dirty="0"/>
              <a:t>Child classes </a:t>
            </a:r>
            <a:r>
              <a:rPr lang="en" b="1" i="1" dirty="0">
                <a:solidFill>
                  <a:srgbClr val="FF0000"/>
                </a:solidFill>
              </a:rPr>
              <a:t>do</a:t>
            </a:r>
            <a:r>
              <a:rPr lang="en" dirty="0">
                <a:solidFill>
                  <a:srgbClr val="FF0000"/>
                </a:solidFill>
              </a:rPr>
              <a:t> </a:t>
            </a:r>
            <a:r>
              <a:rPr lang="en" dirty="0"/>
              <a:t>inherit </a:t>
            </a:r>
            <a:r>
              <a:rPr lang="en" b="1" i="1" dirty="0">
                <a:solidFill>
                  <a:srgbClr val="FF0000"/>
                </a:solidFill>
              </a:rPr>
              <a:t>protected</a:t>
            </a:r>
            <a:r>
              <a:rPr lang="en" dirty="0">
                <a:solidFill>
                  <a:srgbClr val="FF0000"/>
                </a:solidFill>
              </a:rPr>
              <a:t> </a:t>
            </a:r>
            <a:r>
              <a:rPr lang="en" dirty="0"/>
              <a:t>members.</a:t>
            </a:r>
            <a:endParaRPr dirty="0"/>
          </a:p>
          <a:p>
            <a:pPr marL="914400" lvl="1" indent="-298450" algn="l" rtl="0">
              <a:lnSpc>
                <a:spcPct val="100000"/>
              </a:lnSpc>
              <a:spcBef>
                <a:spcPts val="0"/>
              </a:spcBef>
              <a:spcAft>
                <a:spcPts val="0"/>
              </a:spcAft>
              <a:buSzPts val="1100"/>
              <a:buChar char="○"/>
            </a:pPr>
            <a:r>
              <a:rPr lang="en" b="1" i="1" dirty="0">
                <a:solidFill>
                  <a:srgbClr val="FF0000"/>
                </a:solidFill>
                <a:highlight>
                  <a:srgbClr val="FFFF00"/>
                </a:highlight>
              </a:rPr>
              <a:t>Constructors</a:t>
            </a:r>
            <a:r>
              <a:rPr lang="en" dirty="0">
                <a:solidFill>
                  <a:srgbClr val="FF0000"/>
                </a:solidFill>
                <a:highlight>
                  <a:srgbClr val="FFFF00"/>
                </a:highlight>
              </a:rPr>
              <a:t> </a:t>
            </a:r>
            <a:r>
              <a:rPr lang="en" dirty="0">
                <a:highlight>
                  <a:srgbClr val="FFFF00"/>
                </a:highlight>
              </a:rPr>
              <a:t>are </a:t>
            </a:r>
            <a:r>
              <a:rPr lang="en" b="1" i="1" dirty="0">
                <a:solidFill>
                  <a:srgbClr val="FF0000"/>
                </a:solidFill>
                <a:highlight>
                  <a:srgbClr val="FFFF00"/>
                </a:highlight>
              </a:rPr>
              <a:t>not</a:t>
            </a:r>
            <a:r>
              <a:rPr lang="en" dirty="0">
                <a:solidFill>
                  <a:srgbClr val="FF0000"/>
                </a:solidFill>
                <a:highlight>
                  <a:srgbClr val="FFFF00"/>
                </a:highlight>
              </a:rPr>
              <a:t> </a:t>
            </a:r>
            <a:r>
              <a:rPr lang="en" dirty="0">
                <a:highlight>
                  <a:srgbClr val="FFFF00"/>
                </a:highlight>
              </a:rPr>
              <a:t>inherited. The child class must define its own.</a:t>
            </a:r>
            <a:endParaRPr dirty="0">
              <a:highlight>
                <a:srgbClr val="FFFF00"/>
              </a:highlight>
            </a:endParaRPr>
          </a:p>
          <a:p>
            <a:pPr marL="457200" lvl="0" indent="-311150" algn="l" rtl="0">
              <a:lnSpc>
                <a:spcPct val="100000"/>
              </a:lnSpc>
              <a:spcBef>
                <a:spcPts val="0"/>
              </a:spcBef>
              <a:spcAft>
                <a:spcPts val="0"/>
              </a:spcAft>
              <a:buSzPts val="1300"/>
              <a:buChar char="●"/>
            </a:pPr>
            <a:r>
              <a:rPr lang="en" dirty="0"/>
              <a:t>This means that an instance of the child class can reuse the state and behavior in its parent.</a:t>
            </a:r>
            <a:endParaRPr dirty="0"/>
          </a:p>
          <a:p>
            <a:pPr marL="914400" lvl="1" indent="-298450" algn="l" rtl="0">
              <a:lnSpc>
                <a:spcPct val="100000"/>
              </a:lnSpc>
              <a:spcBef>
                <a:spcPts val="0"/>
              </a:spcBef>
              <a:spcAft>
                <a:spcPts val="0"/>
              </a:spcAft>
              <a:buSzPts val="1100"/>
              <a:buChar char="○"/>
            </a:pPr>
            <a:r>
              <a:rPr lang="en" dirty="0"/>
              <a:t>This includes </a:t>
            </a:r>
            <a:r>
              <a:rPr lang="en" b="1" i="1" dirty="0">
                <a:solidFill>
                  <a:srgbClr val="FF0000"/>
                </a:solidFill>
              </a:rPr>
              <a:t>accessible</a:t>
            </a:r>
            <a:r>
              <a:rPr lang="en" dirty="0"/>
              <a:t> fields in the parent class.</a:t>
            </a:r>
            <a:endParaRPr dirty="0"/>
          </a:p>
          <a:p>
            <a:pPr marL="914400" lvl="1" indent="-298450" algn="l" rtl="0">
              <a:lnSpc>
                <a:spcPct val="100000"/>
              </a:lnSpc>
              <a:spcBef>
                <a:spcPts val="0"/>
              </a:spcBef>
              <a:spcAft>
                <a:spcPts val="0"/>
              </a:spcAft>
              <a:buSzPts val="1100"/>
              <a:buChar char="○"/>
            </a:pPr>
            <a:r>
              <a:rPr lang="en" dirty="0"/>
              <a:t>This also includes any </a:t>
            </a:r>
            <a:r>
              <a:rPr lang="en" b="1" i="1" dirty="0">
                <a:solidFill>
                  <a:srgbClr val="FF0000"/>
                </a:solidFill>
              </a:rPr>
              <a:t>accessible</a:t>
            </a:r>
            <a:r>
              <a:rPr lang="en" dirty="0"/>
              <a:t> methods in the parent class.</a:t>
            </a:r>
            <a:endParaRPr dirty="0"/>
          </a:p>
          <a:p>
            <a:pPr marL="457200" lvl="0" indent="-311150" algn="l" rtl="0">
              <a:lnSpc>
                <a:spcPct val="100000"/>
              </a:lnSpc>
              <a:spcBef>
                <a:spcPts val="0"/>
              </a:spcBef>
              <a:spcAft>
                <a:spcPts val="0"/>
              </a:spcAft>
              <a:buSzPts val="1300"/>
              <a:buChar char="●"/>
            </a:pPr>
            <a:r>
              <a:rPr lang="en" dirty="0"/>
              <a:t>Inherited state and behavior can be accessed </a:t>
            </a:r>
            <a:r>
              <a:rPr lang="en" b="1" i="1" dirty="0">
                <a:solidFill>
                  <a:srgbClr val="FF0000"/>
                </a:solidFill>
              </a:rPr>
              <a:t>through the child</a:t>
            </a:r>
            <a:r>
              <a:rPr lang="en" dirty="0"/>
              <a:t> using </a:t>
            </a:r>
            <a:r>
              <a:rPr lang="en" dirty="0">
                <a:highlight>
                  <a:srgbClr val="FFFF00"/>
                </a:highlight>
              </a:rPr>
              <a:t>dot notation.</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This also means that an instance of the</a:t>
            </a:r>
            <a:r>
              <a:rPr lang="en" dirty="0">
                <a:highlight>
                  <a:srgbClr val="FFFF00"/>
                </a:highlight>
              </a:rPr>
              <a:t> child class can be used anywhere the parent is expected.</a:t>
            </a:r>
            <a:endParaRPr dirty="0">
              <a:highlight>
                <a:srgbClr val="FFFF00"/>
              </a:highlight>
            </a:endParaRPr>
          </a:p>
          <a:p>
            <a:pPr marL="914400" lvl="1" indent="-298450" algn="l" rtl="0">
              <a:lnSpc>
                <a:spcPct val="100000"/>
              </a:lnSpc>
              <a:spcBef>
                <a:spcPts val="0"/>
              </a:spcBef>
              <a:spcAft>
                <a:spcPts val="0"/>
              </a:spcAft>
              <a:buSzPts val="1100"/>
              <a:buChar char="○"/>
            </a:pPr>
            <a:r>
              <a:rPr lang="en" dirty="0"/>
              <a:t>For example, an instance of the </a:t>
            </a:r>
            <a:r>
              <a:rPr lang="en" b="1" i="1" dirty="0">
                <a:solidFill>
                  <a:srgbClr val="FF0000"/>
                </a:solidFill>
                <a:highlight>
                  <a:srgbClr val="FFFF00"/>
                </a:highlight>
              </a:rPr>
              <a:t>child class </a:t>
            </a:r>
            <a:r>
              <a:rPr lang="en" dirty="0">
                <a:highlight>
                  <a:srgbClr val="FFFF00"/>
                </a:highlight>
              </a:rPr>
              <a:t>may be passed as an argument to a method that declares a parameter of its </a:t>
            </a:r>
            <a:r>
              <a:rPr lang="en" b="1" i="1" dirty="0">
                <a:solidFill>
                  <a:srgbClr val="FF0000"/>
                </a:solidFill>
                <a:highlight>
                  <a:srgbClr val="FFFF00"/>
                </a:highlight>
              </a:rPr>
              <a:t>parent's type</a:t>
            </a:r>
            <a:r>
              <a:rPr lang="en" dirty="0"/>
              <a:t>. Code inside the method can use </a:t>
            </a:r>
            <a:r>
              <a:rPr lang="en" b="1" i="1" dirty="0">
                <a:solidFill>
                  <a:srgbClr val="FF0000"/>
                </a:solidFill>
              </a:rPr>
              <a:t>any </a:t>
            </a:r>
            <a:r>
              <a:rPr lang="en" dirty="0"/>
              <a:t>of the state and behavior defined by the </a:t>
            </a:r>
            <a:r>
              <a:rPr lang="en" b="1" i="1" dirty="0">
                <a:solidFill>
                  <a:srgbClr val="FF0000"/>
                </a:solidFill>
              </a:rPr>
              <a:t>parent</a:t>
            </a:r>
            <a:r>
              <a:rPr lang="en" dirty="0"/>
              <a:t>.</a:t>
            </a:r>
            <a:endParaRPr dirty="0"/>
          </a:p>
          <a:p>
            <a:pPr marL="914400" lvl="1" indent="-298450" algn="l" rtl="0">
              <a:lnSpc>
                <a:spcPct val="100000"/>
              </a:lnSpc>
              <a:spcBef>
                <a:spcPts val="0"/>
              </a:spcBef>
              <a:spcAft>
                <a:spcPts val="0"/>
              </a:spcAft>
              <a:buSzPts val="1100"/>
              <a:buChar char="○"/>
            </a:pPr>
            <a:r>
              <a:rPr lang="en" dirty="0">
                <a:highlight>
                  <a:srgbClr val="FFFF00"/>
                </a:highlight>
              </a:rPr>
              <a:t>This is a core object-oriented concept known as </a:t>
            </a:r>
            <a:r>
              <a:rPr lang="en" b="1" i="1" dirty="0">
                <a:solidFill>
                  <a:srgbClr val="FF0000"/>
                </a:solidFill>
                <a:highlight>
                  <a:srgbClr val="FFFF00"/>
                </a:highlight>
              </a:rPr>
              <a:t>polymorphism</a:t>
            </a:r>
            <a:r>
              <a:rPr lang="en" dirty="0">
                <a:highlight>
                  <a:srgbClr val="FFFF00"/>
                </a:highlight>
              </a:rPr>
              <a:t>.</a:t>
            </a:r>
            <a:endParaRPr dirty="0">
              <a:highlight>
                <a:srgbClr val="FFFF00"/>
              </a:highlight>
            </a:endParaRPr>
          </a:p>
          <a:p>
            <a:pPr marL="457200" lvl="0" indent="-311150" algn="l" rtl="0">
              <a:lnSpc>
                <a:spcPct val="100000"/>
              </a:lnSpc>
              <a:spcBef>
                <a:spcPts val="0"/>
              </a:spcBef>
              <a:spcAft>
                <a:spcPts val="0"/>
              </a:spcAft>
              <a:buSzPts val="1300"/>
              <a:buChar char="●"/>
            </a:pPr>
            <a:r>
              <a:rPr lang="en" dirty="0"/>
              <a:t>In Java</a:t>
            </a:r>
            <a:r>
              <a:rPr lang="en" dirty="0">
                <a:highlight>
                  <a:srgbClr val="FFFF00"/>
                </a:highlight>
              </a:rPr>
              <a:t>, a child class uses </a:t>
            </a:r>
            <a:r>
              <a:rPr lang="en" dirty="0">
                <a:solidFill>
                  <a:srgbClr val="FF0000"/>
                </a:solidFill>
                <a:highlight>
                  <a:srgbClr val="FFFF00"/>
                </a:highlight>
                <a:latin typeface="Courier New"/>
                <a:ea typeface="Courier New"/>
                <a:cs typeface="Courier New"/>
                <a:sym typeface="Courier New"/>
              </a:rPr>
              <a:t>extends</a:t>
            </a:r>
            <a:r>
              <a:rPr lang="en" dirty="0">
                <a:highlight>
                  <a:srgbClr val="FFFF00"/>
                </a:highlight>
              </a:rPr>
              <a:t> to establish an inheritance relationship with a parent class.</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e.g. </a:t>
            </a:r>
            <a:r>
              <a:rPr lang="en" dirty="0">
                <a:solidFill>
                  <a:srgbClr val="FF0000"/>
                </a:solidFill>
                <a:highlight>
                  <a:srgbClr val="FFFF00"/>
                </a:highlight>
                <a:latin typeface="Courier New"/>
                <a:ea typeface="Courier New"/>
                <a:cs typeface="Courier New"/>
                <a:sym typeface="Courier New"/>
              </a:rPr>
              <a:t>public class Child extends Parent</a:t>
            </a:r>
            <a:endParaRPr dirty="0">
              <a:solidFill>
                <a:srgbClr val="FF0000"/>
              </a:solidFill>
              <a:highlight>
                <a:srgbClr val="FFFF00"/>
              </a:highlight>
              <a:latin typeface="Courier New"/>
              <a:ea typeface="Courier New"/>
              <a:cs typeface="Courier New"/>
              <a:sym typeface="Courier New"/>
            </a:endParaRPr>
          </a:p>
        </p:txBody>
      </p:sp>
      <p:sp>
        <p:nvSpPr>
          <p:cNvPr id="611" name="Google Shape;611;p83"/>
          <p:cNvSpPr txBox="1">
            <a:spLocks noGrp="1"/>
          </p:cNvSpPr>
          <p:nvPr>
            <p:ph type="body" idx="3"/>
          </p:nvPr>
        </p:nvSpPr>
        <p:spPr>
          <a:xfrm>
            <a:off x="5192225" y="3874695"/>
            <a:ext cx="3706500" cy="1084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Remember, arrows in UML indicate the direction of dependency. Because the child depends on the parent (and not the other way around), inheritance in UML is depicted with a </a:t>
            </a:r>
            <a:r>
              <a:rPr lang="en" sz="1200" b="1" i="1">
                <a:solidFill>
                  <a:srgbClr val="FF0000"/>
                </a:solidFill>
              </a:rPr>
              <a:t>closed arrow</a:t>
            </a:r>
            <a:r>
              <a:rPr lang="en" sz="1200"/>
              <a:t> (that is not filled) that points </a:t>
            </a:r>
            <a:r>
              <a:rPr lang="en" sz="1200" b="1" i="1">
                <a:solidFill>
                  <a:srgbClr val="FF0000"/>
                </a:solidFill>
              </a:rPr>
              <a:t>from the child to the parent</a:t>
            </a:r>
            <a:r>
              <a:rPr lang="en" sz="1200"/>
              <a:t>.</a:t>
            </a:r>
            <a:endParaRPr sz="1200"/>
          </a:p>
        </p:txBody>
      </p:sp>
      <p:graphicFrame>
        <p:nvGraphicFramePr>
          <p:cNvPr id="612" name="Google Shape;612;p83"/>
          <p:cNvGraphicFramePr/>
          <p:nvPr/>
        </p:nvGraphicFramePr>
        <p:xfrm>
          <a:off x="6236050" y="721710"/>
          <a:ext cx="1618850" cy="1097190"/>
        </p:xfrm>
        <a:graphic>
          <a:graphicData uri="http://schemas.openxmlformats.org/drawingml/2006/table">
            <a:tbl>
              <a:tblPr>
                <a:noFill/>
                <a:tableStyleId>{7F442979-C056-43AA-83C6-67E564C60A4D}</a:tableStyleId>
              </a:tblPr>
              <a:tblGrid>
                <a:gridCol w="1618850">
                  <a:extLst>
                    <a:ext uri="{9D8B030D-6E8A-4147-A177-3AD203B41FA5}">
                      <a16:colId xmlns:a16="http://schemas.microsoft.com/office/drawing/2014/main" val="20000"/>
                    </a:ext>
                  </a:extLst>
                </a:gridCol>
              </a:tblGrid>
              <a:tr h="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Consolas"/>
                          <a:ea typeface="Consolas"/>
                          <a:cs typeface="Consolas"/>
                          <a:sym typeface="Consolas"/>
                        </a:rPr>
                        <a:t>Parent</a:t>
                      </a:r>
                      <a:endParaRPr sz="12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Consolas"/>
                          <a:ea typeface="Consolas"/>
                          <a:cs typeface="Consolas"/>
                          <a:sym typeface="Consolas"/>
                        </a:rPr>
                        <a:t>- fields</a:t>
                      </a:r>
                      <a:endParaRPr sz="12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Consolas"/>
                          <a:ea typeface="Consolas"/>
                          <a:cs typeface="Consolas"/>
                          <a:sym typeface="Consolas"/>
                        </a:rPr>
                        <a:t>+ methods</a:t>
                      </a:r>
                      <a:endParaRPr sz="12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aphicFrame>
        <p:nvGraphicFramePr>
          <p:cNvPr id="613" name="Google Shape;613;p83"/>
          <p:cNvGraphicFramePr/>
          <p:nvPr/>
        </p:nvGraphicFramePr>
        <p:xfrm>
          <a:off x="6236050" y="2626710"/>
          <a:ext cx="1618850" cy="1097190"/>
        </p:xfrm>
        <a:graphic>
          <a:graphicData uri="http://schemas.openxmlformats.org/drawingml/2006/table">
            <a:tbl>
              <a:tblPr>
                <a:noFill/>
                <a:tableStyleId>{7F442979-C056-43AA-83C6-67E564C60A4D}</a:tableStyleId>
              </a:tblPr>
              <a:tblGrid>
                <a:gridCol w="1618850">
                  <a:extLst>
                    <a:ext uri="{9D8B030D-6E8A-4147-A177-3AD203B41FA5}">
                      <a16:colId xmlns:a16="http://schemas.microsoft.com/office/drawing/2014/main" val="20000"/>
                    </a:ext>
                  </a:extLst>
                </a:gridCol>
              </a:tblGrid>
              <a:tr h="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Consolas"/>
                          <a:ea typeface="Consolas"/>
                          <a:cs typeface="Consolas"/>
                          <a:sym typeface="Consolas"/>
                        </a:rPr>
                        <a:t>Child</a:t>
                      </a:r>
                      <a:endParaRPr sz="12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Consolas"/>
                          <a:ea typeface="Consolas"/>
                          <a:cs typeface="Consolas"/>
                          <a:sym typeface="Consolas"/>
                        </a:rPr>
                        <a:t>- more fields</a:t>
                      </a:r>
                      <a:endParaRPr sz="12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Consolas"/>
                          <a:ea typeface="Consolas"/>
                          <a:cs typeface="Consolas"/>
                          <a:sym typeface="Consolas"/>
                        </a:rPr>
                        <a:t>+ more methods</a:t>
                      </a:r>
                      <a:endParaRPr sz="12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pSp>
        <p:nvGrpSpPr>
          <p:cNvPr id="614" name="Google Shape;614;p83"/>
          <p:cNvGrpSpPr/>
          <p:nvPr/>
        </p:nvGrpSpPr>
        <p:grpSpPr>
          <a:xfrm>
            <a:off x="6908825" y="1823066"/>
            <a:ext cx="273300" cy="807900"/>
            <a:chOff x="6908825" y="1823066"/>
            <a:chExt cx="273300" cy="807900"/>
          </a:xfrm>
        </p:grpSpPr>
        <p:sp>
          <p:nvSpPr>
            <p:cNvPr id="615" name="Google Shape;615;p83"/>
            <p:cNvSpPr/>
            <p:nvPr/>
          </p:nvSpPr>
          <p:spPr>
            <a:xfrm>
              <a:off x="6908825" y="1823066"/>
              <a:ext cx="273300" cy="207000"/>
            </a:xfrm>
            <a:prstGeom prst="triangle">
              <a:avLst>
                <a:gd name="adj" fmla="val 50000"/>
              </a:avLst>
            </a:prstGeom>
            <a:noFill/>
            <a:ln w="28575"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16" name="Google Shape;616;p83"/>
            <p:cNvCxnSpPr>
              <a:stCxn id="615" idx="3"/>
            </p:cNvCxnSpPr>
            <p:nvPr/>
          </p:nvCxnSpPr>
          <p:spPr>
            <a:xfrm>
              <a:off x="7045475" y="2030066"/>
              <a:ext cx="0" cy="600900"/>
            </a:xfrm>
            <a:prstGeom prst="straightConnector1">
              <a:avLst/>
            </a:prstGeom>
            <a:noFill/>
            <a:ln w="28575" cap="flat" cmpd="sng">
              <a:solidFill>
                <a:srgbClr val="EA9999"/>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1"/>
                                        </p:tgtEl>
                                        <p:attrNameLst>
                                          <p:attrName>style.visibility</p:attrName>
                                        </p:attrNameLst>
                                      </p:cBhvr>
                                      <p:to>
                                        <p:strVal val="visible"/>
                                      </p:to>
                                    </p:set>
                                    <p:animEffect transition="in" filter="fade">
                                      <p:cBhvr>
                                        <p:cTn id="7" dur="1000"/>
                                        <p:tgtEl>
                                          <p:spTgt spid="611"/>
                                        </p:tgtEl>
                                      </p:cBhvr>
                                    </p:animEffect>
                                  </p:childTnLst>
                                </p:cTn>
                              </p:par>
                              <p:par>
                                <p:cTn id="8" presetID="10" presetClass="entr" presetSubtype="0" fill="hold" nodeType="withEffect">
                                  <p:stCondLst>
                                    <p:cond delay="0"/>
                                  </p:stCondLst>
                                  <p:childTnLst>
                                    <p:set>
                                      <p:cBhvr>
                                        <p:cTn id="9" dur="1" fill="hold">
                                          <p:stCondLst>
                                            <p:cond delay="0"/>
                                          </p:stCondLst>
                                        </p:cTn>
                                        <p:tgtEl>
                                          <p:spTgt spid="612"/>
                                        </p:tgtEl>
                                        <p:attrNameLst>
                                          <p:attrName>style.visibility</p:attrName>
                                        </p:attrNameLst>
                                      </p:cBhvr>
                                      <p:to>
                                        <p:strVal val="visible"/>
                                      </p:to>
                                    </p:set>
                                    <p:animEffect transition="in" filter="fade">
                                      <p:cBhvr>
                                        <p:cTn id="10" dur="1000"/>
                                        <p:tgtEl>
                                          <p:spTgt spid="612"/>
                                        </p:tgtEl>
                                      </p:cBhvr>
                                    </p:animEffect>
                                  </p:childTnLst>
                                </p:cTn>
                              </p:par>
                              <p:par>
                                <p:cTn id="11" presetID="10" presetClass="entr" presetSubtype="0" fill="hold" nodeType="withEffect">
                                  <p:stCondLst>
                                    <p:cond delay="0"/>
                                  </p:stCondLst>
                                  <p:childTnLst>
                                    <p:set>
                                      <p:cBhvr>
                                        <p:cTn id="12" dur="1" fill="hold">
                                          <p:stCondLst>
                                            <p:cond delay="0"/>
                                          </p:stCondLst>
                                        </p:cTn>
                                        <p:tgtEl>
                                          <p:spTgt spid="613"/>
                                        </p:tgtEl>
                                        <p:attrNameLst>
                                          <p:attrName>style.visibility</p:attrName>
                                        </p:attrNameLst>
                                      </p:cBhvr>
                                      <p:to>
                                        <p:strVal val="visible"/>
                                      </p:to>
                                    </p:set>
                                    <p:animEffect transition="in" filter="fade">
                                      <p:cBhvr>
                                        <p:cTn id="13" dur="1000"/>
                                        <p:tgtEl>
                                          <p:spTgt spid="613"/>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614"/>
                                        </p:tgtEl>
                                        <p:attrNameLst>
                                          <p:attrName>style.visibility</p:attrName>
                                        </p:attrNameLst>
                                      </p:cBhvr>
                                      <p:to>
                                        <p:strVal val="visible"/>
                                      </p:to>
                                    </p:set>
                                    <p:animEffect transition="in" filter="fade">
                                      <p:cBhvr>
                                        <p:cTn id="17" dur="1000"/>
                                        <p:tgtEl>
                                          <p:spTgt spid="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84"/>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latin typeface="Courier New"/>
                <a:ea typeface="Courier New"/>
                <a:cs typeface="Courier New"/>
                <a:sym typeface="Courier New"/>
              </a:rPr>
              <a:t>super</a:t>
            </a:r>
            <a:r>
              <a:rPr lang="en"/>
              <a:t> &amp; Access Modifiers</a:t>
            </a:r>
            <a:endParaRPr/>
          </a:p>
        </p:txBody>
      </p:sp>
      <p:sp>
        <p:nvSpPr>
          <p:cNvPr id="622" name="Google Shape;622;p84"/>
          <p:cNvSpPr txBox="1">
            <a:spLocks noGrp="1"/>
          </p:cNvSpPr>
          <p:nvPr>
            <p:ph type="body" idx="1"/>
          </p:nvPr>
        </p:nvSpPr>
        <p:spPr>
          <a:xfrm>
            <a:off x="83100" y="1353300"/>
            <a:ext cx="4143900" cy="3703500"/>
          </a:xfrm>
          <a:prstGeom prst="rect">
            <a:avLst/>
          </a:prstGeom>
          <a:noFill/>
          <a:ln>
            <a:noFill/>
          </a:ln>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dirty="0"/>
              <a:t>We already know that an object uses </a:t>
            </a:r>
            <a:r>
              <a:rPr lang="en" dirty="0">
                <a:solidFill>
                  <a:srgbClr val="FF0000"/>
                </a:solidFill>
                <a:highlight>
                  <a:srgbClr val="FFFF00"/>
                </a:highlight>
                <a:latin typeface="Courier New"/>
                <a:ea typeface="Courier New"/>
                <a:cs typeface="Courier New"/>
                <a:sym typeface="Courier New"/>
              </a:rPr>
              <a:t>this</a:t>
            </a:r>
            <a:r>
              <a:rPr lang="en" dirty="0">
                <a:solidFill>
                  <a:srgbClr val="FF0000"/>
                </a:solidFill>
              </a:rPr>
              <a:t> </a:t>
            </a:r>
            <a:r>
              <a:rPr lang="en" dirty="0"/>
              <a:t>to refer to itself and use its </a:t>
            </a:r>
            <a:r>
              <a:rPr lang="en" b="1" i="1" dirty="0">
                <a:solidFill>
                  <a:srgbClr val="FF0000"/>
                </a:solidFill>
              </a:rPr>
              <a:t>own </a:t>
            </a:r>
            <a:r>
              <a:rPr lang="en" dirty="0"/>
              <a:t>state and behavior. It can be used in several different ways, e.g.:</a:t>
            </a:r>
            <a:endParaRPr dirty="0"/>
          </a:p>
          <a:p>
            <a:pPr marL="914400" lvl="1" indent="-298450" algn="l" rtl="0">
              <a:lnSpc>
                <a:spcPct val="100000"/>
              </a:lnSpc>
              <a:spcBef>
                <a:spcPts val="0"/>
              </a:spcBef>
              <a:spcAft>
                <a:spcPts val="0"/>
              </a:spcAft>
              <a:buSzPts val="1100"/>
              <a:buChar char="○"/>
            </a:pPr>
            <a:r>
              <a:rPr lang="en" dirty="0"/>
              <a:t>Setting fields: </a:t>
            </a:r>
            <a:r>
              <a:rPr lang="en" dirty="0">
                <a:solidFill>
                  <a:srgbClr val="FF0000"/>
                </a:solidFill>
                <a:highlight>
                  <a:srgbClr val="FFFF00"/>
                </a:highlight>
                <a:latin typeface="Courier New"/>
                <a:ea typeface="Courier New"/>
                <a:cs typeface="Courier New"/>
                <a:sym typeface="Courier New"/>
              </a:rPr>
              <a:t>this.name = name;</a:t>
            </a:r>
            <a:endParaRPr dirty="0">
              <a:solidFill>
                <a:srgbClr val="FF0000"/>
              </a:solidFill>
              <a:highlight>
                <a:srgbClr val="FFFF00"/>
              </a:highlight>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dirty="0"/>
              <a:t>Chaining constructors: </a:t>
            </a:r>
            <a:r>
              <a:rPr lang="en" dirty="0">
                <a:solidFill>
                  <a:srgbClr val="FF0000"/>
                </a:solidFill>
                <a:latin typeface="Courier New"/>
                <a:ea typeface="Courier New"/>
                <a:cs typeface="Courier New"/>
                <a:sym typeface="Courier New"/>
              </a:rPr>
              <a:t>this(name, age);</a:t>
            </a:r>
            <a:endParaRPr dirty="0">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dirty="0"/>
              <a:t>Invoking methods: </a:t>
            </a:r>
            <a:r>
              <a:rPr lang="en" dirty="0">
                <a:solidFill>
                  <a:srgbClr val="FF0000"/>
                </a:solidFill>
                <a:latin typeface="Courier New"/>
                <a:ea typeface="Courier New"/>
                <a:cs typeface="Courier New"/>
                <a:sym typeface="Courier New"/>
              </a:rPr>
              <a:t>this.getName();</a:t>
            </a:r>
            <a:endParaRPr dirty="0">
              <a:solidFill>
                <a:srgbClr val="FF0000"/>
              </a:solidFill>
              <a:latin typeface="Courier New"/>
              <a:ea typeface="Courier New"/>
              <a:cs typeface="Courier New"/>
              <a:sym typeface="Courier New"/>
            </a:endParaRPr>
          </a:p>
          <a:p>
            <a:pPr marL="457200" lvl="0" indent="-311150" algn="l" rtl="0">
              <a:lnSpc>
                <a:spcPct val="100000"/>
              </a:lnSpc>
              <a:spcBef>
                <a:spcPts val="0"/>
              </a:spcBef>
              <a:spcAft>
                <a:spcPts val="0"/>
              </a:spcAft>
              <a:buSzPts val="1300"/>
              <a:buChar char="●"/>
            </a:pPr>
            <a:r>
              <a:rPr lang="en" dirty="0"/>
              <a:t>Similarly, an object uses </a:t>
            </a:r>
            <a:r>
              <a:rPr lang="en" dirty="0">
                <a:solidFill>
                  <a:srgbClr val="FF0000"/>
                </a:solidFill>
                <a:highlight>
                  <a:srgbClr val="FFFF00"/>
                </a:highlight>
                <a:latin typeface="Courier New"/>
                <a:ea typeface="Courier New"/>
                <a:cs typeface="Courier New"/>
                <a:sym typeface="Courier New"/>
              </a:rPr>
              <a:t>super</a:t>
            </a:r>
            <a:r>
              <a:rPr lang="en" dirty="0">
                <a:highlight>
                  <a:srgbClr val="FFFF00"/>
                </a:highlight>
              </a:rPr>
              <a:t> to access state and behavior defined by its </a:t>
            </a:r>
            <a:r>
              <a:rPr lang="en" dirty="0">
                <a:solidFill>
                  <a:srgbClr val="FF0000"/>
                </a:solidFill>
                <a:highlight>
                  <a:srgbClr val="FFFF00"/>
                </a:highlight>
              </a:rPr>
              <a:t>parent class</a:t>
            </a:r>
            <a:r>
              <a:rPr lang="en" dirty="0">
                <a:highlight>
                  <a:srgbClr val="FFFF00"/>
                </a:highlight>
              </a:rPr>
              <a:t>, </a:t>
            </a:r>
            <a:r>
              <a:rPr lang="en" dirty="0"/>
              <a:t>e.g.</a:t>
            </a:r>
            <a:endParaRPr dirty="0"/>
          </a:p>
          <a:p>
            <a:pPr marL="914400" lvl="1" indent="-298450" algn="l" rtl="0">
              <a:lnSpc>
                <a:spcPct val="100000"/>
              </a:lnSpc>
              <a:spcBef>
                <a:spcPts val="0"/>
              </a:spcBef>
              <a:spcAft>
                <a:spcPts val="0"/>
              </a:spcAft>
              <a:buSzPts val="1100"/>
              <a:buChar char="○"/>
            </a:pPr>
            <a:r>
              <a:rPr lang="en" dirty="0"/>
              <a:t>Invoke a constructor: </a:t>
            </a:r>
            <a:r>
              <a:rPr lang="en" dirty="0">
                <a:solidFill>
                  <a:srgbClr val="FF0000"/>
                </a:solidFill>
                <a:highlight>
                  <a:srgbClr val="FFFF00"/>
                </a:highlight>
                <a:latin typeface="Courier New"/>
                <a:ea typeface="Courier New"/>
                <a:cs typeface="Courier New"/>
                <a:sym typeface="Courier New"/>
              </a:rPr>
              <a:t>super(x, "white");</a:t>
            </a:r>
            <a:endParaRPr dirty="0">
              <a:solidFill>
                <a:srgbClr val="FF0000"/>
              </a:solidFill>
              <a:highlight>
                <a:srgbClr val="FFFF00"/>
              </a:highlight>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dirty="0"/>
              <a:t>Access fields: </a:t>
            </a:r>
            <a:r>
              <a:rPr lang="en" dirty="0">
                <a:solidFill>
                  <a:srgbClr val="FF0000"/>
                </a:solidFill>
                <a:latin typeface="Courier New"/>
                <a:ea typeface="Courier New"/>
                <a:cs typeface="Courier New"/>
                <a:sym typeface="Courier New"/>
              </a:rPr>
              <a:t>return super.name;</a:t>
            </a:r>
            <a:endParaRPr dirty="0">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dirty="0"/>
              <a:t>Calling methods: </a:t>
            </a:r>
            <a:r>
              <a:rPr lang="en" dirty="0">
                <a:solidFill>
                  <a:srgbClr val="FF0000"/>
                </a:solidFill>
                <a:latin typeface="Courier New"/>
                <a:ea typeface="Courier New"/>
                <a:cs typeface="Courier New"/>
                <a:sym typeface="Courier New"/>
              </a:rPr>
              <a:t>super.getAge();</a:t>
            </a:r>
            <a:endParaRPr dirty="0">
              <a:solidFill>
                <a:srgbClr val="FF0000"/>
              </a:solidFill>
              <a:latin typeface="Courier New"/>
              <a:ea typeface="Courier New"/>
              <a:cs typeface="Courier New"/>
              <a:sym typeface="Courier New"/>
            </a:endParaRPr>
          </a:p>
          <a:p>
            <a:pPr marL="457200" lvl="0" indent="-311150" algn="l" rtl="0">
              <a:lnSpc>
                <a:spcPct val="100000"/>
              </a:lnSpc>
              <a:spcBef>
                <a:spcPts val="0"/>
              </a:spcBef>
              <a:spcAft>
                <a:spcPts val="0"/>
              </a:spcAft>
              <a:buSzPts val="1300"/>
              <a:buChar char="●"/>
            </a:pPr>
            <a:r>
              <a:rPr lang="en" dirty="0">
                <a:highlight>
                  <a:srgbClr val="FFFF00"/>
                </a:highlight>
              </a:rPr>
              <a:t>Constructors are </a:t>
            </a:r>
            <a:r>
              <a:rPr lang="en" b="1" i="1" dirty="0">
                <a:solidFill>
                  <a:srgbClr val="FF0000"/>
                </a:solidFill>
                <a:highlight>
                  <a:srgbClr val="FFFF00"/>
                </a:highlight>
              </a:rPr>
              <a:t>not </a:t>
            </a:r>
            <a:r>
              <a:rPr lang="en" dirty="0">
                <a:highlight>
                  <a:srgbClr val="FFFF00"/>
                </a:highlight>
              </a:rPr>
              <a:t>inherited from the parent </a:t>
            </a:r>
            <a:r>
              <a:rPr lang="en" dirty="0"/>
              <a:t>class; the child must define its own </a:t>
            </a:r>
            <a:r>
              <a:rPr lang="en" b="1" i="1" dirty="0">
                <a:solidFill>
                  <a:srgbClr val="FF0000"/>
                </a:solidFill>
              </a:rPr>
              <a:t>and</a:t>
            </a:r>
            <a:r>
              <a:rPr lang="en" dirty="0">
                <a:solidFill>
                  <a:srgbClr val="FF0000"/>
                </a:solidFill>
              </a:rPr>
              <a:t> </a:t>
            </a:r>
            <a:r>
              <a:rPr lang="en" dirty="0"/>
              <a:t>call one of the parent constructors using </a:t>
            </a:r>
            <a:r>
              <a:rPr lang="en" dirty="0">
                <a:latin typeface="Courier New"/>
                <a:ea typeface="Courier New"/>
                <a:cs typeface="Courier New"/>
                <a:sym typeface="Courier New"/>
              </a:rPr>
              <a:t>super</a:t>
            </a:r>
            <a:r>
              <a:rPr lang="en" dirty="0"/>
              <a:t>.</a:t>
            </a:r>
            <a:endParaRPr dirty="0"/>
          </a:p>
          <a:p>
            <a:pPr marL="914400" lvl="1" indent="-298450" algn="l" rtl="0">
              <a:lnSpc>
                <a:spcPct val="100000"/>
              </a:lnSpc>
              <a:spcBef>
                <a:spcPts val="0"/>
              </a:spcBef>
              <a:spcAft>
                <a:spcPts val="0"/>
              </a:spcAft>
              <a:buSzPts val="1100"/>
              <a:buChar char="○"/>
            </a:pPr>
            <a:r>
              <a:rPr lang="en" dirty="0"/>
              <a:t>The exception is that if the parent class has a </a:t>
            </a:r>
            <a:r>
              <a:rPr lang="en" b="1" i="1" dirty="0">
                <a:solidFill>
                  <a:srgbClr val="FF0000"/>
                </a:solidFill>
                <a:highlight>
                  <a:srgbClr val="FFFF00"/>
                </a:highlight>
              </a:rPr>
              <a:t>default </a:t>
            </a:r>
            <a:r>
              <a:rPr lang="en" dirty="0">
                <a:highlight>
                  <a:srgbClr val="FFFF00"/>
                </a:highlight>
              </a:rPr>
              <a:t>or </a:t>
            </a:r>
            <a:r>
              <a:rPr lang="en" b="1" i="1" dirty="0">
                <a:solidFill>
                  <a:srgbClr val="FF0000"/>
                </a:solidFill>
                <a:highlight>
                  <a:srgbClr val="FFFF00"/>
                </a:highlight>
              </a:rPr>
              <a:t>parameterless constructor</a:t>
            </a:r>
            <a:r>
              <a:rPr lang="en" dirty="0">
                <a:highlight>
                  <a:srgbClr val="FFFF00"/>
                </a:highlight>
              </a:rPr>
              <a:t>, in which case it will be invoked </a:t>
            </a:r>
            <a:r>
              <a:rPr lang="en" b="1" i="1" dirty="0">
                <a:solidFill>
                  <a:srgbClr val="FF0000"/>
                </a:solidFill>
                <a:highlight>
                  <a:srgbClr val="FFFF00"/>
                </a:highlight>
              </a:rPr>
              <a:t>transparently </a:t>
            </a:r>
            <a:r>
              <a:rPr lang="en" dirty="0">
                <a:highlight>
                  <a:srgbClr val="FFFF00"/>
                </a:highlight>
              </a:rPr>
              <a:t>by default if no other constructor is explicitly called. </a:t>
            </a:r>
            <a:endParaRPr dirty="0">
              <a:highlight>
                <a:srgbClr val="FFFF00"/>
              </a:highlight>
            </a:endParaRPr>
          </a:p>
        </p:txBody>
      </p:sp>
      <p:sp>
        <p:nvSpPr>
          <p:cNvPr id="623" name="Google Shape;623;p8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22</a:t>
            </a:fld>
            <a:endParaRPr/>
          </a:p>
        </p:txBody>
      </p:sp>
      <p:graphicFrame>
        <p:nvGraphicFramePr>
          <p:cNvPr id="624" name="Google Shape;624;p84"/>
          <p:cNvGraphicFramePr/>
          <p:nvPr/>
        </p:nvGraphicFramePr>
        <p:xfrm>
          <a:off x="4311600" y="2334775"/>
          <a:ext cx="4681950" cy="2316390"/>
        </p:xfrm>
        <a:graphic>
          <a:graphicData uri="http://schemas.openxmlformats.org/drawingml/2006/table">
            <a:tbl>
              <a:tblPr>
                <a:noFill/>
                <a:tableStyleId>{7F442979-C056-43AA-83C6-67E564C60A4D}</a:tableStyleId>
              </a:tblPr>
              <a:tblGrid>
                <a:gridCol w="1113750">
                  <a:extLst>
                    <a:ext uri="{9D8B030D-6E8A-4147-A177-3AD203B41FA5}">
                      <a16:colId xmlns:a16="http://schemas.microsoft.com/office/drawing/2014/main" val="20000"/>
                    </a:ext>
                  </a:extLst>
                </a:gridCol>
                <a:gridCol w="892050">
                  <a:extLst>
                    <a:ext uri="{9D8B030D-6E8A-4147-A177-3AD203B41FA5}">
                      <a16:colId xmlns:a16="http://schemas.microsoft.com/office/drawing/2014/main" val="20001"/>
                    </a:ext>
                  </a:extLst>
                </a:gridCol>
                <a:gridCol w="892050">
                  <a:extLst>
                    <a:ext uri="{9D8B030D-6E8A-4147-A177-3AD203B41FA5}">
                      <a16:colId xmlns:a16="http://schemas.microsoft.com/office/drawing/2014/main" val="20002"/>
                    </a:ext>
                  </a:extLst>
                </a:gridCol>
                <a:gridCol w="892050">
                  <a:extLst>
                    <a:ext uri="{9D8B030D-6E8A-4147-A177-3AD203B41FA5}">
                      <a16:colId xmlns:a16="http://schemas.microsoft.com/office/drawing/2014/main" val="20003"/>
                    </a:ext>
                  </a:extLst>
                </a:gridCol>
                <a:gridCol w="892050">
                  <a:extLst>
                    <a:ext uri="{9D8B030D-6E8A-4147-A177-3AD203B41FA5}">
                      <a16:colId xmlns:a16="http://schemas.microsoft.com/office/drawing/2014/main" val="20004"/>
                    </a:ext>
                  </a:extLst>
                </a:gridCol>
              </a:tblGrid>
              <a:tr h="38100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What has access?</a:t>
                      </a:r>
                      <a:endParaRPr sz="1000" u="none" strike="noStrike" cap="none">
                        <a:solidFill>
                          <a:srgbClr val="FFFFFF"/>
                        </a:solidFill>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latin typeface="Courier New"/>
                          <a:ea typeface="Courier New"/>
                          <a:cs typeface="Courier New"/>
                          <a:sym typeface="Courier New"/>
                        </a:rPr>
                        <a:t>private</a:t>
                      </a:r>
                      <a:endParaRPr sz="1000" u="none" strike="noStrike" cap="none">
                        <a:solidFill>
                          <a:srgbClr val="FFFFFF"/>
                        </a:solidFill>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none</a:t>
                      </a:r>
                      <a:endParaRPr sz="1000" u="none" strike="noStrike" cap="none">
                        <a:solidFill>
                          <a:srgbClr val="FFFFFF"/>
                        </a:solidFill>
                      </a:endParaRPr>
                    </a:p>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a:t>
                      </a:r>
                      <a:r>
                        <a:rPr lang="en" sz="1000" i="1" u="none" strike="noStrike" cap="none">
                          <a:solidFill>
                            <a:srgbClr val="FFFFFF"/>
                          </a:solidFill>
                        </a:rPr>
                        <a:t>package private</a:t>
                      </a:r>
                      <a:r>
                        <a:rPr lang="en" sz="1000" u="none" strike="noStrike" cap="none">
                          <a:solidFill>
                            <a:srgbClr val="FFFFFF"/>
                          </a:solidFill>
                        </a:rPr>
                        <a:t>)</a:t>
                      </a:r>
                      <a:endParaRPr sz="1000" u="none" strike="noStrike" cap="none">
                        <a:solidFill>
                          <a:srgbClr val="FFFFFF"/>
                        </a:solidFill>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latin typeface="Courier New"/>
                          <a:ea typeface="Courier New"/>
                          <a:cs typeface="Courier New"/>
                          <a:sym typeface="Courier New"/>
                        </a:rPr>
                        <a:t>protected</a:t>
                      </a:r>
                      <a:endParaRPr sz="1000" u="none" strike="noStrike" cap="none">
                        <a:solidFill>
                          <a:srgbClr val="FFFFFF"/>
                        </a:solidFill>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latin typeface="Courier New"/>
                          <a:ea typeface="Courier New"/>
                          <a:cs typeface="Courier New"/>
                          <a:sym typeface="Courier New"/>
                        </a:rPr>
                        <a:t>public</a:t>
                      </a:r>
                      <a:endParaRPr sz="1000" u="none" strike="noStrike" cap="none">
                        <a:solidFill>
                          <a:srgbClr val="FFFFFF"/>
                        </a:solidFill>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dirty="0"/>
                        <a:t>Instances of the same class</a:t>
                      </a:r>
                      <a:endParaRPr sz="9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t>Classes in the same package</a:t>
                      </a:r>
                      <a:endParaRPr sz="9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dirty="0"/>
                        <a:t>Child Classes</a:t>
                      </a:r>
                      <a:endParaRPr sz="9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dirty="0"/>
                        <a:t>Everything</a:t>
                      </a:r>
                      <a:endParaRPr sz="9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p:grpSp>
        <p:nvGrpSpPr>
          <p:cNvPr id="625" name="Google Shape;625;p84"/>
          <p:cNvGrpSpPr/>
          <p:nvPr/>
        </p:nvGrpSpPr>
        <p:grpSpPr>
          <a:xfrm>
            <a:off x="5594285" y="3003205"/>
            <a:ext cx="3245650" cy="399000"/>
            <a:chOff x="5594285" y="3003205"/>
            <a:chExt cx="3245650" cy="399000"/>
          </a:xfrm>
        </p:grpSpPr>
        <p:sp>
          <p:nvSpPr>
            <p:cNvPr id="626" name="Google Shape;626;p84"/>
            <p:cNvSpPr txBox="1"/>
            <p:nvPr/>
          </p:nvSpPr>
          <p:spPr>
            <a:xfrm>
              <a:off x="5594285" y="300320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sp>
          <p:nvSpPr>
            <p:cNvPr id="627" name="Google Shape;627;p84"/>
            <p:cNvSpPr txBox="1"/>
            <p:nvPr/>
          </p:nvSpPr>
          <p:spPr>
            <a:xfrm>
              <a:off x="6493905" y="300320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sp>
          <p:nvSpPr>
            <p:cNvPr id="628" name="Google Shape;628;p84"/>
            <p:cNvSpPr txBox="1"/>
            <p:nvPr/>
          </p:nvSpPr>
          <p:spPr>
            <a:xfrm>
              <a:off x="7400915" y="300320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sp>
          <p:nvSpPr>
            <p:cNvPr id="629" name="Google Shape;629;p84"/>
            <p:cNvSpPr txBox="1"/>
            <p:nvPr/>
          </p:nvSpPr>
          <p:spPr>
            <a:xfrm>
              <a:off x="8300535" y="300320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grpSp>
      <p:grpSp>
        <p:nvGrpSpPr>
          <p:cNvPr id="630" name="Google Shape;630;p84"/>
          <p:cNvGrpSpPr/>
          <p:nvPr/>
        </p:nvGrpSpPr>
        <p:grpSpPr>
          <a:xfrm>
            <a:off x="6493905" y="3445625"/>
            <a:ext cx="2346030" cy="399000"/>
            <a:chOff x="6493905" y="3445625"/>
            <a:chExt cx="2346030" cy="399000"/>
          </a:xfrm>
        </p:grpSpPr>
        <p:sp>
          <p:nvSpPr>
            <p:cNvPr id="631" name="Google Shape;631;p84"/>
            <p:cNvSpPr txBox="1"/>
            <p:nvPr/>
          </p:nvSpPr>
          <p:spPr>
            <a:xfrm>
              <a:off x="6493905" y="344562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sp>
          <p:nvSpPr>
            <p:cNvPr id="632" name="Google Shape;632;p84"/>
            <p:cNvSpPr txBox="1"/>
            <p:nvPr/>
          </p:nvSpPr>
          <p:spPr>
            <a:xfrm>
              <a:off x="7400915" y="344562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sp>
          <p:nvSpPr>
            <p:cNvPr id="633" name="Google Shape;633;p84"/>
            <p:cNvSpPr txBox="1"/>
            <p:nvPr/>
          </p:nvSpPr>
          <p:spPr>
            <a:xfrm>
              <a:off x="8300535" y="344562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grpSp>
      <p:sp>
        <p:nvSpPr>
          <p:cNvPr id="634" name="Google Shape;634;p84"/>
          <p:cNvSpPr txBox="1"/>
          <p:nvPr/>
        </p:nvSpPr>
        <p:spPr>
          <a:xfrm>
            <a:off x="8300530" y="424276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Roboto"/>
                <a:ea typeface="Roboto"/>
                <a:cs typeface="Roboto"/>
                <a:sym typeface="Roboto"/>
              </a:rPr>
              <a:t>✔</a:t>
            </a:r>
            <a:endParaRPr sz="1800" b="0" i="0" u="none" strike="noStrike" cap="none">
              <a:solidFill>
                <a:srgbClr val="FF0000"/>
              </a:solidFill>
              <a:latin typeface="Roboto"/>
              <a:ea typeface="Roboto"/>
              <a:cs typeface="Roboto"/>
              <a:sym typeface="Roboto"/>
            </a:endParaRPr>
          </a:p>
        </p:txBody>
      </p:sp>
      <p:grpSp>
        <p:nvGrpSpPr>
          <p:cNvPr id="635" name="Google Shape;635;p84"/>
          <p:cNvGrpSpPr/>
          <p:nvPr/>
        </p:nvGrpSpPr>
        <p:grpSpPr>
          <a:xfrm>
            <a:off x="7400915" y="3863575"/>
            <a:ext cx="1439020" cy="399000"/>
            <a:chOff x="7400915" y="3863575"/>
            <a:chExt cx="1439020" cy="399000"/>
          </a:xfrm>
        </p:grpSpPr>
        <p:sp>
          <p:nvSpPr>
            <p:cNvPr id="636" name="Google Shape;636;p84"/>
            <p:cNvSpPr txBox="1"/>
            <p:nvPr/>
          </p:nvSpPr>
          <p:spPr>
            <a:xfrm>
              <a:off x="7400915" y="386357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Roboto"/>
                  <a:ea typeface="Roboto"/>
                  <a:cs typeface="Roboto"/>
                  <a:sym typeface="Roboto"/>
                </a:rPr>
                <a:t>✔</a:t>
              </a:r>
              <a:endParaRPr sz="1800" b="0" i="0" u="none" strike="noStrike" cap="none" dirty="0">
                <a:solidFill>
                  <a:srgbClr val="FF0000"/>
                </a:solidFill>
                <a:latin typeface="Roboto"/>
                <a:ea typeface="Roboto"/>
                <a:cs typeface="Roboto"/>
                <a:sym typeface="Roboto"/>
              </a:endParaRPr>
            </a:p>
          </p:txBody>
        </p:sp>
        <p:sp>
          <p:nvSpPr>
            <p:cNvPr id="637" name="Google Shape;637;p84"/>
            <p:cNvSpPr txBox="1"/>
            <p:nvPr/>
          </p:nvSpPr>
          <p:spPr>
            <a:xfrm>
              <a:off x="8300535" y="3863575"/>
              <a:ext cx="539400" cy="39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rgbClr val="FF0000"/>
                  </a:solidFill>
                  <a:latin typeface="Roboto"/>
                  <a:ea typeface="Roboto"/>
                  <a:cs typeface="Roboto"/>
                  <a:sym typeface="Roboto"/>
                </a:rPr>
                <a:t>✔</a:t>
              </a:r>
              <a:endParaRPr sz="1800" b="0" i="0" u="none" strike="noStrike" cap="none" dirty="0">
                <a:solidFill>
                  <a:srgbClr val="FF0000"/>
                </a:solidFill>
                <a:latin typeface="Roboto"/>
                <a:ea typeface="Roboto"/>
                <a:cs typeface="Roboto"/>
                <a:sym typeface="Roboto"/>
              </a:endParaRPr>
            </a:p>
          </p:txBody>
        </p:sp>
      </p:grpSp>
      <p:sp>
        <p:nvSpPr>
          <p:cNvPr id="638" name="Google Shape;638;p84"/>
          <p:cNvSpPr txBox="1"/>
          <p:nvPr/>
        </p:nvSpPr>
        <p:spPr>
          <a:xfrm>
            <a:off x="4311600" y="1493700"/>
            <a:ext cx="4682100" cy="671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rgbClr val="000000"/>
                </a:solidFill>
                <a:latin typeface="Arial"/>
                <a:ea typeface="Arial"/>
                <a:cs typeface="Arial"/>
                <a:sym typeface="Arial"/>
              </a:rPr>
              <a:t>A child class can only use </a:t>
            </a:r>
            <a:r>
              <a:rPr lang="en" sz="1100" b="0" i="0" u="none" strike="noStrike" cap="none" dirty="0">
                <a:solidFill>
                  <a:srgbClr val="FF0000"/>
                </a:solidFill>
                <a:latin typeface="Courier New"/>
                <a:ea typeface="Courier New"/>
                <a:cs typeface="Courier New"/>
                <a:sym typeface="Courier New"/>
              </a:rPr>
              <a:t>super</a:t>
            </a:r>
            <a:r>
              <a:rPr lang="en" sz="1100" b="0" i="0" u="none" strike="noStrike" cap="none" dirty="0">
                <a:solidFill>
                  <a:srgbClr val="000000"/>
                </a:solidFill>
                <a:latin typeface="Arial"/>
                <a:ea typeface="Arial"/>
                <a:cs typeface="Arial"/>
                <a:sym typeface="Arial"/>
              </a:rPr>
              <a:t> to access </a:t>
            </a:r>
            <a:r>
              <a:rPr lang="en" sz="1100" b="1" i="1" u="none" strike="noStrike" cap="none" dirty="0">
                <a:solidFill>
                  <a:srgbClr val="FF0000"/>
                </a:solidFill>
                <a:latin typeface="Arial"/>
                <a:ea typeface="Arial"/>
                <a:cs typeface="Arial"/>
                <a:sym typeface="Arial"/>
              </a:rPr>
              <a:t>accessible</a:t>
            </a:r>
            <a:r>
              <a:rPr lang="en" sz="1100" b="0" i="0" u="none" strike="noStrike" cap="none" dirty="0">
                <a:solidFill>
                  <a:srgbClr val="FF0000"/>
                </a:solidFill>
                <a:latin typeface="Arial"/>
                <a:ea typeface="Arial"/>
                <a:cs typeface="Arial"/>
                <a:sym typeface="Arial"/>
              </a:rPr>
              <a:t> </a:t>
            </a:r>
            <a:r>
              <a:rPr lang="en" sz="1100" b="0" i="0" u="none" strike="noStrike" cap="none" dirty="0">
                <a:solidFill>
                  <a:srgbClr val="000000"/>
                </a:solidFill>
                <a:latin typeface="Arial"/>
                <a:ea typeface="Arial"/>
                <a:cs typeface="Arial"/>
                <a:sym typeface="Arial"/>
              </a:rPr>
              <a:t>state and behavior in its parent class. Accessibility to the child is determined by the </a:t>
            </a:r>
            <a:r>
              <a:rPr lang="en" sz="1100" b="0" i="0" u="none" strike="noStrike" cap="none" dirty="0">
                <a:solidFill>
                  <a:srgbClr val="000000"/>
                </a:solidFill>
                <a:highlight>
                  <a:srgbClr val="FFFF00"/>
                </a:highlight>
                <a:latin typeface="Arial"/>
                <a:ea typeface="Arial"/>
                <a:cs typeface="Arial"/>
                <a:sym typeface="Arial"/>
              </a:rPr>
              <a:t>access modifier used with each field, method, and constructor.</a:t>
            </a:r>
            <a:endParaRPr sz="1100" b="0" i="0" u="none" strike="noStrike" cap="none" dirty="0">
              <a:solidFill>
                <a:srgbClr val="000000"/>
              </a:solidFill>
              <a:highlight>
                <a:srgbClr val="FFFF00"/>
              </a:highlight>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8"/>
                                        </p:tgtEl>
                                        <p:attrNameLst>
                                          <p:attrName>style.visibility</p:attrName>
                                        </p:attrNameLst>
                                      </p:cBhvr>
                                      <p:to>
                                        <p:strVal val="visible"/>
                                      </p:to>
                                    </p:set>
                                    <p:animEffect transition="in" filter="fade">
                                      <p:cBhvr>
                                        <p:cTn id="7" dur="1000"/>
                                        <p:tgtEl>
                                          <p:spTgt spid="63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624"/>
                                        </p:tgtEl>
                                        <p:attrNameLst>
                                          <p:attrName>style.visibility</p:attrName>
                                        </p:attrNameLst>
                                      </p:cBhvr>
                                      <p:to>
                                        <p:strVal val="visible"/>
                                      </p:to>
                                    </p:set>
                                    <p:animEffect transition="in" filter="fade">
                                      <p:cBhvr>
                                        <p:cTn id="11" dur="1000"/>
                                        <p:tgtEl>
                                          <p:spTgt spid="6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25"/>
                                        </p:tgtEl>
                                        <p:attrNameLst>
                                          <p:attrName>style.visibility</p:attrName>
                                        </p:attrNameLst>
                                      </p:cBhvr>
                                      <p:to>
                                        <p:strVal val="visible"/>
                                      </p:to>
                                    </p:set>
                                    <p:animEffect transition="in" filter="fade">
                                      <p:cBhvr>
                                        <p:cTn id="16" dur="1000"/>
                                        <p:tgtEl>
                                          <p:spTgt spid="62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30"/>
                                        </p:tgtEl>
                                        <p:attrNameLst>
                                          <p:attrName>style.visibility</p:attrName>
                                        </p:attrNameLst>
                                      </p:cBhvr>
                                      <p:to>
                                        <p:strVal val="visible"/>
                                      </p:to>
                                    </p:set>
                                    <p:animEffect transition="in" filter="fade">
                                      <p:cBhvr>
                                        <p:cTn id="21" dur="1000"/>
                                        <p:tgtEl>
                                          <p:spTgt spid="63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35"/>
                                        </p:tgtEl>
                                        <p:attrNameLst>
                                          <p:attrName>style.visibility</p:attrName>
                                        </p:attrNameLst>
                                      </p:cBhvr>
                                      <p:to>
                                        <p:strVal val="visible"/>
                                      </p:to>
                                    </p:set>
                                    <p:animEffect transition="in" filter="fade">
                                      <p:cBhvr>
                                        <p:cTn id="26" dur="1000"/>
                                        <p:tgtEl>
                                          <p:spTgt spid="63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34"/>
                                        </p:tgtEl>
                                        <p:attrNameLst>
                                          <p:attrName>style.visibility</p:attrName>
                                        </p:attrNameLst>
                                      </p:cBhvr>
                                      <p:to>
                                        <p:strVal val="visible"/>
                                      </p:to>
                                    </p:set>
                                    <p:animEffect transition="in" filter="fade">
                                      <p:cBhvr>
                                        <p:cTn id="31" dur="1000"/>
                                        <p:tgtEl>
                                          <p:spTgt spid="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85"/>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Inheritance Example</a:t>
            </a:r>
            <a:endParaRPr/>
          </a:p>
        </p:txBody>
      </p:sp>
      <p:sp>
        <p:nvSpPr>
          <p:cNvPr id="644" name="Google Shape;644;p85"/>
          <p:cNvSpPr txBox="1">
            <a:spLocks noGrp="1"/>
          </p:cNvSpPr>
          <p:nvPr>
            <p:ph type="body" idx="1"/>
          </p:nvPr>
        </p:nvSpPr>
        <p:spPr>
          <a:xfrm>
            <a:off x="83100" y="1342675"/>
            <a:ext cx="3567600" cy="3616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class</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Animal</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private</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String</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name</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private</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double</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weight</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795E26"/>
                </a:solidFill>
                <a:latin typeface="Consolas"/>
                <a:ea typeface="Consolas"/>
                <a:cs typeface="Consolas"/>
                <a:sym typeface="Consolas"/>
              </a:rPr>
              <a:t>Animal</a:t>
            </a:r>
            <a:r>
              <a:rPr lang="en" sz="1000" dirty="0">
                <a:solidFill>
                  <a:srgbClr val="000000"/>
                </a:solidFill>
                <a:latin typeface="Consolas"/>
                <a:ea typeface="Consolas"/>
                <a:cs typeface="Consolas"/>
                <a:sym typeface="Consolas"/>
              </a:rPr>
              <a:t>(</a:t>
            </a:r>
            <a:r>
              <a:rPr lang="en" sz="1000" dirty="0">
                <a:solidFill>
                  <a:srgbClr val="267F99"/>
                </a:solidFill>
                <a:latin typeface="Consolas"/>
                <a:ea typeface="Consolas"/>
                <a:cs typeface="Consolas"/>
                <a:sym typeface="Consolas"/>
              </a:rPr>
              <a:t>String</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name</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double</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weight</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this</a:t>
            </a:r>
            <a:r>
              <a:rPr lang="en" sz="1000" dirty="0">
                <a:solidFill>
                  <a:srgbClr val="000000"/>
                </a:solidFill>
                <a:latin typeface="Consolas"/>
                <a:ea typeface="Consolas"/>
                <a:cs typeface="Consolas"/>
                <a:sym typeface="Consolas"/>
              </a:rPr>
              <a:t>.</a:t>
            </a:r>
            <a:r>
              <a:rPr lang="en" sz="1000" dirty="0">
                <a:solidFill>
                  <a:srgbClr val="001080"/>
                </a:solidFill>
                <a:latin typeface="Consolas"/>
                <a:ea typeface="Consolas"/>
                <a:cs typeface="Consolas"/>
                <a:sym typeface="Consolas"/>
              </a:rPr>
              <a:t>name</a:t>
            </a:r>
            <a:r>
              <a:rPr lang="en" sz="1000" dirty="0">
                <a:solidFill>
                  <a:srgbClr val="000000"/>
                </a:solidFill>
                <a:latin typeface="Consolas"/>
                <a:ea typeface="Consolas"/>
                <a:cs typeface="Consolas"/>
                <a:sym typeface="Consolas"/>
              </a:rPr>
              <a:t> = </a:t>
            </a:r>
            <a:r>
              <a:rPr lang="en" sz="1000" dirty="0">
                <a:solidFill>
                  <a:srgbClr val="001080"/>
                </a:solidFill>
                <a:latin typeface="Consolas"/>
                <a:ea typeface="Consolas"/>
                <a:cs typeface="Consolas"/>
                <a:sym typeface="Consolas"/>
              </a:rPr>
              <a:t>name</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this</a:t>
            </a:r>
            <a:r>
              <a:rPr lang="en" sz="1000" dirty="0">
                <a:solidFill>
                  <a:srgbClr val="000000"/>
                </a:solidFill>
                <a:latin typeface="Consolas"/>
                <a:ea typeface="Consolas"/>
                <a:cs typeface="Consolas"/>
                <a:sym typeface="Consolas"/>
              </a:rPr>
              <a:t>.</a:t>
            </a:r>
            <a:r>
              <a:rPr lang="en" sz="1000" dirty="0">
                <a:solidFill>
                  <a:srgbClr val="001080"/>
                </a:solidFill>
                <a:latin typeface="Consolas"/>
                <a:ea typeface="Consolas"/>
                <a:cs typeface="Consolas"/>
                <a:sym typeface="Consolas"/>
              </a:rPr>
              <a:t>weight</a:t>
            </a:r>
            <a:r>
              <a:rPr lang="en" sz="1000" dirty="0">
                <a:solidFill>
                  <a:srgbClr val="000000"/>
                </a:solidFill>
                <a:latin typeface="Consolas"/>
                <a:ea typeface="Consolas"/>
                <a:cs typeface="Consolas"/>
                <a:sym typeface="Consolas"/>
              </a:rPr>
              <a:t> = </a:t>
            </a:r>
            <a:r>
              <a:rPr lang="en" sz="1000" dirty="0">
                <a:solidFill>
                  <a:srgbClr val="001080"/>
                </a:solidFill>
                <a:latin typeface="Consolas"/>
                <a:ea typeface="Consolas"/>
                <a:cs typeface="Consolas"/>
                <a:sym typeface="Consolas"/>
              </a:rPr>
              <a:t>weight</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String</a:t>
            </a:r>
            <a:r>
              <a:rPr lang="en" sz="1000" dirty="0">
                <a:solidFill>
                  <a:srgbClr val="000000"/>
                </a:solidFill>
                <a:latin typeface="Consolas"/>
                <a:ea typeface="Consolas"/>
                <a:cs typeface="Consolas"/>
                <a:sym typeface="Consolas"/>
              </a:rPr>
              <a:t> </a:t>
            </a:r>
            <a:r>
              <a:rPr lang="en" sz="1000" dirty="0">
                <a:solidFill>
                  <a:srgbClr val="795E26"/>
                </a:solidFill>
                <a:latin typeface="Consolas"/>
                <a:ea typeface="Consolas"/>
                <a:cs typeface="Consolas"/>
                <a:sym typeface="Consolas"/>
              </a:rPr>
              <a:t>toString</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AF00DB"/>
                </a:solidFill>
                <a:latin typeface="Consolas"/>
                <a:ea typeface="Consolas"/>
                <a:cs typeface="Consolas"/>
                <a:sym typeface="Consolas"/>
              </a:rPr>
              <a:t>return</a:t>
            </a:r>
            <a:r>
              <a:rPr lang="en" sz="1000" dirty="0">
                <a:solidFill>
                  <a:srgbClr val="000000"/>
                </a:solidFill>
                <a:latin typeface="Consolas"/>
                <a:ea typeface="Consolas"/>
                <a:cs typeface="Consolas"/>
                <a:sym typeface="Consolas"/>
              </a:rPr>
              <a:t> </a:t>
            </a:r>
            <a:r>
              <a:rPr lang="en" sz="1000" dirty="0">
                <a:solidFill>
                  <a:srgbClr val="A31515"/>
                </a:solidFill>
                <a:latin typeface="Consolas"/>
                <a:ea typeface="Consolas"/>
                <a:cs typeface="Consolas"/>
                <a:sym typeface="Consolas"/>
              </a:rPr>
              <a:t>"Animal[name="</a:t>
            </a:r>
            <a:r>
              <a:rPr lang="en" sz="1000" dirty="0">
                <a:solidFill>
                  <a:srgbClr val="000000"/>
                </a:solidFill>
                <a:latin typeface="Consolas"/>
                <a:ea typeface="Consolas"/>
                <a:cs typeface="Consolas"/>
                <a:sym typeface="Consolas"/>
              </a:rPr>
              <a:t> + </a:t>
            </a:r>
            <a:r>
              <a:rPr lang="en" sz="1000" dirty="0">
                <a:solidFill>
                  <a:srgbClr val="001080"/>
                </a:solidFill>
                <a:latin typeface="Consolas"/>
                <a:ea typeface="Consolas"/>
                <a:cs typeface="Consolas"/>
                <a:sym typeface="Consolas"/>
              </a:rPr>
              <a:t>name</a:t>
            </a:r>
            <a:endParaRPr sz="1000" dirty="0">
              <a:solidFill>
                <a:srgbClr val="00108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 </a:t>
            </a:r>
            <a:r>
              <a:rPr lang="en" sz="1000" dirty="0">
                <a:solidFill>
                  <a:srgbClr val="A31515"/>
                </a:solidFill>
                <a:latin typeface="Consolas"/>
                <a:ea typeface="Consolas"/>
                <a:cs typeface="Consolas"/>
                <a:sym typeface="Consolas"/>
              </a:rPr>
              <a:t>", weight="</a:t>
            </a:r>
            <a:r>
              <a:rPr lang="en" sz="1000" dirty="0">
                <a:solidFill>
                  <a:srgbClr val="000000"/>
                </a:solidFill>
                <a:latin typeface="Consolas"/>
                <a:ea typeface="Consolas"/>
                <a:cs typeface="Consolas"/>
                <a:sym typeface="Consolas"/>
              </a:rPr>
              <a:t> + </a:t>
            </a:r>
            <a:r>
              <a:rPr lang="en" sz="1000" dirty="0">
                <a:solidFill>
                  <a:srgbClr val="001080"/>
                </a:solidFill>
                <a:latin typeface="Consolas"/>
                <a:ea typeface="Consolas"/>
                <a:cs typeface="Consolas"/>
                <a:sym typeface="Consolas"/>
              </a:rPr>
              <a:t>weight</a:t>
            </a:r>
            <a:r>
              <a:rPr lang="en" sz="1000" dirty="0">
                <a:solidFill>
                  <a:srgbClr val="000000"/>
                </a:solidFill>
                <a:latin typeface="Consolas"/>
                <a:ea typeface="Consolas"/>
                <a:cs typeface="Consolas"/>
                <a:sym typeface="Consolas"/>
              </a:rPr>
              <a:t> + </a:t>
            </a:r>
            <a:r>
              <a:rPr lang="en" sz="1000" dirty="0">
                <a:solidFill>
                  <a:srgbClr val="A31515"/>
                </a:solidFill>
                <a:latin typeface="Consolas"/>
                <a:ea typeface="Consolas"/>
                <a:cs typeface="Consolas"/>
                <a:sym typeface="Consolas"/>
              </a:rPr>
              <a:t>"]"</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String</a:t>
            </a:r>
            <a:r>
              <a:rPr lang="en" sz="1000" dirty="0">
                <a:solidFill>
                  <a:srgbClr val="000000"/>
                </a:solidFill>
                <a:latin typeface="Consolas"/>
                <a:ea typeface="Consolas"/>
                <a:cs typeface="Consolas"/>
                <a:sym typeface="Consolas"/>
              </a:rPr>
              <a:t> </a:t>
            </a:r>
            <a:r>
              <a:rPr lang="en" sz="1000" dirty="0">
                <a:solidFill>
                  <a:srgbClr val="795E26"/>
                </a:solidFill>
                <a:latin typeface="Consolas"/>
                <a:ea typeface="Consolas"/>
                <a:cs typeface="Consolas"/>
                <a:sym typeface="Consolas"/>
              </a:rPr>
              <a:t>getName</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AF00DB"/>
                </a:solidFill>
                <a:latin typeface="Consolas"/>
                <a:ea typeface="Consolas"/>
                <a:cs typeface="Consolas"/>
                <a:sym typeface="Consolas"/>
              </a:rPr>
              <a:t>return</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name</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void</a:t>
            </a:r>
            <a:r>
              <a:rPr lang="en" sz="1000" dirty="0">
                <a:solidFill>
                  <a:srgbClr val="000000"/>
                </a:solidFill>
                <a:latin typeface="Consolas"/>
                <a:ea typeface="Consolas"/>
                <a:cs typeface="Consolas"/>
                <a:sym typeface="Consolas"/>
              </a:rPr>
              <a:t> </a:t>
            </a:r>
            <a:r>
              <a:rPr lang="en" sz="1000" dirty="0">
                <a:solidFill>
                  <a:srgbClr val="795E26"/>
                </a:solidFill>
                <a:latin typeface="Consolas"/>
                <a:ea typeface="Consolas"/>
                <a:cs typeface="Consolas"/>
                <a:sym typeface="Consolas"/>
              </a:rPr>
              <a:t>greet</a:t>
            </a:r>
            <a:r>
              <a:rPr lang="en" sz="1000" dirty="0">
                <a:solidFill>
                  <a:srgbClr val="000000"/>
                </a:solidFill>
                <a:latin typeface="Consolas"/>
                <a:ea typeface="Consolas"/>
                <a:cs typeface="Consolas"/>
                <a:sym typeface="Consolas"/>
              </a:rPr>
              <a:t>(</a:t>
            </a:r>
            <a:r>
              <a:rPr lang="en" sz="1000" dirty="0">
                <a:solidFill>
                  <a:srgbClr val="267F99"/>
                </a:solidFill>
                <a:latin typeface="Consolas"/>
                <a:ea typeface="Consolas"/>
                <a:cs typeface="Consolas"/>
                <a:sym typeface="Consolas"/>
              </a:rPr>
              <a:t>Animal</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o</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System</a:t>
            </a:r>
            <a:r>
              <a:rPr lang="en" sz="1000" dirty="0">
                <a:solidFill>
                  <a:srgbClr val="000000"/>
                </a:solidFill>
                <a:latin typeface="Consolas"/>
                <a:ea typeface="Consolas"/>
                <a:cs typeface="Consolas"/>
                <a:sym typeface="Consolas"/>
              </a:rPr>
              <a:t>.</a:t>
            </a:r>
            <a:r>
              <a:rPr lang="en" sz="1000" dirty="0">
                <a:solidFill>
                  <a:srgbClr val="0070C1"/>
                </a:solidFill>
                <a:latin typeface="Consolas"/>
                <a:ea typeface="Consolas"/>
                <a:cs typeface="Consolas"/>
                <a:sym typeface="Consolas"/>
              </a:rPr>
              <a:t>out</a:t>
            </a:r>
            <a:r>
              <a:rPr lang="en" sz="1000" dirty="0">
                <a:solidFill>
                  <a:srgbClr val="000000"/>
                </a:solidFill>
                <a:latin typeface="Consolas"/>
                <a:ea typeface="Consolas"/>
                <a:cs typeface="Consolas"/>
                <a:sym typeface="Consolas"/>
              </a:rPr>
              <a:t>.</a:t>
            </a:r>
            <a:r>
              <a:rPr lang="en" sz="1000" dirty="0">
                <a:solidFill>
                  <a:srgbClr val="795E26"/>
                </a:solidFill>
                <a:latin typeface="Consolas"/>
                <a:ea typeface="Consolas"/>
                <a:cs typeface="Consolas"/>
                <a:sym typeface="Consolas"/>
              </a:rPr>
              <a:t>println</a:t>
            </a:r>
            <a:r>
              <a:rPr lang="en" sz="1000" dirty="0">
                <a:solidFill>
                  <a:srgbClr val="000000"/>
                </a:solidFill>
                <a:latin typeface="Consolas"/>
                <a:ea typeface="Consolas"/>
                <a:cs typeface="Consolas"/>
                <a:sym typeface="Consolas"/>
              </a:rPr>
              <a:t>(</a:t>
            </a:r>
            <a:r>
              <a:rPr lang="en" sz="1000" dirty="0">
                <a:solidFill>
                  <a:srgbClr val="001080"/>
                </a:solidFill>
                <a:latin typeface="Consolas"/>
                <a:ea typeface="Consolas"/>
                <a:cs typeface="Consolas"/>
                <a:sym typeface="Consolas"/>
              </a:rPr>
              <a:t>name</a:t>
            </a:r>
            <a:r>
              <a:rPr lang="en" sz="1000" dirty="0">
                <a:solidFill>
                  <a:srgbClr val="000000"/>
                </a:solidFill>
                <a:latin typeface="Consolas"/>
                <a:ea typeface="Consolas"/>
                <a:cs typeface="Consolas"/>
                <a:sym typeface="Consolas"/>
              </a:rPr>
              <a:t> + </a:t>
            </a:r>
            <a:r>
              <a:rPr lang="en" sz="1000" dirty="0">
                <a:solidFill>
                  <a:srgbClr val="A31515"/>
                </a:solidFill>
                <a:latin typeface="Consolas"/>
                <a:ea typeface="Consolas"/>
                <a:cs typeface="Consolas"/>
                <a:sym typeface="Consolas"/>
              </a:rPr>
              <a:t>" greets "</a:t>
            </a:r>
            <a:endParaRPr sz="1000" dirty="0">
              <a:solidFill>
                <a:srgbClr val="A31515"/>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 </a:t>
            </a:r>
            <a:r>
              <a:rPr lang="en" sz="1000" dirty="0">
                <a:solidFill>
                  <a:srgbClr val="001080"/>
                </a:solidFill>
                <a:latin typeface="Consolas"/>
                <a:ea typeface="Consolas"/>
                <a:cs typeface="Consolas"/>
                <a:sym typeface="Consolas"/>
              </a:rPr>
              <a:t>o</a:t>
            </a:r>
            <a:r>
              <a:rPr lang="en" sz="1000" dirty="0">
                <a:solidFill>
                  <a:srgbClr val="000000"/>
                </a:solidFill>
                <a:latin typeface="Consolas"/>
                <a:ea typeface="Consolas"/>
                <a:cs typeface="Consolas"/>
                <a:sym typeface="Consolas"/>
              </a:rPr>
              <a:t>.</a:t>
            </a:r>
            <a:r>
              <a:rPr lang="en" sz="1000" dirty="0">
                <a:solidFill>
                  <a:srgbClr val="001080"/>
                </a:solidFill>
                <a:latin typeface="Consolas"/>
                <a:ea typeface="Consolas"/>
                <a:cs typeface="Consolas"/>
                <a:sym typeface="Consolas"/>
              </a:rPr>
              <a:t>name</a:t>
            </a:r>
            <a:r>
              <a:rPr lang="en" sz="1000" dirty="0">
                <a:solidFill>
                  <a:srgbClr val="000000"/>
                </a:solidFill>
                <a:latin typeface="Consolas"/>
                <a:ea typeface="Consolas"/>
                <a:cs typeface="Consolas"/>
                <a:sym typeface="Consolas"/>
              </a:rPr>
              <a:t> + </a:t>
            </a:r>
            <a:r>
              <a:rPr lang="en" sz="1000" dirty="0">
                <a:solidFill>
                  <a:srgbClr val="A31515"/>
                </a:solidFill>
                <a:latin typeface="Consolas"/>
                <a:ea typeface="Consolas"/>
                <a:cs typeface="Consolas"/>
                <a:sym typeface="Consolas"/>
              </a:rPr>
              <a:t>"!"</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569CD6"/>
              </a:solidFill>
              <a:latin typeface="Consolas"/>
              <a:ea typeface="Consolas"/>
              <a:cs typeface="Consolas"/>
              <a:sym typeface="Consolas"/>
            </a:endParaRPr>
          </a:p>
        </p:txBody>
      </p:sp>
      <p:sp>
        <p:nvSpPr>
          <p:cNvPr id="645" name="Google Shape;645;p85"/>
          <p:cNvSpPr txBox="1">
            <a:spLocks noGrp="1"/>
          </p:cNvSpPr>
          <p:nvPr>
            <p:ph type="body" idx="2"/>
          </p:nvPr>
        </p:nvSpPr>
        <p:spPr>
          <a:xfrm>
            <a:off x="6303750" y="1353300"/>
            <a:ext cx="2771400" cy="2359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class</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Rabbit</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extends</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Animal</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private</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String</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furColor</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795E26"/>
                </a:solidFill>
                <a:latin typeface="Consolas"/>
                <a:ea typeface="Consolas"/>
                <a:cs typeface="Consolas"/>
                <a:sym typeface="Consolas"/>
              </a:rPr>
              <a:t>Rabbit</a:t>
            </a:r>
            <a:r>
              <a:rPr lang="en" sz="1000" dirty="0">
                <a:solidFill>
                  <a:srgbClr val="000000"/>
                </a:solidFill>
                <a:latin typeface="Consolas"/>
                <a:ea typeface="Consolas"/>
                <a:cs typeface="Consolas"/>
                <a:sym typeface="Consolas"/>
              </a:rPr>
              <a:t>(</a:t>
            </a:r>
            <a:r>
              <a:rPr lang="en" sz="1000" dirty="0">
                <a:solidFill>
                  <a:srgbClr val="267F99"/>
                </a:solidFill>
                <a:latin typeface="Consolas"/>
                <a:ea typeface="Consolas"/>
                <a:cs typeface="Consolas"/>
                <a:sym typeface="Consolas"/>
              </a:rPr>
              <a:t>double</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weight</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String</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furColor</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super</a:t>
            </a:r>
            <a:r>
              <a:rPr lang="en" sz="1000" dirty="0">
                <a:solidFill>
                  <a:srgbClr val="000000"/>
                </a:solidFill>
                <a:latin typeface="Consolas"/>
                <a:ea typeface="Consolas"/>
                <a:cs typeface="Consolas"/>
                <a:sym typeface="Consolas"/>
              </a:rPr>
              <a:t>(</a:t>
            </a:r>
            <a:r>
              <a:rPr lang="en" sz="1000" dirty="0">
                <a:solidFill>
                  <a:srgbClr val="A31515"/>
                </a:solidFill>
                <a:latin typeface="Consolas"/>
                <a:ea typeface="Consolas"/>
                <a:cs typeface="Consolas"/>
                <a:sym typeface="Consolas"/>
              </a:rPr>
              <a:t>"Rabbit"</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weight</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this</a:t>
            </a:r>
            <a:r>
              <a:rPr lang="en" sz="1000" dirty="0">
                <a:solidFill>
                  <a:srgbClr val="000000"/>
                </a:solidFill>
                <a:latin typeface="Consolas"/>
                <a:ea typeface="Consolas"/>
                <a:cs typeface="Consolas"/>
                <a:sym typeface="Consolas"/>
              </a:rPr>
              <a:t>.</a:t>
            </a:r>
            <a:r>
              <a:rPr lang="en" sz="1000" dirty="0">
                <a:solidFill>
                  <a:srgbClr val="001080"/>
                </a:solidFill>
                <a:latin typeface="Consolas"/>
                <a:ea typeface="Consolas"/>
                <a:cs typeface="Consolas"/>
                <a:sym typeface="Consolas"/>
              </a:rPr>
              <a:t>furColor</a:t>
            </a:r>
            <a:r>
              <a:rPr lang="en" sz="1000" dirty="0">
                <a:solidFill>
                  <a:srgbClr val="000000"/>
                </a:solidFill>
                <a:latin typeface="Consolas"/>
                <a:ea typeface="Consolas"/>
                <a:cs typeface="Consolas"/>
                <a:sym typeface="Consolas"/>
              </a:rPr>
              <a:t> = </a:t>
            </a:r>
            <a:r>
              <a:rPr lang="en" sz="1000" dirty="0">
                <a:solidFill>
                  <a:srgbClr val="001080"/>
                </a:solidFill>
                <a:latin typeface="Consolas"/>
                <a:ea typeface="Consolas"/>
                <a:cs typeface="Consolas"/>
                <a:sym typeface="Consolas"/>
              </a:rPr>
              <a:t>furColor</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void</a:t>
            </a:r>
            <a:r>
              <a:rPr lang="en" sz="1000" dirty="0">
                <a:solidFill>
                  <a:srgbClr val="000000"/>
                </a:solidFill>
                <a:latin typeface="Consolas"/>
                <a:ea typeface="Consolas"/>
                <a:cs typeface="Consolas"/>
                <a:sym typeface="Consolas"/>
              </a:rPr>
              <a:t> </a:t>
            </a:r>
            <a:r>
              <a:rPr lang="en" sz="1000" dirty="0">
                <a:solidFill>
                  <a:srgbClr val="795E26"/>
                </a:solidFill>
                <a:latin typeface="Consolas"/>
                <a:ea typeface="Consolas"/>
                <a:cs typeface="Consolas"/>
                <a:sym typeface="Consolas"/>
              </a:rPr>
              <a:t>move</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System</a:t>
            </a:r>
            <a:r>
              <a:rPr lang="en" sz="1000" dirty="0">
                <a:solidFill>
                  <a:srgbClr val="000000"/>
                </a:solidFill>
                <a:latin typeface="Consolas"/>
                <a:ea typeface="Consolas"/>
                <a:cs typeface="Consolas"/>
                <a:sym typeface="Consolas"/>
              </a:rPr>
              <a:t>.</a:t>
            </a:r>
            <a:r>
              <a:rPr lang="en" sz="1000" dirty="0">
                <a:solidFill>
                  <a:srgbClr val="0070C1"/>
                </a:solidFill>
                <a:latin typeface="Consolas"/>
                <a:ea typeface="Consolas"/>
                <a:cs typeface="Consolas"/>
                <a:sym typeface="Consolas"/>
              </a:rPr>
              <a:t>out</a:t>
            </a:r>
            <a:r>
              <a:rPr lang="en" sz="1000" dirty="0">
                <a:solidFill>
                  <a:srgbClr val="000000"/>
                </a:solidFill>
                <a:latin typeface="Consolas"/>
                <a:ea typeface="Consolas"/>
                <a:cs typeface="Consolas"/>
                <a:sym typeface="Consolas"/>
              </a:rPr>
              <a:t>.</a:t>
            </a:r>
            <a:r>
              <a:rPr lang="en" sz="1000" dirty="0">
                <a:solidFill>
                  <a:srgbClr val="795E26"/>
                </a:solidFill>
                <a:latin typeface="Consolas"/>
                <a:ea typeface="Consolas"/>
                <a:cs typeface="Consolas"/>
                <a:sym typeface="Consolas"/>
              </a:rPr>
              <a:t>println</a:t>
            </a:r>
            <a:r>
              <a:rPr lang="en" sz="1000" dirty="0">
                <a:solidFill>
                  <a:srgbClr val="000000"/>
                </a:solidFill>
                <a:latin typeface="Consolas"/>
                <a:ea typeface="Consolas"/>
                <a:cs typeface="Consolas"/>
                <a:sym typeface="Consolas"/>
              </a:rPr>
              <a:t>(</a:t>
            </a:r>
            <a:r>
              <a:rPr lang="en" sz="1000" dirty="0">
                <a:solidFill>
                  <a:srgbClr val="0000FF"/>
                </a:solidFill>
                <a:latin typeface="Consolas"/>
                <a:ea typeface="Consolas"/>
                <a:cs typeface="Consolas"/>
                <a:sym typeface="Consolas"/>
              </a:rPr>
              <a:t>super</a:t>
            </a:r>
            <a:r>
              <a:rPr lang="en" sz="1000" dirty="0">
                <a:solidFill>
                  <a:srgbClr val="000000"/>
                </a:solidFill>
                <a:latin typeface="Consolas"/>
                <a:ea typeface="Consolas"/>
                <a:cs typeface="Consolas"/>
                <a:sym typeface="Consolas"/>
              </a:rPr>
              <a:t>.</a:t>
            </a:r>
            <a:r>
              <a:rPr lang="en" sz="1000" dirty="0">
                <a:solidFill>
                  <a:srgbClr val="001080"/>
                </a:solidFill>
                <a:latin typeface="Consolas"/>
                <a:ea typeface="Consolas"/>
                <a:cs typeface="Consolas"/>
                <a:sym typeface="Consolas"/>
              </a:rPr>
              <a:t>name</a:t>
            </a:r>
            <a:endParaRPr sz="1000" dirty="0">
              <a:solidFill>
                <a:srgbClr val="00108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 </a:t>
            </a:r>
            <a:r>
              <a:rPr lang="en" sz="1000" dirty="0">
                <a:solidFill>
                  <a:srgbClr val="A31515"/>
                </a:solidFill>
                <a:latin typeface="Consolas"/>
                <a:ea typeface="Consolas"/>
                <a:cs typeface="Consolas"/>
                <a:sym typeface="Consolas"/>
              </a:rPr>
              <a:t>" goes hop, hop, hop!"</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latin typeface="Consolas"/>
                <a:ea typeface="Consolas"/>
                <a:cs typeface="Consolas"/>
                <a:sym typeface="Consolas"/>
              </a:rPr>
              <a:t> }</a:t>
            </a:r>
            <a:endParaRPr sz="1000" dirty="0">
              <a:solidFill>
                <a:srgbClr val="569CD6"/>
              </a:solidFill>
              <a:latin typeface="Consolas"/>
              <a:ea typeface="Consolas"/>
              <a:cs typeface="Consolas"/>
              <a:sym typeface="Consolas"/>
            </a:endParaRPr>
          </a:p>
        </p:txBody>
      </p:sp>
      <p:sp>
        <p:nvSpPr>
          <p:cNvPr id="646" name="Google Shape;646;p8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23</a:t>
            </a:fld>
            <a:endParaRPr/>
          </a:p>
        </p:txBody>
      </p:sp>
      <p:sp>
        <p:nvSpPr>
          <p:cNvPr id="647" name="Google Shape;647;p85"/>
          <p:cNvSpPr/>
          <p:nvPr/>
        </p:nvSpPr>
        <p:spPr>
          <a:xfrm>
            <a:off x="5793825" y="1143015"/>
            <a:ext cx="2076615" cy="310538"/>
          </a:xfrm>
          <a:custGeom>
            <a:avLst/>
            <a:gdLst/>
            <a:ahLst/>
            <a:cxnLst/>
            <a:rect l="l" t="t" r="r" b="b"/>
            <a:pathLst>
              <a:path w="92820" h="11830" extrusionOk="0">
                <a:moveTo>
                  <a:pt x="0" y="11830"/>
                </a:moveTo>
                <a:cubicBezTo>
                  <a:pt x="11627" y="9859"/>
                  <a:pt x="54293" y="55"/>
                  <a:pt x="69763" y="6"/>
                </a:cubicBezTo>
                <a:cubicBezTo>
                  <a:pt x="85233" y="-43"/>
                  <a:pt x="88977" y="9613"/>
                  <a:pt x="92820" y="11534"/>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85"/>
          <p:cNvSpPr txBox="1"/>
          <p:nvPr/>
        </p:nvSpPr>
        <p:spPr>
          <a:xfrm>
            <a:off x="3746850" y="1353300"/>
            <a:ext cx="2453400" cy="671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rgbClr val="000000"/>
                </a:solidFill>
                <a:latin typeface="Arial"/>
                <a:ea typeface="Arial"/>
                <a:cs typeface="Arial"/>
                <a:sym typeface="Arial"/>
              </a:rPr>
              <a:t>Child classes use </a:t>
            </a:r>
            <a:r>
              <a:rPr lang="en" sz="1100" b="0" i="0" u="none" strike="noStrike" cap="none" dirty="0">
                <a:solidFill>
                  <a:srgbClr val="FF0000"/>
                </a:solidFill>
                <a:highlight>
                  <a:srgbClr val="FFFF00"/>
                </a:highlight>
                <a:latin typeface="Courier New"/>
                <a:ea typeface="Courier New"/>
                <a:cs typeface="Courier New"/>
                <a:sym typeface="Courier New"/>
              </a:rPr>
              <a:t>extends</a:t>
            </a:r>
            <a:r>
              <a:rPr lang="en" sz="1100" b="0" i="0" u="none" strike="noStrike" cap="none" dirty="0">
                <a:solidFill>
                  <a:srgbClr val="000000"/>
                </a:solidFill>
                <a:latin typeface="Arial"/>
                <a:ea typeface="Arial"/>
                <a:cs typeface="Arial"/>
                <a:sym typeface="Arial"/>
              </a:rPr>
              <a:t> to create an </a:t>
            </a:r>
            <a:r>
              <a:rPr lang="en" sz="1100" b="1" i="1" u="sng" strike="noStrike" cap="none" dirty="0">
                <a:solidFill>
                  <a:srgbClr val="FF0000"/>
                </a:solidFill>
                <a:highlight>
                  <a:srgbClr val="FFFF00"/>
                </a:highlight>
                <a:latin typeface="Arial"/>
                <a:ea typeface="Arial"/>
                <a:cs typeface="Arial"/>
                <a:sym typeface="Arial"/>
              </a:rPr>
              <a:t>is-a relationship</a:t>
            </a:r>
            <a:r>
              <a:rPr lang="en" sz="1100" b="0" i="0" u="none" strike="noStrike" cap="none" dirty="0">
                <a:solidFill>
                  <a:srgbClr val="000000"/>
                </a:solidFill>
                <a:highlight>
                  <a:srgbClr val="FFFF00"/>
                </a:highlight>
                <a:latin typeface="Arial"/>
                <a:ea typeface="Arial"/>
                <a:cs typeface="Arial"/>
                <a:sym typeface="Arial"/>
              </a:rPr>
              <a:t> </a:t>
            </a:r>
            <a:r>
              <a:rPr lang="en" sz="1100" b="0" i="0" u="none" strike="noStrike" cap="none" dirty="0">
                <a:solidFill>
                  <a:srgbClr val="000000"/>
                </a:solidFill>
                <a:latin typeface="Arial"/>
                <a:ea typeface="Arial"/>
                <a:cs typeface="Arial"/>
                <a:sym typeface="Arial"/>
              </a:rPr>
              <a:t>with a parent class.</a:t>
            </a:r>
            <a:endParaRPr sz="1100" b="0" i="0" u="none" strike="noStrike" cap="none" dirty="0">
              <a:solidFill>
                <a:srgbClr val="000000"/>
              </a:solidFill>
              <a:latin typeface="Arial"/>
              <a:ea typeface="Arial"/>
              <a:cs typeface="Arial"/>
              <a:sym typeface="Arial"/>
            </a:endParaRPr>
          </a:p>
        </p:txBody>
      </p:sp>
      <p:sp>
        <p:nvSpPr>
          <p:cNvPr id="649" name="Google Shape;649;p85"/>
          <p:cNvSpPr/>
          <p:nvPr/>
        </p:nvSpPr>
        <p:spPr>
          <a:xfrm>
            <a:off x="6045100" y="2267455"/>
            <a:ext cx="731600" cy="333850"/>
          </a:xfrm>
          <a:custGeom>
            <a:avLst/>
            <a:gdLst/>
            <a:ahLst/>
            <a:cxnLst/>
            <a:rect l="l" t="t" r="r" b="b"/>
            <a:pathLst>
              <a:path w="29264" h="13354" extrusionOk="0">
                <a:moveTo>
                  <a:pt x="0" y="13354"/>
                </a:moveTo>
                <a:cubicBezTo>
                  <a:pt x="2808" y="11334"/>
                  <a:pt x="11972" y="3403"/>
                  <a:pt x="16849" y="1235"/>
                </a:cubicBezTo>
                <a:cubicBezTo>
                  <a:pt x="21726" y="-933"/>
                  <a:pt x="27195" y="496"/>
                  <a:pt x="29264" y="348"/>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85"/>
          <p:cNvSpPr txBox="1"/>
          <p:nvPr/>
        </p:nvSpPr>
        <p:spPr>
          <a:xfrm>
            <a:off x="3752363" y="2197050"/>
            <a:ext cx="2453400" cy="807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rgbClr val="000000"/>
                </a:solidFill>
                <a:latin typeface="Arial"/>
                <a:ea typeface="Arial"/>
                <a:cs typeface="Arial"/>
                <a:sym typeface="Arial"/>
              </a:rPr>
              <a:t>Constructors are </a:t>
            </a:r>
            <a:r>
              <a:rPr lang="en" sz="1100" b="1" i="1" u="none" strike="noStrike" cap="none" dirty="0">
                <a:solidFill>
                  <a:srgbClr val="FF0000"/>
                </a:solidFill>
                <a:latin typeface="Arial"/>
                <a:ea typeface="Arial"/>
                <a:cs typeface="Arial"/>
                <a:sym typeface="Arial"/>
              </a:rPr>
              <a:t>not</a:t>
            </a:r>
            <a:r>
              <a:rPr lang="en" sz="1100" b="0" i="0" u="none" strike="noStrike" cap="none" dirty="0">
                <a:solidFill>
                  <a:srgbClr val="FF0000"/>
                </a:solidFill>
                <a:latin typeface="Arial"/>
                <a:ea typeface="Arial"/>
                <a:cs typeface="Arial"/>
                <a:sym typeface="Arial"/>
              </a:rPr>
              <a:t> </a:t>
            </a:r>
            <a:r>
              <a:rPr lang="en" sz="1100" b="0" i="0" u="none" strike="noStrike" cap="none" dirty="0">
                <a:solidFill>
                  <a:srgbClr val="000000"/>
                </a:solidFill>
                <a:latin typeface="Arial"/>
                <a:ea typeface="Arial"/>
                <a:cs typeface="Arial"/>
                <a:sym typeface="Arial"/>
              </a:rPr>
              <a:t>inherited. A child class </a:t>
            </a:r>
            <a:r>
              <a:rPr lang="en" sz="1100" b="0" i="0" u="none" strike="noStrike" cap="none" dirty="0">
                <a:solidFill>
                  <a:srgbClr val="000000"/>
                </a:solidFill>
                <a:highlight>
                  <a:srgbClr val="FFFF00"/>
                </a:highlight>
                <a:sym typeface="Arial"/>
              </a:rPr>
              <a:t>must define its own constructors and call one of the parent constructors using </a:t>
            </a:r>
            <a:r>
              <a:rPr lang="en" sz="1100" b="0" i="0" u="none" strike="noStrike" cap="none" dirty="0">
                <a:solidFill>
                  <a:srgbClr val="FF0000"/>
                </a:solidFill>
                <a:highlight>
                  <a:srgbClr val="FFFF00"/>
                </a:highlight>
                <a:latin typeface="Courier New"/>
                <a:ea typeface="Courier New"/>
                <a:cs typeface="Courier New"/>
                <a:sym typeface="Courier New"/>
              </a:rPr>
              <a:t>super</a:t>
            </a:r>
            <a:r>
              <a:rPr lang="en" sz="1100" b="0" i="0" u="none" strike="noStrike" cap="none" dirty="0">
                <a:solidFill>
                  <a:srgbClr val="000000"/>
                </a:solidFill>
                <a:latin typeface="Arial"/>
                <a:ea typeface="Arial"/>
                <a:cs typeface="Arial"/>
                <a:sym typeface="Arial"/>
              </a:rPr>
              <a:t>.</a:t>
            </a:r>
            <a:endParaRPr sz="1100" b="0" i="0" u="none" strike="noStrike" cap="none" dirty="0">
              <a:solidFill>
                <a:srgbClr val="000000"/>
              </a:solidFill>
              <a:latin typeface="Arial"/>
              <a:ea typeface="Arial"/>
              <a:cs typeface="Arial"/>
              <a:sym typeface="Arial"/>
            </a:endParaRPr>
          </a:p>
        </p:txBody>
      </p:sp>
      <p:sp>
        <p:nvSpPr>
          <p:cNvPr id="651" name="Google Shape;651;p85"/>
          <p:cNvSpPr txBox="1"/>
          <p:nvPr/>
        </p:nvSpPr>
        <p:spPr>
          <a:xfrm rot="-756300">
            <a:off x="7904128" y="2496942"/>
            <a:ext cx="1101140" cy="495448"/>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FF0000"/>
                </a:solidFill>
                <a:latin typeface="Shadows Into Light"/>
                <a:ea typeface="Shadows Into Light"/>
                <a:cs typeface="Shadows Into Light"/>
                <a:sym typeface="Shadows Into Light"/>
              </a:rPr>
              <a:t>Use getName() instead.</a:t>
            </a:r>
            <a:endParaRPr sz="1300" b="0" i="0" u="none" strike="noStrike" cap="none">
              <a:solidFill>
                <a:srgbClr val="FF0000"/>
              </a:solidFill>
              <a:latin typeface="Shadows Into Light"/>
              <a:ea typeface="Shadows Into Light"/>
              <a:cs typeface="Shadows Into Light"/>
              <a:sym typeface="Shadows Into Light"/>
            </a:endParaRPr>
          </a:p>
        </p:txBody>
      </p:sp>
      <p:grpSp>
        <p:nvGrpSpPr>
          <p:cNvPr id="652" name="Google Shape;652;p85"/>
          <p:cNvGrpSpPr/>
          <p:nvPr/>
        </p:nvGrpSpPr>
        <p:grpSpPr>
          <a:xfrm>
            <a:off x="6155925" y="2664400"/>
            <a:ext cx="2897475" cy="562750"/>
            <a:chOff x="6155925" y="2664400"/>
            <a:chExt cx="2897475" cy="562750"/>
          </a:xfrm>
        </p:grpSpPr>
        <p:sp>
          <p:nvSpPr>
            <p:cNvPr id="653" name="Google Shape;653;p85"/>
            <p:cNvSpPr/>
            <p:nvPr/>
          </p:nvSpPr>
          <p:spPr>
            <a:xfrm>
              <a:off x="7900500" y="2963425"/>
              <a:ext cx="1152900" cy="184800"/>
            </a:xfrm>
            <a:prstGeom prst="mathMultiply">
              <a:avLst>
                <a:gd name="adj1" fmla="val 7994"/>
              </a:avLst>
            </a:prstGeom>
            <a:solidFill>
              <a:srgbClr val="FF0000"/>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4" name="Google Shape;654;p85"/>
            <p:cNvSpPr/>
            <p:nvPr/>
          </p:nvSpPr>
          <p:spPr>
            <a:xfrm>
              <a:off x="6155925" y="2664400"/>
              <a:ext cx="2076688" cy="562750"/>
            </a:xfrm>
            <a:custGeom>
              <a:avLst/>
              <a:gdLst/>
              <a:ahLst/>
              <a:cxnLst/>
              <a:rect l="l" t="t" r="r" b="b"/>
              <a:pathLst>
                <a:path w="85725" h="22510" extrusionOk="0">
                  <a:moveTo>
                    <a:pt x="0" y="22510"/>
                  </a:moveTo>
                  <a:cubicBezTo>
                    <a:pt x="3646" y="18815"/>
                    <a:pt x="7588" y="2459"/>
                    <a:pt x="21875" y="340"/>
                  </a:cubicBezTo>
                  <a:cubicBezTo>
                    <a:pt x="36163" y="-1778"/>
                    <a:pt x="75083" y="8223"/>
                    <a:pt x="85725" y="9799"/>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5" name="Google Shape;655;p85"/>
          <p:cNvSpPr txBox="1"/>
          <p:nvPr/>
        </p:nvSpPr>
        <p:spPr>
          <a:xfrm>
            <a:off x="3748688" y="3183313"/>
            <a:ext cx="2453400" cy="770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rgbClr val="000000"/>
                </a:solidFill>
                <a:latin typeface="Arial"/>
                <a:ea typeface="Arial"/>
                <a:cs typeface="Arial"/>
                <a:sym typeface="Arial"/>
              </a:rPr>
              <a:t>Child classes </a:t>
            </a:r>
            <a:r>
              <a:rPr lang="en" sz="1100" b="1" i="1" u="sng" strike="noStrike" cap="none" dirty="0">
                <a:solidFill>
                  <a:srgbClr val="FF0000"/>
                </a:solidFill>
                <a:latin typeface="Arial"/>
                <a:ea typeface="Arial"/>
                <a:cs typeface="Arial"/>
                <a:sym typeface="Arial"/>
              </a:rPr>
              <a:t>cannot</a:t>
            </a:r>
            <a:r>
              <a:rPr lang="en" sz="1100" b="0" i="0" u="none" strike="noStrike" cap="none" dirty="0">
                <a:solidFill>
                  <a:srgbClr val="FF0000"/>
                </a:solidFill>
                <a:latin typeface="Arial"/>
                <a:ea typeface="Arial"/>
                <a:cs typeface="Arial"/>
                <a:sym typeface="Arial"/>
              </a:rPr>
              <a:t> </a:t>
            </a:r>
            <a:r>
              <a:rPr lang="en" sz="1100" b="0" i="0" u="none" strike="noStrike" cap="none" dirty="0">
                <a:solidFill>
                  <a:srgbClr val="000000"/>
                </a:solidFill>
                <a:latin typeface="Arial"/>
                <a:ea typeface="Arial"/>
                <a:cs typeface="Arial"/>
                <a:sym typeface="Arial"/>
              </a:rPr>
              <a:t>directly access </a:t>
            </a:r>
            <a:r>
              <a:rPr lang="en" sz="1100" b="0" i="0" u="none" strike="noStrike" cap="none" dirty="0">
                <a:solidFill>
                  <a:srgbClr val="000000"/>
                </a:solidFill>
                <a:highlight>
                  <a:srgbClr val="FFFF00"/>
                </a:highlight>
                <a:latin typeface="Courier New"/>
                <a:ea typeface="Courier New"/>
                <a:cs typeface="Courier New"/>
                <a:sym typeface="Courier New"/>
              </a:rPr>
              <a:t>private</a:t>
            </a:r>
            <a:r>
              <a:rPr lang="en" sz="1100" b="0" i="0" u="none" strike="noStrike" cap="none" dirty="0">
                <a:solidFill>
                  <a:srgbClr val="000000"/>
                </a:solidFill>
                <a:latin typeface="Arial"/>
                <a:ea typeface="Arial"/>
                <a:cs typeface="Arial"/>
                <a:sym typeface="Arial"/>
              </a:rPr>
              <a:t> state or behavior in the parent class. Accessors and mutators will need to be used.</a:t>
            </a:r>
            <a:endParaRPr sz="1100" b="0" i="0" u="none" strike="noStrike" cap="none" dirty="0">
              <a:solidFill>
                <a:srgbClr val="000000"/>
              </a:solidFill>
              <a:latin typeface="Arial"/>
              <a:ea typeface="Arial"/>
              <a:cs typeface="Arial"/>
              <a:sym typeface="Arial"/>
            </a:endParaRPr>
          </a:p>
        </p:txBody>
      </p:sp>
      <p:sp>
        <p:nvSpPr>
          <p:cNvPr id="656" name="Google Shape;656;p85"/>
          <p:cNvSpPr txBox="1">
            <a:spLocks noGrp="1"/>
          </p:cNvSpPr>
          <p:nvPr>
            <p:ph type="body" idx="2"/>
          </p:nvPr>
        </p:nvSpPr>
        <p:spPr>
          <a:xfrm>
            <a:off x="6303750" y="3858163"/>
            <a:ext cx="2771400" cy="811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dirty="0">
                <a:solidFill>
                  <a:srgbClr val="267F99"/>
                </a:solidFill>
                <a:latin typeface="Consolas"/>
                <a:ea typeface="Consolas"/>
                <a:cs typeface="Consolas"/>
                <a:sym typeface="Consolas"/>
              </a:rPr>
              <a:t>Rabbit</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r</a:t>
            </a:r>
            <a:r>
              <a:rPr lang="en" sz="1000" dirty="0">
                <a:solidFill>
                  <a:srgbClr val="000000"/>
                </a:solidFill>
                <a:latin typeface="Consolas"/>
                <a:ea typeface="Consolas"/>
                <a:cs typeface="Consolas"/>
                <a:sym typeface="Consolas"/>
              </a:rPr>
              <a:t> = </a:t>
            </a:r>
            <a:r>
              <a:rPr lang="en" sz="1000" dirty="0">
                <a:solidFill>
                  <a:srgbClr val="AF00DB"/>
                </a:solidFill>
                <a:latin typeface="Consolas"/>
                <a:ea typeface="Consolas"/>
                <a:cs typeface="Consolas"/>
                <a:sym typeface="Consolas"/>
              </a:rPr>
              <a:t>new</a:t>
            </a:r>
            <a:r>
              <a:rPr lang="en" sz="1000" dirty="0">
                <a:solidFill>
                  <a:srgbClr val="000000"/>
                </a:solidFill>
                <a:latin typeface="Consolas"/>
                <a:ea typeface="Consolas"/>
                <a:cs typeface="Consolas"/>
                <a:sym typeface="Consolas"/>
              </a:rPr>
              <a:t> </a:t>
            </a:r>
            <a:r>
              <a:rPr lang="en" sz="1000" dirty="0">
                <a:solidFill>
                  <a:srgbClr val="795E26"/>
                </a:solidFill>
                <a:latin typeface="Consolas"/>
                <a:ea typeface="Consolas"/>
                <a:cs typeface="Consolas"/>
                <a:sym typeface="Consolas"/>
              </a:rPr>
              <a:t>Rabbit</a:t>
            </a:r>
            <a:r>
              <a:rPr lang="en" sz="1000" dirty="0">
                <a:solidFill>
                  <a:srgbClr val="000000"/>
                </a:solidFill>
                <a:latin typeface="Consolas"/>
                <a:ea typeface="Consolas"/>
                <a:cs typeface="Consolas"/>
                <a:sym typeface="Consolas"/>
              </a:rPr>
              <a:t>(</a:t>
            </a:r>
            <a:r>
              <a:rPr lang="en" sz="1000" dirty="0">
                <a:solidFill>
                  <a:srgbClr val="098658"/>
                </a:solidFill>
                <a:latin typeface="Consolas"/>
                <a:ea typeface="Consolas"/>
                <a:cs typeface="Consolas"/>
                <a:sym typeface="Consolas"/>
              </a:rPr>
              <a:t>2.5</a:t>
            </a:r>
            <a:r>
              <a:rPr lang="en" sz="1000" dirty="0">
                <a:solidFill>
                  <a:srgbClr val="000000"/>
                </a:solidFill>
                <a:latin typeface="Consolas"/>
                <a:ea typeface="Consolas"/>
                <a:cs typeface="Consolas"/>
                <a:sym typeface="Consolas"/>
              </a:rPr>
              <a:t>, </a:t>
            </a:r>
            <a:r>
              <a:rPr lang="en" sz="1000" dirty="0">
                <a:solidFill>
                  <a:srgbClr val="A31515"/>
                </a:solidFill>
                <a:latin typeface="Consolas"/>
                <a:ea typeface="Consolas"/>
                <a:cs typeface="Consolas"/>
                <a:sym typeface="Consolas"/>
              </a:rPr>
              <a:t>"brown"</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267F99"/>
                </a:solidFill>
                <a:latin typeface="Consolas"/>
                <a:ea typeface="Consolas"/>
                <a:cs typeface="Consolas"/>
                <a:sym typeface="Consolas"/>
              </a:rPr>
              <a:t>Animal</a:t>
            </a:r>
            <a:r>
              <a:rPr lang="en" sz="1000" dirty="0">
                <a:solidFill>
                  <a:srgbClr val="000000"/>
                </a:solidFill>
                <a:latin typeface="Consolas"/>
                <a:ea typeface="Consolas"/>
                <a:cs typeface="Consolas"/>
                <a:sym typeface="Consolas"/>
              </a:rPr>
              <a:t> </a:t>
            </a:r>
            <a:r>
              <a:rPr lang="en" sz="1000" dirty="0">
                <a:solidFill>
                  <a:srgbClr val="001080"/>
                </a:solidFill>
                <a:latin typeface="Consolas"/>
                <a:ea typeface="Consolas"/>
                <a:cs typeface="Consolas"/>
                <a:sym typeface="Consolas"/>
              </a:rPr>
              <a:t>a</a:t>
            </a:r>
            <a:r>
              <a:rPr lang="en" sz="1000" dirty="0">
                <a:solidFill>
                  <a:srgbClr val="000000"/>
                </a:solidFill>
                <a:latin typeface="Consolas"/>
                <a:ea typeface="Consolas"/>
                <a:cs typeface="Consolas"/>
                <a:sym typeface="Consolas"/>
              </a:rPr>
              <a:t> = </a:t>
            </a:r>
            <a:r>
              <a:rPr lang="en" sz="1000" dirty="0">
                <a:solidFill>
                  <a:srgbClr val="AF00DB"/>
                </a:solidFill>
                <a:latin typeface="Consolas"/>
                <a:ea typeface="Consolas"/>
                <a:cs typeface="Consolas"/>
                <a:sym typeface="Consolas"/>
              </a:rPr>
              <a:t>new</a:t>
            </a:r>
            <a:r>
              <a:rPr lang="en" sz="1000" dirty="0">
                <a:solidFill>
                  <a:srgbClr val="000000"/>
                </a:solidFill>
                <a:latin typeface="Consolas"/>
                <a:ea typeface="Consolas"/>
                <a:cs typeface="Consolas"/>
                <a:sym typeface="Consolas"/>
              </a:rPr>
              <a:t> </a:t>
            </a:r>
            <a:r>
              <a:rPr lang="en" sz="1000" dirty="0">
                <a:solidFill>
                  <a:srgbClr val="795E26"/>
                </a:solidFill>
                <a:latin typeface="Consolas"/>
                <a:ea typeface="Consolas"/>
                <a:cs typeface="Consolas"/>
                <a:sym typeface="Consolas"/>
              </a:rPr>
              <a:t>Rabbit</a:t>
            </a:r>
            <a:r>
              <a:rPr lang="en" sz="1000" dirty="0">
                <a:solidFill>
                  <a:srgbClr val="000000"/>
                </a:solidFill>
                <a:latin typeface="Consolas"/>
                <a:ea typeface="Consolas"/>
                <a:cs typeface="Consolas"/>
                <a:sym typeface="Consolas"/>
              </a:rPr>
              <a:t>(</a:t>
            </a:r>
            <a:r>
              <a:rPr lang="en" sz="1000" dirty="0">
                <a:solidFill>
                  <a:srgbClr val="098658"/>
                </a:solidFill>
                <a:latin typeface="Consolas"/>
                <a:ea typeface="Consolas"/>
                <a:cs typeface="Consolas"/>
                <a:sym typeface="Consolas"/>
              </a:rPr>
              <a:t>3</a:t>
            </a:r>
            <a:r>
              <a:rPr lang="en" sz="1000" dirty="0">
                <a:solidFill>
                  <a:srgbClr val="000000"/>
                </a:solidFill>
                <a:latin typeface="Consolas"/>
                <a:ea typeface="Consolas"/>
                <a:cs typeface="Consolas"/>
                <a:sym typeface="Consolas"/>
              </a:rPr>
              <a:t>, </a:t>
            </a:r>
            <a:r>
              <a:rPr lang="en" sz="1000" dirty="0">
                <a:solidFill>
                  <a:srgbClr val="A31515"/>
                </a:solidFill>
                <a:latin typeface="Consolas"/>
                <a:ea typeface="Consolas"/>
                <a:cs typeface="Consolas"/>
                <a:sym typeface="Consolas"/>
              </a:rPr>
              <a:t>"white"</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1080"/>
                </a:solidFill>
                <a:latin typeface="Consolas"/>
                <a:ea typeface="Consolas"/>
                <a:cs typeface="Consolas"/>
                <a:sym typeface="Consolas"/>
              </a:rPr>
              <a:t>a</a:t>
            </a:r>
            <a:r>
              <a:rPr lang="en" sz="1000" dirty="0">
                <a:solidFill>
                  <a:srgbClr val="000000"/>
                </a:solidFill>
                <a:latin typeface="Consolas"/>
                <a:ea typeface="Consolas"/>
                <a:cs typeface="Consolas"/>
                <a:sym typeface="Consolas"/>
              </a:rPr>
              <a:t>.</a:t>
            </a:r>
            <a:r>
              <a:rPr lang="en" sz="1000" dirty="0">
                <a:solidFill>
                  <a:srgbClr val="795E26"/>
                </a:solidFill>
                <a:latin typeface="Consolas"/>
                <a:ea typeface="Consolas"/>
                <a:cs typeface="Consolas"/>
                <a:sym typeface="Consolas"/>
              </a:rPr>
              <a:t>greet</a:t>
            </a:r>
            <a:r>
              <a:rPr lang="en" sz="1000" dirty="0">
                <a:solidFill>
                  <a:srgbClr val="000000"/>
                </a:solidFill>
                <a:latin typeface="Consolas"/>
                <a:ea typeface="Consolas"/>
                <a:cs typeface="Consolas"/>
                <a:sym typeface="Consolas"/>
              </a:rPr>
              <a:t>(r);</a:t>
            </a:r>
            <a:endParaRPr sz="1000" dirty="0">
              <a:solidFill>
                <a:srgbClr val="4EC9B0"/>
              </a:solidFill>
              <a:latin typeface="Consolas"/>
              <a:ea typeface="Consolas"/>
              <a:cs typeface="Consolas"/>
              <a:sym typeface="Consolas"/>
            </a:endParaRPr>
          </a:p>
        </p:txBody>
      </p:sp>
      <p:sp>
        <p:nvSpPr>
          <p:cNvPr id="657" name="Google Shape;657;p85"/>
          <p:cNvSpPr/>
          <p:nvPr/>
        </p:nvSpPr>
        <p:spPr>
          <a:xfrm>
            <a:off x="6096825" y="4241900"/>
            <a:ext cx="1411499" cy="155200"/>
          </a:xfrm>
          <a:custGeom>
            <a:avLst/>
            <a:gdLst/>
            <a:ahLst/>
            <a:cxnLst/>
            <a:rect l="l" t="t" r="r" b="b"/>
            <a:pathLst>
              <a:path w="23944" h="6208" extrusionOk="0">
                <a:moveTo>
                  <a:pt x="0" y="6208"/>
                </a:moveTo>
                <a:cubicBezTo>
                  <a:pt x="3350" y="6011"/>
                  <a:pt x="16110" y="6061"/>
                  <a:pt x="20101" y="5026"/>
                </a:cubicBezTo>
                <a:cubicBezTo>
                  <a:pt x="24092" y="3991"/>
                  <a:pt x="23304" y="838"/>
                  <a:pt x="23944" y="0"/>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85"/>
          <p:cNvSpPr/>
          <p:nvPr/>
        </p:nvSpPr>
        <p:spPr>
          <a:xfrm>
            <a:off x="6030300" y="4552300"/>
            <a:ext cx="975500" cy="363350"/>
          </a:xfrm>
          <a:custGeom>
            <a:avLst/>
            <a:gdLst/>
            <a:ahLst/>
            <a:cxnLst/>
            <a:rect l="l" t="t" r="r" b="b"/>
            <a:pathLst>
              <a:path w="39020" h="14534" extrusionOk="0">
                <a:moveTo>
                  <a:pt x="0" y="12119"/>
                </a:moveTo>
                <a:cubicBezTo>
                  <a:pt x="5518" y="12415"/>
                  <a:pt x="26605" y="15913"/>
                  <a:pt x="33108" y="13893"/>
                </a:cubicBezTo>
                <a:cubicBezTo>
                  <a:pt x="39611" y="11873"/>
                  <a:pt x="38035" y="2316"/>
                  <a:pt x="39020" y="0"/>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85"/>
          <p:cNvSpPr txBox="1"/>
          <p:nvPr/>
        </p:nvSpPr>
        <p:spPr>
          <a:xfrm>
            <a:off x="3750525" y="4132370"/>
            <a:ext cx="2453400" cy="811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rgbClr val="000000"/>
                </a:solidFill>
                <a:latin typeface="Arial"/>
                <a:ea typeface="Arial"/>
                <a:cs typeface="Arial"/>
                <a:sym typeface="Arial"/>
              </a:rPr>
              <a:t>Through subclassing, </a:t>
            </a:r>
            <a:r>
              <a:rPr lang="en" sz="1100" b="0" i="0" u="none" strike="noStrike" cap="none" dirty="0">
                <a:solidFill>
                  <a:srgbClr val="000000"/>
                </a:solidFill>
                <a:latin typeface="Courier New"/>
                <a:ea typeface="Courier New"/>
                <a:cs typeface="Courier New"/>
                <a:sym typeface="Courier New"/>
              </a:rPr>
              <a:t>Rabbit</a:t>
            </a:r>
            <a:r>
              <a:rPr lang="en" sz="1100" b="0" i="0" u="none" strike="noStrike" cap="none" dirty="0">
                <a:solidFill>
                  <a:srgbClr val="000000"/>
                </a:solidFill>
                <a:latin typeface="Arial"/>
                <a:ea typeface="Arial"/>
                <a:cs typeface="Arial"/>
                <a:sym typeface="Arial"/>
              </a:rPr>
              <a:t> "is a" </a:t>
            </a:r>
            <a:r>
              <a:rPr lang="en" sz="1100" b="0" i="0" u="none" strike="noStrike" cap="none" dirty="0">
                <a:solidFill>
                  <a:srgbClr val="000000"/>
                </a:solidFill>
                <a:latin typeface="Courier New"/>
                <a:ea typeface="Courier New"/>
                <a:cs typeface="Courier New"/>
                <a:sym typeface="Courier New"/>
              </a:rPr>
              <a:t>Animal</a:t>
            </a:r>
            <a:r>
              <a:rPr lang="en" sz="1100" b="0" i="0" u="none" strike="noStrike" cap="none" dirty="0">
                <a:solidFill>
                  <a:srgbClr val="000000"/>
                </a:solidFill>
                <a:latin typeface="Arial"/>
                <a:ea typeface="Arial"/>
                <a:cs typeface="Arial"/>
                <a:sym typeface="Arial"/>
              </a:rPr>
              <a:t>, and can be used with any code written to use </a:t>
            </a:r>
            <a:r>
              <a:rPr lang="en" sz="1100" b="0" i="0" u="none" strike="noStrike" cap="none" dirty="0">
                <a:solidFill>
                  <a:srgbClr val="000000"/>
                </a:solidFill>
                <a:latin typeface="Courier New"/>
                <a:ea typeface="Courier New"/>
                <a:cs typeface="Courier New"/>
                <a:sym typeface="Courier New"/>
              </a:rPr>
              <a:t>Animal</a:t>
            </a:r>
            <a:r>
              <a:rPr lang="en" sz="1100" b="0" i="0" u="none" strike="noStrike" cap="none" dirty="0">
                <a:solidFill>
                  <a:srgbClr val="000000"/>
                </a:solidFill>
                <a:latin typeface="Arial"/>
                <a:ea typeface="Arial"/>
                <a:cs typeface="Arial"/>
                <a:sym typeface="Arial"/>
              </a:rPr>
              <a:t>. </a:t>
            </a:r>
            <a:r>
              <a:rPr lang="en" sz="1100" b="1" i="1" u="sng" strike="noStrike" cap="none" dirty="0">
                <a:solidFill>
                  <a:srgbClr val="FF0000"/>
                </a:solidFill>
                <a:latin typeface="Arial"/>
                <a:ea typeface="Arial"/>
                <a:cs typeface="Arial"/>
                <a:sym typeface="Arial"/>
              </a:rPr>
              <a:t>Polymorphism</a:t>
            </a:r>
            <a:r>
              <a:rPr lang="en" sz="1100" b="0" i="0" u="none" strike="noStrike" cap="none" dirty="0">
                <a:solidFill>
                  <a:srgbClr val="000000"/>
                </a:solidFill>
                <a:latin typeface="Arial"/>
                <a:ea typeface="Arial"/>
                <a:cs typeface="Arial"/>
                <a:sym typeface="Arial"/>
              </a:rPr>
              <a:t>!</a:t>
            </a:r>
            <a:endParaRPr sz="11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8"/>
                                        </p:tgtEl>
                                        <p:attrNameLst>
                                          <p:attrName>style.visibility</p:attrName>
                                        </p:attrNameLst>
                                      </p:cBhvr>
                                      <p:to>
                                        <p:strVal val="visible"/>
                                      </p:to>
                                    </p:set>
                                    <p:animEffect transition="in" filter="fade">
                                      <p:cBhvr>
                                        <p:cTn id="7" dur="1000"/>
                                        <p:tgtEl>
                                          <p:spTgt spid="64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647"/>
                                        </p:tgtEl>
                                        <p:attrNameLst>
                                          <p:attrName>style.visibility</p:attrName>
                                        </p:attrNameLst>
                                      </p:cBhvr>
                                      <p:to>
                                        <p:strVal val="visible"/>
                                      </p:to>
                                    </p:set>
                                    <p:animEffect transition="in" filter="fade">
                                      <p:cBhvr>
                                        <p:cTn id="11" dur="1000"/>
                                        <p:tgtEl>
                                          <p:spTgt spid="64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50"/>
                                        </p:tgtEl>
                                        <p:attrNameLst>
                                          <p:attrName>style.visibility</p:attrName>
                                        </p:attrNameLst>
                                      </p:cBhvr>
                                      <p:to>
                                        <p:strVal val="visible"/>
                                      </p:to>
                                    </p:set>
                                    <p:animEffect transition="in" filter="fade">
                                      <p:cBhvr>
                                        <p:cTn id="16" dur="1000"/>
                                        <p:tgtEl>
                                          <p:spTgt spid="65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649"/>
                                        </p:tgtEl>
                                        <p:attrNameLst>
                                          <p:attrName>style.visibility</p:attrName>
                                        </p:attrNameLst>
                                      </p:cBhvr>
                                      <p:to>
                                        <p:strVal val="visible"/>
                                      </p:to>
                                    </p:set>
                                    <p:animEffect transition="in" filter="fade">
                                      <p:cBhvr>
                                        <p:cTn id="20" dur="1000"/>
                                        <p:tgtEl>
                                          <p:spTgt spid="64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55"/>
                                        </p:tgtEl>
                                        <p:attrNameLst>
                                          <p:attrName>style.visibility</p:attrName>
                                        </p:attrNameLst>
                                      </p:cBhvr>
                                      <p:to>
                                        <p:strVal val="visible"/>
                                      </p:to>
                                    </p:set>
                                    <p:animEffect transition="in" filter="fade">
                                      <p:cBhvr>
                                        <p:cTn id="25" dur="1000"/>
                                        <p:tgtEl>
                                          <p:spTgt spid="655"/>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652"/>
                                        </p:tgtEl>
                                        <p:attrNameLst>
                                          <p:attrName>style.visibility</p:attrName>
                                        </p:attrNameLst>
                                      </p:cBhvr>
                                      <p:to>
                                        <p:strVal val="visible"/>
                                      </p:to>
                                    </p:set>
                                    <p:animEffect transition="in" filter="fade">
                                      <p:cBhvr>
                                        <p:cTn id="29" dur="1000"/>
                                        <p:tgtEl>
                                          <p:spTgt spid="652"/>
                                        </p:tgtEl>
                                      </p:cBhvr>
                                    </p:animEffect>
                                  </p:childTnLst>
                                </p:cTn>
                              </p:par>
                            </p:childTnLst>
                          </p:cTn>
                        </p:par>
                        <p:par>
                          <p:cTn id="30" fill="hold">
                            <p:stCondLst>
                              <p:cond delay="2000"/>
                            </p:stCondLst>
                            <p:childTnLst>
                              <p:par>
                                <p:cTn id="31" presetID="10" presetClass="entr" presetSubtype="0" fill="hold" nodeType="afterEffect">
                                  <p:stCondLst>
                                    <p:cond delay="0"/>
                                  </p:stCondLst>
                                  <p:childTnLst>
                                    <p:set>
                                      <p:cBhvr>
                                        <p:cTn id="32" dur="1" fill="hold">
                                          <p:stCondLst>
                                            <p:cond delay="0"/>
                                          </p:stCondLst>
                                        </p:cTn>
                                        <p:tgtEl>
                                          <p:spTgt spid="651"/>
                                        </p:tgtEl>
                                        <p:attrNameLst>
                                          <p:attrName>style.visibility</p:attrName>
                                        </p:attrNameLst>
                                      </p:cBhvr>
                                      <p:to>
                                        <p:strVal val="visible"/>
                                      </p:to>
                                    </p:set>
                                    <p:animEffect transition="in" filter="fade">
                                      <p:cBhvr>
                                        <p:cTn id="33" dur="1000"/>
                                        <p:tgtEl>
                                          <p:spTgt spid="65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59"/>
                                        </p:tgtEl>
                                        <p:attrNameLst>
                                          <p:attrName>style.visibility</p:attrName>
                                        </p:attrNameLst>
                                      </p:cBhvr>
                                      <p:to>
                                        <p:strVal val="visible"/>
                                      </p:to>
                                    </p:set>
                                    <p:animEffect transition="in" filter="fade">
                                      <p:cBhvr>
                                        <p:cTn id="38" dur="1000"/>
                                        <p:tgtEl>
                                          <p:spTgt spid="659"/>
                                        </p:tgtEl>
                                      </p:cBhvr>
                                    </p:animEffect>
                                  </p:childTnLst>
                                </p:cTn>
                              </p:par>
                              <p:par>
                                <p:cTn id="39" presetID="10" presetClass="entr" presetSubtype="0" fill="hold" nodeType="withEffect">
                                  <p:stCondLst>
                                    <p:cond delay="0"/>
                                  </p:stCondLst>
                                  <p:childTnLst>
                                    <p:set>
                                      <p:cBhvr>
                                        <p:cTn id="40" dur="1" fill="hold">
                                          <p:stCondLst>
                                            <p:cond delay="0"/>
                                          </p:stCondLst>
                                        </p:cTn>
                                        <p:tgtEl>
                                          <p:spTgt spid="656"/>
                                        </p:tgtEl>
                                        <p:attrNameLst>
                                          <p:attrName>style.visibility</p:attrName>
                                        </p:attrNameLst>
                                      </p:cBhvr>
                                      <p:to>
                                        <p:strVal val="visible"/>
                                      </p:to>
                                    </p:set>
                                    <p:animEffect transition="in" filter="fade">
                                      <p:cBhvr>
                                        <p:cTn id="41" dur="1000"/>
                                        <p:tgtEl>
                                          <p:spTgt spid="656"/>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657"/>
                                        </p:tgtEl>
                                        <p:attrNameLst>
                                          <p:attrName>style.visibility</p:attrName>
                                        </p:attrNameLst>
                                      </p:cBhvr>
                                      <p:to>
                                        <p:strVal val="visible"/>
                                      </p:to>
                                    </p:set>
                                    <p:animEffect transition="in" filter="fade">
                                      <p:cBhvr>
                                        <p:cTn id="45" dur="1000"/>
                                        <p:tgtEl>
                                          <p:spTgt spid="657"/>
                                        </p:tgtEl>
                                      </p:cBhvr>
                                    </p:animEffect>
                                  </p:childTnLst>
                                </p:cTn>
                              </p:par>
                            </p:childTnLst>
                          </p:cTn>
                        </p:par>
                        <p:par>
                          <p:cTn id="46" fill="hold">
                            <p:stCondLst>
                              <p:cond delay="2000"/>
                            </p:stCondLst>
                            <p:childTnLst>
                              <p:par>
                                <p:cTn id="47" presetID="10" presetClass="entr" presetSubtype="0" fill="hold" nodeType="afterEffect">
                                  <p:stCondLst>
                                    <p:cond delay="0"/>
                                  </p:stCondLst>
                                  <p:childTnLst>
                                    <p:set>
                                      <p:cBhvr>
                                        <p:cTn id="48" dur="1" fill="hold">
                                          <p:stCondLst>
                                            <p:cond delay="0"/>
                                          </p:stCondLst>
                                        </p:cTn>
                                        <p:tgtEl>
                                          <p:spTgt spid="658"/>
                                        </p:tgtEl>
                                        <p:attrNameLst>
                                          <p:attrName>style.visibility</p:attrName>
                                        </p:attrNameLst>
                                      </p:cBhvr>
                                      <p:to>
                                        <p:strVal val="visible"/>
                                      </p:to>
                                    </p:set>
                                    <p:animEffect transition="in" filter="fade">
                                      <p:cBhvr>
                                        <p:cTn id="49" dur="1000"/>
                                        <p:tgtEl>
                                          <p:spTgt spid="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8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you have encapsulated all of the common state and behavior in the </a:t>
            </a:r>
            <a:r>
              <a:rPr lang="en">
                <a:latin typeface="Courier New"/>
                <a:ea typeface="Courier New"/>
                <a:cs typeface="Courier New"/>
                <a:sym typeface="Courier New"/>
              </a:rPr>
              <a:t>Goat</a:t>
            </a:r>
            <a:r>
              <a:rPr lang="en"/>
              <a:t> class, refactor </a:t>
            </a:r>
            <a:r>
              <a:rPr lang="en">
                <a:latin typeface="Courier New"/>
                <a:ea typeface="Courier New"/>
                <a:cs typeface="Courier New"/>
                <a:sym typeface="Courier New"/>
              </a:rPr>
              <a:t>Mage</a:t>
            </a:r>
            <a:r>
              <a:rPr lang="en"/>
              <a:t> so that it extends </a:t>
            </a:r>
            <a:r>
              <a:rPr lang="en">
                <a:latin typeface="Courier New"/>
                <a:ea typeface="Courier New"/>
                <a:cs typeface="Courier New"/>
                <a:sym typeface="Courier New"/>
              </a:rPr>
              <a:t>Goat</a:t>
            </a:r>
            <a:r>
              <a:rPr lang="en"/>
              <a:t>.</a:t>
            </a:r>
            <a:endParaRPr/>
          </a:p>
        </p:txBody>
      </p:sp>
      <p:sp>
        <p:nvSpPr>
          <p:cNvPr id="665" name="Google Shape;665;p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666" name="Google Shape;666;p86"/>
          <p:cNvSpPr txBox="1">
            <a:spLocks noGrp="1"/>
          </p:cNvSpPr>
          <p:nvPr>
            <p:ph type="body" idx="2"/>
          </p:nvPr>
        </p:nvSpPr>
        <p:spPr>
          <a:xfrm>
            <a:off x="3033175" y="1418875"/>
            <a:ext cx="5807700" cy="30600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Open your </a:t>
            </a:r>
            <a:r>
              <a:rPr lang="en" sz="1400" dirty="0">
                <a:solidFill>
                  <a:srgbClr val="FF0000"/>
                </a:solidFill>
                <a:latin typeface="Courier New"/>
                <a:ea typeface="Courier New"/>
                <a:cs typeface="Courier New"/>
                <a:sym typeface="Courier New"/>
              </a:rPr>
              <a:t>Mage</a:t>
            </a:r>
            <a:r>
              <a:rPr lang="en" sz="1400" dirty="0">
                <a:solidFill>
                  <a:srgbClr val="FF0000"/>
                </a:solidFill>
              </a:rPr>
              <a:t> </a:t>
            </a:r>
            <a:r>
              <a:rPr lang="en" sz="1400" dirty="0"/>
              <a:t>class and modify it so that it subclasses your common </a:t>
            </a:r>
            <a:r>
              <a:rPr lang="en" sz="1400" dirty="0">
                <a:solidFill>
                  <a:srgbClr val="FF0000"/>
                </a:solidFill>
                <a:latin typeface="Courier New"/>
                <a:ea typeface="Courier New"/>
                <a:cs typeface="Courier New"/>
                <a:sym typeface="Courier New"/>
              </a:rPr>
              <a:t>Goat</a:t>
            </a:r>
            <a:r>
              <a:rPr lang="en" sz="1400" dirty="0"/>
              <a:t>. For now we will focus only on the </a:t>
            </a:r>
            <a:r>
              <a:rPr lang="en" sz="1400" b="1" i="1" dirty="0">
                <a:solidFill>
                  <a:srgbClr val="FF0000"/>
                </a:solidFill>
              </a:rPr>
              <a:t>constructor</a:t>
            </a:r>
            <a:r>
              <a:rPr lang="en" sz="1400" dirty="0"/>
              <a:t>.</a:t>
            </a:r>
            <a:endParaRPr sz="1400" dirty="0"/>
          </a:p>
          <a:p>
            <a:pPr marL="914400" lvl="1" indent="-304800" algn="l" rtl="0">
              <a:spcBef>
                <a:spcPts val="0"/>
              </a:spcBef>
              <a:spcAft>
                <a:spcPts val="0"/>
              </a:spcAft>
              <a:buSzPts val="1200"/>
              <a:buChar char="○"/>
            </a:pPr>
            <a:r>
              <a:rPr lang="en" sz="1200" dirty="0"/>
              <a:t>Begin by </a:t>
            </a:r>
            <a:r>
              <a:rPr lang="en" sz="1200" b="1" i="1" dirty="0">
                <a:solidFill>
                  <a:srgbClr val="FF0000"/>
                </a:solidFill>
              </a:rPr>
              <a:t>commenting all but the</a:t>
            </a:r>
            <a:r>
              <a:rPr lang="en" sz="1200" dirty="0">
                <a:solidFill>
                  <a:srgbClr val="FF0000"/>
                </a:solidFill>
              </a:rPr>
              <a:t> </a:t>
            </a:r>
            <a:r>
              <a:rPr lang="en" sz="1200" dirty="0">
                <a:solidFill>
                  <a:srgbClr val="FF0000"/>
                </a:solidFill>
                <a:latin typeface="Courier New"/>
                <a:ea typeface="Courier New"/>
                <a:cs typeface="Courier New"/>
                <a:sym typeface="Courier New"/>
              </a:rPr>
              <a:t>main</a:t>
            </a:r>
            <a:r>
              <a:rPr lang="en" sz="1200" dirty="0">
                <a:solidFill>
                  <a:srgbClr val="FF0000"/>
                </a:solidFill>
              </a:rPr>
              <a:t> </a:t>
            </a:r>
            <a:r>
              <a:rPr lang="en" sz="1200" b="1" i="1" dirty="0">
                <a:solidFill>
                  <a:srgbClr val="FF0000"/>
                </a:solidFill>
              </a:rPr>
              <a:t>method</a:t>
            </a:r>
            <a:r>
              <a:rPr lang="en" sz="1200" b="1" i="1" dirty="0"/>
              <a:t> </a:t>
            </a:r>
            <a:r>
              <a:rPr lang="en" sz="1200" dirty="0"/>
              <a:t>in the body of the class.</a:t>
            </a:r>
            <a:endParaRPr sz="1200" dirty="0"/>
          </a:p>
          <a:p>
            <a:pPr marL="914400" lvl="1" indent="-304800" algn="l" rtl="0">
              <a:spcBef>
                <a:spcPts val="0"/>
              </a:spcBef>
              <a:spcAft>
                <a:spcPts val="0"/>
              </a:spcAft>
              <a:buSzPts val="1200"/>
              <a:buChar char="○"/>
            </a:pPr>
            <a:r>
              <a:rPr lang="en" sz="1200" dirty="0"/>
              <a:t>Use </a:t>
            </a:r>
            <a:r>
              <a:rPr lang="en" sz="1200" dirty="0">
                <a:solidFill>
                  <a:srgbClr val="FF0000"/>
                </a:solidFill>
                <a:latin typeface="Courier New"/>
                <a:ea typeface="Courier New"/>
                <a:cs typeface="Courier New"/>
                <a:sym typeface="Courier New"/>
              </a:rPr>
              <a:t>extends</a:t>
            </a:r>
            <a:r>
              <a:rPr lang="en" sz="1200" dirty="0">
                <a:solidFill>
                  <a:srgbClr val="FF0000"/>
                </a:solidFill>
              </a:rPr>
              <a:t> </a:t>
            </a:r>
            <a:r>
              <a:rPr lang="en" sz="1200" dirty="0"/>
              <a:t>to establish the inheritance relationship with </a:t>
            </a:r>
            <a:r>
              <a:rPr lang="en" sz="1200" dirty="0">
                <a:latin typeface="Courier New"/>
                <a:ea typeface="Courier New"/>
                <a:cs typeface="Courier New"/>
                <a:sym typeface="Courier New"/>
              </a:rPr>
              <a:t>Goat</a:t>
            </a:r>
            <a:r>
              <a:rPr lang="en" sz="1200" dirty="0"/>
              <a:t>.</a:t>
            </a:r>
            <a:endParaRPr sz="1200" dirty="0"/>
          </a:p>
          <a:p>
            <a:pPr marL="457200" lvl="0" indent="-317500" algn="l" rtl="0">
              <a:spcBef>
                <a:spcPts val="0"/>
              </a:spcBef>
              <a:spcAft>
                <a:spcPts val="0"/>
              </a:spcAft>
              <a:buSzPts val="1400"/>
              <a:buChar char="●"/>
            </a:pPr>
            <a:r>
              <a:rPr lang="en" sz="1400" dirty="0"/>
              <a:t>Try to </a:t>
            </a:r>
            <a:r>
              <a:rPr lang="en" sz="1400" b="1" i="1" dirty="0">
                <a:solidFill>
                  <a:srgbClr val="FF0000"/>
                </a:solidFill>
              </a:rPr>
              <a:t>compile</a:t>
            </a:r>
            <a:r>
              <a:rPr lang="en" sz="1400" dirty="0">
                <a:solidFill>
                  <a:srgbClr val="FF0000"/>
                </a:solidFill>
              </a:rPr>
              <a:t> </a:t>
            </a:r>
            <a:r>
              <a:rPr lang="en" sz="1400" dirty="0"/>
              <a:t>and </a:t>
            </a:r>
            <a:r>
              <a:rPr lang="en" sz="1400" b="1" i="1" dirty="0">
                <a:solidFill>
                  <a:srgbClr val="FF0000"/>
                </a:solidFill>
              </a:rPr>
              <a:t>run</a:t>
            </a:r>
            <a:r>
              <a:rPr lang="en" sz="1400" dirty="0">
                <a:solidFill>
                  <a:srgbClr val="FF0000"/>
                </a:solidFill>
              </a:rPr>
              <a:t> </a:t>
            </a:r>
            <a:r>
              <a:rPr lang="en" sz="1400" dirty="0"/>
              <a:t>the class. </a:t>
            </a:r>
            <a:endParaRPr sz="1400" dirty="0"/>
          </a:p>
          <a:p>
            <a:pPr marL="914400" lvl="1" indent="-304800" algn="l" rtl="0">
              <a:spcBef>
                <a:spcPts val="0"/>
              </a:spcBef>
              <a:spcAft>
                <a:spcPts val="0"/>
              </a:spcAft>
              <a:buSzPts val="1200"/>
              <a:buChar char="○"/>
            </a:pPr>
            <a:r>
              <a:rPr lang="en" sz="1200" dirty="0">
                <a:highlight>
                  <a:srgbClr val="FFFF00"/>
                </a:highlight>
              </a:rPr>
              <a:t>Compilation will </a:t>
            </a:r>
            <a:r>
              <a:rPr lang="en" sz="1200" b="1" i="1" dirty="0">
                <a:solidFill>
                  <a:srgbClr val="FF0000"/>
                </a:solidFill>
                <a:highlight>
                  <a:srgbClr val="FFFF00"/>
                </a:highlight>
              </a:rPr>
              <a:t>fail </a:t>
            </a:r>
            <a:r>
              <a:rPr lang="en" sz="1200" dirty="0">
                <a:highlight>
                  <a:srgbClr val="FFFF00"/>
                </a:highlight>
              </a:rPr>
              <a:t>because you have not yet defined a </a:t>
            </a:r>
            <a:r>
              <a:rPr lang="en" sz="1200" b="1" i="1" dirty="0">
                <a:solidFill>
                  <a:srgbClr val="FF0000"/>
                </a:solidFill>
                <a:highlight>
                  <a:srgbClr val="FFFF00"/>
                </a:highlight>
              </a:rPr>
              <a:t>constructor</a:t>
            </a:r>
            <a:r>
              <a:rPr lang="en" sz="1200" dirty="0">
                <a:highlight>
                  <a:srgbClr val="FFFF00"/>
                </a:highlight>
              </a:rPr>
              <a:t>.</a:t>
            </a:r>
            <a:endParaRPr sz="1200" dirty="0">
              <a:highlight>
                <a:srgbClr val="FFFF00"/>
              </a:highlight>
            </a:endParaRPr>
          </a:p>
          <a:p>
            <a:pPr marL="914400" lvl="1" indent="-304800" algn="l" rtl="0">
              <a:spcBef>
                <a:spcPts val="0"/>
              </a:spcBef>
              <a:spcAft>
                <a:spcPts val="0"/>
              </a:spcAft>
              <a:buSzPts val="1200"/>
              <a:buChar char="○"/>
            </a:pPr>
            <a:r>
              <a:rPr lang="en" sz="1200" dirty="0">
                <a:highlight>
                  <a:srgbClr val="FFFF00"/>
                </a:highlight>
              </a:rPr>
              <a:t>Add a constructor to your </a:t>
            </a:r>
            <a:r>
              <a:rPr lang="en" sz="1200" dirty="0">
                <a:highlight>
                  <a:srgbClr val="FFFF00"/>
                </a:highlight>
                <a:latin typeface="Courier New"/>
                <a:ea typeface="Courier New"/>
                <a:cs typeface="Courier New"/>
                <a:sym typeface="Courier New"/>
              </a:rPr>
              <a:t>Mage</a:t>
            </a:r>
            <a:r>
              <a:rPr lang="en" sz="1200" dirty="0">
                <a:highlight>
                  <a:srgbClr val="FFFF00"/>
                </a:highlight>
              </a:rPr>
              <a:t> class that uses </a:t>
            </a:r>
            <a:r>
              <a:rPr lang="en" sz="1200" dirty="0">
                <a:solidFill>
                  <a:srgbClr val="FF0000"/>
                </a:solidFill>
                <a:highlight>
                  <a:srgbClr val="FFFF00"/>
                </a:highlight>
                <a:latin typeface="Courier New"/>
                <a:ea typeface="Courier New"/>
                <a:cs typeface="Courier New"/>
                <a:sym typeface="Courier New"/>
              </a:rPr>
              <a:t>super</a:t>
            </a:r>
            <a:r>
              <a:rPr lang="en" sz="1200" dirty="0">
                <a:solidFill>
                  <a:srgbClr val="FF0000"/>
                </a:solidFill>
                <a:highlight>
                  <a:srgbClr val="FFFF00"/>
                </a:highlight>
              </a:rPr>
              <a:t> </a:t>
            </a:r>
            <a:r>
              <a:rPr lang="en" sz="1200" dirty="0">
                <a:highlight>
                  <a:srgbClr val="FFFF00"/>
                </a:highlight>
              </a:rPr>
              <a:t>to call the constructor in the parent class. </a:t>
            </a:r>
            <a:endParaRPr sz="1200" dirty="0">
              <a:highlight>
                <a:srgbClr val="FFFF00"/>
              </a:highlight>
            </a:endParaRPr>
          </a:p>
          <a:p>
            <a:pPr marL="914400" lvl="1" indent="-304800" algn="l" rtl="0">
              <a:spcBef>
                <a:spcPts val="0"/>
              </a:spcBef>
              <a:spcAft>
                <a:spcPts val="0"/>
              </a:spcAft>
              <a:buSzPts val="1200"/>
              <a:buChar char="○"/>
            </a:pPr>
            <a:r>
              <a:rPr lang="en" sz="1200" dirty="0"/>
              <a:t>What </a:t>
            </a:r>
            <a:r>
              <a:rPr lang="en" sz="1200" b="1" i="1" dirty="0">
                <a:solidFill>
                  <a:srgbClr val="FF0000"/>
                </a:solidFill>
              </a:rPr>
              <a:t>parameters </a:t>
            </a:r>
            <a:r>
              <a:rPr lang="en" sz="1200" dirty="0"/>
              <a:t>will your </a:t>
            </a:r>
            <a:r>
              <a:rPr lang="en" sz="1200" dirty="0">
                <a:latin typeface="Courier New"/>
                <a:ea typeface="Courier New"/>
                <a:cs typeface="Courier New"/>
                <a:sym typeface="Courier New"/>
              </a:rPr>
              <a:t>Mage</a:t>
            </a:r>
            <a:r>
              <a:rPr lang="en" sz="1200" dirty="0"/>
              <a:t> constructor need? </a:t>
            </a:r>
            <a:r>
              <a:rPr lang="en" sz="1200" b="1" i="1" dirty="0">
                <a:solidFill>
                  <a:srgbClr val="FF0000"/>
                </a:solidFill>
              </a:rPr>
              <a:t>Hint</a:t>
            </a:r>
            <a:r>
              <a:rPr lang="en" sz="1200" dirty="0"/>
              <a:t>: some values never change from one </a:t>
            </a:r>
            <a:r>
              <a:rPr lang="en" sz="1200" dirty="0">
                <a:latin typeface="Courier New"/>
                <a:ea typeface="Courier New"/>
                <a:cs typeface="Courier New"/>
                <a:sym typeface="Courier New"/>
              </a:rPr>
              <a:t>Mage</a:t>
            </a:r>
            <a:r>
              <a:rPr lang="en" sz="1200" dirty="0"/>
              <a:t> to the next.</a:t>
            </a:r>
            <a:endParaRPr sz="1200" dirty="0"/>
          </a:p>
          <a:p>
            <a:pPr marL="457200" lvl="0" indent="-317500" algn="l" rtl="0">
              <a:spcBef>
                <a:spcPts val="0"/>
              </a:spcBef>
              <a:spcAft>
                <a:spcPts val="0"/>
              </a:spcAft>
              <a:buSzPts val="1400"/>
              <a:buChar char="●"/>
            </a:pPr>
            <a:r>
              <a:rPr lang="en" sz="1400" b="1" i="1" dirty="0">
                <a:solidFill>
                  <a:srgbClr val="FF0000"/>
                </a:solidFill>
              </a:rPr>
              <a:t>Compile</a:t>
            </a:r>
            <a:r>
              <a:rPr lang="en" sz="1400" dirty="0">
                <a:solidFill>
                  <a:srgbClr val="FF0000"/>
                </a:solidFill>
              </a:rPr>
              <a:t> </a:t>
            </a:r>
            <a:r>
              <a:rPr lang="en" sz="1400" dirty="0"/>
              <a:t>and </a:t>
            </a:r>
            <a:r>
              <a:rPr lang="en" sz="1400" b="1" i="1" dirty="0">
                <a:solidFill>
                  <a:srgbClr val="FF0000"/>
                </a:solidFill>
              </a:rPr>
              <a:t>run</a:t>
            </a:r>
            <a:r>
              <a:rPr lang="en" sz="1400" dirty="0">
                <a:solidFill>
                  <a:srgbClr val="FF0000"/>
                </a:solidFill>
              </a:rPr>
              <a:t> </a:t>
            </a:r>
            <a:r>
              <a:rPr lang="en" sz="1400" dirty="0"/>
              <a:t>the class again. </a:t>
            </a:r>
            <a:endParaRPr sz="1400" dirty="0"/>
          </a:p>
          <a:p>
            <a:pPr marL="914400" lvl="1" indent="-304800" algn="l" rtl="0">
              <a:spcBef>
                <a:spcPts val="0"/>
              </a:spcBef>
              <a:spcAft>
                <a:spcPts val="0"/>
              </a:spcAft>
              <a:buSzPts val="1200"/>
              <a:buChar char="○"/>
            </a:pPr>
            <a:r>
              <a:rPr lang="en" sz="1200" dirty="0"/>
              <a:t>Does the </a:t>
            </a:r>
            <a:r>
              <a:rPr lang="en" sz="1200" dirty="0">
                <a:latin typeface="Courier New"/>
                <a:ea typeface="Courier New"/>
                <a:cs typeface="Courier New"/>
                <a:sym typeface="Courier New"/>
              </a:rPr>
              <a:t>main</a:t>
            </a:r>
            <a:r>
              <a:rPr lang="en" sz="1200" dirty="0"/>
              <a:t> method still work the way that you expect it to?</a:t>
            </a:r>
            <a:endParaRPr sz="1200" dirty="0"/>
          </a:p>
        </p:txBody>
      </p:sp>
      <p:sp>
        <p:nvSpPr>
          <p:cNvPr id="667" name="Google Shape;667;p8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Begin Refactoring Mage</a:t>
            </a:r>
            <a:endParaRPr/>
          </a:p>
        </p:txBody>
      </p:sp>
      <p:sp>
        <p:nvSpPr>
          <p:cNvPr id="668" name="Google Shape;668;p8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3.11</a:t>
            </a:r>
            <a:endParaRPr/>
          </a:p>
        </p:txBody>
      </p:sp>
      <p:sp>
        <p:nvSpPr>
          <p:cNvPr id="669" name="Google Shape;669;p86"/>
          <p:cNvSpPr txBox="1"/>
          <p:nvPr/>
        </p:nvSpPr>
        <p:spPr>
          <a:xfrm>
            <a:off x="228600" y="3485526"/>
            <a:ext cx="2697300" cy="14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Rabbit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Animal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Rabbit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A31515"/>
                </a:solidFill>
                <a:latin typeface="Consolas"/>
                <a:ea typeface="Consolas"/>
                <a:cs typeface="Consolas"/>
                <a:sym typeface="Consolas"/>
              </a:rPr>
              <a:t>"Rabbit"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a:t>
            </a:r>
            <a:endParaRPr sz="900">
              <a:solidFill>
                <a:srgbClr val="569CD6"/>
              </a:solidFill>
              <a:latin typeface="Consolas"/>
              <a:ea typeface="Consolas"/>
              <a:cs typeface="Consolas"/>
              <a:sym typeface="Consolas"/>
            </a:endParaRPr>
          </a:p>
        </p:txBody>
      </p:sp>
      <p:sp>
        <p:nvSpPr>
          <p:cNvPr id="670" name="Google Shape;670;p86"/>
          <p:cNvSpPr txBox="1"/>
          <p:nvPr/>
        </p:nvSpPr>
        <p:spPr>
          <a:xfrm>
            <a:off x="228600" y="1545151"/>
            <a:ext cx="2697300" cy="1569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Animal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Animal</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solidFill>
                <a:srgbClr val="569CD6"/>
              </a:solidFill>
              <a:latin typeface="Consolas"/>
              <a:ea typeface="Consolas"/>
              <a:cs typeface="Consolas"/>
              <a:sym typeface="Consolas"/>
            </a:endParaRPr>
          </a:p>
        </p:txBody>
      </p:sp>
      <p:grpSp>
        <p:nvGrpSpPr>
          <p:cNvPr id="671" name="Google Shape;671;p86"/>
          <p:cNvGrpSpPr/>
          <p:nvPr/>
        </p:nvGrpSpPr>
        <p:grpSpPr>
          <a:xfrm>
            <a:off x="1437600" y="3113833"/>
            <a:ext cx="279300" cy="371700"/>
            <a:chOff x="1067200" y="1950975"/>
            <a:chExt cx="279300" cy="371700"/>
          </a:xfrm>
        </p:grpSpPr>
        <p:sp>
          <p:nvSpPr>
            <p:cNvPr id="672" name="Google Shape;672;p86"/>
            <p:cNvSpPr/>
            <p:nvPr/>
          </p:nvSpPr>
          <p:spPr>
            <a:xfrm>
              <a:off x="1067200" y="1950975"/>
              <a:ext cx="279300" cy="207900"/>
            </a:xfrm>
            <a:prstGeom prst="triangle">
              <a:avLst>
                <a:gd name="adj" fmla="val 50000"/>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73" name="Google Shape;673;p86"/>
            <p:cNvCxnSpPr>
              <a:stCxn id="672" idx="3"/>
            </p:cNvCxnSpPr>
            <p:nvPr/>
          </p:nvCxnSpPr>
          <p:spPr>
            <a:xfrm>
              <a:off x="1206850" y="2158875"/>
              <a:ext cx="3000" cy="163800"/>
            </a:xfrm>
            <a:prstGeom prst="straightConnector1">
              <a:avLst/>
            </a:prstGeom>
            <a:noFill/>
            <a:ln w="28575" cap="flat" cmpd="sng">
              <a:solidFill>
                <a:srgbClr val="000000"/>
              </a:solidFill>
              <a:prstDash val="solid"/>
              <a:round/>
              <a:headEnd type="none" w="sm" len="sm"/>
              <a:tailEnd type="none" w="sm" len="sm"/>
            </a:ln>
          </p:spPr>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87"/>
          <p:cNvSpPr txBox="1">
            <a:spLocks noGrp="1"/>
          </p:cNvSpPr>
          <p:nvPr>
            <p:ph type="title"/>
          </p:nvPr>
        </p:nvSpPr>
        <p:spPr>
          <a:xfrm>
            <a:off x="311725" y="119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Overriding Methods</a:t>
            </a:r>
            <a:endParaRPr/>
          </a:p>
        </p:txBody>
      </p:sp>
      <p:sp>
        <p:nvSpPr>
          <p:cNvPr id="679" name="Google Shape;679;p87"/>
          <p:cNvSpPr txBox="1">
            <a:spLocks noGrp="1"/>
          </p:cNvSpPr>
          <p:nvPr>
            <p:ph type="body" idx="1"/>
          </p:nvPr>
        </p:nvSpPr>
        <p:spPr>
          <a:xfrm>
            <a:off x="4374925" y="119925"/>
            <a:ext cx="4646100" cy="4777800"/>
          </a:xfrm>
          <a:prstGeom prst="rect">
            <a:avLst/>
          </a:prstGeom>
          <a:noFill/>
          <a:ln>
            <a:noFill/>
          </a:ln>
        </p:spPr>
        <p:txBody>
          <a:bodyPr spcFirstLastPara="1" wrap="square" lIns="91425" tIns="91425" rIns="91425" bIns="91425" anchor="ctr" anchorCtr="0">
            <a:noAutofit/>
          </a:bodyPr>
          <a:lstStyle/>
          <a:p>
            <a:pPr marL="457200" lvl="0" indent="-311150" algn="l" rtl="0">
              <a:lnSpc>
                <a:spcPct val="115000"/>
              </a:lnSpc>
              <a:spcBef>
                <a:spcPts val="0"/>
              </a:spcBef>
              <a:spcAft>
                <a:spcPts val="0"/>
              </a:spcAft>
              <a:buSzPts val="1300"/>
              <a:buChar char="●"/>
            </a:pPr>
            <a:r>
              <a:rPr lang="en" dirty="0">
                <a:highlight>
                  <a:srgbClr val="FFFF00"/>
                </a:highlight>
              </a:rPr>
              <a:t>Inheritance enables </a:t>
            </a:r>
            <a:r>
              <a:rPr lang="en" b="1" i="1" dirty="0">
                <a:solidFill>
                  <a:srgbClr val="FF0000"/>
                </a:solidFill>
                <a:highlight>
                  <a:srgbClr val="FFFF00"/>
                </a:highlight>
              </a:rPr>
              <a:t>polymorphism</a:t>
            </a:r>
            <a:r>
              <a:rPr lang="en" dirty="0">
                <a:highlight>
                  <a:srgbClr val="FFFF00"/>
                </a:highlight>
              </a:rPr>
              <a:t>, </a:t>
            </a:r>
            <a:r>
              <a:rPr lang="en" dirty="0"/>
              <a:t>which means that any code written to use the </a:t>
            </a:r>
            <a:r>
              <a:rPr lang="en" b="1" i="1" dirty="0">
                <a:solidFill>
                  <a:srgbClr val="FF0000"/>
                </a:solidFill>
              </a:rPr>
              <a:t>parent</a:t>
            </a:r>
            <a:r>
              <a:rPr lang="en" dirty="0">
                <a:solidFill>
                  <a:srgbClr val="FF0000"/>
                </a:solidFill>
              </a:rPr>
              <a:t> </a:t>
            </a:r>
            <a:r>
              <a:rPr lang="en" dirty="0"/>
              <a:t>will also work with </a:t>
            </a:r>
            <a:r>
              <a:rPr lang="en" b="1" i="1" dirty="0">
                <a:solidFill>
                  <a:srgbClr val="FF0000"/>
                </a:solidFill>
                <a:highlight>
                  <a:srgbClr val="FFFF00"/>
                </a:highlight>
              </a:rPr>
              <a:t>any </a:t>
            </a:r>
            <a:r>
              <a:rPr lang="en" dirty="0">
                <a:highlight>
                  <a:srgbClr val="FFFF00"/>
                </a:highlight>
              </a:rPr>
              <a:t>of its </a:t>
            </a:r>
            <a:r>
              <a:rPr lang="en" b="1" i="1" dirty="0">
                <a:solidFill>
                  <a:srgbClr val="FF0000"/>
                </a:solidFill>
                <a:highlight>
                  <a:srgbClr val="FFFF00"/>
                </a:highlight>
              </a:rPr>
              <a:t>children</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t>This is because the child class </a:t>
            </a:r>
            <a:r>
              <a:rPr lang="en" b="1" i="1" dirty="0">
                <a:solidFill>
                  <a:srgbClr val="FF0000"/>
                </a:solidFill>
                <a:highlight>
                  <a:srgbClr val="FFFF00"/>
                </a:highlight>
              </a:rPr>
              <a:t>inherits</a:t>
            </a:r>
            <a:r>
              <a:rPr lang="en" dirty="0">
                <a:solidFill>
                  <a:srgbClr val="FF0000"/>
                </a:solidFill>
                <a:highlight>
                  <a:srgbClr val="FFFF00"/>
                </a:highlight>
              </a:rPr>
              <a:t> </a:t>
            </a:r>
            <a:r>
              <a:rPr lang="en" dirty="0">
                <a:highlight>
                  <a:srgbClr val="FFFF00"/>
                </a:highlight>
              </a:rPr>
              <a:t>all of the accessible state and behavior from its parent.</a:t>
            </a:r>
            <a:endParaRPr dirty="0">
              <a:highlight>
                <a:srgbClr val="FFFF00"/>
              </a:highlight>
            </a:endParaRPr>
          </a:p>
          <a:p>
            <a:pPr marL="914400" lvl="1" indent="-298450" algn="l" rtl="0">
              <a:lnSpc>
                <a:spcPct val="115000"/>
              </a:lnSpc>
              <a:spcBef>
                <a:spcPts val="0"/>
              </a:spcBef>
              <a:spcAft>
                <a:spcPts val="0"/>
              </a:spcAft>
              <a:buSzPts val="1100"/>
              <a:buChar char="○"/>
            </a:pPr>
            <a:r>
              <a:rPr lang="en" dirty="0"/>
              <a:t>This means that </a:t>
            </a:r>
            <a:r>
              <a:rPr lang="en" b="1" i="1" dirty="0">
                <a:solidFill>
                  <a:srgbClr val="FF0000"/>
                </a:solidFill>
              </a:rPr>
              <a:t>any </a:t>
            </a:r>
            <a:r>
              <a:rPr lang="en" dirty="0"/>
              <a:t>code that uses state and behavior defined in the parent class will find the </a:t>
            </a:r>
            <a:r>
              <a:rPr lang="en" dirty="0">
                <a:highlight>
                  <a:srgbClr val="FFFF00"/>
                </a:highlight>
              </a:rPr>
              <a:t>same state and behavior</a:t>
            </a:r>
            <a:r>
              <a:rPr lang="en" dirty="0"/>
              <a:t> in the child as well.</a:t>
            </a:r>
            <a:endParaRPr dirty="0"/>
          </a:p>
          <a:p>
            <a:pPr marL="457200" lvl="0" indent="-311150" algn="l" rtl="0">
              <a:lnSpc>
                <a:spcPct val="115000"/>
              </a:lnSpc>
              <a:spcBef>
                <a:spcPts val="0"/>
              </a:spcBef>
              <a:spcAft>
                <a:spcPts val="0"/>
              </a:spcAft>
              <a:buSzPts val="1300"/>
              <a:buChar char="●"/>
            </a:pPr>
            <a:r>
              <a:rPr lang="en" dirty="0">
                <a:highlight>
                  <a:srgbClr val="FFFF00"/>
                </a:highlight>
              </a:rPr>
              <a:t>Conversely, this means that state and behavior that is </a:t>
            </a:r>
            <a:r>
              <a:rPr lang="en" b="1" i="1" dirty="0">
                <a:solidFill>
                  <a:srgbClr val="FF0000"/>
                </a:solidFill>
                <a:highlight>
                  <a:srgbClr val="FFFF00"/>
                </a:highlight>
              </a:rPr>
              <a:t>not</a:t>
            </a:r>
            <a:r>
              <a:rPr lang="en" dirty="0">
                <a:solidFill>
                  <a:srgbClr val="FF0000"/>
                </a:solidFill>
                <a:highlight>
                  <a:srgbClr val="FFFF00"/>
                </a:highlight>
              </a:rPr>
              <a:t> </a:t>
            </a:r>
            <a:r>
              <a:rPr lang="en" dirty="0">
                <a:highlight>
                  <a:srgbClr val="FFFF00"/>
                </a:highlight>
              </a:rPr>
              <a:t>defined in the parent, </a:t>
            </a:r>
            <a:r>
              <a:rPr lang="en" b="1" i="1" dirty="0">
                <a:solidFill>
                  <a:srgbClr val="FF0000"/>
                </a:solidFill>
                <a:highlight>
                  <a:srgbClr val="FFFF00"/>
                </a:highlight>
              </a:rPr>
              <a:t>cannot </a:t>
            </a:r>
            <a:r>
              <a:rPr lang="en" dirty="0">
                <a:highlight>
                  <a:srgbClr val="FFFF00"/>
                </a:highlight>
              </a:rPr>
              <a:t>be used via polymorphism.</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If the method </a:t>
            </a:r>
            <a:r>
              <a:rPr lang="en" b="1" i="1" dirty="0">
                <a:solidFill>
                  <a:srgbClr val="FF0000"/>
                </a:solidFill>
                <a:highlight>
                  <a:srgbClr val="FFFF00"/>
                </a:highlight>
              </a:rPr>
              <a:t>only</a:t>
            </a:r>
            <a:r>
              <a:rPr lang="en" dirty="0">
                <a:solidFill>
                  <a:srgbClr val="FF0000"/>
                </a:solidFill>
                <a:highlight>
                  <a:srgbClr val="FFFF00"/>
                </a:highlight>
              </a:rPr>
              <a:t> </a:t>
            </a:r>
            <a:r>
              <a:rPr lang="en" dirty="0">
                <a:highlight>
                  <a:srgbClr val="FFFF00"/>
                </a:highlight>
              </a:rPr>
              <a:t>exists in the </a:t>
            </a:r>
            <a:r>
              <a:rPr lang="en" b="1" i="1" dirty="0">
                <a:solidFill>
                  <a:srgbClr val="FF0000"/>
                </a:solidFill>
                <a:highlight>
                  <a:srgbClr val="FFFF00"/>
                </a:highlight>
              </a:rPr>
              <a:t>child class</a:t>
            </a:r>
            <a:r>
              <a:rPr lang="en" dirty="0">
                <a:highlight>
                  <a:srgbClr val="FFFF00"/>
                </a:highlight>
              </a:rPr>
              <a:t>, </a:t>
            </a:r>
            <a:r>
              <a:rPr lang="en" dirty="0"/>
              <a:t>then </a:t>
            </a:r>
            <a:r>
              <a:rPr lang="en" dirty="0">
                <a:highlight>
                  <a:srgbClr val="FFFF00"/>
                </a:highlight>
              </a:rPr>
              <a:t>it </a:t>
            </a:r>
            <a:r>
              <a:rPr lang="en" b="1" i="1" dirty="0">
                <a:solidFill>
                  <a:srgbClr val="FF0000"/>
                </a:solidFill>
                <a:highlight>
                  <a:srgbClr val="FFFF00"/>
                </a:highlight>
              </a:rPr>
              <a:t>can't</a:t>
            </a:r>
            <a:r>
              <a:rPr lang="en" dirty="0">
                <a:highlight>
                  <a:srgbClr val="FFFF00"/>
                </a:highlight>
              </a:rPr>
              <a:t> be used through a variable of the </a:t>
            </a:r>
            <a:r>
              <a:rPr lang="en" b="1" i="1" dirty="0">
                <a:solidFill>
                  <a:srgbClr val="FF0000"/>
                </a:solidFill>
                <a:highlight>
                  <a:srgbClr val="FFFF00"/>
                </a:highlight>
              </a:rPr>
              <a:t>parent type</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This means that we sometimes define methods in the parent to guarantee that </a:t>
            </a:r>
            <a:r>
              <a:rPr lang="en" b="1" i="1" dirty="0">
                <a:solidFill>
                  <a:srgbClr val="FF0000"/>
                </a:solidFill>
                <a:highlight>
                  <a:srgbClr val="FFFF00"/>
                </a:highlight>
              </a:rPr>
              <a:t>all</a:t>
            </a:r>
            <a:r>
              <a:rPr lang="en" dirty="0">
                <a:solidFill>
                  <a:srgbClr val="FF0000"/>
                </a:solidFill>
                <a:highlight>
                  <a:srgbClr val="FFFF00"/>
                </a:highlight>
              </a:rPr>
              <a:t> </a:t>
            </a:r>
            <a:r>
              <a:rPr lang="en" dirty="0">
                <a:highlight>
                  <a:srgbClr val="FFFF00"/>
                </a:highlight>
              </a:rPr>
              <a:t>children will include them.</a:t>
            </a:r>
            <a:endParaRPr dirty="0">
              <a:highlight>
                <a:srgbClr val="FFFF00"/>
              </a:highlight>
            </a:endParaRPr>
          </a:p>
          <a:p>
            <a:pPr marL="457200" lvl="0" indent="-311150" algn="l" rtl="0">
              <a:lnSpc>
                <a:spcPct val="115000"/>
              </a:lnSpc>
              <a:spcBef>
                <a:spcPts val="0"/>
              </a:spcBef>
              <a:spcAft>
                <a:spcPts val="0"/>
              </a:spcAft>
              <a:buSzPts val="1300"/>
              <a:buChar char="●"/>
            </a:pPr>
            <a:r>
              <a:rPr lang="en" dirty="0"/>
              <a:t>In these cases, the </a:t>
            </a:r>
            <a:r>
              <a:rPr lang="en" dirty="0">
                <a:highlight>
                  <a:srgbClr val="FFFF00"/>
                </a:highlight>
              </a:rPr>
              <a:t>child may </a:t>
            </a:r>
            <a:r>
              <a:rPr lang="en" b="1" i="1" dirty="0">
                <a:solidFill>
                  <a:srgbClr val="FF0000"/>
                </a:solidFill>
                <a:highlight>
                  <a:srgbClr val="FFFF00"/>
                </a:highlight>
              </a:rPr>
              <a:t>modify</a:t>
            </a:r>
            <a:r>
              <a:rPr lang="en" dirty="0">
                <a:solidFill>
                  <a:srgbClr val="FF0000"/>
                </a:solidFill>
                <a:highlight>
                  <a:srgbClr val="FFFF00"/>
                </a:highlight>
              </a:rPr>
              <a:t> </a:t>
            </a:r>
            <a:r>
              <a:rPr lang="en" dirty="0">
                <a:highlight>
                  <a:srgbClr val="FFFF00"/>
                </a:highlight>
              </a:rPr>
              <a:t>or </a:t>
            </a:r>
            <a:r>
              <a:rPr lang="en" b="1" i="1" dirty="0">
                <a:solidFill>
                  <a:srgbClr val="FF0000"/>
                </a:solidFill>
                <a:highlight>
                  <a:srgbClr val="FFFF00"/>
                </a:highlight>
              </a:rPr>
              <a:t>replace</a:t>
            </a:r>
            <a:r>
              <a:rPr lang="en" dirty="0">
                <a:solidFill>
                  <a:srgbClr val="FF0000"/>
                </a:solidFill>
                <a:highlight>
                  <a:srgbClr val="FFFF00"/>
                </a:highlight>
              </a:rPr>
              <a:t> </a:t>
            </a:r>
            <a:r>
              <a:rPr lang="en" dirty="0">
                <a:highlight>
                  <a:srgbClr val="FFFF00"/>
                </a:highlight>
              </a:rPr>
              <a:t>the behavior that is defined in its parent.</a:t>
            </a:r>
            <a:endParaRPr dirty="0">
              <a:highlight>
                <a:srgbClr val="FFFF00"/>
              </a:highlight>
            </a:endParaRPr>
          </a:p>
          <a:p>
            <a:pPr marL="914400" lvl="1" indent="-298450" algn="l" rtl="0">
              <a:lnSpc>
                <a:spcPct val="115000"/>
              </a:lnSpc>
              <a:spcBef>
                <a:spcPts val="0"/>
              </a:spcBef>
              <a:spcAft>
                <a:spcPts val="0"/>
              </a:spcAft>
              <a:buSzPts val="1100"/>
              <a:buChar char="○"/>
            </a:pPr>
            <a:r>
              <a:rPr lang="en" dirty="0"/>
              <a:t>The child class </a:t>
            </a:r>
            <a:r>
              <a:rPr lang="en" b="1" i="1" dirty="0">
                <a:solidFill>
                  <a:srgbClr val="FF0000"/>
                </a:solidFill>
              </a:rPr>
              <a:t>overrides</a:t>
            </a:r>
            <a:r>
              <a:rPr lang="en" dirty="0">
                <a:solidFill>
                  <a:srgbClr val="FF0000"/>
                </a:solidFill>
              </a:rPr>
              <a:t> </a:t>
            </a:r>
            <a:r>
              <a:rPr lang="en" dirty="0"/>
              <a:t>the method in the parent class by defining a new method with the </a:t>
            </a:r>
            <a:r>
              <a:rPr lang="en" b="1" i="1" dirty="0">
                <a:solidFill>
                  <a:srgbClr val="FF0000"/>
                </a:solidFill>
                <a:highlight>
                  <a:srgbClr val="FFFF00"/>
                </a:highlight>
              </a:rPr>
              <a:t>exact same signature</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t>If the method is called on an instance of the child class, the </a:t>
            </a:r>
            <a:r>
              <a:rPr lang="en" b="1" i="1" dirty="0">
                <a:solidFill>
                  <a:srgbClr val="FF0000"/>
                </a:solidFill>
              </a:rPr>
              <a:t>child's version</a:t>
            </a:r>
            <a:r>
              <a:rPr lang="en" dirty="0">
                <a:solidFill>
                  <a:srgbClr val="FF0000"/>
                </a:solidFill>
              </a:rPr>
              <a:t> </a:t>
            </a:r>
            <a:r>
              <a:rPr lang="en" dirty="0"/>
              <a:t>is used instead of the parent's.</a:t>
            </a:r>
            <a:endParaRPr dirty="0"/>
          </a:p>
          <a:p>
            <a:pPr marL="914400" lvl="1" indent="-298450" algn="l" rtl="0">
              <a:lnSpc>
                <a:spcPct val="115000"/>
              </a:lnSpc>
              <a:spcBef>
                <a:spcPts val="0"/>
              </a:spcBef>
              <a:spcAft>
                <a:spcPts val="0"/>
              </a:spcAft>
              <a:buSzPts val="1100"/>
              <a:buChar char="○"/>
            </a:pPr>
            <a:r>
              <a:rPr lang="en" dirty="0"/>
              <a:t>If necessary, the child can call the parent's version suing </a:t>
            </a:r>
            <a:r>
              <a:rPr lang="en" dirty="0">
                <a:solidFill>
                  <a:srgbClr val="FF0000"/>
                </a:solidFill>
                <a:latin typeface="Courier New"/>
                <a:ea typeface="Courier New"/>
                <a:cs typeface="Courier New"/>
                <a:sym typeface="Courier New"/>
              </a:rPr>
              <a:t>super</a:t>
            </a:r>
            <a:r>
              <a:rPr lang="en" dirty="0"/>
              <a:t>, e.g. </a:t>
            </a:r>
            <a:r>
              <a:rPr lang="en" dirty="0">
                <a:solidFill>
                  <a:srgbClr val="FF0000"/>
                </a:solidFill>
                <a:highlight>
                  <a:srgbClr val="FFFF00"/>
                </a:highlight>
                <a:latin typeface="Courier New"/>
                <a:ea typeface="Courier New"/>
                <a:cs typeface="Courier New"/>
                <a:sym typeface="Courier New"/>
              </a:rPr>
              <a:t>super.aMethod();</a:t>
            </a:r>
            <a:endParaRPr dirty="0">
              <a:solidFill>
                <a:srgbClr val="FF0000"/>
              </a:solidFill>
              <a:highlight>
                <a:srgbClr val="FFFF00"/>
              </a:highlight>
              <a:latin typeface="Courier New"/>
              <a:ea typeface="Courier New"/>
              <a:cs typeface="Courier New"/>
              <a:sym typeface="Courier New"/>
            </a:endParaRPr>
          </a:p>
        </p:txBody>
      </p:sp>
      <p:sp>
        <p:nvSpPr>
          <p:cNvPr id="680" name="Google Shape;680;p8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25</a:t>
            </a:fld>
            <a:endParaRPr/>
          </a:p>
        </p:txBody>
      </p:sp>
      <p:sp>
        <p:nvSpPr>
          <p:cNvPr id="681" name="Google Shape;681;p87"/>
          <p:cNvSpPr txBox="1">
            <a:spLocks noGrp="1"/>
          </p:cNvSpPr>
          <p:nvPr>
            <p:ph type="body" idx="2"/>
          </p:nvPr>
        </p:nvSpPr>
        <p:spPr>
          <a:xfrm>
            <a:off x="212825" y="2207125"/>
            <a:ext cx="3881700" cy="1705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Rabbit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extends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other fields, constructors, and methods</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are not shown here for brevity</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A31515"/>
                </a:solidFill>
                <a:latin typeface="Consolas"/>
                <a:ea typeface="Consolas"/>
                <a:cs typeface="Consolas"/>
                <a:sym typeface="Consolas"/>
              </a:rPr>
              <a:t>"Rabbit[weight="</a:t>
            </a:r>
            <a:r>
              <a:rPr lang="en" sz="1000">
                <a:solidFill>
                  <a:srgbClr val="000000"/>
                </a:solidFill>
                <a:latin typeface="Consolas"/>
                <a:ea typeface="Consolas"/>
                <a:cs typeface="Consolas"/>
                <a:sym typeface="Consolas"/>
              </a:rPr>
              <a:t> + </a:t>
            </a:r>
            <a:r>
              <a:rPr lang="en" sz="1000">
                <a:solidFill>
                  <a:srgbClr val="795E26"/>
                </a:solidFill>
                <a:latin typeface="Consolas"/>
                <a:ea typeface="Consolas"/>
                <a:cs typeface="Consolas"/>
                <a:sym typeface="Consolas"/>
              </a:rPr>
              <a:t>getWeight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8</a:t>
            </a:r>
            <a:r>
              <a:rPr lang="en" sz="1000">
                <a:solidFill>
                  <a:srgbClr val="000000"/>
                </a:solidFill>
                <a:latin typeface="Consolas"/>
                <a:ea typeface="Consolas"/>
                <a:cs typeface="Consolas"/>
                <a:sym typeface="Consolas"/>
              </a:rPr>
              <a:t>           + </a:t>
            </a:r>
            <a:r>
              <a:rPr lang="en" sz="1000">
                <a:solidFill>
                  <a:srgbClr val="A31515"/>
                </a:solidFill>
                <a:latin typeface="Consolas"/>
                <a:ea typeface="Consolas"/>
                <a:cs typeface="Consolas"/>
                <a:sym typeface="Consolas"/>
              </a:rPr>
              <a:t>", fur color="</a:t>
            </a:r>
            <a:r>
              <a:rPr lang="en" sz="1000">
                <a:solidFill>
                  <a:srgbClr val="000000"/>
                </a:solidFill>
                <a:latin typeface="Consolas"/>
                <a:ea typeface="Consolas"/>
                <a:cs typeface="Consolas"/>
                <a:sym typeface="Consolas"/>
              </a:rPr>
              <a:t> + furColor + </a:t>
            </a:r>
            <a:r>
              <a:rPr lang="en" sz="1000">
                <a:solidFill>
                  <a:srgbClr val="A31515"/>
                </a:solidFill>
                <a:latin typeface="Consolas"/>
                <a:ea typeface="Consolas"/>
                <a:cs typeface="Consolas"/>
                <a:sym typeface="Consolas"/>
              </a:rPr>
              <a: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10</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SzPts val="1300"/>
              <a:buNone/>
            </a:pPr>
            <a:endParaRPr sz="1000">
              <a:solidFill>
                <a:srgbClr val="999999"/>
              </a:solidFill>
              <a:latin typeface="Consolas"/>
              <a:ea typeface="Consolas"/>
              <a:cs typeface="Consolas"/>
              <a:sym typeface="Consolas"/>
            </a:endParaRPr>
          </a:p>
        </p:txBody>
      </p:sp>
      <p:sp>
        <p:nvSpPr>
          <p:cNvPr id="682" name="Google Shape;682;p87"/>
          <p:cNvSpPr txBox="1">
            <a:spLocks noGrp="1"/>
          </p:cNvSpPr>
          <p:nvPr>
            <p:ph type="body" idx="3"/>
          </p:nvPr>
        </p:nvSpPr>
        <p:spPr>
          <a:xfrm>
            <a:off x="209225" y="758025"/>
            <a:ext cx="38853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100" dirty="0"/>
              <a:t>The </a:t>
            </a:r>
            <a:r>
              <a:rPr lang="en" sz="1100" dirty="0">
                <a:latin typeface="Courier New"/>
                <a:ea typeface="Courier New"/>
                <a:cs typeface="Courier New"/>
                <a:sym typeface="Courier New"/>
              </a:rPr>
              <a:t>toString()</a:t>
            </a:r>
            <a:r>
              <a:rPr lang="en" sz="1100" dirty="0"/>
              <a:t> method in the </a:t>
            </a:r>
            <a:r>
              <a:rPr lang="en" sz="1100" dirty="0">
                <a:latin typeface="Courier New"/>
                <a:ea typeface="Courier New"/>
                <a:cs typeface="Courier New"/>
                <a:sym typeface="Courier New"/>
              </a:rPr>
              <a:t>Animal</a:t>
            </a:r>
            <a:r>
              <a:rPr lang="en" sz="1100" dirty="0"/>
              <a:t> class returns a </a:t>
            </a:r>
            <a:r>
              <a:rPr lang="en" sz="1100" dirty="0">
                <a:latin typeface="Courier New"/>
                <a:ea typeface="Courier New"/>
                <a:cs typeface="Courier New"/>
                <a:sym typeface="Courier New"/>
              </a:rPr>
              <a:t>String</a:t>
            </a:r>
            <a:r>
              <a:rPr lang="en" sz="1100" dirty="0"/>
              <a:t> that doesn't include all of the detail about a </a:t>
            </a:r>
            <a:r>
              <a:rPr lang="en" sz="1100" dirty="0">
                <a:latin typeface="Courier New"/>
                <a:ea typeface="Courier New"/>
                <a:cs typeface="Courier New"/>
                <a:sym typeface="Courier New"/>
              </a:rPr>
              <a:t>Rabbit</a:t>
            </a:r>
            <a:r>
              <a:rPr lang="en" sz="1100" dirty="0"/>
              <a:t> (i.e. its fur color is missing).</a:t>
            </a:r>
            <a:endParaRPr sz="1100" dirty="0"/>
          </a:p>
        </p:txBody>
      </p:sp>
      <p:sp>
        <p:nvSpPr>
          <p:cNvPr id="683" name="Google Shape;683;p87"/>
          <p:cNvSpPr txBox="1">
            <a:spLocks noGrp="1"/>
          </p:cNvSpPr>
          <p:nvPr>
            <p:ph type="body" idx="3"/>
          </p:nvPr>
        </p:nvSpPr>
        <p:spPr>
          <a:xfrm>
            <a:off x="214625" y="4549925"/>
            <a:ext cx="3881700" cy="464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100"/>
              <a:t>If the method is called on an instance of the </a:t>
            </a:r>
            <a:r>
              <a:rPr lang="en" sz="1100">
                <a:solidFill>
                  <a:srgbClr val="FF0000"/>
                </a:solidFill>
                <a:latin typeface="Courier New"/>
                <a:ea typeface="Courier New"/>
                <a:cs typeface="Courier New"/>
                <a:sym typeface="Courier New"/>
              </a:rPr>
              <a:t>Rabbit</a:t>
            </a:r>
            <a:r>
              <a:rPr lang="en" sz="1100"/>
              <a:t> class, </a:t>
            </a:r>
            <a:r>
              <a:rPr lang="en" sz="1100" b="1" i="1">
                <a:solidFill>
                  <a:srgbClr val="FF0000"/>
                </a:solidFill>
              </a:rPr>
              <a:t>its version</a:t>
            </a:r>
            <a:r>
              <a:rPr lang="en" sz="1100">
                <a:solidFill>
                  <a:srgbClr val="FF0000"/>
                </a:solidFill>
              </a:rPr>
              <a:t> </a:t>
            </a:r>
            <a:r>
              <a:rPr lang="en" sz="1100"/>
              <a:t>will be used </a:t>
            </a:r>
            <a:r>
              <a:rPr lang="en" sz="1100" b="1" i="1">
                <a:solidFill>
                  <a:srgbClr val="FF0000"/>
                </a:solidFill>
              </a:rPr>
              <a:t>instead </a:t>
            </a:r>
            <a:r>
              <a:rPr lang="en" sz="1100"/>
              <a:t>of </a:t>
            </a:r>
            <a:r>
              <a:rPr lang="en" sz="1100">
                <a:latin typeface="Courier New"/>
                <a:ea typeface="Courier New"/>
                <a:cs typeface="Courier New"/>
                <a:sym typeface="Courier New"/>
              </a:rPr>
              <a:t>Animal</a:t>
            </a:r>
            <a:r>
              <a:rPr lang="en" sz="1100"/>
              <a:t>'s.</a:t>
            </a:r>
            <a:endParaRPr sz="1100"/>
          </a:p>
        </p:txBody>
      </p:sp>
      <p:sp>
        <p:nvSpPr>
          <p:cNvPr id="684" name="Google Shape;684;p87"/>
          <p:cNvSpPr/>
          <p:nvPr/>
        </p:nvSpPr>
        <p:spPr>
          <a:xfrm>
            <a:off x="2564350" y="2076625"/>
            <a:ext cx="1490900" cy="1071529"/>
          </a:xfrm>
          <a:custGeom>
            <a:avLst/>
            <a:gdLst/>
            <a:ahLst/>
            <a:cxnLst/>
            <a:rect l="l" t="t" r="r" b="b"/>
            <a:pathLst>
              <a:path w="59636" h="46705" extrusionOk="0">
                <a:moveTo>
                  <a:pt x="38133" y="0"/>
                </a:moveTo>
                <a:cubicBezTo>
                  <a:pt x="41533" y="4631"/>
                  <a:pt x="64886" y="20002"/>
                  <a:pt x="58530" y="27786"/>
                </a:cubicBezTo>
                <a:cubicBezTo>
                  <a:pt x="52175" y="35570"/>
                  <a:pt x="9755" y="43552"/>
                  <a:pt x="0" y="46705"/>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87"/>
          <p:cNvSpPr txBox="1">
            <a:spLocks noGrp="1"/>
          </p:cNvSpPr>
          <p:nvPr>
            <p:ph type="body" idx="3"/>
          </p:nvPr>
        </p:nvSpPr>
        <p:spPr>
          <a:xfrm>
            <a:off x="212825" y="1482580"/>
            <a:ext cx="38853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100" dirty="0"/>
              <a:t>The Rabbit class may </a:t>
            </a:r>
            <a:r>
              <a:rPr lang="en" sz="1100" b="1" i="1" dirty="0">
                <a:solidFill>
                  <a:srgbClr val="FF0000"/>
                </a:solidFill>
              </a:rPr>
              <a:t>override</a:t>
            </a:r>
            <a:r>
              <a:rPr lang="en" sz="1100" dirty="0">
                <a:solidFill>
                  <a:srgbClr val="FF0000"/>
                </a:solidFill>
              </a:rPr>
              <a:t> </a:t>
            </a:r>
            <a:r>
              <a:rPr lang="en" sz="1100" dirty="0"/>
              <a:t>the implementation of the method in the Animal class by declaring a </a:t>
            </a:r>
            <a:r>
              <a:rPr lang="en" sz="1100" b="1" i="1" dirty="0">
                <a:solidFill>
                  <a:srgbClr val="FF0000"/>
                </a:solidFill>
              </a:rPr>
              <a:t>new implementation</a:t>
            </a:r>
            <a:r>
              <a:rPr lang="en" sz="1100" dirty="0"/>
              <a:t> with the </a:t>
            </a:r>
            <a:r>
              <a:rPr lang="en" sz="1100" b="1" i="1" dirty="0">
                <a:solidFill>
                  <a:srgbClr val="FF0000"/>
                </a:solidFill>
              </a:rPr>
              <a:t>exact same signature</a:t>
            </a:r>
            <a:r>
              <a:rPr lang="en" sz="1100" dirty="0"/>
              <a:t>.</a:t>
            </a:r>
            <a:endParaRPr sz="1100" dirty="0"/>
          </a:p>
        </p:txBody>
      </p:sp>
      <p:sp>
        <p:nvSpPr>
          <p:cNvPr id="686" name="Google Shape;686;p87"/>
          <p:cNvSpPr/>
          <p:nvPr/>
        </p:nvSpPr>
        <p:spPr>
          <a:xfrm>
            <a:off x="413080" y="3000375"/>
            <a:ext cx="318550" cy="1064175"/>
          </a:xfrm>
          <a:custGeom>
            <a:avLst/>
            <a:gdLst/>
            <a:ahLst/>
            <a:cxnLst/>
            <a:rect l="l" t="t" r="r" b="b"/>
            <a:pathLst>
              <a:path w="12742" h="42567" extrusionOk="0">
                <a:moveTo>
                  <a:pt x="12742" y="42567"/>
                </a:moveTo>
                <a:cubicBezTo>
                  <a:pt x="10624" y="36409"/>
                  <a:pt x="277" y="12711"/>
                  <a:pt x="31" y="5616"/>
                </a:cubicBezTo>
                <a:cubicBezTo>
                  <a:pt x="-215" y="-1478"/>
                  <a:pt x="9392" y="936"/>
                  <a:pt x="11264" y="0"/>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87"/>
          <p:cNvSpPr txBox="1">
            <a:spLocks noGrp="1"/>
          </p:cNvSpPr>
          <p:nvPr>
            <p:ph type="body" idx="3"/>
          </p:nvPr>
        </p:nvSpPr>
        <p:spPr>
          <a:xfrm>
            <a:off x="212825" y="3999075"/>
            <a:ext cx="3881700" cy="464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100" dirty="0">
                <a:highlight>
                  <a:srgbClr val="FFFF00"/>
                </a:highlight>
              </a:rPr>
              <a:t>If the </a:t>
            </a:r>
            <a:r>
              <a:rPr lang="en" sz="1100" b="1" i="1" dirty="0">
                <a:solidFill>
                  <a:srgbClr val="FF0000"/>
                </a:solidFill>
                <a:highlight>
                  <a:srgbClr val="FFFF00"/>
                </a:highlight>
              </a:rPr>
              <a:t>optional</a:t>
            </a:r>
            <a:r>
              <a:rPr lang="en" sz="1100" dirty="0">
                <a:highlight>
                  <a:srgbClr val="FFFF00"/>
                </a:highlight>
              </a:rPr>
              <a:t> </a:t>
            </a:r>
            <a:r>
              <a:rPr lang="en" sz="1100" dirty="0">
                <a:solidFill>
                  <a:srgbClr val="FF0000"/>
                </a:solidFill>
                <a:highlight>
                  <a:srgbClr val="FFFF00"/>
                </a:highlight>
                <a:latin typeface="Courier New"/>
                <a:ea typeface="Courier New"/>
                <a:cs typeface="Courier New"/>
                <a:sym typeface="Courier New"/>
              </a:rPr>
              <a:t>@Override</a:t>
            </a:r>
            <a:r>
              <a:rPr lang="en" sz="1100" dirty="0">
                <a:highlight>
                  <a:srgbClr val="FFFF00"/>
                </a:highlight>
              </a:rPr>
              <a:t> annotation is used, the Java compiler will validate the method signature.</a:t>
            </a:r>
            <a:endParaRPr sz="1100" dirty="0">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82"/>
                                        </p:tgtEl>
                                        <p:attrNameLst>
                                          <p:attrName>style.visibility</p:attrName>
                                        </p:attrNameLst>
                                      </p:cBhvr>
                                      <p:to>
                                        <p:strVal val="visible"/>
                                      </p:to>
                                    </p:set>
                                    <p:animEffect transition="in" filter="fade">
                                      <p:cBhvr>
                                        <p:cTn id="7" dur="1000"/>
                                        <p:tgtEl>
                                          <p:spTgt spid="6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85"/>
                                        </p:tgtEl>
                                        <p:attrNameLst>
                                          <p:attrName>style.visibility</p:attrName>
                                        </p:attrNameLst>
                                      </p:cBhvr>
                                      <p:to>
                                        <p:strVal val="visible"/>
                                      </p:to>
                                    </p:set>
                                    <p:animEffect transition="in" filter="fade">
                                      <p:cBhvr>
                                        <p:cTn id="12" dur="1000"/>
                                        <p:tgtEl>
                                          <p:spTgt spid="685"/>
                                        </p:tgtEl>
                                      </p:cBhvr>
                                    </p:animEffect>
                                  </p:childTnLst>
                                </p:cTn>
                              </p:par>
                              <p:par>
                                <p:cTn id="13" presetID="10" presetClass="entr" presetSubtype="0" fill="hold" nodeType="withEffect">
                                  <p:stCondLst>
                                    <p:cond delay="0"/>
                                  </p:stCondLst>
                                  <p:childTnLst>
                                    <p:set>
                                      <p:cBhvr>
                                        <p:cTn id="14" dur="1" fill="hold">
                                          <p:stCondLst>
                                            <p:cond delay="0"/>
                                          </p:stCondLst>
                                        </p:cTn>
                                        <p:tgtEl>
                                          <p:spTgt spid="681"/>
                                        </p:tgtEl>
                                        <p:attrNameLst>
                                          <p:attrName>style.visibility</p:attrName>
                                        </p:attrNameLst>
                                      </p:cBhvr>
                                      <p:to>
                                        <p:strVal val="visible"/>
                                      </p:to>
                                    </p:set>
                                    <p:animEffect transition="in" filter="fade">
                                      <p:cBhvr>
                                        <p:cTn id="15" dur="1000"/>
                                        <p:tgtEl>
                                          <p:spTgt spid="681"/>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684"/>
                                        </p:tgtEl>
                                        <p:attrNameLst>
                                          <p:attrName>style.visibility</p:attrName>
                                        </p:attrNameLst>
                                      </p:cBhvr>
                                      <p:to>
                                        <p:strVal val="visible"/>
                                      </p:to>
                                    </p:set>
                                    <p:animEffect transition="in" filter="fade">
                                      <p:cBhvr>
                                        <p:cTn id="19" dur="1000"/>
                                        <p:tgtEl>
                                          <p:spTgt spid="68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87"/>
                                        </p:tgtEl>
                                        <p:attrNameLst>
                                          <p:attrName>style.visibility</p:attrName>
                                        </p:attrNameLst>
                                      </p:cBhvr>
                                      <p:to>
                                        <p:strVal val="visible"/>
                                      </p:to>
                                    </p:set>
                                    <p:animEffect transition="in" filter="fade">
                                      <p:cBhvr>
                                        <p:cTn id="24" dur="1000"/>
                                        <p:tgtEl>
                                          <p:spTgt spid="687"/>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686"/>
                                        </p:tgtEl>
                                        <p:attrNameLst>
                                          <p:attrName>style.visibility</p:attrName>
                                        </p:attrNameLst>
                                      </p:cBhvr>
                                      <p:to>
                                        <p:strVal val="visible"/>
                                      </p:to>
                                    </p:set>
                                    <p:animEffect transition="in" filter="fade">
                                      <p:cBhvr>
                                        <p:cTn id="28" dur="1000"/>
                                        <p:tgtEl>
                                          <p:spTgt spid="68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83"/>
                                        </p:tgtEl>
                                        <p:attrNameLst>
                                          <p:attrName>style.visibility</p:attrName>
                                        </p:attrNameLst>
                                      </p:cBhvr>
                                      <p:to>
                                        <p:strVal val="visible"/>
                                      </p:to>
                                    </p:set>
                                    <p:animEffect transition="in" filter="fade">
                                      <p:cBhvr>
                                        <p:cTn id="33" dur="1000"/>
                                        <p:tgtEl>
                                          <p:spTgt spid="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8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One major benefit of inheritance is that we can eliminate duplicate code. Continue refactoring the </a:t>
            </a:r>
            <a:r>
              <a:rPr lang="en">
                <a:latin typeface="Courier New"/>
                <a:ea typeface="Courier New"/>
                <a:cs typeface="Courier New"/>
                <a:sym typeface="Courier New"/>
              </a:rPr>
              <a:t>Mage</a:t>
            </a:r>
            <a:r>
              <a:rPr lang="en"/>
              <a:t> class to override methods and delete any duplicate code should be inherited from </a:t>
            </a:r>
            <a:r>
              <a:rPr lang="en">
                <a:latin typeface="Courier New"/>
                <a:ea typeface="Courier New"/>
                <a:cs typeface="Courier New"/>
                <a:sym typeface="Courier New"/>
              </a:rPr>
              <a:t>Goat</a:t>
            </a:r>
            <a:r>
              <a:rPr lang="en"/>
              <a:t>.</a:t>
            </a:r>
            <a:endParaRPr/>
          </a:p>
        </p:txBody>
      </p:sp>
      <p:sp>
        <p:nvSpPr>
          <p:cNvPr id="693" name="Google Shape;693;p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694" name="Google Shape;694;p88"/>
          <p:cNvSpPr txBox="1">
            <a:spLocks noGrp="1"/>
          </p:cNvSpPr>
          <p:nvPr>
            <p:ph type="body" idx="2"/>
          </p:nvPr>
        </p:nvSpPr>
        <p:spPr>
          <a:xfrm>
            <a:off x="3111850" y="1495075"/>
            <a:ext cx="5728800" cy="27720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Open your </a:t>
            </a:r>
            <a:r>
              <a:rPr lang="en" sz="1600" dirty="0">
                <a:solidFill>
                  <a:srgbClr val="FF0000"/>
                </a:solidFill>
                <a:latin typeface="Courier New"/>
                <a:ea typeface="Courier New"/>
                <a:cs typeface="Courier New"/>
                <a:sym typeface="Courier New"/>
              </a:rPr>
              <a:t>Mage</a:t>
            </a:r>
            <a:r>
              <a:rPr lang="en" sz="1600" dirty="0">
                <a:solidFill>
                  <a:srgbClr val="FF0000"/>
                </a:solidFill>
              </a:rPr>
              <a:t> </a:t>
            </a:r>
            <a:r>
              <a:rPr lang="en" sz="1600" dirty="0"/>
              <a:t>class and examine the code that you have commented out and selectively </a:t>
            </a:r>
            <a:r>
              <a:rPr lang="en" sz="1600" b="1" i="1" dirty="0">
                <a:solidFill>
                  <a:srgbClr val="FF0000"/>
                </a:solidFill>
              </a:rPr>
              <a:t>delete </a:t>
            </a:r>
            <a:r>
              <a:rPr lang="en" sz="1600" dirty="0"/>
              <a:t>or </a:t>
            </a:r>
            <a:r>
              <a:rPr lang="en" sz="1600" b="1" i="1" dirty="0">
                <a:solidFill>
                  <a:srgbClr val="FF0000"/>
                </a:solidFill>
              </a:rPr>
              <a:t>uncomment </a:t>
            </a:r>
            <a:r>
              <a:rPr lang="en" sz="1600" dirty="0"/>
              <a:t>it.</a:t>
            </a:r>
            <a:endParaRPr sz="1600" dirty="0"/>
          </a:p>
          <a:p>
            <a:pPr marL="914400" lvl="1" indent="-317500" algn="l" rtl="0">
              <a:spcBef>
                <a:spcPts val="0"/>
              </a:spcBef>
              <a:spcAft>
                <a:spcPts val="0"/>
              </a:spcAft>
              <a:buSzPts val="1400"/>
              <a:buChar char="○"/>
            </a:pPr>
            <a:r>
              <a:rPr lang="en" sz="1400" dirty="0"/>
              <a:t>Which fields can safely be </a:t>
            </a:r>
            <a:r>
              <a:rPr lang="en" sz="1400" b="1" i="1" dirty="0">
                <a:solidFill>
                  <a:srgbClr val="FF0000"/>
                </a:solidFill>
              </a:rPr>
              <a:t>deleted</a:t>
            </a:r>
            <a:r>
              <a:rPr lang="en" sz="1400" dirty="0"/>
              <a:t>?</a:t>
            </a:r>
            <a:endParaRPr sz="1400" dirty="0"/>
          </a:p>
          <a:p>
            <a:pPr marL="914400" lvl="1" indent="-317500" algn="l" rtl="0">
              <a:spcBef>
                <a:spcPts val="0"/>
              </a:spcBef>
              <a:spcAft>
                <a:spcPts val="0"/>
              </a:spcAft>
              <a:buSzPts val="1400"/>
              <a:buChar char="○"/>
            </a:pPr>
            <a:r>
              <a:rPr lang="en" sz="1400" dirty="0"/>
              <a:t>Which methods can safely be </a:t>
            </a:r>
            <a:r>
              <a:rPr lang="en" sz="1400" b="1" i="1" dirty="0">
                <a:solidFill>
                  <a:srgbClr val="FF0000"/>
                </a:solidFill>
              </a:rPr>
              <a:t>deleted</a:t>
            </a:r>
            <a:r>
              <a:rPr lang="en" sz="1400" dirty="0"/>
              <a:t>?</a:t>
            </a:r>
            <a:endParaRPr sz="1400" dirty="0"/>
          </a:p>
          <a:p>
            <a:pPr marL="914400" lvl="1" indent="-317500" algn="l" rtl="0">
              <a:spcBef>
                <a:spcPts val="0"/>
              </a:spcBef>
              <a:spcAft>
                <a:spcPts val="0"/>
              </a:spcAft>
              <a:buSzPts val="1400"/>
              <a:buChar char="○"/>
            </a:pPr>
            <a:r>
              <a:rPr lang="en" sz="1400" dirty="0"/>
              <a:t>Which methods do you need to keep to </a:t>
            </a:r>
            <a:r>
              <a:rPr lang="en" sz="1400" b="1" i="1" dirty="0">
                <a:solidFill>
                  <a:srgbClr val="FF0000"/>
                </a:solidFill>
              </a:rPr>
              <a:t>override</a:t>
            </a:r>
            <a:r>
              <a:rPr lang="en" sz="1400" dirty="0">
                <a:solidFill>
                  <a:srgbClr val="FF0000"/>
                </a:solidFill>
              </a:rPr>
              <a:t> </a:t>
            </a:r>
            <a:r>
              <a:rPr lang="en" sz="1400" dirty="0"/>
              <a:t>the same methods in the </a:t>
            </a:r>
            <a:r>
              <a:rPr lang="en" sz="1400" dirty="0">
                <a:latin typeface="Courier New"/>
                <a:ea typeface="Courier New"/>
                <a:cs typeface="Courier New"/>
                <a:sym typeface="Courier New"/>
              </a:rPr>
              <a:t>Goat</a:t>
            </a:r>
            <a:r>
              <a:rPr lang="en" sz="1400" dirty="0"/>
              <a:t> class? Don't forget to use the </a:t>
            </a:r>
            <a:r>
              <a:rPr lang="en" sz="1400" dirty="0">
                <a:solidFill>
                  <a:srgbClr val="FF0000"/>
                </a:solidFill>
                <a:latin typeface="Courier New"/>
                <a:ea typeface="Courier New"/>
                <a:cs typeface="Courier New"/>
                <a:sym typeface="Courier New"/>
              </a:rPr>
              <a:t>@Override</a:t>
            </a:r>
            <a:r>
              <a:rPr lang="en" sz="1400" dirty="0"/>
              <a:t> annotation!</a:t>
            </a:r>
            <a:endParaRPr sz="1400" dirty="0"/>
          </a:p>
          <a:p>
            <a:pPr marL="457200" lvl="0" indent="-330200" algn="l" rtl="0">
              <a:spcBef>
                <a:spcPts val="0"/>
              </a:spcBef>
              <a:spcAft>
                <a:spcPts val="0"/>
              </a:spcAft>
              <a:buSzPts val="1600"/>
              <a:buChar char="●"/>
            </a:pPr>
            <a:r>
              <a:rPr lang="en" sz="1600" b="1" i="1" dirty="0">
                <a:solidFill>
                  <a:srgbClr val="FF0000"/>
                </a:solidFill>
              </a:rPr>
              <a:t>Compile</a:t>
            </a:r>
            <a:r>
              <a:rPr lang="en" sz="1600" dirty="0">
                <a:solidFill>
                  <a:srgbClr val="FF0000"/>
                </a:solidFill>
              </a:rPr>
              <a:t> </a:t>
            </a:r>
            <a:r>
              <a:rPr lang="en" sz="1600" dirty="0"/>
              <a:t>and </a:t>
            </a:r>
            <a:r>
              <a:rPr lang="en" sz="1600" b="1" i="1" dirty="0">
                <a:solidFill>
                  <a:srgbClr val="FF0000"/>
                </a:solidFill>
              </a:rPr>
              <a:t>run</a:t>
            </a:r>
            <a:r>
              <a:rPr lang="en" sz="1600" dirty="0">
                <a:solidFill>
                  <a:srgbClr val="FF0000"/>
                </a:solidFill>
              </a:rPr>
              <a:t> </a:t>
            </a:r>
            <a:r>
              <a:rPr lang="en" sz="1600" dirty="0"/>
              <a:t>the class.</a:t>
            </a:r>
            <a:endParaRPr sz="1600" dirty="0"/>
          </a:p>
          <a:p>
            <a:pPr marL="914400" lvl="1" indent="-317500" algn="l" rtl="0">
              <a:spcBef>
                <a:spcPts val="0"/>
              </a:spcBef>
              <a:spcAft>
                <a:spcPts val="0"/>
              </a:spcAft>
              <a:buSzPts val="1400"/>
              <a:buChar char="○"/>
            </a:pPr>
            <a:r>
              <a:rPr lang="en" sz="1400" dirty="0"/>
              <a:t>Does the </a:t>
            </a:r>
            <a:r>
              <a:rPr lang="en" sz="1400" dirty="0">
                <a:latin typeface="Courier New"/>
                <a:ea typeface="Courier New"/>
                <a:cs typeface="Courier New"/>
                <a:sym typeface="Courier New"/>
              </a:rPr>
              <a:t>main</a:t>
            </a:r>
            <a:r>
              <a:rPr lang="en" sz="1400" dirty="0"/>
              <a:t> method work the way that you expect it to?</a:t>
            </a:r>
            <a:endParaRPr sz="1700" dirty="0"/>
          </a:p>
        </p:txBody>
      </p:sp>
      <p:sp>
        <p:nvSpPr>
          <p:cNvPr id="695" name="Google Shape;695;p8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Finish Refactoring Mage</a:t>
            </a:r>
            <a:endParaRPr/>
          </a:p>
        </p:txBody>
      </p:sp>
      <p:sp>
        <p:nvSpPr>
          <p:cNvPr id="696" name="Google Shape;696;p8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3.12</a:t>
            </a:r>
            <a:endParaRPr/>
          </a:p>
        </p:txBody>
      </p:sp>
      <p:sp>
        <p:nvSpPr>
          <p:cNvPr id="697" name="Google Shape;697;p88"/>
          <p:cNvSpPr txBox="1"/>
          <p:nvPr/>
        </p:nvSpPr>
        <p:spPr>
          <a:xfrm>
            <a:off x="228600" y="3485526"/>
            <a:ext cx="2697300" cy="14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Rabbit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Animal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Rabbit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A31515"/>
                </a:solidFill>
                <a:latin typeface="Consolas"/>
                <a:ea typeface="Consolas"/>
                <a:cs typeface="Consolas"/>
                <a:sym typeface="Consolas"/>
              </a:rPr>
              <a:t>"Rabbit"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furColor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a:t>
            </a:r>
            <a:endParaRPr sz="900">
              <a:solidFill>
                <a:srgbClr val="569CD6"/>
              </a:solidFill>
              <a:latin typeface="Consolas"/>
              <a:ea typeface="Consolas"/>
              <a:cs typeface="Consolas"/>
              <a:sym typeface="Consolas"/>
            </a:endParaRPr>
          </a:p>
        </p:txBody>
      </p:sp>
      <p:sp>
        <p:nvSpPr>
          <p:cNvPr id="698" name="Google Shape;698;p88"/>
          <p:cNvSpPr txBox="1"/>
          <p:nvPr/>
        </p:nvSpPr>
        <p:spPr>
          <a:xfrm>
            <a:off x="228600" y="1537664"/>
            <a:ext cx="2697300" cy="1569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Animal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Animal</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name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weight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latin typeface="Consolas"/>
                <a:ea typeface="Consolas"/>
                <a:cs typeface="Consolas"/>
                <a:sym typeface="Consolas"/>
              </a:rPr>
              <a:t> }</a:t>
            </a:r>
            <a:endParaRPr sz="900">
              <a:solidFill>
                <a:srgbClr val="569CD6"/>
              </a:solidFill>
              <a:latin typeface="Consolas"/>
              <a:ea typeface="Consolas"/>
              <a:cs typeface="Consolas"/>
              <a:sym typeface="Consolas"/>
            </a:endParaRPr>
          </a:p>
        </p:txBody>
      </p:sp>
      <p:grpSp>
        <p:nvGrpSpPr>
          <p:cNvPr id="699" name="Google Shape;699;p88"/>
          <p:cNvGrpSpPr/>
          <p:nvPr/>
        </p:nvGrpSpPr>
        <p:grpSpPr>
          <a:xfrm>
            <a:off x="1437600" y="3113833"/>
            <a:ext cx="279300" cy="371700"/>
            <a:chOff x="1067200" y="1950975"/>
            <a:chExt cx="279300" cy="371700"/>
          </a:xfrm>
        </p:grpSpPr>
        <p:sp>
          <p:nvSpPr>
            <p:cNvPr id="700" name="Google Shape;700;p88"/>
            <p:cNvSpPr/>
            <p:nvPr/>
          </p:nvSpPr>
          <p:spPr>
            <a:xfrm>
              <a:off x="1067200" y="1950975"/>
              <a:ext cx="279300" cy="207900"/>
            </a:xfrm>
            <a:prstGeom prst="triangle">
              <a:avLst>
                <a:gd name="adj" fmla="val 50000"/>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01" name="Google Shape;701;p88"/>
            <p:cNvCxnSpPr>
              <a:stCxn id="700" idx="3"/>
            </p:cNvCxnSpPr>
            <p:nvPr/>
          </p:nvCxnSpPr>
          <p:spPr>
            <a:xfrm>
              <a:off x="1206850" y="2158875"/>
              <a:ext cx="3000" cy="163800"/>
            </a:xfrm>
            <a:prstGeom prst="straightConnector1">
              <a:avLst/>
            </a:prstGeom>
            <a:noFill/>
            <a:ln w="28575" cap="flat" cmpd="sng">
              <a:solidFill>
                <a:srgbClr val="000000"/>
              </a:solidFill>
              <a:prstDash val="solid"/>
              <a:round/>
              <a:headEnd type="none" w="sm" len="sm"/>
              <a:tailEnd type="none" w="sm" len="sm"/>
            </a:ln>
          </p:spPr>
        </p:cxn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8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a:latin typeface="Courier New"/>
                <a:ea typeface="Courier New"/>
                <a:cs typeface="Courier New"/>
                <a:sym typeface="Courier New"/>
              </a:rPr>
              <a:t>Mage</a:t>
            </a:r>
            <a:r>
              <a:rPr lang="en"/>
              <a:t> class is now making effective use of inheritance to reuse the state and behavior from its new parent class. Unfortunately, </a:t>
            </a:r>
            <a:r>
              <a:rPr lang="en">
                <a:latin typeface="Courier New"/>
                <a:ea typeface="Courier New"/>
                <a:cs typeface="Courier New"/>
                <a:sym typeface="Courier New"/>
              </a:rPr>
              <a:t>Fighter</a:t>
            </a:r>
            <a:r>
              <a:rPr lang="en"/>
              <a:t> still has a lot of duplicate code! Let's refactor the </a:t>
            </a:r>
            <a:r>
              <a:rPr lang="en">
                <a:latin typeface="Courier New"/>
                <a:ea typeface="Courier New"/>
                <a:cs typeface="Courier New"/>
                <a:sym typeface="Courier New"/>
              </a:rPr>
              <a:t>Fighter</a:t>
            </a:r>
            <a:r>
              <a:rPr lang="en"/>
              <a:t> class to extend </a:t>
            </a:r>
            <a:r>
              <a:rPr lang="en">
                <a:latin typeface="Courier New"/>
                <a:ea typeface="Courier New"/>
                <a:cs typeface="Courier New"/>
                <a:sym typeface="Courier New"/>
              </a:rPr>
              <a:t>Goat</a:t>
            </a:r>
            <a:r>
              <a:rPr lang="en"/>
              <a:t> now.</a:t>
            </a:r>
            <a:endParaRPr/>
          </a:p>
        </p:txBody>
      </p:sp>
      <p:sp>
        <p:nvSpPr>
          <p:cNvPr id="707" name="Google Shape;707;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708" name="Google Shape;708;p89"/>
          <p:cNvSpPr txBox="1">
            <a:spLocks noGrp="1"/>
          </p:cNvSpPr>
          <p:nvPr>
            <p:ph type="body" idx="2"/>
          </p:nvPr>
        </p:nvSpPr>
        <p:spPr>
          <a:xfrm>
            <a:off x="2146100" y="2013125"/>
            <a:ext cx="6795000" cy="20973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Fighter</a:t>
            </a:r>
            <a:r>
              <a:rPr lang="en" sz="1500" dirty="0"/>
              <a:t> class and modify it so that it subclasses your common </a:t>
            </a:r>
            <a:r>
              <a:rPr lang="en" sz="1500" dirty="0">
                <a:latin typeface="Courier New"/>
                <a:ea typeface="Courier New"/>
                <a:cs typeface="Courier New"/>
                <a:sym typeface="Courier New"/>
              </a:rPr>
              <a:t>Goat</a:t>
            </a:r>
            <a:r>
              <a:rPr lang="en" sz="1500" dirty="0"/>
              <a:t>.</a:t>
            </a:r>
            <a:endParaRPr sz="1500" dirty="0"/>
          </a:p>
          <a:p>
            <a:pPr marL="914400" lvl="1" indent="-311150" algn="l" rtl="0">
              <a:spcBef>
                <a:spcPts val="0"/>
              </a:spcBef>
              <a:spcAft>
                <a:spcPts val="0"/>
              </a:spcAft>
              <a:buSzPts val="1300"/>
              <a:buChar char="○"/>
            </a:pPr>
            <a:r>
              <a:rPr lang="en" sz="1300" dirty="0"/>
              <a:t>Use </a:t>
            </a:r>
            <a:r>
              <a:rPr lang="en" sz="1300" dirty="0">
                <a:solidFill>
                  <a:srgbClr val="FF0000"/>
                </a:solidFill>
                <a:latin typeface="Courier New"/>
                <a:ea typeface="Courier New"/>
                <a:cs typeface="Courier New"/>
                <a:sym typeface="Courier New"/>
              </a:rPr>
              <a:t>extends</a:t>
            </a:r>
            <a:r>
              <a:rPr lang="en" sz="1300" dirty="0"/>
              <a:t> to establish the inheritance relationship.</a:t>
            </a:r>
            <a:endParaRPr sz="1300" dirty="0"/>
          </a:p>
          <a:p>
            <a:pPr marL="914400" lvl="1" indent="-311150" algn="l" rtl="0">
              <a:spcBef>
                <a:spcPts val="0"/>
              </a:spcBef>
              <a:spcAft>
                <a:spcPts val="0"/>
              </a:spcAft>
              <a:buSzPts val="1300"/>
              <a:buChar char="○"/>
            </a:pPr>
            <a:r>
              <a:rPr lang="en" sz="1300" dirty="0"/>
              <a:t>You will need to write at least one constructor. Use super to call the parent constructor.</a:t>
            </a:r>
            <a:endParaRPr sz="1300" dirty="0"/>
          </a:p>
          <a:p>
            <a:pPr marL="914400" lvl="1" indent="-311150" algn="l" rtl="0">
              <a:spcBef>
                <a:spcPts val="0"/>
              </a:spcBef>
              <a:spcAft>
                <a:spcPts val="0"/>
              </a:spcAft>
              <a:buSzPts val="1300"/>
              <a:buChar char="○"/>
            </a:pPr>
            <a:r>
              <a:rPr lang="en" sz="1300" dirty="0"/>
              <a:t>Which methods can be safely deleted?</a:t>
            </a:r>
            <a:endParaRPr sz="1300" dirty="0"/>
          </a:p>
          <a:p>
            <a:pPr marL="914400" lvl="1" indent="-311150" algn="l" rtl="0">
              <a:spcBef>
                <a:spcPts val="0"/>
              </a:spcBef>
              <a:spcAft>
                <a:spcPts val="0"/>
              </a:spcAft>
              <a:buSzPts val="1300"/>
              <a:buChar char="○"/>
            </a:pPr>
            <a:r>
              <a:rPr lang="en" sz="1300" dirty="0"/>
              <a:t>Which methods will </a:t>
            </a:r>
            <a:r>
              <a:rPr lang="en" sz="1300" b="1" i="1" dirty="0">
                <a:solidFill>
                  <a:srgbClr val="FF0000"/>
                </a:solidFill>
              </a:rPr>
              <a:t>override</a:t>
            </a:r>
            <a:r>
              <a:rPr lang="en" sz="1300" dirty="0"/>
              <a:t> the implementations in the parent class?</a:t>
            </a:r>
            <a:endParaRPr sz="1300" dirty="0"/>
          </a:p>
          <a:p>
            <a:pPr marL="457200" lvl="0" indent="-323850" algn="l" rtl="0">
              <a:spcBef>
                <a:spcPts val="0"/>
              </a:spcBef>
              <a:spcAft>
                <a:spcPts val="0"/>
              </a:spcAft>
              <a:buSzPts val="1500"/>
              <a:buChar char="●"/>
            </a:pPr>
            <a:r>
              <a:rPr lang="en" sz="1500" dirty="0"/>
              <a:t>Experiment by running the class. Does the </a:t>
            </a:r>
            <a:r>
              <a:rPr lang="en" sz="1500" dirty="0">
                <a:latin typeface="Courier New"/>
                <a:ea typeface="Courier New"/>
                <a:cs typeface="Courier New"/>
                <a:sym typeface="Courier New"/>
              </a:rPr>
              <a:t>main</a:t>
            </a:r>
            <a:r>
              <a:rPr lang="en" sz="1500" dirty="0"/>
              <a:t> method still work?</a:t>
            </a:r>
            <a:endParaRPr sz="1500" dirty="0"/>
          </a:p>
        </p:txBody>
      </p:sp>
      <p:sp>
        <p:nvSpPr>
          <p:cNvPr id="709" name="Google Shape;709;p8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Refactor Fighter</a:t>
            </a:r>
            <a:endParaRPr/>
          </a:p>
        </p:txBody>
      </p:sp>
      <p:sp>
        <p:nvSpPr>
          <p:cNvPr id="710" name="Google Shape;710;p8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3.13</a:t>
            </a:r>
            <a:endParaRPr/>
          </a:p>
        </p:txBody>
      </p:sp>
      <p:pic>
        <p:nvPicPr>
          <p:cNvPr id="711" name="Google Shape;711;p89"/>
          <p:cNvPicPr preferRelativeResize="0"/>
          <p:nvPr/>
        </p:nvPicPr>
        <p:blipFill rotWithShape="1">
          <a:blip r:embed="rId3">
            <a:alphaModFix/>
          </a:blip>
          <a:srcRect/>
          <a:stretch/>
        </p:blipFill>
        <p:spPr>
          <a:xfrm>
            <a:off x="543379" y="3476523"/>
            <a:ext cx="947685" cy="1364628"/>
          </a:xfrm>
          <a:prstGeom prst="rect">
            <a:avLst/>
          </a:prstGeom>
          <a:noFill/>
          <a:ln>
            <a:noFill/>
          </a:ln>
        </p:spPr>
      </p:pic>
      <p:pic>
        <p:nvPicPr>
          <p:cNvPr id="712" name="Google Shape;712;p89"/>
          <p:cNvPicPr preferRelativeResize="0"/>
          <p:nvPr/>
        </p:nvPicPr>
        <p:blipFill rotWithShape="1">
          <a:blip r:embed="rId4">
            <a:alphaModFix/>
          </a:blip>
          <a:srcRect/>
          <a:stretch/>
        </p:blipFill>
        <p:spPr>
          <a:xfrm flipH="1">
            <a:off x="515727" y="1974426"/>
            <a:ext cx="999300" cy="1068685"/>
          </a:xfrm>
          <a:prstGeom prst="rect">
            <a:avLst/>
          </a:prstGeom>
          <a:noFill/>
          <a:ln>
            <a:noFill/>
          </a:ln>
        </p:spPr>
      </p:pic>
      <p:sp>
        <p:nvSpPr>
          <p:cNvPr id="713" name="Google Shape;713;p89"/>
          <p:cNvSpPr/>
          <p:nvPr/>
        </p:nvSpPr>
        <p:spPr>
          <a:xfrm>
            <a:off x="902941" y="3083386"/>
            <a:ext cx="225000" cy="170400"/>
          </a:xfrm>
          <a:prstGeom prst="triangle">
            <a:avLst>
              <a:gd name="adj" fmla="val 50000"/>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14" name="Google Shape;714;p89"/>
          <p:cNvCxnSpPr>
            <a:stCxn id="713" idx="3"/>
          </p:cNvCxnSpPr>
          <p:nvPr/>
        </p:nvCxnSpPr>
        <p:spPr>
          <a:xfrm>
            <a:off x="1015441" y="3253786"/>
            <a:ext cx="0" cy="224400"/>
          </a:xfrm>
          <a:prstGeom prst="straightConnector1">
            <a:avLst/>
          </a:prstGeom>
          <a:noFill/>
          <a:ln w="28575" cap="flat" cmpd="sng">
            <a:solidFill>
              <a:srgbClr val="000000"/>
            </a:solidFill>
            <a:prstDash val="solid"/>
            <a:round/>
            <a:headEnd type="none" w="sm" len="sm"/>
            <a:tailEnd type="none" w="sm" len="sm"/>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90"/>
          <p:cNvSpPr txBox="1">
            <a:spLocks noGrp="1"/>
          </p:cNvSpPr>
          <p:nvPr>
            <p:ph type="title"/>
          </p:nvPr>
        </p:nvSpPr>
        <p:spPr>
          <a:xfrm>
            <a:off x="3117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Polymorphism</a:t>
            </a:r>
            <a:endParaRPr/>
          </a:p>
        </p:txBody>
      </p:sp>
      <p:sp>
        <p:nvSpPr>
          <p:cNvPr id="720" name="Google Shape;720;p90"/>
          <p:cNvSpPr txBox="1">
            <a:spLocks noGrp="1"/>
          </p:cNvSpPr>
          <p:nvPr>
            <p:ph type="body" idx="1"/>
          </p:nvPr>
        </p:nvSpPr>
        <p:spPr>
          <a:xfrm>
            <a:off x="4405900" y="146700"/>
            <a:ext cx="4615200" cy="4789800"/>
          </a:xfrm>
          <a:prstGeom prst="rect">
            <a:avLst/>
          </a:prstGeom>
        </p:spPr>
        <p:txBody>
          <a:bodyPr spcFirstLastPara="1" wrap="square" lIns="91425" tIns="91425" rIns="91425" bIns="91425" anchor="t" anchorCtr="0">
            <a:noAutofit/>
          </a:bodyPr>
          <a:lstStyle/>
          <a:p>
            <a:pPr marL="457200" lvl="0" indent="-311150" algn="l" rtl="0">
              <a:lnSpc>
                <a:spcPct val="100000"/>
              </a:lnSpc>
              <a:spcBef>
                <a:spcPts val="0"/>
              </a:spcBef>
              <a:spcAft>
                <a:spcPts val="0"/>
              </a:spcAft>
              <a:buSzPts val="1300"/>
              <a:buChar char="●"/>
            </a:pPr>
            <a:r>
              <a:rPr lang="en" dirty="0"/>
              <a:t>When one class extends another, it </a:t>
            </a:r>
            <a:r>
              <a:rPr lang="en" b="1" i="1" dirty="0">
                <a:solidFill>
                  <a:srgbClr val="FF0000"/>
                </a:solidFill>
              </a:rPr>
              <a:t>inherits </a:t>
            </a:r>
            <a:r>
              <a:rPr lang="en" dirty="0"/>
              <a:t>all of the </a:t>
            </a:r>
            <a:r>
              <a:rPr lang="en" b="1" i="1" dirty="0">
                <a:solidFill>
                  <a:srgbClr val="FF0000"/>
                </a:solidFill>
              </a:rPr>
              <a:t>accessible</a:t>
            </a:r>
            <a:r>
              <a:rPr lang="en" dirty="0">
                <a:solidFill>
                  <a:srgbClr val="FF0000"/>
                </a:solidFill>
              </a:rPr>
              <a:t> </a:t>
            </a:r>
            <a:r>
              <a:rPr lang="en" dirty="0"/>
              <a:t>state and behavior from the parent class.</a:t>
            </a:r>
            <a:endParaRPr dirty="0"/>
          </a:p>
          <a:p>
            <a:pPr marL="914400" lvl="1" indent="-298450" algn="l" rtl="0">
              <a:lnSpc>
                <a:spcPct val="100000"/>
              </a:lnSpc>
              <a:spcBef>
                <a:spcPts val="0"/>
              </a:spcBef>
              <a:spcAft>
                <a:spcPts val="0"/>
              </a:spcAft>
              <a:buSzPts val="1100"/>
              <a:buChar char="○"/>
            </a:pPr>
            <a:r>
              <a:rPr lang="en" dirty="0">
                <a:highlight>
                  <a:srgbClr val="FFFF00"/>
                </a:highlight>
              </a:rPr>
              <a:t>The </a:t>
            </a:r>
            <a:r>
              <a:rPr lang="en" b="1" i="1" dirty="0">
                <a:solidFill>
                  <a:srgbClr val="FF0000"/>
                </a:solidFill>
                <a:highlight>
                  <a:srgbClr val="FFFF00"/>
                </a:highlight>
              </a:rPr>
              <a:t>subclass</a:t>
            </a:r>
            <a:r>
              <a:rPr lang="en" dirty="0">
                <a:solidFill>
                  <a:srgbClr val="FF0000"/>
                </a:solidFill>
                <a:highlight>
                  <a:srgbClr val="FFFF00"/>
                </a:highlight>
              </a:rPr>
              <a:t> </a:t>
            </a:r>
            <a:r>
              <a:rPr lang="en" dirty="0">
                <a:highlight>
                  <a:srgbClr val="FFFF00"/>
                </a:highlight>
              </a:rPr>
              <a:t>can be used with any code that has been written to use the </a:t>
            </a:r>
            <a:r>
              <a:rPr lang="en" b="1" i="1" dirty="0">
                <a:solidFill>
                  <a:srgbClr val="FF0000"/>
                </a:solidFill>
                <a:highlight>
                  <a:srgbClr val="FFFF00"/>
                </a:highlight>
              </a:rPr>
              <a:t>superclass</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This is because any code that uses state and behavior defined by the parent will find that same state and behavior in the child.</a:t>
            </a:r>
            <a:endParaRPr dirty="0"/>
          </a:p>
          <a:p>
            <a:pPr marL="914400" lvl="1" indent="-298450" algn="l" rtl="0">
              <a:lnSpc>
                <a:spcPct val="100000"/>
              </a:lnSpc>
              <a:spcBef>
                <a:spcPts val="0"/>
              </a:spcBef>
              <a:spcAft>
                <a:spcPts val="0"/>
              </a:spcAft>
              <a:buSzPts val="1100"/>
              <a:buChar char="○"/>
            </a:pPr>
            <a:r>
              <a:rPr lang="en" dirty="0">
                <a:highlight>
                  <a:srgbClr val="FFFF00"/>
                </a:highlight>
              </a:rPr>
              <a:t>This is a key feature of </a:t>
            </a:r>
            <a:r>
              <a:rPr lang="en" b="1" i="1" dirty="0">
                <a:solidFill>
                  <a:srgbClr val="FF0000"/>
                </a:solidFill>
                <a:highlight>
                  <a:srgbClr val="FFFF00"/>
                </a:highlight>
              </a:rPr>
              <a:t>object-oriented programming</a:t>
            </a:r>
            <a:r>
              <a:rPr lang="en" dirty="0">
                <a:highlight>
                  <a:srgbClr val="FFFF00"/>
                </a:highlight>
              </a:rPr>
              <a:t> that is known as </a:t>
            </a:r>
            <a:r>
              <a:rPr lang="en" b="1" i="1" dirty="0">
                <a:solidFill>
                  <a:srgbClr val="FF0000"/>
                </a:solidFill>
                <a:highlight>
                  <a:srgbClr val="FFFF00"/>
                </a:highlight>
              </a:rPr>
              <a:t>polymorphism</a:t>
            </a:r>
            <a:r>
              <a:rPr lang="en" dirty="0">
                <a:highlight>
                  <a:srgbClr val="FFFF00"/>
                </a:highlight>
              </a:rPr>
              <a:t>: </a:t>
            </a:r>
            <a:r>
              <a:rPr lang="en" dirty="0"/>
              <a:t>code written to use a parent will work with any of its children.</a:t>
            </a:r>
            <a:endParaRPr dirty="0"/>
          </a:p>
          <a:p>
            <a:pPr marL="457200" lvl="0" indent="-311150" algn="l" rtl="0">
              <a:spcBef>
                <a:spcPts val="0"/>
              </a:spcBef>
              <a:spcAft>
                <a:spcPts val="0"/>
              </a:spcAft>
              <a:buSzPts val="1300"/>
              <a:buChar char="●"/>
            </a:pPr>
            <a:r>
              <a:rPr lang="en" dirty="0"/>
              <a:t>However, there is another equally important aspect of polymorphism: </a:t>
            </a:r>
            <a:r>
              <a:rPr lang="en" dirty="0">
                <a:highlight>
                  <a:srgbClr val="FFFF00"/>
                </a:highlight>
              </a:rPr>
              <a:t>if a child </a:t>
            </a:r>
            <a:r>
              <a:rPr lang="en" b="1" i="1" dirty="0">
                <a:solidFill>
                  <a:srgbClr val="FF0000"/>
                </a:solidFill>
                <a:highlight>
                  <a:srgbClr val="FFFF00"/>
                </a:highlight>
              </a:rPr>
              <a:t>is</a:t>
            </a:r>
            <a:r>
              <a:rPr lang="en" dirty="0">
                <a:highlight>
                  <a:srgbClr val="FFFF00"/>
                </a:highlight>
              </a:rPr>
              <a:t> used in place of its parent </a:t>
            </a:r>
            <a:r>
              <a:rPr lang="en" b="1" i="1" dirty="0">
                <a:solidFill>
                  <a:srgbClr val="FF0000"/>
                </a:solidFill>
                <a:highlight>
                  <a:srgbClr val="FFFF00"/>
                </a:highlight>
              </a:rPr>
              <a:t>and</a:t>
            </a:r>
            <a:r>
              <a:rPr lang="en" dirty="0">
                <a:solidFill>
                  <a:srgbClr val="FF0000"/>
                </a:solidFill>
                <a:highlight>
                  <a:srgbClr val="FFFF00"/>
                </a:highlight>
              </a:rPr>
              <a:t> </a:t>
            </a:r>
            <a:r>
              <a:rPr lang="en" dirty="0">
                <a:highlight>
                  <a:srgbClr val="FFFF00"/>
                </a:highlight>
              </a:rPr>
              <a:t>the child overrides the methods in the parent, the </a:t>
            </a:r>
            <a:r>
              <a:rPr lang="en" b="1" i="1" dirty="0">
                <a:solidFill>
                  <a:srgbClr val="FF0000"/>
                </a:solidFill>
                <a:highlight>
                  <a:srgbClr val="FFFF00"/>
                </a:highlight>
              </a:rPr>
              <a:t>child's version</a:t>
            </a:r>
            <a:r>
              <a:rPr lang="en" dirty="0">
                <a:highlight>
                  <a:srgbClr val="FFFF00"/>
                </a:highlight>
              </a:rPr>
              <a:t> of those methods will be used.</a:t>
            </a:r>
            <a:endParaRPr dirty="0">
              <a:highlight>
                <a:srgbClr val="FFFF00"/>
              </a:highlight>
            </a:endParaRPr>
          </a:p>
          <a:p>
            <a:pPr marL="914400" lvl="1" indent="-298450" algn="l" rtl="0">
              <a:spcBef>
                <a:spcPts val="0"/>
              </a:spcBef>
              <a:spcAft>
                <a:spcPts val="0"/>
              </a:spcAft>
              <a:buSzPts val="1100"/>
              <a:buChar char="○"/>
            </a:pPr>
            <a:r>
              <a:rPr lang="en" dirty="0"/>
              <a:t>The </a:t>
            </a:r>
            <a:r>
              <a:rPr lang="en" b="1" i="1" dirty="0">
                <a:solidFill>
                  <a:srgbClr val="FF0000"/>
                </a:solidFill>
              </a:rPr>
              <a:t>declared type</a:t>
            </a:r>
            <a:r>
              <a:rPr lang="en" dirty="0"/>
              <a:t> of a variable determines the state and behavior that can be used through that variable.</a:t>
            </a:r>
            <a:endParaRPr dirty="0"/>
          </a:p>
          <a:p>
            <a:pPr marL="914400" lvl="1" indent="-298450" algn="l" rtl="0">
              <a:spcBef>
                <a:spcPts val="0"/>
              </a:spcBef>
              <a:spcAft>
                <a:spcPts val="0"/>
              </a:spcAft>
              <a:buSzPts val="1100"/>
              <a:buChar char="○"/>
            </a:pPr>
            <a:r>
              <a:rPr lang="en" dirty="0">
                <a:highlight>
                  <a:srgbClr val="FFFF00"/>
                </a:highlight>
              </a:rPr>
              <a:t>The </a:t>
            </a:r>
            <a:r>
              <a:rPr lang="en" b="1" i="1" dirty="0">
                <a:solidFill>
                  <a:srgbClr val="FF0000"/>
                </a:solidFill>
                <a:highlight>
                  <a:srgbClr val="FFFF00"/>
                </a:highlight>
              </a:rPr>
              <a:t>assigned type</a:t>
            </a:r>
            <a:r>
              <a:rPr lang="en" dirty="0">
                <a:highlight>
                  <a:srgbClr val="FFFF00"/>
                </a:highlight>
              </a:rPr>
              <a:t> determines the </a:t>
            </a:r>
            <a:r>
              <a:rPr lang="en" b="1" i="1" dirty="0">
                <a:solidFill>
                  <a:srgbClr val="FF0000"/>
                </a:solidFill>
                <a:highlight>
                  <a:srgbClr val="FFFF00"/>
                </a:highlight>
              </a:rPr>
              <a:t>implementation</a:t>
            </a:r>
            <a:r>
              <a:rPr lang="en" dirty="0">
                <a:highlight>
                  <a:srgbClr val="FFFF00"/>
                </a:highlight>
              </a:rPr>
              <a:t> that is used.</a:t>
            </a:r>
            <a:endParaRPr dirty="0">
              <a:highlight>
                <a:srgbClr val="FFFF00"/>
              </a:highlight>
            </a:endParaRPr>
          </a:p>
          <a:p>
            <a:pPr marL="914400" lvl="1" indent="-298450" algn="l" rtl="0">
              <a:spcBef>
                <a:spcPts val="0"/>
              </a:spcBef>
              <a:spcAft>
                <a:spcPts val="0"/>
              </a:spcAft>
              <a:buSzPts val="1100"/>
              <a:buChar char="○"/>
            </a:pPr>
            <a:r>
              <a:rPr lang="en" dirty="0"/>
              <a:t>For example, </a:t>
            </a:r>
            <a:r>
              <a:rPr lang="en" dirty="0">
                <a:solidFill>
                  <a:srgbClr val="FF0000"/>
                </a:solidFill>
                <a:highlight>
                  <a:srgbClr val="FFFF00"/>
                </a:highlight>
                <a:latin typeface="Courier New"/>
                <a:ea typeface="Courier New"/>
                <a:cs typeface="Courier New"/>
                <a:sym typeface="Courier New"/>
              </a:rPr>
              <a:t>Parent p = new Parent();</a:t>
            </a:r>
            <a:r>
              <a:rPr lang="en" dirty="0">
                <a:highlight>
                  <a:srgbClr val="FFFF00"/>
                </a:highlight>
              </a:rPr>
              <a:t> </a:t>
            </a:r>
            <a:r>
              <a:rPr lang="en" dirty="0"/>
              <a:t>will assign an instance of the </a:t>
            </a:r>
            <a:r>
              <a:rPr lang="en" dirty="0">
                <a:latin typeface="Courier New"/>
                <a:ea typeface="Courier New"/>
                <a:cs typeface="Courier New"/>
                <a:sym typeface="Courier New"/>
              </a:rPr>
              <a:t>Parent</a:t>
            </a:r>
            <a:r>
              <a:rPr lang="en" dirty="0"/>
              <a:t> class to the variable, and its methods will be used </a:t>
            </a:r>
            <a:r>
              <a:rPr lang="en" b="1" i="1" dirty="0">
                <a:solidFill>
                  <a:srgbClr val="FF0000"/>
                </a:solidFill>
              </a:rPr>
              <a:t>regardless</a:t>
            </a:r>
            <a:r>
              <a:rPr lang="en" dirty="0"/>
              <a:t>.</a:t>
            </a:r>
            <a:endParaRPr dirty="0"/>
          </a:p>
          <a:p>
            <a:pPr marL="914400" lvl="1" indent="-298450" algn="l" rtl="0">
              <a:spcBef>
                <a:spcPts val="0"/>
              </a:spcBef>
              <a:spcAft>
                <a:spcPts val="0"/>
              </a:spcAft>
              <a:buSzPts val="1100"/>
              <a:buChar char="○"/>
            </a:pPr>
            <a:r>
              <a:rPr lang="en" dirty="0"/>
              <a:t>But </a:t>
            </a:r>
            <a:r>
              <a:rPr lang="en" dirty="0">
                <a:solidFill>
                  <a:srgbClr val="FF0000"/>
                </a:solidFill>
                <a:highlight>
                  <a:srgbClr val="FFFF00"/>
                </a:highlight>
                <a:latin typeface="Courier New"/>
                <a:ea typeface="Courier New"/>
                <a:cs typeface="Courier New"/>
                <a:sym typeface="Courier New"/>
              </a:rPr>
              <a:t>Parent p = new Child();</a:t>
            </a:r>
            <a:r>
              <a:rPr lang="en" dirty="0">
                <a:highlight>
                  <a:srgbClr val="FFFF00"/>
                </a:highlight>
              </a:rPr>
              <a:t> </a:t>
            </a:r>
            <a:r>
              <a:rPr lang="en" dirty="0"/>
              <a:t>will assign an instance of the </a:t>
            </a:r>
            <a:r>
              <a:rPr lang="en" dirty="0">
                <a:latin typeface="Courier New"/>
                <a:ea typeface="Courier New"/>
                <a:cs typeface="Courier New"/>
                <a:sym typeface="Courier New"/>
              </a:rPr>
              <a:t>Child</a:t>
            </a:r>
            <a:r>
              <a:rPr lang="en" dirty="0"/>
              <a:t> class, and </a:t>
            </a:r>
            <a:r>
              <a:rPr lang="en" b="1" i="1" dirty="0">
                <a:solidFill>
                  <a:srgbClr val="FF0000"/>
                </a:solidFill>
              </a:rPr>
              <a:t>its</a:t>
            </a:r>
            <a:r>
              <a:rPr lang="en" dirty="0"/>
              <a:t> versions of any </a:t>
            </a:r>
            <a:r>
              <a:rPr lang="en" b="1" i="1" dirty="0">
                <a:solidFill>
                  <a:srgbClr val="FF0000"/>
                </a:solidFill>
              </a:rPr>
              <a:t>overridden </a:t>
            </a:r>
            <a:r>
              <a:rPr lang="en" dirty="0"/>
              <a:t>methods will be used instead.</a:t>
            </a:r>
            <a:endParaRPr dirty="0"/>
          </a:p>
        </p:txBody>
      </p:sp>
      <p:sp>
        <p:nvSpPr>
          <p:cNvPr id="721" name="Google Shape;721;p9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722" name="Google Shape;722;p90"/>
          <p:cNvSpPr txBox="1">
            <a:spLocks noGrp="1"/>
          </p:cNvSpPr>
          <p:nvPr>
            <p:ph type="body" idx="3"/>
          </p:nvPr>
        </p:nvSpPr>
        <p:spPr>
          <a:xfrm>
            <a:off x="315425" y="4089650"/>
            <a:ext cx="3706500" cy="8469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b="1" i="1">
                <a:solidFill>
                  <a:srgbClr val="FF0000"/>
                </a:solidFill>
              </a:rPr>
              <a:t>Polymorphism</a:t>
            </a:r>
            <a:r>
              <a:rPr lang="en" sz="1200">
                <a:solidFill>
                  <a:srgbClr val="FF0000"/>
                </a:solidFill>
              </a:rPr>
              <a:t> </a:t>
            </a:r>
            <a:r>
              <a:rPr lang="en" sz="1200"/>
              <a:t>is a core principle of </a:t>
            </a:r>
            <a:r>
              <a:rPr lang="en" sz="1200" b="1" i="1">
                <a:solidFill>
                  <a:srgbClr val="FF0000"/>
                </a:solidFill>
              </a:rPr>
              <a:t>object- oriented programming</a:t>
            </a:r>
            <a:r>
              <a:rPr lang="en" sz="1200"/>
              <a:t>. It makes code more powerful, flexible, and reusable. It should be used whenever possible!</a:t>
            </a:r>
            <a:endParaRPr sz="1200"/>
          </a:p>
        </p:txBody>
      </p:sp>
      <p:graphicFrame>
        <p:nvGraphicFramePr>
          <p:cNvPr id="723" name="Google Shape;723;p90"/>
          <p:cNvGraphicFramePr/>
          <p:nvPr/>
        </p:nvGraphicFramePr>
        <p:xfrm>
          <a:off x="839350" y="751825"/>
          <a:ext cx="2420625" cy="1310550"/>
        </p:xfrm>
        <a:graphic>
          <a:graphicData uri="http://schemas.openxmlformats.org/drawingml/2006/table">
            <a:tbl>
              <a:tblPr>
                <a:noFill/>
                <a:tableStyleId>{BB7116F7-C15E-4CF7-A1A4-3F0B48A09751}</a:tableStyleId>
              </a:tblPr>
              <a:tblGrid>
                <a:gridCol w="2420625">
                  <a:extLst>
                    <a:ext uri="{9D8B030D-6E8A-4147-A177-3AD203B41FA5}">
                      <a16:colId xmlns:a16="http://schemas.microsoft.com/office/drawing/2014/main" val="20000"/>
                    </a:ext>
                  </a:extLst>
                </a:gridCol>
              </a:tblGrid>
              <a:tr h="212700">
                <a:tc>
                  <a:txBody>
                    <a:bodyPr/>
                    <a:lstStyle/>
                    <a:p>
                      <a:pPr marL="0" lvl="0" indent="0" algn="ctr" rtl="0">
                        <a:spcBef>
                          <a:spcPts val="0"/>
                        </a:spcBef>
                        <a:spcAft>
                          <a:spcPts val="0"/>
                        </a:spcAft>
                        <a:buNone/>
                      </a:pPr>
                      <a:r>
                        <a:rPr lang="en" sz="1000">
                          <a:latin typeface="Consolas"/>
                          <a:ea typeface="Consolas"/>
                          <a:cs typeface="Consolas"/>
                          <a:sym typeface="Consolas"/>
                        </a:rPr>
                        <a:t>Parent</a:t>
                      </a:r>
                      <a:endParaRPr sz="1000">
                        <a:latin typeface="Consolas"/>
                        <a:ea typeface="Consolas"/>
                        <a:cs typeface="Consolas"/>
                        <a:sym typeface="Consolas"/>
                      </a:endParaRPr>
                    </a:p>
                  </a:txBody>
                  <a:tcPr marL="91425" marR="91425" marT="91425" marB="91425">
                    <a:lnL w="19050" cap="flat" cmpd="sng">
                      <a:solidFill>
                        <a:srgbClr val="B7B7B7"/>
                      </a:solidFill>
                      <a:prstDash val="solid"/>
                      <a:round/>
                      <a:headEnd type="none" w="sm" len="sm"/>
                      <a:tailEnd type="none" w="sm" len="sm"/>
                    </a:lnL>
                    <a:lnR w="19050" cap="flat" cmpd="sng">
                      <a:solidFill>
                        <a:srgbClr val="B7B7B7"/>
                      </a:solidFill>
                      <a:prstDash val="solid"/>
                      <a:round/>
                      <a:headEnd type="none" w="sm" len="sm"/>
                      <a:tailEnd type="none" w="sm" len="sm"/>
                    </a:lnR>
                    <a:lnT w="19050" cap="flat" cmpd="sng">
                      <a:solidFill>
                        <a:srgbClr val="B7B7B7"/>
                      </a:solidFill>
                      <a:prstDash val="solid"/>
                      <a:round/>
                      <a:headEnd type="none" w="sm" len="sm"/>
                      <a:tailEnd type="none" w="sm" len="sm"/>
                    </a:lnT>
                    <a:lnB w="19050"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2700">
                <a:tc>
                  <a:txBody>
                    <a:bodyPr/>
                    <a:lstStyle/>
                    <a:p>
                      <a:pPr marL="0" lvl="0" indent="0" algn="l" rtl="0">
                        <a:spcBef>
                          <a:spcPts val="0"/>
                        </a:spcBef>
                        <a:spcAft>
                          <a:spcPts val="0"/>
                        </a:spcAft>
                        <a:buNone/>
                      </a:pPr>
                      <a:r>
                        <a:rPr lang="en" sz="1000">
                          <a:latin typeface="Consolas"/>
                          <a:ea typeface="Consolas"/>
                          <a:cs typeface="Consolas"/>
                          <a:sym typeface="Consolas"/>
                        </a:rPr>
                        <a:t>- name: String</a:t>
                      </a:r>
                      <a:endParaRPr sz="1000">
                        <a:latin typeface="Consolas"/>
                        <a:ea typeface="Consolas"/>
                        <a:cs typeface="Consolas"/>
                        <a:sym typeface="Consolas"/>
                      </a:endParaRPr>
                    </a:p>
                  </a:txBody>
                  <a:tcPr marL="91425" marR="91425" marT="91425" marB="91425">
                    <a:lnL w="19050" cap="flat" cmpd="sng">
                      <a:solidFill>
                        <a:srgbClr val="B7B7B7"/>
                      </a:solidFill>
                      <a:prstDash val="solid"/>
                      <a:round/>
                      <a:headEnd type="none" w="sm" len="sm"/>
                      <a:tailEnd type="none" w="sm" len="sm"/>
                    </a:lnL>
                    <a:lnR w="19050" cap="flat" cmpd="sng">
                      <a:solidFill>
                        <a:srgbClr val="B7B7B7"/>
                      </a:solidFill>
                      <a:prstDash val="solid"/>
                      <a:round/>
                      <a:headEnd type="none" w="sm" len="sm"/>
                      <a:tailEnd type="none" w="sm" len="sm"/>
                    </a:lnR>
                    <a:lnT w="19050" cap="flat" cmpd="sng">
                      <a:solidFill>
                        <a:srgbClr val="B7B7B7"/>
                      </a:solidFill>
                      <a:prstDash val="solid"/>
                      <a:round/>
                      <a:headEnd type="none" w="sm" len="sm"/>
                      <a:tailEnd type="none" w="sm" len="sm"/>
                    </a:lnT>
                    <a:lnB w="19050"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12700">
                <a:tc>
                  <a:txBody>
                    <a:bodyPr/>
                    <a:lstStyle/>
                    <a:p>
                      <a:pPr marL="0" lvl="0" indent="0" algn="l" rtl="0">
                        <a:spcBef>
                          <a:spcPts val="0"/>
                        </a:spcBef>
                        <a:spcAft>
                          <a:spcPts val="0"/>
                        </a:spcAft>
                        <a:buNone/>
                      </a:pPr>
                      <a:r>
                        <a:rPr lang="en" sz="1000">
                          <a:latin typeface="Consolas"/>
                          <a:ea typeface="Consolas"/>
                          <a:cs typeface="Consolas"/>
                          <a:sym typeface="Consolas"/>
                        </a:rPr>
                        <a:t>+ Parent(name: String)</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getName(): String</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toString(): String</a:t>
                      </a:r>
                      <a:endParaRPr sz="1000">
                        <a:latin typeface="Consolas"/>
                        <a:ea typeface="Consolas"/>
                        <a:cs typeface="Consolas"/>
                        <a:sym typeface="Consolas"/>
                      </a:endParaRPr>
                    </a:p>
                  </a:txBody>
                  <a:tcPr marL="91425" marR="91425" marT="91425" marB="91425">
                    <a:lnL w="19050" cap="flat" cmpd="sng">
                      <a:solidFill>
                        <a:srgbClr val="B7B7B7"/>
                      </a:solidFill>
                      <a:prstDash val="solid"/>
                      <a:round/>
                      <a:headEnd type="none" w="sm" len="sm"/>
                      <a:tailEnd type="none" w="sm" len="sm"/>
                    </a:lnL>
                    <a:lnR w="19050" cap="flat" cmpd="sng">
                      <a:solidFill>
                        <a:srgbClr val="B7B7B7"/>
                      </a:solidFill>
                      <a:prstDash val="solid"/>
                      <a:round/>
                      <a:headEnd type="none" w="sm" len="sm"/>
                      <a:tailEnd type="none" w="sm" len="sm"/>
                    </a:lnR>
                    <a:lnT w="19050" cap="flat" cmpd="sng">
                      <a:solidFill>
                        <a:srgbClr val="B7B7B7"/>
                      </a:solidFill>
                      <a:prstDash val="solid"/>
                      <a:round/>
                      <a:headEnd type="none" w="sm" len="sm"/>
                      <a:tailEnd type="none" w="sm" len="sm"/>
                    </a:lnT>
                    <a:lnB w="19050"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aphicFrame>
        <p:nvGraphicFramePr>
          <p:cNvPr id="724" name="Google Shape;724;p90"/>
          <p:cNvGraphicFramePr/>
          <p:nvPr/>
        </p:nvGraphicFramePr>
        <p:xfrm>
          <a:off x="839350" y="2565845"/>
          <a:ext cx="2420625" cy="1310550"/>
        </p:xfrm>
        <a:graphic>
          <a:graphicData uri="http://schemas.openxmlformats.org/drawingml/2006/table">
            <a:tbl>
              <a:tblPr>
                <a:noFill/>
                <a:tableStyleId>{BB7116F7-C15E-4CF7-A1A4-3F0B48A09751}</a:tableStyleId>
              </a:tblPr>
              <a:tblGrid>
                <a:gridCol w="2420625">
                  <a:extLst>
                    <a:ext uri="{9D8B030D-6E8A-4147-A177-3AD203B41FA5}">
                      <a16:colId xmlns:a16="http://schemas.microsoft.com/office/drawing/2014/main" val="20000"/>
                    </a:ext>
                  </a:extLst>
                </a:gridCol>
              </a:tblGrid>
              <a:tr h="212700">
                <a:tc>
                  <a:txBody>
                    <a:bodyPr/>
                    <a:lstStyle/>
                    <a:p>
                      <a:pPr marL="0" lvl="0" indent="0" algn="ctr" rtl="0">
                        <a:spcBef>
                          <a:spcPts val="0"/>
                        </a:spcBef>
                        <a:spcAft>
                          <a:spcPts val="0"/>
                        </a:spcAft>
                        <a:buNone/>
                      </a:pPr>
                      <a:r>
                        <a:rPr lang="en" sz="1000">
                          <a:latin typeface="Consolas"/>
                          <a:ea typeface="Consolas"/>
                          <a:cs typeface="Consolas"/>
                          <a:sym typeface="Consolas"/>
                        </a:rPr>
                        <a:t>Child</a:t>
                      </a:r>
                      <a:endParaRPr sz="1000">
                        <a:latin typeface="Consolas"/>
                        <a:ea typeface="Consolas"/>
                        <a:cs typeface="Consolas"/>
                        <a:sym typeface="Consolas"/>
                      </a:endParaRPr>
                    </a:p>
                  </a:txBody>
                  <a:tcPr marL="91425" marR="91425" marT="91425" marB="91425">
                    <a:lnL w="19050" cap="flat" cmpd="sng">
                      <a:solidFill>
                        <a:srgbClr val="B7B7B7"/>
                      </a:solidFill>
                      <a:prstDash val="solid"/>
                      <a:round/>
                      <a:headEnd type="none" w="sm" len="sm"/>
                      <a:tailEnd type="none" w="sm" len="sm"/>
                    </a:lnL>
                    <a:lnR w="19050" cap="flat" cmpd="sng">
                      <a:solidFill>
                        <a:srgbClr val="B7B7B7"/>
                      </a:solidFill>
                      <a:prstDash val="solid"/>
                      <a:round/>
                      <a:headEnd type="none" w="sm" len="sm"/>
                      <a:tailEnd type="none" w="sm" len="sm"/>
                    </a:lnR>
                    <a:lnT w="19050" cap="flat" cmpd="sng">
                      <a:solidFill>
                        <a:srgbClr val="B7B7B7"/>
                      </a:solidFill>
                      <a:prstDash val="solid"/>
                      <a:round/>
                      <a:headEnd type="none" w="sm" len="sm"/>
                      <a:tailEnd type="none" w="sm" len="sm"/>
                    </a:lnT>
                    <a:lnB w="19050"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2700">
                <a:tc>
                  <a:txBody>
                    <a:bodyPr/>
                    <a:lstStyle/>
                    <a:p>
                      <a:pPr marL="0" lvl="0" indent="0" algn="l" rtl="0">
                        <a:spcBef>
                          <a:spcPts val="0"/>
                        </a:spcBef>
                        <a:spcAft>
                          <a:spcPts val="0"/>
                        </a:spcAft>
                        <a:buNone/>
                      </a:pPr>
                      <a:r>
                        <a:rPr lang="en" sz="1000">
                          <a:latin typeface="Consolas"/>
                          <a:ea typeface="Consolas"/>
                          <a:cs typeface="Consolas"/>
                          <a:sym typeface="Consolas"/>
                        </a:rPr>
                        <a:t>- age: int</a:t>
                      </a:r>
                      <a:endParaRPr sz="1000">
                        <a:latin typeface="Consolas"/>
                        <a:ea typeface="Consolas"/>
                        <a:cs typeface="Consolas"/>
                        <a:sym typeface="Consolas"/>
                      </a:endParaRPr>
                    </a:p>
                  </a:txBody>
                  <a:tcPr marL="91425" marR="91425" marT="91425" marB="91425">
                    <a:lnL w="19050" cap="flat" cmpd="sng">
                      <a:solidFill>
                        <a:srgbClr val="B7B7B7"/>
                      </a:solidFill>
                      <a:prstDash val="solid"/>
                      <a:round/>
                      <a:headEnd type="none" w="sm" len="sm"/>
                      <a:tailEnd type="none" w="sm" len="sm"/>
                    </a:lnL>
                    <a:lnR w="19050" cap="flat" cmpd="sng">
                      <a:solidFill>
                        <a:srgbClr val="B7B7B7"/>
                      </a:solidFill>
                      <a:prstDash val="solid"/>
                      <a:round/>
                      <a:headEnd type="none" w="sm" len="sm"/>
                      <a:tailEnd type="none" w="sm" len="sm"/>
                    </a:lnR>
                    <a:lnT w="19050" cap="flat" cmpd="sng">
                      <a:solidFill>
                        <a:srgbClr val="B7B7B7"/>
                      </a:solidFill>
                      <a:prstDash val="solid"/>
                      <a:round/>
                      <a:headEnd type="none" w="sm" len="sm"/>
                      <a:tailEnd type="none" w="sm" len="sm"/>
                    </a:lnT>
                    <a:lnB w="19050"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12700">
                <a:tc>
                  <a:txBody>
                    <a:bodyPr/>
                    <a:lstStyle/>
                    <a:p>
                      <a:pPr marL="0" lvl="0" indent="0" algn="l" rtl="0">
                        <a:spcBef>
                          <a:spcPts val="0"/>
                        </a:spcBef>
                        <a:spcAft>
                          <a:spcPts val="0"/>
                        </a:spcAft>
                        <a:buNone/>
                      </a:pPr>
                      <a:r>
                        <a:rPr lang="en" sz="1000">
                          <a:latin typeface="Consolas"/>
                          <a:ea typeface="Consolas"/>
                          <a:cs typeface="Consolas"/>
                          <a:sym typeface="Consolas"/>
                        </a:rPr>
                        <a:t>+ Child(name: String, age: int)</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getAge(): int</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toString(): String</a:t>
                      </a:r>
                      <a:endParaRPr sz="1000">
                        <a:latin typeface="Consolas"/>
                        <a:ea typeface="Consolas"/>
                        <a:cs typeface="Consolas"/>
                        <a:sym typeface="Consolas"/>
                      </a:endParaRPr>
                    </a:p>
                  </a:txBody>
                  <a:tcPr marL="91425" marR="91425" marT="91425" marB="91425">
                    <a:lnL w="19050" cap="flat" cmpd="sng">
                      <a:solidFill>
                        <a:srgbClr val="B7B7B7"/>
                      </a:solidFill>
                      <a:prstDash val="solid"/>
                      <a:round/>
                      <a:headEnd type="none" w="sm" len="sm"/>
                      <a:tailEnd type="none" w="sm" len="sm"/>
                    </a:lnL>
                    <a:lnR w="19050" cap="flat" cmpd="sng">
                      <a:solidFill>
                        <a:srgbClr val="B7B7B7"/>
                      </a:solidFill>
                      <a:prstDash val="solid"/>
                      <a:round/>
                      <a:headEnd type="none" w="sm" len="sm"/>
                      <a:tailEnd type="none" w="sm" len="sm"/>
                    </a:lnR>
                    <a:lnT w="19050" cap="flat" cmpd="sng">
                      <a:solidFill>
                        <a:srgbClr val="B7B7B7"/>
                      </a:solidFill>
                      <a:prstDash val="solid"/>
                      <a:round/>
                      <a:headEnd type="none" w="sm" len="sm"/>
                      <a:tailEnd type="none" w="sm" len="sm"/>
                    </a:lnT>
                    <a:lnB w="19050"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
        <p:nvSpPr>
          <p:cNvPr id="725" name="Google Shape;725;p90"/>
          <p:cNvSpPr/>
          <p:nvPr/>
        </p:nvSpPr>
        <p:spPr>
          <a:xfrm>
            <a:off x="1913013" y="2081650"/>
            <a:ext cx="273300" cy="207000"/>
          </a:xfrm>
          <a:prstGeom prst="triangle">
            <a:avLst>
              <a:gd name="adj" fmla="val 50000"/>
            </a:avLst>
          </a:prstGeom>
          <a:noFill/>
          <a:ln w="2857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6" name="Google Shape;726;p90"/>
          <p:cNvCxnSpPr>
            <a:stCxn id="725" idx="3"/>
          </p:cNvCxnSpPr>
          <p:nvPr/>
        </p:nvCxnSpPr>
        <p:spPr>
          <a:xfrm>
            <a:off x="2049663" y="2288650"/>
            <a:ext cx="0" cy="272700"/>
          </a:xfrm>
          <a:prstGeom prst="straightConnector1">
            <a:avLst/>
          </a:prstGeom>
          <a:noFill/>
          <a:ln w="28575" cap="flat" cmpd="sng">
            <a:solidFill>
              <a:srgbClr val="B7B7B7"/>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2"/>
                                        </p:tgtEl>
                                        <p:attrNameLst>
                                          <p:attrName>style.visibility</p:attrName>
                                        </p:attrNameLst>
                                      </p:cBhvr>
                                      <p:to>
                                        <p:strVal val="visible"/>
                                      </p:to>
                                    </p:set>
                                    <p:animEffect transition="in" filter="fade">
                                      <p:cBhvr>
                                        <p:cTn id="7" dur="1000"/>
                                        <p:tgtEl>
                                          <p:spTgt spid="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91"/>
          <p:cNvSpPr txBox="1">
            <a:spLocks noGrp="1"/>
          </p:cNvSpPr>
          <p:nvPr>
            <p:ph type="body" idx="1"/>
          </p:nvPr>
        </p:nvSpPr>
        <p:spPr>
          <a:xfrm>
            <a:off x="65250" y="731625"/>
            <a:ext cx="8955900" cy="1239283"/>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highlight>
                  <a:srgbClr val="FFFF00"/>
                </a:highlight>
              </a:rPr>
              <a:t>Polymorphism means that we can write code that uses the </a:t>
            </a:r>
            <a:r>
              <a:rPr lang="en" dirty="0">
                <a:highlight>
                  <a:srgbClr val="FFFF00"/>
                </a:highlight>
                <a:latin typeface="Courier New"/>
                <a:ea typeface="Courier New"/>
                <a:cs typeface="Courier New"/>
                <a:sym typeface="Courier New"/>
              </a:rPr>
              <a:t>Goat</a:t>
            </a:r>
            <a:r>
              <a:rPr lang="en" dirty="0">
                <a:highlight>
                  <a:srgbClr val="FFFF00"/>
                </a:highlight>
              </a:rPr>
              <a:t> class and it will work with any class that extends </a:t>
            </a:r>
            <a:r>
              <a:rPr lang="en" dirty="0">
                <a:highlight>
                  <a:srgbClr val="FFFF00"/>
                </a:highlight>
                <a:latin typeface="Courier New"/>
                <a:ea typeface="Courier New"/>
                <a:cs typeface="Courier New"/>
                <a:sym typeface="Courier New"/>
              </a:rPr>
              <a:t>Goat</a:t>
            </a:r>
            <a:r>
              <a:rPr lang="en" dirty="0">
                <a:highlight>
                  <a:srgbClr val="FFFF00"/>
                </a:highlight>
              </a:rPr>
              <a:t>! </a:t>
            </a:r>
            <a:r>
              <a:rPr lang="en" dirty="0"/>
              <a:t>This means that we can write </a:t>
            </a:r>
            <a:r>
              <a:rPr lang="en" b="1" i="1" dirty="0"/>
              <a:t>one</a:t>
            </a:r>
            <a:r>
              <a:rPr lang="en" dirty="0"/>
              <a:t> battle method that declares </a:t>
            </a:r>
            <a:r>
              <a:rPr lang="en" dirty="0">
                <a:latin typeface="Courier New"/>
                <a:ea typeface="Courier New"/>
                <a:cs typeface="Courier New"/>
                <a:sym typeface="Courier New"/>
              </a:rPr>
              <a:t>Goat</a:t>
            </a:r>
            <a:r>
              <a:rPr lang="en" dirty="0"/>
              <a:t> parameters and it will work with </a:t>
            </a:r>
            <a:r>
              <a:rPr lang="en" b="1" i="1" dirty="0"/>
              <a:t>any</a:t>
            </a:r>
            <a:r>
              <a:rPr lang="en" dirty="0"/>
              <a:t> kind of </a:t>
            </a:r>
            <a:r>
              <a:rPr lang="en" dirty="0">
                <a:latin typeface="Courier New"/>
                <a:ea typeface="Courier New"/>
                <a:cs typeface="Courier New"/>
                <a:sym typeface="Courier New"/>
              </a:rPr>
              <a:t>Goat</a:t>
            </a:r>
            <a:r>
              <a:rPr lang="en" dirty="0"/>
              <a:t>!  No more duplication!</a:t>
            </a:r>
            <a:endParaRPr dirty="0"/>
          </a:p>
        </p:txBody>
      </p:sp>
      <p:sp>
        <p:nvSpPr>
          <p:cNvPr id="732" name="Google Shape;732;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733" name="Google Shape;733;p91"/>
          <p:cNvSpPr txBox="1">
            <a:spLocks noGrp="1"/>
          </p:cNvSpPr>
          <p:nvPr>
            <p:ph type="body" idx="2"/>
          </p:nvPr>
        </p:nvSpPr>
        <p:spPr>
          <a:xfrm>
            <a:off x="3819175" y="1814150"/>
            <a:ext cx="5121900" cy="1600408"/>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highlight>
                  <a:srgbClr val="FFFF00"/>
                </a:highlight>
              </a:rPr>
              <a:t>Open the "</a:t>
            </a:r>
            <a:r>
              <a:rPr lang="en" sz="1600" dirty="0">
                <a:highlight>
                  <a:srgbClr val="FFFF00"/>
                </a:highlight>
                <a:latin typeface="Courier New"/>
                <a:ea typeface="Courier New"/>
                <a:cs typeface="Courier New"/>
                <a:sym typeface="Courier New"/>
              </a:rPr>
              <a:t>GoatArena</a:t>
            </a:r>
            <a:r>
              <a:rPr lang="en" sz="1600" dirty="0">
                <a:highlight>
                  <a:srgbClr val="FFFF00"/>
                </a:highlight>
              </a:rPr>
              <a:t>" and delete all but one "</a:t>
            </a:r>
            <a:r>
              <a:rPr lang="en" sz="1600" dirty="0">
                <a:highlight>
                  <a:srgbClr val="FFFF00"/>
                </a:highlight>
                <a:latin typeface="Courier New"/>
                <a:ea typeface="Courier New"/>
                <a:cs typeface="Courier New"/>
                <a:sym typeface="Courier New"/>
              </a:rPr>
              <a:t>battle</a:t>
            </a:r>
            <a:r>
              <a:rPr lang="en" sz="1600" dirty="0">
                <a:highlight>
                  <a:srgbClr val="FFFF00"/>
                </a:highlight>
              </a:rPr>
              <a:t>" method.</a:t>
            </a:r>
            <a:endParaRPr sz="1600" dirty="0">
              <a:highlight>
                <a:srgbClr val="FFFF00"/>
              </a:highlight>
            </a:endParaRPr>
          </a:p>
          <a:p>
            <a:pPr marL="914400" lvl="1" indent="-330200" algn="l" rtl="0">
              <a:spcBef>
                <a:spcPts val="0"/>
              </a:spcBef>
              <a:spcAft>
                <a:spcPts val="0"/>
              </a:spcAft>
              <a:buSzPts val="1600"/>
              <a:buChar char="○"/>
            </a:pPr>
            <a:r>
              <a:rPr lang="en" sz="1600" dirty="0"/>
              <a:t>Change the parameter types to the </a:t>
            </a:r>
            <a:r>
              <a:rPr lang="en" sz="1600" dirty="0">
                <a:latin typeface="Courier New"/>
                <a:ea typeface="Courier New"/>
                <a:cs typeface="Courier New"/>
                <a:sym typeface="Courier New"/>
              </a:rPr>
              <a:t>Goat</a:t>
            </a:r>
            <a:r>
              <a:rPr lang="en" sz="1600" dirty="0"/>
              <a:t> parent class.</a:t>
            </a:r>
            <a:endParaRPr sz="1600" dirty="0"/>
          </a:p>
          <a:p>
            <a:pPr marL="457200" lvl="0" indent="-330200" algn="l" rtl="0">
              <a:spcBef>
                <a:spcPts val="0"/>
              </a:spcBef>
              <a:spcAft>
                <a:spcPts val="0"/>
              </a:spcAft>
              <a:buSzPts val="1600"/>
              <a:buChar char="●"/>
            </a:pPr>
            <a:r>
              <a:rPr lang="en" sz="1600" dirty="0"/>
              <a:t>What happened?!</a:t>
            </a:r>
            <a:endParaRPr sz="1600" dirty="0"/>
          </a:p>
        </p:txBody>
      </p:sp>
      <p:sp>
        <p:nvSpPr>
          <p:cNvPr id="734" name="Google Shape;734;p9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Goat Fight?</a:t>
            </a:r>
            <a:endParaRPr/>
          </a:p>
        </p:txBody>
      </p:sp>
      <p:sp>
        <p:nvSpPr>
          <p:cNvPr id="735" name="Google Shape;735;p9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3.14</a:t>
            </a:r>
            <a:endParaRPr/>
          </a:p>
        </p:txBody>
      </p:sp>
      <p:pic>
        <p:nvPicPr>
          <p:cNvPr id="736" name="Google Shape;736;p91"/>
          <p:cNvPicPr preferRelativeResize="0"/>
          <p:nvPr/>
        </p:nvPicPr>
        <p:blipFill>
          <a:blip r:embed="rId3">
            <a:alphaModFix/>
          </a:blip>
          <a:stretch>
            <a:fillRect/>
          </a:stretch>
        </p:blipFill>
        <p:spPr>
          <a:xfrm>
            <a:off x="152400" y="1838575"/>
            <a:ext cx="3500427" cy="1980499"/>
          </a:xfrm>
          <a:prstGeom prst="rect">
            <a:avLst/>
          </a:prstGeom>
          <a:noFill/>
          <a:ln w="19050" cap="flat" cmpd="sng">
            <a:solidFill>
              <a:schemeClr val="dk2"/>
            </a:solidFill>
            <a:prstDash val="solid"/>
            <a:round/>
            <a:headEnd type="none" w="sm" len="sm"/>
            <a:tailEnd type="none" w="sm" len="sm"/>
          </a:ln>
        </p:spPr>
      </p:pic>
      <p:sp>
        <p:nvSpPr>
          <p:cNvPr id="737" name="Google Shape;737;p91"/>
          <p:cNvSpPr txBox="1"/>
          <p:nvPr/>
        </p:nvSpPr>
        <p:spPr>
          <a:xfrm>
            <a:off x="146000" y="3925275"/>
            <a:ext cx="3500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Wow! One method that works with any kind of goat?</a:t>
            </a:r>
            <a:endParaRPr sz="1200"/>
          </a:p>
        </p:txBody>
      </p:sp>
      <p:pic>
        <p:nvPicPr>
          <p:cNvPr id="738" name="Google Shape;738;p91"/>
          <p:cNvPicPr preferRelativeResize="0"/>
          <p:nvPr/>
        </p:nvPicPr>
        <p:blipFill rotWithShape="1">
          <a:blip r:embed="rId4">
            <a:alphaModFix/>
          </a:blip>
          <a:srcRect/>
          <a:stretch/>
        </p:blipFill>
        <p:spPr>
          <a:xfrm rot="-915671" flipH="1">
            <a:off x="1911375" y="2419675"/>
            <a:ext cx="657050" cy="818300"/>
          </a:xfrm>
          <a:prstGeom prst="rect">
            <a:avLst/>
          </a:prstGeom>
          <a:noFill/>
          <a:ln>
            <a:noFill/>
          </a:ln>
        </p:spPr>
      </p:pic>
      <p:pic>
        <p:nvPicPr>
          <p:cNvPr id="739" name="Google Shape;739;p91"/>
          <p:cNvPicPr preferRelativeResize="0"/>
          <p:nvPr/>
        </p:nvPicPr>
        <p:blipFill rotWithShape="1">
          <a:blip r:embed="rId4">
            <a:alphaModFix/>
          </a:blip>
          <a:srcRect/>
          <a:stretch/>
        </p:blipFill>
        <p:spPr>
          <a:xfrm rot="915671">
            <a:off x="1062125" y="2419675"/>
            <a:ext cx="657050" cy="818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743"/>
        <p:cNvGrpSpPr/>
        <p:nvPr/>
      </p:nvGrpSpPr>
      <p:grpSpPr>
        <a:xfrm>
          <a:off x="0" y="0"/>
          <a:ext cx="0" cy="0"/>
          <a:chOff x="0" y="0"/>
          <a:chExt cx="0" cy="0"/>
        </a:xfrm>
      </p:grpSpPr>
      <p:sp>
        <p:nvSpPr>
          <p:cNvPr id="744" name="Google Shape;744;p9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a:t>
            </a:r>
            <a:endParaRPr/>
          </a:p>
        </p:txBody>
      </p:sp>
      <p:sp>
        <p:nvSpPr>
          <p:cNvPr id="745" name="Google Shape;745;p9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graphicFrame>
        <p:nvGraphicFramePr>
          <p:cNvPr id="746" name="Google Shape;746;p92"/>
          <p:cNvGraphicFramePr/>
          <p:nvPr/>
        </p:nvGraphicFramePr>
        <p:xfrm>
          <a:off x="4369175" y="1320850"/>
          <a:ext cx="2690400" cy="1341000"/>
        </p:xfrm>
        <a:graphic>
          <a:graphicData uri="http://schemas.openxmlformats.org/drawingml/2006/table">
            <a:tbl>
              <a:tblPr>
                <a:noFill/>
                <a:tableStyleId>{BB7116F7-C15E-4CF7-A1A4-3F0B48A09751}</a:tableStyleId>
              </a:tblPr>
              <a:tblGrid>
                <a:gridCol w="896800">
                  <a:extLst>
                    <a:ext uri="{9D8B030D-6E8A-4147-A177-3AD203B41FA5}">
                      <a16:colId xmlns:a16="http://schemas.microsoft.com/office/drawing/2014/main" val="20000"/>
                    </a:ext>
                  </a:extLst>
                </a:gridCol>
                <a:gridCol w="896800">
                  <a:extLst>
                    <a:ext uri="{9D8B030D-6E8A-4147-A177-3AD203B41FA5}">
                      <a16:colId xmlns:a16="http://schemas.microsoft.com/office/drawing/2014/main" val="20001"/>
                    </a:ext>
                  </a:extLst>
                </a:gridCol>
                <a:gridCol w="896800">
                  <a:extLst>
                    <a:ext uri="{9D8B030D-6E8A-4147-A177-3AD203B41FA5}">
                      <a16:colId xmlns:a16="http://schemas.microsoft.com/office/drawing/2014/main" val="20002"/>
                    </a:ext>
                  </a:extLst>
                </a:gridCol>
              </a:tblGrid>
              <a:tr h="0">
                <a:tc gridSpan="3">
                  <a:txBody>
                    <a:bodyPr/>
                    <a:lstStyle/>
                    <a:p>
                      <a:pPr marL="0" lvl="0" indent="0" algn="ctr" rtl="0">
                        <a:spcBef>
                          <a:spcPts val="0"/>
                        </a:spcBef>
                        <a:spcAft>
                          <a:spcPts val="0"/>
                        </a:spcAft>
                        <a:buNone/>
                      </a:pPr>
                      <a:r>
                        <a:rPr lang="en" sz="1000">
                          <a:solidFill>
                            <a:srgbClr val="434343"/>
                          </a:solidFill>
                        </a:rPr>
                        <a:t>Variable Table</a:t>
                      </a:r>
                      <a:endParaRPr sz="1000">
                        <a:solidFill>
                          <a:srgbClr val="434343"/>
                        </a:solidFill>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solidFill>
                            <a:srgbClr val="FFFFFF"/>
                          </a:solidFill>
                        </a:rPr>
                        <a:t>Name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Type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Address</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p:graphicFrame>
        <p:nvGraphicFramePr>
          <p:cNvPr id="747" name="Google Shape;747;p92"/>
          <p:cNvGraphicFramePr/>
          <p:nvPr/>
        </p:nvGraphicFramePr>
        <p:xfrm>
          <a:off x="4369175" y="2844850"/>
          <a:ext cx="2690400" cy="2011500"/>
        </p:xfrm>
        <a:graphic>
          <a:graphicData uri="http://schemas.openxmlformats.org/drawingml/2006/table">
            <a:tbl>
              <a:tblPr>
                <a:noFill/>
                <a:tableStyleId>{BB7116F7-C15E-4CF7-A1A4-3F0B48A09751}</a:tableStyleId>
              </a:tblPr>
              <a:tblGrid>
                <a:gridCol w="1345200">
                  <a:extLst>
                    <a:ext uri="{9D8B030D-6E8A-4147-A177-3AD203B41FA5}">
                      <a16:colId xmlns:a16="http://schemas.microsoft.com/office/drawing/2014/main" val="20000"/>
                    </a:ext>
                  </a:extLst>
                </a:gridCol>
                <a:gridCol w="1345200">
                  <a:extLst>
                    <a:ext uri="{9D8B030D-6E8A-4147-A177-3AD203B41FA5}">
                      <a16:colId xmlns:a16="http://schemas.microsoft.com/office/drawing/2014/main" val="20001"/>
                    </a:ext>
                  </a:extLst>
                </a:gridCol>
              </a:tblGrid>
              <a:tr h="0">
                <a:tc gridSpan="2">
                  <a:txBody>
                    <a:bodyPr/>
                    <a:lstStyle/>
                    <a:p>
                      <a:pPr marL="0" lvl="0" indent="0" algn="ctr" rtl="0">
                        <a:spcBef>
                          <a:spcPts val="0"/>
                        </a:spcBef>
                        <a:spcAft>
                          <a:spcPts val="0"/>
                        </a:spcAft>
                        <a:buNone/>
                      </a:pPr>
                      <a:r>
                        <a:rPr lang="en" sz="1000">
                          <a:solidFill>
                            <a:srgbClr val="434343"/>
                          </a:solidFill>
                        </a:rPr>
                        <a:t>Memory Table</a:t>
                      </a:r>
                      <a:endParaRPr sz="1000">
                        <a:solidFill>
                          <a:srgbClr val="434343"/>
                        </a:solidFill>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no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solidFill>
                            <a:srgbClr val="FFFFFF"/>
                          </a:solidFill>
                        </a:rPr>
                        <a:t>Address</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Value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0x1000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0x2000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0x3000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0x4000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bl>
          </a:graphicData>
        </a:graphic>
      </p:graphicFrame>
      <p:sp>
        <p:nvSpPr>
          <p:cNvPr id="748" name="Google Shape;748;p92"/>
          <p:cNvSpPr txBox="1"/>
          <p:nvPr/>
        </p:nvSpPr>
        <p:spPr>
          <a:xfrm>
            <a:off x="164875" y="1356009"/>
            <a:ext cx="40719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One way to visualize what is going on in a program is through the use of a </a:t>
            </a:r>
            <a:r>
              <a:rPr lang="en" sz="1200" b="1" i="1">
                <a:solidFill>
                  <a:srgbClr val="FF0000"/>
                </a:solidFill>
              </a:rPr>
              <a:t>memory map</a:t>
            </a:r>
            <a:r>
              <a:rPr lang="en" sz="1200"/>
              <a:t>.</a:t>
            </a:r>
            <a:endParaRPr sz="1200"/>
          </a:p>
        </p:txBody>
      </p:sp>
      <p:sp>
        <p:nvSpPr>
          <p:cNvPr id="749" name="Google Shape;749;p92"/>
          <p:cNvSpPr txBox="1"/>
          <p:nvPr/>
        </p:nvSpPr>
        <p:spPr>
          <a:xfrm>
            <a:off x="164875" y="2050184"/>
            <a:ext cx="4071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When a new </a:t>
            </a:r>
            <a:r>
              <a:rPr lang="en" sz="1200" b="1" i="1">
                <a:solidFill>
                  <a:srgbClr val="FF0000"/>
                </a:solidFill>
              </a:rPr>
              <a:t>reference type</a:t>
            </a:r>
            <a:r>
              <a:rPr lang="en" sz="1200"/>
              <a:t> is created, the Java Virtual Machine will allocate sufficient </a:t>
            </a:r>
            <a:r>
              <a:rPr lang="en" sz="1200" b="1" i="1">
                <a:solidFill>
                  <a:srgbClr val="FF0000"/>
                </a:solidFill>
              </a:rPr>
              <a:t>memory </a:t>
            </a:r>
            <a:r>
              <a:rPr lang="en" sz="1200"/>
              <a:t>to store the object and all of its fields.</a:t>
            </a:r>
            <a:endParaRPr sz="1200"/>
          </a:p>
        </p:txBody>
      </p:sp>
      <p:graphicFrame>
        <p:nvGraphicFramePr>
          <p:cNvPr id="750" name="Google Shape;750;p92"/>
          <p:cNvGraphicFramePr/>
          <p:nvPr/>
        </p:nvGraphicFramePr>
        <p:xfrm>
          <a:off x="4369175" y="1999614"/>
          <a:ext cx="2690400" cy="335250"/>
        </p:xfrm>
        <a:graphic>
          <a:graphicData uri="http://schemas.openxmlformats.org/drawingml/2006/table">
            <a:tbl>
              <a:tblPr>
                <a:noFill/>
                <a:tableStyleId>{BB7116F7-C15E-4CF7-A1A4-3F0B48A09751}</a:tableStyleId>
              </a:tblPr>
              <a:tblGrid>
                <a:gridCol w="896800">
                  <a:extLst>
                    <a:ext uri="{9D8B030D-6E8A-4147-A177-3AD203B41FA5}">
                      <a16:colId xmlns:a16="http://schemas.microsoft.com/office/drawing/2014/main" val="20000"/>
                    </a:ext>
                  </a:extLst>
                </a:gridCol>
                <a:gridCol w="896800">
                  <a:extLst>
                    <a:ext uri="{9D8B030D-6E8A-4147-A177-3AD203B41FA5}">
                      <a16:colId xmlns:a16="http://schemas.microsoft.com/office/drawing/2014/main" val="20001"/>
                    </a:ext>
                  </a:extLst>
                </a:gridCol>
                <a:gridCol w="896800">
                  <a:extLst>
                    <a:ext uri="{9D8B030D-6E8A-4147-A177-3AD203B41FA5}">
                      <a16:colId xmlns:a16="http://schemas.microsoft.com/office/drawing/2014/main" val="20002"/>
                    </a:ext>
                  </a:extLst>
                </a:gridCol>
              </a:tblGrid>
              <a:tr h="0">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player1</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Mage</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0x2000</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sp>
        <p:nvSpPr>
          <p:cNvPr id="751" name="Google Shape;751;p92"/>
          <p:cNvSpPr txBox="1"/>
          <p:nvPr/>
        </p:nvSpPr>
        <p:spPr>
          <a:xfrm>
            <a:off x="164875" y="2929159"/>
            <a:ext cx="40719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Each variable that refers</a:t>
            </a:r>
            <a:r>
              <a:rPr lang="en" sz="1200">
                <a:solidFill>
                  <a:srgbClr val="FF0000"/>
                </a:solidFill>
              </a:rPr>
              <a:t> </a:t>
            </a:r>
            <a:r>
              <a:rPr lang="en" sz="1200"/>
              <a:t>to the object is stored as an entry in the </a:t>
            </a:r>
            <a:r>
              <a:rPr lang="en" sz="1200" b="1" i="1">
                <a:solidFill>
                  <a:srgbClr val="FF0000"/>
                </a:solidFill>
              </a:rPr>
              <a:t>variable table</a:t>
            </a:r>
            <a:r>
              <a:rPr lang="en" sz="1200">
                <a:solidFill>
                  <a:srgbClr val="FF0000"/>
                </a:solidFill>
              </a:rPr>
              <a:t> </a:t>
            </a:r>
            <a:r>
              <a:rPr lang="en" sz="1200"/>
              <a:t>including its </a:t>
            </a:r>
            <a:r>
              <a:rPr lang="en" sz="1200" b="1" i="1">
                <a:solidFill>
                  <a:srgbClr val="FF0000"/>
                </a:solidFill>
              </a:rPr>
              <a:t>name</a:t>
            </a:r>
            <a:r>
              <a:rPr lang="en" sz="1200"/>
              <a:t>, </a:t>
            </a:r>
            <a:r>
              <a:rPr lang="en" sz="1200" b="1" i="1">
                <a:solidFill>
                  <a:srgbClr val="FF0000"/>
                </a:solidFill>
              </a:rPr>
              <a:t>type</a:t>
            </a:r>
            <a:r>
              <a:rPr lang="en" sz="1200"/>
              <a:t>, and it's </a:t>
            </a:r>
            <a:r>
              <a:rPr lang="en" sz="1200" b="1" i="1">
                <a:solidFill>
                  <a:srgbClr val="FF0000"/>
                </a:solidFill>
              </a:rPr>
              <a:t>address</a:t>
            </a:r>
            <a:r>
              <a:rPr lang="en" sz="1200"/>
              <a:t> in memory. Note that the value being stored is the address of the object to which the variable refers.</a:t>
            </a:r>
            <a:endParaRPr sz="1200"/>
          </a:p>
        </p:txBody>
      </p:sp>
      <p:graphicFrame>
        <p:nvGraphicFramePr>
          <p:cNvPr id="752" name="Google Shape;752;p92"/>
          <p:cNvGraphicFramePr/>
          <p:nvPr/>
        </p:nvGraphicFramePr>
        <p:xfrm>
          <a:off x="7369075" y="1748800"/>
          <a:ext cx="1598025" cy="1462950"/>
        </p:xfrm>
        <a:graphic>
          <a:graphicData uri="http://schemas.openxmlformats.org/drawingml/2006/table">
            <a:tbl>
              <a:tblPr>
                <a:noFill/>
                <a:tableStyleId>{BB7116F7-C15E-4CF7-A1A4-3F0B48A09751}</a:tableStyleId>
              </a:tblPr>
              <a:tblGrid>
                <a:gridCol w="1598025">
                  <a:extLst>
                    <a:ext uri="{9D8B030D-6E8A-4147-A177-3AD203B41FA5}">
                      <a16:colId xmlns:a16="http://schemas.microsoft.com/office/drawing/2014/main" val="20000"/>
                    </a:ext>
                  </a:extLst>
                </a:gridCol>
              </a:tblGrid>
              <a:tr h="0">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Mage</a:t>
                      </a:r>
                      <a:endParaRPr sz="1000">
                        <a:solidFill>
                          <a:srgbClr val="FF0000"/>
                        </a:solidFill>
                        <a:latin typeface="Consolas"/>
                        <a:ea typeface="Consolas"/>
                        <a:cs typeface="Consolas"/>
                        <a:sym typeface="Consolas"/>
                      </a:endParaRPr>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name: "Hairy Potter"</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maxHP(): 120</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currentHP: 120</a:t>
                      </a:r>
                      <a:endParaRPr sz="1000">
                        <a:solidFill>
                          <a:srgbClr val="FF0000"/>
                        </a:solidFill>
                        <a:latin typeface="Consolas"/>
                        <a:ea typeface="Consolas"/>
                        <a:cs typeface="Consolas"/>
                        <a:sym typeface="Consolas"/>
                      </a:endParaRPr>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getName()</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toString()</a:t>
                      </a:r>
                      <a:endParaRPr sz="1000">
                        <a:solidFill>
                          <a:srgbClr val="FF0000"/>
                        </a:solidFill>
                        <a:latin typeface="Consolas"/>
                        <a:ea typeface="Consolas"/>
                        <a:cs typeface="Consolas"/>
                        <a:sym typeface="Consolas"/>
                      </a:endParaRPr>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753" name="Google Shape;753;p92"/>
          <p:cNvSpPr/>
          <p:nvPr/>
        </p:nvSpPr>
        <p:spPr>
          <a:xfrm>
            <a:off x="6557775" y="1949050"/>
            <a:ext cx="823250" cy="1716825"/>
          </a:xfrm>
          <a:custGeom>
            <a:avLst/>
            <a:gdLst/>
            <a:ahLst/>
            <a:cxnLst/>
            <a:rect l="l" t="t" r="r" b="b"/>
            <a:pathLst>
              <a:path w="32930" h="68673" extrusionOk="0">
                <a:moveTo>
                  <a:pt x="0" y="68673"/>
                </a:moveTo>
                <a:lnTo>
                  <a:pt x="27301" y="68673"/>
                </a:lnTo>
                <a:lnTo>
                  <a:pt x="27301" y="0"/>
                </a:lnTo>
                <a:lnTo>
                  <a:pt x="32930" y="0"/>
                </a:lnTo>
              </a:path>
            </a:pathLst>
          </a:custGeom>
          <a:noFill/>
          <a:ln w="19050" cap="flat" cmpd="sng">
            <a:solidFill>
              <a:srgbClr val="FF0000"/>
            </a:solidFill>
            <a:prstDash val="solid"/>
            <a:round/>
            <a:headEnd type="none" w="med" len="med"/>
            <a:tailEnd type="none" w="med" len="med"/>
          </a:ln>
        </p:spPr>
        <p:txBody>
          <a:bodyPr/>
          <a:lstStyle/>
          <a:p>
            <a:endParaRPr lang="en-US"/>
          </a:p>
        </p:txBody>
      </p:sp>
      <p:sp>
        <p:nvSpPr>
          <p:cNvPr id="754" name="Google Shape;754;p92"/>
          <p:cNvSpPr txBox="1"/>
          <p:nvPr/>
        </p:nvSpPr>
        <p:spPr>
          <a:xfrm>
            <a:off x="5714375" y="3850600"/>
            <a:ext cx="13452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FF0000"/>
                </a:solidFill>
                <a:latin typeface="Consolas"/>
                <a:ea typeface="Consolas"/>
                <a:cs typeface="Consolas"/>
                <a:sym typeface="Consolas"/>
              </a:rPr>
              <a:t>0x1000</a:t>
            </a:r>
            <a:endParaRPr sz="1200">
              <a:solidFill>
                <a:srgbClr val="FF0000"/>
              </a:solidFill>
              <a:latin typeface="Consolas"/>
              <a:ea typeface="Consolas"/>
              <a:cs typeface="Consolas"/>
              <a:sym typeface="Consolas"/>
            </a:endParaRPr>
          </a:p>
        </p:txBody>
      </p:sp>
      <p:sp>
        <p:nvSpPr>
          <p:cNvPr id="755" name="Google Shape;755;p92"/>
          <p:cNvSpPr txBox="1"/>
          <p:nvPr/>
        </p:nvSpPr>
        <p:spPr>
          <a:xfrm>
            <a:off x="164875" y="3992634"/>
            <a:ext cx="4071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It is the </a:t>
            </a:r>
            <a:r>
              <a:rPr lang="en" sz="1200" b="1" i="1">
                <a:solidFill>
                  <a:srgbClr val="FF0000"/>
                </a:solidFill>
              </a:rPr>
              <a:t>declared type</a:t>
            </a:r>
            <a:r>
              <a:rPr lang="en" sz="1200"/>
              <a:t> in the variable table that determines the state and behavior that is accessible through the reference, e.g. the </a:t>
            </a:r>
            <a:r>
              <a:rPr lang="en" sz="1200">
                <a:solidFill>
                  <a:srgbClr val="FF0000"/>
                </a:solidFill>
                <a:latin typeface="Courier New"/>
                <a:ea typeface="Courier New"/>
                <a:cs typeface="Courier New"/>
                <a:sym typeface="Courier New"/>
              </a:rPr>
              <a:t>Mage</a:t>
            </a:r>
            <a:r>
              <a:rPr lang="en" sz="1200"/>
              <a:t> class.</a:t>
            </a:r>
            <a:endParaRPr sz="1200"/>
          </a:p>
        </p:txBody>
      </p:sp>
      <p:sp>
        <p:nvSpPr>
          <p:cNvPr id="756" name="Google Shape;756;p92"/>
          <p:cNvSpPr/>
          <p:nvPr/>
        </p:nvSpPr>
        <p:spPr>
          <a:xfrm>
            <a:off x="5368650" y="2047561"/>
            <a:ext cx="675600" cy="246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9"/>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753"/>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7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51"/>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750"/>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nodeType="afterEffect">
                                  <p:stCondLst>
                                    <p:cond delay="0"/>
                                  </p:stCondLst>
                                  <p:childTnLst>
                                    <p:set>
                                      <p:cBhvr>
                                        <p:cTn id="26" dur="1" fill="hold">
                                          <p:stCondLst>
                                            <p:cond delay="0"/>
                                          </p:stCondLst>
                                        </p:cTn>
                                        <p:tgtEl>
                                          <p:spTgt spid="7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5"/>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7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760"/>
        <p:cNvGrpSpPr/>
        <p:nvPr/>
      </p:nvGrpSpPr>
      <p:grpSpPr>
        <a:xfrm>
          <a:off x="0" y="0"/>
          <a:ext cx="0" cy="0"/>
          <a:chOff x="0" y="0"/>
          <a:chExt cx="0" cy="0"/>
        </a:xfrm>
      </p:grpSpPr>
      <p:sp>
        <p:nvSpPr>
          <p:cNvPr id="761" name="Google Shape;761;p9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a:t>
            </a:r>
            <a:endParaRPr/>
          </a:p>
        </p:txBody>
      </p:sp>
      <p:sp>
        <p:nvSpPr>
          <p:cNvPr id="762" name="Google Shape;762;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graphicFrame>
        <p:nvGraphicFramePr>
          <p:cNvPr id="763" name="Google Shape;763;p93"/>
          <p:cNvGraphicFramePr/>
          <p:nvPr/>
        </p:nvGraphicFramePr>
        <p:xfrm>
          <a:off x="4369175" y="1320850"/>
          <a:ext cx="2690400" cy="1341000"/>
        </p:xfrm>
        <a:graphic>
          <a:graphicData uri="http://schemas.openxmlformats.org/drawingml/2006/table">
            <a:tbl>
              <a:tblPr>
                <a:noFill/>
                <a:tableStyleId>{BB7116F7-C15E-4CF7-A1A4-3F0B48A09751}</a:tableStyleId>
              </a:tblPr>
              <a:tblGrid>
                <a:gridCol w="896800">
                  <a:extLst>
                    <a:ext uri="{9D8B030D-6E8A-4147-A177-3AD203B41FA5}">
                      <a16:colId xmlns:a16="http://schemas.microsoft.com/office/drawing/2014/main" val="20000"/>
                    </a:ext>
                  </a:extLst>
                </a:gridCol>
                <a:gridCol w="896800">
                  <a:extLst>
                    <a:ext uri="{9D8B030D-6E8A-4147-A177-3AD203B41FA5}">
                      <a16:colId xmlns:a16="http://schemas.microsoft.com/office/drawing/2014/main" val="20001"/>
                    </a:ext>
                  </a:extLst>
                </a:gridCol>
                <a:gridCol w="896800">
                  <a:extLst>
                    <a:ext uri="{9D8B030D-6E8A-4147-A177-3AD203B41FA5}">
                      <a16:colId xmlns:a16="http://schemas.microsoft.com/office/drawing/2014/main" val="20002"/>
                    </a:ext>
                  </a:extLst>
                </a:gridCol>
              </a:tblGrid>
              <a:tr h="0">
                <a:tc gridSpan="3">
                  <a:txBody>
                    <a:bodyPr/>
                    <a:lstStyle/>
                    <a:p>
                      <a:pPr marL="0" lvl="0" indent="0" algn="ctr" rtl="0">
                        <a:spcBef>
                          <a:spcPts val="0"/>
                        </a:spcBef>
                        <a:spcAft>
                          <a:spcPts val="0"/>
                        </a:spcAft>
                        <a:buNone/>
                      </a:pPr>
                      <a:r>
                        <a:rPr lang="en" sz="1000">
                          <a:solidFill>
                            <a:srgbClr val="434343"/>
                          </a:solidFill>
                        </a:rPr>
                        <a:t>Variable Table</a:t>
                      </a:r>
                      <a:endParaRPr sz="1000">
                        <a:solidFill>
                          <a:srgbClr val="434343"/>
                        </a:solidFill>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solidFill>
                            <a:srgbClr val="FFFFFF"/>
                          </a:solidFill>
                        </a:rPr>
                        <a:t>Name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Type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Address</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p:graphicFrame>
        <p:nvGraphicFramePr>
          <p:cNvPr id="764" name="Google Shape;764;p93"/>
          <p:cNvGraphicFramePr/>
          <p:nvPr/>
        </p:nvGraphicFramePr>
        <p:xfrm>
          <a:off x="4369175" y="2844850"/>
          <a:ext cx="2690400" cy="2011500"/>
        </p:xfrm>
        <a:graphic>
          <a:graphicData uri="http://schemas.openxmlformats.org/drawingml/2006/table">
            <a:tbl>
              <a:tblPr>
                <a:noFill/>
                <a:tableStyleId>{BB7116F7-C15E-4CF7-A1A4-3F0B48A09751}</a:tableStyleId>
              </a:tblPr>
              <a:tblGrid>
                <a:gridCol w="1345200">
                  <a:extLst>
                    <a:ext uri="{9D8B030D-6E8A-4147-A177-3AD203B41FA5}">
                      <a16:colId xmlns:a16="http://schemas.microsoft.com/office/drawing/2014/main" val="20000"/>
                    </a:ext>
                  </a:extLst>
                </a:gridCol>
                <a:gridCol w="1345200">
                  <a:extLst>
                    <a:ext uri="{9D8B030D-6E8A-4147-A177-3AD203B41FA5}">
                      <a16:colId xmlns:a16="http://schemas.microsoft.com/office/drawing/2014/main" val="20001"/>
                    </a:ext>
                  </a:extLst>
                </a:gridCol>
              </a:tblGrid>
              <a:tr h="0">
                <a:tc gridSpan="2">
                  <a:txBody>
                    <a:bodyPr/>
                    <a:lstStyle/>
                    <a:p>
                      <a:pPr marL="0" lvl="0" indent="0" algn="ctr" rtl="0">
                        <a:spcBef>
                          <a:spcPts val="0"/>
                        </a:spcBef>
                        <a:spcAft>
                          <a:spcPts val="0"/>
                        </a:spcAft>
                        <a:buNone/>
                      </a:pPr>
                      <a:r>
                        <a:rPr lang="en" sz="1000">
                          <a:solidFill>
                            <a:srgbClr val="434343"/>
                          </a:solidFill>
                        </a:rPr>
                        <a:t>Memory Table</a:t>
                      </a:r>
                      <a:endParaRPr sz="1000">
                        <a:solidFill>
                          <a:srgbClr val="434343"/>
                        </a:solidFill>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no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solidFill>
                            <a:srgbClr val="FFFFFF"/>
                          </a:solidFill>
                        </a:rPr>
                        <a:t>Address</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Value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0x1000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0x2000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0x3000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0x4000</a:t>
                      </a: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bl>
          </a:graphicData>
        </a:graphic>
      </p:graphicFrame>
      <p:sp>
        <p:nvSpPr>
          <p:cNvPr id="765" name="Google Shape;765;p93"/>
          <p:cNvSpPr txBox="1"/>
          <p:nvPr/>
        </p:nvSpPr>
        <p:spPr>
          <a:xfrm>
            <a:off x="164875" y="1356009"/>
            <a:ext cx="4071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When the reference is passed in as the argument for a method parameter, a </a:t>
            </a:r>
            <a:r>
              <a:rPr lang="en" sz="1200" b="1" i="1">
                <a:solidFill>
                  <a:srgbClr val="FF0000"/>
                </a:solidFill>
              </a:rPr>
              <a:t>second</a:t>
            </a:r>
            <a:r>
              <a:rPr lang="en" sz="1200">
                <a:solidFill>
                  <a:srgbClr val="FF0000"/>
                </a:solidFill>
              </a:rPr>
              <a:t> </a:t>
            </a:r>
            <a:r>
              <a:rPr lang="en" sz="1200"/>
              <a:t>reference to the </a:t>
            </a:r>
            <a:r>
              <a:rPr lang="en" sz="1200" b="1" i="1">
                <a:solidFill>
                  <a:srgbClr val="FF0000"/>
                </a:solidFill>
              </a:rPr>
              <a:t>same</a:t>
            </a:r>
            <a:r>
              <a:rPr lang="en" sz="1200">
                <a:solidFill>
                  <a:srgbClr val="FF0000"/>
                </a:solidFill>
              </a:rPr>
              <a:t> </a:t>
            </a:r>
            <a:r>
              <a:rPr lang="en" sz="1200"/>
              <a:t>object is created. </a:t>
            </a:r>
            <a:endParaRPr sz="1200"/>
          </a:p>
        </p:txBody>
      </p:sp>
      <p:graphicFrame>
        <p:nvGraphicFramePr>
          <p:cNvPr id="766" name="Google Shape;766;p93"/>
          <p:cNvGraphicFramePr/>
          <p:nvPr/>
        </p:nvGraphicFramePr>
        <p:xfrm>
          <a:off x="4369175" y="1999614"/>
          <a:ext cx="2690400" cy="335250"/>
        </p:xfrm>
        <a:graphic>
          <a:graphicData uri="http://schemas.openxmlformats.org/drawingml/2006/table">
            <a:tbl>
              <a:tblPr>
                <a:noFill/>
                <a:tableStyleId>{BB7116F7-C15E-4CF7-A1A4-3F0B48A09751}</a:tableStyleId>
              </a:tblPr>
              <a:tblGrid>
                <a:gridCol w="896800">
                  <a:extLst>
                    <a:ext uri="{9D8B030D-6E8A-4147-A177-3AD203B41FA5}">
                      <a16:colId xmlns:a16="http://schemas.microsoft.com/office/drawing/2014/main" val="20000"/>
                    </a:ext>
                  </a:extLst>
                </a:gridCol>
                <a:gridCol w="896800">
                  <a:extLst>
                    <a:ext uri="{9D8B030D-6E8A-4147-A177-3AD203B41FA5}">
                      <a16:colId xmlns:a16="http://schemas.microsoft.com/office/drawing/2014/main" val="20001"/>
                    </a:ext>
                  </a:extLst>
                </a:gridCol>
                <a:gridCol w="896800">
                  <a:extLst>
                    <a:ext uri="{9D8B030D-6E8A-4147-A177-3AD203B41FA5}">
                      <a16:colId xmlns:a16="http://schemas.microsoft.com/office/drawing/2014/main" val="20002"/>
                    </a:ext>
                  </a:extLst>
                </a:gridCol>
              </a:tblGrid>
              <a:tr h="0">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player1</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Mage</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0x2000</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767" name="Google Shape;767;p93"/>
          <p:cNvGraphicFramePr/>
          <p:nvPr/>
        </p:nvGraphicFramePr>
        <p:xfrm>
          <a:off x="7369075" y="1748800"/>
          <a:ext cx="1598025" cy="1462950"/>
        </p:xfrm>
        <a:graphic>
          <a:graphicData uri="http://schemas.openxmlformats.org/drawingml/2006/table">
            <a:tbl>
              <a:tblPr>
                <a:noFill/>
                <a:tableStyleId>{BB7116F7-C15E-4CF7-A1A4-3F0B48A09751}</a:tableStyleId>
              </a:tblPr>
              <a:tblGrid>
                <a:gridCol w="1598025">
                  <a:extLst>
                    <a:ext uri="{9D8B030D-6E8A-4147-A177-3AD203B41FA5}">
                      <a16:colId xmlns:a16="http://schemas.microsoft.com/office/drawing/2014/main" val="20000"/>
                    </a:ext>
                  </a:extLst>
                </a:gridCol>
              </a:tblGrid>
              <a:tr h="0">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Mage</a:t>
                      </a:r>
                      <a:endParaRPr sz="1000">
                        <a:solidFill>
                          <a:srgbClr val="FF0000"/>
                        </a:solidFill>
                        <a:latin typeface="Consolas"/>
                        <a:ea typeface="Consolas"/>
                        <a:cs typeface="Consolas"/>
                        <a:sym typeface="Consolas"/>
                      </a:endParaRPr>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name: "Hairy Potter"</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maxHP(): 120</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currentHP: 120</a:t>
                      </a:r>
                      <a:endParaRPr sz="1000">
                        <a:solidFill>
                          <a:srgbClr val="FF0000"/>
                        </a:solidFill>
                        <a:latin typeface="Consolas"/>
                        <a:ea typeface="Consolas"/>
                        <a:cs typeface="Consolas"/>
                        <a:sym typeface="Consolas"/>
                      </a:endParaRPr>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getName()</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toString()</a:t>
                      </a:r>
                      <a:endParaRPr sz="1000">
                        <a:solidFill>
                          <a:srgbClr val="FF0000"/>
                        </a:solidFill>
                        <a:latin typeface="Consolas"/>
                        <a:ea typeface="Consolas"/>
                        <a:cs typeface="Consolas"/>
                        <a:sym typeface="Consolas"/>
                      </a:endParaRPr>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768" name="Google Shape;768;p93"/>
          <p:cNvSpPr/>
          <p:nvPr/>
        </p:nvSpPr>
        <p:spPr>
          <a:xfrm>
            <a:off x="6557775" y="1949050"/>
            <a:ext cx="823250" cy="1716825"/>
          </a:xfrm>
          <a:custGeom>
            <a:avLst/>
            <a:gdLst/>
            <a:ahLst/>
            <a:cxnLst/>
            <a:rect l="l" t="t" r="r" b="b"/>
            <a:pathLst>
              <a:path w="32930" h="68673" extrusionOk="0">
                <a:moveTo>
                  <a:pt x="0" y="68673"/>
                </a:moveTo>
                <a:lnTo>
                  <a:pt x="27301" y="68673"/>
                </a:lnTo>
                <a:lnTo>
                  <a:pt x="27301" y="0"/>
                </a:lnTo>
                <a:lnTo>
                  <a:pt x="32930" y="0"/>
                </a:lnTo>
              </a:path>
            </a:pathLst>
          </a:custGeom>
          <a:noFill/>
          <a:ln w="19050" cap="flat" cmpd="sng">
            <a:solidFill>
              <a:srgbClr val="FF0000"/>
            </a:solidFill>
            <a:prstDash val="solid"/>
            <a:round/>
            <a:headEnd type="none" w="med" len="med"/>
            <a:tailEnd type="none" w="med" len="med"/>
          </a:ln>
        </p:spPr>
        <p:txBody>
          <a:bodyPr/>
          <a:lstStyle/>
          <a:p>
            <a:endParaRPr lang="en-US"/>
          </a:p>
        </p:txBody>
      </p:sp>
      <p:sp>
        <p:nvSpPr>
          <p:cNvPr id="769" name="Google Shape;769;p93"/>
          <p:cNvSpPr txBox="1"/>
          <p:nvPr/>
        </p:nvSpPr>
        <p:spPr>
          <a:xfrm>
            <a:off x="5714375" y="3850600"/>
            <a:ext cx="13452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FF0000"/>
                </a:solidFill>
                <a:latin typeface="Consolas"/>
                <a:ea typeface="Consolas"/>
                <a:cs typeface="Consolas"/>
                <a:sym typeface="Consolas"/>
              </a:rPr>
              <a:t>0x1000</a:t>
            </a:r>
            <a:endParaRPr sz="1200">
              <a:solidFill>
                <a:srgbClr val="FF0000"/>
              </a:solidFill>
              <a:latin typeface="Consolas"/>
              <a:ea typeface="Consolas"/>
              <a:cs typeface="Consolas"/>
              <a:sym typeface="Consolas"/>
            </a:endParaRPr>
          </a:p>
        </p:txBody>
      </p:sp>
      <p:graphicFrame>
        <p:nvGraphicFramePr>
          <p:cNvPr id="770" name="Google Shape;770;p93"/>
          <p:cNvGraphicFramePr/>
          <p:nvPr/>
        </p:nvGraphicFramePr>
        <p:xfrm>
          <a:off x="4369175" y="2325523"/>
          <a:ext cx="2690400" cy="335250"/>
        </p:xfrm>
        <a:graphic>
          <a:graphicData uri="http://schemas.openxmlformats.org/drawingml/2006/table">
            <a:tbl>
              <a:tblPr>
                <a:noFill/>
                <a:tableStyleId>{BB7116F7-C15E-4CF7-A1A4-3F0B48A09751}</a:tableStyleId>
              </a:tblPr>
              <a:tblGrid>
                <a:gridCol w="896800">
                  <a:extLst>
                    <a:ext uri="{9D8B030D-6E8A-4147-A177-3AD203B41FA5}">
                      <a16:colId xmlns:a16="http://schemas.microsoft.com/office/drawing/2014/main" val="20000"/>
                    </a:ext>
                  </a:extLst>
                </a:gridCol>
                <a:gridCol w="896800">
                  <a:extLst>
                    <a:ext uri="{9D8B030D-6E8A-4147-A177-3AD203B41FA5}">
                      <a16:colId xmlns:a16="http://schemas.microsoft.com/office/drawing/2014/main" val="20001"/>
                    </a:ext>
                  </a:extLst>
                </a:gridCol>
                <a:gridCol w="896800">
                  <a:extLst>
                    <a:ext uri="{9D8B030D-6E8A-4147-A177-3AD203B41FA5}">
                      <a16:colId xmlns:a16="http://schemas.microsoft.com/office/drawing/2014/main" val="20002"/>
                    </a:ext>
                  </a:extLst>
                </a:gridCol>
              </a:tblGrid>
              <a:tr h="0">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goat1</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Goat</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0x3000</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sp>
        <p:nvSpPr>
          <p:cNvPr id="771" name="Google Shape;771;p93"/>
          <p:cNvSpPr txBox="1"/>
          <p:nvPr/>
        </p:nvSpPr>
        <p:spPr>
          <a:xfrm>
            <a:off x="5714375" y="4169473"/>
            <a:ext cx="13452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FF0000"/>
                </a:solidFill>
                <a:latin typeface="Consolas"/>
                <a:ea typeface="Consolas"/>
                <a:cs typeface="Consolas"/>
                <a:sym typeface="Consolas"/>
              </a:rPr>
              <a:t>0x1000</a:t>
            </a:r>
            <a:endParaRPr sz="1200">
              <a:solidFill>
                <a:srgbClr val="FF0000"/>
              </a:solidFill>
              <a:latin typeface="Consolas"/>
              <a:ea typeface="Consolas"/>
              <a:cs typeface="Consolas"/>
              <a:sym typeface="Consolas"/>
            </a:endParaRPr>
          </a:p>
        </p:txBody>
      </p:sp>
      <p:sp>
        <p:nvSpPr>
          <p:cNvPr id="772" name="Google Shape;772;p93"/>
          <p:cNvSpPr txBox="1"/>
          <p:nvPr/>
        </p:nvSpPr>
        <p:spPr>
          <a:xfrm>
            <a:off x="164875" y="2194209"/>
            <a:ext cx="40719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type of the new reference is determined by the declared type of the parameter, e.g. the </a:t>
            </a:r>
            <a:r>
              <a:rPr lang="en" sz="1200">
                <a:solidFill>
                  <a:srgbClr val="FF0000"/>
                </a:solidFill>
                <a:latin typeface="Courier New"/>
                <a:ea typeface="Courier New"/>
                <a:cs typeface="Courier New"/>
                <a:sym typeface="Courier New"/>
              </a:rPr>
              <a:t>Goat</a:t>
            </a:r>
            <a:r>
              <a:rPr lang="en" sz="1200"/>
              <a:t> class.</a:t>
            </a:r>
            <a:endParaRPr sz="1200"/>
          </a:p>
        </p:txBody>
      </p:sp>
      <p:sp>
        <p:nvSpPr>
          <p:cNvPr id="773" name="Google Shape;773;p93"/>
          <p:cNvSpPr/>
          <p:nvPr/>
        </p:nvSpPr>
        <p:spPr>
          <a:xfrm>
            <a:off x="5368650" y="2373470"/>
            <a:ext cx="675600" cy="246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774" name="Google Shape;774;p93"/>
          <p:cNvSpPr txBox="1"/>
          <p:nvPr/>
        </p:nvSpPr>
        <p:spPr>
          <a:xfrm>
            <a:off x="164875" y="2847609"/>
            <a:ext cx="4071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Even though the actual object in memory is a </a:t>
            </a:r>
            <a:r>
              <a:rPr lang="en" sz="1200">
                <a:latin typeface="Courier New"/>
                <a:ea typeface="Courier New"/>
                <a:cs typeface="Courier New"/>
                <a:sym typeface="Courier New"/>
              </a:rPr>
              <a:t>Mage</a:t>
            </a:r>
            <a:r>
              <a:rPr lang="en" sz="1200"/>
              <a:t>, the </a:t>
            </a:r>
            <a:r>
              <a:rPr lang="en" sz="1200" b="1" i="1">
                <a:solidFill>
                  <a:srgbClr val="FF0000"/>
                </a:solidFill>
              </a:rPr>
              <a:t>reference type</a:t>
            </a:r>
            <a:r>
              <a:rPr lang="en" sz="1200"/>
              <a:t> (</a:t>
            </a:r>
            <a:r>
              <a:rPr lang="en" sz="1200">
                <a:latin typeface="Courier New"/>
                <a:ea typeface="Courier New"/>
                <a:cs typeface="Courier New"/>
                <a:sym typeface="Courier New"/>
              </a:rPr>
              <a:t>Goat</a:t>
            </a:r>
            <a:r>
              <a:rPr lang="en" sz="1200"/>
              <a:t>) determines the state and behavior that can be accessed through the parameter.</a:t>
            </a:r>
            <a:endParaRPr sz="1200"/>
          </a:p>
        </p:txBody>
      </p:sp>
      <p:sp>
        <p:nvSpPr>
          <p:cNvPr id="775" name="Google Shape;775;p93"/>
          <p:cNvSpPr txBox="1"/>
          <p:nvPr/>
        </p:nvSpPr>
        <p:spPr>
          <a:xfrm>
            <a:off x="164875" y="3685809"/>
            <a:ext cx="4071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Because the </a:t>
            </a:r>
            <a:r>
              <a:rPr lang="en" sz="1200">
                <a:latin typeface="Courier New"/>
                <a:ea typeface="Courier New"/>
                <a:cs typeface="Courier New"/>
                <a:sym typeface="Courier New"/>
              </a:rPr>
              <a:t>attack</a:t>
            </a:r>
            <a:r>
              <a:rPr lang="en" sz="1200"/>
              <a:t> and </a:t>
            </a:r>
            <a:r>
              <a:rPr lang="en" sz="1200">
                <a:latin typeface="Courier New"/>
                <a:ea typeface="Courier New"/>
                <a:cs typeface="Courier New"/>
                <a:sym typeface="Courier New"/>
              </a:rPr>
              <a:t>takeDamage</a:t>
            </a:r>
            <a:r>
              <a:rPr lang="en" sz="1200"/>
              <a:t> methods are defined in the </a:t>
            </a:r>
            <a:r>
              <a:rPr lang="en" sz="1200">
                <a:latin typeface="Courier New"/>
                <a:ea typeface="Courier New"/>
                <a:cs typeface="Courier New"/>
                <a:sym typeface="Courier New"/>
              </a:rPr>
              <a:t>Mage</a:t>
            </a:r>
            <a:r>
              <a:rPr lang="en" sz="1200"/>
              <a:t> class (and not the </a:t>
            </a:r>
            <a:r>
              <a:rPr lang="en" sz="1200">
                <a:latin typeface="Courier New"/>
                <a:ea typeface="Courier New"/>
                <a:cs typeface="Courier New"/>
                <a:sym typeface="Courier New"/>
              </a:rPr>
              <a:t>Goat</a:t>
            </a:r>
            <a:r>
              <a:rPr lang="en" sz="1200"/>
              <a:t> class), they cannot be used with a </a:t>
            </a:r>
            <a:r>
              <a:rPr lang="en" sz="1200">
                <a:latin typeface="Courier New"/>
                <a:ea typeface="Courier New"/>
                <a:cs typeface="Courier New"/>
                <a:sym typeface="Courier New"/>
              </a:rPr>
              <a:t>Goat</a:t>
            </a:r>
            <a:r>
              <a:rPr lang="en" sz="1200"/>
              <a:t> parameter.</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5"/>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770"/>
                                        </p:tgtEl>
                                        <p:attrNameLst>
                                          <p:attrName>style.visibility</p:attrName>
                                        </p:attrNameLst>
                                      </p:cBhvr>
                                      <p:to>
                                        <p:strVal val="visible"/>
                                      </p:to>
                                    </p:set>
                                    <p:animEffect transition="in" filter="fade">
                                      <p:cBhvr>
                                        <p:cTn id="10" dur="1000"/>
                                        <p:tgtEl>
                                          <p:spTgt spid="770"/>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771"/>
                                        </p:tgtEl>
                                        <p:attrNameLst>
                                          <p:attrName>style.visibility</p:attrName>
                                        </p:attrNameLst>
                                      </p:cBhvr>
                                      <p:to>
                                        <p:strVal val="visible"/>
                                      </p:to>
                                    </p:set>
                                    <p:animEffect transition="in" filter="fade">
                                      <p:cBhvr>
                                        <p:cTn id="14" dur="1000"/>
                                        <p:tgtEl>
                                          <p:spTgt spid="771"/>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2"/>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77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94"/>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 order for </a:t>
            </a:r>
            <a:r>
              <a:rPr lang="en" b="1" i="1"/>
              <a:t>polymorphism</a:t>
            </a:r>
            <a:r>
              <a:rPr lang="en"/>
              <a:t> to work the way that we want it to, the </a:t>
            </a:r>
            <a:r>
              <a:rPr lang="en" b="1" i="1"/>
              <a:t>parent</a:t>
            </a:r>
            <a:r>
              <a:rPr lang="en"/>
              <a:t> class must define </a:t>
            </a:r>
            <a:r>
              <a:rPr lang="en" b="1" i="1"/>
              <a:t>all</a:t>
            </a:r>
            <a:r>
              <a:rPr lang="en"/>
              <a:t> of the methods that we want to use (even if those methods don't make a heck of a lot of sense). Let's "fix" the </a:t>
            </a:r>
            <a:r>
              <a:rPr lang="en">
                <a:latin typeface="Courier New"/>
                <a:ea typeface="Courier New"/>
                <a:cs typeface="Courier New"/>
                <a:sym typeface="Courier New"/>
              </a:rPr>
              <a:t>Goat</a:t>
            </a:r>
            <a:r>
              <a:rPr lang="en"/>
              <a:t> class so that it contains everything that we need for the specific goat types to battle each other.</a:t>
            </a:r>
            <a:endParaRPr/>
          </a:p>
        </p:txBody>
      </p:sp>
      <p:sp>
        <p:nvSpPr>
          <p:cNvPr id="781" name="Google Shape;781;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782" name="Google Shape;782;p94"/>
          <p:cNvSpPr txBox="1">
            <a:spLocks noGrp="1"/>
          </p:cNvSpPr>
          <p:nvPr>
            <p:ph type="body" idx="2"/>
          </p:nvPr>
        </p:nvSpPr>
        <p:spPr>
          <a:xfrm>
            <a:off x="3892625" y="2089325"/>
            <a:ext cx="5048400" cy="2626843"/>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Goat</a:t>
            </a:r>
            <a:r>
              <a:rPr lang="en" sz="1500" dirty="0"/>
              <a:t>" class and stub out the missing methods.</a:t>
            </a:r>
            <a:endParaRPr sz="1500" dirty="0"/>
          </a:p>
          <a:p>
            <a:pPr marL="914400" lvl="1" indent="-311150" algn="l" rtl="0">
              <a:spcBef>
                <a:spcPts val="0"/>
              </a:spcBef>
              <a:spcAft>
                <a:spcPts val="0"/>
              </a:spcAft>
              <a:buSzPts val="1300"/>
              <a:buChar char="○"/>
            </a:pPr>
            <a:r>
              <a:rPr lang="en" sz="1300" dirty="0"/>
              <a:t>The </a:t>
            </a:r>
            <a:r>
              <a:rPr lang="en" sz="1300" dirty="0">
                <a:solidFill>
                  <a:srgbClr val="FF0000"/>
                </a:solidFill>
                <a:latin typeface="Courier New"/>
                <a:ea typeface="Courier New"/>
                <a:cs typeface="Courier New"/>
                <a:sym typeface="Courier New"/>
              </a:rPr>
              <a:t>attack()</a:t>
            </a:r>
            <a:r>
              <a:rPr lang="en" sz="1300" dirty="0"/>
              <a:t> method should just return </a:t>
            </a:r>
            <a:r>
              <a:rPr lang="en" sz="1300" dirty="0">
                <a:solidFill>
                  <a:srgbClr val="FF0000"/>
                </a:solidFill>
                <a:latin typeface="Courier New"/>
                <a:ea typeface="Courier New"/>
                <a:cs typeface="Courier New"/>
                <a:sym typeface="Courier New"/>
              </a:rPr>
              <a:t>null</a:t>
            </a:r>
            <a:r>
              <a:rPr lang="en" sz="1300" dirty="0"/>
              <a:t>.</a:t>
            </a:r>
            <a:endParaRPr sz="1300" dirty="0"/>
          </a:p>
          <a:p>
            <a:pPr marL="914400" lvl="1" indent="-311150" algn="l" rtl="0">
              <a:spcBef>
                <a:spcPts val="0"/>
              </a:spcBef>
              <a:spcAft>
                <a:spcPts val="0"/>
              </a:spcAft>
              <a:buSzPts val="1300"/>
              <a:buChar char="○"/>
            </a:pPr>
            <a:r>
              <a:rPr lang="en" sz="1300" dirty="0"/>
              <a:t>The </a:t>
            </a:r>
            <a:r>
              <a:rPr lang="en" sz="1300" dirty="0">
                <a:solidFill>
                  <a:srgbClr val="FF0000"/>
                </a:solidFill>
                <a:latin typeface="Courier New"/>
                <a:ea typeface="Courier New"/>
                <a:cs typeface="Courier New"/>
                <a:sym typeface="Courier New"/>
              </a:rPr>
              <a:t>takeDamage()</a:t>
            </a:r>
            <a:r>
              <a:rPr lang="en" sz="1300" dirty="0"/>
              <a:t> method should be </a:t>
            </a:r>
            <a:r>
              <a:rPr lang="en" sz="1300" dirty="0">
                <a:solidFill>
                  <a:srgbClr val="FF0000"/>
                </a:solidFill>
              </a:rPr>
              <a:t>empty</a:t>
            </a:r>
            <a:r>
              <a:rPr lang="en" sz="1300" dirty="0"/>
              <a:t>.</a:t>
            </a:r>
            <a:endParaRPr sz="1300" dirty="0"/>
          </a:p>
          <a:p>
            <a:pPr marL="457200" lvl="0" indent="-323850" algn="l" rtl="0">
              <a:spcBef>
                <a:spcPts val="0"/>
              </a:spcBef>
              <a:spcAft>
                <a:spcPts val="0"/>
              </a:spcAft>
              <a:buSzPts val="1500"/>
              <a:buChar char="●"/>
            </a:pPr>
            <a:r>
              <a:rPr lang="en" sz="1500" dirty="0"/>
              <a:t>Open your "</a:t>
            </a:r>
            <a:r>
              <a:rPr lang="en" sz="1500" dirty="0">
                <a:latin typeface="Courier New"/>
                <a:ea typeface="Courier New"/>
                <a:cs typeface="Courier New"/>
                <a:sym typeface="Courier New"/>
              </a:rPr>
              <a:t>GoatArena</a:t>
            </a:r>
            <a:r>
              <a:rPr lang="en" sz="1500" dirty="0"/>
              <a:t>" class. Are there any syntax errors?</a:t>
            </a:r>
            <a:endParaRPr sz="1500" dirty="0"/>
          </a:p>
          <a:p>
            <a:pPr marL="914400" lvl="1" indent="-311150" algn="l" rtl="0">
              <a:spcBef>
                <a:spcPts val="0"/>
              </a:spcBef>
              <a:spcAft>
                <a:spcPts val="0"/>
              </a:spcAft>
              <a:buSzPts val="1300"/>
              <a:buChar char="○"/>
            </a:pPr>
            <a:r>
              <a:rPr lang="en" sz="1300" dirty="0"/>
              <a:t>Modify the </a:t>
            </a:r>
            <a:r>
              <a:rPr lang="en" sz="1300" dirty="0">
                <a:latin typeface="Courier New"/>
                <a:ea typeface="Courier New"/>
                <a:cs typeface="Courier New"/>
                <a:sym typeface="Courier New"/>
              </a:rPr>
              <a:t>main</a:t>
            </a:r>
            <a:r>
              <a:rPr lang="en" sz="1300" dirty="0"/>
              <a:t> method to try battling different combinations of goats against each other.</a:t>
            </a:r>
            <a:endParaRPr sz="1300" dirty="0"/>
          </a:p>
          <a:p>
            <a:pPr marL="914400" lvl="1" indent="-311150" algn="l" rtl="0">
              <a:spcBef>
                <a:spcPts val="0"/>
              </a:spcBef>
              <a:spcAft>
                <a:spcPts val="0"/>
              </a:spcAft>
              <a:buSzPts val="1300"/>
              <a:buChar char="○"/>
            </a:pPr>
            <a:r>
              <a:rPr lang="en" sz="1300" dirty="0">
                <a:highlight>
                  <a:srgbClr val="FFFF00"/>
                </a:highlight>
              </a:rPr>
              <a:t>What happens if you try to pit a plain </a:t>
            </a:r>
            <a:r>
              <a:rPr lang="en" sz="1300" dirty="0">
                <a:highlight>
                  <a:srgbClr val="FFFF00"/>
                </a:highlight>
                <a:latin typeface="Courier New"/>
                <a:ea typeface="Courier New"/>
                <a:cs typeface="Courier New"/>
                <a:sym typeface="Courier New"/>
              </a:rPr>
              <a:t>Goat</a:t>
            </a:r>
            <a:r>
              <a:rPr lang="en" sz="1300" dirty="0">
                <a:highlight>
                  <a:srgbClr val="FFFF00"/>
                </a:highlight>
              </a:rPr>
              <a:t> against another plain </a:t>
            </a:r>
            <a:r>
              <a:rPr lang="en" sz="1300" dirty="0">
                <a:highlight>
                  <a:srgbClr val="FFFF00"/>
                </a:highlight>
                <a:latin typeface="Courier New"/>
                <a:ea typeface="Courier New"/>
                <a:cs typeface="Courier New"/>
                <a:sym typeface="Courier New"/>
              </a:rPr>
              <a:t>Goat</a:t>
            </a:r>
            <a:r>
              <a:rPr lang="en" sz="1300" dirty="0">
                <a:highlight>
                  <a:srgbClr val="FFFF00"/>
                </a:highlight>
              </a:rPr>
              <a:t>?</a:t>
            </a:r>
            <a:endParaRPr sz="1300" dirty="0">
              <a:highlight>
                <a:srgbClr val="FFFF00"/>
              </a:highlight>
            </a:endParaRPr>
          </a:p>
        </p:txBody>
      </p:sp>
      <p:sp>
        <p:nvSpPr>
          <p:cNvPr id="783" name="Google Shape;783;p9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Goat Fight Part 2</a:t>
            </a:r>
            <a:endParaRPr/>
          </a:p>
        </p:txBody>
      </p:sp>
      <p:sp>
        <p:nvSpPr>
          <p:cNvPr id="784" name="Google Shape;784;p9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3.15</a:t>
            </a:r>
            <a:endParaRPr/>
          </a:p>
        </p:txBody>
      </p:sp>
      <p:pic>
        <p:nvPicPr>
          <p:cNvPr id="785" name="Google Shape;785;p94"/>
          <p:cNvPicPr preferRelativeResize="0"/>
          <p:nvPr/>
        </p:nvPicPr>
        <p:blipFill>
          <a:blip r:embed="rId3">
            <a:alphaModFix/>
          </a:blip>
          <a:stretch>
            <a:fillRect/>
          </a:stretch>
        </p:blipFill>
        <p:spPr>
          <a:xfrm>
            <a:off x="152400" y="2067175"/>
            <a:ext cx="3500427" cy="1980499"/>
          </a:xfrm>
          <a:prstGeom prst="rect">
            <a:avLst/>
          </a:prstGeom>
          <a:noFill/>
          <a:ln w="19050" cap="flat" cmpd="sng">
            <a:solidFill>
              <a:schemeClr val="dk2"/>
            </a:solidFill>
            <a:prstDash val="solid"/>
            <a:round/>
            <a:headEnd type="none" w="sm" len="sm"/>
            <a:tailEnd type="none" w="sm" len="sm"/>
          </a:ln>
        </p:spPr>
      </p:pic>
      <p:sp>
        <p:nvSpPr>
          <p:cNvPr id="786" name="Google Shape;786;p94"/>
          <p:cNvSpPr txBox="1"/>
          <p:nvPr/>
        </p:nvSpPr>
        <p:spPr>
          <a:xfrm>
            <a:off x="146000" y="4153875"/>
            <a:ext cx="3500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Wow! One method that works with any kind of goat?</a:t>
            </a:r>
            <a:endParaRPr sz="1200"/>
          </a:p>
        </p:txBody>
      </p:sp>
      <p:pic>
        <p:nvPicPr>
          <p:cNvPr id="787" name="Google Shape;787;p94"/>
          <p:cNvPicPr preferRelativeResize="0"/>
          <p:nvPr/>
        </p:nvPicPr>
        <p:blipFill rotWithShape="1">
          <a:blip r:embed="rId4">
            <a:alphaModFix/>
          </a:blip>
          <a:srcRect/>
          <a:stretch/>
        </p:blipFill>
        <p:spPr>
          <a:xfrm rot="-915671" flipH="1">
            <a:off x="1911375" y="2648275"/>
            <a:ext cx="657050" cy="818300"/>
          </a:xfrm>
          <a:prstGeom prst="rect">
            <a:avLst/>
          </a:prstGeom>
          <a:noFill/>
          <a:ln>
            <a:noFill/>
          </a:ln>
        </p:spPr>
      </p:pic>
      <p:pic>
        <p:nvPicPr>
          <p:cNvPr id="788" name="Google Shape;788;p94"/>
          <p:cNvPicPr preferRelativeResize="0"/>
          <p:nvPr/>
        </p:nvPicPr>
        <p:blipFill rotWithShape="1">
          <a:blip r:embed="rId4">
            <a:alphaModFix/>
          </a:blip>
          <a:srcRect/>
          <a:stretch/>
        </p:blipFill>
        <p:spPr>
          <a:xfrm rot="915671">
            <a:off x="1062125" y="2648275"/>
            <a:ext cx="657050" cy="8183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9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New Goat Classes!</a:t>
            </a:r>
            <a:endParaRPr/>
          </a:p>
        </p:txBody>
      </p:sp>
      <p:sp>
        <p:nvSpPr>
          <p:cNvPr id="794" name="Google Shape;794;p95"/>
          <p:cNvSpPr txBox="1">
            <a:spLocks noGrp="1"/>
          </p:cNvSpPr>
          <p:nvPr>
            <p:ph type="body" idx="4294967295"/>
          </p:nvPr>
        </p:nvSpPr>
        <p:spPr>
          <a:xfrm>
            <a:off x="3342550" y="1322250"/>
            <a:ext cx="5647800" cy="7851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dirty="0">
                <a:solidFill>
                  <a:srgbClr val="000000"/>
                </a:solidFill>
              </a:rPr>
              <a:t>Take a few minutes to think about a Goat class that you would like to play in a game of GvT. If you can't think of one of your own, here are some suggestions.</a:t>
            </a:r>
            <a:endParaRPr sz="1400" dirty="0"/>
          </a:p>
        </p:txBody>
      </p:sp>
      <p:sp>
        <p:nvSpPr>
          <p:cNvPr id="795" name="Google Shape;795;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33</a:t>
            </a:fld>
            <a:endParaRPr/>
          </a:p>
        </p:txBody>
      </p:sp>
      <p:graphicFrame>
        <p:nvGraphicFramePr>
          <p:cNvPr id="796" name="Google Shape;796;p95"/>
          <p:cNvGraphicFramePr/>
          <p:nvPr/>
        </p:nvGraphicFramePr>
        <p:xfrm>
          <a:off x="3342550" y="2093775"/>
          <a:ext cx="5384125" cy="2643625"/>
        </p:xfrm>
        <a:graphic>
          <a:graphicData uri="http://schemas.openxmlformats.org/drawingml/2006/table">
            <a:tbl>
              <a:tblPr>
                <a:noFill/>
                <a:tableStyleId>{BB7116F7-C15E-4CF7-A1A4-3F0B48A09751}</a:tableStyleId>
              </a:tblPr>
              <a:tblGrid>
                <a:gridCol w="1346025">
                  <a:extLst>
                    <a:ext uri="{9D8B030D-6E8A-4147-A177-3AD203B41FA5}">
                      <a16:colId xmlns:a16="http://schemas.microsoft.com/office/drawing/2014/main" val="20000"/>
                    </a:ext>
                  </a:extLst>
                </a:gridCol>
                <a:gridCol w="1056350">
                  <a:extLst>
                    <a:ext uri="{9D8B030D-6E8A-4147-A177-3AD203B41FA5}">
                      <a16:colId xmlns:a16="http://schemas.microsoft.com/office/drawing/2014/main" val="20001"/>
                    </a:ext>
                  </a:extLst>
                </a:gridCol>
                <a:gridCol w="1635725">
                  <a:extLst>
                    <a:ext uri="{9D8B030D-6E8A-4147-A177-3AD203B41FA5}">
                      <a16:colId xmlns:a16="http://schemas.microsoft.com/office/drawing/2014/main" val="20002"/>
                    </a:ext>
                  </a:extLst>
                </a:gridCol>
                <a:gridCol w="1346025">
                  <a:extLst>
                    <a:ext uri="{9D8B030D-6E8A-4147-A177-3AD203B41FA5}">
                      <a16:colId xmlns:a16="http://schemas.microsoft.com/office/drawing/2014/main" val="20003"/>
                    </a:ext>
                  </a:extLst>
                </a:gridCol>
              </a:tblGrid>
              <a:tr h="495475">
                <a:tc>
                  <a:txBody>
                    <a:bodyPr/>
                    <a:lstStyle/>
                    <a:p>
                      <a:pPr marL="0" lvl="0" indent="0" algn="ctr" rtl="0">
                        <a:spcBef>
                          <a:spcPts val="0"/>
                        </a:spcBef>
                        <a:spcAft>
                          <a:spcPts val="0"/>
                        </a:spcAft>
                        <a:buNone/>
                      </a:pPr>
                      <a:r>
                        <a:rPr lang="en" b="1">
                          <a:solidFill>
                            <a:srgbClr val="FFFFFF"/>
                          </a:solidFill>
                        </a:rPr>
                        <a:t>Type</a:t>
                      </a:r>
                      <a:endParaRPr b="1">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FFFFFF"/>
                          </a:solidFill>
                        </a:rPr>
                        <a:t>Hit Points</a:t>
                      </a:r>
                      <a:endParaRPr b="1">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FFFFFF"/>
                          </a:solidFill>
                        </a:rPr>
                        <a:t>Attack </a:t>
                      </a:r>
                      <a:endParaRPr b="1">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FFFFFF"/>
                          </a:solidFill>
                        </a:rPr>
                        <a:t>Special</a:t>
                      </a:r>
                      <a:endParaRPr b="1">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1050900">
                <a:tc>
                  <a:txBody>
                    <a:bodyPr/>
                    <a:lstStyle/>
                    <a:p>
                      <a:pPr marL="0" lvl="0" indent="0" algn="ctr" rtl="0">
                        <a:spcBef>
                          <a:spcPts val="0"/>
                        </a:spcBef>
                        <a:spcAft>
                          <a:spcPts val="0"/>
                        </a:spcAft>
                        <a:buNone/>
                      </a:pPr>
                      <a:r>
                        <a:rPr lang="en"/>
                        <a:t>Thief</a:t>
                      </a:r>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t>125</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b="1" u="sng"/>
                        <a:t>Stabbity-Stab</a:t>
                      </a:r>
                      <a:r>
                        <a:rPr lang="en" sz="1200" u="sng"/>
                        <a:t> </a:t>
                      </a:r>
                      <a:r>
                        <a:rPr lang="en" sz="1200"/>
                        <a:t>10-20 (Physical Damage) hits 1-3 times; each hit has a 25% chance to crit</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t>-25% Poison Damage Taken</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050900">
                <a:tc>
                  <a:txBody>
                    <a:bodyPr/>
                    <a:lstStyle/>
                    <a:p>
                      <a:pPr marL="0" lvl="0" indent="0" algn="ctr" rtl="0">
                        <a:spcBef>
                          <a:spcPts val="0"/>
                        </a:spcBef>
                        <a:spcAft>
                          <a:spcPts val="0"/>
                        </a:spcAft>
                        <a:buNone/>
                      </a:pPr>
                      <a:r>
                        <a:rPr lang="en"/>
                        <a:t>Cleric</a:t>
                      </a:r>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t>125</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b="1" u="sng" dirty="0"/>
                        <a:t>Bell, Book, &amp; Candle</a:t>
                      </a:r>
                      <a:r>
                        <a:rPr lang="en" sz="1200" dirty="0"/>
                        <a:t> </a:t>
                      </a:r>
                      <a:endParaRPr sz="1200" dirty="0"/>
                    </a:p>
                    <a:p>
                      <a:pPr marL="0" lvl="0" indent="0" algn="ctr" rtl="0">
                        <a:spcBef>
                          <a:spcPts val="0"/>
                        </a:spcBef>
                        <a:spcAft>
                          <a:spcPts val="0"/>
                        </a:spcAft>
                        <a:buNone/>
                      </a:pPr>
                      <a:r>
                        <a:rPr lang="en" sz="1200" dirty="0"/>
                        <a:t>15-25 (Holy Damage)</a:t>
                      </a:r>
                      <a:endParaRPr sz="1200" dirty="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dirty="0"/>
                        <a:t>Holy Damage </a:t>
                      </a:r>
                      <a:r>
                        <a:rPr lang="en" sz="1200" i="1" dirty="0"/>
                        <a:t>heals</a:t>
                      </a:r>
                      <a:r>
                        <a:rPr lang="en" sz="1200" dirty="0"/>
                        <a:t> for 25%</a:t>
                      </a:r>
                      <a:endParaRPr sz="1200" dirty="0"/>
                    </a:p>
                    <a:p>
                      <a:pPr marL="0" lvl="0" indent="0" algn="ctr" rtl="0">
                        <a:spcBef>
                          <a:spcPts val="0"/>
                        </a:spcBef>
                        <a:spcAft>
                          <a:spcPts val="0"/>
                        </a:spcAft>
                        <a:buNone/>
                      </a:pPr>
                      <a:endParaRPr sz="1200" dirty="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797" name="Google Shape;797;p95"/>
          <p:cNvSpPr txBox="1"/>
          <p:nvPr/>
        </p:nvSpPr>
        <p:spPr>
          <a:xfrm>
            <a:off x="181225" y="4145399"/>
            <a:ext cx="3052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Let's see how flexible polymorphism </a:t>
            </a:r>
            <a:r>
              <a:rPr lang="en" sz="1200" b="1" i="1"/>
              <a:t>really</a:t>
            </a:r>
            <a:r>
              <a:rPr lang="en" sz="1200"/>
              <a:t> is by creating a couple more goat classes to battle in the arena!</a:t>
            </a:r>
            <a:endParaRPr sz="1200"/>
          </a:p>
        </p:txBody>
      </p:sp>
      <p:pic>
        <p:nvPicPr>
          <p:cNvPr id="798" name="Google Shape;798;p95"/>
          <p:cNvPicPr preferRelativeResize="0"/>
          <p:nvPr/>
        </p:nvPicPr>
        <p:blipFill>
          <a:blip r:embed="rId3">
            <a:alphaModFix/>
          </a:blip>
          <a:stretch>
            <a:fillRect/>
          </a:stretch>
        </p:blipFill>
        <p:spPr>
          <a:xfrm>
            <a:off x="3763625" y="2695810"/>
            <a:ext cx="447675" cy="685800"/>
          </a:xfrm>
          <a:prstGeom prst="rect">
            <a:avLst/>
          </a:prstGeom>
          <a:noFill/>
          <a:ln>
            <a:noFill/>
          </a:ln>
        </p:spPr>
      </p:pic>
      <p:pic>
        <p:nvPicPr>
          <p:cNvPr id="799" name="Google Shape;799;p95"/>
          <p:cNvPicPr preferRelativeResize="0"/>
          <p:nvPr/>
        </p:nvPicPr>
        <p:blipFill>
          <a:blip r:embed="rId4">
            <a:alphaModFix/>
          </a:blip>
          <a:stretch>
            <a:fillRect/>
          </a:stretch>
        </p:blipFill>
        <p:spPr>
          <a:xfrm>
            <a:off x="3749325" y="3737985"/>
            <a:ext cx="476250" cy="685800"/>
          </a:xfrm>
          <a:prstGeom prst="rect">
            <a:avLst/>
          </a:prstGeom>
          <a:noFill/>
          <a:ln>
            <a:noFill/>
          </a:ln>
        </p:spPr>
      </p:pic>
      <p:pic>
        <p:nvPicPr>
          <p:cNvPr id="800" name="Google Shape;800;p95"/>
          <p:cNvPicPr preferRelativeResize="0"/>
          <p:nvPr/>
        </p:nvPicPr>
        <p:blipFill>
          <a:blip r:embed="rId5">
            <a:alphaModFix/>
          </a:blip>
          <a:stretch>
            <a:fillRect/>
          </a:stretch>
        </p:blipFill>
        <p:spPr>
          <a:xfrm>
            <a:off x="181225" y="1398460"/>
            <a:ext cx="3052199" cy="2668315"/>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9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Clr>
                <a:srgbClr val="000000"/>
              </a:buClr>
              <a:buSzPts val="1600"/>
              <a:buFont typeface="Arial"/>
              <a:buNone/>
            </a:pPr>
            <a:r>
              <a:rPr lang="en"/>
              <a:t>If we make a new class that </a:t>
            </a:r>
            <a:r>
              <a:rPr lang="en" i="1"/>
              <a:t>also</a:t>
            </a:r>
            <a:r>
              <a:rPr lang="en"/>
              <a:t> </a:t>
            </a:r>
            <a:r>
              <a:rPr lang="en">
                <a:latin typeface="Courier New"/>
                <a:ea typeface="Courier New"/>
                <a:cs typeface="Courier New"/>
                <a:sym typeface="Courier New"/>
              </a:rPr>
              <a:t>extends</a:t>
            </a:r>
            <a:r>
              <a:rPr lang="en"/>
              <a:t> </a:t>
            </a:r>
            <a:r>
              <a:rPr lang="en">
                <a:latin typeface="Courier New"/>
                <a:ea typeface="Courier New"/>
                <a:cs typeface="Courier New"/>
                <a:sym typeface="Courier New"/>
              </a:rPr>
              <a:t>Goat</a:t>
            </a:r>
            <a:r>
              <a:rPr lang="en"/>
              <a:t>, then </a:t>
            </a:r>
            <a:r>
              <a:rPr lang="en" b="1" i="1"/>
              <a:t>polymorphism</a:t>
            </a:r>
            <a:r>
              <a:rPr lang="en"/>
              <a:t> will allow us to send it to battle in the arena without needing to change any other code. AMAZING.</a:t>
            </a:r>
            <a:endParaRPr/>
          </a:p>
        </p:txBody>
      </p:sp>
      <p:sp>
        <p:nvSpPr>
          <p:cNvPr id="806" name="Google Shape;806;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807" name="Google Shape;807;p96"/>
          <p:cNvSpPr txBox="1">
            <a:spLocks noGrp="1"/>
          </p:cNvSpPr>
          <p:nvPr>
            <p:ph type="body" idx="2"/>
          </p:nvPr>
        </p:nvSpPr>
        <p:spPr>
          <a:xfrm>
            <a:off x="2708325" y="1581125"/>
            <a:ext cx="6122700" cy="26460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dirty="0"/>
              <a:t>Create a new Java class for your new Goat character type.</a:t>
            </a:r>
            <a:endParaRPr sz="1700" dirty="0"/>
          </a:p>
          <a:p>
            <a:pPr marL="914400" lvl="1" indent="-323850" algn="l" rtl="0">
              <a:spcBef>
                <a:spcPts val="0"/>
              </a:spcBef>
              <a:spcAft>
                <a:spcPts val="0"/>
              </a:spcAft>
              <a:buSzPts val="1500"/>
              <a:buChar char="○"/>
            </a:pPr>
            <a:r>
              <a:rPr lang="en" sz="1500" dirty="0"/>
              <a:t>Begin by extending </a:t>
            </a:r>
            <a:r>
              <a:rPr lang="en" sz="1500" dirty="0">
                <a:latin typeface="Courier New"/>
                <a:ea typeface="Courier New"/>
                <a:cs typeface="Courier New"/>
                <a:sym typeface="Courier New"/>
              </a:rPr>
              <a:t>Goat</a:t>
            </a:r>
            <a:r>
              <a:rPr lang="en" sz="1500" dirty="0"/>
              <a:t> right away.</a:t>
            </a:r>
            <a:endParaRPr sz="1500" dirty="0"/>
          </a:p>
          <a:p>
            <a:pPr marL="914400" lvl="1" indent="-323850" algn="l" rtl="0">
              <a:spcBef>
                <a:spcPts val="0"/>
              </a:spcBef>
              <a:spcAft>
                <a:spcPts val="0"/>
              </a:spcAft>
              <a:buSzPts val="1500"/>
              <a:buChar char="○"/>
            </a:pPr>
            <a:r>
              <a:rPr lang="en" sz="1500" dirty="0"/>
              <a:t>Add any fields, constants, and constructors.</a:t>
            </a:r>
            <a:endParaRPr sz="1500" dirty="0"/>
          </a:p>
          <a:p>
            <a:pPr marL="914400" lvl="1" indent="-323850" algn="l" rtl="0">
              <a:spcBef>
                <a:spcPts val="0"/>
              </a:spcBef>
              <a:spcAft>
                <a:spcPts val="0"/>
              </a:spcAft>
              <a:buSzPts val="1500"/>
              <a:buChar char="○"/>
            </a:pPr>
            <a:r>
              <a:rPr lang="en" sz="1500" dirty="0"/>
              <a:t>Implement at least the </a:t>
            </a:r>
            <a:r>
              <a:rPr lang="en" sz="1500" dirty="0">
                <a:latin typeface="Courier New"/>
                <a:ea typeface="Courier New"/>
                <a:cs typeface="Courier New"/>
                <a:sym typeface="Courier New"/>
              </a:rPr>
              <a:t>attack</a:t>
            </a:r>
            <a:r>
              <a:rPr lang="en" sz="1500" dirty="0"/>
              <a:t> and </a:t>
            </a:r>
            <a:r>
              <a:rPr lang="en" sz="1500" dirty="0">
                <a:latin typeface="Courier New"/>
                <a:ea typeface="Courier New"/>
                <a:cs typeface="Courier New"/>
                <a:sym typeface="Courier New"/>
              </a:rPr>
              <a:t>takeDamage</a:t>
            </a:r>
            <a:r>
              <a:rPr lang="en" sz="1500" dirty="0"/>
              <a:t> methods.</a:t>
            </a:r>
            <a:endParaRPr sz="1500" dirty="0"/>
          </a:p>
          <a:p>
            <a:pPr marL="457200" lvl="0" indent="-336550" algn="l" rtl="0">
              <a:spcBef>
                <a:spcPts val="0"/>
              </a:spcBef>
              <a:spcAft>
                <a:spcPts val="0"/>
              </a:spcAft>
              <a:buSzPts val="1700"/>
              <a:buChar char="●"/>
            </a:pPr>
            <a:r>
              <a:rPr lang="en" sz="1700" dirty="0"/>
              <a:t>Add a </a:t>
            </a:r>
            <a:r>
              <a:rPr lang="en" sz="1700" dirty="0">
                <a:latin typeface="Courier New"/>
                <a:ea typeface="Courier New"/>
                <a:cs typeface="Courier New"/>
                <a:sym typeface="Courier New"/>
              </a:rPr>
              <a:t>main</a:t>
            </a:r>
            <a:r>
              <a:rPr lang="en" sz="1700" dirty="0"/>
              <a:t> method with the appropriate signature.</a:t>
            </a:r>
            <a:endParaRPr sz="1700" dirty="0"/>
          </a:p>
          <a:p>
            <a:pPr marL="914400" lvl="1" indent="-323850" algn="l" rtl="0">
              <a:spcBef>
                <a:spcPts val="0"/>
              </a:spcBef>
              <a:spcAft>
                <a:spcPts val="0"/>
              </a:spcAft>
              <a:buSzPts val="1500"/>
              <a:buChar char="○"/>
            </a:pPr>
            <a:r>
              <a:rPr lang="en" sz="1500" dirty="0"/>
              <a:t>Create two instances of your new class.</a:t>
            </a:r>
            <a:endParaRPr sz="1500" dirty="0"/>
          </a:p>
          <a:p>
            <a:pPr marL="914400" lvl="1" indent="-323850" algn="l" rtl="0">
              <a:spcBef>
                <a:spcPts val="0"/>
              </a:spcBef>
              <a:spcAft>
                <a:spcPts val="0"/>
              </a:spcAft>
              <a:buSzPts val="1500"/>
              <a:buChar char="○"/>
            </a:pPr>
            <a:r>
              <a:rPr lang="en" sz="1500" dirty="0"/>
              <a:t>Print both to standard output.</a:t>
            </a:r>
            <a:endParaRPr sz="1500" dirty="0"/>
          </a:p>
        </p:txBody>
      </p:sp>
      <p:sp>
        <p:nvSpPr>
          <p:cNvPr id="808" name="Google Shape;808;p9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New Goat</a:t>
            </a:r>
            <a:endParaRPr/>
          </a:p>
        </p:txBody>
      </p:sp>
      <p:sp>
        <p:nvSpPr>
          <p:cNvPr id="809" name="Google Shape;809;p9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3.16</a:t>
            </a:r>
            <a:endParaRPr/>
          </a:p>
        </p:txBody>
      </p:sp>
      <p:pic>
        <p:nvPicPr>
          <p:cNvPr id="810" name="Google Shape;810;p96"/>
          <p:cNvPicPr preferRelativeResize="0"/>
          <p:nvPr/>
        </p:nvPicPr>
        <p:blipFill>
          <a:blip r:embed="rId3">
            <a:alphaModFix/>
          </a:blip>
          <a:stretch>
            <a:fillRect/>
          </a:stretch>
        </p:blipFill>
        <p:spPr>
          <a:xfrm>
            <a:off x="223275" y="1469725"/>
            <a:ext cx="2331875" cy="33578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97"/>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Your Goat Battle Arena should work with Goat or any of its subclasses. Experiment with different combinations of goat fighters. How many different Goat battles are possible?</a:t>
            </a:r>
            <a:endParaRPr/>
          </a:p>
        </p:txBody>
      </p:sp>
      <p:sp>
        <p:nvSpPr>
          <p:cNvPr id="816" name="Google Shape;816;p9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817" name="Google Shape;817;p97"/>
          <p:cNvSpPr txBox="1">
            <a:spLocks noGrp="1"/>
          </p:cNvSpPr>
          <p:nvPr>
            <p:ph type="body" idx="2"/>
          </p:nvPr>
        </p:nvSpPr>
        <p:spPr>
          <a:xfrm>
            <a:off x="3764125" y="1609925"/>
            <a:ext cx="4947600" cy="13491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dirty="0"/>
              <a:t>Open the "</a:t>
            </a:r>
            <a:r>
              <a:rPr lang="en" sz="1700" dirty="0">
                <a:latin typeface="Courier New"/>
                <a:ea typeface="Courier New"/>
                <a:cs typeface="Courier New"/>
                <a:sym typeface="Courier New"/>
              </a:rPr>
              <a:t>GoatArena</a:t>
            </a:r>
            <a:r>
              <a:rPr lang="en" sz="1700" dirty="0"/>
              <a:t>" and modify the </a:t>
            </a:r>
            <a:r>
              <a:rPr lang="en" sz="1700" dirty="0">
                <a:latin typeface="Courier New"/>
                <a:ea typeface="Courier New"/>
                <a:cs typeface="Courier New"/>
                <a:sym typeface="Courier New"/>
              </a:rPr>
              <a:t>main</a:t>
            </a:r>
            <a:r>
              <a:rPr lang="en" sz="1700" dirty="0"/>
              <a:t> to wage battles against any combination of Goats that you can think of.</a:t>
            </a:r>
            <a:endParaRPr sz="1700" dirty="0"/>
          </a:p>
          <a:p>
            <a:pPr marL="914400" lvl="1" indent="-336550" algn="l" rtl="0">
              <a:spcBef>
                <a:spcPts val="0"/>
              </a:spcBef>
              <a:spcAft>
                <a:spcPts val="0"/>
              </a:spcAft>
              <a:buSzPts val="1700"/>
              <a:buChar char="○"/>
            </a:pPr>
            <a:r>
              <a:rPr lang="en" sz="1700" dirty="0"/>
              <a:t>Do they all work?</a:t>
            </a:r>
            <a:endParaRPr sz="1700" dirty="0"/>
          </a:p>
        </p:txBody>
      </p:sp>
      <p:sp>
        <p:nvSpPr>
          <p:cNvPr id="818" name="Google Shape;818;p9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GOAT RUMBLE!</a:t>
            </a:r>
            <a:endParaRPr/>
          </a:p>
        </p:txBody>
      </p:sp>
      <p:sp>
        <p:nvSpPr>
          <p:cNvPr id="819" name="Google Shape;819;p9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3.17</a:t>
            </a:r>
            <a:endParaRPr/>
          </a:p>
        </p:txBody>
      </p:sp>
      <p:pic>
        <p:nvPicPr>
          <p:cNvPr id="820" name="Google Shape;820;p97"/>
          <p:cNvPicPr preferRelativeResize="0"/>
          <p:nvPr/>
        </p:nvPicPr>
        <p:blipFill>
          <a:blip r:embed="rId3">
            <a:alphaModFix/>
          </a:blip>
          <a:stretch>
            <a:fillRect/>
          </a:stretch>
        </p:blipFill>
        <p:spPr>
          <a:xfrm>
            <a:off x="152400" y="1609975"/>
            <a:ext cx="3500427" cy="1980499"/>
          </a:xfrm>
          <a:prstGeom prst="rect">
            <a:avLst/>
          </a:prstGeom>
          <a:noFill/>
          <a:ln w="19050" cap="flat" cmpd="sng">
            <a:solidFill>
              <a:schemeClr val="dk2"/>
            </a:solidFill>
            <a:prstDash val="solid"/>
            <a:round/>
            <a:headEnd type="none" w="sm" len="sm"/>
            <a:tailEnd type="none" w="sm" len="sm"/>
          </a:ln>
        </p:spPr>
      </p:pic>
      <p:sp>
        <p:nvSpPr>
          <p:cNvPr id="821" name="Google Shape;821;p97"/>
          <p:cNvSpPr txBox="1"/>
          <p:nvPr/>
        </p:nvSpPr>
        <p:spPr>
          <a:xfrm>
            <a:off x="146000" y="3696675"/>
            <a:ext cx="3500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Wow! One method that works with any kind of goat?</a:t>
            </a:r>
            <a:endParaRPr sz="1200"/>
          </a:p>
        </p:txBody>
      </p:sp>
      <p:pic>
        <p:nvPicPr>
          <p:cNvPr id="822" name="Google Shape;822;p97"/>
          <p:cNvPicPr preferRelativeResize="0"/>
          <p:nvPr/>
        </p:nvPicPr>
        <p:blipFill>
          <a:blip r:embed="rId4">
            <a:alphaModFix/>
          </a:blip>
          <a:stretch>
            <a:fillRect/>
          </a:stretch>
        </p:blipFill>
        <p:spPr>
          <a:xfrm rot="745858">
            <a:off x="1942200" y="1858476"/>
            <a:ext cx="591671" cy="852000"/>
          </a:xfrm>
          <a:prstGeom prst="rect">
            <a:avLst/>
          </a:prstGeom>
          <a:noFill/>
          <a:ln>
            <a:noFill/>
          </a:ln>
        </p:spPr>
      </p:pic>
      <p:pic>
        <p:nvPicPr>
          <p:cNvPr id="823" name="Google Shape;823;p97"/>
          <p:cNvPicPr preferRelativeResize="0"/>
          <p:nvPr/>
        </p:nvPicPr>
        <p:blipFill>
          <a:blip r:embed="rId5">
            <a:alphaModFix/>
          </a:blip>
          <a:stretch>
            <a:fillRect/>
          </a:stretch>
        </p:blipFill>
        <p:spPr>
          <a:xfrm flipH="1">
            <a:off x="1354175" y="2419360"/>
            <a:ext cx="476250" cy="685800"/>
          </a:xfrm>
          <a:prstGeom prst="rect">
            <a:avLst/>
          </a:prstGeom>
          <a:noFill/>
          <a:ln>
            <a:noFill/>
          </a:ln>
        </p:spPr>
      </p:pic>
      <p:pic>
        <p:nvPicPr>
          <p:cNvPr id="824" name="Google Shape;824;p97"/>
          <p:cNvPicPr preferRelativeResize="0"/>
          <p:nvPr/>
        </p:nvPicPr>
        <p:blipFill rotWithShape="1">
          <a:blip r:embed="rId6">
            <a:alphaModFix/>
          </a:blip>
          <a:srcRect/>
          <a:stretch/>
        </p:blipFill>
        <p:spPr>
          <a:xfrm rot="330910" flipH="1">
            <a:off x="1095716" y="2013642"/>
            <a:ext cx="545794" cy="785994"/>
          </a:xfrm>
          <a:prstGeom prst="rect">
            <a:avLst/>
          </a:prstGeom>
          <a:noFill/>
          <a:ln>
            <a:noFill/>
          </a:ln>
        </p:spPr>
      </p:pic>
      <p:pic>
        <p:nvPicPr>
          <p:cNvPr id="825" name="Google Shape;825;p97"/>
          <p:cNvPicPr preferRelativeResize="0"/>
          <p:nvPr/>
        </p:nvPicPr>
        <p:blipFill rotWithShape="1">
          <a:blip r:embed="rId7">
            <a:alphaModFix/>
          </a:blip>
          <a:srcRect/>
          <a:stretch/>
        </p:blipFill>
        <p:spPr>
          <a:xfrm rot="900000" flipH="1">
            <a:off x="738246" y="2349211"/>
            <a:ext cx="548700" cy="790139"/>
          </a:xfrm>
          <a:prstGeom prst="rect">
            <a:avLst/>
          </a:prstGeom>
          <a:noFill/>
          <a:ln>
            <a:noFill/>
          </a:ln>
        </p:spPr>
      </p:pic>
      <p:pic>
        <p:nvPicPr>
          <p:cNvPr id="826" name="Google Shape;826;p97"/>
          <p:cNvPicPr preferRelativeResize="0"/>
          <p:nvPr/>
        </p:nvPicPr>
        <p:blipFill>
          <a:blip r:embed="rId8">
            <a:alphaModFix/>
          </a:blip>
          <a:stretch>
            <a:fillRect/>
          </a:stretch>
        </p:blipFill>
        <p:spPr>
          <a:xfrm rot="527858">
            <a:off x="1844575" y="2434911"/>
            <a:ext cx="447675" cy="685800"/>
          </a:xfrm>
          <a:prstGeom prst="rect">
            <a:avLst/>
          </a:prstGeom>
          <a:noFill/>
          <a:ln>
            <a:noFill/>
          </a:ln>
        </p:spPr>
      </p:pic>
      <p:pic>
        <p:nvPicPr>
          <p:cNvPr id="827" name="Google Shape;827;p97"/>
          <p:cNvPicPr preferRelativeResize="0"/>
          <p:nvPr/>
        </p:nvPicPr>
        <p:blipFill rotWithShape="1">
          <a:blip r:embed="rId9">
            <a:alphaModFix/>
          </a:blip>
          <a:srcRect/>
          <a:stretch/>
        </p:blipFill>
        <p:spPr>
          <a:xfrm rot="-915692" flipH="1">
            <a:off x="2226926" y="2465694"/>
            <a:ext cx="498549" cy="62091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9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833" name="Google Shape;833;p98"/>
          <p:cNvSpPr txBox="1">
            <a:spLocks noGrp="1"/>
          </p:cNvSpPr>
          <p:nvPr>
            <p:ph type="title"/>
          </p:nvPr>
        </p:nvSpPr>
        <p:spPr>
          <a:xfrm>
            <a:off x="51123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Abstract Classes</a:t>
            </a:r>
            <a:endParaRPr/>
          </a:p>
        </p:txBody>
      </p:sp>
      <p:sp>
        <p:nvSpPr>
          <p:cNvPr id="834" name="Google Shape;834;p98"/>
          <p:cNvSpPr txBox="1">
            <a:spLocks noGrp="1"/>
          </p:cNvSpPr>
          <p:nvPr>
            <p:ph type="body" idx="2"/>
          </p:nvPr>
        </p:nvSpPr>
        <p:spPr>
          <a:xfrm>
            <a:off x="5112325" y="1752230"/>
            <a:ext cx="3706500" cy="694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dirty="0">
                <a:solidFill>
                  <a:srgbClr val="098658"/>
                </a:solidFill>
                <a:latin typeface="Consolas"/>
                <a:ea typeface="Consolas"/>
                <a:cs typeface="Consolas"/>
                <a:sym typeface="Consolas"/>
              </a:rPr>
              <a:t>1</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abstract</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class</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AbstractParent</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dirty="0">
                <a:solidFill>
                  <a:srgbClr val="098658"/>
                </a:solidFill>
                <a:latin typeface="Consolas"/>
                <a:ea typeface="Consolas"/>
                <a:cs typeface="Consolas"/>
                <a:sym typeface="Consolas"/>
              </a:rPr>
              <a:t>2</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abstract</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void</a:t>
            </a:r>
            <a:r>
              <a:rPr lang="en" sz="1000" dirty="0">
                <a:solidFill>
                  <a:srgbClr val="000000"/>
                </a:solidFill>
                <a:latin typeface="Consolas"/>
                <a:ea typeface="Consolas"/>
                <a:cs typeface="Consolas"/>
                <a:sym typeface="Consolas"/>
              </a:rPr>
              <a:t> </a:t>
            </a:r>
            <a:r>
              <a:rPr lang="en" sz="1000" dirty="0">
                <a:solidFill>
                  <a:srgbClr val="795E26"/>
                </a:solidFill>
                <a:latin typeface="Consolas"/>
                <a:ea typeface="Consolas"/>
                <a:cs typeface="Consolas"/>
                <a:sym typeface="Consolas"/>
              </a:rPr>
              <a:t>aMethod</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dirty="0">
                <a:solidFill>
                  <a:srgbClr val="098658"/>
                </a:solidFill>
                <a:latin typeface="Consolas"/>
                <a:ea typeface="Consolas"/>
                <a:cs typeface="Consolas"/>
                <a:sym typeface="Consolas"/>
              </a:rPr>
              <a:t>3</a:t>
            </a:r>
            <a:r>
              <a:rPr lang="en" sz="1000" dirty="0">
                <a:solidFill>
                  <a:srgbClr val="000000"/>
                </a:solidFill>
                <a:latin typeface="Consolas"/>
                <a:ea typeface="Consolas"/>
                <a:cs typeface="Consolas"/>
                <a:sym typeface="Consolas"/>
              </a:rPr>
              <a:t>  }</a:t>
            </a:r>
            <a:endParaRPr sz="1000" dirty="0">
              <a:solidFill>
                <a:srgbClr val="999999"/>
              </a:solidFill>
              <a:latin typeface="Consolas"/>
              <a:ea typeface="Consolas"/>
              <a:cs typeface="Consolas"/>
              <a:sym typeface="Consolas"/>
            </a:endParaRPr>
          </a:p>
        </p:txBody>
      </p:sp>
      <p:sp>
        <p:nvSpPr>
          <p:cNvPr id="835" name="Google Shape;835;p98"/>
          <p:cNvSpPr txBox="1">
            <a:spLocks noGrp="1"/>
          </p:cNvSpPr>
          <p:nvPr>
            <p:ph type="body" idx="1"/>
          </p:nvPr>
        </p:nvSpPr>
        <p:spPr>
          <a:xfrm>
            <a:off x="90450" y="61050"/>
            <a:ext cx="4668900" cy="4836900"/>
          </a:xfrm>
          <a:prstGeom prst="rect">
            <a:avLst/>
          </a:prstGeom>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dirty="0"/>
              <a:t>So hopefully at this point you are beginning to grasp that </a:t>
            </a:r>
            <a:r>
              <a:rPr lang="en" b="1" i="1" dirty="0">
                <a:solidFill>
                  <a:srgbClr val="FF0000"/>
                </a:solidFill>
              </a:rPr>
              <a:t>polymorphism</a:t>
            </a:r>
            <a:r>
              <a:rPr lang="en" dirty="0">
                <a:solidFill>
                  <a:srgbClr val="FF0000"/>
                </a:solidFill>
              </a:rPr>
              <a:t> </a:t>
            </a:r>
            <a:r>
              <a:rPr lang="en" dirty="0"/>
              <a:t>is important because it allows us to write code </a:t>
            </a:r>
            <a:r>
              <a:rPr lang="en" b="1" i="1" dirty="0">
                <a:solidFill>
                  <a:srgbClr val="FF0000"/>
                </a:solidFill>
              </a:rPr>
              <a:t>once</a:t>
            </a:r>
            <a:r>
              <a:rPr lang="en" dirty="0">
                <a:solidFill>
                  <a:srgbClr val="FF0000"/>
                </a:solidFill>
              </a:rPr>
              <a:t> </a:t>
            </a:r>
            <a:r>
              <a:rPr lang="en" dirty="0"/>
              <a:t>that will work with lots of different objects as long as they are related by </a:t>
            </a:r>
            <a:r>
              <a:rPr lang="en" dirty="0">
                <a:solidFill>
                  <a:srgbClr val="FF0000"/>
                </a:solidFill>
              </a:rPr>
              <a:t>inheritance</a:t>
            </a:r>
            <a:r>
              <a:rPr lang="en" dirty="0"/>
              <a:t>.</a:t>
            </a:r>
            <a:endParaRPr dirty="0"/>
          </a:p>
          <a:p>
            <a:pPr marL="457200" lvl="0" indent="-311150" algn="l" rtl="0">
              <a:lnSpc>
                <a:spcPct val="100000"/>
              </a:lnSpc>
              <a:spcBef>
                <a:spcPts val="0"/>
              </a:spcBef>
              <a:spcAft>
                <a:spcPts val="0"/>
              </a:spcAft>
              <a:buSzPts val="1300"/>
              <a:buChar char="●"/>
            </a:pPr>
            <a:r>
              <a:rPr lang="en" dirty="0"/>
              <a:t>But this sometimes means that we have to add methods to a parent class that aren't very useful.</a:t>
            </a:r>
            <a:endParaRPr dirty="0"/>
          </a:p>
          <a:p>
            <a:pPr marL="914400" lvl="1" indent="-298450" algn="l" rtl="0">
              <a:lnSpc>
                <a:spcPct val="100000"/>
              </a:lnSpc>
              <a:spcBef>
                <a:spcPts val="0"/>
              </a:spcBef>
              <a:spcAft>
                <a:spcPts val="0"/>
              </a:spcAft>
              <a:buSzPts val="1100"/>
              <a:buChar char="○"/>
            </a:pPr>
            <a:r>
              <a:rPr lang="en" dirty="0">
                <a:highlight>
                  <a:srgbClr val="FFFF00"/>
                </a:highlight>
              </a:rPr>
              <a:t>For example, the </a:t>
            </a:r>
            <a:r>
              <a:rPr lang="en" dirty="0">
                <a:solidFill>
                  <a:srgbClr val="FF0000"/>
                </a:solidFill>
                <a:highlight>
                  <a:srgbClr val="FFFF00"/>
                </a:highlight>
                <a:latin typeface="Courier New"/>
                <a:ea typeface="Courier New"/>
                <a:cs typeface="Courier New"/>
                <a:sym typeface="Courier New"/>
              </a:rPr>
              <a:t>attack()</a:t>
            </a:r>
            <a:r>
              <a:rPr lang="en" dirty="0">
                <a:highlight>
                  <a:srgbClr val="FFFF00"/>
                </a:highlight>
              </a:rPr>
              <a:t> and </a:t>
            </a:r>
            <a:r>
              <a:rPr lang="en" dirty="0">
                <a:solidFill>
                  <a:srgbClr val="FF0000"/>
                </a:solidFill>
                <a:highlight>
                  <a:srgbClr val="FFFF00"/>
                </a:highlight>
                <a:latin typeface="Courier New"/>
                <a:ea typeface="Courier New"/>
                <a:cs typeface="Courier New"/>
                <a:sym typeface="Courier New"/>
              </a:rPr>
              <a:t>takeDamage()</a:t>
            </a:r>
            <a:r>
              <a:rPr lang="en" dirty="0">
                <a:highlight>
                  <a:srgbClr val="FFFF00"/>
                </a:highlight>
              </a:rPr>
              <a:t> methods in our </a:t>
            </a:r>
            <a:r>
              <a:rPr lang="en" dirty="0">
                <a:solidFill>
                  <a:srgbClr val="FF0000"/>
                </a:solidFill>
                <a:highlight>
                  <a:srgbClr val="FFFF00"/>
                </a:highlight>
                <a:latin typeface="Courier New"/>
                <a:ea typeface="Courier New"/>
                <a:cs typeface="Courier New"/>
                <a:sym typeface="Courier New"/>
              </a:rPr>
              <a:t>Goat</a:t>
            </a:r>
            <a:r>
              <a:rPr lang="en" dirty="0">
                <a:highlight>
                  <a:srgbClr val="FFFF00"/>
                </a:highlight>
              </a:rPr>
              <a:t> class.</a:t>
            </a:r>
            <a:endParaRPr dirty="0">
              <a:highlight>
                <a:srgbClr val="FFFF00"/>
              </a:highlight>
            </a:endParaRPr>
          </a:p>
          <a:p>
            <a:pPr marL="457200" lvl="0" indent="-311150" algn="l" rtl="0">
              <a:lnSpc>
                <a:spcPct val="100000"/>
              </a:lnSpc>
              <a:spcBef>
                <a:spcPts val="0"/>
              </a:spcBef>
              <a:spcAft>
                <a:spcPts val="0"/>
              </a:spcAft>
              <a:buSzPts val="1300"/>
              <a:buChar char="●"/>
            </a:pPr>
            <a:r>
              <a:rPr lang="en" dirty="0"/>
              <a:t>In order to guarantee that the methods can be used through a variable of the parent's type, they must be </a:t>
            </a:r>
            <a:r>
              <a:rPr lang="en" b="1" i="1" dirty="0">
                <a:solidFill>
                  <a:srgbClr val="FF0000"/>
                </a:solidFill>
                <a:highlight>
                  <a:srgbClr val="FFFF00"/>
                </a:highlight>
              </a:rPr>
              <a:t>defined</a:t>
            </a:r>
            <a:r>
              <a:rPr lang="en" dirty="0">
                <a:solidFill>
                  <a:srgbClr val="FF0000"/>
                </a:solidFill>
                <a:highlight>
                  <a:srgbClr val="FFFF00"/>
                </a:highlight>
              </a:rPr>
              <a:t> </a:t>
            </a:r>
            <a:r>
              <a:rPr lang="en" dirty="0">
                <a:highlight>
                  <a:srgbClr val="FFFF00"/>
                </a:highlight>
              </a:rPr>
              <a:t>as part of the parent class.</a:t>
            </a:r>
            <a:endParaRPr dirty="0">
              <a:highlight>
                <a:srgbClr val="FFFF00"/>
              </a:highlight>
            </a:endParaRPr>
          </a:p>
          <a:p>
            <a:pPr marL="457200" lvl="0" indent="-311150" algn="l" rtl="0">
              <a:lnSpc>
                <a:spcPct val="100000"/>
              </a:lnSpc>
              <a:spcBef>
                <a:spcPts val="0"/>
              </a:spcBef>
              <a:spcAft>
                <a:spcPts val="0"/>
              </a:spcAft>
              <a:buSzPts val="1300"/>
              <a:buChar char="●"/>
            </a:pPr>
            <a:r>
              <a:rPr lang="en" dirty="0"/>
              <a:t>But the implementations are pointless and never used.</a:t>
            </a:r>
            <a:endParaRPr dirty="0"/>
          </a:p>
          <a:p>
            <a:pPr marL="914400" lvl="1" indent="-298450" algn="l" rtl="0">
              <a:lnSpc>
                <a:spcPct val="100000"/>
              </a:lnSpc>
              <a:spcBef>
                <a:spcPts val="0"/>
              </a:spcBef>
              <a:spcAft>
                <a:spcPts val="0"/>
              </a:spcAft>
              <a:buSzPts val="1100"/>
              <a:buChar char="○"/>
            </a:pPr>
            <a:r>
              <a:rPr lang="en" b="1" i="1" dirty="0">
                <a:solidFill>
                  <a:srgbClr val="FF0000"/>
                </a:solidFill>
                <a:highlight>
                  <a:srgbClr val="FFFF00"/>
                </a:highlight>
              </a:rPr>
              <a:t>Every </a:t>
            </a:r>
            <a:r>
              <a:rPr lang="en" dirty="0">
                <a:highlight>
                  <a:srgbClr val="FFFF00"/>
                </a:highlight>
              </a:rPr>
              <a:t>Goat subclass overrides </a:t>
            </a:r>
            <a:r>
              <a:rPr lang="en" b="1" i="1" dirty="0">
                <a:solidFill>
                  <a:srgbClr val="FF0000"/>
                </a:solidFill>
                <a:highlight>
                  <a:srgbClr val="FFFF00"/>
                </a:highlight>
              </a:rPr>
              <a:t>both</a:t>
            </a:r>
            <a:r>
              <a:rPr lang="en" dirty="0">
                <a:solidFill>
                  <a:srgbClr val="FF0000"/>
                </a:solidFill>
                <a:highlight>
                  <a:srgbClr val="FFFF00"/>
                </a:highlight>
              </a:rPr>
              <a:t> </a:t>
            </a:r>
            <a:r>
              <a:rPr lang="en" dirty="0">
                <a:highlight>
                  <a:srgbClr val="FFFF00"/>
                </a:highlight>
              </a:rPr>
              <a:t>methods, and so the parent implementations are never used.</a:t>
            </a:r>
            <a:endParaRPr dirty="0">
              <a:highlight>
                <a:srgbClr val="FFFF00"/>
              </a:highlight>
            </a:endParaRPr>
          </a:p>
          <a:p>
            <a:pPr marL="457200" lvl="0" indent="-311150" algn="l" rtl="0">
              <a:lnSpc>
                <a:spcPct val="100000"/>
              </a:lnSpc>
              <a:spcBef>
                <a:spcPts val="0"/>
              </a:spcBef>
              <a:spcAft>
                <a:spcPts val="0"/>
              </a:spcAft>
              <a:buSzPts val="1300"/>
              <a:buChar char="●"/>
            </a:pPr>
            <a:r>
              <a:rPr lang="en" dirty="0"/>
              <a:t>In Java it is possible to </a:t>
            </a:r>
            <a:r>
              <a:rPr lang="en" b="1" i="1" dirty="0">
                <a:solidFill>
                  <a:srgbClr val="FF0000"/>
                </a:solidFill>
              </a:rPr>
              <a:t>define</a:t>
            </a:r>
            <a:r>
              <a:rPr lang="en" dirty="0">
                <a:solidFill>
                  <a:srgbClr val="FF0000"/>
                </a:solidFill>
              </a:rPr>
              <a:t> </a:t>
            </a:r>
            <a:r>
              <a:rPr lang="en" dirty="0"/>
              <a:t>a method without </a:t>
            </a:r>
            <a:r>
              <a:rPr lang="en" b="1" i="1" dirty="0">
                <a:solidFill>
                  <a:srgbClr val="FF0000"/>
                </a:solidFill>
                <a:highlight>
                  <a:srgbClr val="FFFF00"/>
                </a:highlight>
              </a:rPr>
              <a:t>implementing </a:t>
            </a:r>
            <a:r>
              <a:rPr lang="en" dirty="0">
                <a:highlight>
                  <a:srgbClr val="FFFF00"/>
                </a:highlight>
              </a:rPr>
              <a:t>it by making it </a:t>
            </a:r>
            <a:r>
              <a:rPr lang="en" b="1" i="1" dirty="0">
                <a:solidFill>
                  <a:srgbClr val="FF0000"/>
                </a:solidFill>
                <a:highlight>
                  <a:srgbClr val="FFFF00"/>
                </a:highlight>
              </a:rPr>
              <a:t>abstract</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The method signature includes the </a:t>
            </a:r>
            <a:r>
              <a:rPr lang="en" dirty="0">
                <a:solidFill>
                  <a:srgbClr val="FF0000"/>
                </a:solidFill>
                <a:latin typeface="Courier New"/>
                <a:ea typeface="Courier New"/>
                <a:cs typeface="Courier New"/>
                <a:sym typeface="Courier New"/>
              </a:rPr>
              <a:t>abstract</a:t>
            </a:r>
            <a:r>
              <a:rPr lang="en" dirty="0"/>
              <a:t> modifier, e.g. </a:t>
            </a:r>
            <a:r>
              <a:rPr lang="en" dirty="0">
                <a:solidFill>
                  <a:srgbClr val="FF0000"/>
                </a:solidFill>
                <a:latin typeface="Courier New"/>
                <a:ea typeface="Courier New"/>
                <a:cs typeface="Courier New"/>
                <a:sym typeface="Courier New"/>
              </a:rPr>
              <a:t>public abstract Attack attack();</a:t>
            </a:r>
            <a:endParaRPr dirty="0">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dirty="0">
                <a:highlight>
                  <a:srgbClr val="FFFF00"/>
                </a:highlight>
              </a:rPr>
              <a:t>There is </a:t>
            </a:r>
            <a:r>
              <a:rPr lang="en" b="1" i="1" dirty="0">
                <a:solidFill>
                  <a:srgbClr val="FF0000"/>
                </a:solidFill>
                <a:highlight>
                  <a:srgbClr val="FFFF00"/>
                </a:highlight>
              </a:rPr>
              <a:t>no implementation</a:t>
            </a:r>
            <a:r>
              <a:rPr lang="en" dirty="0">
                <a:highlight>
                  <a:srgbClr val="FFFF00"/>
                </a:highlight>
              </a:rPr>
              <a:t> and </a:t>
            </a:r>
            <a:r>
              <a:rPr lang="en" b="1" i="1" dirty="0">
                <a:solidFill>
                  <a:srgbClr val="FF0000"/>
                </a:solidFill>
                <a:highlight>
                  <a:srgbClr val="FFFF00"/>
                </a:highlight>
              </a:rPr>
              <a:t>no method body</a:t>
            </a:r>
            <a:r>
              <a:rPr lang="en" dirty="0">
                <a:highlight>
                  <a:srgbClr val="FFFF00"/>
                </a:highlight>
              </a:rPr>
              <a:t>.</a:t>
            </a:r>
            <a:endParaRPr dirty="0">
              <a:highlight>
                <a:srgbClr val="FFFF00"/>
              </a:highlight>
            </a:endParaRPr>
          </a:p>
          <a:p>
            <a:pPr marL="457200" lvl="0" indent="-311150" algn="l" rtl="0">
              <a:lnSpc>
                <a:spcPct val="100000"/>
              </a:lnSpc>
              <a:spcBef>
                <a:spcPts val="0"/>
              </a:spcBef>
              <a:spcAft>
                <a:spcPts val="0"/>
              </a:spcAft>
              <a:buSzPts val="1300"/>
              <a:buChar char="●"/>
            </a:pPr>
            <a:r>
              <a:rPr lang="en" dirty="0">
                <a:highlight>
                  <a:srgbClr val="FFFF00"/>
                </a:highlight>
              </a:rPr>
              <a:t>A class that includes one or more </a:t>
            </a:r>
            <a:r>
              <a:rPr lang="en" dirty="0">
                <a:solidFill>
                  <a:srgbClr val="FF0000"/>
                </a:solidFill>
                <a:highlight>
                  <a:srgbClr val="FFFF00"/>
                </a:highlight>
              </a:rPr>
              <a:t>abstract </a:t>
            </a:r>
            <a:r>
              <a:rPr lang="en" dirty="0">
                <a:highlight>
                  <a:srgbClr val="FFFF00"/>
                </a:highlight>
              </a:rPr>
              <a:t>methods must also be </a:t>
            </a:r>
            <a:r>
              <a:rPr lang="en" dirty="0">
                <a:solidFill>
                  <a:srgbClr val="FF0000"/>
                </a:solidFill>
                <a:highlight>
                  <a:srgbClr val="FFFF00"/>
                </a:highlight>
              </a:rPr>
              <a:t>declared abstract</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For example </a:t>
            </a:r>
            <a:r>
              <a:rPr lang="en" dirty="0">
                <a:solidFill>
                  <a:srgbClr val="FF0000"/>
                </a:solidFill>
                <a:latin typeface="Courier New"/>
                <a:ea typeface="Courier New"/>
                <a:cs typeface="Courier New"/>
                <a:sym typeface="Courier New"/>
              </a:rPr>
              <a:t>public abstract class Goat {...}</a:t>
            </a:r>
            <a:endParaRPr dirty="0">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dirty="0">
                <a:highlight>
                  <a:srgbClr val="FFFF00"/>
                </a:highlight>
              </a:rPr>
              <a:t>An </a:t>
            </a:r>
            <a:r>
              <a:rPr lang="en" dirty="0">
                <a:highlight>
                  <a:srgbClr val="FFFF00"/>
                </a:highlight>
                <a:latin typeface="Courier New"/>
                <a:ea typeface="Courier New"/>
                <a:cs typeface="Courier New"/>
                <a:sym typeface="Courier New"/>
              </a:rPr>
              <a:t>abstract</a:t>
            </a:r>
            <a:r>
              <a:rPr lang="en" dirty="0">
                <a:highlight>
                  <a:srgbClr val="FFFF00"/>
                </a:highlight>
              </a:rPr>
              <a:t> class </a:t>
            </a:r>
            <a:r>
              <a:rPr lang="en" b="1" i="1" dirty="0">
                <a:solidFill>
                  <a:srgbClr val="FF0000"/>
                </a:solidFill>
                <a:highlight>
                  <a:srgbClr val="FFFF00"/>
                </a:highlight>
              </a:rPr>
              <a:t>cannot be instantiated</a:t>
            </a:r>
            <a:r>
              <a:rPr lang="en" dirty="0">
                <a:highlight>
                  <a:srgbClr val="FFFF00"/>
                </a:highlight>
              </a:rPr>
              <a:t> using new.</a:t>
            </a:r>
            <a:endParaRPr dirty="0">
              <a:highlight>
                <a:srgbClr val="FFFF00"/>
              </a:highlight>
            </a:endParaRPr>
          </a:p>
          <a:p>
            <a:pPr marL="914400" lvl="1" indent="-298450" algn="l" rtl="0">
              <a:lnSpc>
                <a:spcPct val="100000"/>
              </a:lnSpc>
              <a:spcBef>
                <a:spcPts val="0"/>
              </a:spcBef>
              <a:spcAft>
                <a:spcPts val="0"/>
              </a:spcAft>
              <a:buSzPts val="1100"/>
              <a:buChar char="○"/>
            </a:pPr>
            <a:r>
              <a:rPr lang="en" b="1" i="1" dirty="0">
                <a:solidFill>
                  <a:srgbClr val="FF0000"/>
                </a:solidFill>
                <a:highlight>
                  <a:srgbClr val="FFFF00"/>
                </a:highlight>
              </a:rPr>
              <a:t>All</a:t>
            </a:r>
            <a:r>
              <a:rPr lang="en" i="1" dirty="0">
                <a:solidFill>
                  <a:srgbClr val="FF0000"/>
                </a:solidFill>
                <a:highlight>
                  <a:srgbClr val="FFFF00"/>
                </a:highlight>
              </a:rPr>
              <a:t> </a:t>
            </a:r>
            <a:r>
              <a:rPr lang="en" dirty="0">
                <a:highlight>
                  <a:srgbClr val="FFFF00"/>
                </a:highlight>
              </a:rPr>
              <a:t>subclasses </a:t>
            </a:r>
            <a:r>
              <a:rPr lang="en" b="1" i="1" dirty="0">
                <a:solidFill>
                  <a:srgbClr val="FF0000"/>
                </a:solidFill>
                <a:highlight>
                  <a:srgbClr val="FFFF00"/>
                </a:highlight>
              </a:rPr>
              <a:t>must</a:t>
            </a:r>
            <a:r>
              <a:rPr lang="en" dirty="0">
                <a:solidFill>
                  <a:srgbClr val="FF0000"/>
                </a:solidFill>
                <a:highlight>
                  <a:srgbClr val="FFFF00"/>
                </a:highlight>
              </a:rPr>
              <a:t> </a:t>
            </a:r>
            <a:r>
              <a:rPr lang="en" dirty="0">
                <a:highlight>
                  <a:srgbClr val="FFFF00"/>
                </a:highlight>
              </a:rPr>
              <a:t>provide an implementation of any </a:t>
            </a:r>
            <a:r>
              <a:rPr lang="en" dirty="0">
                <a:highlight>
                  <a:srgbClr val="FFFF00"/>
                </a:highlight>
                <a:latin typeface="Courier New"/>
                <a:ea typeface="Courier New"/>
                <a:cs typeface="Courier New"/>
                <a:sym typeface="Courier New"/>
              </a:rPr>
              <a:t>abstract</a:t>
            </a:r>
            <a:r>
              <a:rPr lang="en" dirty="0">
                <a:highlight>
                  <a:srgbClr val="FFFF00"/>
                </a:highlight>
              </a:rPr>
              <a:t> methods (or be declared </a:t>
            </a:r>
            <a:r>
              <a:rPr lang="en" dirty="0">
                <a:highlight>
                  <a:srgbClr val="FFFF00"/>
                </a:highlight>
                <a:latin typeface="Courier New"/>
                <a:ea typeface="Courier New"/>
                <a:cs typeface="Courier New"/>
                <a:sym typeface="Courier New"/>
              </a:rPr>
              <a:t>abstract</a:t>
            </a:r>
            <a:r>
              <a:rPr lang="en" dirty="0">
                <a:highlight>
                  <a:srgbClr val="FFFF00"/>
                </a:highlight>
              </a:rPr>
              <a:t>).</a:t>
            </a:r>
            <a:endParaRPr dirty="0">
              <a:highlight>
                <a:srgbClr val="FFFF00"/>
              </a:highlight>
            </a:endParaRPr>
          </a:p>
        </p:txBody>
      </p:sp>
      <p:sp>
        <p:nvSpPr>
          <p:cNvPr id="836" name="Google Shape;836;p98"/>
          <p:cNvSpPr/>
          <p:nvPr/>
        </p:nvSpPr>
        <p:spPr>
          <a:xfrm>
            <a:off x="7811324" y="936235"/>
            <a:ext cx="1287825" cy="1182425"/>
          </a:xfrm>
          <a:custGeom>
            <a:avLst/>
            <a:gdLst/>
            <a:ahLst/>
            <a:cxnLst/>
            <a:rect l="l" t="t" r="r" b="b"/>
            <a:pathLst>
              <a:path w="47377" h="47297" extrusionOk="0">
                <a:moveTo>
                  <a:pt x="36064" y="0"/>
                </a:moveTo>
                <a:cubicBezTo>
                  <a:pt x="37690" y="6503"/>
                  <a:pt x="51829" y="31137"/>
                  <a:pt x="45818" y="39020"/>
                </a:cubicBezTo>
                <a:cubicBezTo>
                  <a:pt x="39807" y="46903"/>
                  <a:pt x="7636" y="45918"/>
                  <a:pt x="0" y="47297"/>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37" name="Google Shape;837;p98"/>
          <p:cNvSpPr txBox="1">
            <a:spLocks noGrp="1"/>
          </p:cNvSpPr>
          <p:nvPr>
            <p:ph type="body" idx="3"/>
          </p:nvPr>
        </p:nvSpPr>
        <p:spPr>
          <a:xfrm>
            <a:off x="5112325" y="690700"/>
            <a:ext cx="3706500" cy="449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100"/>
              <a:t>An abstract method is one that uses the </a:t>
            </a:r>
            <a:r>
              <a:rPr lang="en" sz="1100">
                <a:solidFill>
                  <a:srgbClr val="FF0000"/>
                </a:solidFill>
                <a:latin typeface="Courier New"/>
                <a:ea typeface="Courier New"/>
                <a:cs typeface="Courier New"/>
                <a:sym typeface="Courier New"/>
              </a:rPr>
              <a:t>abstract</a:t>
            </a:r>
            <a:r>
              <a:rPr lang="en" sz="1100">
                <a:solidFill>
                  <a:srgbClr val="FF0000"/>
                </a:solidFill>
              </a:rPr>
              <a:t> </a:t>
            </a:r>
            <a:r>
              <a:rPr lang="en" sz="1100"/>
              <a:t>modifier in its signature and </a:t>
            </a:r>
            <a:r>
              <a:rPr lang="en" sz="1100" b="1" i="1">
                <a:solidFill>
                  <a:srgbClr val="FF0000"/>
                </a:solidFill>
              </a:rPr>
              <a:t>does not have a body</a:t>
            </a:r>
            <a:r>
              <a:rPr lang="en" sz="1100"/>
              <a:t>.</a:t>
            </a:r>
            <a:endParaRPr sz="1100"/>
          </a:p>
        </p:txBody>
      </p:sp>
      <p:sp>
        <p:nvSpPr>
          <p:cNvPr id="838" name="Google Shape;838;p98"/>
          <p:cNvSpPr/>
          <p:nvPr/>
        </p:nvSpPr>
        <p:spPr>
          <a:xfrm>
            <a:off x="5803366" y="1616135"/>
            <a:ext cx="234325" cy="295600"/>
          </a:xfrm>
          <a:custGeom>
            <a:avLst/>
            <a:gdLst/>
            <a:ahLst/>
            <a:cxnLst/>
            <a:rect l="l" t="t" r="r" b="b"/>
            <a:pathLst>
              <a:path w="9373" h="11824" extrusionOk="0">
                <a:moveTo>
                  <a:pt x="9373" y="0"/>
                </a:moveTo>
                <a:cubicBezTo>
                  <a:pt x="7846" y="985"/>
                  <a:pt x="1047" y="3941"/>
                  <a:pt x="209" y="5912"/>
                </a:cubicBezTo>
                <a:cubicBezTo>
                  <a:pt x="-628" y="7883"/>
                  <a:pt x="3658" y="10839"/>
                  <a:pt x="4348" y="1182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39" name="Google Shape;839;p98"/>
          <p:cNvSpPr txBox="1">
            <a:spLocks noGrp="1"/>
          </p:cNvSpPr>
          <p:nvPr>
            <p:ph type="body" idx="3"/>
          </p:nvPr>
        </p:nvSpPr>
        <p:spPr>
          <a:xfrm>
            <a:off x="5112325" y="1214075"/>
            <a:ext cx="3706500" cy="449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100" dirty="0"/>
              <a:t>A class that includes one or more abstract methods must </a:t>
            </a:r>
            <a:r>
              <a:rPr lang="en" sz="1100" b="1" i="1" dirty="0">
                <a:solidFill>
                  <a:srgbClr val="FF0000"/>
                </a:solidFill>
              </a:rPr>
              <a:t>also be declared </a:t>
            </a:r>
            <a:r>
              <a:rPr lang="en" sz="1100" dirty="0">
                <a:solidFill>
                  <a:srgbClr val="FF0000"/>
                </a:solidFill>
                <a:latin typeface="Courier New"/>
                <a:ea typeface="Courier New"/>
                <a:cs typeface="Courier New"/>
                <a:sym typeface="Courier New"/>
              </a:rPr>
              <a:t>abstract</a:t>
            </a:r>
            <a:r>
              <a:rPr lang="en" sz="1100" dirty="0"/>
              <a:t>.</a:t>
            </a:r>
            <a:endParaRPr sz="1100" dirty="0"/>
          </a:p>
        </p:txBody>
      </p:sp>
      <p:sp>
        <p:nvSpPr>
          <p:cNvPr id="840" name="Google Shape;840;p98"/>
          <p:cNvSpPr txBox="1">
            <a:spLocks noGrp="1"/>
          </p:cNvSpPr>
          <p:nvPr>
            <p:ph type="body" idx="3"/>
          </p:nvPr>
        </p:nvSpPr>
        <p:spPr>
          <a:xfrm>
            <a:off x="5112325" y="2533593"/>
            <a:ext cx="3706500" cy="449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100" dirty="0">
                <a:highlight>
                  <a:srgbClr val="FFFF00"/>
                </a:highlight>
              </a:rPr>
              <a:t>An abstract class </a:t>
            </a:r>
            <a:r>
              <a:rPr lang="en" sz="1100" b="1" i="1" dirty="0">
                <a:solidFill>
                  <a:srgbClr val="FF0000"/>
                </a:solidFill>
                <a:highlight>
                  <a:srgbClr val="FFFF00"/>
                </a:highlight>
              </a:rPr>
              <a:t>cannot be instantiated</a:t>
            </a:r>
            <a:r>
              <a:rPr lang="en" sz="1100" b="1" i="1" dirty="0">
                <a:highlight>
                  <a:srgbClr val="FFFF00"/>
                </a:highlight>
              </a:rPr>
              <a:t> </a:t>
            </a:r>
            <a:r>
              <a:rPr lang="en" sz="1100" dirty="0">
                <a:highlight>
                  <a:srgbClr val="FFFF00"/>
                </a:highlight>
              </a:rPr>
              <a:t>using new. Trying to do so will cause a compiler error. </a:t>
            </a:r>
            <a:endParaRPr sz="1100" dirty="0">
              <a:highlight>
                <a:srgbClr val="FFFF00"/>
              </a:highlight>
            </a:endParaRPr>
          </a:p>
        </p:txBody>
      </p:sp>
      <p:sp>
        <p:nvSpPr>
          <p:cNvPr id="841" name="Google Shape;841;p98"/>
          <p:cNvSpPr txBox="1">
            <a:spLocks noGrp="1"/>
          </p:cNvSpPr>
          <p:nvPr>
            <p:ph type="body" idx="2"/>
          </p:nvPr>
        </p:nvSpPr>
        <p:spPr>
          <a:xfrm>
            <a:off x="5112325" y="3794850"/>
            <a:ext cx="3706500" cy="1182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1</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class</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ConcreteChild</a:t>
            </a:r>
            <a:endParaRPr sz="100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2</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extends</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AbstractParent</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3</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Override</a:t>
            </a:r>
            <a:endParaRPr sz="100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4</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void</a:t>
            </a:r>
            <a:r>
              <a:rPr lang="en" sz="1000" dirty="0">
                <a:solidFill>
                  <a:srgbClr val="000000"/>
                </a:solidFill>
                <a:latin typeface="Consolas"/>
                <a:ea typeface="Consolas"/>
                <a:cs typeface="Consolas"/>
                <a:sym typeface="Consolas"/>
              </a:rPr>
              <a:t> </a:t>
            </a:r>
            <a:r>
              <a:rPr lang="en" sz="1000" dirty="0">
                <a:solidFill>
                  <a:srgbClr val="795E26"/>
                </a:solidFill>
                <a:latin typeface="Consolas"/>
                <a:ea typeface="Consolas"/>
                <a:cs typeface="Consolas"/>
                <a:sym typeface="Consolas"/>
              </a:rPr>
              <a:t>aMethod</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5</a:t>
            </a:r>
            <a:r>
              <a:rPr lang="en" sz="1000" dirty="0">
                <a:solidFill>
                  <a:srgbClr val="000000"/>
                </a:solidFill>
                <a:latin typeface="Consolas"/>
                <a:ea typeface="Consolas"/>
                <a:cs typeface="Consolas"/>
                <a:sym typeface="Consolas"/>
              </a:rPr>
              <a:t>        </a:t>
            </a:r>
            <a:r>
              <a:rPr lang="en" sz="1000" dirty="0">
                <a:solidFill>
                  <a:srgbClr val="267F99"/>
                </a:solidFill>
                <a:latin typeface="Consolas"/>
                <a:ea typeface="Consolas"/>
                <a:cs typeface="Consolas"/>
                <a:sym typeface="Consolas"/>
              </a:rPr>
              <a:t>System</a:t>
            </a:r>
            <a:r>
              <a:rPr lang="en" sz="1000" dirty="0">
                <a:solidFill>
                  <a:srgbClr val="000000"/>
                </a:solidFill>
                <a:latin typeface="Consolas"/>
                <a:ea typeface="Consolas"/>
                <a:cs typeface="Consolas"/>
                <a:sym typeface="Consolas"/>
              </a:rPr>
              <a:t>.</a:t>
            </a:r>
            <a:r>
              <a:rPr lang="en" sz="1000" dirty="0">
                <a:solidFill>
                  <a:srgbClr val="0070C1"/>
                </a:solidFill>
                <a:latin typeface="Consolas"/>
                <a:ea typeface="Consolas"/>
                <a:cs typeface="Consolas"/>
                <a:sym typeface="Consolas"/>
              </a:rPr>
              <a:t>out</a:t>
            </a:r>
            <a:r>
              <a:rPr lang="en" sz="1000" dirty="0">
                <a:solidFill>
                  <a:srgbClr val="000000"/>
                </a:solidFill>
                <a:latin typeface="Consolas"/>
                <a:ea typeface="Consolas"/>
                <a:cs typeface="Consolas"/>
                <a:sym typeface="Consolas"/>
              </a:rPr>
              <a:t>.</a:t>
            </a:r>
            <a:r>
              <a:rPr lang="en" sz="1000" dirty="0">
                <a:solidFill>
                  <a:srgbClr val="795E26"/>
                </a:solidFill>
                <a:latin typeface="Consolas"/>
                <a:ea typeface="Consolas"/>
                <a:cs typeface="Consolas"/>
                <a:sym typeface="Consolas"/>
              </a:rPr>
              <a:t>println</a:t>
            </a:r>
            <a:r>
              <a:rPr lang="en" sz="1000" dirty="0">
                <a:solidFill>
                  <a:srgbClr val="000000"/>
                </a:solidFill>
                <a:latin typeface="Consolas"/>
                <a:ea typeface="Consolas"/>
                <a:cs typeface="Consolas"/>
                <a:sym typeface="Consolas"/>
              </a:rPr>
              <a:t>(</a:t>
            </a:r>
            <a:r>
              <a:rPr lang="en" sz="1000" dirty="0">
                <a:solidFill>
                  <a:srgbClr val="A31515"/>
                </a:solidFill>
                <a:latin typeface="Consolas"/>
                <a:ea typeface="Consolas"/>
                <a:cs typeface="Consolas"/>
                <a:sym typeface="Consolas"/>
              </a:rPr>
              <a:t>"Hi!"</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6</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7</a:t>
            </a:r>
            <a:r>
              <a:rPr lang="en" sz="1000" dirty="0">
                <a:solidFill>
                  <a:srgbClr val="000000"/>
                </a:solidFill>
                <a:latin typeface="Consolas"/>
                <a:ea typeface="Consolas"/>
                <a:cs typeface="Consolas"/>
                <a:sym typeface="Consolas"/>
              </a:rPr>
              <a:t> }</a:t>
            </a:r>
            <a:endParaRPr sz="1000" dirty="0">
              <a:solidFill>
                <a:srgbClr val="999999"/>
              </a:solidFill>
              <a:latin typeface="Consolas"/>
              <a:ea typeface="Consolas"/>
              <a:cs typeface="Consolas"/>
              <a:sym typeface="Consolas"/>
            </a:endParaRPr>
          </a:p>
        </p:txBody>
      </p:sp>
      <p:sp>
        <p:nvSpPr>
          <p:cNvPr id="842" name="Google Shape;842;p98"/>
          <p:cNvSpPr/>
          <p:nvPr/>
        </p:nvSpPr>
        <p:spPr>
          <a:xfrm>
            <a:off x="7386650" y="3627450"/>
            <a:ext cx="224975" cy="420675"/>
          </a:xfrm>
          <a:custGeom>
            <a:avLst/>
            <a:gdLst/>
            <a:ahLst/>
            <a:cxnLst/>
            <a:rect l="l" t="t" r="r" b="b"/>
            <a:pathLst>
              <a:path w="8999" h="16827" extrusionOk="0">
                <a:moveTo>
                  <a:pt x="7620" y="0"/>
                </a:moveTo>
                <a:cubicBezTo>
                  <a:pt x="7779" y="1640"/>
                  <a:pt x="9842" y="7038"/>
                  <a:pt x="8572" y="9842"/>
                </a:cubicBezTo>
                <a:cubicBezTo>
                  <a:pt x="7302" y="12647"/>
                  <a:pt x="1429" y="15663"/>
                  <a:pt x="0" y="16827"/>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43" name="Google Shape;843;p98"/>
          <p:cNvSpPr/>
          <p:nvPr/>
        </p:nvSpPr>
        <p:spPr>
          <a:xfrm>
            <a:off x="7119950" y="3643325"/>
            <a:ext cx="1790175" cy="936300"/>
          </a:xfrm>
          <a:custGeom>
            <a:avLst/>
            <a:gdLst/>
            <a:ahLst/>
            <a:cxnLst/>
            <a:rect l="l" t="t" r="r" b="b"/>
            <a:pathLst>
              <a:path w="71607" h="37452" extrusionOk="0">
                <a:moveTo>
                  <a:pt x="59372" y="0"/>
                </a:moveTo>
                <a:cubicBezTo>
                  <a:pt x="60907" y="5980"/>
                  <a:pt x="78475" y="30744"/>
                  <a:pt x="68580" y="35877"/>
                </a:cubicBezTo>
                <a:cubicBezTo>
                  <a:pt x="58685" y="41010"/>
                  <a:pt x="11430" y="31644"/>
                  <a:pt x="0" y="30797"/>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44" name="Google Shape;844;p98"/>
          <p:cNvSpPr txBox="1">
            <a:spLocks noGrp="1"/>
          </p:cNvSpPr>
          <p:nvPr>
            <p:ph type="body" idx="3"/>
          </p:nvPr>
        </p:nvSpPr>
        <p:spPr>
          <a:xfrm>
            <a:off x="5112325" y="3070175"/>
            <a:ext cx="3706500" cy="638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100" dirty="0"/>
              <a:t>If a class extends an abstract class it </a:t>
            </a:r>
            <a:r>
              <a:rPr lang="en" sz="1100" b="1" i="1" dirty="0">
                <a:solidFill>
                  <a:srgbClr val="FF0000"/>
                </a:solidFill>
              </a:rPr>
              <a:t>must</a:t>
            </a:r>
            <a:r>
              <a:rPr lang="en" sz="1100" dirty="0">
                <a:solidFill>
                  <a:srgbClr val="FF0000"/>
                </a:solidFill>
              </a:rPr>
              <a:t> </a:t>
            </a:r>
            <a:r>
              <a:rPr lang="en" sz="1100" dirty="0"/>
              <a:t>provide an implementation of </a:t>
            </a:r>
            <a:r>
              <a:rPr lang="en" sz="1100" b="1" i="1" dirty="0">
                <a:solidFill>
                  <a:srgbClr val="FF0000"/>
                </a:solidFill>
                <a:highlight>
                  <a:srgbClr val="FFFF00"/>
                </a:highlight>
              </a:rPr>
              <a:t>all</a:t>
            </a:r>
            <a:r>
              <a:rPr lang="en" sz="1100" dirty="0">
                <a:solidFill>
                  <a:srgbClr val="FF0000"/>
                </a:solidFill>
                <a:highlight>
                  <a:srgbClr val="FFFF00"/>
                </a:highlight>
              </a:rPr>
              <a:t> </a:t>
            </a:r>
            <a:r>
              <a:rPr lang="en" sz="1100" dirty="0">
                <a:highlight>
                  <a:srgbClr val="FFFF00"/>
                </a:highlight>
              </a:rPr>
              <a:t>abstract methods </a:t>
            </a:r>
            <a:r>
              <a:rPr lang="en" sz="1100" dirty="0"/>
              <a:t>or it also has to be declared abstract.</a:t>
            </a:r>
            <a:endParaRPr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7"/>
                                        </p:tgtEl>
                                        <p:attrNameLst>
                                          <p:attrName>style.visibility</p:attrName>
                                        </p:attrNameLst>
                                      </p:cBhvr>
                                      <p:to>
                                        <p:strVal val="visible"/>
                                      </p:to>
                                    </p:set>
                                    <p:animEffect transition="in" filter="fade">
                                      <p:cBhvr>
                                        <p:cTn id="7" dur="1000"/>
                                        <p:tgtEl>
                                          <p:spTgt spid="837"/>
                                        </p:tgtEl>
                                      </p:cBhvr>
                                    </p:animEffect>
                                  </p:childTnLst>
                                </p:cTn>
                              </p:par>
                              <p:par>
                                <p:cTn id="8" presetID="10" presetClass="entr" presetSubtype="0" fill="hold" nodeType="withEffect">
                                  <p:stCondLst>
                                    <p:cond delay="0"/>
                                  </p:stCondLst>
                                  <p:childTnLst>
                                    <p:set>
                                      <p:cBhvr>
                                        <p:cTn id="9" dur="1" fill="hold">
                                          <p:stCondLst>
                                            <p:cond delay="0"/>
                                          </p:stCondLst>
                                        </p:cTn>
                                        <p:tgtEl>
                                          <p:spTgt spid="834"/>
                                        </p:tgtEl>
                                        <p:attrNameLst>
                                          <p:attrName>style.visibility</p:attrName>
                                        </p:attrNameLst>
                                      </p:cBhvr>
                                      <p:to>
                                        <p:strVal val="visible"/>
                                      </p:to>
                                    </p:set>
                                    <p:animEffect transition="in" filter="fade">
                                      <p:cBhvr>
                                        <p:cTn id="10" dur="1000"/>
                                        <p:tgtEl>
                                          <p:spTgt spid="834"/>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836"/>
                                        </p:tgtEl>
                                        <p:attrNameLst>
                                          <p:attrName>style.visibility</p:attrName>
                                        </p:attrNameLst>
                                      </p:cBhvr>
                                      <p:to>
                                        <p:strVal val="visible"/>
                                      </p:to>
                                    </p:set>
                                    <p:animEffect transition="in" filter="fade">
                                      <p:cBhvr>
                                        <p:cTn id="14" dur="1000"/>
                                        <p:tgtEl>
                                          <p:spTgt spid="83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39"/>
                                        </p:tgtEl>
                                        <p:attrNameLst>
                                          <p:attrName>style.visibility</p:attrName>
                                        </p:attrNameLst>
                                      </p:cBhvr>
                                      <p:to>
                                        <p:strVal val="visible"/>
                                      </p:to>
                                    </p:set>
                                    <p:animEffect transition="in" filter="fade">
                                      <p:cBhvr>
                                        <p:cTn id="19" dur="1000"/>
                                        <p:tgtEl>
                                          <p:spTgt spid="839"/>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838"/>
                                        </p:tgtEl>
                                        <p:attrNameLst>
                                          <p:attrName>style.visibility</p:attrName>
                                        </p:attrNameLst>
                                      </p:cBhvr>
                                      <p:to>
                                        <p:strVal val="visible"/>
                                      </p:to>
                                    </p:set>
                                    <p:animEffect transition="in" filter="fade">
                                      <p:cBhvr>
                                        <p:cTn id="23" dur="1000"/>
                                        <p:tgtEl>
                                          <p:spTgt spid="83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40"/>
                                        </p:tgtEl>
                                        <p:attrNameLst>
                                          <p:attrName>style.visibility</p:attrName>
                                        </p:attrNameLst>
                                      </p:cBhvr>
                                      <p:to>
                                        <p:strVal val="visible"/>
                                      </p:to>
                                    </p:set>
                                    <p:animEffect transition="in" filter="fade">
                                      <p:cBhvr>
                                        <p:cTn id="28" dur="1000"/>
                                        <p:tgtEl>
                                          <p:spTgt spid="84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44"/>
                                        </p:tgtEl>
                                        <p:attrNameLst>
                                          <p:attrName>style.visibility</p:attrName>
                                        </p:attrNameLst>
                                      </p:cBhvr>
                                      <p:to>
                                        <p:strVal val="visible"/>
                                      </p:to>
                                    </p:set>
                                    <p:animEffect transition="in" filter="fade">
                                      <p:cBhvr>
                                        <p:cTn id="33" dur="1000"/>
                                        <p:tgtEl>
                                          <p:spTgt spid="844"/>
                                        </p:tgtEl>
                                      </p:cBhvr>
                                    </p:animEffect>
                                  </p:childTnLst>
                                </p:cTn>
                              </p:par>
                              <p:par>
                                <p:cTn id="34" presetID="10" presetClass="entr" presetSubtype="0" fill="hold" nodeType="withEffect">
                                  <p:stCondLst>
                                    <p:cond delay="0"/>
                                  </p:stCondLst>
                                  <p:childTnLst>
                                    <p:set>
                                      <p:cBhvr>
                                        <p:cTn id="35" dur="1" fill="hold">
                                          <p:stCondLst>
                                            <p:cond delay="0"/>
                                          </p:stCondLst>
                                        </p:cTn>
                                        <p:tgtEl>
                                          <p:spTgt spid="841"/>
                                        </p:tgtEl>
                                        <p:attrNameLst>
                                          <p:attrName>style.visibility</p:attrName>
                                        </p:attrNameLst>
                                      </p:cBhvr>
                                      <p:to>
                                        <p:strVal val="visible"/>
                                      </p:to>
                                    </p:set>
                                    <p:animEffect transition="in" filter="fade">
                                      <p:cBhvr>
                                        <p:cTn id="36" dur="1000"/>
                                        <p:tgtEl>
                                          <p:spTgt spid="841"/>
                                        </p:tgtEl>
                                      </p:cBhvr>
                                    </p:animEffect>
                                  </p:childTnLst>
                                </p:cTn>
                              </p:par>
                            </p:childTnLst>
                          </p:cTn>
                        </p:par>
                        <p:par>
                          <p:cTn id="37" fill="hold">
                            <p:stCondLst>
                              <p:cond delay="1000"/>
                            </p:stCondLst>
                            <p:childTnLst>
                              <p:par>
                                <p:cTn id="38" presetID="10" presetClass="entr" presetSubtype="0" fill="hold" nodeType="afterEffect">
                                  <p:stCondLst>
                                    <p:cond delay="0"/>
                                  </p:stCondLst>
                                  <p:childTnLst>
                                    <p:set>
                                      <p:cBhvr>
                                        <p:cTn id="39" dur="1" fill="hold">
                                          <p:stCondLst>
                                            <p:cond delay="0"/>
                                          </p:stCondLst>
                                        </p:cTn>
                                        <p:tgtEl>
                                          <p:spTgt spid="842"/>
                                        </p:tgtEl>
                                        <p:attrNameLst>
                                          <p:attrName>style.visibility</p:attrName>
                                        </p:attrNameLst>
                                      </p:cBhvr>
                                      <p:to>
                                        <p:strVal val="visible"/>
                                      </p:to>
                                    </p:set>
                                    <p:animEffect transition="in" filter="fade">
                                      <p:cBhvr>
                                        <p:cTn id="40" dur="1000"/>
                                        <p:tgtEl>
                                          <p:spTgt spid="842"/>
                                        </p:tgtEl>
                                      </p:cBhvr>
                                    </p:animEffect>
                                  </p:childTnLst>
                                </p:cTn>
                              </p:par>
                            </p:childTnLst>
                          </p:cTn>
                        </p:par>
                        <p:par>
                          <p:cTn id="41" fill="hold">
                            <p:stCondLst>
                              <p:cond delay="2000"/>
                            </p:stCondLst>
                            <p:childTnLst>
                              <p:par>
                                <p:cTn id="42" presetID="10" presetClass="entr" presetSubtype="0" fill="hold" nodeType="afterEffect">
                                  <p:stCondLst>
                                    <p:cond delay="0"/>
                                  </p:stCondLst>
                                  <p:childTnLst>
                                    <p:set>
                                      <p:cBhvr>
                                        <p:cTn id="43" dur="1" fill="hold">
                                          <p:stCondLst>
                                            <p:cond delay="0"/>
                                          </p:stCondLst>
                                        </p:cTn>
                                        <p:tgtEl>
                                          <p:spTgt spid="843"/>
                                        </p:tgtEl>
                                        <p:attrNameLst>
                                          <p:attrName>style.visibility</p:attrName>
                                        </p:attrNameLst>
                                      </p:cBhvr>
                                      <p:to>
                                        <p:strVal val="visible"/>
                                      </p:to>
                                    </p:set>
                                    <p:animEffect transition="in" filter="fade">
                                      <p:cBhvr>
                                        <p:cTn id="44" dur="1000"/>
                                        <p:tgtEl>
                                          <p:spTgt spid="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99"/>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Abstract Classes</a:t>
            </a:r>
            <a:endParaRPr/>
          </a:p>
        </p:txBody>
      </p:sp>
      <p:sp>
        <p:nvSpPr>
          <p:cNvPr id="850" name="Google Shape;850;p99"/>
          <p:cNvSpPr txBox="1">
            <a:spLocks noGrp="1"/>
          </p:cNvSpPr>
          <p:nvPr>
            <p:ph type="sldNum" idx="12"/>
          </p:nvPr>
        </p:nvSpPr>
        <p:spPr>
          <a:xfrm>
            <a:off x="8594910" y="4808130"/>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37</a:t>
            </a:fld>
            <a:endParaRPr/>
          </a:p>
        </p:txBody>
      </p:sp>
      <p:sp>
        <p:nvSpPr>
          <p:cNvPr id="851" name="Google Shape;851;p99"/>
          <p:cNvSpPr txBox="1"/>
          <p:nvPr/>
        </p:nvSpPr>
        <p:spPr>
          <a:xfrm>
            <a:off x="2084825" y="1419975"/>
            <a:ext cx="2987400" cy="3578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solidFill>
                  <a:srgbClr val="0000FF"/>
                </a:solidFill>
                <a:latin typeface="Consolas"/>
                <a:ea typeface="Consolas"/>
                <a:cs typeface="Consolas"/>
                <a:sym typeface="Consolas"/>
              </a:rPr>
              <a:t>  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Thermometer</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getTemperature</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setTemperature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solidFill>
                  <a:srgbClr val="267F99"/>
                </a:solidFill>
                <a:latin typeface="Consolas"/>
                <a:ea typeface="Consolas"/>
                <a:cs typeface="Consolas"/>
                <a:sym typeface="Consolas"/>
              </a:rPr>
              <a:t>                          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0000"/>
              </a:lnSpc>
              <a:spcBef>
                <a:spcPts val="0"/>
              </a:spcBef>
              <a:spcAft>
                <a:spcPts val="0"/>
              </a:spcAft>
              <a:buNone/>
            </a:pPr>
            <a:endParaRPr sz="900">
              <a:latin typeface="Consolas"/>
              <a:ea typeface="Consolas"/>
              <a:cs typeface="Consolas"/>
              <a:sym typeface="Consolas"/>
            </a:endParaRPr>
          </a:p>
          <a:p>
            <a:pPr marL="0" lvl="0" indent="0" algn="l" rtl="0">
              <a:lnSpc>
                <a:spcPct val="110000"/>
              </a:lnSpc>
              <a:spcBef>
                <a:spcPts val="0"/>
              </a:spcBef>
              <a:spcAft>
                <a:spcPts val="0"/>
              </a:spcAft>
              <a:buNone/>
            </a:pPr>
            <a:r>
              <a:rPr lang="en" sz="900">
                <a:solidFill>
                  <a:srgbClr val="0000FF"/>
                </a:solidFill>
                <a:latin typeface="Consolas"/>
                <a:ea typeface="Consolas"/>
                <a:cs typeface="Consolas"/>
                <a:sym typeface="Consolas"/>
              </a:rPr>
              <a:t>  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abstract</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a:t>
            </a:r>
            <a:endParaRPr sz="900" b="1">
              <a:latin typeface="Consolas"/>
              <a:ea typeface="Consolas"/>
              <a:cs typeface="Consolas"/>
              <a:sym typeface="Consolas"/>
            </a:endParaRPr>
          </a:p>
          <a:p>
            <a:pPr marL="0" lvl="0" indent="0" algn="l" rtl="0">
              <a:lnSpc>
                <a:spcPct val="110000"/>
              </a:lnSpc>
              <a:spcBef>
                <a:spcPts val="0"/>
              </a:spcBef>
              <a:spcAft>
                <a:spcPts val="0"/>
              </a:spcAft>
              <a:buNone/>
            </a:pPr>
            <a:r>
              <a:rPr lang="en" sz="900">
                <a:latin typeface="Consolas"/>
                <a:ea typeface="Consolas"/>
                <a:cs typeface="Consolas"/>
                <a:sym typeface="Consolas"/>
              </a:rPr>
              <a:t>}</a:t>
            </a:r>
            <a:endParaRPr sz="900">
              <a:solidFill>
                <a:srgbClr val="0000FF"/>
              </a:solidFill>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100"/>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Abstract Classes</a:t>
            </a:r>
            <a:endParaRPr/>
          </a:p>
        </p:txBody>
      </p:sp>
      <p:sp>
        <p:nvSpPr>
          <p:cNvPr id="857" name="Google Shape;857;p100"/>
          <p:cNvSpPr txBox="1">
            <a:spLocks noGrp="1"/>
          </p:cNvSpPr>
          <p:nvPr>
            <p:ph type="sldNum" idx="12"/>
          </p:nvPr>
        </p:nvSpPr>
        <p:spPr>
          <a:xfrm>
            <a:off x="8594910" y="4808130"/>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38</a:t>
            </a:fld>
            <a:endParaRPr/>
          </a:p>
        </p:txBody>
      </p:sp>
      <p:sp>
        <p:nvSpPr>
          <p:cNvPr id="858" name="Google Shape;858;p100"/>
          <p:cNvSpPr txBox="1"/>
          <p:nvPr/>
        </p:nvSpPr>
        <p:spPr>
          <a:xfrm>
            <a:off x="2084825" y="1419975"/>
            <a:ext cx="2987400" cy="3578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900" dirty="0">
                <a:solidFill>
                  <a:srgbClr val="0000FF"/>
                </a:solidFill>
                <a:latin typeface="Consolas"/>
                <a:ea typeface="Consolas"/>
                <a:cs typeface="Consolas"/>
                <a:sym typeface="Consolas"/>
              </a:rPr>
              <a:t>public</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abstract</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class</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Thermometer</a:t>
            </a:r>
            <a:r>
              <a:rPr lang="en" sz="900" dirty="0">
                <a:latin typeface="Consolas"/>
                <a:ea typeface="Consolas"/>
                <a:cs typeface="Consolas"/>
                <a:sym typeface="Consolas"/>
              </a:rPr>
              <a:t> {</a:t>
            </a: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solidFill>
                  <a:srgbClr val="0000FF"/>
                </a:solidFill>
                <a:latin typeface="Consolas"/>
                <a:ea typeface="Consolas"/>
                <a:cs typeface="Consolas"/>
                <a:sym typeface="Consolas"/>
              </a:rPr>
              <a:t>  private</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double</a:t>
            </a:r>
            <a:r>
              <a:rPr lang="en" sz="900" dirty="0">
                <a:latin typeface="Consolas"/>
                <a:ea typeface="Consolas"/>
                <a:cs typeface="Consolas"/>
                <a:sym typeface="Consolas"/>
              </a:rPr>
              <a:t> </a:t>
            </a:r>
            <a:r>
              <a:rPr lang="en" sz="900" dirty="0">
                <a:solidFill>
                  <a:srgbClr val="001080"/>
                </a:solidFill>
                <a:latin typeface="Consolas"/>
                <a:ea typeface="Consolas"/>
                <a:cs typeface="Consolas"/>
                <a:sym typeface="Consolas"/>
              </a:rPr>
              <a:t>degrees</a:t>
            </a: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lnSpc>
                <a:spcPct val="110000"/>
              </a:lnSpc>
              <a:spcBef>
                <a:spcPts val="0"/>
              </a:spcBef>
              <a:spcAft>
                <a:spcPts val="0"/>
              </a:spcAft>
              <a:buNone/>
            </a:pP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public</a:t>
            </a:r>
            <a:r>
              <a:rPr lang="en" sz="900" dirty="0">
                <a:latin typeface="Consolas"/>
                <a:ea typeface="Consolas"/>
                <a:cs typeface="Consolas"/>
                <a:sym typeface="Consolas"/>
              </a:rPr>
              <a:t> </a:t>
            </a:r>
            <a:r>
              <a:rPr lang="en" sz="900" dirty="0">
                <a:solidFill>
                  <a:srgbClr val="795E26"/>
                </a:solidFill>
                <a:latin typeface="Consolas"/>
                <a:ea typeface="Consolas"/>
                <a:cs typeface="Consolas"/>
                <a:sym typeface="Consolas"/>
              </a:rPr>
              <a:t>Thermometer</a:t>
            </a:r>
            <a:r>
              <a:rPr lang="en" sz="900" dirty="0">
                <a:latin typeface="Consolas"/>
                <a:ea typeface="Consolas"/>
                <a:cs typeface="Consolas"/>
                <a:sym typeface="Consolas"/>
              </a:rPr>
              <a:t>(</a:t>
            </a:r>
            <a:r>
              <a:rPr lang="en" sz="900" dirty="0">
                <a:solidFill>
                  <a:srgbClr val="267F99"/>
                </a:solidFill>
                <a:latin typeface="Consolas"/>
                <a:ea typeface="Consolas"/>
                <a:cs typeface="Consolas"/>
                <a:sym typeface="Consolas"/>
              </a:rPr>
              <a:t>double</a:t>
            </a:r>
            <a:r>
              <a:rPr lang="en" sz="900" dirty="0">
                <a:latin typeface="Consolas"/>
                <a:ea typeface="Consolas"/>
                <a:cs typeface="Consolas"/>
                <a:sym typeface="Consolas"/>
              </a:rPr>
              <a:t> </a:t>
            </a:r>
            <a:r>
              <a:rPr lang="en" sz="900" dirty="0">
                <a:solidFill>
                  <a:srgbClr val="001080"/>
                </a:solidFill>
                <a:latin typeface="Consolas"/>
                <a:ea typeface="Consolas"/>
                <a:cs typeface="Consolas"/>
                <a:sym typeface="Consolas"/>
              </a:rPr>
              <a:t>degrees</a:t>
            </a:r>
            <a:r>
              <a:rPr lang="en" sz="900" dirty="0">
                <a:latin typeface="Consolas"/>
                <a:ea typeface="Consolas"/>
                <a:cs typeface="Consolas"/>
                <a:sym typeface="Consolas"/>
              </a:rPr>
              <a:t>) {</a:t>
            </a: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this</a:t>
            </a:r>
            <a:r>
              <a:rPr lang="en" sz="900" dirty="0">
                <a:latin typeface="Consolas"/>
                <a:ea typeface="Consolas"/>
                <a:cs typeface="Consolas"/>
                <a:sym typeface="Consolas"/>
              </a:rPr>
              <a:t>.</a:t>
            </a:r>
            <a:r>
              <a:rPr lang="en" sz="900" dirty="0">
                <a:solidFill>
                  <a:srgbClr val="001080"/>
                </a:solidFill>
                <a:latin typeface="Consolas"/>
                <a:ea typeface="Consolas"/>
                <a:cs typeface="Consolas"/>
                <a:sym typeface="Consolas"/>
              </a:rPr>
              <a:t>degrees</a:t>
            </a:r>
            <a:r>
              <a:rPr lang="en" sz="900" dirty="0">
                <a:latin typeface="Consolas"/>
                <a:ea typeface="Consolas"/>
                <a:cs typeface="Consolas"/>
                <a:sym typeface="Consolas"/>
              </a:rPr>
              <a:t> = </a:t>
            </a:r>
            <a:r>
              <a:rPr lang="en" sz="900" dirty="0">
                <a:solidFill>
                  <a:srgbClr val="001080"/>
                </a:solidFill>
                <a:latin typeface="Consolas"/>
                <a:ea typeface="Consolas"/>
                <a:cs typeface="Consolas"/>
                <a:sym typeface="Consolas"/>
              </a:rPr>
              <a:t>degrees</a:t>
            </a: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latin typeface="Consolas"/>
                <a:ea typeface="Consolas"/>
                <a:cs typeface="Consolas"/>
                <a:sym typeface="Consolas"/>
              </a:rPr>
              <a:t>  }</a:t>
            </a:r>
            <a:endParaRPr sz="900" dirty="0">
              <a:latin typeface="Consolas"/>
              <a:ea typeface="Consolas"/>
              <a:cs typeface="Consolas"/>
              <a:sym typeface="Consolas"/>
            </a:endParaRPr>
          </a:p>
          <a:p>
            <a:pPr marL="0" lvl="0" indent="0" algn="l" rtl="0">
              <a:lnSpc>
                <a:spcPct val="110000"/>
              </a:lnSpc>
              <a:spcBef>
                <a:spcPts val="0"/>
              </a:spcBef>
              <a:spcAft>
                <a:spcPts val="0"/>
              </a:spcAft>
              <a:buNone/>
            </a:pP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public</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double</a:t>
            </a:r>
            <a:r>
              <a:rPr lang="en" sz="900" dirty="0">
                <a:latin typeface="Consolas"/>
                <a:ea typeface="Consolas"/>
                <a:cs typeface="Consolas"/>
                <a:sym typeface="Consolas"/>
              </a:rPr>
              <a:t> </a:t>
            </a:r>
            <a:r>
              <a:rPr lang="en" sz="900" dirty="0">
                <a:solidFill>
                  <a:srgbClr val="795E26"/>
                </a:solidFill>
                <a:latin typeface="Consolas"/>
                <a:ea typeface="Consolas"/>
                <a:cs typeface="Consolas"/>
                <a:sym typeface="Consolas"/>
              </a:rPr>
              <a:t>getTemperature</a:t>
            </a:r>
            <a:r>
              <a:rPr lang="en" sz="900" dirty="0">
                <a:latin typeface="Consolas"/>
                <a:ea typeface="Consolas"/>
                <a:cs typeface="Consolas"/>
                <a:sym typeface="Consolas"/>
              </a:rPr>
              <a:t>() {</a:t>
            </a: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latin typeface="Consolas"/>
                <a:ea typeface="Consolas"/>
                <a:cs typeface="Consolas"/>
                <a:sym typeface="Consolas"/>
              </a:rPr>
              <a:t>    </a:t>
            </a:r>
            <a:r>
              <a:rPr lang="en" sz="900" dirty="0">
                <a:solidFill>
                  <a:srgbClr val="AF00DB"/>
                </a:solidFill>
                <a:latin typeface="Consolas"/>
                <a:ea typeface="Consolas"/>
                <a:cs typeface="Consolas"/>
                <a:sym typeface="Consolas"/>
              </a:rPr>
              <a:t>return</a:t>
            </a:r>
            <a:r>
              <a:rPr lang="en" sz="900" dirty="0">
                <a:latin typeface="Consolas"/>
                <a:ea typeface="Consolas"/>
                <a:cs typeface="Consolas"/>
                <a:sym typeface="Consolas"/>
              </a:rPr>
              <a:t> </a:t>
            </a:r>
            <a:r>
              <a:rPr lang="en" sz="900" dirty="0">
                <a:solidFill>
                  <a:srgbClr val="001080"/>
                </a:solidFill>
                <a:latin typeface="Consolas"/>
                <a:ea typeface="Consolas"/>
                <a:cs typeface="Consolas"/>
                <a:sym typeface="Consolas"/>
              </a:rPr>
              <a:t>degrees</a:t>
            </a: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latin typeface="Consolas"/>
                <a:ea typeface="Consolas"/>
                <a:cs typeface="Consolas"/>
                <a:sym typeface="Consolas"/>
              </a:rPr>
              <a:t>  }</a:t>
            </a:r>
            <a:endParaRPr sz="900" dirty="0">
              <a:latin typeface="Consolas"/>
              <a:ea typeface="Consolas"/>
              <a:cs typeface="Consolas"/>
              <a:sym typeface="Consolas"/>
            </a:endParaRPr>
          </a:p>
          <a:p>
            <a:pPr marL="0" lvl="0" indent="0" algn="l" rtl="0">
              <a:lnSpc>
                <a:spcPct val="110000"/>
              </a:lnSpc>
              <a:spcBef>
                <a:spcPts val="0"/>
              </a:spcBef>
              <a:spcAft>
                <a:spcPts val="0"/>
              </a:spcAft>
              <a:buNone/>
            </a:pP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public</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void</a:t>
            </a:r>
            <a:r>
              <a:rPr lang="en" sz="900" dirty="0">
                <a:latin typeface="Consolas"/>
                <a:ea typeface="Consolas"/>
                <a:cs typeface="Consolas"/>
                <a:sym typeface="Consolas"/>
              </a:rPr>
              <a:t> </a:t>
            </a:r>
            <a:r>
              <a:rPr lang="en" sz="900" dirty="0">
                <a:solidFill>
                  <a:srgbClr val="795E26"/>
                </a:solidFill>
                <a:latin typeface="Consolas"/>
                <a:ea typeface="Consolas"/>
                <a:cs typeface="Consolas"/>
                <a:sym typeface="Consolas"/>
              </a:rPr>
              <a:t>setTemperature</a:t>
            </a: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solidFill>
                  <a:srgbClr val="267F99"/>
                </a:solidFill>
                <a:latin typeface="Consolas"/>
                <a:ea typeface="Consolas"/>
                <a:cs typeface="Consolas"/>
                <a:sym typeface="Consolas"/>
              </a:rPr>
              <a:t>                          double</a:t>
            </a:r>
            <a:r>
              <a:rPr lang="en" sz="900" dirty="0">
                <a:latin typeface="Consolas"/>
                <a:ea typeface="Consolas"/>
                <a:cs typeface="Consolas"/>
                <a:sym typeface="Consolas"/>
              </a:rPr>
              <a:t> </a:t>
            </a:r>
            <a:r>
              <a:rPr lang="en" sz="900" dirty="0">
                <a:solidFill>
                  <a:srgbClr val="001080"/>
                </a:solidFill>
                <a:latin typeface="Consolas"/>
                <a:ea typeface="Consolas"/>
                <a:cs typeface="Consolas"/>
                <a:sym typeface="Consolas"/>
              </a:rPr>
              <a:t>degrees</a:t>
            </a:r>
            <a:r>
              <a:rPr lang="en" sz="900" dirty="0">
                <a:latin typeface="Consolas"/>
                <a:ea typeface="Consolas"/>
                <a:cs typeface="Consolas"/>
                <a:sym typeface="Consolas"/>
              </a:rPr>
              <a:t>) {</a:t>
            </a: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this</a:t>
            </a:r>
            <a:r>
              <a:rPr lang="en" sz="900" dirty="0">
                <a:latin typeface="Consolas"/>
                <a:ea typeface="Consolas"/>
                <a:cs typeface="Consolas"/>
                <a:sym typeface="Consolas"/>
              </a:rPr>
              <a:t>.</a:t>
            </a:r>
            <a:r>
              <a:rPr lang="en" sz="900" dirty="0">
                <a:solidFill>
                  <a:srgbClr val="001080"/>
                </a:solidFill>
                <a:latin typeface="Consolas"/>
                <a:ea typeface="Consolas"/>
                <a:cs typeface="Consolas"/>
                <a:sym typeface="Consolas"/>
              </a:rPr>
              <a:t>degrees</a:t>
            </a:r>
            <a:r>
              <a:rPr lang="en" sz="900" dirty="0">
                <a:latin typeface="Consolas"/>
                <a:ea typeface="Consolas"/>
                <a:cs typeface="Consolas"/>
                <a:sym typeface="Consolas"/>
              </a:rPr>
              <a:t> = </a:t>
            </a:r>
            <a:r>
              <a:rPr lang="en" sz="900" dirty="0">
                <a:solidFill>
                  <a:srgbClr val="001080"/>
                </a:solidFill>
                <a:latin typeface="Consolas"/>
                <a:ea typeface="Consolas"/>
                <a:cs typeface="Consolas"/>
                <a:sym typeface="Consolas"/>
              </a:rPr>
              <a:t>degrees</a:t>
            </a: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latin typeface="Consolas"/>
                <a:ea typeface="Consolas"/>
                <a:cs typeface="Consolas"/>
                <a:sym typeface="Consolas"/>
              </a:rPr>
              <a:t>  }</a:t>
            </a:r>
            <a:endParaRPr sz="900" dirty="0">
              <a:latin typeface="Consolas"/>
              <a:ea typeface="Consolas"/>
              <a:cs typeface="Consolas"/>
              <a:sym typeface="Consolas"/>
            </a:endParaRPr>
          </a:p>
          <a:p>
            <a:pPr marL="0" lvl="0" indent="0" algn="l" rtl="0">
              <a:lnSpc>
                <a:spcPct val="110000"/>
              </a:lnSpc>
              <a:spcBef>
                <a:spcPts val="0"/>
              </a:spcBef>
              <a:spcAft>
                <a:spcPts val="0"/>
              </a:spcAft>
              <a:buNone/>
            </a:pP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public</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abstract</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double</a:t>
            </a:r>
            <a:r>
              <a:rPr lang="en" sz="900" dirty="0">
                <a:latin typeface="Consolas"/>
                <a:ea typeface="Consolas"/>
                <a:cs typeface="Consolas"/>
                <a:sym typeface="Consolas"/>
              </a:rPr>
              <a:t> </a:t>
            </a:r>
            <a:r>
              <a:rPr lang="en" sz="900" dirty="0">
                <a:solidFill>
                  <a:srgbClr val="795E26"/>
                </a:solidFill>
                <a:latin typeface="Consolas"/>
                <a:ea typeface="Consolas"/>
                <a:cs typeface="Consolas"/>
                <a:sym typeface="Consolas"/>
              </a:rPr>
              <a:t>getFreezingPoint</a:t>
            </a: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lnSpc>
                <a:spcPct val="110000"/>
              </a:lnSpc>
              <a:spcBef>
                <a:spcPts val="0"/>
              </a:spcBef>
              <a:spcAft>
                <a:spcPts val="0"/>
              </a:spcAft>
              <a:buNone/>
            </a:pP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public</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abstract</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double</a:t>
            </a:r>
            <a:r>
              <a:rPr lang="en" sz="900" dirty="0">
                <a:latin typeface="Consolas"/>
                <a:ea typeface="Consolas"/>
                <a:cs typeface="Consolas"/>
                <a:sym typeface="Consolas"/>
              </a:rPr>
              <a:t> </a:t>
            </a:r>
            <a:r>
              <a:rPr lang="en" sz="900" dirty="0">
                <a:solidFill>
                  <a:srgbClr val="795E26"/>
                </a:solidFill>
                <a:latin typeface="Consolas"/>
                <a:ea typeface="Consolas"/>
                <a:cs typeface="Consolas"/>
                <a:sym typeface="Consolas"/>
              </a:rPr>
              <a:t>getBoilingPoint</a:t>
            </a: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lnSpc>
                <a:spcPct val="110000"/>
              </a:lnSpc>
              <a:spcBef>
                <a:spcPts val="0"/>
              </a:spcBef>
              <a:spcAft>
                <a:spcPts val="0"/>
              </a:spcAft>
              <a:buNone/>
            </a:pPr>
            <a:endParaRPr sz="900"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solidFill>
                  <a:srgbClr val="0000FF"/>
                </a:solidFill>
                <a:latin typeface="Consolas"/>
                <a:ea typeface="Consolas"/>
                <a:cs typeface="Consolas"/>
                <a:sym typeface="Consolas"/>
              </a:rPr>
              <a:t>  public</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abstract</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char</a:t>
            </a:r>
            <a:r>
              <a:rPr lang="en" sz="900" dirty="0">
                <a:latin typeface="Consolas"/>
                <a:ea typeface="Consolas"/>
                <a:cs typeface="Consolas"/>
                <a:sym typeface="Consolas"/>
              </a:rPr>
              <a:t> </a:t>
            </a:r>
            <a:r>
              <a:rPr lang="en" sz="900" dirty="0">
                <a:solidFill>
                  <a:srgbClr val="795E26"/>
                </a:solidFill>
                <a:latin typeface="Consolas"/>
                <a:ea typeface="Consolas"/>
                <a:cs typeface="Consolas"/>
                <a:sym typeface="Consolas"/>
              </a:rPr>
              <a:t>getScale</a:t>
            </a:r>
            <a:r>
              <a:rPr lang="en" sz="900" dirty="0">
                <a:latin typeface="Consolas"/>
                <a:ea typeface="Consolas"/>
                <a:cs typeface="Consolas"/>
                <a:sym typeface="Consolas"/>
              </a:rPr>
              <a:t>();</a:t>
            </a:r>
            <a:endParaRPr sz="900" b="1" dirty="0">
              <a:latin typeface="Consolas"/>
              <a:ea typeface="Consolas"/>
              <a:cs typeface="Consolas"/>
              <a:sym typeface="Consolas"/>
            </a:endParaRPr>
          </a:p>
          <a:p>
            <a:pPr marL="0" lvl="0" indent="0" algn="l" rtl="0">
              <a:lnSpc>
                <a:spcPct val="110000"/>
              </a:lnSpc>
              <a:spcBef>
                <a:spcPts val="0"/>
              </a:spcBef>
              <a:spcAft>
                <a:spcPts val="0"/>
              </a:spcAft>
              <a:buNone/>
            </a:pPr>
            <a:r>
              <a:rPr lang="en" sz="900" dirty="0">
                <a:latin typeface="Consolas"/>
                <a:ea typeface="Consolas"/>
                <a:cs typeface="Consolas"/>
                <a:sym typeface="Consolas"/>
              </a:rPr>
              <a:t>}</a:t>
            </a:r>
            <a:endParaRPr sz="900" dirty="0">
              <a:solidFill>
                <a:srgbClr val="0000FF"/>
              </a:solidFill>
              <a:latin typeface="Consolas"/>
              <a:ea typeface="Consolas"/>
              <a:cs typeface="Consolas"/>
              <a:sym typeface="Consolas"/>
            </a:endParaRPr>
          </a:p>
        </p:txBody>
      </p:sp>
      <p:sp>
        <p:nvSpPr>
          <p:cNvPr id="859" name="Google Shape;859;p100"/>
          <p:cNvSpPr txBox="1"/>
          <p:nvPr/>
        </p:nvSpPr>
        <p:spPr>
          <a:xfrm>
            <a:off x="104800" y="808825"/>
            <a:ext cx="32418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t>An </a:t>
            </a:r>
            <a:r>
              <a:rPr lang="en" sz="1100" b="1" i="1" dirty="0">
                <a:solidFill>
                  <a:srgbClr val="FF0000"/>
                </a:solidFill>
              </a:rPr>
              <a:t>abstract class</a:t>
            </a:r>
            <a:r>
              <a:rPr lang="en" sz="1100" dirty="0"/>
              <a:t> must be declared with the </a:t>
            </a:r>
            <a:r>
              <a:rPr lang="en" sz="1100" dirty="0">
                <a:solidFill>
                  <a:srgbClr val="FF0000"/>
                </a:solidFill>
                <a:latin typeface="Courier New"/>
                <a:ea typeface="Courier New"/>
                <a:cs typeface="Courier New"/>
                <a:sym typeface="Courier New"/>
              </a:rPr>
              <a:t>abstract</a:t>
            </a:r>
            <a:r>
              <a:rPr lang="en" sz="1100" dirty="0"/>
              <a:t> modifier.</a:t>
            </a:r>
            <a:endParaRPr sz="1100" dirty="0"/>
          </a:p>
        </p:txBody>
      </p:sp>
      <p:sp>
        <p:nvSpPr>
          <p:cNvPr id="860" name="Google Shape;860;p100"/>
          <p:cNvSpPr txBox="1"/>
          <p:nvPr/>
        </p:nvSpPr>
        <p:spPr>
          <a:xfrm>
            <a:off x="104800" y="1419975"/>
            <a:ext cx="1856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Abstract classes may contain </a:t>
            </a:r>
            <a:r>
              <a:rPr lang="en" sz="1100" b="1" i="1">
                <a:solidFill>
                  <a:srgbClr val="FF0000"/>
                </a:solidFill>
              </a:rPr>
              <a:t>fields</a:t>
            </a:r>
            <a:r>
              <a:rPr lang="en" sz="1100"/>
              <a:t>...</a:t>
            </a:r>
            <a:endParaRPr sz="1100"/>
          </a:p>
        </p:txBody>
      </p:sp>
      <p:sp>
        <p:nvSpPr>
          <p:cNvPr id="861" name="Google Shape;861;p100"/>
          <p:cNvSpPr txBox="1"/>
          <p:nvPr/>
        </p:nvSpPr>
        <p:spPr>
          <a:xfrm>
            <a:off x="104800" y="4305975"/>
            <a:ext cx="1856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t>An abstract class may also define </a:t>
            </a:r>
            <a:r>
              <a:rPr lang="en" sz="1100" b="1" i="1" dirty="0">
                <a:solidFill>
                  <a:srgbClr val="FF0000"/>
                </a:solidFill>
                <a:highlight>
                  <a:srgbClr val="FFFF00"/>
                </a:highlight>
              </a:rPr>
              <a:t>zero or more</a:t>
            </a:r>
            <a:r>
              <a:rPr lang="en" sz="1100" dirty="0"/>
              <a:t> </a:t>
            </a:r>
            <a:r>
              <a:rPr lang="en" sz="1100" dirty="0">
                <a:latin typeface="Courier New"/>
                <a:ea typeface="Courier New"/>
                <a:cs typeface="Courier New"/>
                <a:sym typeface="Courier New"/>
              </a:rPr>
              <a:t>abstract</a:t>
            </a:r>
            <a:r>
              <a:rPr lang="en" sz="1100" dirty="0"/>
              <a:t> methods.</a:t>
            </a:r>
            <a:endParaRPr sz="1100" dirty="0"/>
          </a:p>
        </p:txBody>
      </p:sp>
      <p:sp>
        <p:nvSpPr>
          <p:cNvPr id="862" name="Google Shape;862;p100"/>
          <p:cNvSpPr txBox="1"/>
          <p:nvPr/>
        </p:nvSpPr>
        <p:spPr>
          <a:xfrm>
            <a:off x="104800" y="2493338"/>
            <a:ext cx="1856700" cy="354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FF0000"/>
                </a:solidFill>
              </a:rPr>
              <a:t>…</a:t>
            </a:r>
            <a:r>
              <a:rPr lang="en" sz="1100" b="1" i="1">
                <a:solidFill>
                  <a:srgbClr val="FF0000"/>
                </a:solidFill>
              </a:rPr>
              <a:t>constructors</a:t>
            </a:r>
            <a:r>
              <a:rPr lang="en" sz="1100"/>
              <a:t>...</a:t>
            </a:r>
            <a:endParaRPr sz="1100"/>
          </a:p>
        </p:txBody>
      </p:sp>
      <p:sp>
        <p:nvSpPr>
          <p:cNvPr id="863" name="Google Shape;863;p100"/>
          <p:cNvSpPr txBox="1"/>
          <p:nvPr/>
        </p:nvSpPr>
        <p:spPr>
          <a:xfrm>
            <a:off x="104800" y="3397488"/>
            <a:ext cx="1856700" cy="354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…and </a:t>
            </a:r>
            <a:r>
              <a:rPr lang="en" sz="1100" b="1" i="1">
                <a:solidFill>
                  <a:srgbClr val="FF0000"/>
                </a:solidFill>
              </a:rPr>
              <a:t>concrete methods</a:t>
            </a:r>
            <a:r>
              <a:rPr lang="en" sz="1100"/>
              <a:t>.</a:t>
            </a:r>
            <a:endParaRPr sz="1100"/>
          </a:p>
        </p:txBody>
      </p:sp>
      <p:grpSp>
        <p:nvGrpSpPr>
          <p:cNvPr id="864" name="Google Shape;864;p100"/>
          <p:cNvGrpSpPr/>
          <p:nvPr/>
        </p:nvGrpSpPr>
        <p:grpSpPr>
          <a:xfrm>
            <a:off x="2578975" y="1332677"/>
            <a:ext cx="591600" cy="336900"/>
            <a:chOff x="2807575" y="1332677"/>
            <a:chExt cx="591600" cy="336900"/>
          </a:xfrm>
        </p:grpSpPr>
        <p:sp>
          <p:nvSpPr>
            <p:cNvPr id="865" name="Google Shape;865;p100"/>
            <p:cNvSpPr/>
            <p:nvPr/>
          </p:nvSpPr>
          <p:spPr>
            <a:xfrm>
              <a:off x="2807575" y="1504877"/>
              <a:ext cx="591600" cy="164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6" name="Google Shape;866;p100"/>
            <p:cNvCxnSpPr>
              <a:stCxn id="865" idx="0"/>
            </p:cNvCxnSpPr>
            <p:nvPr/>
          </p:nvCxnSpPr>
          <p:spPr>
            <a:xfrm rot="10800000">
              <a:off x="3103375" y="1332677"/>
              <a:ext cx="0" cy="172200"/>
            </a:xfrm>
            <a:prstGeom prst="straightConnector1">
              <a:avLst/>
            </a:prstGeom>
            <a:noFill/>
            <a:ln w="19050" cap="flat" cmpd="sng">
              <a:solidFill>
                <a:srgbClr val="FF0000"/>
              </a:solidFill>
              <a:prstDash val="solid"/>
              <a:round/>
              <a:headEnd type="none" w="med" len="med"/>
              <a:tailEnd type="none" w="med" len="med"/>
            </a:ln>
          </p:spPr>
        </p:cxnSp>
      </p:grpSp>
      <p:grpSp>
        <p:nvGrpSpPr>
          <p:cNvPr id="867" name="Google Shape;867;p100"/>
          <p:cNvGrpSpPr/>
          <p:nvPr/>
        </p:nvGrpSpPr>
        <p:grpSpPr>
          <a:xfrm>
            <a:off x="1969025" y="1718506"/>
            <a:ext cx="1822800" cy="164700"/>
            <a:chOff x="2197625" y="2021975"/>
            <a:chExt cx="1822800" cy="164700"/>
          </a:xfrm>
        </p:grpSpPr>
        <p:sp>
          <p:nvSpPr>
            <p:cNvPr id="868" name="Google Shape;868;p100"/>
            <p:cNvSpPr/>
            <p:nvPr/>
          </p:nvSpPr>
          <p:spPr>
            <a:xfrm>
              <a:off x="2480825" y="2021975"/>
              <a:ext cx="1539600" cy="164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9" name="Google Shape;869;p100"/>
            <p:cNvCxnSpPr/>
            <p:nvPr/>
          </p:nvCxnSpPr>
          <p:spPr>
            <a:xfrm rot="10800000">
              <a:off x="2197625" y="2104325"/>
              <a:ext cx="283200" cy="0"/>
            </a:xfrm>
            <a:prstGeom prst="straightConnector1">
              <a:avLst/>
            </a:prstGeom>
            <a:noFill/>
            <a:ln w="19050" cap="flat" cmpd="sng">
              <a:solidFill>
                <a:srgbClr val="FF0000"/>
              </a:solidFill>
              <a:prstDash val="solid"/>
              <a:round/>
              <a:headEnd type="none" w="med" len="med"/>
              <a:tailEnd type="none" w="med" len="med"/>
            </a:ln>
          </p:spPr>
        </p:cxnSp>
      </p:grpSp>
      <p:grpSp>
        <p:nvGrpSpPr>
          <p:cNvPr id="870" name="Google Shape;870;p100"/>
          <p:cNvGrpSpPr/>
          <p:nvPr/>
        </p:nvGrpSpPr>
        <p:grpSpPr>
          <a:xfrm>
            <a:off x="1961500" y="1998150"/>
            <a:ext cx="2668825" cy="672188"/>
            <a:chOff x="2190100" y="1998150"/>
            <a:chExt cx="2668825" cy="672188"/>
          </a:xfrm>
        </p:grpSpPr>
        <p:sp>
          <p:nvSpPr>
            <p:cNvPr id="871" name="Google Shape;871;p100"/>
            <p:cNvSpPr/>
            <p:nvPr/>
          </p:nvSpPr>
          <p:spPr>
            <a:xfrm>
              <a:off x="2480825" y="1998150"/>
              <a:ext cx="2378100" cy="495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2" name="Google Shape;872;p100"/>
            <p:cNvCxnSpPr>
              <a:stCxn id="862" idx="3"/>
              <a:endCxn id="871" idx="1"/>
            </p:cNvCxnSpPr>
            <p:nvPr/>
          </p:nvCxnSpPr>
          <p:spPr>
            <a:xfrm rot="10800000" flipH="1">
              <a:off x="2190100" y="2245838"/>
              <a:ext cx="290700" cy="424500"/>
            </a:xfrm>
            <a:prstGeom prst="bentConnector3">
              <a:avLst>
                <a:gd name="adj1" fmla="val 72136"/>
              </a:avLst>
            </a:prstGeom>
            <a:noFill/>
            <a:ln w="19050" cap="flat" cmpd="sng">
              <a:solidFill>
                <a:srgbClr val="FF0000"/>
              </a:solidFill>
              <a:prstDash val="solid"/>
              <a:round/>
              <a:headEnd type="none" w="med" len="med"/>
              <a:tailEnd type="none" w="med" len="med"/>
            </a:ln>
          </p:spPr>
        </p:cxnSp>
      </p:grpSp>
      <p:grpSp>
        <p:nvGrpSpPr>
          <p:cNvPr id="873" name="Google Shape;873;p100"/>
          <p:cNvGrpSpPr/>
          <p:nvPr/>
        </p:nvGrpSpPr>
        <p:grpSpPr>
          <a:xfrm>
            <a:off x="1961500" y="2571750"/>
            <a:ext cx="3042666" cy="1306500"/>
            <a:chOff x="2189583" y="2571748"/>
            <a:chExt cx="2978334" cy="1306500"/>
          </a:xfrm>
        </p:grpSpPr>
        <p:sp>
          <p:nvSpPr>
            <p:cNvPr id="874" name="Google Shape;874;p100"/>
            <p:cNvSpPr/>
            <p:nvPr/>
          </p:nvSpPr>
          <p:spPr>
            <a:xfrm>
              <a:off x="2480817" y="2571748"/>
              <a:ext cx="2687100" cy="1306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5" name="Google Shape;875;p100"/>
            <p:cNvCxnSpPr>
              <a:stCxn id="863" idx="3"/>
              <a:endCxn id="874" idx="1"/>
            </p:cNvCxnSpPr>
            <p:nvPr/>
          </p:nvCxnSpPr>
          <p:spPr>
            <a:xfrm rot="10800000" flipH="1">
              <a:off x="2189583" y="3224986"/>
              <a:ext cx="291300" cy="349500"/>
            </a:xfrm>
            <a:prstGeom prst="bentConnector3">
              <a:avLst>
                <a:gd name="adj1" fmla="val 72986"/>
              </a:avLst>
            </a:prstGeom>
            <a:noFill/>
            <a:ln w="19050" cap="flat" cmpd="sng">
              <a:solidFill>
                <a:srgbClr val="FF0000"/>
              </a:solidFill>
              <a:prstDash val="solid"/>
              <a:round/>
              <a:headEnd type="none" w="med" len="med"/>
              <a:tailEnd type="none" w="med" len="med"/>
            </a:ln>
          </p:spPr>
        </p:cxnSp>
      </p:grpSp>
      <p:grpSp>
        <p:nvGrpSpPr>
          <p:cNvPr id="876" name="Google Shape;876;p100"/>
          <p:cNvGrpSpPr/>
          <p:nvPr/>
        </p:nvGrpSpPr>
        <p:grpSpPr>
          <a:xfrm>
            <a:off x="1961500" y="3947625"/>
            <a:ext cx="3035725" cy="807600"/>
            <a:chOff x="2190100" y="3947625"/>
            <a:chExt cx="3035725" cy="807600"/>
          </a:xfrm>
        </p:grpSpPr>
        <p:sp>
          <p:nvSpPr>
            <p:cNvPr id="877" name="Google Shape;877;p100"/>
            <p:cNvSpPr/>
            <p:nvPr/>
          </p:nvSpPr>
          <p:spPr>
            <a:xfrm>
              <a:off x="2480825" y="3947625"/>
              <a:ext cx="2745000" cy="807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100"/>
            <p:cNvCxnSpPr>
              <a:stCxn id="861" idx="3"/>
              <a:endCxn id="877" idx="1"/>
            </p:cNvCxnSpPr>
            <p:nvPr/>
          </p:nvCxnSpPr>
          <p:spPr>
            <a:xfrm rot="10800000" flipH="1">
              <a:off x="2190100" y="4351425"/>
              <a:ext cx="290700" cy="300900"/>
            </a:xfrm>
            <a:prstGeom prst="bentConnector3">
              <a:avLst>
                <a:gd name="adj1" fmla="val 79859"/>
              </a:avLst>
            </a:prstGeom>
            <a:noFill/>
            <a:ln w="19050" cap="flat" cmpd="sng">
              <a:solidFill>
                <a:srgbClr val="FF0000"/>
              </a:solidFill>
              <a:prstDash val="solid"/>
              <a:round/>
              <a:headEnd type="none" w="med" len="med"/>
              <a:tailEnd type="none" w="med" len="med"/>
            </a:ln>
          </p:spPr>
        </p:cxnSp>
      </p:grpSp>
      <p:sp>
        <p:nvSpPr>
          <p:cNvPr id="879" name="Google Shape;879;p100"/>
          <p:cNvSpPr txBox="1"/>
          <p:nvPr/>
        </p:nvSpPr>
        <p:spPr>
          <a:xfrm>
            <a:off x="5269950" y="1423490"/>
            <a:ext cx="35622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highlight>
                  <a:srgbClr val="FFFF00"/>
                </a:highlight>
              </a:rPr>
              <a:t>An abstract class cannot be </a:t>
            </a:r>
            <a:r>
              <a:rPr lang="en" sz="1100" b="1" i="1" dirty="0">
                <a:solidFill>
                  <a:srgbClr val="FF0000"/>
                </a:solidFill>
                <a:highlight>
                  <a:srgbClr val="FFFF00"/>
                </a:highlight>
              </a:rPr>
              <a:t>instantiated </a:t>
            </a:r>
            <a:r>
              <a:rPr lang="en" sz="1100" dirty="0">
                <a:highlight>
                  <a:srgbClr val="FFFF00"/>
                </a:highlight>
              </a:rPr>
              <a:t>using </a:t>
            </a:r>
            <a:r>
              <a:rPr lang="en" sz="1100" dirty="0">
                <a:highlight>
                  <a:srgbClr val="FFFF00"/>
                </a:highlight>
                <a:latin typeface="Courier New"/>
                <a:ea typeface="Courier New"/>
                <a:cs typeface="Courier New"/>
                <a:sym typeface="Courier New"/>
              </a:rPr>
              <a:t>new</a:t>
            </a:r>
            <a:r>
              <a:rPr lang="en" sz="1100" dirty="0">
                <a:highlight>
                  <a:srgbClr val="FFFF00"/>
                </a:highlight>
              </a:rPr>
              <a:t> even if it defines a constructor. Why?</a:t>
            </a:r>
            <a:endParaRPr sz="1100" dirty="0">
              <a:highlight>
                <a:srgbClr val="FFFF00"/>
              </a:highlight>
            </a:endParaRPr>
          </a:p>
        </p:txBody>
      </p:sp>
      <p:pic>
        <p:nvPicPr>
          <p:cNvPr id="880" name="Google Shape;880;p100"/>
          <p:cNvPicPr preferRelativeResize="0"/>
          <p:nvPr/>
        </p:nvPicPr>
        <p:blipFill>
          <a:blip r:embed="rId3">
            <a:alphaModFix/>
          </a:blip>
          <a:stretch>
            <a:fillRect/>
          </a:stretch>
        </p:blipFill>
        <p:spPr>
          <a:xfrm>
            <a:off x="5269950" y="2113116"/>
            <a:ext cx="3562200" cy="1242855"/>
          </a:xfrm>
          <a:prstGeom prst="rect">
            <a:avLst/>
          </a:prstGeom>
          <a:noFill/>
          <a:ln w="19050" cap="flat" cmpd="sng">
            <a:solidFill>
              <a:srgbClr val="000000"/>
            </a:solidFill>
            <a:prstDash val="solid"/>
            <a:round/>
            <a:headEnd type="none" w="sm" len="sm"/>
            <a:tailEnd type="none" w="sm" len="sm"/>
          </a:ln>
        </p:spPr>
      </p:pic>
      <p:grpSp>
        <p:nvGrpSpPr>
          <p:cNvPr id="881" name="Google Shape;881;p100"/>
          <p:cNvGrpSpPr/>
          <p:nvPr/>
        </p:nvGrpSpPr>
        <p:grpSpPr>
          <a:xfrm>
            <a:off x="6813075" y="1940291"/>
            <a:ext cx="1954200" cy="540600"/>
            <a:chOff x="6813075" y="1901525"/>
            <a:chExt cx="1954200" cy="540600"/>
          </a:xfrm>
        </p:grpSpPr>
        <p:sp>
          <p:nvSpPr>
            <p:cNvPr id="882" name="Google Shape;882;p100"/>
            <p:cNvSpPr/>
            <p:nvPr/>
          </p:nvSpPr>
          <p:spPr>
            <a:xfrm>
              <a:off x="6813075" y="2156225"/>
              <a:ext cx="1954200" cy="285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3" name="Google Shape;883;p100"/>
            <p:cNvCxnSpPr>
              <a:stCxn id="882" idx="0"/>
            </p:cNvCxnSpPr>
            <p:nvPr/>
          </p:nvCxnSpPr>
          <p:spPr>
            <a:xfrm rot="10800000">
              <a:off x="7790175" y="1901525"/>
              <a:ext cx="0" cy="254700"/>
            </a:xfrm>
            <a:prstGeom prst="straightConnector1">
              <a:avLst/>
            </a:prstGeom>
            <a:noFill/>
            <a:ln w="19050" cap="flat" cmpd="sng">
              <a:solidFill>
                <a:srgbClr val="FF0000"/>
              </a:solidFill>
              <a:prstDash val="solid"/>
              <a:round/>
              <a:headEnd type="none" w="med" len="med"/>
              <a:tailEnd type="none" w="med" len="med"/>
            </a:ln>
          </p:spPr>
        </p:cxnSp>
      </p:grpSp>
      <p:pic>
        <p:nvPicPr>
          <p:cNvPr id="884" name="Google Shape;884;p100"/>
          <p:cNvPicPr preferRelativeResize="0"/>
          <p:nvPr/>
        </p:nvPicPr>
        <p:blipFill rotWithShape="1">
          <a:blip r:embed="rId4">
            <a:alphaModFix/>
          </a:blip>
          <a:srcRect r="2210"/>
          <a:stretch/>
        </p:blipFill>
        <p:spPr>
          <a:xfrm>
            <a:off x="5340938" y="2620868"/>
            <a:ext cx="3420225" cy="672200"/>
          </a:xfrm>
          <a:prstGeom prst="rect">
            <a:avLst/>
          </a:prstGeom>
          <a:noFill/>
          <a:ln>
            <a:noFill/>
          </a:ln>
        </p:spPr>
      </p:pic>
      <p:sp>
        <p:nvSpPr>
          <p:cNvPr id="885" name="Google Shape;885;p100"/>
          <p:cNvSpPr txBox="1"/>
          <p:nvPr/>
        </p:nvSpPr>
        <p:spPr>
          <a:xfrm>
            <a:off x="5269963" y="3522391"/>
            <a:ext cx="35622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t>If you could instantiate an abstract class, </a:t>
            </a:r>
            <a:r>
              <a:rPr lang="en" sz="1100" dirty="0">
                <a:highlight>
                  <a:srgbClr val="FFFF00"/>
                </a:highlight>
              </a:rPr>
              <a:t>what would happen when you tried to call one of the abstract methods?</a:t>
            </a:r>
            <a:endParaRPr sz="1100" dirty="0">
              <a:highlight>
                <a:srgbClr val="FFFF00"/>
              </a:highlight>
            </a:endParaRPr>
          </a:p>
        </p:txBody>
      </p:sp>
      <p:sp>
        <p:nvSpPr>
          <p:cNvPr id="886" name="Google Shape;886;p100"/>
          <p:cNvSpPr txBox="1"/>
          <p:nvPr/>
        </p:nvSpPr>
        <p:spPr>
          <a:xfrm>
            <a:off x="5269938" y="4344741"/>
            <a:ext cx="35622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highlight>
                  <a:srgbClr val="FFFF00"/>
                </a:highlight>
              </a:rPr>
              <a:t>There is </a:t>
            </a:r>
            <a:r>
              <a:rPr lang="en" sz="1100" b="1" i="1" dirty="0">
                <a:solidFill>
                  <a:srgbClr val="FF0000"/>
                </a:solidFill>
                <a:highlight>
                  <a:srgbClr val="FFFF00"/>
                </a:highlight>
              </a:rPr>
              <a:t>no code</a:t>
            </a:r>
            <a:r>
              <a:rPr lang="en" sz="1100" dirty="0">
                <a:highlight>
                  <a:srgbClr val="FFFF00"/>
                </a:highlight>
              </a:rPr>
              <a:t> in those methods. What would Java execute? How would it know what to </a:t>
            </a:r>
            <a:r>
              <a:rPr lang="en" sz="1100" b="1" i="1" dirty="0">
                <a:solidFill>
                  <a:srgbClr val="FF0000"/>
                </a:solidFill>
                <a:highlight>
                  <a:srgbClr val="FFFF00"/>
                </a:highlight>
              </a:rPr>
              <a:t>return</a:t>
            </a:r>
            <a:r>
              <a:rPr lang="en" sz="1100" dirty="0">
                <a:highlight>
                  <a:srgbClr val="FFFF00"/>
                </a:highlight>
              </a:rPr>
              <a:t>?</a:t>
            </a:r>
            <a:endParaRPr sz="1100" dirty="0">
              <a:highlight>
                <a:srgbClr val="FFFF00"/>
              </a:highlight>
            </a:endParaRPr>
          </a:p>
        </p:txBody>
      </p:sp>
      <p:grpSp>
        <p:nvGrpSpPr>
          <p:cNvPr id="887" name="Google Shape;887;p100"/>
          <p:cNvGrpSpPr/>
          <p:nvPr/>
        </p:nvGrpSpPr>
        <p:grpSpPr>
          <a:xfrm>
            <a:off x="5340950" y="2676816"/>
            <a:ext cx="3426300" cy="845700"/>
            <a:chOff x="5340950" y="2638050"/>
            <a:chExt cx="3426300" cy="845700"/>
          </a:xfrm>
        </p:grpSpPr>
        <p:sp>
          <p:nvSpPr>
            <p:cNvPr id="888" name="Google Shape;888;p100"/>
            <p:cNvSpPr/>
            <p:nvPr/>
          </p:nvSpPr>
          <p:spPr>
            <a:xfrm>
              <a:off x="5340950" y="2638050"/>
              <a:ext cx="3426300" cy="540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9" name="Google Shape;889;p100"/>
            <p:cNvCxnSpPr>
              <a:stCxn id="888" idx="2"/>
              <a:endCxn id="885" idx="0"/>
            </p:cNvCxnSpPr>
            <p:nvPr/>
          </p:nvCxnSpPr>
          <p:spPr>
            <a:xfrm flipH="1">
              <a:off x="7051100" y="3178650"/>
              <a:ext cx="3000" cy="305100"/>
            </a:xfrm>
            <a:prstGeom prst="straightConnector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59"/>
                                        </p:tgtEl>
                                        <p:attrNameLst>
                                          <p:attrName>style.visibility</p:attrName>
                                        </p:attrNameLst>
                                      </p:cBhvr>
                                      <p:to>
                                        <p:strVal val="visible"/>
                                      </p:to>
                                    </p:set>
                                    <p:animEffect transition="in" filter="fade">
                                      <p:cBhvr>
                                        <p:cTn id="7" dur="1000"/>
                                        <p:tgtEl>
                                          <p:spTgt spid="85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64"/>
                                        </p:tgtEl>
                                        <p:attrNameLst>
                                          <p:attrName>style.visibility</p:attrName>
                                        </p:attrNameLst>
                                      </p:cBhvr>
                                      <p:to>
                                        <p:strVal val="visible"/>
                                      </p:to>
                                    </p:set>
                                    <p:animEffect transition="in" filter="fade">
                                      <p:cBhvr>
                                        <p:cTn id="11" dur="1000"/>
                                        <p:tgtEl>
                                          <p:spTgt spid="86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60"/>
                                        </p:tgtEl>
                                        <p:attrNameLst>
                                          <p:attrName>style.visibility</p:attrName>
                                        </p:attrNameLst>
                                      </p:cBhvr>
                                      <p:to>
                                        <p:strVal val="visible"/>
                                      </p:to>
                                    </p:set>
                                    <p:animEffect transition="in" filter="fade">
                                      <p:cBhvr>
                                        <p:cTn id="16" dur="1000"/>
                                        <p:tgtEl>
                                          <p:spTgt spid="86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867"/>
                                        </p:tgtEl>
                                        <p:attrNameLst>
                                          <p:attrName>style.visibility</p:attrName>
                                        </p:attrNameLst>
                                      </p:cBhvr>
                                      <p:to>
                                        <p:strVal val="visible"/>
                                      </p:to>
                                    </p:set>
                                    <p:animEffect transition="in" filter="fade">
                                      <p:cBhvr>
                                        <p:cTn id="20" dur="1000"/>
                                        <p:tgtEl>
                                          <p:spTgt spid="86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62"/>
                                        </p:tgtEl>
                                        <p:attrNameLst>
                                          <p:attrName>style.visibility</p:attrName>
                                        </p:attrNameLst>
                                      </p:cBhvr>
                                      <p:to>
                                        <p:strVal val="visible"/>
                                      </p:to>
                                    </p:set>
                                    <p:animEffect transition="in" filter="fade">
                                      <p:cBhvr>
                                        <p:cTn id="25" dur="1000"/>
                                        <p:tgtEl>
                                          <p:spTgt spid="862"/>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870"/>
                                        </p:tgtEl>
                                        <p:attrNameLst>
                                          <p:attrName>style.visibility</p:attrName>
                                        </p:attrNameLst>
                                      </p:cBhvr>
                                      <p:to>
                                        <p:strVal val="visible"/>
                                      </p:to>
                                    </p:set>
                                    <p:animEffect transition="in" filter="fade">
                                      <p:cBhvr>
                                        <p:cTn id="29" dur="1000"/>
                                        <p:tgtEl>
                                          <p:spTgt spid="87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863"/>
                                        </p:tgtEl>
                                        <p:attrNameLst>
                                          <p:attrName>style.visibility</p:attrName>
                                        </p:attrNameLst>
                                      </p:cBhvr>
                                      <p:to>
                                        <p:strVal val="visible"/>
                                      </p:to>
                                    </p:set>
                                    <p:animEffect transition="in" filter="fade">
                                      <p:cBhvr>
                                        <p:cTn id="34" dur="1000"/>
                                        <p:tgtEl>
                                          <p:spTgt spid="863"/>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873"/>
                                        </p:tgtEl>
                                        <p:attrNameLst>
                                          <p:attrName>style.visibility</p:attrName>
                                        </p:attrNameLst>
                                      </p:cBhvr>
                                      <p:to>
                                        <p:strVal val="visible"/>
                                      </p:to>
                                    </p:set>
                                    <p:animEffect transition="in" filter="fade">
                                      <p:cBhvr>
                                        <p:cTn id="38" dur="1000"/>
                                        <p:tgtEl>
                                          <p:spTgt spid="87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61"/>
                                        </p:tgtEl>
                                        <p:attrNameLst>
                                          <p:attrName>style.visibility</p:attrName>
                                        </p:attrNameLst>
                                      </p:cBhvr>
                                      <p:to>
                                        <p:strVal val="visible"/>
                                      </p:to>
                                    </p:set>
                                    <p:animEffect transition="in" filter="fade">
                                      <p:cBhvr>
                                        <p:cTn id="43" dur="1000"/>
                                        <p:tgtEl>
                                          <p:spTgt spid="861"/>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876"/>
                                        </p:tgtEl>
                                        <p:attrNameLst>
                                          <p:attrName>style.visibility</p:attrName>
                                        </p:attrNameLst>
                                      </p:cBhvr>
                                      <p:to>
                                        <p:strVal val="visible"/>
                                      </p:to>
                                    </p:set>
                                    <p:animEffect transition="in" filter="fade">
                                      <p:cBhvr>
                                        <p:cTn id="47" dur="1000"/>
                                        <p:tgtEl>
                                          <p:spTgt spid="87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79"/>
                                        </p:tgtEl>
                                        <p:attrNameLst>
                                          <p:attrName>style.visibility</p:attrName>
                                        </p:attrNameLst>
                                      </p:cBhvr>
                                      <p:to>
                                        <p:strVal val="visible"/>
                                      </p:to>
                                    </p:set>
                                    <p:animEffect transition="in" filter="fade">
                                      <p:cBhvr>
                                        <p:cTn id="52" dur="1000"/>
                                        <p:tgtEl>
                                          <p:spTgt spid="879"/>
                                        </p:tgtEl>
                                      </p:cBhvr>
                                    </p:animEffect>
                                  </p:childTnLst>
                                </p:cTn>
                              </p:par>
                              <p:par>
                                <p:cTn id="53" presetID="10" presetClass="entr" presetSubtype="0" fill="hold" nodeType="withEffect">
                                  <p:stCondLst>
                                    <p:cond delay="0"/>
                                  </p:stCondLst>
                                  <p:childTnLst>
                                    <p:set>
                                      <p:cBhvr>
                                        <p:cTn id="54" dur="1" fill="hold">
                                          <p:stCondLst>
                                            <p:cond delay="0"/>
                                          </p:stCondLst>
                                        </p:cTn>
                                        <p:tgtEl>
                                          <p:spTgt spid="880"/>
                                        </p:tgtEl>
                                        <p:attrNameLst>
                                          <p:attrName>style.visibility</p:attrName>
                                        </p:attrNameLst>
                                      </p:cBhvr>
                                      <p:to>
                                        <p:strVal val="visible"/>
                                      </p:to>
                                    </p:set>
                                    <p:animEffect transition="in" filter="fade">
                                      <p:cBhvr>
                                        <p:cTn id="55" dur="1000"/>
                                        <p:tgtEl>
                                          <p:spTgt spid="880"/>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881"/>
                                        </p:tgtEl>
                                        <p:attrNameLst>
                                          <p:attrName>style.visibility</p:attrName>
                                        </p:attrNameLst>
                                      </p:cBhvr>
                                      <p:to>
                                        <p:strVal val="visible"/>
                                      </p:to>
                                    </p:set>
                                    <p:animEffect transition="in" filter="fade">
                                      <p:cBhvr>
                                        <p:cTn id="59" dur="1000"/>
                                        <p:tgtEl>
                                          <p:spTgt spid="88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885"/>
                                        </p:tgtEl>
                                        <p:attrNameLst>
                                          <p:attrName>style.visibility</p:attrName>
                                        </p:attrNameLst>
                                      </p:cBhvr>
                                      <p:to>
                                        <p:strVal val="visible"/>
                                      </p:to>
                                    </p:set>
                                    <p:animEffect transition="in" filter="fade">
                                      <p:cBhvr>
                                        <p:cTn id="64" dur="1000"/>
                                        <p:tgtEl>
                                          <p:spTgt spid="885"/>
                                        </p:tgtEl>
                                      </p:cBhvr>
                                    </p:animEffect>
                                  </p:childTnLst>
                                </p:cTn>
                              </p:par>
                              <p:par>
                                <p:cTn id="65" presetID="10" presetClass="entr" presetSubtype="0" fill="hold" nodeType="withEffect">
                                  <p:stCondLst>
                                    <p:cond delay="0"/>
                                  </p:stCondLst>
                                  <p:childTnLst>
                                    <p:set>
                                      <p:cBhvr>
                                        <p:cTn id="66" dur="1" fill="hold">
                                          <p:stCondLst>
                                            <p:cond delay="0"/>
                                          </p:stCondLst>
                                        </p:cTn>
                                        <p:tgtEl>
                                          <p:spTgt spid="884"/>
                                        </p:tgtEl>
                                        <p:attrNameLst>
                                          <p:attrName>style.visibility</p:attrName>
                                        </p:attrNameLst>
                                      </p:cBhvr>
                                      <p:to>
                                        <p:strVal val="visible"/>
                                      </p:to>
                                    </p:set>
                                    <p:animEffect transition="in" filter="fade">
                                      <p:cBhvr>
                                        <p:cTn id="67" dur="1000"/>
                                        <p:tgtEl>
                                          <p:spTgt spid="884"/>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887"/>
                                        </p:tgtEl>
                                        <p:attrNameLst>
                                          <p:attrName>style.visibility</p:attrName>
                                        </p:attrNameLst>
                                      </p:cBhvr>
                                      <p:to>
                                        <p:strVal val="visible"/>
                                      </p:to>
                                    </p:set>
                                    <p:animEffect transition="in" filter="fade">
                                      <p:cBhvr>
                                        <p:cTn id="71" dur="1000"/>
                                        <p:tgtEl>
                                          <p:spTgt spid="887"/>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886"/>
                                        </p:tgtEl>
                                        <p:attrNameLst>
                                          <p:attrName>style.visibility</p:attrName>
                                        </p:attrNameLst>
                                      </p:cBhvr>
                                      <p:to>
                                        <p:strVal val="visible"/>
                                      </p:to>
                                    </p:set>
                                    <p:animEffect transition="in" filter="fade">
                                      <p:cBhvr>
                                        <p:cTn id="76" dur="1000"/>
                                        <p:tgtEl>
                                          <p:spTgt spid="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101"/>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Subclassing an Abstract Class</a:t>
            </a:r>
            <a:endParaRPr/>
          </a:p>
        </p:txBody>
      </p:sp>
      <p:sp>
        <p:nvSpPr>
          <p:cNvPr id="895" name="Google Shape;895;p10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39</a:t>
            </a:fld>
            <a:endParaRPr/>
          </a:p>
        </p:txBody>
      </p:sp>
      <p:sp>
        <p:nvSpPr>
          <p:cNvPr id="896" name="Google Shape;896;p101"/>
          <p:cNvSpPr txBox="1"/>
          <p:nvPr/>
        </p:nvSpPr>
        <p:spPr>
          <a:xfrm>
            <a:off x="2077338" y="1419975"/>
            <a:ext cx="2987400" cy="3232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Fahrenheit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                      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Fahrenheit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32</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212</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A31515"/>
                </a:solidFill>
                <a:latin typeface="Consolas"/>
                <a:ea typeface="Consolas"/>
                <a:cs typeface="Consolas"/>
                <a:sym typeface="Consolas"/>
              </a:rPr>
              <a:t>'F'</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solidFill>
                <a:srgbClr val="0000FF"/>
              </a:solidFill>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102"/>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Subclassing an Abstract Class</a:t>
            </a:r>
            <a:endParaRPr/>
          </a:p>
        </p:txBody>
      </p:sp>
      <p:sp>
        <p:nvSpPr>
          <p:cNvPr id="902" name="Google Shape;902;p10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40</a:t>
            </a:fld>
            <a:endParaRPr/>
          </a:p>
        </p:txBody>
      </p:sp>
      <p:sp>
        <p:nvSpPr>
          <p:cNvPr id="903" name="Google Shape;903;p102"/>
          <p:cNvSpPr txBox="1"/>
          <p:nvPr/>
        </p:nvSpPr>
        <p:spPr>
          <a:xfrm>
            <a:off x="104800" y="808825"/>
            <a:ext cx="32418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highlight>
                  <a:srgbClr val="FFFF00"/>
                </a:highlight>
              </a:rPr>
              <a:t>A </a:t>
            </a:r>
            <a:r>
              <a:rPr lang="en" sz="1100" b="1" i="1" dirty="0">
                <a:solidFill>
                  <a:srgbClr val="FF0000"/>
                </a:solidFill>
                <a:highlight>
                  <a:srgbClr val="FFFF00"/>
                </a:highlight>
              </a:rPr>
              <a:t>child class</a:t>
            </a:r>
            <a:r>
              <a:rPr lang="en" sz="1100" dirty="0">
                <a:highlight>
                  <a:srgbClr val="FFFF00"/>
                </a:highlight>
              </a:rPr>
              <a:t> may subclass an abstract class using the </a:t>
            </a:r>
            <a:r>
              <a:rPr lang="en" sz="1100" dirty="0">
                <a:highlight>
                  <a:srgbClr val="FFFF00"/>
                </a:highlight>
                <a:latin typeface="Courier New"/>
                <a:ea typeface="Courier New"/>
                <a:cs typeface="Courier New"/>
                <a:sym typeface="Courier New"/>
              </a:rPr>
              <a:t>extends</a:t>
            </a:r>
            <a:r>
              <a:rPr lang="en" sz="1100" dirty="0">
                <a:highlight>
                  <a:srgbClr val="FFFF00"/>
                </a:highlight>
              </a:rPr>
              <a:t> keyword.</a:t>
            </a:r>
            <a:endParaRPr sz="1100" dirty="0">
              <a:highlight>
                <a:srgbClr val="FFFF00"/>
              </a:highlight>
            </a:endParaRPr>
          </a:p>
        </p:txBody>
      </p:sp>
      <p:sp>
        <p:nvSpPr>
          <p:cNvPr id="904" name="Google Shape;904;p102"/>
          <p:cNvSpPr txBox="1"/>
          <p:nvPr/>
        </p:nvSpPr>
        <p:spPr>
          <a:xfrm>
            <a:off x="2077338" y="1419975"/>
            <a:ext cx="2987400" cy="3232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Fahrenheit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                      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Fahrenheit</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32</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212</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A31515"/>
                </a:solidFill>
                <a:latin typeface="Consolas"/>
                <a:ea typeface="Consolas"/>
                <a:cs typeface="Consolas"/>
                <a:sym typeface="Consolas"/>
              </a:rPr>
              <a:t>'F'</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solidFill>
                <a:srgbClr val="0000FF"/>
              </a:solidFill>
              <a:latin typeface="Consolas"/>
              <a:ea typeface="Consolas"/>
              <a:cs typeface="Consolas"/>
              <a:sym typeface="Consolas"/>
            </a:endParaRPr>
          </a:p>
        </p:txBody>
      </p:sp>
      <p:sp>
        <p:nvSpPr>
          <p:cNvPr id="905" name="Google Shape;905;p102"/>
          <p:cNvSpPr txBox="1"/>
          <p:nvPr/>
        </p:nvSpPr>
        <p:spPr>
          <a:xfrm>
            <a:off x="104800" y="1419975"/>
            <a:ext cx="18567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If the parent class defines any constructors, one of them must be called using </a:t>
            </a:r>
            <a:r>
              <a:rPr lang="en" sz="1100">
                <a:latin typeface="Courier New"/>
                <a:ea typeface="Courier New"/>
                <a:cs typeface="Courier New"/>
                <a:sym typeface="Courier New"/>
              </a:rPr>
              <a:t>super</a:t>
            </a:r>
            <a:r>
              <a:rPr lang="en" sz="1100"/>
              <a:t>.</a:t>
            </a:r>
            <a:endParaRPr sz="1100"/>
          </a:p>
        </p:txBody>
      </p:sp>
      <p:grpSp>
        <p:nvGrpSpPr>
          <p:cNvPr id="906" name="Google Shape;906;p102"/>
          <p:cNvGrpSpPr/>
          <p:nvPr/>
        </p:nvGrpSpPr>
        <p:grpSpPr>
          <a:xfrm>
            <a:off x="3346650" y="1070575"/>
            <a:ext cx="1579800" cy="771300"/>
            <a:chOff x="3346650" y="1070575"/>
            <a:chExt cx="1579800" cy="771300"/>
          </a:xfrm>
        </p:grpSpPr>
        <p:sp>
          <p:nvSpPr>
            <p:cNvPr id="907" name="Google Shape;907;p102"/>
            <p:cNvSpPr/>
            <p:nvPr/>
          </p:nvSpPr>
          <p:spPr>
            <a:xfrm>
              <a:off x="3518850" y="1624675"/>
              <a:ext cx="1407600" cy="21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08" name="Google Shape;908;p102"/>
            <p:cNvCxnSpPr>
              <a:stCxn id="907" idx="0"/>
              <a:endCxn id="903" idx="3"/>
            </p:cNvCxnSpPr>
            <p:nvPr/>
          </p:nvCxnSpPr>
          <p:spPr>
            <a:xfrm rot="5400000" flipH="1">
              <a:off x="3507600" y="909625"/>
              <a:ext cx="554100" cy="876000"/>
            </a:xfrm>
            <a:prstGeom prst="bentConnector2">
              <a:avLst/>
            </a:prstGeom>
            <a:noFill/>
            <a:ln w="19050" cap="flat" cmpd="sng">
              <a:solidFill>
                <a:srgbClr val="FF0000"/>
              </a:solidFill>
              <a:prstDash val="solid"/>
              <a:round/>
              <a:headEnd type="none" w="med" len="med"/>
              <a:tailEnd type="none" w="med" len="med"/>
            </a:ln>
          </p:spPr>
        </p:cxnSp>
      </p:grpSp>
      <p:grpSp>
        <p:nvGrpSpPr>
          <p:cNvPr id="909" name="Google Shape;909;p102"/>
          <p:cNvGrpSpPr/>
          <p:nvPr/>
        </p:nvGrpSpPr>
        <p:grpSpPr>
          <a:xfrm>
            <a:off x="1969064" y="1911839"/>
            <a:ext cx="2934900" cy="476400"/>
            <a:chOff x="1969064" y="1911839"/>
            <a:chExt cx="2934900" cy="476400"/>
          </a:xfrm>
        </p:grpSpPr>
        <p:sp>
          <p:nvSpPr>
            <p:cNvPr id="910" name="Google Shape;910;p102"/>
            <p:cNvSpPr/>
            <p:nvPr/>
          </p:nvSpPr>
          <p:spPr>
            <a:xfrm>
              <a:off x="2630564" y="1911839"/>
              <a:ext cx="2273400" cy="476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1" name="Google Shape;911;p102"/>
            <p:cNvCxnSpPr>
              <a:stCxn id="910" idx="1"/>
            </p:cNvCxnSpPr>
            <p:nvPr/>
          </p:nvCxnSpPr>
          <p:spPr>
            <a:xfrm rot="10800000">
              <a:off x="1969064" y="2150039"/>
              <a:ext cx="661500" cy="0"/>
            </a:xfrm>
            <a:prstGeom prst="straightConnector1">
              <a:avLst/>
            </a:prstGeom>
            <a:noFill/>
            <a:ln w="19050" cap="flat" cmpd="sng">
              <a:solidFill>
                <a:srgbClr val="FF0000"/>
              </a:solidFill>
              <a:prstDash val="solid"/>
              <a:round/>
              <a:headEnd type="none" w="med" len="med"/>
              <a:tailEnd type="none" w="med" len="med"/>
            </a:ln>
          </p:spPr>
        </p:cxnSp>
      </p:grpSp>
      <p:sp>
        <p:nvSpPr>
          <p:cNvPr id="912" name="Google Shape;912;p102"/>
          <p:cNvSpPr txBox="1"/>
          <p:nvPr/>
        </p:nvSpPr>
        <p:spPr>
          <a:xfrm>
            <a:off x="104800" y="2435775"/>
            <a:ext cx="1856700" cy="1031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highlight>
                  <a:srgbClr val="FFFF00"/>
                </a:highlight>
              </a:rPr>
              <a:t>The child class </a:t>
            </a:r>
            <a:r>
              <a:rPr lang="en" sz="1100" b="1" i="1" dirty="0">
                <a:solidFill>
                  <a:srgbClr val="FF0000"/>
                </a:solidFill>
                <a:highlight>
                  <a:srgbClr val="FFFF00"/>
                </a:highlight>
              </a:rPr>
              <a:t>must</a:t>
            </a:r>
            <a:r>
              <a:rPr lang="en" sz="1100" dirty="0">
                <a:solidFill>
                  <a:srgbClr val="FF0000"/>
                </a:solidFill>
                <a:highlight>
                  <a:srgbClr val="FFFF00"/>
                </a:highlight>
              </a:rPr>
              <a:t> </a:t>
            </a:r>
            <a:r>
              <a:rPr lang="en" sz="1100" dirty="0">
                <a:highlight>
                  <a:srgbClr val="FFFF00"/>
                </a:highlight>
              </a:rPr>
              <a:t>provide an implementation of each of the abstract methods defined by its parent class.</a:t>
            </a:r>
            <a:endParaRPr sz="1100" dirty="0">
              <a:highlight>
                <a:srgbClr val="FFFF00"/>
              </a:highlight>
            </a:endParaRPr>
          </a:p>
        </p:txBody>
      </p:sp>
      <p:grpSp>
        <p:nvGrpSpPr>
          <p:cNvPr id="913" name="Google Shape;913;p102"/>
          <p:cNvGrpSpPr/>
          <p:nvPr/>
        </p:nvGrpSpPr>
        <p:grpSpPr>
          <a:xfrm>
            <a:off x="1961575" y="2458258"/>
            <a:ext cx="2942400" cy="1966500"/>
            <a:chOff x="1961575" y="2458258"/>
            <a:chExt cx="2942400" cy="1966500"/>
          </a:xfrm>
        </p:grpSpPr>
        <p:sp>
          <p:nvSpPr>
            <p:cNvPr id="914" name="Google Shape;914;p102"/>
            <p:cNvSpPr/>
            <p:nvPr/>
          </p:nvSpPr>
          <p:spPr>
            <a:xfrm>
              <a:off x="2630575" y="2458258"/>
              <a:ext cx="2273400" cy="1966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5" name="Google Shape;915;p102"/>
            <p:cNvCxnSpPr>
              <a:endCxn id="914" idx="1"/>
            </p:cNvCxnSpPr>
            <p:nvPr/>
          </p:nvCxnSpPr>
          <p:spPr>
            <a:xfrm>
              <a:off x="1961575" y="2903908"/>
              <a:ext cx="669000" cy="537600"/>
            </a:xfrm>
            <a:prstGeom prst="bentConnector3">
              <a:avLst>
                <a:gd name="adj1" fmla="val 50000"/>
              </a:avLst>
            </a:prstGeom>
            <a:noFill/>
            <a:ln w="19050" cap="flat" cmpd="sng">
              <a:solidFill>
                <a:srgbClr val="FF0000"/>
              </a:solidFill>
              <a:prstDash val="solid"/>
              <a:round/>
              <a:headEnd type="none" w="med" len="med"/>
              <a:tailEnd type="none" w="med" len="med"/>
            </a:ln>
          </p:spPr>
        </p:cxnSp>
      </p:grpSp>
      <p:sp>
        <p:nvSpPr>
          <p:cNvPr id="916" name="Google Shape;916;p102"/>
          <p:cNvSpPr txBox="1"/>
          <p:nvPr/>
        </p:nvSpPr>
        <p:spPr>
          <a:xfrm>
            <a:off x="104800" y="3621075"/>
            <a:ext cx="1856700" cy="1031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highlight>
                  <a:srgbClr val="FFFF00"/>
                </a:highlight>
              </a:rPr>
              <a:t>If the child class does not implement one or more of the abstract methods, it must also be declared </a:t>
            </a:r>
            <a:r>
              <a:rPr lang="en" sz="1100" dirty="0">
                <a:highlight>
                  <a:srgbClr val="FFFF00"/>
                </a:highlight>
                <a:latin typeface="Courier New"/>
                <a:ea typeface="Courier New"/>
                <a:cs typeface="Courier New"/>
                <a:sym typeface="Courier New"/>
              </a:rPr>
              <a:t>abstract</a:t>
            </a:r>
            <a:r>
              <a:rPr lang="en" sz="1100" dirty="0">
                <a:highlight>
                  <a:srgbClr val="FFFF00"/>
                </a:highlight>
              </a:rPr>
              <a:t>.</a:t>
            </a:r>
            <a:endParaRPr sz="1100" dirty="0">
              <a:highlight>
                <a:srgbClr val="FFFF00"/>
              </a:highlight>
            </a:endParaRPr>
          </a:p>
        </p:txBody>
      </p:sp>
      <p:sp>
        <p:nvSpPr>
          <p:cNvPr id="917" name="Google Shape;917;p102"/>
          <p:cNvSpPr txBox="1"/>
          <p:nvPr/>
        </p:nvSpPr>
        <p:spPr>
          <a:xfrm>
            <a:off x="5180588" y="1558575"/>
            <a:ext cx="2987400" cy="3093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Celsius</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extends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Thermometer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Celsius</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super</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degrees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getFreezingPoint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0</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getBoilingPoint</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100</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char</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getScale</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A31515"/>
                </a:solidFill>
                <a:latin typeface="Consolas"/>
                <a:ea typeface="Consolas"/>
                <a:cs typeface="Consolas"/>
                <a:sym typeface="Consolas"/>
              </a:rPr>
              <a:t>'C'</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solidFill>
                <a:srgbClr val="0000FF"/>
              </a:solidFill>
              <a:latin typeface="Consolas"/>
              <a:ea typeface="Consolas"/>
              <a:cs typeface="Consolas"/>
              <a:sym typeface="Consolas"/>
            </a:endParaRPr>
          </a:p>
        </p:txBody>
      </p:sp>
      <p:sp>
        <p:nvSpPr>
          <p:cNvPr id="918" name="Google Shape;918;p102"/>
          <p:cNvSpPr txBox="1"/>
          <p:nvPr/>
        </p:nvSpPr>
        <p:spPr>
          <a:xfrm>
            <a:off x="5779350" y="808825"/>
            <a:ext cx="32418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highlight>
                  <a:srgbClr val="FFFF00"/>
                </a:highlight>
              </a:rPr>
              <a:t>Abstract methods are used when there is no common implementation. Other child classes will implement the methods differently.</a:t>
            </a:r>
            <a:endParaRPr sz="1100" dirty="0">
              <a:highlight>
                <a:srgbClr val="FFFF00"/>
              </a:highlight>
            </a:endParaRPr>
          </a:p>
        </p:txBody>
      </p:sp>
      <p:grpSp>
        <p:nvGrpSpPr>
          <p:cNvPr id="919" name="Google Shape;919;p102"/>
          <p:cNvGrpSpPr/>
          <p:nvPr/>
        </p:nvGrpSpPr>
        <p:grpSpPr>
          <a:xfrm>
            <a:off x="5470775" y="1497375"/>
            <a:ext cx="3041825" cy="2927383"/>
            <a:chOff x="5470775" y="1497375"/>
            <a:chExt cx="3041825" cy="2927383"/>
          </a:xfrm>
        </p:grpSpPr>
        <p:sp>
          <p:nvSpPr>
            <p:cNvPr id="920" name="Google Shape;920;p102"/>
            <p:cNvSpPr/>
            <p:nvPr/>
          </p:nvSpPr>
          <p:spPr>
            <a:xfrm>
              <a:off x="5470775" y="2458258"/>
              <a:ext cx="2273400" cy="1966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02"/>
            <p:cNvSpPr/>
            <p:nvPr/>
          </p:nvSpPr>
          <p:spPr>
            <a:xfrm>
              <a:off x="7741450" y="1497375"/>
              <a:ext cx="771150" cy="1969050"/>
            </a:xfrm>
            <a:custGeom>
              <a:avLst/>
              <a:gdLst/>
              <a:ahLst/>
              <a:cxnLst/>
              <a:rect l="l" t="t" r="r" b="b"/>
              <a:pathLst>
                <a:path w="30846" h="78762" extrusionOk="0">
                  <a:moveTo>
                    <a:pt x="0" y="78762"/>
                  </a:moveTo>
                  <a:lnTo>
                    <a:pt x="30846" y="78762"/>
                  </a:lnTo>
                  <a:lnTo>
                    <a:pt x="30846" y="0"/>
                  </a:lnTo>
                </a:path>
              </a:pathLst>
            </a:custGeom>
            <a:noFill/>
            <a:ln w="19050" cap="flat" cmpd="sng">
              <a:solidFill>
                <a:srgbClr val="FF0000"/>
              </a:solidFill>
              <a:prstDash val="solid"/>
              <a:round/>
              <a:headEnd type="none" w="med" len="med"/>
              <a:tailEnd type="non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03"/>
                                        </p:tgtEl>
                                        <p:attrNameLst>
                                          <p:attrName>style.visibility</p:attrName>
                                        </p:attrNameLst>
                                      </p:cBhvr>
                                      <p:to>
                                        <p:strVal val="visible"/>
                                      </p:to>
                                    </p:set>
                                    <p:animEffect transition="in" filter="fade">
                                      <p:cBhvr>
                                        <p:cTn id="7" dur="1000"/>
                                        <p:tgtEl>
                                          <p:spTgt spid="90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906"/>
                                        </p:tgtEl>
                                        <p:attrNameLst>
                                          <p:attrName>style.visibility</p:attrName>
                                        </p:attrNameLst>
                                      </p:cBhvr>
                                      <p:to>
                                        <p:strVal val="visible"/>
                                      </p:to>
                                    </p:set>
                                    <p:animEffect transition="in" filter="fade">
                                      <p:cBhvr>
                                        <p:cTn id="11" dur="1000"/>
                                        <p:tgtEl>
                                          <p:spTgt spid="90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05"/>
                                        </p:tgtEl>
                                        <p:attrNameLst>
                                          <p:attrName>style.visibility</p:attrName>
                                        </p:attrNameLst>
                                      </p:cBhvr>
                                      <p:to>
                                        <p:strVal val="visible"/>
                                      </p:to>
                                    </p:set>
                                    <p:animEffect transition="in" filter="fade">
                                      <p:cBhvr>
                                        <p:cTn id="16" dur="1000"/>
                                        <p:tgtEl>
                                          <p:spTgt spid="905"/>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909"/>
                                        </p:tgtEl>
                                        <p:attrNameLst>
                                          <p:attrName>style.visibility</p:attrName>
                                        </p:attrNameLst>
                                      </p:cBhvr>
                                      <p:to>
                                        <p:strVal val="visible"/>
                                      </p:to>
                                    </p:set>
                                    <p:animEffect transition="in" filter="fade">
                                      <p:cBhvr>
                                        <p:cTn id="20" dur="1000"/>
                                        <p:tgtEl>
                                          <p:spTgt spid="90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12"/>
                                        </p:tgtEl>
                                        <p:attrNameLst>
                                          <p:attrName>style.visibility</p:attrName>
                                        </p:attrNameLst>
                                      </p:cBhvr>
                                      <p:to>
                                        <p:strVal val="visible"/>
                                      </p:to>
                                    </p:set>
                                    <p:animEffect transition="in" filter="fade">
                                      <p:cBhvr>
                                        <p:cTn id="25" dur="1000"/>
                                        <p:tgtEl>
                                          <p:spTgt spid="912"/>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913"/>
                                        </p:tgtEl>
                                        <p:attrNameLst>
                                          <p:attrName>style.visibility</p:attrName>
                                        </p:attrNameLst>
                                      </p:cBhvr>
                                      <p:to>
                                        <p:strVal val="visible"/>
                                      </p:to>
                                    </p:set>
                                    <p:animEffect transition="in" filter="fade">
                                      <p:cBhvr>
                                        <p:cTn id="29" dur="1000"/>
                                        <p:tgtEl>
                                          <p:spTgt spid="91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916"/>
                                        </p:tgtEl>
                                        <p:attrNameLst>
                                          <p:attrName>style.visibility</p:attrName>
                                        </p:attrNameLst>
                                      </p:cBhvr>
                                      <p:to>
                                        <p:strVal val="visible"/>
                                      </p:to>
                                    </p:set>
                                    <p:animEffect transition="in" filter="fade">
                                      <p:cBhvr>
                                        <p:cTn id="34" dur="1000"/>
                                        <p:tgtEl>
                                          <p:spTgt spid="91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18"/>
                                        </p:tgtEl>
                                        <p:attrNameLst>
                                          <p:attrName>style.visibility</p:attrName>
                                        </p:attrNameLst>
                                      </p:cBhvr>
                                      <p:to>
                                        <p:strVal val="visible"/>
                                      </p:to>
                                    </p:set>
                                    <p:animEffect transition="in" filter="fade">
                                      <p:cBhvr>
                                        <p:cTn id="39" dur="1000"/>
                                        <p:tgtEl>
                                          <p:spTgt spid="918"/>
                                        </p:tgtEl>
                                      </p:cBhvr>
                                    </p:animEffect>
                                  </p:childTnLst>
                                </p:cTn>
                              </p:par>
                              <p:par>
                                <p:cTn id="40" presetID="10" presetClass="entr" presetSubtype="0" fill="hold" nodeType="withEffect">
                                  <p:stCondLst>
                                    <p:cond delay="0"/>
                                  </p:stCondLst>
                                  <p:childTnLst>
                                    <p:set>
                                      <p:cBhvr>
                                        <p:cTn id="41" dur="1" fill="hold">
                                          <p:stCondLst>
                                            <p:cond delay="0"/>
                                          </p:stCondLst>
                                        </p:cTn>
                                        <p:tgtEl>
                                          <p:spTgt spid="917"/>
                                        </p:tgtEl>
                                        <p:attrNameLst>
                                          <p:attrName>style.visibility</p:attrName>
                                        </p:attrNameLst>
                                      </p:cBhvr>
                                      <p:to>
                                        <p:strVal val="visible"/>
                                      </p:to>
                                    </p:set>
                                    <p:animEffect transition="in" filter="fade">
                                      <p:cBhvr>
                                        <p:cTn id="42" dur="1000"/>
                                        <p:tgtEl>
                                          <p:spTgt spid="917"/>
                                        </p:tgtEl>
                                      </p:cBhvr>
                                    </p:animEffec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919"/>
                                        </p:tgtEl>
                                        <p:attrNameLst>
                                          <p:attrName>style.visibility</p:attrName>
                                        </p:attrNameLst>
                                      </p:cBhvr>
                                      <p:to>
                                        <p:strVal val="visible"/>
                                      </p:to>
                                    </p:set>
                                    <p:animEffect transition="in" filter="fade">
                                      <p:cBhvr>
                                        <p:cTn id="46" dur="1000"/>
                                        <p:tgtEl>
                                          <p:spTgt spid="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p103"/>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Abstract classes allow us to </a:t>
            </a:r>
            <a:r>
              <a:rPr lang="en" b="1" i="1"/>
              <a:t>define</a:t>
            </a:r>
            <a:r>
              <a:rPr lang="en"/>
              <a:t> behavior without </a:t>
            </a:r>
            <a:r>
              <a:rPr lang="en" b="1" i="1"/>
              <a:t>implementing</a:t>
            </a:r>
            <a:r>
              <a:rPr lang="en"/>
              <a:t> it. This seems like a perfect fit for some of the methods in the </a:t>
            </a:r>
            <a:r>
              <a:rPr lang="en">
                <a:latin typeface="Courier New"/>
                <a:ea typeface="Courier New"/>
                <a:cs typeface="Courier New"/>
                <a:sym typeface="Courier New"/>
              </a:rPr>
              <a:t>Goat</a:t>
            </a:r>
            <a:r>
              <a:rPr lang="en"/>
              <a:t> class. Modify the </a:t>
            </a:r>
            <a:r>
              <a:rPr lang="en">
                <a:latin typeface="Courier New"/>
                <a:ea typeface="Courier New"/>
                <a:cs typeface="Courier New"/>
                <a:sym typeface="Courier New"/>
              </a:rPr>
              <a:t>Goat</a:t>
            </a:r>
            <a:r>
              <a:rPr lang="en"/>
              <a:t> class so that it is </a:t>
            </a:r>
            <a:r>
              <a:rPr lang="en">
                <a:latin typeface="Courier New"/>
                <a:ea typeface="Courier New"/>
                <a:cs typeface="Courier New"/>
                <a:sym typeface="Courier New"/>
              </a:rPr>
              <a:t>abstract</a:t>
            </a:r>
            <a:r>
              <a:rPr lang="en"/>
              <a:t> and convert any methods that do not have useful implementations into </a:t>
            </a:r>
            <a:r>
              <a:rPr lang="en">
                <a:latin typeface="Courier New"/>
                <a:ea typeface="Courier New"/>
                <a:cs typeface="Courier New"/>
                <a:sym typeface="Courier New"/>
              </a:rPr>
              <a:t>abstract</a:t>
            </a:r>
            <a:r>
              <a:rPr lang="en"/>
              <a:t> methods.</a:t>
            </a:r>
            <a:endParaRPr/>
          </a:p>
        </p:txBody>
      </p:sp>
      <p:sp>
        <p:nvSpPr>
          <p:cNvPr id="927" name="Google Shape;927;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928" name="Google Shape;928;p103"/>
          <p:cNvSpPr txBox="1">
            <a:spLocks noGrp="1"/>
          </p:cNvSpPr>
          <p:nvPr>
            <p:ph type="body" idx="2"/>
          </p:nvPr>
        </p:nvSpPr>
        <p:spPr>
          <a:xfrm>
            <a:off x="3908150" y="1677046"/>
            <a:ext cx="5033100" cy="2736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Open the </a:t>
            </a:r>
            <a:r>
              <a:rPr lang="en" sz="1400" dirty="0">
                <a:solidFill>
                  <a:srgbClr val="FF0000"/>
                </a:solidFill>
                <a:latin typeface="Courier New"/>
                <a:ea typeface="Courier New"/>
                <a:cs typeface="Courier New"/>
                <a:sym typeface="Courier New"/>
              </a:rPr>
              <a:t>Goat</a:t>
            </a:r>
            <a:r>
              <a:rPr lang="en" sz="1400" dirty="0">
                <a:solidFill>
                  <a:srgbClr val="FF0000"/>
                </a:solidFill>
              </a:rPr>
              <a:t> </a:t>
            </a:r>
            <a:r>
              <a:rPr lang="en" sz="1400" dirty="0"/>
              <a:t>class and convert it to an </a:t>
            </a:r>
            <a:r>
              <a:rPr lang="en" sz="1400" b="1" i="1" dirty="0">
                <a:solidFill>
                  <a:srgbClr val="FF0000"/>
                </a:solidFill>
              </a:rPr>
              <a:t>abstract class</a:t>
            </a:r>
            <a:r>
              <a:rPr lang="en" sz="1400" dirty="0"/>
              <a:t>.</a:t>
            </a:r>
            <a:endParaRPr sz="1400" dirty="0"/>
          </a:p>
          <a:p>
            <a:pPr marL="914400" lvl="1" indent="-304800" algn="l" rtl="0">
              <a:spcBef>
                <a:spcPts val="0"/>
              </a:spcBef>
              <a:spcAft>
                <a:spcPts val="0"/>
              </a:spcAft>
              <a:buSzPts val="1200"/>
              <a:buChar char="○"/>
            </a:pPr>
            <a:r>
              <a:rPr lang="en" sz="1200" dirty="0"/>
              <a:t>Add the </a:t>
            </a:r>
            <a:r>
              <a:rPr lang="en" sz="1200" dirty="0">
                <a:solidFill>
                  <a:srgbClr val="FF0000"/>
                </a:solidFill>
                <a:latin typeface="Courier New"/>
                <a:ea typeface="Courier New"/>
                <a:cs typeface="Courier New"/>
                <a:sym typeface="Courier New"/>
              </a:rPr>
              <a:t>abstract</a:t>
            </a:r>
            <a:r>
              <a:rPr lang="en" sz="1200" dirty="0">
                <a:solidFill>
                  <a:srgbClr val="FF0000"/>
                </a:solidFill>
              </a:rPr>
              <a:t> modifier</a:t>
            </a:r>
            <a:r>
              <a:rPr lang="en" sz="1200" dirty="0"/>
              <a:t> to the class declaration.</a:t>
            </a:r>
            <a:endParaRPr sz="1200" dirty="0"/>
          </a:p>
          <a:p>
            <a:pPr marL="457200" lvl="0" indent="-317500" algn="l" rtl="0">
              <a:spcBef>
                <a:spcPts val="0"/>
              </a:spcBef>
              <a:spcAft>
                <a:spcPts val="0"/>
              </a:spcAft>
              <a:buSzPts val="1400"/>
              <a:buChar char="●"/>
            </a:pPr>
            <a:r>
              <a:rPr lang="en" sz="1400" dirty="0"/>
              <a:t>Search through each method in the class and, if the method is not useful as implemented, convert it to an </a:t>
            </a:r>
            <a:r>
              <a:rPr lang="en" sz="1400" b="1" i="1" dirty="0">
                <a:solidFill>
                  <a:srgbClr val="FF0000"/>
                </a:solidFill>
              </a:rPr>
              <a:t>abstract method</a:t>
            </a:r>
            <a:r>
              <a:rPr lang="en" sz="1400" dirty="0"/>
              <a:t>.</a:t>
            </a:r>
            <a:endParaRPr sz="1400" dirty="0"/>
          </a:p>
          <a:p>
            <a:pPr marL="914400" lvl="1" indent="-304800" algn="l" rtl="0">
              <a:spcBef>
                <a:spcPts val="0"/>
              </a:spcBef>
              <a:spcAft>
                <a:spcPts val="0"/>
              </a:spcAft>
              <a:buSzPts val="1200"/>
              <a:buChar char="○"/>
            </a:pPr>
            <a:r>
              <a:rPr lang="en" sz="1200" dirty="0"/>
              <a:t>Add the </a:t>
            </a:r>
            <a:r>
              <a:rPr lang="en" sz="1200" dirty="0">
                <a:solidFill>
                  <a:srgbClr val="FF0000"/>
                </a:solidFill>
                <a:latin typeface="Courier New"/>
                <a:ea typeface="Courier New"/>
                <a:cs typeface="Courier New"/>
                <a:sym typeface="Courier New"/>
              </a:rPr>
              <a:t>abstract</a:t>
            </a:r>
            <a:r>
              <a:rPr lang="en" sz="1200" dirty="0">
                <a:solidFill>
                  <a:srgbClr val="FF0000"/>
                </a:solidFill>
              </a:rPr>
              <a:t> modifier</a:t>
            </a:r>
            <a:r>
              <a:rPr lang="en" sz="1200" dirty="0"/>
              <a:t> to the method declaration.</a:t>
            </a:r>
            <a:endParaRPr sz="1200" dirty="0"/>
          </a:p>
          <a:p>
            <a:pPr marL="914400" lvl="1" indent="-304800" algn="l" rtl="0">
              <a:spcBef>
                <a:spcPts val="0"/>
              </a:spcBef>
              <a:spcAft>
                <a:spcPts val="0"/>
              </a:spcAft>
              <a:buSzPts val="1200"/>
              <a:buChar char="○"/>
            </a:pPr>
            <a:r>
              <a:rPr lang="en" sz="1200" b="1" i="1" dirty="0">
                <a:solidFill>
                  <a:srgbClr val="FF0000"/>
                </a:solidFill>
              </a:rPr>
              <a:t>Delete</a:t>
            </a:r>
            <a:r>
              <a:rPr lang="en" sz="1200" dirty="0">
                <a:solidFill>
                  <a:srgbClr val="FF0000"/>
                </a:solidFill>
              </a:rPr>
              <a:t> </a:t>
            </a:r>
            <a:r>
              <a:rPr lang="en" sz="1200" dirty="0"/>
              <a:t>the body of the method.</a:t>
            </a:r>
            <a:endParaRPr sz="1200" dirty="0"/>
          </a:p>
          <a:p>
            <a:pPr marL="457200" lvl="0" indent="-317500" algn="l" rtl="0">
              <a:spcBef>
                <a:spcPts val="0"/>
              </a:spcBef>
              <a:spcAft>
                <a:spcPts val="0"/>
              </a:spcAft>
              <a:buSzPts val="1400"/>
              <a:buChar char="●"/>
            </a:pPr>
            <a:r>
              <a:rPr lang="en" sz="1400" dirty="0"/>
              <a:t>What changes are necessary in any of the </a:t>
            </a:r>
            <a:r>
              <a:rPr lang="en" sz="1400" dirty="0">
                <a:latin typeface="Courier New"/>
                <a:ea typeface="Courier New"/>
                <a:cs typeface="Courier New"/>
                <a:sym typeface="Courier New"/>
              </a:rPr>
              <a:t>Goat</a:t>
            </a:r>
            <a:r>
              <a:rPr lang="en" sz="1400" dirty="0"/>
              <a:t> child classes?</a:t>
            </a:r>
            <a:endParaRPr sz="1400" dirty="0"/>
          </a:p>
          <a:p>
            <a:pPr marL="914400" lvl="1" indent="-304800" algn="l" rtl="0">
              <a:spcBef>
                <a:spcPts val="0"/>
              </a:spcBef>
              <a:spcAft>
                <a:spcPts val="0"/>
              </a:spcAft>
              <a:buSzPts val="1200"/>
              <a:buChar char="○"/>
            </a:pPr>
            <a:r>
              <a:rPr lang="en" sz="1200" dirty="0"/>
              <a:t>Why?</a:t>
            </a:r>
            <a:endParaRPr sz="1200" dirty="0"/>
          </a:p>
          <a:p>
            <a:pPr marL="457200" lvl="0" indent="-317500" algn="l" rtl="0">
              <a:spcBef>
                <a:spcPts val="0"/>
              </a:spcBef>
              <a:spcAft>
                <a:spcPts val="0"/>
              </a:spcAft>
              <a:buSzPts val="1400"/>
              <a:buChar char="●"/>
            </a:pPr>
            <a:r>
              <a:rPr lang="en" sz="1400" b="1" i="1" dirty="0">
                <a:solidFill>
                  <a:srgbClr val="FF0000"/>
                </a:solidFill>
              </a:rPr>
              <a:t>Run</a:t>
            </a:r>
            <a:r>
              <a:rPr lang="en" sz="1400" dirty="0">
                <a:solidFill>
                  <a:srgbClr val="FF0000"/>
                </a:solidFill>
              </a:rPr>
              <a:t> </a:t>
            </a:r>
            <a:r>
              <a:rPr lang="en" sz="1400" dirty="0"/>
              <a:t>your code to make sure that it still works.</a:t>
            </a:r>
            <a:endParaRPr sz="1400" dirty="0"/>
          </a:p>
        </p:txBody>
      </p:sp>
      <p:sp>
        <p:nvSpPr>
          <p:cNvPr id="929" name="Google Shape;929;p10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Abstract Goat</a:t>
            </a:r>
            <a:endParaRPr/>
          </a:p>
        </p:txBody>
      </p:sp>
      <p:sp>
        <p:nvSpPr>
          <p:cNvPr id="930" name="Google Shape;930;p10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3.18</a:t>
            </a:r>
            <a:endParaRPr/>
          </a:p>
        </p:txBody>
      </p:sp>
      <p:sp>
        <p:nvSpPr>
          <p:cNvPr id="931" name="Google Shape;931;p103"/>
          <p:cNvSpPr txBox="1">
            <a:spLocks noGrp="1"/>
          </p:cNvSpPr>
          <p:nvPr>
            <p:ph type="body" idx="4"/>
          </p:nvPr>
        </p:nvSpPr>
        <p:spPr>
          <a:xfrm>
            <a:off x="141600" y="1684355"/>
            <a:ext cx="3706500" cy="692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abstract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AbstractParent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abstract</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aMethod</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pic>
        <p:nvPicPr>
          <p:cNvPr id="932" name="Google Shape;932;p103"/>
          <p:cNvPicPr preferRelativeResize="0"/>
          <p:nvPr/>
        </p:nvPicPr>
        <p:blipFill>
          <a:blip r:embed="rId3">
            <a:alphaModFix/>
          </a:blip>
          <a:stretch>
            <a:fillRect/>
          </a:stretch>
        </p:blipFill>
        <p:spPr>
          <a:xfrm>
            <a:off x="141600" y="2452728"/>
            <a:ext cx="3677566" cy="2451701"/>
          </a:xfrm>
          <a:prstGeom prst="rect">
            <a:avLst/>
          </a:prstGeom>
          <a:noFill/>
          <a:ln w="19050" cap="flat" cmpd="sng">
            <a:solidFill>
              <a:schemeClr val="dk2"/>
            </a:solidFill>
            <a:prstDash val="solid"/>
            <a:round/>
            <a:headEnd type="none" w="sm" len="sm"/>
            <a:tailEnd type="none" w="sm" len="sm"/>
          </a:ln>
        </p:spPr>
      </p:pic>
      <p:sp>
        <p:nvSpPr>
          <p:cNvPr id="933" name="Google Shape;933;p103"/>
          <p:cNvSpPr txBox="1"/>
          <p:nvPr/>
        </p:nvSpPr>
        <p:spPr>
          <a:xfrm>
            <a:off x="7107500" y="4805425"/>
            <a:ext cx="1448400" cy="251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a:latin typeface="Roboto"/>
                <a:ea typeface="Roboto"/>
                <a:cs typeface="Roboto"/>
                <a:sym typeface="Roboto"/>
              </a:rPr>
              <a:t>Artwork by Leonid Afremov</a:t>
            </a:r>
            <a:endParaRPr sz="800">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p10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Trolls</a:t>
            </a:r>
            <a:endParaRPr/>
          </a:p>
        </p:txBody>
      </p:sp>
      <p:sp>
        <p:nvSpPr>
          <p:cNvPr id="939" name="Google Shape;939;p1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940" name="Google Shape;940;p104"/>
          <p:cNvSpPr txBox="1"/>
          <p:nvPr/>
        </p:nvSpPr>
        <p:spPr>
          <a:xfrm>
            <a:off x="3342550" y="1361500"/>
            <a:ext cx="5647800" cy="62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5E696C"/>
                </a:solidFill>
                <a:latin typeface="Lato"/>
                <a:ea typeface="Lato"/>
                <a:cs typeface="Lato"/>
                <a:sym typeface="Lato"/>
              </a:rPr>
              <a:t>Our Goats need Bad Guys to fight! Let’s make some trolls.</a:t>
            </a:r>
            <a:endParaRPr sz="1800">
              <a:solidFill>
                <a:srgbClr val="5E696C"/>
              </a:solidFill>
              <a:latin typeface="Lato"/>
              <a:ea typeface="Lato"/>
              <a:cs typeface="Lato"/>
              <a:sym typeface="Lato"/>
            </a:endParaRPr>
          </a:p>
          <a:p>
            <a:pPr marL="0" lvl="0" indent="0" algn="l" rtl="0">
              <a:spcBef>
                <a:spcPts val="0"/>
              </a:spcBef>
              <a:spcAft>
                <a:spcPts val="0"/>
              </a:spcAft>
              <a:buNone/>
            </a:pPr>
            <a:endParaRPr>
              <a:solidFill>
                <a:srgbClr val="5E696C"/>
              </a:solidFill>
              <a:latin typeface="Lato"/>
              <a:ea typeface="Lato"/>
              <a:cs typeface="Lato"/>
              <a:sym typeface="Lato"/>
            </a:endParaRPr>
          </a:p>
        </p:txBody>
      </p:sp>
      <p:graphicFrame>
        <p:nvGraphicFramePr>
          <p:cNvPr id="941" name="Google Shape;941;p104"/>
          <p:cNvGraphicFramePr/>
          <p:nvPr/>
        </p:nvGraphicFramePr>
        <p:xfrm>
          <a:off x="3342550" y="2215325"/>
          <a:ext cx="5384125" cy="2752850"/>
        </p:xfrm>
        <a:graphic>
          <a:graphicData uri="http://schemas.openxmlformats.org/drawingml/2006/table">
            <a:tbl>
              <a:tblPr>
                <a:noFill/>
                <a:tableStyleId>{BB7116F7-C15E-4CF7-A1A4-3F0B48A09751}</a:tableStyleId>
              </a:tblPr>
              <a:tblGrid>
                <a:gridCol w="1346025">
                  <a:extLst>
                    <a:ext uri="{9D8B030D-6E8A-4147-A177-3AD203B41FA5}">
                      <a16:colId xmlns:a16="http://schemas.microsoft.com/office/drawing/2014/main" val="20000"/>
                    </a:ext>
                  </a:extLst>
                </a:gridCol>
                <a:gridCol w="1056350">
                  <a:extLst>
                    <a:ext uri="{9D8B030D-6E8A-4147-A177-3AD203B41FA5}">
                      <a16:colId xmlns:a16="http://schemas.microsoft.com/office/drawing/2014/main" val="20001"/>
                    </a:ext>
                  </a:extLst>
                </a:gridCol>
                <a:gridCol w="1635725">
                  <a:extLst>
                    <a:ext uri="{9D8B030D-6E8A-4147-A177-3AD203B41FA5}">
                      <a16:colId xmlns:a16="http://schemas.microsoft.com/office/drawing/2014/main" val="20002"/>
                    </a:ext>
                  </a:extLst>
                </a:gridCol>
                <a:gridCol w="1346025">
                  <a:extLst>
                    <a:ext uri="{9D8B030D-6E8A-4147-A177-3AD203B41FA5}">
                      <a16:colId xmlns:a16="http://schemas.microsoft.com/office/drawing/2014/main" val="20003"/>
                    </a:ext>
                  </a:extLst>
                </a:gridCol>
              </a:tblGrid>
              <a:tr h="514600">
                <a:tc>
                  <a:txBody>
                    <a:bodyPr/>
                    <a:lstStyle/>
                    <a:p>
                      <a:pPr marL="0" lvl="0" indent="0" algn="ctr" rtl="0">
                        <a:spcBef>
                          <a:spcPts val="0"/>
                        </a:spcBef>
                        <a:spcAft>
                          <a:spcPts val="0"/>
                        </a:spcAft>
                        <a:buNone/>
                      </a:pPr>
                      <a:r>
                        <a:rPr lang="en" b="1">
                          <a:solidFill>
                            <a:srgbClr val="FFFFFF"/>
                          </a:solidFill>
                        </a:rPr>
                        <a:t>Type</a:t>
                      </a:r>
                      <a:endParaRPr b="1">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FFFFFF"/>
                          </a:solidFill>
                        </a:rPr>
                        <a:t>Hit Points</a:t>
                      </a:r>
                      <a:endParaRPr b="1">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FFFFFF"/>
                          </a:solidFill>
                        </a:rPr>
                        <a:t>Attack </a:t>
                      </a:r>
                      <a:endParaRPr b="1">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b="1">
                          <a:solidFill>
                            <a:srgbClr val="FFFFFF"/>
                          </a:solidFill>
                        </a:rPr>
                        <a:t>Special</a:t>
                      </a:r>
                      <a:endParaRPr sz="1200" b="1">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1119125">
                <a:tc>
                  <a:txBody>
                    <a:bodyPr/>
                    <a:lstStyle/>
                    <a:p>
                      <a:pPr marL="0" lvl="0" indent="0" algn="r" rtl="0">
                        <a:spcBef>
                          <a:spcPts val="0"/>
                        </a:spcBef>
                        <a:spcAft>
                          <a:spcPts val="0"/>
                        </a:spcAft>
                        <a:buNone/>
                      </a:pPr>
                      <a:r>
                        <a:rPr lang="en" sz="1200"/>
                        <a:t>Trolling</a:t>
                      </a:r>
                      <a:endParaRPr sz="1200"/>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t>38</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b="1" u="sng"/>
                        <a:t>U Mad?</a:t>
                      </a:r>
                      <a:endParaRPr/>
                    </a:p>
                    <a:p>
                      <a:pPr marL="0" lvl="0" indent="0" algn="ctr" rtl="0">
                        <a:spcBef>
                          <a:spcPts val="0"/>
                        </a:spcBef>
                        <a:spcAft>
                          <a:spcPts val="0"/>
                        </a:spcAft>
                        <a:buNone/>
                      </a:pPr>
                      <a:r>
                        <a:rPr lang="en"/>
                        <a:t>15 (Physical Damage)</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t>Takes +25% Magical Damage</a:t>
                      </a:r>
                      <a:endParaRPr sz="1200"/>
                    </a:p>
                    <a:p>
                      <a:pPr marL="0" lvl="0" indent="0" algn="ctr" rtl="0">
                        <a:spcBef>
                          <a:spcPts val="0"/>
                        </a:spcBef>
                        <a:spcAft>
                          <a:spcPts val="0"/>
                        </a:spcAft>
                        <a:buNone/>
                      </a:pPr>
                      <a:endParaRPr sz="1200"/>
                    </a:p>
                    <a:p>
                      <a:pPr marL="0" lvl="0" indent="0" algn="ctr" rtl="0">
                        <a:spcBef>
                          <a:spcPts val="0"/>
                        </a:spcBef>
                        <a:spcAft>
                          <a:spcPts val="0"/>
                        </a:spcAft>
                        <a:buNone/>
                      </a:pPr>
                      <a:r>
                        <a:rPr lang="en" sz="1200"/>
                        <a:t>Regenerates 3%</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119125">
                <a:tc>
                  <a:txBody>
                    <a:bodyPr/>
                    <a:lstStyle/>
                    <a:p>
                      <a:pPr marL="0" lvl="0" indent="0" algn="r" rtl="0">
                        <a:spcBef>
                          <a:spcPts val="0"/>
                        </a:spcBef>
                        <a:spcAft>
                          <a:spcPts val="0"/>
                        </a:spcAft>
                        <a:buNone/>
                      </a:pPr>
                      <a:r>
                        <a:rPr lang="en" sz="1200"/>
                        <a:t>Trollzord</a:t>
                      </a:r>
                      <a:endParaRPr sz="1200"/>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a:t>64</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b="1" u="sng"/>
                        <a:t>Flame War</a:t>
                      </a:r>
                      <a:endParaRPr/>
                    </a:p>
                    <a:p>
                      <a:pPr marL="0" lvl="0" indent="0" algn="ctr" rtl="0">
                        <a:spcBef>
                          <a:spcPts val="0"/>
                        </a:spcBef>
                        <a:spcAft>
                          <a:spcPts val="0"/>
                        </a:spcAft>
                        <a:buNone/>
                      </a:pPr>
                      <a:r>
                        <a:rPr lang="en"/>
                        <a:t>25 (Magical Damage)</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ctr" rtl="0">
                        <a:spcBef>
                          <a:spcPts val="0"/>
                        </a:spcBef>
                        <a:spcAft>
                          <a:spcPts val="0"/>
                        </a:spcAft>
                        <a:buNone/>
                      </a:pPr>
                      <a:r>
                        <a:rPr lang="en" sz="1200"/>
                        <a:t>Takes +25% Holy Damage</a:t>
                      </a:r>
                      <a:endParaRPr sz="1200"/>
                    </a:p>
                    <a:p>
                      <a:pPr marL="0" lvl="0" indent="0" algn="ctr" rtl="0">
                        <a:spcBef>
                          <a:spcPts val="0"/>
                        </a:spcBef>
                        <a:spcAft>
                          <a:spcPts val="0"/>
                        </a:spcAft>
                        <a:buNone/>
                      </a:pPr>
                      <a:endParaRPr sz="1200"/>
                    </a:p>
                    <a:p>
                      <a:pPr marL="0" lvl="0" indent="0" algn="ctr" rtl="0">
                        <a:spcBef>
                          <a:spcPts val="0"/>
                        </a:spcBef>
                        <a:spcAft>
                          <a:spcPts val="0"/>
                        </a:spcAft>
                        <a:buNone/>
                      </a:pPr>
                      <a:r>
                        <a:rPr lang="en" sz="1200"/>
                        <a:t>Regenerates 5%</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942" name="Google Shape;942;p104"/>
          <p:cNvSpPr txBox="1"/>
          <p:nvPr/>
        </p:nvSpPr>
        <p:spPr>
          <a:xfrm>
            <a:off x="181225" y="4165675"/>
            <a:ext cx="3052200" cy="802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ato"/>
                <a:ea typeface="Lato"/>
                <a:cs typeface="Lato"/>
                <a:sym typeface="Lato"/>
              </a:rPr>
              <a:t>In GvTV, trolls spawn and attack the party in waves. The number and type of trolls varies.</a:t>
            </a:r>
            <a:endParaRPr>
              <a:latin typeface="Lato"/>
              <a:ea typeface="Lato"/>
              <a:cs typeface="Lato"/>
              <a:sym typeface="Lato"/>
            </a:endParaRPr>
          </a:p>
        </p:txBody>
      </p:sp>
      <p:pic>
        <p:nvPicPr>
          <p:cNvPr id="943" name="Google Shape;943;p104"/>
          <p:cNvPicPr preferRelativeResize="0"/>
          <p:nvPr/>
        </p:nvPicPr>
        <p:blipFill>
          <a:blip r:embed="rId3">
            <a:alphaModFix/>
          </a:blip>
          <a:stretch>
            <a:fillRect/>
          </a:stretch>
        </p:blipFill>
        <p:spPr>
          <a:xfrm>
            <a:off x="3377850" y="3949667"/>
            <a:ext cx="605425" cy="930258"/>
          </a:xfrm>
          <a:prstGeom prst="rect">
            <a:avLst/>
          </a:prstGeom>
          <a:noFill/>
          <a:ln>
            <a:noFill/>
          </a:ln>
        </p:spPr>
      </p:pic>
      <p:pic>
        <p:nvPicPr>
          <p:cNvPr id="944" name="Google Shape;944;p104"/>
          <p:cNvPicPr preferRelativeResize="0"/>
          <p:nvPr/>
        </p:nvPicPr>
        <p:blipFill>
          <a:blip r:embed="rId4">
            <a:alphaModFix/>
          </a:blip>
          <a:stretch>
            <a:fillRect/>
          </a:stretch>
        </p:blipFill>
        <p:spPr>
          <a:xfrm>
            <a:off x="3377848" y="2938344"/>
            <a:ext cx="824468" cy="802500"/>
          </a:xfrm>
          <a:prstGeom prst="rect">
            <a:avLst/>
          </a:prstGeom>
          <a:noFill/>
          <a:ln>
            <a:noFill/>
          </a:ln>
        </p:spPr>
      </p:pic>
      <p:pic>
        <p:nvPicPr>
          <p:cNvPr id="945" name="Google Shape;945;p104"/>
          <p:cNvPicPr preferRelativeResize="0"/>
          <p:nvPr/>
        </p:nvPicPr>
        <p:blipFill>
          <a:blip r:embed="rId5">
            <a:alphaModFix/>
          </a:blip>
          <a:stretch>
            <a:fillRect/>
          </a:stretch>
        </p:blipFill>
        <p:spPr>
          <a:xfrm>
            <a:off x="181225" y="1371710"/>
            <a:ext cx="3052199" cy="2668315"/>
          </a:xfrm>
          <a:prstGeom prst="rect">
            <a:avLst/>
          </a:prstGeom>
          <a:noFill/>
          <a:ln w="19050" cap="flat" cmpd="sng">
            <a:solidFill>
              <a:srgbClr val="000000"/>
            </a:solidFill>
            <a:prstDash val="solid"/>
            <a:round/>
            <a:headEnd type="none" w="sm" len="sm"/>
            <a:tailEnd type="none" w="sm" len="sm"/>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105"/>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We’ll need new classes to represent each of the Trolls. Fill in the table below to identify the state and behavior needed for each of the new enemy classes. </a:t>
            </a:r>
            <a:endParaRPr/>
          </a:p>
        </p:txBody>
      </p:sp>
      <p:sp>
        <p:nvSpPr>
          <p:cNvPr id="951" name="Google Shape;951;p10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952" name="Google Shape;952;p10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Another Simple Domain Analysis</a:t>
            </a:r>
            <a:endParaRPr/>
          </a:p>
        </p:txBody>
      </p:sp>
      <p:sp>
        <p:nvSpPr>
          <p:cNvPr id="953" name="Google Shape;953;p10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3.19</a:t>
            </a:r>
            <a:endParaRPr/>
          </a:p>
        </p:txBody>
      </p:sp>
      <p:graphicFrame>
        <p:nvGraphicFramePr>
          <p:cNvPr id="954" name="Google Shape;954;p105"/>
          <p:cNvGraphicFramePr/>
          <p:nvPr/>
        </p:nvGraphicFramePr>
        <p:xfrm>
          <a:off x="2581425" y="1683600"/>
          <a:ext cx="6138725" cy="3330050"/>
        </p:xfrm>
        <a:graphic>
          <a:graphicData uri="http://schemas.openxmlformats.org/drawingml/2006/table">
            <a:tbl>
              <a:tblPr>
                <a:noFill/>
                <a:tableStyleId>{BB7116F7-C15E-4CF7-A1A4-3F0B48A09751}</a:tableStyleId>
              </a:tblPr>
              <a:tblGrid>
                <a:gridCol w="1157350">
                  <a:extLst>
                    <a:ext uri="{9D8B030D-6E8A-4147-A177-3AD203B41FA5}">
                      <a16:colId xmlns:a16="http://schemas.microsoft.com/office/drawing/2014/main" val="20000"/>
                    </a:ext>
                  </a:extLst>
                </a:gridCol>
                <a:gridCol w="2421650">
                  <a:extLst>
                    <a:ext uri="{9D8B030D-6E8A-4147-A177-3AD203B41FA5}">
                      <a16:colId xmlns:a16="http://schemas.microsoft.com/office/drawing/2014/main" val="20001"/>
                    </a:ext>
                  </a:extLst>
                </a:gridCol>
                <a:gridCol w="2559725">
                  <a:extLst>
                    <a:ext uri="{9D8B030D-6E8A-4147-A177-3AD203B41FA5}">
                      <a16:colId xmlns:a16="http://schemas.microsoft.com/office/drawing/2014/main" val="20002"/>
                    </a:ext>
                  </a:extLst>
                </a:gridCol>
              </a:tblGrid>
              <a:tr h="417050">
                <a:tc>
                  <a:txBody>
                    <a:bodyPr/>
                    <a:lstStyle/>
                    <a:p>
                      <a:pPr marL="0" lvl="0" indent="0" algn="l" rtl="0">
                        <a:spcBef>
                          <a:spcPts val="0"/>
                        </a:spcBef>
                        <a:spcAft>
                          <a:spcPts val="0"/>
                        </a:spcAft>
                        <a:buNone/>
                      </a:pPr>
                      <a:r>
                        <a:rPr lang="en"/>
                        <a:t>Class</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t>State</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t>Behavior</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456500">
                <a:tc>
                  <a:txBody>
                    <a:bodyPr/>
                    <a:lstStyle/>
                    <a:p>
                      <a:pPr marL="0" lvl="0" indent="0" algn="ctr" rtl="0">
                        <a:spcBef>
                          <a:spcPts val="0"/>
                        </a:spcBef>
                        <a:spcAft>
                          <a:spcPts val="0"/>
                        </a:spcAft>
                        <a:buNone/>
                      </a:pPr>
                      <a:r>
                        <a:rPr lang="en"/>
                        <a:t>Trolling</a:t>
                      </a:r>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456500">
                <a:tc>
                  <a:txBody>
                    <a:bodyPr/>
                    <a:lstStyle/>
                    <a:p>
                      <a:pPr marL="0" lvl="0" indent="0" algn="ctr" rtl="0">
                        <a:spcBef>
                          <a:spcPts val="0"/>
                        </a:spcBef>
                        <a:spcAft>
                          <a:spcPts val="0"/>
                        </a:spcAft>
                        <a:buNone/>
                      </a:pPr>
                      <a:r>
                        <a:rPr lang="en"/>
                        <a:t>Trollzord</a:t>
                      </a:r>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pic>
        <p:nvPicPr>
          <p:cNvPr id="955" name="Google Shape;955;p105"/>
          <p:cNvPicPr preferRelativeResize="0"/>
          <p:nvPr/>
        </p:nvPicPr>
        <p:blipFill>
          <a:blip r:embed="rId3">
            <a:alphaModFix/>
          </a:blip>
          <a:stretch>
            <a:fillRect/>
          </a:stretch>
        </p:blipFill>
        <p:spPr>
          <a:xfrm>
            <a:off x="2842113" y="3663813"/>
            <a:ext cx="650425" cy="999400"/>
          </a:xfrm>
          <a:prstGeom prst="rect">
            <a:avLst/>
          </a:prstGeom>
          <a:noFill/>
          <a:ln>
            <a:noFill/>
          </a:ln>
        </p:spPr>
      </p:pic>
      <p:pic>
        <p:nvPicPr>
          <p:cNvPr id="956" name="Google Shape;956;p105"/>
          <p:cNvPicPr preferRelativeResize="0"/>
          <p:nvPr/>
        </p:nvPicPr>
        <p:blipFill>
          <a:blip r:embed="rId4">
            <a:alphaModFix/>
          </a:blip>
          <a:stretch>
            <a:fillRect/>
          </a:stretch>
        </p:blipFill>
        <p:spPr>
          <a:xfrm>
            <a:off x="2688322" y="2177142"/>
            <a:ext cx="958000" cy="932450"/>
          </a:xfrm>
          <a:prstGeom prst="rect">
            <a:avLst/>
          </a:prstGeom>
          <a:noFill/>
          <a:ln>
            <a:noFill/>
          </a:ln>
        </p:spPr>
      </p:pic>
      <p:sp>
        <p:nvSpPr>
          <p:cNvPr id="957" name="Google Shape;957;p105"/>
          <p:cNvSpPr txBox="1"/>
          <p:nvPr/>
        </p:nvSpPr>
        <p:spPr>
          <a:xfrm>
            <a:off x="51775" y="1726750"/>
            <a:ext cx="2419800" cy="2385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2"/>
                </a:solidFill>
                <a:latin typeface="Roboto"/>
                <a:ea typeface="Roboto"/>
                <a:cs typeface="Roboto"/>
                <a:sym typeface="Roboto"/>
              </a:rPr>
              <a:t>Things to Note:</a:t>
            </a:r>
            <a:endParaRPr sz="1300">
              <a:solidFill>
                <a:schemeClr val="lt2"/>
              </a:solidFill>
              <a:latin typeface="Roboto"/>
              <a:ea typeface="Roboto"/>
              <a:cs typeface="Roboto"/>
              <a:sym typeface="Roboto"/>
            </a:endParaRPr>
          </a:p>
          <a:p>
            <a:pPr marL="457200" lvl="0" indent="-311150" algn="l" rtl="0">
              <a:spcBef>
                <a:spcPts val="0"/>
              </a:spcBef>
              <a:spcAft>
                <a:spcPts val="0"/>
              </a:spcAft>
              <a:buClr>
                <a:schemeClr val="lt2"/>
              </a:buClr>
              <a:buSzPts val="1300"/>
              <a:buFont typeface="Lato"/>
              <a:buChar char="●"/>
            </a:pPr>
            <a:r>
              <a:rPr lang="en" sz="1300">
                <a:solidFill>
                  <a:schemeClr val="lt2"/>
                </a:solidFill>
                <a:latin typeface="Roboto"/>
                <a:ea typeface="Roboto"/>
                <a:cs typeface="Roboto"/>
                <a:sym typeface="Roboto"/>
              </a:rPr>
              <a:t>A troll’s </a:t>
            </a:r>
            <a:r>
              <a:rPr lang="en" sz="1300" b="1" u="sng">
                <a:solidFill>
                  <a:srgbClr val="FF0000"/>
                </a:solidFill>
                <a:latin typeface="Roboto"/>
                <a:ea typeface="Roboto"/>
                <a:cs typeface="Roboto"/>
                <a:sym typeface="Roboto"/>
              </a:rPr>
              <a:t>name</a:t>
            </a:r>
            <a:r>
              <a:rPr lang="en" sz="1300">
                <a:solidFill>
                  <a:srgbClr val="FF0000"/>
                </a:solidFill>
                <a:latin typeface="Roboto"/>
                <a:ea typeface="Roboto"/>
                <a:cs typeface="Roboto"/>
                <a:sym typeface="Roboto"/>
              </a:rPr>
              <a:t> </a:t>
            </a:r>
            <a:r>
              <a:rPr lang="en" sz="1300">
                <a:solidFill>
                  <a:schemeClr val="lt2"/>
                </a:solidFill>
                <a:latin typeface="Roboto"/>
                <a:ea typeface="Roboto"/>
                <a:cs typeface="Roboto"/>
                <a:sym typeface="Roboto"/>
              </a:rPr>
              <a:t>is the same as its class, e.g. "Trolling".</a:t>
            </a:r>
            <a:endParaRPr sz="1300">
              <a:solidFill>
                <a:schemeClr val="lt2"/>
              </a:solidFill>
              <a:latin typeface="Roboto"/>
              <a:ea typeface="Roboto"/>
              <a:cs typeface="Roboto"/>
              <a:sym typeface="Roboto"/>
            </a:endParaRPr>
          </a:p>
          <a:p>
            <a:pPr marL="457200" lvl="0" indent="-311150" algn="l" rtl="0">
              <a:spcBef>
                <a:spcPts val="0"/>
              </a:spcBef>
              <a:spcAft>
                <a:spcPts val="0"/>
              </a:spcAft>
              <a:buClr>
                <a:schemeClr val="lt2"/>
              </a:buClr>
              <a:buSzPts val="1300"/>
              <a:buFont typeface="Lato"/>
              <a:buChar char="●"/>
            </a:pPr>
            <a:r>
              <a:rPr lang="en" sz="1300">
                <a:solidFill>
                  <a:schemeClr val="lt2"/>
                </a:solidFill>
                <a:latin typeface="Roboto"/>
                <a:ea typeface="Roboto"/>
                <a:cs typeface="Roboto"/>
                <a:sym typeface="Roboto"/>
              </a:rPr>
              <a:t>Trolls </a:t>
            </a:r>
            <a:r>
              <a:rPr lang="en" sz="1300" b="1" u="sng">
                <a:solidFill>
                  <a:srgbClr val="FF0000"/>
                </a:solidFill>
                <a:latin typeface="Roboto"/>
                <a:ea typeface="Roboto"/>
                <a:cs typeface="Roboto"/>
                <a:sym typeface="Roboto"/>
              </a:rPr>
              <a:t>regenerate</a:t>
            </a:r>
            <a:r>
              <a:rPr lang="en" sz="1300">
                <a:solidFill>
                  <a:schemeClr val="lt2"/>
                </a:solidFill>
                <a:latin typeface="Roboto"/>
                <a:ea typeface="Roboto"/>
                <a:cs typeface="Roboto"/>
                <a:sym typeface="Roboto"/>
              </a:rPr>
              <a:t> health at the start of each round.</a:t>
            </a:r>
            <a:endParaRPr sz="1300">
              <a:solidFill>
                <a:schemeClr val="lt2"/>
              </a:solidFill>
              <a:latin typeface="Roboto"/>
              <a:ea typeface="Roboto"/>
              <a:cs typeface="Roboto"/>
              <a:sym typeface="Roboto"/>
            </a:endParaRPr>
          </a:p>
          <a:p>
            <a:pPr marL="457200" lvl="0" indent="-311150" algn="l" rtl="0">
              <a:spcBef>
                <a:spcPts val="0"/>
              </a:spcBef>
              <a:spcAft>
                <a:spcPts val="0"/>
              </a:spcAft>
              <a:buClr>
                <a:schemeClr val="lt2"/>
              </a:buClr>
              <a:buSzPts val="1300"/>
              <a:buFont typeface="Lato"/>
              <a:buChar char="●"/>
            </a:pPr>
            <a:r>
              <a:rPr lang="en" sz="1300">
                <a:solidFill>
                  <a:schemeClr val="lt2"/>
                </a:solidFill>
                <a:latin typeface="Roboto"/>
                <a:ea typeface="Roboto"/>
                <a:cs typeface="Roboto"/>
                <a:sym typeface="Roboto"/>
              </a:rPr>
              <a:t>When a troll’s hit points reach 0, the troll is </a:t>
            </a:r>
            <a:r>
              <a:rPr lang="en" sz="1300" b="1" u="sng">
                <a:solidFill>
                  <a:srgbClr val="FF0000"/>
                </a:solidFill>
                <a:latin typeface="Roboto"/>
                <a:ea typeface="Roboto"/>
                <a:cs typeface="Roboto"/>
                <a:sym typeface="Roboto"/>
              </a:rPr>
              <a:t>vanquished</a:t>
            </a:r>
            <a:r>
              <a:rPr lang="en" sz="1300">
                <a:solidFill>
                  <a:srgbClr val="FF0000"/>
                </a:solidFill>
                <a:latin typeface="Roboto"/>
                <a:ea typeface="Roboto"/>
                <a:cs typeface="Roboto"/>
                <a:sym typeface="Roboto"/>
              </a:rPr>
              <a:t> </a:t>
            </a:r>
            <a:r>
              <a:rPr lang="en" sz="1300">
                <a:solidFill>
                  <a:schemeClr val="lt2"/>
                </a:solidFill>
                <a:latin typeface="Roboto"/>
                <a:ea typeface="Roboto"/>
                <a:cs typeface="Roboto"/>
                <a:sym typeface="Roboto"/>
              </a:rPr>
              <a:t>permanently.</a:t>
            </a:r>
            <a:endParaRPr sz="1300">
              <a:latin typeface="Lato"/>
              <a:ea typeface="Lato"/>
              <a:cs typeface="Lato"/>
              <a:sym typeface="La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10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We’ll need new classes to represent each of the Trolls. Fill in the table below to identify the state and behavior needed for each of the new enemy classes. </a:t>
            </a:r>
            <a:endParaRPr/>
          </a:p>
        </p:txBody>
      </p:sp>
      <p:sp>
        <p:nvSpPr>
          <p:cNvPr id="963" name="Google Shape;963;p10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
        <p:nvSpPr>
          <p:cNvPr id="964" name="Google Shape;964;p10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Another Simple Domain Analysis</a:t>
            </a:r>
            <a:endParaRPr/>
          </a:p>
        </p:txBody>
      </p:sp>
      <p:sp>
        <p:nvSpPr>
          <p:cNvPr id="965" name="Google Shape;965;p10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3.19</a:t>
            </a:r>
            <a:endParaRPr/>
          </a:p>
        </p:txBody>
      </p:sp>
      <p:graphicFrame>
        <p:nvGraphicFramePr>
          <p:cNvPr id="966" name="Google Shape;966;p106"/>
          <p:cNvGraphicFramePr/>
          <p:nvPr/>
        </p:nvGraphicFramePr>
        <p:xfrm>
          <a:off x="2581425" y="1683600"/>
          <a:ext cx="6138725" cy="3330050"/>
        </p:xfrm>
        <a:graphic>
          <a:graphicData uri="http://schemas.openxmlformats.org/drawingml/2006/table">
            <a:tbl>
              <a:tblPr>
                <a:noFill/>
                <a:tableStyleId>{BB7116F7-C15E-4CF7-A1A4-3F0B48A09751}</a:tableStyleId>
              </a:tblPr>
              <a:tblGrid>
                <a:gridCol w="1157350">
                  <a:extLst>
                    <a:ext uri="{9D8B030D-6E8A-4147-A177-3AD203B41FA5}">
                      <a16:colId xmlns:a16="http://schemas.microsoft.com/office/drawing/2014/main" val="20000"/>
                    </a:ext>
                  </a:extLst>
                </a:gridCol>
                <a:gridCol w="2421650">
                  <a:extLst>
                    <a:ext uri="{9D8B030D-6E8A-4147-A177-3AD203B41FA5}">
                      <a16:colId xmlns:a16="http://schemas.microsoft.com/office/drawing/2014/main" val="20001"/>
                    </a:ext>
                  </a:extLst>
                </a:gridCol>
                <a:gridCol w="2559725">
                  <a:extLst>
                    <a:ext uri="{9D8B030D-6E8A-4147-A177-3AD203B41FA5}">
                      <a16:colId xmlns:a16="http://schemas.microsoft.com/office/drawing/2014/main" val="20002"/>
                    </a:ext>
                  </a:extLst>
                </a:gridCol>
              </a:tblGrid>
              <a:tr h="417050">
                <a:tc>
                  <a:txBody>
                    <a:bodyPr/>
                    <a:lstStyle/>
                    <a:p>
                      <a:pPr marL="0" lvl="0" indent="0" algn="l" rtl="0">
                        <a:spcBef>
                          <a:spcPts val="0"/>
                        </a:spcBef>
                        <a:spcAft>
                          <a:spcPts val="0"/>
                        </a:spcAft>
                        <a:buNone/>
                      </a:pPr>
                      <a:r>
                        <a:rPr lang="en"/>
                        <a:t>Class</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t>State</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t>Behavior</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456500">
                <a:tc>
                  <a:txBody>
                    <a:bodyPr/>
                    <a:lstStyle/>
                    <a:p>
                      <a:pPr marL="0" lvl="0" indent="0" algn="ctr" rtl="0">
                        <a:spcBef>
                          <a:spcPts val="0"/>
                        </a:spcBef>
                        <a:spcAft>
                          <a:spcPts val="0"/>
                        </a:spcAft>
                        <a:buNone/>
                      </a:pPr>
                      <a:r>
                        <a:rPr lang="en"/>
                        <a:t>Trolling</a:t>
                      </a:r>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456500">
                <a:tc>
                  <a:txBody>
                    <a:bodyPr/>
                    <a:lstStyle/>
                    <a:p>
                      <a:pPr marL="0" lvl="0" indent="0" algn="ctr" rtl="0">
                        <a:spcBef>
                          <a:spcPts val="0"/>
                        </a:spcBef>
                        <a:spcAft>
                          <a:spcPts val="0"/>
                        </a:spcAft>
                        <a:buNone/>
                      </a:pPr>
                      <a:r>
                        <a:rPr lang="en"/>
                        <a:t>Trollzord</a:t>
                      </a:r>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pic>
        <p:nvPicPr>
          <p:cNvPr id="967" name="Google Shape;967;p106"/>
          <p:cNvPicPr preferRelativeResize="0"/>
          <p:nvPr/>
        </p:nvPicPr>
        <p:blipFill>
          <a:blip r:embed="rId3">
            <a:alphaModFix/>
          </a:blip>
          <a:stretch>
            <a:fillRect/>
          </a:stretch>
        </p:blipFill>
        <p:spPr>
          <a:xfrm>
            <a:off x="2842113" y="3663813"/>
            <a:ext cx="650425" cy="999400"/>
          </a:xfrm>
          <a:prstGeom prst="rect">
            <a:avLst/>
          </a:prstGeom>
          <a:noFill/>
          <a:ln>
            <a:noFill/>
          </a:ln>
        </p:spPr>
      </p:pic>
      <p:pic>
        <p:nvPicPr>
          <p:cNvPr id="968" name="Google Shape;968;p106"/>
          <p:cNvPicPr preferRelativeResize="0"/>
          <p:nvPr/>
        </p:nvPicPr>
        <p:blipFill>
          <a:blip r:embed="rId4">
            <a:alphaModFix/>
          </a:blip>
          <a:stretch>
            <a:fillRect/>
          </a:stretch>
        </p:blipFill>
        <p:spPr>
          <a:xfrm>
            <a:off x="2688322" y="2177142"/>
            <a:ext cx="958000" cy="932450"/>
          </a:xfrm>
          <a:prstGeom prst="rect">
            <a:avLst/>
          </a:prstGeom>
          <a:noFill/>
          <a:ln>
            <a:noFill/>
          </a:ln>
        </p:spPr>
      </p:pic>
      <p:sp>
        <p:nvSpPr>
          <p:cNvPr id="969" name="Google Shape;969;p106"/>
          <p:cNvSpPr txBox="1"/>
          <p:nvPr/>
        </p:nvSpPr>
        <p:spPr>
          <a:xfrm>
            <a:off x="51775" y="1726750"/>
            <a:ext cx="2419800" cy="2385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2"/>
                </a:solidFill>
                <a:latin typeface="Roboto"/>
                <a:ea typeface="Roboto"/>
                <a:cs typeface="Roboto"/>
                <a:sym typeface="Roboto"/>
              </a:rPr>
              <a:t>Things to Note:</a:t>
            </a:r>
            <a:endParaRPr sz="1300">
              <a:solidFill>
                <a:schemeClr val="lt2"/>
              </a:solidFill>
              <a:latin typeface="Roboto"/>
              <a:ea typeface="Roboto"/>
              <a:cs typeface="Roboto"/>
              <a:sym typeface="Roboto"/>
            </a:endParaRPr>
          </a:p>
          <a:p>
            <a:pPr marL="457200" lvl="0" indent="-311150" algn="l" rtl="0">
              <a:spcBef>
                <a:spcPts val="0"/>
              </a:spcBef>
              <a:spcAft>
                <a:spcPts val="0"/>
              </a:spcAft>
              <a:buClr>
                <a:schemeClr val="lt2"/>
              </a:buClr>
              <a:buSzPts val="1300"/>
              <a:buFont typeface="Lato"/>
              <a:buChar char="●"/>
            </a:pPr>
            <a:r>
              <a:rPr lang="en" sz="1300">
                <a:solidFill>
                  <a:schemeClr val="lt2"/>
                </a:solidFill>
                <a:latin typeface="Roboto"/>
                <a:ea typeface="Roboto"/>
                <a:cs typeface="Roboto"/>
                <a:sym typeface="Roboto"/>
              </a:rPr>
              <a:t>A troll’s </a:t>
            </a:r>
            <a:r>
              <a:rPr lang="en" sz="1300" b="1" u="sng">
                <a:solidFill>
                  <a:srgbClr val="FF0000"/>
                </a:solidFill>
                <a:latin typeface="Roboto"/>
                <a:ea typeface="Roboto"/>
                <a:cs typeface="Roboto"/>
                <a:sym typeface="Roboto"/>
              </a:rPr>
              <a:t>name</a:t>
            </a:r>
            <a:r>
              <a:rPr lang="en" sz="1300">
                <a:solidFill>
                  <a:srgbClr val="FF0000"/>
                </a:solidFill>
                <a:latin typeface="Roboto"/>
                <a:ea typeface="Roboto"/>
                <a:cs typeface="Roboto"/>
                <a:sym typeface="Roboto"/>
              </a:rPr>
              <a:t> </a:t>
            </a:r>
            <a:r>
              <a:rPr lang="en" sz="1300">
                <a:solidFill>
                  <a:schemeClr val="lt2"/>
                </a:solidFill>
                <a:latin typeface="Roboto"/>
                <a:ea typeface="Roboto"/>
                <a:cs typeface="Roboto"/>
                <a:sym typeface="Roboto"/>
              </a:rPr>
              <a:t>is the same as its class, e.g. "Trolling".</a:t>
            </a:r>
            <a:endParaRPr sz="1300">
              <a:solidFill>
                <a:schemeClr val="lt2"/>
              </a:solidFill>
              <a:latin typeface="Roboto"/>
              <a:ea typeface="Roboto"/>
              <a:cs typeface="Roboto"/>
              <a:sym typeface="Roboto"/>
            </a:endParaRPr>
          </a:p>
          <a:p>
            <a:pPr marL="457200" lvl="0" indent="-311150" algn="l" rtl="0">
              <a:spcBef>
                <a:spcPts val="0"/>
              </a:spcBef>
              <a:spcAft>
                <a:spcPts val="0"/>
              </a:spcAft>
              <a:buClr>
                <a:schemeClr val="lt2"/>
              </a:buClr>
              <a:buSzPts val="1300"/>
              <a:buFont typeface="Lato"/>
              <a:buChar char="●"/>
            </a:pPr>
            <a:r>
              <a:rPr lang="en" sz="1300">
                <a:solidFill>
                  <a:schemeClr val="lt2"/>
                </a:solidFill>
                <a:latin typeface="Roboto"/>
                <a:ea typeface="Roboto"/>
                <a:cs typeface="Roboto"/>
                <a:sym typeface="Roboto"/>
              </a:rPr>
              <a:t>Trolls </a:t>
            </a:r>
            <a:r>
              <a:rPr lang="en" sz="1300" b="1" u="sng">
                <a:solidFill>
                  <a:srgbClr val="FF0000"/>
                </a:solidFill>
                <a:latin typeface="Roboto"/>
                <a:ea typeface="Roboto"/>
                <a:cs typeface="Roboto"/>
                <a:sym typeface="Roboto"/>
              </a:rPr>
              <a:t>regenerate</a:t>
            </a:r>
            <a:r>
              <a:rPr lang="en" sz="1300">
                <a:solidFill>
                  <a:schemeClr val="lt2"/>
                </a:solidFill>
                <a:latin typeface="Roboto"/>
                <a:ea typeface="Roboto"/>
                <a:cs typeface="Roboto"/>
                <a:sym typeface="Roboto"/>
              </a:rPr>
              <a:t> health at the start of each round.</a:t>
            </a:r>
            <a:endParaRPr sz="1300">
              <a:solidFill>
                <a:schemeClr val="lt2"/>
              </a:solidFill>
              <a:latin typeface="Roboto"/>
              <a:ea typeface="Roboto"/>
              <a:cs typeface="Roboto"/>
              <a:sym typeface="Roboto"/>
            </a:endParaRPr>
          </a:p>
          <a:p>
            <a:pPr marL="457200" lvl="0" indent="-311150" algn="l" rtl="0">
              <a:spcBef>
                <a:spcPts val="0"/>
              </a:spcBef>
              <a:spcAft>
                <a:spcPts val="0"/>
              </a:spcAft>
              <a:buClr>
                <a:schemeClr val="lt2"/>
              </a:buClr>
              <a:buSzPts val="1300"/>
              <a:buFont typeface="Lato"/>
              <a:buChar char="●"/>
            </a:pPr>
            <a:r>
              <a:rPr lang="en" sz="1300">
                <a:solidFill>
                  <a:schemeClr val="lt2"/>
                </a:solidFill>
                <a:latin typeface="Roboto"/>
                <a:ea typeface="Roboto"/>
                <a:cs typeface="Roboto"/>
                <a:sym typeface="Roboto"/>
              </a:rPr>
              <a:t>When a troll’s hit points reach 0, the troll is </a:t>
            </a:r>
            <a:r>
              <a:rPr lang="en" sz="1300" b="1" u="sng">
                <a:solidFill>
                  <a:srgbClr val="FF0000"/>
                </a:solidFill>
                <a:latin typeface="Roboto"/>
                <a:ea typeface="Roboto"/>
                <a:cs typeface="Roboto"/>
                <a:sym typeface="Roboto"/>
              </a:rPr>
              <a:t>vanquished</a:t>
            </a:r>
            <a:r>
              <a:rPr lang="en" sz="1300">
                <a:solidFill>
                  <a:srgbClr val="FF0000"/>
                </a:solidFill>
                <a:latin typeface="Roboto"/>
                <a:ea typeface="Roboto"/>
                <a:cs typeface="Roboto"/>
                <a:sym typeface="Roboto"/>
              </a:rPr>
              <a:t> </a:t>
            </a:r>
            <a:r>
              <a:rPr lang="en" sz="1300">
                <a:solidFill>
                  <a:schemeClr val="lt2"/>
                </a:solidFill>
                <a:latin typeface="Roboto"/>
                <a:ea typeface="Roboto"/>
                <a:cs typeface="Roboto"/>
                <a:sym typeface="Roboto"/>
              </a:rPr>
              <a:t>permanently.</a:t>
            </a:r>
            <a:endParaRPr sz="1300">
              <a:latin typeface="Lato"/>
              <a:ea typeface="Lato"/>
              <a:cs typeface="Lato"/>
              <a:sym typeface="Lato"/>
            </a:endParaRPr>
          </a:p>
        </p:txBody>
      </p:sp>
      <p:sp>
        <p:nvSpPr>
          <p:cNvPr id="970" name="Google Shape;970;p106"/>
          <p:cNvSpPr txBox="1"/>
          <p:nvPr/>
        </p:nvSpPr>
        <p:spPr>
          <a:xfrm>
            <a:off x="3738775" y="2123050"/>
            <a:ext cx="2419800" cy="141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NAME (“TROLLING”)</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MAX HP</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CURRENT HP</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endParaRPr>
              <a:solidFill>
                <a:srgbClr val="FF0000"/>
              </a:solidFill>
              <a:latin typeface="Shadows Into Light"/>
              <a:ea typeface="Shadows Into Light"/>
              <a:cs typeface="Shadows Into Light"/>
              <a:sym typeface="Shadows Into Light"/>
            </a:endParaRPr>
          </a:p>
        </p:txBody>
      </p:sp>
      <p:sp>
        <p:nvSpPr>
          <p:cNvPr id="971" name="Google Shape;971;p106"/>
          <p:cNvSpPr txBox="1"/>
          <p:nvPr/>
        </p:nvSpPr>
        <p:spPr>
          <a:xfrm>
            <a:off x="6253375" y="2123050"/>
            <a:ext cx="2419800" cy="141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GETTERS/SETTERS</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IS VANQUISHED?</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REGENERATE</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ATTACK</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TAKE DAMAGE</a:t>
            </a:r>
            <a:endParaRPr sz="1800">
              <a:solidFill>
                <a:srgbClr val="FF0000"/>
              </a:solidFill>
              <a:latin typeface="Shadows Into Light"/>
              <a:ea typeface="Shadows Into Light"/>
              <a:cs typeface="Shadows Into Light"/>
              <a:sym typeface="Shadows Into Light"/>
            </a:endParaRPr>
          </a:p>
        </p:txBody>
      </p:sp>
      <p:sp>
        <p:nvSpPr>
          <p:cNvPr id="972" name="Google Shape;972;p106"/>
          <p:cNvSpPr txBox="1"/>
          <p:nvPr/>
        </p:nvSpPr>
        <p:spPr>
          <a:xfrm>
            <a:off x="3738775" y="3585546"/>
            <a:ext cx="2419800" cy="141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NAME (“TROLLZORD”)</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MAX HP</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CURRENT HP</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endParaRPr>
              <a:solidFill>
                <a:srgbClr val="FF0000"/>
              </a:solidFill>
              <a:latin typeface="Shadows Into Light"/>
              <a:ea typeface="Shadows Into Light"/>
              <a:cs typeface="Shadows Into Light"/>
              <a:sym typeface="Shadows Into Light"/>
            </a:endParaRPr>
          </a:p>
        </p:txBody>
      </p:sp>
      <p:sp>
        <p:nvSpPr>
          <p:cNvPr id="973" name="Google Shape;973;p106"/>
          <p:cNvSpPr txBox="1"/>
          <p:nvPr/>
        </p:nvSpPr>
        <p:spPr>
          <a:xfrm>
            <a:off x="6253375" y="3585546"/>
            <a:ext cx="2419800" cy="141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GETTERS/SETTERS</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IS VANQUISHED?</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REGENERATE</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ATTACK</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TAKE DAMAGE</a:t>
            </a:r>
            <a:endParaRPr sz="1800">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70"/>
                                        </p:tgtEl>
                                        <p:attrNameLst>
                                          <p:attrName>style.visibility</p:attrName>
                                        </p:attrNameLst>
                                      </p:cBhvr>
                                      <p:to>
                                        <p:strVal val="visible"/>
                                      </p:to>
                                    </p:set>
                                    <p:animEffect transition="in" filter="fade">
                                      <p:cBhvr>
                                        <p:cTn id="7" dur="1000"/>
                                        <p:tgtEl>
                                          <p:spTgt spid="9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72"/>
                                        </p:tgtEl>
                                        <p:attrNameLst>
                                          <p:attrName>style.visibility</p:attrName>
                                        </p:attrNameLst>
                                      </p:cBhvr>
                                      <p:to>
                                        <p:strVal val="visible"/>
                                      </p:to>
                                    </p:set>
                                    <p:animEffect transition="in" filter="fade">
                                      <p:cBhvr>
                                        <p:cTn id="12" dur="1000"/>
                                        <p:tgtEl>
                                          <p:spTgt spid="9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71"/>
                                        </p:tgtEl>
                                        <p:attrNameLst>
                                          <p:attrName>style.visibility</p:attrName>
                                        </p:attrNameLst>
                                      </p:cBhvr>
                                      <p:to>
                                        <p:strVal val="visible"/>
                                      </p:to>
                                    </p:set>
                                    <p:animEffect transition="in" filter="fade">
                                      <p:cBhvr>
                                        <p:cTn id="17" dur="1000"/>
                                        <p:tgtEl>
                                          <p:spTgt spid="97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73"/>
                                        </p:tgtEl>
                                        <p:attrNameLst>
                                          <p:attrName>style.visibility</p:attrName>
                                        </p:attrNameLst>
                                      </p:cBhvr>
                                      <p:to>
                                        <p:strVal val="visible"/>
                                      </p:to>
                                    </p:set>
                                    <p:animEffect transition="in" filter="fade">
                                      <p:cBhvr>
                                        <p:cTn id="22" dur="1000"/>
                                        <p:tgtEl>
                                          <p:spTgt spid="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10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
        <p:nvSpPr>
          <p:cNvPr id="979" name="Google Shape;979;p107"/>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Software Design</a:t>
            </a:r>
            <a:endParaRPr/>
          </a:p>
        </p:txBody>
      </p:sp>
      <p:sp>
        <p:nvSpPr>
          <p:cNvPr id="980" name="Google Shape;980;p107"/>
          <p:cNvSpPr txBox="1">
            <a:spLocks noGrp="1"/>
          </p:cNvSpPr>
          <p:nvPr>
            <p:ph type="body" idx="1"/>
          </p:nvPr>
        </p:nvSpPr>
        <p:spPr>
          <a:xfrm>
            <a:off x="4467300" y="231025"/>
            <a:ext cx="4422900" cy="4720200"/>
          </a:xfrm>
          <a:prstGeom prst="rect">
            <a:avLst/>
          </a:prstGeom>
        </p:spPr>
        <p:txBody>
          <a:bodyPr spcFirstLastPara="1" wrap="square" lIns="91425" tIns="91425" rIns="91425" bIns="91425" anchor="ctr" anchorCtr="0">
            <a:noAutofit/>
          </a:bodyPr>
          <a:lstStyle/>
          <a:p>
            <a:pPr marL="457200" lvl="0" indent="-311150" algn="l" rtl="0">
              <a:spcBef>
                <a:spcPts val="0"/>
              </a:spcBef>
              <a:spcAft>
                <a:spcPts val="0"/>
              </a:spcAft>
              <a:buSzPts val="1300"/>
              <a:buChar char="●"/>
            </a:pPr>
            <a:r>
              <a:rPr lang="en"/>
              <a:t>Domain analysis is often the first step in </a:t>
            </a:r>
            <a:r>
              <a:rPr lang="en" b="1" i="1">
                <a:solidFill>
                  <a:srgbClr val="FF0000"/>
                </a:solidFill>
              </a:rPr>
              <a:t>software design</a:t>
            </a:r>
            <a:r>
              <a:rPr lang="en"/>
              <a:t>, and we have now performed </a:t>
            </a:r>
            <a:r>
              <a:rPr lang="en" b="1" i="1">
                <a:solidFill>
                  <a:srgbClr val="FF0000"/>
                </a:solidFill>
              </a:rPr>
              <a:t>simple domain analyses</a:t>
            </a:r>
            <a:r>
              <a:rPr lang="en"/>
              <a:t> a number of times.</a:t>
            </a:r>
            <a:endParaRPr/>
          </a:p>
          <a:p>
            <a:pPr marL="457200" lvl="0" indent="-311150" algn="l" rtl="0">
              <a:spcBef>
                <a:spcPts val="0"/>
              </a:spcBef>
              <a:spcAft>
                <a:spcPts val="0"/>
              </a:spcAft>
              <a:buSzPts val="1300"/>
              <a:buChar char="●"/>
            </a:pPr>
            <a:r>
              <a:rPr lang="en"/>
              <a:t>In the past, we forged ahead and immediately began writing classes based on this initial analysis, but we now know that can lead to lots of revision.</a:t>
            </a:r>
            <a:endParaRPr/>
          </a:p>
          <a:p>
            <a:pPr marL="914400" lvl="1" indent="-298450" algn="l" rtl="0">
              <a:spcBef>
                <a:spcPts val="0"/>
              </a:spcBef>
              <a:spcAft>
                <a:spcPts val="0"/>
              </a:spcAft>
              <a:buSzPts val="1100"/>
              <a:buChar char="○"/>
            </a:pPr>
            <a:r>
              <a:rPr lang="en"/>
              <a:t>For example, we ended up doing a lot of copying, pasting, and deleting code while implementing the first few </a:t>
            </a:r>
            <a:r>
              <a:rPr lang="en">
                <a:latin typeface="Courier New"/>
                <a:ea typeface="Courier New"/>
                <a:cs typeface="Courier New"/>
                <a:sym typeface="Courier New"/>
              </a:rPr>
              <a:t>Goat</a:t>
            </a:r>
            <a:r>
              <a:rPr lang="en"/>
              <a:t> classes.</a:t>
            </a:r>
            <a:endParaRPr/>
          </a:p>
          <a:p>
            <a:pPr marL="457200" lvl="0" indent="-311150" algn="l" rtl="0">
              <a:spcBef>
                <a:spcPts val="0"/>
              </a:spcBef>
              <a:spcAft>
                <a:spcPts val="0"/>
              </a:spcAft>
              <a:buSzPts val="1300"/>
              <a:buChar char="●"/>
            </a:pPr>
            <a:r>
              <a:rPr lang="en"/>
              <a:t>Before tackling the Trolls, let's learn from our previous mistakes and try to anticipate a more elegant design before we dive into code.</a:t>
            </a:r>
            <a:endParaRPr/>
          </a:p>
          <a:p>
            <a:pPr marL="914400" lvl="1" indent="-298450" algn="l" rtl="0">
              <a:spcBef>
                <a:spcPts val="0"/>
              </a:spcBef>
              <a:spcAft>
                <a:spcPts val="0"/>
              </a:spcAft>
              <a:buSzPts val="1100"/>
              <a:buChar char="○"/>
            </a:pPr>
            <a:r>
              <a:rPr lang="en"/>
              <a:t>A </a:t>
            </a:r>
            <a:r>
              <a:rPr lang="en" b="1" i="1">
                <a:solidFill>
                  <a:srgbClr val="FF0000"/>
                </a:solidFill>
              </a:rPr>
              <a:t>little more</a:t>
            </a:r>
            <a:r>
              <a:rPr lang="en"/>
              <a:t> time spent on an initial design can save a </a:t>
            </a:r>
            <a:r>
              <a:rPr lang="en" b="1" i="1">
                <a:solidFill>
                  <a:srgbClr val="FF0000"/>
                </a:solidFill>
              </a:rPr>
              <a:t>lot more</a:t>
            </a:r>
            <a:r>
              <a:rPr lang="en"/>
              <a:t> time spent writing, revising, and rewriting code later.</a:t>
            </a:r>
            <a:endParaRPr/>
          </a:p>
          <a:p>
            <a:pPr marL="457200" lvl="0" indent="-311150" algn="l" rtl="0">
              <a:spcBef>
                <a:spcPts val="0"/>
              </a:spcBef>
              <a:spcAft>
                <a:spcPts val="0"/>
              </a:spcAft>
              <a:buSzPts val="1300"/>
              <a:buChar char="●"/>
            </a:pPr>
            <a:r>
              <a:rPr lang="en"/>
              <a:t>Before moving forward, let's try to:</a:t>
            </a:r>
            <a:endParaRPr/>
          </a:p>
          <a:p>
            <a:pPr marL="914400" lvl="1" indent="-298450" algn="l" rtl="0">
              <a:spcBef>
                <a:spcPts val="0"/>
              </a:spcBef>
              <a:spcAft>
                <a:spcPts val="0"/>
              </a:spcAft>
              <a:buSzPts val="1100"/>
              <a:buChar char="○"/>
            </a:pPr>
            <a:r>
              <a:rPr lang="en"/>
              <a:t>Identify potential </a:t>
            </a:r>
            <a:r>
              <a:rPr lang="en" b="1" i="1">
                <a:solidFill>
                  <a:srgbClr val="FF0000"/>
                </a:solidFill>
              </a:rPr>
              <a:t>parent classes</a:t>
            </a:r>
            <a:r>
              <a:rPr lang="en"/>
              <a:t> based on common attributes among the Trolls.</a:t>
            </a:r>
            <a:endParaRPr/>
          </a:p>
          <a:p>
            <a:pPr marL="914400" lvl="1" indent="-298450" algn="l" rtl="0">
              <a:spcBef>
                <a:spcPts val="0"/>
              </a:spcBef>
              <a:spcAft>
                <a:spcPts val="0"/>
              </a:spcAft>
              <a:buSzPts val="1100"/>
              <a:buChar char="○"/>
            </a:pPr>
            <a:r>
              <a:rPr lang="en"/>
              <a:t>Identify possible </a:t>
            </a:r>
            <a:r>
              <a:rPr lang="en" b="1" i="1">
                <a:solidFill>
                  <a:srgbClr val="FF0000"/>
                </a:solidFill>
              </a:rPr>
              <a:t>abstract methods</a:t>
            </a:r>
            <a:r>
              <a:rPr lang="en">
                <a:solidFill>
                  <a:srgbClr val="FF0000"/>
                </a:solidFill>
              </a:rPr>
              <a:t> </a:t>
            </a:r>
            <a:r>
              <a:rPr lang="en"/>
              <a:t>where there is a method that every Troll needs, but there is no common implementation of the method.</a:t>
            </a:r>
            <a:endParaRPr/>
          </a:p>
          <a:p>
            <a:pPr marL="457200" lvl="0" indent="-311150" algn="l" rtl="0">
              <a:spcBef>
                <a:spcPts val="0"/>
              </a:spcBef>
              <a:spcAft>
                <a:spcPts val="0"/>
              </a:spcAft>
              <a:buSzPts val="1300"/>
              <a:buChar char="●"/>
            </a:pPr>
            <a:r>
              <a:rPr lang="en"/>
              <a:t>How will this extra effort </a:t>
            </a:r>
            <a:r>
              <a:rPr lang="en" b="1" i="1">
                <a:solidFill>
                  <a:srgbClr val="FF0000"/>
                </a:solidFill>
              </a:rPr>
              <a:t>now</a:t>
            </a:r>
            <a:r>
              <a:rPr lang="en">
                <a:solidFill>
                  <a:srgbClr val="FF0000"/>
                </a:solidFill>
              </a:rPr>
              <a:t> </a:t>
            </a:r>
            <a:r>
              <a:rPr lang="en"/>
              <a:t>save us time and effort </a:t>
            </a:r>
            <a:r>
              <a:rPr lang="en" b="1" i="1">
                <a:solidFill>
                  <a:srgbClr val="FF0000"/>
                </a:solidFill>
              </a:rPr>
              <a:t>later</a:t>
            </a:r>
            <a:r>
              <a:rPr lang="en"/>
              <a:t>?</a:t>
            </a:r>
            <a:endParaRPr/>
          </a:p>
        </p:txBody>
      </p:sp>
      <p:sp>
        <p:nvSpPr>
          <p:cNvPr id="981" name="Google Shape;981;p107"/>
          <p:cNvSpPr txBox="1">
            <a:spLocks noGrp="1"/>
          </p:cNvSpPr>
          <p:nvPr>
            <p:ph type="body" idx="3"/>
          </p:nvPr>
        </p:nvSpPr>
        <p:spPr>
          <a:xfrm>
            <a:off x="311725" y="852800"/>
            <a:ext cx="3706500" cy="824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Many novice programmers (and some who are experienced) use</a:t>
            </a:r>
            <a:r>
              <a:rPr lang="en" sz="1200">
                <a:solidFill>
                  <a:srgbClr val="FF0000"/>
                </a:solidFill>
              </a:rPr>
              <a:t> </a:t>
            </a:r>
            <a:r>
              <a:rPr lang="en" sz="1200" b="1" i="1">
                <a:solidFill>
                  <a:srgbClr val="FF0000"/>
                </a:solidFill>
              </a:rPr>
              <a:t>"clean sheet coding"</a:t>
            </a:r>
            <a:r>
              <a:rPr lang="en" sz="1200"/>
              <a:t> in which they simply start writing code in an empty file with </a:t>
            </a:r>
            <a:r>
              <a:rPr lang="en" sz="1200" b="1" i="1">
                <a:solidFill>
                  <a:srgbClr val="FF0000"/>
                </a:solidFill>
              </a:rPr>
              <a:t>little thought</a:t>
            </a:r>
            <a:r>
              <a:rPr lang="en" sz="1200">
                <a:solidFill>
                  <a:srgbClr val="FF0000"/>
                </a:solidFill>
              </a:rPr>
              <a:t> </a:t>
            </a:r>
            <a:r>
              <a:rPr lang="en" sz="1200"/>
              <a:t>put into an up front design.</a:t>
            </a:r>
            <a:r>
              <a:rPr lang="en"/>
              <a:t> </a:t>
            </a:r>
            <a:endParaRPr/>
          </a:p>
        </p:txBody>
      </p:sp>
      <p:sp>
        <p:nvSpPr>
          <p:cNvPr id="982" name="Google Shape;982;p107"/>
          <p:cNvSpPr txBox="1">
            <a:spLocks noGrp="1"/>
          </p:cNvSpPr>
          <p:nvPr>
            <p:ph type="body" idx="3"/>
          </p:nvPr>
        </p:nvSpPr>
        <p:spPr>
          <a:xfrm>
            <a:off x="311725" y="1774601"/>
            <a:ext cx="3706500" cy="8859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This kind of software development is perfectly fine for</a:t>
            </a:r>
            <a:r>
              <a:rPr lang="en" sz="1200">
                <a:solidFill>
                  <a:srgbClr val="FF0000"/>
                </a:solidFill>
              </a:rPr>
              <a:t> </a:t>
            </a:r>
            <a:r>
              <a:rPr lang="en" sz="1200" b="1" i="1">
                <a:solidFill>
                  <a:srgbClr val="FF0000"/>
                </a:solidFill>
              </a:rPr>
              <a:t>throwaway code</a:t>
            </a:r>
            <a:r>
              <a:rPr lang="en" sz="1200"/>
              <a:t>; rapid prototypes or solutions to toy problems. In those circumstances, spending a lot of time on a design </a:t>
            </a:r>
            <a:r>
              <a:rPr lang="en" sz="1200" b="1" i="1">
                <a:solidFill>
                  <a:srgbClr val="FF0000"/>
                </a:solidFill>
              </a:rPr>
              <a:t>probably </a:t>
            </a:r>
            <a:r>
              <a:rPr lang="en" sz="1200"/>
              <a:t>isn't worth it.</a:t>
            </a:r>
            <a:endParaRPr/>
          </a:p>
        </p:txBody>
      </p:sp>
      <p:sp>
        <p:nvSpPr>
          <p:cNvPr id="983" name="Google Shape;983;p107"/>
          <p:cNvSpPr txBox="1">
            <a:spLocks noGrp="1"/>
          </p:cNvSpPr>
          <p:nvPr>
            <p:ph type="body" idx="3"/>
          </p:nvPr>
        </p:nvSpPr>
        <p:spPr>
          <a:xfrm>
            <a:off x="311725" y="2757601"/>
            <a:ext cx="3706500" cy="8859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But any code that you plan to spend more than a few minutes on is worth designing </a:t>
            </a:r>
            <a:r>
              <a:rPr lang="en" sz="1200" b="1" i="1">
                <a:solidFill>
                  <a:srgbClr val="FF0000"/>
                </a:solidFill>
              </a:rPr>
              <a:t>up front</a:t>
            </a:r>
            <a:r>
              <a:rPr lang="en" sz="1200"/>
              <a:t>. This can (and will) save you a </a:t>
            </a:r>
            <a:r>
              <a:rPr lang="en" sz="1200" b="1" i="1">
                <a:solidFill>
                  <a:srgbClr val="FF0000"/>
                </a:solidFill>
              </a:rPr>
              <a:t>lot</a:t>
            </a:r>
            <a:r>
              <a:rPr lang="en" sz="1200">
                <a:solidFill>
                  <a:srgbClr val="FF0000"/>
                </a:solidFill>
              </a:rPr>
              <a:t> </a:t>
            </a:r>
            <a:r>
              <a:rPr lang="en" sz="1200"/>
              <a:t>of time, especially with OO programs that include lots of little classes.</a:t>
            </a:r>
            <a:endParaRPr/>
          </a:p>
        </p:txBody>
      </p:sp>
      <p:sp>
        <p:nvSpPr>
          <p:cNvPr id="984" name="Google Shape;984;p107"/>
          <p:cNvSpPr txBox="1">
            <a:spLocks noGrp="1"/>
          </p:cNvSpPr>
          <p:nvPr>
            <p:ph type="body" idx="3"/>
          </p:nvPr>
        </p:nvSpPr>
        <p:spPr>
          <a:xfrm>
            <a:off x="311725" y="3748200"/>
            <a:ext cx="3706500" cy="5232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The good news is that, over time and with practice, you will get </a:t>
            </a:r>
            <a:r>
              <a:rPr lang="en" sz="1200" b="1" i="1">
                <a:solidFill>
                  <a:srgbClr val="FF0000"/>
                </a:solidFill>
              </a:rPr>
              <a:t>better</a:t>
            </a:r>
            <a:r>
              <a:rPr lang="en" sz="1200">
                <a:solidFill>
                  <a:srgbClr val="FF0000"/>
                </a:solidFill>
              </a:rPr>
              <a:t> </a:t>
            </a:r>
            <a:r>
              <a:rPr lang="en" sz="1200"/>
              <a:t>and </a:t>
            </a:r>
            <a:r>
              <a:rPr lang="en" sz="1200" b="1" i="1">
                <a:solidFill>
                  <a:srgbClr val="FF0000"/>
                </a:solidFill>
              </a:rPr>
              <a:t>faster</a:t>
            </a:r>
            <a:r>
              <a:rPr lang="en" sz="1200">
                <a:solidFill>
                  <a:srgbClr val="FF0000"/>
                </a:solidFill>
              </a:rPr>
              <a:t> </a:t>
            </a:r>
            <a:r>
              <a:rPr lang="en" sz="1200"/>
              <a:t>at designing software.</a:t>
            </a:r>
            <a:endParaRPr/>
          </a:p>
        </p:txBody>
      </p:sp>
      <p:sp>
        <p:nvSpPr>
          <p:cNvPr id="985" name="Google Shape;985;p107"/>
          <p:cNvSpPr txBox="1">
            <a:spLocks noGrp="1"/>
          </p:cNvSpPr>
          <p:nvPr>
            <p:ph type="body" idx="3"/>
          </p:nvPr>
        </p:nvSpPr>
        <p:spPr>
          <a:xfrm>
            <a:off x="311725" y="4376100"/>
            <a:ext cx="3706500" cy="5232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And you will learn about </a:t>
            </a:r>
            <a:r>
              <a:rPr lang="en" sz="1200" b="1" i="1">
                <a:solidFill>
                  <a:srgbClr val="FF0000"/>
                </a:solidFill>
              </a:rPr>
              <a:t>design patterns</a:t>
            </a:r>
            <a:r>
              <a:rPr lang="en" sz="1200"/>
              <a:t> that can act like shortcuts to a design for common problems.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1"/>
                                        </p:tgtEl>
                                        <p:attrNameLst>
                                          <p:attrName>style.visibility</p:attrName>
                                        </p:attrNameLst>
                                      </p:cBhvr>
                                      <p:to>
                                        <p:strVal val="visible"/>
                                      </p:to>
                                    </p:set>
                                    <p:animEffect transition="in" filter="fade">
                                      <p:cBhvr>
                                        <p:cTn id="7" dur="1000"/>
                                        <p:tgtEl>
                                          <p:spTgt spid="9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82"/>
                                        </p:tgtEl>
                                        <p:attrNameLst>
                                          <p:attrName>style.visibility</p:attrName>
                                        </p:attrNameLst>
                                      </p:cBhvr>
                                      <p:to>
                                        <p:strVal val="visible"/>
                                      </p:to>
                                    </p:set>
                                    <p:animEffect transition="in" filter="fade">
                                      <p:cBhvr>
                                        <p:cTn id="12" dur="1000"/>
                                        <p:tgtEl>
                                          <p:spTgt spid="98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83"/>
                                        </p:tgtEl>
                                        <p:attrNameLst>
                                          <p:attrName>style.visibility</p:attrName>
                                        </p:attrNameLst>
                                      </p:cBhvr>
                                      <p:to>
                                        <p:strVal val="visible"/>
                                      </p:to>
                                    </p:set>
                                    <p:animEffect transition="in" filter="fade">
                                      <p:cBhvr>
                                        <p:cTn id="17" dur="1000"/>
                                        <p:tgtEl>
                                          <p:spTgt spid="98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84"/>
                                        </p:tgtEl>
                                        <p:attrNameLst>
                                          <p:attrName>style.visibility</p:attrName>
                                        </p:attrNameLst>
                                      </p:cBhvr>
                                      <p:to>
                                        <p:strVal val="visible"/>
                                      </p:to>
                                    </p:set>
                                    <p:animEffect transition="in" filter="fade">
                                      <p:cBhvr>
                                        <p:cTn id="22" dur="1000"/>
                                        <p:tgtEl>
                                          <p:spTgt spid="98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85"/>
                                        </p:tgtEl>
                                        <p:attrNameLst>
                                          <p:attrName>style.visibility</p:attrName>
                                        </p:attrNameLst>
                                      </p:cBhvr>
                                      <p:to>
                                        <p:strVal val="visible"/>
                                      </p:to>
                                    </p:set>
                                    <p:animEffect transition="in" filter="fade">
                                      <p:cBhvr>
                                        <p:cTn id="27" dur="1000"/>
                                        <p:tgtEl>
                                          <p:spTgt spid="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p10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iterate on our domain analysis again and try to identify common attributes between the two different types of Trolls. This will help us make the decision about whether or not we need a common parent.</a:t>
            </a:r>
            <a:endParaRPr/>
          </a:p>
        </p:txBody>
      </p:sp>
      <p:sp>
        <p:nvSpPr>
          <p:cNvPr id="991" name="Google Shape;991;p108"/>
          <p:cNvSpPr txBox="1">
            <a:spLocks noGrp="1"/>
          </p:cNvSpPr>
          <p:nvPr>
            <p:ph type="sldNum" idx="12"/>
          </p:nvPr>
        </p:nvSpPr>
        <p:spPr>
          <a:xfrm>
            <a:off x="8578605"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
        <p:nvSpPr>
          <p:cNvPr id="992" name="Google Shape;992;p10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Identifying Common Attributes</a:t>
            </a:r>
            <a:endParaRPr/>
          </a:p>
        </p:txBody>
      </p:sp>
      <p:sp>
        <p:nvSpPr>
          <p:cNvPr id="993" name="Google Shape;993;p10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3.20</a:t>
            </a:r>
            <a:endParaRPr/>
          </a:p>
        </p:txBody>
      </p:sp>
      <p:graphicFrame>
        <p:nvGraphicFramePr>
          <p:cNvPr id="994" name="Google Shape;994;p108"/>
          <p:cNvGraphicFramePr/>
          <p:nvPr/>
        </p:nvGraphicFramePr>
        <p:xfrm>
          <a:off x="2490850" y="1650550"/>
          <a:ext cx="6257775" cy="3330050"/>
        </p:xfrm>
        <a:graphic>
          <a:graphicData uri="http://schemas.openxmlformats.org/drawingml/2006/table">
            <a:tbl>
              <a:tblPr>
                <a:noFill/>
                <a:tableStyleId>{BB7116F7-C15E-4CF7-A1A4-3F0B48A09751}</a:tableStyleId>
              </a:tblPr>
              <a:tblGrid>
                <a:gridCol w="900075">
                  <a:extLst>
                    <a:ext uri="{9D8B030D-6E8A-4147-A177-3AD203B41FA5}">
                      <a16:colId xmlns:a16="http://schemas.microsoft.com/office/drawing/2014/main" val="20000"/>
                    </a:ext>
                  </a:extLst>
                </a:gridCol>
                <a:gridCol w="1785900">
                  <a:extLst>
                    <a:ext uri="{9D8B030D-6E8A-4147-A177-3AD203B41FA5}">
                      <a16:colId xmlns:a16="http://schemas.microsoft.com/office/drawing/2014/main" val="20001"/>
                    </a:ext>
                  </a:extLst>
                </a:gridCol>
                <a:gridCol w="1785900">
                  <a:extLst>
                    <a:ext uri="{9D8B030D-6E8A-4147-A177-3AD203B41FA5}">
                      <a16:colId xmlns:a16="http://schemas.microsoft.com/office/drawing/2014/main" val="20002"/>
                    </a:ext>
                  </a:extLst>
                </a:gridCol>
                <a:gridCol w="1785900">
                  <a:extLst>
                    <a:ext uri="{9D8B030D-6E8A-4147-A177-3AD203B41FA5}">
                      <a16:colId xmlns:a16="http://schemas.microsoft.com/office/drawing/2014/main" val="20003"/>
                    </a:ext>
                  </a:extLst>
                </a:gridCol>
              </a:tblGrid>
              <a:tr h="4170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t>Common to Both</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t>Unique to Trollzord</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t>Unique to Trolling</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456500">
                <a:tc>
                  <a:txBody>
                    <a:bodyPr/>
                    <a:lstStyle/>
                    <a:p>
                      <a:pPr marL="0" lvl="0" indent="0" algn="l" rtl="0">
                        <a:spcBef>
                          <a:spcPts val="0"/>
                        </a:spcBef>
                        <a:spcAft>
                          <a:spcPts val="0"/>
                        </a:spcAft>
                        <a:buNone/>
                      </a:pPr>
                      <a:r>
                        <a:rPr lang="en"/>
                        <a:t>State</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456500">
                <a:tc>
                  <a:txBody>
                    <a:bodyPr/>
                    <a:lstStyle/>
                    <a:p>
                      <a:pPr marL="0" lvl="0" indent="0" algn="l" rtl="0">
                        <a:spcBef>
                          <a:spcPts val="0"/>
                        </a:spcBef>
                        <a:spcAft>
                          <a:spcPts val="0"/>
                        </a:spcAft>
                        <a:buNone/>
                      </a:pPr>
                      <a:r>
                        <a:rPr lang="en"/>
                        <a:t>Behavior</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pic>
        <p:nvPicPr>
          <p:cNvPr id="995" name="Google Shape;995;p108"/>
          <p:cNvPicPr preferRelativeResize="0"/>
          <p:nvPr/>
        </p:nvPicPr>
        <p:blipFill>
          <a:blip r:embed="rId3">
            <a:alphaModFix/>
          </a:blip>
          <a:stretch>
            <a:fillRect/>
          </a:stretch>
        </p:blipFill>
        <p:spPr>
          <a:xfrm>
            <a:off x="209877" y="1824496"/>
            <a:ext cx="998775" cy="1534781"/>
          </a:xfrm>
          <a:prstGeom prst="rect">
            <a:avLst/>
          </a:prstGeom>
          <a:noFill/>
          <a:ln>
            <a:noFill/>
          </a:ln>
        </p:spPr>
      </p:pic>
      <p:pic>
        <p:nvPicPr>
          <p:cNvPr id="996" name="Google Shape;996;p108"/>
          <p:cNvPicPr preferRelativeResize="0"/>
          <p:nvPr/>
        </p:nvPicPr>
        <p:blipFill>
          <a:blip r:embed="rId4">
            <a:alphaModFix/>
          </a:blip>
          <a:stretch>
            <a:fillRect/>
          </a:stretch>
        </p:blipFill>
        <p:spPr>
          <a:xfrm>
            <a:off x="1005281" y="2806579"/>
            <a:ext cx="1124740" cy="1098517"/>
          </a:xfrm>
          <a:prstGeom prst="rect">
            <a:avLst/>
          </a:prstGeom>
          <a:noFill/>
          <a:ln>
            <a:noFill/>
          </a:ln>
        </p:spPr>
      </p:pic>
      <p:sp>
        <p:nvSpPr>
          <p:cNvPr id="997" name="Google Shape;997;p108"/>
          <p:cNvSpPr/>
          <p:nvPr/>
        </p:nvSpPr>
        <p:spPr>
          <a:xfrm>
            <a:off x="1237000" y="2366120"/>
            <a:ext cx="1027200" cy="322800"/>
          </a:xfrm>
          <a:prstGeom prst="wedgeRoundRectCallout">
            <a:avLst>
              <a:gd name="adj1" fmla="val -21700"/>
              <a:gd name="adj2" fmla="val 7994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98" name="Google Shape;998;p108"/>
          <p:cNvPicPr preferRelativeResize="0"/>
          <p:nvPr/>
        </p:nvPicPr>
        <p:blipFill>
          <a:blip r:embed="rId5">
            <a:alphaModFix/>
          </a:blip>
          <a:stretch>
            <a:fillRect/>
          </a:stretch>
        </p:blipFill>
        <p:spPr>
          <a:xfrm>
            <a:off x="1281969" y="2455807"/>
            <a:ext cx="933088" cy="14455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p10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iterate on our domain analysis again and try to identify common attributes between the two different types of Trolls. This will help us make the decision about whether or not we need a common parent.</a:t>
            </a:r>
            <a:endParaRPr/>
          </a:p>
        </p:txBody>
      </p:sp>
      <p:sp>
        <p:nvSpPr>
          <p:cNvPr id="1004" name="Google Shape;1004;p109"/>
          <p:cNvSpPr txBox="1">
            <a:spLocks noGrp="1"/>
          </p:cNvSpPr>
          <p:nvPr>
            <p:ph type="sldNum" idx="12"/>
          </p:nvPr>
        </p:nvSpPr>
        <p:spPr>
          <a:xfrm>
            <a:off x="8578605"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1005" name="Google Shape;1005;p10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Identifying Common Attributes</a:t>
            </a:r>
            <a:endParaRPr/>
          </a:p>
        </p:txBody>
      </p:sp>
      <p:sp>
        <p:nvSpPr>
          <p:cNvPr id="1006" name="Google Shape;1006;p10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3.20</a:t>
            </a:r>
            <a:endParaRPr/>
          </a:p>
        </p:txBody>
      </p:sp>
      <p:graphicFrame>
        <p:nvGraphicFramePr>
          <p:cNvPr id="1007" name="Google Shape;1007;p109"/>
          <p:cNvGraphicFramePr/>
          <p:nvPr/>
        </p:nvGraphicFramePr>
        <p:xfrm>
          <a:off x="2490850" y="1650550"/>
          <a:ext cx="6257775" cy="3330050"/>
        </p:xfrm>
        <a:graphic>
          <a:graphicData uri="http://schemas.openxmlformats.org/drawingml/2006/table">
            <a:tbl>
              <a:tblPr>
                <a:noFill/>
                <a:tableStyleId>{BB7116F7-C15E-4CF7-A1A4-3F0B48A09751}</a:tableStyleId>
              </a:tblPr>
              <a:tblGrid>
                <a:gridCol w="900075">
                  <a:extLst>
                    <a:ext uri="{9D8B030D-6E8A-4147-A177-3AD203B41FA5}">
                      <a16:colId xmlns:a16="http://schemas.microsoft.com/office/drawing/2014/main" val="20000"/>
                    </a:ext>
                  </a:extLst>
                </a:gridCol>
                <a:gridCol w="1785900">
                  <a:extLst>
                    <a:ext uri="{9D8B030D-6E8A-4147-A177-3AD203B41FA5}">
                      <a16:colId xmlns:a16="http://schemas.microsoft.com/office/drawing/2014/main" val="20001"/>
                    </a:ext>
                  </a:extLst>
                </a:gridCol>
                <a:gridCol w="1785900">
                  <a:extLst>
                    <a:ext uri="{9D8B030D-6E8A-4147-A177-3AD203B41FA5}">
                      <a16:colId xmlns:a16="http://schemas.microsoft.com/office/drawing/2014/main" val="20002"/>
                    </a:ext>
                  </a:extLst>
                </a:gridCol>
                <a:gridCol w="1785900">
                  <a:extLst>
                    <a:ext uri="{9D8B030D-6E8A-4147-A177-3AD203B41FA5}">
                      <a16:colId xmlns:a16="http://schemas.microsoft.com/office/drawing/2014/main" val="20003"/>
                    </a:ext>
                  </a:extLst>
                </a:gridCol>
              </a:tblGrid>
              <a:tr h="4170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t>Common to Both</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t>Unique to Trollzord</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t>Unique to Trolling</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456500">
                <a:tc>
                  <a:txBody>
                    <a:bodyPr/>
                    <a:lstStyle/>
                    <a:p>
                      <a:pPr marL="0" lvl="0" indent="0" algn="l" rtl="0">
                        <a:spcBef>
                          <a:spcPts val="0"/>
                        </a:spcBef>
                        <a:spcAft>
                          <a:spcPts val="0"/>
                        </a:spcAft>
                        <a:buNone/>
                      </a:pPr>
                      <a:r>
                        <a:rPr lang="en"/>
                        <a:t>State</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456500">
                <a:tc>
                  <a:txBody>
                    <a:bodyPr/>
                    <a:lstStyle/>
                    <a:p>
                      <a:pPr marL="0" lvl="0" indent="0" algn="l" rtl="0">
                        <a:spcBef>
                          <a:spcPts val="0"/>
                        </a:spcBef>
                        <a:spcAft>
                          <a:spcPts val="0"/>
                        </a:spcAft>
                        <a:buNone/>
                      </a:pPr>
                      <a:r>
                        <a:rPr lang="en"/>
                        <a:t>Behavior</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pic>
        <p:nvPicPr>
          <p:cNvPr id="1008" name="Google Shape;1008;p109"/>
          <p:cNvPicPr preferRelativeResize="0"/>
          <p:nvPr/>
        </p:nvPicPr>
        <p:blipFill>
          <a:blip r:embed="rId3">
            <a:alphaModFix/>
          </a:blip>
          <a:stretch>
            <a:fillRect/>
          </a:stretch>
        </p:blipFill>
        <p:spPr>
          <a:xfrm>
            <a:off x="209877" y="1824496"/>
            <a:ext cx="998775" cy="1534781"/>
          </a:xfrm>
          <a:prstGeom prst="rect">
            <a:avLst/>
          </a:prstGeom>
          <a:noFill/>
          <a:ln>
            <a:noFill/>
          </a:ln>
        </p:spPr>
      </p:pic>
      <p:pic>
        <p:nvPicPr>
          <p:cNvPr id="1009" name="Google Shape;1009;p109"/>
          <p:cNvPicPr preferRelativeResize="0"/>
          <p:nvPr/>
        </p:nvPicPr>
        <p:blipFill>
          <a:blip r:embed="rId4">
            <a:alphaModFix/>
          </a:blip>
          <a:stretch>
            <a:fillRect/>
          </a:stretch>
        </p:blipFill>
        <p:spPr>
          <a:xfrm>
            <a:off x="1005281" y="2806579"/>
            <a:ext cx="1124740" cy="1098517"/>
          </a:xfrm>
          <a:prstGeom prst="rect">
            <a:avLst/>
          </a:prstGeom>
          <a:noFill/>
          <a:ln>
            <a:noFill/>
          </a:ln>
        </p:spPr>
      </p:pic>
      <p:sp>
        <p:nvSpPr>
          <p:cNvPr id="1010" name="Google Shape;1010;p109"/>
          <p:cNvSpPr/>
          <p:nvPr/>
        </p:nvSpPr>
        <p:spPr>
          <a:xfrm>
            <a:off x="1237000" y="2366120"/>
            <a:ext cx="1027200" cy="322800"/>
          </a:xfrm>
          <a:prstGeom prst="wedgeRoundRectCallout">
            <a:avLst>
              <a:gd name="adj1" fmla="val -21700"/>
              <a:gd name="adj2" fmla="val 7994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11" name="Google Shape;1011;p109"/>
          <p:cNvPicPr preferRelativeResize="0"/>
          <p:nvPr/>
        </p:nvPicPr>
        <p:blipFill>
          <a:blip r:embed="rId5">
            <a:alphaModFix/>
          </a:blip>
          <a:stretch>
            <a:fillRect/>
          </a:stretch>
        </p:blipFill>
        <p:spPr>
          <a:xfrm>
            <a:off x="1281969" y="2455807"/>
            <a:ext cx="933088" cy="144552"/>
          </a:xfrm>
          <a:prstGeom prst="rect">
            <a:avLst/>
          </a:prstGeom>
          <a:noFill/>
          <a:ln>
            <a:noFill/>
          </a:ln>
        </p:spPr>
      </p:pic>
      <p:sp>
        <p:nvSpPr>
          <p:cNvPr id="1012" name="Google Shape;1012;p109"/>
          <p:cNvSpPr txBox="1"/>
          <p:nvPr/>
        </p:nvSpPr>
        <p:spPr>
          <a:xfrm>
            <a:off x="3406825" y="2054450"/>
            <a:ext cx="1773600" cy="146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NAME</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MAX HP</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CURRENT HP</a:t>
            </a:r>
            <a:endParaRPr sz="18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REGEN %</a:t>
            </a:r>
            <a:endParaRPr sz="1800">
              <a:solidFill>
                <a:srgbClr val="FF0000"/>
              </a:solidFill>
              <a:latin typeface="Shadows Into Light"/>
              <a:ea typeface="Shadows Into Light"/>
              <a:cs typeface="Shadows Into Light"/>
              <a:sym typeface="Shadows Into Light"/>
            </a:endParaRPr>
          </a:p>
        </p:txBody>
      </p:sp>
      <p:sp>
        <p:nvSpPr>
          <p:cNvPr id="1013" name="Google Shape;1013;p109"/>
          <p:cNvSpPr txBox="1"/>
          <p:nvPr/>
        </p:nvSpPr>
        <p:spPr>
          <a:xfrm>
            <a:off x="3406825" y="3509640"/>
            <a:ext cx="1773600" cy="146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0000"/>
                </a:solidFill>
                <a:latin typeface="Shadows Into Light"/>
                <a:ea typeface="Shadows Into Light"/>
                <a:cs typeface="Shadows Into Light"/>
                <a:sym typeface="Shadows Into Light"/>
              </a:rPr>
              <a:t>CONSTRUCTOR?</a:t>
            </a:r>
            <a:endParaRPr sz="16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600">
                <a:solidFill>
                  <a:srgbClr val="FF0000"/>
                </a:solidFill>
                <a:latin typeface="Shadows Into Light"/>
                <a:ea typeface="Shadows Into Light"/>
                <a:cs typeface="Shadows Into Light"/>
                <a:sym typeface="Shadows Into Light"/>
              </a:rPr>
              <a:t>GETTERS/SETTERS</a:t>
            </a:r>
            <a:endParaRPr sz="16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600">
                <a:solidFill>
                  <a:srgbClr val="FF0000"/>
                </a:solidFill>
                <a:latin typeface="Shadows Into Light"/>
                <a:ea typeface="Shadows Into Light"/>
                <a:cs typeface="Shadows Into Light"/>
                <a:sym typeface="Shadows Into Light"/>
              </a:rPr>
              <a:t>REGENERATE?</a:t>
            </a:r>
            <a:endParaRPr sz="16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600">
                <a:solidFill>
                  <a:srgbClr val="FF0000"/>
                </a:solidFill>
                <a:latin typeface="Shadows Into Light"/>
                <a:ea typeface="Shadows Into Light"/>
                <a:cs typeface="Shadows Into Light"/>
                <a:sym typeface="Shadows Into Light"/>
              </a:rPr>
              <a:t>VANQUISHED?</a:t>
            </a:r>
            <a:endParaRPr sz="1600">
              <a:solidFill>
                <a:srgbClr val="FF0000"/>
              </a:solidFill>
              <a:latin typeface="Shadows Into Light"/>
              <a:ea typeface="Shadows Into Light"/>
              <a:cs typeface="Shadows Into Light"/>
              <a:sym typeface="Shadows Into Light"/>
            </a:endParaRPr>
          </a:p>
        </p:txBody>
      </p:sp>
      <p:sp>
        <p:nvSpPr>
          <p:cNvPr id="1014" name="Google Shape;1014;p109"/>
          <p:cNvSpPr txBox="1"/>
          <p:nvPr/>
        </p:nvSpPr>
        <p:spPr>
          <a:xfrm>
            <a:off x="5181595" y="2054450"/>
            <a:ext cx="1773600" cy="146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a:t>
            </a:r>
            <a:endParaRPr sz="1800">
              <a:solidFill>
                <a:srgbClr val="FF0000"/>
              </a:solidFill>
              <a:latin typeface="Shadows Into Light"/>
              <a:ea typeface="Shadows Into Light"/>
              <a:cs typeface="Shadows Into Light"/>
              <a:sym typeface="Shadows Into Light"/>
            </a:endParaRPr>
          </a:p>
        </p:txBody>
      </p:sp>
      <p:sp>
        <p:nvSpPr>
          <p:cNvPr id="1015" name="Google Shape;1015;p109"/>
          <p:cNvSpPr txBox="1"/>
          <p:nvPr/>
        </p:nvSpPr>
        <p:spPr>
          <a:xfrm>
            <a:off x="5181595" y="3509640"/>
            <a:ext cx="1773600" cy="146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0000"/>
                </a:solidFill>
                <a:latin typeface="Shadows Into Light"/>
                <a:ea typeface="Shadows Into Light"/>
                <a:cs typeface="Shadows Into Light"/>
                <a:sym typeface="Shadows Into Light"/>
              </a:rPr>
              <a:t>CONSTRUCTOR</a:t>
            </a:r>
            <a:endParaRPr sz="16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600">
                <a:solidFill>
                  <a:srgbClr val="FF0000"/>
                </a:solidFill>
                <a:latin typeface="Shadows Into Light"/>
                <a:ea typeface="Shadows Into Light"/>
                <a:cs typeface="Shadows Into Light"/>
                <a:sym typeface="Shadows Into Light"/>
              </a:rPr>
              <a:t>ATTACK</a:t>
            </a:r>
            <a:endParaRPr sz="16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600">
                <a:solidFill>
                  <a:srgbClr val="FF0000"/>
                </a:solidFill>
                <a:latin typeface="Shadows Into Light"/>
                <a:ea typeface="Shadows Into Light"/>
                <a:cs typeface="Shadows Into Light"/>
                <a:sym typeface="Shadows Into Light"/>
              </a:rPr>
              <a:t>REGENERATE?</a:t>
            </a:r>
            <a:endParaRPr sz="16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600">
                <a:solidFill>
                  <a:srgbClr val="FF0000"/>
                </a:solidFill>
                <a:latin typeface="Shadows Into Light"/>
                <a:ea typeface="Shadows Into Light"/>
                <a:cs typeface="Shadows Into Light"/>
                <a:sym typeface="Shadows Into Light"/>
              </a:rPr>
              <a:t>TAKE DAMAGE</a:t>
            </a:r>
            <a:endParaRPr sz="1600">
              <a:solidFill>
                <a:srgbClr val="FF0000"/>
              </a:solidFill>
              <a:latin typeface="Shadows Into Light"/>
              <a:ea typeface="Shadows Into Light"/>
              <a:cs typeface="Shadows Into Light"/>
              <a:sym typeface="Shadows Into Light"/>
            </a:endParaRPr>
          </a:p>
        </p:txBody>
      </p:sp>
      <p:sp>
        <p:nvSpPr>
          <p:cNvPr id="1016" name="Google Shape;1016;p109"/>
          <p:cNvSpPr txBox="1"/>
          <p:nvPr/>
        </p:nvSpPr>
        <p:spPr>
          <a:xfrm>
            <a:off x="6956366" y="2054450"/>
            <a:ext cx="1773600" cy="146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0000"/>
                </a:solidFill>
                <a:latin typeface="Shadows Into Light"/>
                <a:ea typeface="Shadows Into Light"/>
                <a:cs typeface="Shadows Into Light"/>
                <a:sym typeface="Shadows Into Light"/>
              </a:rPr>
              <a:t>?</a:t>
            </a:r>
            <a:endParaRPr sz="1800">
              <a:solidFill>
                <a:srgbClr val="FF0000"/>
              </a:solidFill>
              <a:latin typeface="Shadows Into Light"/>
              <a:ea typeface="Shadows Into Light"/>
              <a:cs typeface="Shadows Into Light"/>
              <a:sym typeface="Shadows Into Light"/>
            </a:endParaRPr>
          </a:p>
        </p:txBody>
      </p:sp>
      <p:sp>
        <p:nvSpPr>
          <p:cNvPr id="1017" name="Google Shape;1017;p109"/>
          <p:cNvSpPr txBox="1"/>
          <p:nvPr/>
        </p:nvSpPr>
        <p:spPr>
          <a:xfrm>
            <a:off x="6956366" y="3509640"/>
            <a:ext cx="1773600" cy="146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0000"/>
                </a:solidFill>
                <a:latin typeface="Shadows Into Light"/>
                <a:ea typeface="Shadows Into Light"/>
                <a:cs typeface="Shadows Into Light"/>
                <a:sym typeface="Shadows Into Light"/>
              </a:rPr>
              <a:t>CONSTRUCTOR</a:t>
            </a:r>
            <a:endParaRPr sz="16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600">
                <a:solidFill>
                  <a:srgbClr val="FF0000"/>
                </a:solidFill>
                <a:latin typeface="Shadows Into Light"/>
                <a:ea typeface="Shadows Into Light"/>
                <a:cs typeface="Shadows Into Light"/>
                <a:sym typeface="Shadows Into Light"/>
              </a:rPr>
              <a:t>ATTACK</a:t>
            </a:r>
            <a:endParaRPr sz="16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600">
                <a:solidFill>
                  <a:srgbClr val="FF0000"/>
                </a:solidFill>
                <a:latin typeface="Shadows Into Light"/>
                <a:ea typeface="Shadows Into Light"/>
                <a:cs typeface="Shadows Into Light"/>
                <a:sym typeface="Shadows Into Light"/>
              </a:rPr>
              <a:t>REGENERATE?</a:t>
            </a:r>
            <a:endParaRPr sz="1600">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sz="1600">
                <a:solidFill>
                  <a:srgbClr val="FF0000"/>
                </a:solidFill>
                <a:latin typeface="Shadows Into Light"/>
                <a:ea typeface="Shadows Into Light"/>
                <a:cs typeface="Shadows Into Light"/>
                <a:sym typeface="Shadows Into Light"/>
              </a:rPr>
              <a:t>TAKE DAMAGE</a:t>
            </a:r>
            <a:endParaRPr sz="1600">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12"/>
                                        </p:tgtEl>
                                        <p:attrNameLst>
                                          <p:attrName>style.visibility</p:attrName>
                                        </p:attrNameLst>
                                      </p:cBhvr>
                                      <p:to>
                                        <p:strVal val="visible"/>
                                      </p:to>
                                    </p:set>
                                    <p:animEffect transition="in" filter="fade">
                                      <p:cBhvr>
                                        <p:cTn id="7" dur="1000"/>
                                        <p:tgtEl>
                                          <p:spTgt spid="10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13"/>
                                        </p:tgtEl>
                                        <p:attrNameLst>
                                          <p:attrName>style.visibility</p:attrName>
                                        </p:attrNameLst>
                                      </p:cBhvr>
                                      <p:to>
                                        <p:strVal val="visible"/>
                                      </p:to>
                                    </p:set>
                                    <p:animEffect transition="in" filter="fade">
                                      <p:cBhvr>
                                        <p:cTn id="12" dur="1000"/>
                                        <p:tgtEl>
                                          <p:spTgt spid="10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14"/>
                                        </p:tgtEl>
                                        <p:attrNameLst>
                                          <p:attrName>style.visibility</p:attrName>
                                        </p:attrNameLst>
                                      </p:cBhvr>
                                      <p:to>
                                        <p:strVal val="visible"/>
                                      </p:to>
                                    </p:set>
                                    <p:animEffect transition="in" filter="fade">
                                      <p:cBhvr>
                                        <p:cTn id="17" dur="1000"/>
                                        <p:tgtEl>
                                          <p:spTgt spid="10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15"/>
                                        </p:tgtEl>
                                        <p:attrNameLst>
                                          <p:attrName>style.visibility</p:attrName>
                                        </p:attrNameLst>
                                      </p:cBhvr>
                                      <p:to>
                                        <p:strVal val="visible"/>
                                      </p:to>
                                    </p:set>
                                    <p:animEffect transition="in" filter="fade">
                                      <p:cBhvr>
                                        <p:cTn id="22" dur="1000"/>
                                        <p:tgtEl>
                                          <p:spTgt spid="10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16"/>
                                        </p:tgtEl>
                                        <p:attrNameLst>
                                          <p:attrName>style.visibility</p:attrName>
                                        </p:attrNameLst>
                                      </p:cBhvr>
                                      <p:to>
                                        <p:strVal val="visible"/>
                                      </p:to>
                                    </p:set>
                                    <p:animEffect transition="in" filter="fade">
                                      <p:cBhvr>
                                        <p:cTn id="27" dur="1000"/>
                                        <p:tgtEl>
                                          <p:spTgt spid="10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17"/>
                                        </p:tgtEl>
                                        <p:attrNameLst>
                                          <p:attrName>style.visibility</p:attrName>
                                        </p:attrNameLst>
                                      </p:cBhvr>
                                      <p:to>
                                        <p:strVal val="visible"/>
                                      </p:to>
                                    </p:set>
                                    <p:animEffect transition="in" filter="fade">
                                      <p:cBhvr>
                                        <p:cTn id="32" dur="1000"/>
                                        <p:tgtEl>
                                          <p:spTgt spid="1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p110"/>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Abstract Classes in UML</a:t>
            </a:r>
            <a:endParaRPr/>
          </a:p>
        </p:txBody>
      </p:sp>
      <p:sp>
        <p:nvSpPr>
          <p:cNvPr id="1023" name="Google Shape;1023;p11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48</a:t>
            </a:fld>
            <a:endParaRPr/>
          </a:p>
        </p:txBody>
      </p:sp>
      <p:pic>
        <p:nvPicPr>
          <p:cNvPr id="1024" name="Google Shape;1024;p110"/>
          <p:cNvPicPr preferRelativeResize="0"/>
          <p:nvPr/>
        </p:nvPicPr>
        <p:blipFill>
          <a:blip r:embed="rId3">
            <a:alphaModFix/>
          </a:blip>
          <a:stretch>
            <a:fillRect/>
          </a:stretch>
        </p:blipFill>
        <p:spPr>
          <a:xfrm>
            <a:off x="1675125" y="948175"/>
            <a:ext cx="5793751" cy="393809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p111"/>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Abstract Classes in UML</a:t>
            </a:r>
            <a:endParaRPr/>
          </a:p>
        </p:txBody>
      </p:sp>
      <p:sp>
        <p:nvSpPr>
          <p:cNvPr id="1030" name="Google Shape;1030;p11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49</a:t>
            </a:fld>
            <a:endParaRPr/>
          </a:p>
        </p:txBody>
      </p:sp>
      <p:pic>
        <p:nvPicPr>
          <p:cNvPr id="1031" name="Google Shape;1031;p111"/>
          <p:cNvPicPr preferRelativeResize="0"/>
          <p:nvPr/>
        </p:nvPicPr>
        <p:blipFill>
          <a:blip r:embed="rId3">
            <a:alphaModFix/>
          </a:blip>
          <a:stretch>
            <a:fillRect/>
          </a:stretch>
        </p:blipFill>
        <p:spPr>
          <a:xfrm>
            <a:off x="1675125" y="948175"/>
            <a:ext cx="5793751" cy="3938099"/>
          </a:xfrm>
          <a:prstGeom prst="rect">
            <a:avLst/>
          </a:prstGeom>
          <a:noFill/>
          <a:ln>
            <a:noFill/>
          </a:ln>
        </p:spPr>
      </p:pic>
      <p:sp>
        <p:nvSpPr>
          <p:cNvPr id="1032" name="Google Shape;1032;p111"/>
          <p:cNvSpPr txBox="1"/>
          <p:nvPr/>
        </p:nvSpPr>
        <p:spPr>
          <a:xfrm>
            <a:off x="344311" y="967201"/>
            <a:ext cx="2555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An abstract class in a UML diagram is indicated using the </a:t>
            </a:r>
            <a:r>
              <a:rPr lang="en" sz="1100" b="1" i="1">
                <a:solidFill>
                  <a:srgbClr val="FF0000"/>
                </a:solidFill>
              </a:rPr>
              <a:t>&lt;&lt;abstract&gt;&gt;</a:t>
            </a:r>
            <a:r>
              <a:rPr lang="en" sz="1100"/>
              <a:t> annotation (in </a:t>
            </a:r>
            <a:r>
              <a:rPr lang="en" sz="1100" b="1" i="1">
                <a:solidFill>
                  <a:srgbClr val="FF0000"/>
                </a:solidFill>
              </a:rPr>
              <a:t>guillemets</a:t>
            </a:r>
            <a:r>
              <a:rPr lang="en" sz="1100"/>
              <a:t>).</a:t>
            </a:r>
            <a:endParaRPr sz="1100"/>
          </a:p>
        </p:txBody>
      </p:sp>
      <p:grpSp>
        <p:nvGrpSpPr>
          <p:cNvPr id="1033" name="Google Shape;1033;p111"/>
          <p:cNvGrpSpPr/>
          <p:nvPr/>
        </p:nvGrpSpPr>
        <p:grpSpPr>
          <a:xfrm>
            <a:off x="2900011" y="982174"/>
            <a:ext cx="2131251" cy="331377"/>
            <a:chOff x="2900011" y="982174"/>
            <a:chExt cx="2131251" cy="331377"/>
          </a:xfrm>
        </p:grpSpPr>
        <p:sp>
          <p:nvSpPr>
            <p:cNvPr id="1034" name="Google Shape;1034;p111"/>
            <p:cNvSpPr/>
            <p:nvPr/>
          </p:nvSpPr>
          <p:spPr>
            <a:xfrm>
              <a:off x="4132762" y="982174"/>
              <a:ext cx="898500" cy="170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35" name="Google Shape;1035;p111"/>
            <p:cNvCxnSpPr>
              <a:stCxn id="1032" idx="3"/>
              <a:endCxn id="1034" idx="1"/>
            </p:cNvCxnSpPr>
            <p:nvPr/>
          </p:nvCxnSpPr>
          <p:spPr>
            <a:xfrm rot="10800000" flipH="1">
              <a:off x="2900011" y="1067551"/>
              <a:ext cx="1232700" cy="246000"/>
            </a:xfrm>
            <a:prstGeom prst="bentConnector3">
              <a:avLst>
                <a:gd name="adj1" fmla="val 50002"/>
              </a:avLst>
            </a:prstGeom>
            <a:noFill/>
            <a:ln w="19050" cap="flat" cmpd="sng">
              <a:solidFill>
                <a:srgbClr val="FF0000"/>
              </a:solidFill>
              <a:prstDash val="solid"/>
              <a:round/>
              <a:headEnd type="none" w="med" len="med"/>
              <a:tailEnd type="none" w="med" len="med"/>
            </a:ln>
          </p:spPr>
        </p:cxnSp>
      </p:grpSp>
      <p:sp>
        <p:nvSpPr>
          <p:cNvPr id="1036" name="Google Shape;1036;p111"/>
          <p:cNvSpPr txBox="1"/>
          <p:nvPr/>
        </p:nvSpPr>
        <p:spPr>
          <a:xfrm>
            <a:off x="344311" y="1808401"/>
            <a:ext cx="2555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b="1" i="1">
                <a:solidFill>
                  <a:srgbClr val="FF0000"/>
                </a:solidFill>
              </a:rPr>
              <a:t>Italics</a:t>
            </a:r>
            <a:r>
              <a:rPr lang="en" sz="1100">
                <a:solidFill>
                  <a:srgbClr val="FF0000"/>
                </a:solidFill>
              </a:rPr>
              <a:t> </a:t>
            </a:r>
            <a:r>
              <a:rPr lang="en" sz="1100"/>
              <a:t>are used to indicate that a method in the class is abstract.</a:t>
            </a:r>
            <a:endParaRPr sz="1100"/>
          </a:p>
        </p:txBody>
      </p:sp>
      <p:grpSp>
        <p:nvGrpSpPr>
          <p:cNvPr id="1037" name="Google Shape;1037;p111"/>
          <p:cNvGrpSpPr/>
          <p:nvPr/>
        </p:nvGrpSpPr>
        <p:grpSpPr>
          <a:xfrm>
            <a:off x="2900011" y="2070001"/>
            <a:ext cx="2019029" cy="591672"/>
            <a:chOff x="2900011" y="2070001"/>
            <a:chExt cx="2019029" cy="591672"/>
          </a:xfrm>
        </p:grpSpPr>
        <p:sp>
          <p:nvSpPr>
            <p:cNvPr id="1038" name="Google Shape;1038;p111"/>
            <p:cNvSpPr/>
            <p:nvPr/>
          </p:nvSpPr>
          <p:spPr>
            <a:xfrm>
              <a:off x="3251940" y="2138473"/>
              <a:ext cx="1667100" cy="523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39" name="Google Shape;1039;p111"/>
            <p:cNvCxnSpPr>
              <a:stCxn id="1036" idx="3"/>
              <a:endCxn id="1038" idx="1"/>
            </p:cNvCxnSpPr>
            <p:nvPr/>
          </p:nvCxnSpPr>
          <p:spPr>
            <a:xfrm>
              <a:off x="2900011" y="2070001"/>
              <a:ext cx="351900" cy="330000"/>
            </a:xfrm>
            <a:prstGeom prst="bentConnector3">
              <a:avLst>
                <a:gd name="adj1" fmla="val 50004"/>
              </a:avLst>
            </a:prstGeom>
            <a:noFill/>
            <a:ln w="19050" cap="flat" cmpd="sng">
              <a:solidFill>
                <a:srgbClr val="FF0000"/>
              </a:solidFill>
              <a:prstDash val="solid"/>
              <a:round/>
              <a:headEnd type="none" w="med" len="med"/>
              <a:tailEnd type="none" w="med" len="med"/>
            </a:ln>
          </p:spPr>
        </p:cxnSp>
      </p:grpSp>
      <p:sp>
        <p:nvSpPr>
          <p:cNvPr id="1040" name="Google Shape;1040;p111"/>
          <p:cNvSpPr txBox="1"/>
          <p:nvPr/>
        </p:nvSpPr>
        <p:spPr>
          <a:xfrm>
            <a:off x="344311" y="2480101"/>
            <a:ext cx="2555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The same arrow used to indicate that one class subclasses another is used when subclassing an abstract class.</a:t>
            </a:r>
            <a:endParaRPr sz="1100"/>
          </a:p>
        </p:txBody>
      </p:sp>
      <p:cxnSp>
        <p:nvCxnSpPr>
          <p:cNvPr id="1041" name="Google Shape;1041;p111"/>
          <p:cNvCxnSpPr>
            <a:stCxn id="1040" idx="3"/>
          </p:cNvCxnSpPr>
          <p:nvPr/>
        </p:nvCxnSpPr>
        <p:spPr>
          <a:xfrm>
            <a:off x="2900011" y="2826451"/>
            <a:ext cx="1569600" cy="0"/>
          </a:xfrm>
          <a:prstGeom prst="straightConnector1">
            <a:avLst/>
          </a:prstGeom>
          <a:noFill/>
          <a:ln w="19050" cap="flat" cmpd="sng">
            <a:solidFill>
              <a:srgbClr val="FF0000"/>
            </a:solidFill>
            <a:prstDash val="solid"/>
            <a:round/>
            <a:headEnd type="none" w="med" len="med"/>
            <a:tailEnd type="triangle" w="med" len="med"/>
          </a:ln>
        </p:spPr>
      </p:cxnSp>
      <p:sp>
        <p:nvSpPr>
          <p:cNvPr id="1042" name="Google Shape;1042;p111"/>
          <p:cNvSpPr txBox="1"/>
          <p:nvPr/>
        </p:nvSpPr>
        <p:spPr>
          <a:xfrm>
            <a:off x="6276611" y="2277401"/>
            <a:ext cx="2555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If a child implements one or more of the abstract methods, they are repeated in the child class.</a:t>
            </a:r>
            <a:endParaRPr sz="1100"/>
          </a:p>
        </p:txBody>
      </p:sp>
      <p:grpSp>
        <p:nvGrpSpPr>
          <p:cNvPr id="1043" name="Google Shape;1043;p111"/>
          <p:cNvGrpSpPr/>
          <p:nvPr/>
        </p:nvGrpSpPr>
        <p:grpSpPr>
          <a:xfrm>
            <a:off x="4811865" y="2970101"/>
            <a:ext cx="2742596" cy="1835497"/>
            <a:chOff x="4811865" y="2970101"/>
            <a:chExt cx="2742596" cy="1835497"/>
          </a:xfrm>
        </p:grpSpPr>
        <p:sp>
          <p:nvSpPr>
            <p:cNvPr id="1044" name="Google Shape;1044;p111"/>
            <p:cNvSpPr/>
            <p:nvPr/>
          </p:nvSpPr>
          <p:spPr>
            <a:xfrm>
              <a:off x="4811865" y="4282398"/>
              <a:ext cx="1667100" cy="523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45" name="Google Shape;1045;p111"/>
            <p:cNvCxnSpPr>
              <a:stCxn id="1042" idx="2"/>
              <a:endCxn id="1044" idx="3"/>
            </p:cNvCxnSpPr>
            <p:nvPr/>
          </p:nvCxnSpPr>
          <p:spPr>
            <a:xfrm rot="5400000">
              <a:off x="6229811" y="3219251"/>
              <a:ext cx="1573800" cy="1075500"/>
            </a:xfrm>
            <a:prstGeom prst="bentConnector2">
              <a:avLst/>
            </a:prstGeom>
            <a:noFill/>
            <a:ln w="19050" cap="flat" cmpd="sng">
              <a:solidFill>
                <a:srgbClr val="FF0000"/>
              </a:solidFill>
              <a:prstDash val="solid"/>
              <a:round/>
              <a:headEnd type="none" w="med" len="med"/>
              <a:tailEnd type="none" w="med" len="med"/>
            </a:ln>
          </p:spPr>
        </p:cxnSp>
      </p:grpSp>
      <p:grpSp>
        <p:nvGrpSpPr>
          <p:cNvPr id="1046" name="Google Shape;1046;p111"/>
          <p:cNvGrpSpPr/>
          <p:nvPr/>
        </p:nvGrpSpPr>
        <p:grpSpPr>
          <a:xfrm>
            <a:off x="1722453" y="3331675"/>
            <a:ext cx="5831822" cy="1466436"/>
            <a:chOff x="1722453" y="3331675"/>
            <a:chExt cx="5831822" cy="1466436"/>
          </a:xfrm>
        </p:grpSpPr>
        <p:sp>
          <p:nvSpPr>
            <p:cNvPr id="1047" name="Google Shape;1047;p111"/>
            <p:cNvSpPr/>
            <p:nvPr/>
          </p:nvSpPr>
          <p:spPr>
            <a:xfrm>
              <a:off x="1722453" y="4274911"/>
              <a:ext cx="1667100" cy="523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11"/>
            <p:cNvSpPr/>
            <p:nvPr/>
          </p:nvSpPr>
          <p:spPr>
            <a:xfrm>
              <a:off x="2545550" y="3331675"/>
              <a:ext cx="5008725" cy="943350"/>
            </a:xfrm>
            <a:custGeom>
              <a:avLst/>
              <a:gdLst/>
              <a:ahLst/>
              <a:cxnLst/>
              <a:rect l="l" t="t" r="r" b="b"/>
              <a:pathLst>
                <a:path w="200349" h="37734" extrusionOk="0">
                  <a:moveTo>
                    <a:pt x="200349" y="0"/>
                  </a:moveTo>
                  <a:lnTo>
                    <a:pt x="0" y="0"/>
                  </a:lnTo>
                  <a:lnTo>
                    <a:pt x="0" y="37734"/>
                  </a:lnTo>
                </a:path>
              </a:pathLst>
            </a:custGeom>
            <a:noFill/>
            <a:ln w="19050" cap="flat" cmpd="sng">
              <a:solidFill>
                <a:srgbClr val="FF0000"/>
              </a:solidFill>
              <a:prstDash val="solid"/>
              <a:round/>
              <a:headEnd type="none" w="med" len="med"/>
              <a:tailEnd type="non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32"/>
                                        </p:tgtEl>
                                        <p:attrNameLst>
                                          <p:attrName>style.visibility</p:attrName>
                                        </p:attrNameLst>
                                      </p:cBhvr>
                                      <p:to>
                                        <p:strVal val="visible"/>
                                      </p:to>
                                    </p:set>
                                    <p:animEffect transition="in" filter="fade">
                                      <p:cBhvr>
                                        <p:cTn id="7" dur="1000"/>
                                        <p:tgtEl>
                                          <p:spTgt spid="103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033"/>
                                        </p:tgtEl>
                                        <p:attrNameLst>
                                          <p:attrName>style.visibility</p:attrName>
                                        </p:attrNameLst>
                                      </p:cBhvr>
                                      <p:to>
                                        <p:strVal val="visible"/>
                                      </p:to>
                                    </p:set>
                                    <p:animEffect transition="in" filter="fade">
                                      <p:cBhvr>
                                        <p:cTn id="11" dur="1000"/>
                                        <p:tgtEl>
                                          <p:spTgt spid="103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36"/>
                                        </p:tgtEl>
                                        <p:attrNameLst>
                                          <p:attrName>style.visibility</p:attrName>
                                        </p:attrNameLst>
                                      </p:cBhvr>
                                      <p:to>
                                        <p:strVal val="visible"/>
                                      </p:to>
                                    </p:set>
                                    <p:animEffect transition="in" filter="fade">
                                      <p:cBhvr>
                                        <p:cTn id="16" dur="1000"/>
                                        <p:tgtEl>
                                          <p:spTgt spid="1036"/>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037"/>
                                        </p:tgtEl>
                                        <p:attrNameLst>
                                          <p:attrName>style.visibility</p:attrName>
                                        </p:attrNameLst>
                                      </p:cBhvr>
                                      <p:to>
                                        <p:strVal val="visible"/>
                                      </p:to>
                                    </p:set>
                                    <p:animEffect transition="in" filter="fade">
                                      <p:cBhvr>
                                        <p:cTn id="20" dur="1000"/>
                                        <p:tgtEl>
                                          <p:spTgt spid="103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40"/>
                                        </p:tgtEl>
                                        <p:attrNameLst>
                                          <p:attrName>style.visibility</p:attrName>
                                        </p:attrNameLst>
                                      </p:cBhvr>
                                      <p:to>
                                        <p:strVal val="visible"/>
                                      </p:to>
                                    </p:set>
                                    <p:animEffect transition="in" filter="fade">
                                      <p:cBhvr>
                                        <p:cTn id="25" dur="1000"/>
                                        <p:tgtEl>
                                          <p:spTgt spid="1040"/>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041"/>
                                        </p:tgtEl>
                                        <p:attrNameLst>
                                          <p:attrName>style.visibility</p:attrName>
                                        </p:attrNameLst>
                                      </p:cBhvr>
                                      <p:to>
                                        <p:strVal val="visible"/>
                                      </p:to>
                                    </p:set>
                                    <p:animEffect transition="in" filter="fade">
                                      <p:cBhvr>
                                        <p:cTn id="29" dur="1000"/>
                                        <p:tgtEl>
                                          <p:spTgt spid="104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42"/>
                                        </p:tgtEl>
                                        <p:attrNameLst>
                                          <p:attrName>style.visibility</p:attrName>
                                        </p:attrNameLst>
                                      </p:cBhvr>
                                      <p:to>
                                        <p:strVal val="visible"/>
                                      </p:to>
                                    </p:set>
                                    <p:animEffect transition="in" filter="fade">
                                      <p:cBhvr>
                                        <p:cTn id="34" dur="1000"/>
                                        <p:tgtEl>
                                          <p:spTgt spid="1042"/>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043"/>
                                        </p:tgtEl>
                                        <p:attrNameLst>
                                          <p:attrName>style.visibility</p:attrName>
                                        </p:attrNameLst>
                                      </p:cBhvr>
                                      <p:to>
                                        <p:strVal val="visible"/>
                                      </p:to>
                                    </p:set>
                                    <p:animEffect transition="in" filter="fade">
                                      <p:cBhvr>
                                        <p:cTn id="38" dur="1000"/>
                                        <p:tgtEl>
                                          <p:spTgt spid="1043"/>
                                        </p:tgtEl>
                                      </p:cBhvr>
                                    </p:animEffect>
                                  </p:childTnLst>
                                </p:cTn>
                              </p:par>
                            </p:childTnLst>
                          </p:cTn>
                        </p:par>
                        <p:par>
                          <p:cTn id="39" fill="hold">
                            <p:stCondLst>
                              <p:cond delay="2000"/>
                            </p:stCondLst>
                            <p:childTnLst>
                              <p:par>
                                <p:cTn id="40" presetID="10" presetClass="entr" presetSubtype="0" fill="hold" nodeType="afterEffect">
                                  <p:stCondLst>
                                    <p:cond delay="0"/>
                                  </p:stCondLst>
                                  <p:childTnLst>
                                    <p:set>
                                      <p:cBhvr>
                                        <p:cTn id="41" dur="1" fill="hold">
                                          <p:stCondLst>
                                            <p:cond delay="0"/>
                                          </p:stCondLst>
                                        </p:cTn>
                                        <p:tgtEl>
                                          <p:spTgt spid="1046"/>
                                        </p:tgtEl>
                                        <p:attrNameLst>
                                          <p:attrName>style.visibility</p:attrName>
                                        </p:attrNameLst>
                                      </p:cBhvr>
                                      <p:to>
                                        <p:strVal val="visible"/>
                                      </p:to>
                                    </p:set>
                                    <p:animEffect transition="in" filter="fade">
                                      <p:cBhvr>
                                        <p:cTn id="42" dur="1000"/>
                                        <p:tgtEl>
                                          <p:spTgt spid="1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p11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It is considered best practice to attempt to design your software before you start implementing it. Putting thought into the different classes that you will need, and how they are related to or associated with each other can help speed up development and save time in the long run.</a:t>
            </a:r>
            <a:endParaRPr/>
          </a:p>
        </p:txBody>
      </p:sp>
      <p:sp>
        <p:nvSpPr>
          <p:cNvPr id="1054" name="Google Shape;1054;p1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
        <p:nvSpPr>
          <p:cNvPr id="1055" name="Google Shape;1055;p112"/>
          <p:cNvSpPr txBox="1">
            <a:spLocks noGrp="1"/>
          </p:cNvSpPr>
          <p:nvPr>
            <p:ph type="body" idx="2"/>
          </p:nvPr>
        </p:nvSpPr>
        <p:spPr>
          <a:xfrm>
            <a:off x="3833275" y="1784525"/>
            <a:ext cx="5107800" cy="3009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Using the drawing tool of your choice, create a UML class diagram representing the Troll classes that you are about to implement.</a:t>
            </a:r>
            <a:endParaRPr/>
          </a:p>
          <a:p>
            <a:pPr marL="457200" lvl="0" indent="-311150" algn="l" rtl="0">
              <a:spcBef>
                <a:spcPts val="0"/>
              </a:spcBef>
              <a:spcAft>
                <a:spcPts val="0"/>
              </a:spcAft>
              <a:buSzPts val="1300"/>
              <a:buChar char="●"/>
            </a:pPr>
            <a:r>
              <a:rPr lang="en"/>
              <a:t>You will need an </a:t>
            </a:r>
            <a:r>
              <a:rPr lang="en" b="1" i="1">
                <a:solidFill>
                  <a:srgbClr val="FF0000"/>
                </a:solidFill>
              </a:rPr>
              <a:t>abstract class</a:t>
            </a:r>
            <a:r>
              <a:rPr lang="en"/>
              <a:t> to represent the common Troll state and behavior.</a:t>
            </a:r>
            <a:endParaRPr/>
          </a:p>
          <a:p>
            <a:pPr marL="914400" lvl="1" indent="-298450" algn="l" rtl="0">
              <a:spcBef>
                <a:spcPts val="0"/>
              </a:spcBef>
              <a:spcAft>
                <a:spcPts val="0"/>
              </a:spcAft>
              <a:buSzPts val="1100"/>
              <a:buChar char="○"/>
            </a:pPr>
            <a:r>
              <a:rPr lang="en"/>
              <a:t>Which methods will you be able to implement?</a:t>
            </a:r>
            <a:endParaRPr/>
          </a:p>
          <a:p>
            <a:pPr marL="914400" lvl="1" indent="-298450" algn="l" rtl="0">
              <a:spcBef>
                <a:spcPts val="0"/>
              </a:spcBef>
              <a:spcAft>
                <a:spcPts val="0"/>
              </a:spcAft>
              <a:buSzPts val="1100"/>
              <a:buChar char="○"/>
            </a:pPr>
            <a:r>
              <a:rPr lang="en"/>
              <a:t>Which should be abstract?</a:t>
            </a:r>
            <a:endParaRPr/>
          </a:p>
          <a:p>
            <a:pPr marL="457200" lvl="0" indent="-311150" algn="l" rtl="0">
              <a:spcBef>
                <a:spcPts val="0"/>
              </a:spcBef>
              <a:spcAft>
                <a:spcPts val="0"/>
              </a:spcAft>
              <a:buSzPts val="1300"/>
              <a:buChar char="●"/>
            </a:pPr>
            <a:r>
              <a:rPr lang="en"/>
              <a:t>You will also need classes for the </a:t>
            </a:r>
            <a:r>
              <a:rPr lang="en" i="1"/>
              <a:t>Trolling </a:t>
            </a:r>
            <a:r>
              <a:rPr lang="en"/>
              <a:t>and </a:t>
            </a:r>
            <a:r>
              <a:rPr lang="en" i="1"/>
              <a:t>Trollzord</a:t>
            </a:r>
            <a:r>
              <a:rPr lang="en"/>
              <a:t> classes.</a:t>
            </a:r>
            <a:endParaRPr/>
          </a:p>
          <a:p>
            <a:pPr marL="457200" lvl="0" indent="-311150" algn="l" rtl="0">
              <a:spcBef>
                <a:spcPts val="0"/>
              </a:spcBef>
              <a:spcAft>
                <a:spcPts val="0"/>
              </a:spcAft>
              <a:buSzPts val="1300"/>
              <a:buChar char="●"/>
            </a:pPr>
            <a:r>
              <a:rPr lang="en" b="1" i="1">
                <a:solidFill>
                  <a:srgbClr val="FF0000"/>
                </a:solidFill>
              </a:rPr>
              <a:t>Challenge</a:t>
            </a:r>
            <a:r>
              <a:rPr lang="en"/>
              <a:t>: add the </a:t>
            </a:r>
            <a:r>
              <a:rPr lang="en">
                <a:latin typeface="Courier New"/>
                <a:ea typeface="Courier New"/>
                <a:cs typeface="Courier New"/>
                <a:sym typeface="Courier New"/>
              </a:rPr>
              <a:t>DamageType</a:t>
            </a:r>
            <a:r>
              <a:rPr lang="en"/>
              <a:t> enum and the </a:t>
            </a:r>
            <a:r>
              <a:rPr lang="en">
                <a:latin typeface="Courier New"/>
                <a:ea typeface="Courier New"/>
                <a:cs typeface="Courier New"/>
                <a:sym typeface="Courier New"/>
              </a:rPr>
              <a:t>Attack</a:t>
            </a:r>
            <a:r>
              <a:rPr lang="en"/>
              <a:t> class to your diagram.</a:t>
            </a:r>
            <a:endParaRPr/>
          </a:p>
          <a:p>
            <a:pPr marL="914400" lvl="1" indent="-298450" algn="l" rtl="0">
              <a:spcBef>
                <a:spcPts val="0"/>
              </a:spcBef>
              <a:spcAft>
                <a:spcPts val="0"/>
              </a:spcAft>
              <a:buSzPts val="1100"/>
              <a:buChar char="○"/>
            </a:pPr>
            <a:r>
              <a:rPr lang="en"/>
              <a:t>Be sure to connect them to the other class(es) with appropriate UML relationships.</a:t>
            </a:r>
            <a:endParaRPr/>
          </a:p>
        </p:txBody>
      </p:sp>
      <p:sp>
        <p:nvSpPr>
          <p:cNvPr id="1056" name="Google Shape;1056;p11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Diagramming Trolls</a:t>
            </a:r>
            <a:endParaRPr/>
          </a:p>
        </p:txBody>
      </p:sp>
      <p:sp>
        <p:nvSpPr>
          <p:cNvPr id="1057" name="Google Shape;1057;p11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3.21</a:t>
            </a:r>
            <a:endParaRPr/>
          </a:p>
        </p:txBody>
      </p:sp>
      <p:pic>
        <p:nvPicPr>
          <p:cNvPr id="1058" name="Google Shape;1058;p112"/>
          <p:cNvPicPr preferRelativeResize="0"/>
          <p:nvPr/>
        </p:nvPicPr>
        <p:blipFill>
          <a:blip r:embed="rId3">
            <a:alphaModFix/>
          </a:blip>
          <a:stretch>
            <a:fillRect/>
          </a:stretch>
        </p:blipFill>
        <p:spPr>
          <a:xfrm>
            <a:off x="155275" y="1814150"/>
            <a:ext cx="3678001" cy="250000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1062"/>
        <p:cNvGrpSpPr/>
        <p:nvPr/>
      </p:nvGrpSpPr>
      <p:grpSpPr>
        <a:xfrm>
          <a:off x="0" y="0"/>
          <a:ext cx="0" cy="0"/>
          <a:chOff x="0" y="0"/>
          <a:chExt cx="0" cy="0"/>
        </a:xfrm>
      </p:grpSpPr>
      <p:sp>
        <p:nvSpPr>
          <p:cNvPr id="1063" name="Google Shape;1063;p11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51</a:t>
            </a:fld>
            <a:endParaRPr/>
          </a:p>
        </p:txBody>
      </p:sp>
      <p:pic>
        <p:nvPicPr>
          <p:cNvPr id="1064" name="Google Shape;1064;p113"/>
          <p:cNvPicPr preferRelativeResize="0"/>
          <p:nvPr/>
        </p:nvPicPr>
        <p:blipFill>
          <a:blip r:embed="rId3">
            <a:alphaModFix/>
          </a:blip>
          <a:stretch>
            <a:fillRect/>
          </a:stretch>
        </p:blipFill>
        <p:spPr>
          <a:xfrm>
            <a:off x="1212800" y="152400"/>
            <a:ext cx="6718408" cy="483869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114"/>
          <p:cNvSpPr txBox="1"/>
          <p:nvPr/>
        </p:nvSpPr>
        <p:spPr>
          <a:xfrm>
            <a:off x="279875" y="2978800"/>
            <a:ext cx="2724300" cy="1982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abstract</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class</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Thermometer</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10000"/>
              </a:lnSpc>
              <a:spcBef>
                <a:spcPts val="0"/>
              </a:spcBef>
              <a:spcAft>
                <a:spcPts val="0"/>
              </a:spcAft>
              <a:buNone/>
            </a:pPr>
            <a:r>
              <a:rPr lang="en" sz="800">
                <a:solidFill>
                  <a:srgbClr val="0000FF"/>
                </a:solidFill>
                <a:latin typeface="Consolas"/>
                <a:ea typeface="Consolas"/>
                <a:cs typeface="Consolas"/>
                <a:sym typeface="Consolas"/>
              </a:rPr>
              <a:t>  private</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10000"/>
              </a:lnSpc>
              <a:spcBef>
                <a:spcPts val="0"/>
              </a:spcBef>
              <a:spcAft>
                <a:spcPts val="0"/>
              </a:spcAft>
              <a:buNone/>
            </a:pPr>
            <a:endParaRPr sz="800">
              <a:latin typeface="Consolas"/>
              <a:ea typeface="Consolas"/>
              <a:cs typeface="Consolas"/>
              <a:sym typeface="Consolas"/>
            </a:endParaRPr>
          </a:p>
          <a:p>
            <a:pPr marL="0" lvl="0" indent="0" algn="l" rtl="0">
              <a:lnSpc>
                <a:spcPct val="11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Thermometer</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1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 = </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1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10000"/>
              </a:lnSpc>
              <a:spcBef>
                <a:spcPts val="0"/>
              </a:spcBef>
              <a:spcAft>
                <a:spcPts val="0"/>
              </a:spcAft>
              <a:buNone/>
            </a:pPr>
            <a:endParaRPr sz="800">
              <a:latin typeface="Consolas"/>
              <a:ea typeface="Consolas"/>
              <a:cs typeface="Consolas"/>
              <a:sym typeface="Consolas"/>
            </a:endParaRPr>
          </a:p>
          <a:p>
            <a:pPr marL="0" lvl="0" indent="0" algn="l" rtl="0">
              <a:lnSpc>
                <a:spcPct val="11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abstract</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getFreezingPoint</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10000"/>
              </a:lnSpc>
              <a:spcBef>
                <a:spcPts val="0"/>
              </a:spcBef>
              <a:spcAft>
                <a:spcPts val="0"/>
              </a:spcAft>
              <a:buNone/>
            </a:pPr>
            <a:endParaRPr sz="800">
              <a:latin typeface="Consolas"/>
              <a:ea typeface="Consolas"/>
              <a:cs typeface="Consolas"/>
              <a:sym typeface="Consolas"/>
            </a:endParaRPr>
          </a:p>
          <a:p>
            <a:pPr marL="0" lvl="0" indent="0" algn="l" rtl="0">
              <a:lnSpc>
                <a:spcPct val="11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abstract</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getBoilingPoint</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10000"/>
              </a:lnSpc>
              <a:spcBef>
                <a:spcPts val="0"/>
              </a:spcBef>
              <a:spcAft>
                <a:spcPts val="0"/>
              </a:spcAft>
              <a:buNone/>
            </a:pPr>
            <a:endParaRPr sz="800">
              <a:latin typeface="Consolas"/>
              <a:ea typeface="Consolas"/>
              <a:cs typeface="Consolas"/>
              <a:sym typeface="Consolas"/>
            </a:endParaRPr>
          </a:p>
          <a:p>
            <a:pPr marL="0" lvl="0" indent="0" algn="l" rtl="0">
              <a:lnSpc>
                <a:spcPct val="110000"/>
              </a:lnSpc>
              <a:spcBef>
                <a:spcPts val="0"/>
              </a:spcBef>
              <a:spcAft>
                <a:spcPts val="0"/>
              </a:spcAft>
              <a:buNone/>
            </a:pPr>
            <a:r>
              <a:rPr lang="en" sz="800">
                <a:solidFill>
                  <a:srgbClr val="0000FF"/>
                </a:solidFill>
                <a:latin typeface="Consolas"/>
                <a:ea typeface="Consolas"/>
                <a:cs typeface="Consolas"/>
                <a:sym typeface="Consolas"/>
              </a:rPr>
              <a:t>  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abstract</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char</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getScale</a:t>
            </a:r>
            <a:r>
              <a:rPr lang="en" sz="800">
                <a:latin typeface="Consolas"/>
                <a:ea typeface="Consolas"/>
                <a:cs typeface="Consolas"/>
                <a:sym typeface="Consolas"/>
              </a:rPr>
              <a:t>();</a:t>
            </a:r>
            <a:endParaRPr sz="800" b="1">
              <a:latin typeface="Consolas"/>
              <a:ea typeface="Consolas"/>
              <a:cs typeface="Consolas"/>
              <a:sym typeface="Consolas"/>
            </a:endParaRPr>
          </a:p>
          <a:p>
            <a:pPr marL="0" lvl="0" indent="0" algn="l" rtl="0">
              <a:lnSpc>
                <a:spcPct val="110000"/>
              </a:lnSpc>
              <a:spcBef>
                <a:spcPts val="0"/>
              </a:spcBef>
              <a:spcAft>
                <a:spcPts val="0"/>
              </a:spcAft>
              <a:buNone/>
            </a:pPr>
            <a:r>
              <a:rPr lang="en" sz="800">
                <a:latin typeface="Consolas"/>
                <a:ea typeface="Consolas"/>
                <a:cs typeface="Consolas"/>
                <a:sym typeface="Consolas"/>
              </a:rPr>
              <a:t>}</a:t>
            </a:r>
            <a:endParaRPr sz="800">
              <a:solidFill>
                <a:srgbClr val="0000FF"/>
              </a:solidFill>
              <a:latin typeface="Consolas"/>
              <a:ea typeface="Consolas"/>
              <a:cs typeface="Consolas"/>
              <a:sym typeface="Consolas"/>
            </a:endParaRPr>
          </a:p>
        </p:txBody>
      </p:sp>
      <p:sp>
        <p:nvSpPr>
          <p:cNvPr id="1070" name="Google Shape;1070;p11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You now have enough of a design put together to begin implementing the common </a:t>
            </a:r>
            <a:r>
              <a:rPr lang="en">
                <a:latin typeface="Courier New"/>
                <a:ea typeface="Courier New"/>
                <a:cs typeface="Courier New"/>
                <a:sym typeface="Courier New"/>
              </a:rPr>
              <a:t>Troll</a:t>
            </a:r>
            <a:r>
              <a:rPr lang="en"/>
              <a:t> class. Use your UML diagram as a guide to create the class now.</a:t>
            </a:r>
            <a:endParaRPr/>
          </a:p>
        </p:txBody>
      </p:sp>
      <p:sp>
        <p:nvSpPr>
          <p:cNvPr id="1071" name="Google Shape;1071;p1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1072" name="Google Shape;1072;p114"/>
          <p:cNvSpPr txBox="1">
            <a:spLocks noGrp="1"/>
          </p:cNvSpPr>
          <p:nvPr>
            <p:ph type="body" idx="2"/>
          </p:nvPr>
        </p:nvSpPr>
        <p:spPr>
          <a:xfrm>
            <a:off x="3218625" y="1616525"/>
            <a:ext cx="5685000" cy="28761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Use your UML class diagram to guide you in creating a new Java class named "</a:t>
            </a:r>
            <a:r>
              <a:rPr lang="en" sz="1700">
                <a:solidFill>
                  <a:srgbClr val="FF0000"/>
                </a:solidFill>
                <a:latin typeface="Courier New"/>
                <a:ea typeface="Courier New"/>
                <a:cs typeface="Courier New"/>
                <a:sym typeface="Courier New"/>
              </a:rPr>
              <a:t>Troll</a:t>
            </a:r>
            <a:r>
              <a:rPr lang="en" sz="1700"/>
              <a:t>".</a:t>
            </a:r>
            <a:endParaRPr sz="1700"/>
          </a:p>
          <a:p>
            <a:pPr marL="914400" lvl="1" indent="-323850" algn="l" rtl="0">
              <a:spcBef>
                <a:spcPts val="0"/>
              </a:spcBef>
              <a:spcAft>
                <a:spcPts val="0"/>
              </a:spcAft>
              <a:buSzPts val="1500"/>
              <a:buChar char="○"/>
            </a:pPr>
            <a:r>
              <a:rPr lang="en" sz="1500"/>
              <a:t>Don't forget to use the </a:t>
            </a:r>
            <a:r>
              <a:rPr lang="en" sz="1500">
                <a:solidFill>
                  <a:srgbClr val="FF0000"/>
                </a:solidFill>
                <a:latin typeface="Courier New"/>
                <a:ea typeface="Courier New"/>
                <a:cs typeface="Courier New"/>
                <a:sym typeface="Courier New"/>
              </a:rPr>
              <a:t>abstract</a:t>
            </a:r>
            <a:r>
              <a:rPr lang="en" sz="1500">
                <a:solidFill>
                  <a:srgbClr val="FF0000"/>
                </a:solidFill>
              </a:rPr>
              <a:t> </a:t>
            </a:r>
            <a:r>
              <a:rPr lang="en" sz="1500"/>
              <a:t>modifier in the class declaration.</a:t>
            </a:r>
            <a:endParaRPr sz="1500"/>
          </a:p>
          <a:p>
            <a:pPr marL="914400" lvl="1" indent="-323850" algn="l" rtl="0">
              <a:spcBef>
                <a:spcPts val="0"/>
              </a:spcBef>
              <a:spcAft>
                <a:spcPts val="0"/>
              </a:spcAft>
              <a:buSzPts val="1500"/>
              <a:buChar char="○"/>
            </a:pPr>
            <a:r>
              <a:rPr lang="en" sz="1500"/>
              <a:t>Add any common state as </a:t>
            </a:r>
            <a:r>
              <a:rPr lang="en" sz="1500" b="1" i="1">
                <a:solidFill>
                  <a:srgbClr val="FF0000"/>
                </a:solidFill>
              </a:rPr>
              <a:t>fields</a:t>
            </a:r>
            <a:r>
              <a:rPr lang="en" sz="1500"/>
              <a:t>.</a:t>
            </a:r>
            <a:endParaRPr sz="1500"/>
          </a:p>
          <a:p>
            <a:pPr marL="914400" lvl="1" indent="-323850" algn="l" rtl="0">
              <a:spcBef>
                <a:spcPts val="0"/>
              </a:spcBef>
              <a:spcAft>
                <a:spcPts val="0"/>
              </a:spcAft>
              <a:buSzPts val="1500"/>
              <a:buChar char="○"/>
            </a:pPr>
            <a:r>
              <a:rPr lang="en" sz="1500"/>
              <a:t>Add an appropriate </a:t>
            </a:r>
            <a:r>
              <a:rPr lang="en" sz="1500" b="1" i="1">
                <a:solidFill>
                  <a:srgbClr val="FF0000"/>
                </a:solidFill>
              </a:rPr>
              <a:t>constructor</a:t>
            </a:r>
            <a:r>
              <a:rPr lang="en" sz="1500"/>
              <a:t>.</a:t>
            </a:r>
            <a:endParaRPr sz="1500"/>
          </a:p>
          <a:p>
            <a:pPr marL="914400" lvl="1" indent="-323850" algn="l" rtl="0">
              <a:spcBef>
                <a:spcPts val="0"/>
              </a:spcBef>
              <a:spcAft>
                <a:spcPts val="0"/>
              </a:spcAft>
              <a:buSzPts val="1500"/>
              <a:buChar char="○"/>
            </a:pPr>
            <a:r>
              <a:rPr lang="en" sz="1500"/>
              <a:t>Implement any common </a:t>
            </a:r>
            <a:r>
              <a:rPr lang="en" sz="1500" b="1" i="1">
                <a:solidFill>
                  <a:srgbClr val="FF0000"/>
                </a:solidFill>
              </a:rPr>
              <a:t>methods</a:t>
            </a:r>
            <a:r>
              <a:rPr lang="en" sz="1500"/>
              <a:t>.</a:t>
            </a:r>
            <a:endParaRPr sz="1500"/>
          </a:p>
          <a:p>
            <a:pPr marL="914400" lvl="1" indent="-323850" algn="l" rtl="0">
              <a:spcBef>
                <a:spcPts val="0"/>
              </a:spcBef>
              <a:spcAft>
                <a:spcPts val="0"/>
              </a:spcAft>
              <a:buSzPts val="1500"/>
              <a:buChar char="○"/>
            </a:pPr>
            <a:r>
              <a:rPr lang="en" sz="1500"/>
              <a:t>Be sure to define any </a:t>
            </a:r>
            <a:r>
              <a:rPr lang="en" sz="1500">
                <a:solidFill>
                  <a:srgbClr val="FF0000"/>
                </a:solidFill>
                <a:latin typeface="Courier New"/>
                <a:ea typeface="Courier New"/>
                <a:cs typeface="Courier New"/>
                <a:sym typeface="Courier New"/>
              </a:rPr>
              <a:t>abstract</a:t>
            </a:r>
            <a:r>
              <a:rPr lang="en" sz="1500">
                <a:solidFill>
                  <a:srgbClr val="FF0000"/>
                </a:solidFill>
              </a:rPr>
              <a:t> </a:t>
            </a:r>
            <a:r>
              <a:rPr lang="en" sz="1500" b="1" i="1">
                <a:solidFill>
                  <a:srgbClr val="FF0000"/>
                </a:solidFill>
              </a:rPr>
              <a:t>methods</a:t>
            </a:r>
            <a:r>
              <a:rPr lang="en" sz="1500" b="1" i="1"/>
              <a:t> </a:t>
            </a:r>
            <a:r>
              <a:rPr lang="en" sz="1500"/>
              <a:t>that are needed by all Trolls but do not have a common implementation.</a:t>
            </a:r>
            <a:endParaRPr sz="2100"/>
          </a:p>
        </p:txBody>
      </p:sp>
      <p:sp>
        <p:nvSpPr>
          <p:cNvPr id="1073" name="Google Shape;1073;p11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Common Troll</a:t>
            </a:r>
            <a:endParaRPr/>
          </a:p>
        </p:txBody>
      </p:sp>
      <p:sp>
        <p:nvSpPr>
          <p:cNvPr id="1074" name="Google Shape;1074;p11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3.22</a:t>
            </a:r>
            <a:endParaRPr/>
          </a:p>
        </p:txBody>
      </p:sp>
      <p:grpSp>
        <p:nvGrpSpPr>
          <p:cNvPr id="1075" name="Google Shape;1075;p114"/>
          <p:cNvGrpSpPr/>
          <p:nvPr/>
        </p:nvGrpSpPr>
        <p:grpSpPr>
          <a:xfrm>
            <a:off x="2057075" y="1479725"/>
            <a:ext cx="1107326" cy="1417676"/>
            <a:chOff x="6784800" y="258225"/>
            <a:chExt cx="1107326" cy="1417676"/>
          </a:xfrm>
        </p:grpSpPr>
        <p:pic>
          <p:nvPicPr>
            <p:cNvPr id="1076" name="Google Shape;1076;p114"/>
            <p:cNvPicPr preferRelativeResize="0"/>
            <p:nvPr/>
          </p:nvPicPr>
          <p:blipFill>
            <a:blip r:embed="rId3">
              <a:alphaModFix/>
            </a:blip>
            <a:stretch>
              <a:fillRect/>
            </a:stretch>
          </p:blipFill>
          <p:spPr>
            <a:xfrm>
              <a:off x="6874685" y="258225"/>
              <a:ext cx="895202" cy="1417676"/>
            </a:xfrm>
            <a:prstGeom prst="rect">
              <a:avLst/>
            </a:prstGeom>
            <a:noFill/>
            <a:ln>
              <a:noFill/>
            </a:ln>
          </p:spPr>
        </p:pic>
        <p:pic>
          <p:nvPicPr>
            <p:cNvPr id="1077" name="Google Shape;1077;p114"/>
            <p:cNvPicPr preferRelativeResize="0"/>
            <p:nvPr/>
          </p:nvPicPr>
          <p:blipFill>
            <a:blip r:embed="rId4">
              <a:alphaModFix/>
            </a:blip>
            <a:stretch>
              <a:fillRect/>
            </a:stretch>
          </p:blipFill>
          <p:spPr>
            <a:xfrm>
              <a:off x="6784800" y="306830"/>
              <a:ext cx="1107326" cy="706083"/>
            </a:xfrm>
            <a:prstGeom prst="rect">
              <a:avLst/>
            </a:prstGeom>
            <a:noFill/>
            <a:ln>
              <a:noFill/>
            </a:ln>
          </p:spPr>
        </p:pic>
      </p:grpSp>
      <p:sp>
        <p:nvSpPr>
          <p:cNvPr id="1078" name="Google Shape;1078;p114"/>
          <p:cNvSpPr/>
          <p:nvPr/>
        </p:nvSpPr>
        <p:spPr>
          <a:xfrm>
            <a:off x="224600" y="1619825"/>
            <a:ext cx="1572300" cy="983100"/>
          </a:xfrm>
          <a:prstGeom prst="wedgeRectCallout">
            <a:avLst>
              <a:gd name="adj1" fmla="val 68091"/>
              <a:gd name="adj2" fmla="val -10918"/>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Trolls are commonly found on apps like Twitter and Reddit.</a:t>
            </a:r>
            <a:endParaRPr sz="13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115"/>
          <p:cNvSpPr txBox="1">
            <a:spLocks noGrp="1"/>
          </p:cNvSpPr>
          <p:nvPr>
            <p:ph type="body" idx="1"/>
          </p:nvPr>
        </p:nvSpPr>
        <p:spPr>
          <a:xfrm>
            <a:off x="65250" y="731625"/>
            <a:ext cx="742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you have a common Troll class that provides common implementations of concrete methods and defines common behavior without implementing it, you're ready to create your first subclass: the Trollzord!</a:t>
            </a:r>
            <a:endParaRPr/>
          </a:p>
        </p:txBody>
      </p:sp>
      <p:sp>
        <p:nvSpPr>
          <p:cNvPr id="1084" name="Google Shape;1084;p1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1085" name="Google Shape;1085;p115"/>
          <p:cNvSpPr txBox="1">
            <a:spLocks noGrp="1"/>
          </p:cNvSpPr>
          <p:nvPr>
            <p:ph type="body" idx="2"/>
          </p:nvPr>
        </p:nvSpPr>
        <p:spPr>
          <a:xfrm>
            <a:off x="3076125" y="1872875"/>
            <a:ext cx="5645700" cy="24843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a:t>Create a new Java class named "</a:t>
            </a:r>
            <a:r>
              <a:rPr lang="en" sz="1800">
                <a:latin typeface="Courier New"/>
                <a:ea typeface="Courier New"/>
                <a:cs typeface="Courier New"/>
                <a:sym typeface="Courier New"/>
              </a:rPr>
              <a:t>Trollzord</a:t>
            </a:r>
            <a:r>
              <a:rPr lang="en" sz="1800"/>
              <a:t>". Remember that a </a:t>
            </a:r>
            <a:r>
              <a:rPr lang="en" sz="1800">
                <a:latin typeface="Courier New"/>
                <a:ea typeface="Courier New"/>
                <a:cs typeface="Courier New"/>
                <a:sym typeface="Courier New"/>
              </a:rPr>
              <a:t>Trollzord</a:t>
            </a:r>
            <a:r>
              <a:rPr lang="en" sz="1800"/>
              <a:t>:</a:t>
            </a:r>
            <a:endParaRPr sz="1800"/>
          </a:p>
          <a:p>
            <a:pPr marL="914400" lvl="1" indent="-330200" algn="l" rtl="0">
              <a:spcBef>
                <a:spcPts val="0"/>
              </a:spcBef>
              <a:spcAft>
                <a:spcPts val="0"/>
              </a:spcAft>
              <a:buSzPts val="1600"/>
              <a:buChar char="○"/>
            </a:pPr>
            <a:r>
              <a:rPr lang="en" sz="1600"/>
              <a:t>Is named </a:t>
            </a:r>
            <a:r>
              <a:rPr lang="en" sz="1600">
                <a:solidFill>
                  <a:srgbClr val="FF0000"/>
                </a:solidFill>
                <a:latin typeface="Courier New"/>
                <a:ea typeface="Courier New"/>
                <a:cs typeface="Courier New"/>
                <a:sym typeface="Courier New"/>
              </a:rPr>
              <a:t>"Trollzord"</a:t>
            </a:r>
            <a:endParaRPr sz="1600">
              <a:solidFill>
                <a:srgbClr val="FF0000"/>
              </a:solidFill>
              <a:latin typeface="Courier New"/>
              <a:ea typeface="Courier New"/>
              <a:cs typeface="Courier New"/>
              <a:sym typeface="Courier New"/>
            </a:endParaRPr>
          </a:p>
          <a:p>
            <a:pPr marL="914400" lvl="1" indent="-330200" algn="l" rtl="0">
              <a:spcBef>
                <a:spcPts val="0"/>
              </a:spcBef>
              <a:spcAft>
                <a:spcPts val="0"/>
              </a:spcAft>
              <a:buSzPts val="1600"/>
              <a:buChar char="○"/>
            </a:pPr>
            <a:r>
              <a:rPr lang="en" sz="1600"/>
              <a:t>Has </a:t>
            </a:r>
            <a:r>
              <a:rPr lang="en" sz="1600" b="1" i="1">
                <a:solidFill>
                  <a:srgbClr val="FF0000"/>
                </a:solidFill>
              </a:rPr>
              <a:t>64 hit points</a:t>
            </a:r>
            <a:endParaRPr sz="1600" b="1" i="1">
              <a:solidFill>
                <a:srgbClr val="FF0000"/>
              </a:solidFill>
            </a:endParaRPr>
          </a:p>
          <a:p>
            <a:pPr marL="914400" lvl="1" indent="-330200" algn="l" rtl="0">
              <a:spcBef>
                <a:spcPts val="0"/>
              </a:spcBef>
              <a:spcAft>
                <a:spcPts val="0"/>
              </a:spcAft>
              <a:buSzPts val="1600"/>
              <a:buChar char="○"/>
            </a:pPr>
            <a:r>
              <a:rPr lang="en" sz="1600"/>
              <a:t>Attacks with </a:t>
            </a:r>
            <a:r>
              <a:rPr lang="en" sz="1600" b="1" u="sng">
                <a:solidFill>
                  <a:srgbClr val="FF0000"/>
                </a:solidFill>
              </a:rPr>
              <a:t>Flame War</a:t>
            </a:r>
            <a:r>
              <a:rPr lang="en" sz="1600"/>
              <a:t> which does </a:t>
            </a:r>
            <a:r>
              <a:rPr lang="en" sz="1600" b="1" i="1">
                <a:solidFill>
                  <a:srgbClr val="FF0000"/>
                </a:solidFill>
              </a:rPr>
              <a:t>25 magical damage</a:t>
            </a:r>
            <a:endParaRPr sz="1600" b="1" i="1">
              <a:solidFill>
                <a:srgbClr val="FF0000"/>
              </a:solidFill>
            </a:endParaRPr>
          </a:p>
          <a:p>
            <a:pPr marL="914400" lvl="1" indent="-330200" algn="l" rtl="0">
              <a:spcBef>
                <a:spcPts val="0"/>
              </a:spcBef>
              <a:spcAft>
                <a:spcPts val="0"/>
              </a:spcAft>
              <a:buSzPts val="1600"/>
              <a:buChar char="○"/>
            </a:pPr>
            <a:r>
              <a:rPr lang="en" sz="1600"/>
              <a:t>Takes </a:t>
            </a:r>
            <a:r>
              <a:rPr lang="en" sz="1600" b="1" i="1">
                <a:solidFill>
                  <a:srgbClr val="FF0000"/>
                </a:solidFill>
              </a:rPr>
              <a:t>+25% holy damage</a:t>
            </a:r>
            <a:endParaRPr sz="1600" b="1" i="1">
              <a:solidFill>
                <a:srgbClr val="FF0000"/>
              </a:solidFill>
            </a:endParaRPr>
          </a:p>
          <a:p>
            <a:pPr marL="914400" lvl="1" indent="-330200" algn="l" rtl="0">
              <a:spcBef>
                <a:spcPts val="0"/>
              </a:spcBef>
              <a:spcAft>
                <a:spcPts val="0"/>
              </a:spcAft>
              <a:buSzPts val="1600"/>
              <a:buChar char="○"/>
            </a:pPr>
            <a:r>
              <a:rPr lang="en" sz="1600"/>
              <a:t>Regenerates </a:t>
            </a:r>
            <a:r>
              <a:rPr lang="en" sz="1600" b="1" i="1">
                <a:solidFill>
                  <a:srgbClr val="FF0000"/>
                </a:solidFill>
              </a:rPr>
              <a:t>5% max health</a:t>
            </a:r>
            <a:r>
              <a:rPr lang="en" sz="1600"/>
              <a:t> at the start of a round</a:t>
            </a:r>
            <a:endParaRPr sz="1600"/>
          </a:p>
        </p:txBody>
      </p:sp>
      <p:sp>
        <p:nvSpPr>
          <p:cNvPr id="1086" name="Google Shape;1086;p11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Trollzord</a:t>
            </a:r>
            <a:endParaRPr/>
          </a:p>
        </p:txBody>
      </p:sp>
      <p:sp>
        <p:nvSpPr>
          <p:cNvPr id="1087" name="Google Shape;1087;p11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3.23</a:t>
            </a:r>
            <a:endParaRPr/>
          </a:p>
        </p:txBody>
      </p:sp>
      <p:sp>
        <p:nvSpPr>
          <p:cNvPr id="1088" name="Google Shape;1088;p115"/>
          <p:cNvSpPr txBox="1"/>
          <p:nvPr/>
        </p:nvSpPr>
        <p:spPr>
          <a:xfrm>
            <a:off x="120923" y="1872875"/>
            <a:ext cx="2618100" cy="2893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class</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Fahrenheit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000FF"/>
                </a:solidFill>
                <a:latin typeface="Consolas"/>
                <a:ea typeface="Consolas"/>
                <a:cs typeface="Consolas"/>
                <a:sym typeface="Consolas"/>
              </a:rPr>
              <a:t>                      </a:t>
            </a:r>
            <a:r>
              <a:rPr lang="en" sz="800">
                <a:solidFill>
                  <a:srgbClr val="0000FF"/>
                </a:solidFill>
                <a:highlight>
                  <a:srgbClr val="FFFF00"/>
                </a:highlight>
                <a:latin typeface="Consolas"/>
                <a:ea typeface="Consolas"/>
                <a:cs typeface="Consolas"/>
                <a:sym typeface="Consolas"/>
              </a:rPr>
              <a:t>extends</a:t>
            </a:r>
            <a:r>
              <a:rPr lang="en" sz="800">
                <a:highlight>
                  <a:srgbClr val="FFFF00"/>
                </a:highlight>
                <a:latin typeface="Consolas"/>
                <a:ea typeface="Consolas"/>
                <a:cs typeface="Consolas"/>
                <a:sym typeface="Consolas"/>
              </a:rPr>
              <a:t> </a:t>
            </a:r>
            <a:r>
              <a:rPr lang="en" sz="800">
                <a:solidFill>
                  <a:srgbClr val="267F99"/>
                </a:solidFill>
                <a:highlight>
                  <a:srgbClr val="FFFF00"/>
                </a:highlight>
                <a:latin typeface="Consolas"/>
                <a:ea typeface="Consolas"/>
                <a:cs typeface="Consolas"/>
                <a:sym typeface="Consolas"/>
              </a:rPr>
              <a:t>Thermometer</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Fahrenheit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super</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Override</a:t>
            </a:r>
            <a:endParaRPr sz="8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getFreezingPoint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32</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Override</a:t>
            </a:r>
            <a:endParaRPr sz="8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getBoilingPoint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212</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Override</a:t>
            </a:r>
            <a:endParaRPr sz="8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char</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getScale</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A31515"/>
                </a:solidFill>
                <a:latin typeface="Consolas"/>
                <a:ea typeface="Consolas"/>
                <a:cs typeface="Consolas"/>
                <a:sym typeface="Consolas"/>
              </a:rPr>
              <a:t>'F'</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endParaRPr sz="800">
              <a:solidFill>
                <a:srgbClr val="0000FF"/>
              </a:solidFill>
              <a:latin typeface="Consolas"/>
              <a:ea typeface="Consolas"/>
              <a:cs typeface="Consolas"/>
              <a:sym typeface="Consolas"/>
            </a:endParaRPr>
          </a:p>
        </p:txBody>
      </p:sp>
      <p:pic>
        <p:nvPicPr>
          <p:cNvPr id="1089" name="Google Shape;1089;p115"/>
          <p:cNvPicPr preferRelativeResize="0"/>
          <p:nvPr/>
        </p:nvPicPr>
        <p:blipFill>
          <a:blip r:embed="rId3">
            <a:alphaModFix/>
          </a:blip>
          <a:stretch>
            <a:fillRect/>
          </a:stretch>
        </p:blipFill>
        <p:spPr>
          <a:xfrm>
            <a:off x="7438025" y="87900"/>
            <a:ext cx="1283800" cy="17021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pic>
        <p:nvPicPr>
          <p:cNvPr id="1094" name="Google Shape;1094;p116"/>
          <p:cNvPicPr preferRelativeResize="0"/>
          <p:nvPr/>
        </p:nvPicPr>
        <p:blipFill>
          <a:blip r:embed="rId3">
            <a:alphaModFix/>
          </a:blip>
          <a:stretch>
            <a:fillRect/>
          </a:stretch>
        </p:blipFill>
        <p:spPr>
          <a:xfrm>
            <a:off x="7346050" y="157000"/>
            <a:ext cx="1441050" cy="1622750"/>
          </a:xfrm>
          <a:prstGeom prst="rect">
            <a:avLst/>
          </a:prstGeom>
          <a:noFill/>
          <a:ln>
            <a:noFill/>
          </a:ln>
        </p:spPr>
      </p:pic>
      <p:sp>
        <p:nvSpPr>
          <p:cNvPr id="1095" name="Google Shape;1095;p116"/>
          <p:cNvSpPr txBox="1">
            <a:spLocks noGrp="1"/>
          </p:cNvSpPr>
          <p:nvPr>
            <p:ph type="body" idx="1"/>
          </p:nvPr>
        </p:nvSpPr>
        <p:spPr>
          <a:xfrm>
            <a:off x="65250" y="731625"/>
            <a:ext cx="742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you have a common Troll class that provides common implementations of concrete methods and defines common behavior without implementing it, you're ready to create another subclass: the Trolling!</a:t>
            </a:r>
            <a:endParaRPr/>
          </a:p>
        </p:txBody>
      </p:sp>
      <p:sp>
        <p:nvSpPr>
          <p:cNvPr id="1096" name="Google Shape;1096;p1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sp>
        <p:nvSpPr>
          <p:cNvPr id="1097" name="Google Shape;1097;p116"/>
          <p:cNvSpPr txBox="1">
            <a:spLocks noGrp="1"/>
          </p:cNvSpPr>
          <p:nvPr>
            <p:ph type="body" idx="2"/>
          </p:nvPr>
        </p:nvSpPr>
        <p:spPr>
          <a:xfrm>
            <a:off x="2827350" y="1872875"/>
            <a:ext cx="5894400" cy="22011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a:t>Create a new Java class named "</a:t>
            </a:r>
            <a:r>
              <a:rPr lang="en" sz="1800">
                <a:latin typeface="Courier New"/>
                <a:ea typeface="Courier New"/>
                <a:cs typeface="Courier New"/>
                <a:sym typeface="Courier New"/>
              </a:rPr>
              <a:t>Trolling</a:t>
            </a:r>
            <a:r>
              <a:rPr lang="en" sz="1800"/>
              <a:t>". Remember that a </a:t>
            </a:r>
            <a:r>
              <a:rPr lang="en" sz="1800">
                <a:latin typeface="Courier New"/>
                <a:ea typeface="Courier New"/>
                <a:cs typeface="Courier New"/>
                <a:sym typeface="Courier New"/>
              </a:rPr>
              <a:t>Trolling</a:t>
            </a:r>
            <a:r>
              <a:rPr lang="en" sz="1800"/>
              <a:t>:</a:t>
            </a:r>
            <a:endParaRPr sz="1800"/>
          </a:p>
          <a:p>
            <a:pPr marL="914400" lvl="1" indent="-330200" algn="l" rtl="0">
              <a:spcBef>
                <a:spcPts val="0"/>
              </a:spcBef>
              <a:spcAft>
                <a:spcPts val="0"/>
              </a:spcAft>
              <a:buSzPts val="1600"/>
              <a:buChar char="○"/>
            </a:pPr>
            <a:r>
              <a:rPr lang="en" sz="1600"/>
              <a:t>Is named </a:t>
            </a:r>
            <a:r>
              <a:rPr lang="en" sz="1600">
                <a:solidFill>
                  <a:srgbClr val="FF0000"/>
                </a:solidFill>
                <a:latin typeface="Courier New"/>
                <a:ea typeface="Courier New"/>
                <a:cs typeface="Courier New"/>
                <a:sym typeface="Courier New"/>
              </a:rPr>
              <a:t>"Trolling"</a:t>
            </a:r>
            <a:endParaRPr sz="1600">
              <a:solidFill>
                <a:srgbClr val="FF0000"/>
              </a:solidFill>
              <a:latin typeface="Courier New"/>
              <a:ea typeface="Courier New"/>
              <a:cs typeface="Courier New"/>
              <a:sym typeface="Courier New"/>
            </a:endParaRPr>
          </a:p>
          <a:p>
            <a:pPr marL="914400" lvl="1" indent="-330200" algn="l" rtl="0">
              <a:spcBef>
                <a:spcPts val="0"/>
              </a:spcBef>
              <a:spcAft>
                <a:spcPts val="0"/>
              </a:spcAft>
              <a:buSzPts val="1600"/>
              <a:buChar char="○"/>
            </a:pPr>
            <a:r>
              <a:rPr lang="en" sz="1600"/>
              <a:t>Has </a:t>
            </a:r>
            <a:r>
              <a:rPr lang="en" sz="1600" b="1" i="1">
                <a:solidFill>
                  <a:srgbClr val="FF0000"/>
                </a:solidFill>
              </a:rPr>
              <a:t>38 hit points</a:t>
            </a:r>
            <a:endParaRPr sz="1600" b="1" i="1">
              <a:solidFill>
                <a:srgbClr val="FF0000"/>
              </a:solidFill>
            </a:endParaRPr>
          </a:p>
          <a:p>
            <a:pPr marL="914400" lvl="1" indent="-330200" algn="l" rtl="0">
              <a:spcBef>
                <a:spcPts val="0"/>
              </a:spcBef>
              <a:spcAft>
                <a:spcPts val="0"/>
              </a:spcAft>
              <a:buSzPts val="1600"/>
              <a:buChar char="○"/>
            </a:pPr>
            <a:r>
              <a:rPr lang="en" sz="1600"/>
              <a:t>Attacks with </a:t>
            </a:r>
            <a:r>
              <a:rPr lang="en" sz="1600" b="1" i="1" u="sng">
                <a:solidFill>
                  <a:srgbClr val="FF0000"/>
                </a:solidFill>
              </a:rPr>
              <a:t>U Mad</a:t>
            </a:r>
            <a:r>
              <a:rPr lang="en" sz="1600"/>
              <a:t> which does  </a:t>
            </a:r>
            <a:r>
              <a:rPr lang="en" sz="1600" b="1" i="1">
                <a:solidFill>
                  <a:srgbClr val="FF0000"/>
                </a:solidFill>
              </a:rPr>
              <a:t>25 physical damage</a:t>
            </a:r>
            <a:endParaRPr sz="1600" b="1" i="1">
              <a:solidFill>
                <a:srgbClr val="FF0000"/>
              </a:solidFill>
            </a:endParaRPr>
          </a:p>
          <a:p>
            <a:pPr marL="914400" lvl="1" indent="-330200" algn="l" rtl="0">
              <a:spcBef>
                <a:spcPts val="0"/>
              </a:spcBef>
              <a:spcAft>
                <a:spcPts val="0"/>
              </a:spcAft>
              <a:buSzPts val="1600"/>
              <a:buChar char="○"/>
            </a:pPr>
            <a:r>
              <a:rPr lang="en" sz="1600"/>
              <a:t>Takes </a:t>
            </a:r>
            <a:r>
              <a:rPr lang="en" sz="1600" b="1" i="1">
                <a:solidFill>
                  <a:srgbClr val="FF0000"/>
                </a:solidFill>
              </a:rPr>
              <a:t>+25% magical damage</a:t>
            </a:r>
            <a:endParaRPr sz="1600" b="1" i="1">
              <a:solidFill>
                <a:srgbClr val="FF0000"/>
              </a:solidFill>
            </a:endParaRPr>
          </a:p>
          <a:p>
            <a:pPr marL="914400" lvl="1" indent="-330200" algn="l" rtl="0">
              <a:spcBef>
                <a:spcPts val="0"/>
              </a:spcBef>
              <a:spcAft>
                <a:spcPts val="0"/>
              </a:spcAft>
              <a:buSzPts val="1600"/>
              <a:buChar char="○"/>
            </a:pPr>
            <a:r>
              <a:rPr lang="en" sz="1600"/>
              <a:t>Regenerates </a:t>
            </a:r>
            <a:r>
              <a:rPr lang="en" sz="1600" b="1" i="1">
                <a:solidFill>
                  <a:srgbClr val="FF0000"/>
                </a:solidFill>
              </a:rPr>
              <a:t>3% max health</a:t>
            </a:r>
            <a:r>
              <a:rPr lang="en" sz="1600"/>
              <a:t> at the start of a round</a:t>
            </a:r>
            <a:endParaRPr sz="1600"/>
          </a:p>
        </p:txBody>
      </p:sp>
      <p:sp>
        <p:nvSpPr>
          <p:cNvPr id="1098" name="Google Shape;1098;p11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Trolling</a:t>
            </a:r>
            <a:endParaRPr/>
          </a:p>
        </p:txBody>
      </p:sp>
      <p:sp>
        <p:nvSpPr>
          <p:cNvPr id="1099" name="Google Shape;1099;p11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3.24</a:t>
            </a:r>
            <a:endParaRPr/>
          </a:p>
        </p:txBody>
      </p:sp>
      <p:sp>
        <p:nvSpPr>
          <p:cNvPr id="1100" name="Google Shape;1100;p116"/>
          <p:cNvSpPr txBox="1"/>
          <p:nvPr/>
        </p:nvSpPr>
        <p:spPr>
          <a:xfrm>
            <a:off x="120923" y="1872875"/>
            <a:ext cx="2618100" cy="2893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class</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Fahrenheit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000FF"/>
                </a:solidFill>
                <a:latin typeface="Consolas"/>
                <a:ea typeface="Consolas"/>
                <a:cs typeface="Consolas"/>
                <a:sym typeface="Consolas"/>
              </a:rPr>
              <a:t>                      </a:t>
            </a:r>
            <a:r>
              <a:rPr lang="en" sz="800">
                <a:solidFill>
                  <a:srgbClr val="0000FF"/>
                </a:solidFill>
                <a:highlight>
                  <a:srgbClr val="FFFF00"/>
                </a:highlight>
                <a:latin typeface="Consolas"/>
                <a:ea typeface="Consolas"/>
                <a:cs typeface="Consolas"/>
                <a:sym typeface="Consolas"/>
              </a:rPr>
              <a:t>extends</a:t>
            </a:r>
            <a:r>
              <a:rPr lang="en" sz="800">
                <a:highlight>
                  <a:srgbClr val="FFFF00"/>
                </a:highlight>
                <a:latin typeface="Consolas"/>
                <a:ea typeface="Consolas"/>
                <a:cs typeface="Consolas"/>
                <a:sym typeface="Consolas"/>
              </a:rPr>
              <a:t> </a:t>
            </a:r>
            <a:r>
              <a:rPr lang="en" sz="800">
                <a:solidFill>
                  <a:srgbClr val="267F99"/>
                </a:solidFill>
                <a:highlight>
                  <a:srgbClr val="FFFF00"/>
                </a:highlight>
                <a:latin typeface="Consolas"/>
                <a:ea typeface="Consolas"/>
                <a:cs typeface="Consolas"/>
                <a:sym typeface="Consolas"/>
              </a:rPr>
              <a:t>Thermometer</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Fahrenheit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super</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degrees</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Override</a:t>
            </a:r>
            <a:endParaRPr sz="8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getFreezingPoint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32</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Override</a:t>
            </a:r>
            <a:endParaRPr sz="8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getBoilingPoint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98658"/>
                </a:solidFill>
                <a:latin typeface="Consolas"/>
                <a:ea typeface="Consolas"/>
                <a:cs typeface="Consolas"/>
                <a:sym typeface="Consolas"/>
              </a:rPr>
              <a:t>212</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Override</a:t>
            </a:r>
            <a:endParaRPr sz="8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char</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getScale</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A31515"/>
                </a:solidFill>
                <a:latin typeface="Consolas"/>
                <a:ea typeface="Consolas"/>
                <a:cs typeface="Consolas"/>
                <a:sym typeface="Consolas"/>
              </a:rPr>
              <a:t>'F'</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latin typeface="Consolas"/>
                <a:ea typeface="Consolas"/>
                <a:cs typeface="Consolas"/>
                <a:sym typeface="Consolas"/>
              </a:rPr>
              <a:t>    }</a:t>
            </a:r>
            <a:endParaRPr sz="800">
              <a:solidFill>
                <a:srgbClr val="0000FF"/>
              </a:solidFill>
              <a:latin typeface="Consolas"/>
              <a:ea typeface="Consolas"/>
              <a:cs typeface="Consolas"/>
              <a:sym typeface="Consola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117"/>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An Expression Parser</a:t>
            </a:r>
            <a:endParaRPr sz="2600"/>
          </a:p>
        </p:txBody>
      </p:sp>
      <p:sp>
        <p:nvSpPr>
          <p:cNvPr id="1106" name="Google Shape;1106;p117"/>
          <p:cNvSpPr txBox="1">
            <a:spLocks noGrp="1"/>
          </p:cNvSpPr>
          <p:nvPr>
            <p:ph type="body" idx="1"/>
          </p:nvPr>
        </p:nvSpPr>
        <p:spPr>
          <a:xfrm>
            <a:off x="4389400" y="196125"/>
            <a:ext cx="4589400" cy="4608900"/>
          </a:xfrm>
          <a:prstGeom prst="rect">
            <a:avLst/>
          </a:prstGeom>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a:t>Today we will be switching gears and implementing an </a:t>
            </a:r>
            <a:r>
              <a:rPr lang="en" b="1" i="1">
                <a:solidFill>
                  <a:srgbClr val="FF0000"/>
                </a:solidFill>
              </a:rPr>
              <a:t>expression parser</a:t>
            </a:r>
            <a:r>
              <a:rPr lang="en"/>
              <a:t>.</a:t>
            </a:r>
            <a:endParaRPr/>
          </a:p>
          <a:p>
            <a:pPr marL="914400" lvl="1" indent="-298450" algn="l" rtl="0">
              <a:lnSpc>
                <a:spcPct val="100000"/>
              </a:lnSpc>
              <a:spcBef>
                <a:spcPts val="0"/>
              </a:spcBef>
              <a:spcAft>
                <a:spcPts val="0"/>
              </a:spcAft>
              <a:buSzPts val="1100"/>
              <a:buChar char="○"/>
            </a:pPr>
            <a:r>
              <a:rPr lang="en"/>
              <a:t>The user is prompted to type an arithmetic expression using </a:t>
            </a:r>
            <a:r>
              <a:rPr lang="en" b="1" i="1">
                <a:solidFill>
                  <a:srgbClr val="FF0000"/>
                </a:solidFill>
              </a:rPr>
              <a:t>prefix notation</a:t>
            </a:r>
            <a:r>
              <a:rPr lang="en"/>
              <a:t>.</a:t>
            </a:r>
            <a:endParaRPr/>
          </a:p>
          <a:p>
            <a:pPr marL="914400" lvl="1" indent="-298450" algn="l" rtl="0">
              <a:lnSpc>
                <a:spcPct val="100000"/>
              </a:lnSpc>
              <a:spcBef>
                <a:spcPts val="0"/>
              </a:spcBef>
              <a:spcAft>
                <a:spcPts val="0"/>
              </a:spcAft>
              <a:buSzPts val="1100"/>
              <a:buChar char="○"/>
            </a:pPr>
            <a:r>
              <a:rPr lang="en"/>
              <a:t>The expression parser prints the results of evaluating the expression.</a:t>
            </a:r>
            <a:endParaRPr/>
          </a:p>
          <a:p>
            <a:pPr marL="457200" lvl="0" indent="-311150" algn="l" rtl="0">
              <a:lnSpc>
                <a:spcPct val="100000"/>
              </a:lnSpc>
              <a:spcBef>
                <a:spcPts val="0"/>
              </a:spcBef>
              <a:spcAft>
                <a:spcPts val="0"/>
              </a:spcAft>
              <a:buSzPts val="1300"/>
              <a:buChar char="●"/>
            </a:pPr>
            <a:r>
              <a:rPr lang="en"/>
              <a:t>An </a:t>
            </a:r>
            <a:r>
              <a:rPr lang="en" b="1" i="1">
                <a:solidFill>
                  <a:srgbClr val="FF0000"/>
                </a:solidFill>
              </a:rPr>
              <a:t>expression </a:t>
            </a:r>
            <a:r>
              <a:rPr lang="en"/>
              <a:t>may be a </a:t>
            </a:r>
            <a:r>
              <a:rPr lang="en" b="1" i="1">
                <a:solidFill>
                  <a:srgbClr val="FF0000"/>
                </a:solidFill>
              </a:rPr>
              <a:t>constant</a:t>
            </a:r>
            <a:r>
              <a:rPr lang="en">
                <a:solidFill>
                  <a:srgbClr val="FF0000"/>
                </a:solidFill>
              </a:rPr>
              <a:t> </a:t>
            </a:r>
            <a:r>
              <a:rPr lang="en"/>
              <a:t>or an </a:t>
            </a:r>
            <a:r>
              <a:rPr lang="en" b="1" i="1">
                <a:solidFill>
                  <a:srgbClr val="FF0000"/>
                </a:solidFill>
              </a:rPr>
              <a:t>operator</a:t>
            </a:r>
            <a:r>
              <a:rPr lang="en">
                <a:solidFill>
                  <a:srgbClr val="FF0000"/>
                </a:solidFill>
              </a:rPr>
              <a:t> </a:t>
            </a:r>
            <a:r>
              <a:rPr lang="en"/>
              <a:t>performed on one or more </a:t>
            </a:r>
            <a:r>
              <a:rPr lang="en" b="1" i="1">
                <a:solidFill>
                  <a:srgbClr val="FF0000"/>
                </a:solidFill>
              </a:rPr>
              <a:t>operands</a:t>
            </a:r>
            <a:r>
              <a:rPr lang="en"/>
              <a:t>.</a:t>
            </a:r>
            <a:endParaRPr/>
          </a:p>
          <a:p>
            <a:pPr marL="914400" lvl="1" indent="-298450" algn="l" rtl="0">
              <a:lnSpc>
                <a:spcPct val="100000"/>
              </a:lnSpc>
              <a:spcBef>
                <a:spcPts val="0"/>
              </a:spcBef>
              <a:spcAft>
                <a:spcPts val="0"/>
              </a:spcAft>
              <a:buSzPts val="1100"/>
              <a:buChar char="○"/>
            </a:pPr>
            <a:r>
              <a:rPr lang="en"/>
              <a:t>Each operand is another expression.</a:t>
            </a:r>
            <a:endParaRPr/>
          </a:p>
          <a:p>
            <a:pPr marL="457200" lvl="0" indent="-311150" algn="l" rtl="0">
              <a:lnSpc>
                <a:spcPct val="100000"/>
              </a:lnSpc>
              <a:spcBef>
                <a:spcPts val="0"/>
              </a:spcBef>
              <a:spcAft>
                <a:spcPts val="0"/>
              </a:spcAft>
              <a:buSzPts val="1300"/>
              <a:buChar char="●"/>
            </a:pPr>
            <a:r>
              <a:rPr lang="en"/>
              <a:t>The parser should support the following </a:t>
            </a:r>
            <a:r>
              <a:rPr lang="en" b="1" i="1">
                <a:solidFill>
                  <a:srgbClr val="FF0000"/>
                </a:solidFill>
              </a:rPr>
              <a:t>unary</a:t>
            </a:r>
            <a:r>
              <a:rPr lang="en">
                <a:solidFill>
                  <a:srgbClr val="FF0000"/>
                </a:solidFill>
              </a:rPr>
              <a:t> </a:t>
            </a:r>
            <a:r>
              <a:rPr lang="en"/>
              <a:t>operations (meaning that there is </a:t>
            </a:r>
            <a:r>
              <a:rPr lang="en" b="1" i="1">
                <a:solidFill>
                  <a:srgbClr val="FF0000"/>
                </a:solidFill>
              </a:rPr>
              <a:t>one</a:t>
            </a:r>
            <a:r>
              <a:rPr lang="en">
                <a:solidFill>
                  <a:srgbClr val="FF0000"/>
                </a:solidFill>
              </a:rPr>
              <a:t> </a:t>
            </a:r>
            <a:r>
              <a:rPr lang="en"/>
              <a:t>operand):</a:t>
            </a:r>
            <a:endParaRPr/>
          </a:p>
          <a:p>
            <a:pPr marL="914400" lvl="1" indent="-298450" algn="l" rtl="0">
              <a:lnSpc>
                <a:spcPct val="100000"/>
              </a:lnSpc>
              <a:spcBef>
                <a:spcPts val="0"/>
              </a:spcBef>
              <a:spcAft>
                <a:spcPts val="0"/>
              </a:spcAft>
              <a:buSzPts val="1100"/>
              <a:buChar char="○"/>
            </a:pPr>
            <a:r>
              <a:rPr lang="en"/>
              <a:t>Increment (</a:t>
            </a:r>
            <a:r>
              <a:rPr lang="en">
                <a:solidFill>
                  <a:srgbClr val="FF0000"/>
                </a:solidFill>
                <a:latin typeface="Courier New"/>
                <a:ea typeface="Courier New"/>
                <a:cs typeface="Courier New"/>
                <a:sym typeface="Courier New"/>
              </a:rPr>
              <a:t>++</a:t>
            </a:r>
            <a:r>
              <a:rPr lang="en"/>
              <a:t>)</a:t>
            </a:r>
            <a:endParaRPr/>
          </a:p>
          <a:p>
            <a:pPr marL="914400" lvl="1" indent="-298450" algn="l" rtl="0">
              <a:lnSpc>
                <a:spcPct val="100000"/>
              </a:lnSpc>
              <a:spcBef>
                <a:spcPts val="0"/>
              </a:spcBef>
              <a:spcAft>
                <a:spcPts val="0"/>
              </a:spcAft>
              <a:buSzPts val="1100"/>
              <a:buChar char="○"/>
            </a:pPr>
            <a:r>
              <a:rPr lang="en"/>
              <a:t>Decrement (</a:t>
            </a:r>
            <a:r>
              <a:rPr lang="en">
                <a:solidFill>
                  <a:srgbClr val="FF0000"/>
                </a:solidFill>
                <a:latin typeface="Courier New"/>
                <a:ea typeface="Courier New"/>
                <a:cs typeface="Courier New"/>
                <a:sym typeface="Courier New"/>
              </a:rPr>
              <a:t>--</a:t>
            </a:r>
            <a:r>
              <a:rPr lang="en"/>
              <a:t>)</a:t>
            </a:r>
            <a:endParaRPr/>
          </a:p>
          <a:p>
            <a:pPr marL="457200" lvl="0" indent="-311150" algn="l" rtl="0">
              <a:lnSpc>
                <a:spcPct val="100000"/>
              </a:lnSpc>
              <a:spcBef>
                <a:spcPts val="0"/>
              </a:spcBef>
              <a:spcAft>
                <a:spcPts val="0"/>
              </a:spcAft>
              <a:buSzPts val="1300"/>
              <a:buChar char="●"/>
            </a:pPr>
            <a:r>
              <a:rPr lang="en"/>
              <a:t>The parser should also support the following </a:t>
            </a:r>
            <a:r>
              <a:rPr lang="en" b="1" i="1">
                <a:solidFill>
                  <a:srgbClr val="FF0000"/>
                </a:solidFill>
              </a:rPr>
              <a:t>binary</a:t>
            </a:r>
            <a:r>
              <a:rPr lang="en">
                <a:solidFill>
                  <a:srgbClr val="FF0000"/>
                </a:solidFill>
              </a:rPr>
              <a:t> </a:t>
            </a:r>
            <a:r>
              <a:rPr lang="en"/>
              <a:t>operations (meaning that there are </a:t>
            </a:r>
            <a:r>
              <a:rPr lang="en" b="1" i="1">
                <a:solidFill>
                  <a:srgbClr val="FF0000"/>
                </a:solidFill>
              </a:rPr>
              <a:t>two</a:t>
            </a:r>
            <a:r>
              <a:rPr lang="en">
                <a:solidFill>
                  <a:srgbClr val="FF0000"/>
                </a:solidFill>
              </a:rPr>
              <a:t> </a:t>
            </a:r>
            <a:r>
              <a:rPr lang="en"/>
              <a:t>operands):</a:t>
            </a:r>
            <a:endParaRPr/>
          </a:p>
          <a:p>
            <a:pPr marL="914400" lvl="1" indent="-298450" algn="l" rtl="0">
              <a:lnSpc>
                <a:spcPct val="100000"/>
              </a:lnSpc>
              <a:spcBef>
                <a:spcPts val="0"/>
              </a:spcBef>
              <a:spcAft>
                <a:spcPts val="0"/>
              </a:spcAft>
              <a:buSzPts val="1100"/>
              <a:buChar char="○"/>
            </a:pPr>
            <a:r>
              <a:rPr lang="en"/>
              <a:t>Addition (</a:t>
            </a:r>
            <a:r>
              <a:rPr lang="en">
                <a:solidFill>
                  <a:srgbClr val="FF0000"/>
                </a:solidFill>
                <a:latin typeface="Courier New"/>
                <a:ea typeface="Courier New"/>
                <a:cs typeface="Courier New"/>
                <a:sym typeface="Courier New"/>
              </a:rPr>
              <a:t>+</a:t>
            </a:r>
            <a:r>
              <a:rPr lang="en"/>
              <a:t>)</a:t>
            </a:r>
            <a:endParaRPr/>
          </a:p>
          <a:p>
            <a:pPr marL="914400" lvl="1" indent="-298450" algn="l" rtl="0">
              <a:lnSpc>
                <a:spcPct val="100000"/>
              </a:lnSpc>
              <a:spcBef>
                <a:spcPts val="0"/>
              </a:spcBef>
              <a:spcAft>
                <a:spcPts val="0"/>
              </a:spcAft>
              <a:buSzPts val="1100"/>
              <a:buChar char="○"/>
            </a:pPr>
            <a:r>
              <a:rPr lang="en"/>
              <a:t>Subtraction (</a:t>
            </a:r>
            <a:r>
              <a:rPr lang="en">
                <a:solidFill>
                  <a:srgbClr val="FF0000"/>
                </a:solidFill>
                <a:latin typeface="Courier New"/>
                <a:ea typeface="Courier New"/>
                <a:cs typeface="Courier New"/>
                <a:sym typeface="Courier New"/>
              </a:rPr>
              <a:t>-</a:t>
            </a:r>
            <a:r>
              <a:rPr lang="en"/>
              <a:t>)</a:t>
            </a:r>
            <a:endParaRPr/>
          </a:p>
          <a:p>
            <a:pPr marL="914400" lvl="1" indent="-298450" algn="l" rtl="0">
              <a:lnSpc>
                <a:spcPct val="100000"/>
              </a:lnSpc>
              <a:spcBef>
                <a:spcPts val="0"/>
              </a:spcBef>
              <a:spcAft>
                <a:spcPts val="0"/>
              </a:spcAft>
              <a:buSzPts val="1100"/>
              <a:buChar char="○"/>
            </a:pPr>
            <a:r>
              <a:rPr lang="en"/>
              <a:t>Multiplication (</a:t>
            </a:r>
            <a:r>
              <a:rPr lang="en">
                <a:solidFill>
                  <a:srgbClr val="FF0000"/>
                </a:solidFill>
                <a:latin typeface="Courier New"/>
                <a:ea typeface="Courier New"/>
                <a:cs typeface="Courier New"/>
                <a:sym typeface="Courier New"/>
              </a:rPr>
              <a:t>*</a:t>
            </a:r>
            <a:r>
              <a:rPr lang="en"/>
              <a:t>)</a:t>
            </a:r>
            <a:endParaRPr/>
          </a:p>
          <a:p>
            <a:pPr marL="914400" lvl="1" indent="-298450" algn="l" rtl="0">
              <a:lnSpc>
                <a:spcPct val="100000"/>
              </a:lnSpc>
              <a:spcBef>
                <a:spcPts val="0"/>
              </a:spcBef>
              <a:spcAft>
                <a:spcPts val="0"/>
              </a:spcAft>
              <a:buSzPts val="1100"/>
              <a:buChar char="○"/>
            </a:pPr>
            <a:r>
              <a:rPr lang="en"/>
              <a:t>Division (</a:t>
            </a:r>
            <a:r>
              <a:rPr lang="en">
                <a:solidFill>
                  <a:srgbClr val="FF0000"/>
                </a:solidFill>
                <a:latin typeface="Courier New"/>
                <a:ea typeface="Courier New"/>
                <a:cs typeface="Courier New"/>
                <a:sym typeface="Courier New"/>
              </a:rPr>
              <a:t>/</a:t>
            </a:r>
            <a:r>
              <a:rPr lang="en"/>
              <a:t>)</a:t>
            </a:r>
            <a:endParaRPr/>
          </a:p>
          <a:p>
            <a:pPr marL="914400" lvl="1" indent="-298450" algn="l" rtl="0">
              <a:lnSpc>
                <a:spcPct val="100000"/>
              </a:lnSpc>
              <a:spcBef>
                <a:spcPts val="0"/>
              </a:spcBef>
              <a:spcAft>
                <a:spcPts val="0"/>
              </a:spcAft>
              <a:buSzPts val="1100"/>
              <a:buChar char="○"/>
            </a:pPr>
            <a:r>
              <a:rPr lang="en"/>
              <a:t>Integer Division (</a:t>
            </a:r>
            <a:r>
              <a:rPr lang="en">
                <a:solidFill>
                  <a:srgbClr val="FF0000"/>
                </a:solidFill>
                <a:latin typeface="Courier New"/>
                <a:ea typeface="Courier New"/>
                <a:cs typeface="Courier New"/>
                <a:sym typeface="Courier New"/>
              </a:rPr>
              <a:t>//</a:t>
            </a:r>
            <a:r>
              <a:rPr lang="en"/>
              <a:t>)</a:t>
            </a:r>
            <a:endParaRPr/>
          </a:p>
          <a:p>
            <a:pPr marL="914400" lvl="1" indent="-298450" algn="l" rtl="0">
              <a:lnSpc>
                <a:spcPct val="100000"/>
              </a:lnSpc>
              <a:spcBef>
                <a:spcPts val="0"/>
              </a:spcBef>
              <a:spcAft>
                <a:spcPts val="0"/>
              </a:spcAft>
              <a:buSzPts val="1100"/>
              <a:buChar char="○"/>
            </a:pPr>
            <a:r>
              <a:rPr lang="en"/>
              <a:t>Exponent (</a:t>
            </a:r>
            <a:r>
              <a:rPr lang="en">
                <a:solidFill>
                  <a:srgbClr val="FF0000"/>
                </a:solidFill>
                <a:latin typeface="Courier New"/>
                <a:ea typeface="Courier New"/>
                <a:cs typeface="Courier New"/>
                <a:sym typeface="Courier New"/>
              </a:rPr>
              <a:t>**</a:t>
            </a:r>
            <a:r>
              <a:rPr lang="en"/>
              <a:t>)</a:t>
            </a:r>
            <a:endParaRPr/>
          </a:p>
          <a:p>
            <a:pPr marL="457200" lvl="0" indent="-311150" algn="l" rtl="0">
              <a:lnSpc>
                <a:spcPct val="100000"/>
              </a:lnSpc>
              <a:spcBef>
                <a:spcPts val="0"/>
              </a:spcBef>
              <a:spcAft>
                <a:spcPts val="0"/>
              </a:spcAft>
              <a:buSzPts val="1300"/>
              <a:buChar char="●"/>
            </a:pPr>
            <a:r>
              <a:rPr lang="en"/>
              <a:t>The operand(s) for any supported operation may be </a:t>
            </a:r>
            <a:r>
              <a:rPr lang="en" b="1" i="1">
                <a:solidFill>
                  <a:srgbClr val="FF0000"/>
                </a:solidFill>
              </a:rPr>
              <a:t>any </a:t>
            </a:r>
            <a:r>
              <a:rPr lang="en"/>
              <a:t>expression, including </a:t>
            </a:r>
            <a:r>
              <a:rPr lang="en" b="1" i="1">
                <a:solidFill>
                  <a:srgbClr val="FF0000"/>
                </a:solidFill>
              </a:rPr>
              <a:t>constants</a:t>
            </a:r>
            <a:r>
              <a:rPr lang="en"/>
              <a:t>, e.g.:</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 4 5</a:t>
            </a:r>
            <a:r>
              <a:rPr lang="en"/>
              <a:t> (equivalent to </a:t>
            </a:r>
            <a:r>
              <a:rPr lang="en">
                <a:solidFill>
                  <a:srgbClr val="FF0000"/>
                </a:solidFill>
                <a:latin typeface="Courier New"/>
                <a:ea typeface="Courier New"/>
                <a:cs typeface="Courier New"/>
                <a:sym typeface="Courier New"/>
              </a:rPr>
              <a:t>4 * 5</a:t>
            </a:r>
            <a:r>
              <a:rPr lang="en"/>
              <a:t>).</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 * 3 2 - 4 5</a:t>
            </a:r>
            <a:r>
              <a:rPr lang="en"/>
              <a:t> (equivalent to </a:t>
            </a:r>
            <a:r>
              <a:rPr lang="en">
                <a:solidFill>
                  <a:srgbClr val="FF0000"/>
                </a:solidFill>
                <a:latin typeface="Courier New"/>
                <a:ea typeface="Courier New"/>
                <a:cs typeface="Courier New"/>
                <a:sym typeface="Courier New"/>
              </a:rPr>
              <a:t>(3</a:t>
            </a:r>
            <a:r>
              <a:rPr lang="en">
                <a:solidFill>
                  <a:srgbClr val="FF0000"/>
                </a:solidFill>
              </a:rPr>
              <a:t> </a:t>
            </a:r>
            <a:r>
              <a:rPr lang="en">
                <a:solidFill>
                  <a:srgbClr val="FF0000"/>
                </a:solidFill>
                <a:latin typeface="Courier New"/>
                <a:ea typeface="Courier New"/>
                <a:cs typeface="Courier New"/>
                <a:sym typeface="Courier New"/>
              </a:rPr>
              <a:t>*</a:t>
            </a:r>
            <a:r>
              <a:rPr lang="en">
                <a:solidFill>
                  <a:srgbClr val="FF0000"/>
                </a:solidFill>
              </a:rPr>
              <a:t> </a:t>
            </a:r>
            <a:r>
              <a:rPr lang="en">
                <a:solidFill>
                  <a:srgbClr val="FF0000"/>
                </a:solidFill>
                <a:latin typeface="Courier New"/>
                <a:ea typeface="Courier New"/>
                <a:cs typeface="Courier New"/>
                <a:sym typeface="Courier New"/>
              </a:rPr>
              <a:t>2)</a:t>
            </a:r>
            <a:r>
              <a:rPr lang="en">
                <a:solidFill>
                  <a:srgbClr val="FF0000"/>
                </a:solidFill>
              </a:rPr>
              <a:t> </a:t>
            </a:r>
            <a:r>
              <a:rPr lang="en">
                <a:solidFill>
                  <a:srgbClr val="FF0000"/>
                </a:solidFill>
                <a:latin typeface="Courier New"/>
                <a:ea typeface="Courier New"/>
                <a:cs typeface="Courier New"/>
                <a:sym typeface="Courier New"/>
              </a:rPr>
              <a:t>+</a:t>
            </a:r>
            <a:r>
              <a:rPr lang="en">
                <a:solidFill>
                  <a:srgbClr val="FF0000"/>
                </a:solidFill>
              </a:rPr>
              <a:t> </a:t>
            </a:r>
            <a:r>
              <a:rPr lang="en">
                <a:solidFill>
                  <a:srgbClr val="FF0000"/>
                </a:solidFill>
                <a:latin typeface="Courier New"/>
                <a:ea typeface="Courier New"/>
                <a:cs typeface="Courier New"/>
                <a:sym typeface="Courier New"/>
              </a:rPr>
              <a:t>(4</a:t>
            </a:r>
            <a:r>
              <a:rPr lang="en">
                <a:solidFill>
                  <a:srgbClr val="FF0000"/>
                </a:solidFill>
              </a:rPr>
              <a:t> </a:t>
            </a:r>
            <a:r>
              <a:rPr lang="en">
                <a:solidFill>
                  <a:srgbClr val="FF0000"/>
                </a:solidFill>
                <a:latin typeface="Courier New"/>
                <a:ea typeface="Courier New"/>
                <a:cs typeface="Courier New"/>
                <a:sym typeface="Courier New"/>
              </a:rPr>
              <a:t>-</a:t>
            </a:r>
            <a:r>
              <a:rPr lang="en">
                <a:solidFill>
                  <a:srgbClr val="FF0000"/>
                </a:solidFill>
              </a:rPr>
              <a:t> </a:t>
            </a:r>
            <a:r>
              <a:rPr lang="en">
                <a:solidFill>
                  <a:srgbClr val="FF0000"/>
                </a:solidFill>
                <a:latin typeface="Courier New"/>
                <a:ea typeface="Courier New"/>
                <a:cs typeface="Courier New"/>
                <a:sym typeface="Courier New"/>
              </a:rPr>
              <a:t>5)</a:t>
            </a:r>
            <a:r>
              <a:rPr lang="en"/>
              <a:t>)</a:t>
            </a:r>
            <a:endParaRPr/>
          </a:p>
        </p:txBody>
      </p:sp>
      <p:sp>
        <p:nvSpPr>
          <p:cNvPr id="1107" name="Google Shape;1107;p1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sp>
        <p:nvSpPr>
          <p:cNvPr id="1108" name="Google Shape;1108;p117"/>
          <p:cNvSpPr txBox="1">
            <a:spLocks noGrp="1"/>
          </p:cNvSpPr>
          <p:nvPr>
            <p:ph type="body" idx="3"/>
          </p:nvPr>
        </p:nvSpPr>
        <p:spPr>
          <a:xfrm>
            <a:off x="311725" y="2455258"/>
            <a:ext cx="3706500" cy="7245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Our expression parser will handle expressions written using </a:t>
            </a:r>
            <a:r>
              <a:rPr lang="en" sz="1200" b="1" i="1">
                <a:solidFill>
                  <a:srgbClr val="FF0000"/>
                </a:solidFill>
              </a:rPr>
              <a:t>prefix notation</a:t>
            </a:r>
            <a:r>
              <a:rPr lang="en" sz="1200"/>
              <a:t>, using which the operator </a:t>
            </a:r>
            <a:r>
              <a:rPr lang="en" sz="1200" b="1" i="1">
                <a:solidFill>
                  <a:srgbClr val="FF0000"/>
                </a:solidFill>
              </a:rPr>
              <a:t>precedes</a:t>
            </a:r>
            <a:r>
              <a:rPr lang="en" sz="1200">
                <a:solidFill>
                  <a:srgbClr val="FF0000"/>
                </a:solidFill>
              </a:rPr>
              <a:t> </a:t>
            </a:r>
            <a:r>
              <a:rPr lang="en" sz="1200"/>
              <a:t>its operand(s), e.g. </a:t>
            </a:r>
            <a:r>
              <a:rPr lang="en" sz="1200" b="1" i="1">
                <a:solidFill>
                  <a:srgbClr val="FF0000"/>
                </a:solidFill>
              </a:rPr>
              <a:t>+ 2 2</a:t>
            </a:r>
            <a:r>
              <a:rPr lang="en" sz="1200"/>
              <a:t>.</a:t>
            </a:r>
            <a:endParaRPr sz="1200"/>
          </a:p>
        </p:txBody>
      </p:sp>
      <p:sp>
        <p:nvSpPr>
          <p:cNvPr id="1109" name="Google Shape;1109;p117"/>
          <p:cNvSpPr txBox="1">
            <a:spLocks noGrp="1"/>
          </p:cNvSpPr>
          <p:nvPr>
            <p:ph type="body" idx="3"/>
          </p:nvPr>
        </p:nvSpPr>
        <p:spPr>
          <a:xfrm>
            <a:off x="315425" y="910425"/>
            <a:ext cx="3706500" cy="675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Most people are more familiar with </a:t>
            </a:r>
            <a:r>
              <a:rPr lang="en" sz="1200" b="1" i="1">
                <a:solidFill>
                  <a:srgbClr val="FF0000"/>
                </a:solidFill>
              </a:rPr>
              <a:t>infix notation</a:t>
            </a:r>
            <a:r>
              <a:rPr lang="en" sz="1200"/>
              <a:t>, using which the operator is situated between operands, e.g. </a:t>
            </a:r>
            <a:r>
              <a:rPr lang="en" sz="1200" b="1" i="1">
                <a:solidFill>
                  <a:srgbClr val="FF0000"/>
                </a:solidFill>
              </a:rPr>
              <a:t>2 + 2</a:t>
            </a:r>
            <a:r>
              <a:rPr lang="en" sz="1200"/>
              <a:t>.</a:t>
            </a:r>
            <a:endParaRPr sz="1200"/>
          </a:p>
        </p:txBody>
      </p:sp>
      <p:sp>
        <p:nvSpPr>
          <p:cNvPr id="1110" name="Google Shape;1110;p117"/>
          <p:cNvSpPr txBox="1">
            <a:spLocks noGrp="1"/>
          </p:cNvSpPr>
          <p:nvPr>
            <p:ph type="body" idx="3"/>
          </p:nvPr>
        </p:nvSpPr>
        <p:spPr>
          <a:xfrm>
            <a:off x="315425" y="1682841"/>
            <a:ext cx="3706500" cy="675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However, parsing such expressions is very challenging. One technique is the </a:t>
            </a:r>
            <a:r>
              <a:rPr lang="en" sz="1200" b="1" i="1" u="sng">
                <a:solidFill>
                  <a:srgbClr val="4A86E8"/>
                </a:solidFill>
                <a:hlinkClick r:id="rId3">
                  <a:extLst>
                    <a:ext uri="{A12FA001-AC4F-418D-AE19-62706E023703}">
                      <ahyp:hlinkClr xmlns:ahyp="http://schemas.microsoft.com/office/drawing/2018/hyperlinkcolor" val="tx"/>
                    </a:ext>
                  </a:extLst>
                </a:hlinkClick>
              </a:rPr>
              <a:t>Shunting- Yard Algorithm</a:t>
            </a:r>
            <a:r>
              <a:rPr lang="en" sz="1200"/>
              <a:t>.</a:t>
            </a:r>
            <a:endParaRPr sz="1200"/>
          </a:p>
        </p:txBody>
      </p:sp>
      <p:sp>
        <p:nvSpPr>
          <p:cNvPr id="1111" name="Google Shape;1111;p117"/>
          <p:cNvSpPr txBox="1">
            <a:spLocks noGrp="1"/>
          </p:cNvSpPr>
          <p:nvPr>
            <p:ph type="body" idx="3"/>
          </p:nvPr>
        </p:nvSpPr>
        <p:spPr>
          <a:xfrm>
            <a:off x="311725" y="3280892"/>
            <a:ext cx="3706500" cy="7245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Parsing expressions written using prefix notation is </a:t>
            </a:r>
            <a:r>
              <a:rPr lang="en" sz="1200" b="1" i="1">
                <a:solidFill>
                  <a:srgbClr val="FF0000"/>
                </a:solidFill>
              </a:rPr>
              <a:t>significantly </a:t>
            </a:r>
            <a:r>
              <a:rPr lang="en" sz="1200"/>
              <a:t>easier, even though they can be a little harder for humans to read.</a:t>
            </a:r>
            <a:endParaRPr sz="1200"/>
          </a:p>
        </p:txBody>
      </p:sp>
      <p:sp>
        <p:nvSpPr>
          <p:cNvPr id="1112" name="Google Shape;1112;p117"/>
          <p:cNvSpPr txBox="1"/>
          <p:nvPr/>
        </p:nvSpPr>
        <p:spPr>
          <a:xfrm>
            <a:off x="311725" y="4126725"/>
            <a:ext cx="3706500" cy="756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Consolas"/>
                <a:ea typeface="Consolas"/>
                <a:cs typeface="Consolas"/>
                <a:sym typeface="Consolas"/>
              </a:rPr>
              <a:t>&gt;&gt;&gt; + 2 * + 3 1 - 5 2</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14</a:t>
            </a:r>
            <a:endParaRPr sz="1600">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9"/>
                                        </p:tgtEl>
                                        <p:attrNameLst>
                                          <p:attrName>style.visibility</p:attrName>
                                        </p:attrNameLst>
                                      </p:cBhvr>
                                      <p:to>
                                        <p:strVal val="visible"/>
                                      </p:to>
                                    </p:set>
                                    <p:animEffect transition="in" filter="fade">
                                      <p:cBhvr>
                                        <p:cTn id="7" dur="1000"/>
                                        <p:tgtEl>
                                          <p:spTgt spid="11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10"/>
                                        </p:tgtEl>
                                        <p:attrNameLst>
                                          <p:attrName>style.visibility</p:attrName>
                                        </p:attrNameLst>
                                      </p:cBhvr>
                                      <p:to>
                                        <p:strVal val="visible"/>
                                      </p:to>
                                    </p:set>
                                    <p:animEffect transition="in" filter="fade">
                                      <p:cBhvr>
                                        <p:cTn id="12" dur="1000"/>
                                        <p:tgtEl>
                                          <p:spTgt spid="11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08"/>
                                        </p:tgtEl>
                                        <p:attrNameLst>
                                          <p:attrName>style.visibility</p:attrName>
                                        </p:attrNameLst>
                                      </p:cBhvr>
                                      <p:to>
                                        <p:strVal val="visible"/>
                                      </p:to>
                                    </p:set>
                                    <p:animEffect transition="in" filter="fade">
                                      <p:cBhvr>
                                        <p:cTn id="17" dur="1000"/>
                                        <p:tgtEl>
                                          <p:spTgt spid="110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11"/>
                                        </p:tgtEl>
                                        <p:attrNameLst>
                                          <p:attrName>style.visibility</p:attrName>
                                        </p:attrNameLst>
                                      </p:cBhvr>
                                      <p:to>
                                        <p:strVal val="visible"/>
                                      </p:to>
                                    </p:set>
                                    <p:animEffect transition="in" filter="fade">
                                      <p:cBhvr>
                                        <p:cTn id="22" dur="1000"/>
                                        <p:tgtEl>
                                          <p:spTgt spid="1111"/>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1112"/>
                                        </p:tgtEl>
                                        <p:attrNameLst>
                                          <p:attrName>style.visibility</p:attrName>
                                        </p:attrNameLst>
                                      </p:cBhvr>
                                      <p:to>
                                        <p:strVal val="visible"/>
                                      </p:to>
                                    </p:set>
                                    <p:animEffect transition="in" filter="fade">
                                      <p:cBhvr>
                                        <p:cTn id="26" dur="1000"/>
                                        <p:tgtEl>
                                          <p:spTgt spid="1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16"/>
        <p:cNvGrpSpPr/>
        <p:nvPr/>
      </p:nvGrpSpPr>
      <p:grpSpPr>
        <a:xfrm>
          <a:off x="0" y="0"/>
          <a:ext cx="0" cy="0"/>
          <a:chOff x="0" y="0"/>
          <a:chExt cx="0" cy="0"/>
        </a:xfrm>
      </p:grpSpPr>
      <p:sp>
        <p:nvSpPr>
          <p:cNvPr id="1117" name="Google Shape;1117;p118"/>
          <p:cNvSpPr txBox="1">
            <a:spLocks noGrp="1"/>
          </p:cNvSpPr>
          <p:nvPr>
            <p:ph type="title"/>
          </p:nvPr>
        </p:nvSpPr>
        <p:spPr>
          <a:xfrm>
            <a:off x="52647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Expressions</a:t>
            </a:r>
            <a:endParaRPr/>
          </a:p>
        </p:txBody>
      </p:sp>
      <p:sp>
        <p:nvSpPr>
          <p:cNvPr id="1118" name="Google Shape;1118;p118"/>
          <p:cNvSpPr txBox="1">
            <a:spLocks noGrp="1"/>
          </p:cNvSpPr>
          <p:nvPr>
            <p:ph type="body" idx="1"/>
          </p:nvPr>
        </p:nvSpPr>
        <p:spPr>
          <a:xfrm>
            <a:off x="301275" y="272325"/>
            <a:ext cx="4166400" cy="4432200"/>
          </a:xfrm>
          <a:prstGeom prst="rect">
            <a:avLst/>
          </a:prstGeom>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a:t>Let's start by focusing on the </a:t>
            </a:r>
            <a:r>
              <a:rPr lang="en" b="1" i="1">
                <a:solidFill>
                  <a:srgbClr val="FF0000"/>
                </a:solidFill>
              </a:rPr>
              <a:t>expressions</a:t>
            </a:r>
            <a:r>
              <a:rPr lang="en">
                <a:solidFill>
                  <a:srgbClr val="FF0000"/>
                </a:solidFill>
              </a:rPr>
              <a:t> </a:t>
            </a:r>
            <a:r>
              <a:rPr lang="en"/>
              <a:t>that our expression parser will create.</a:t>
            </a:r>
            <a:endParaRPr/>
          </a:p>
          <a:p>
            <a:pPr marL="457200" lvl="0" indent="-311150" algn="l" rtl="0">
              <a:lnSpc>
                <a:spcPct val="100000"/>
              </a:lnSpc>
              <a:spcBef>
                <a:spcPts val="0"/>
              </a:spcBef>
              <a:spcAft>
                <a:spcPts val="0"/>
              </a:spcAft>
              <a:buSzPts val="1300"/>
              <a:buChar char="●"/>
            </a:pPr>
            <a:r>
              <a:rPr lang="en"/>
              <a:t>When an </a:t>
            </a:r>
            <a:r>
              <a:rPr lang="en" b="1" i="1">
                <a:solidFill>
                  <a:srgbClr val="FF0000"/>
                </a:solidFill>
              </a:rPr>
              <a:t>expression</a:t>
            </a:r>
            <a:r>
              <a:rPr lang="en">
                <a:solidFill>
                  <a:srgbClr val="FF0000"/>
                </a:solidFill>
              </a:rPr>
              <a:t> </a:t>
            </a:r>
            <a:r>
              <a:rPr lang="en"/>
              <a:t>is evaluated, the result is a single, floating point value.</a:t>
            </a:r>
            <a:endParaRPr/>
          </a:p>
          <a:p>
            <a:pPr marL="457200" lvl="0" indent="-311150" algn="l" rtl="0">
              <a:lnSpc>
                <a:spcPct val="100000"/>
              </a:lnSpc>
              <a:spcBef>
                <a:spcPts val="0"/>
              </a:spcBef>
              <a:spcAft>
                <a:spcPts val="0"/>
              </a:spcAft>
              <a:buSzPts val="1300"/>
              <a:buChar char="●"/>
            </a:pPr>
            <a:r>
              <a:rPr lang="en"/>
              <a:t>There are </a:t>
            </a:r>
            <a:r>
              <a:rPr lang="en" b="1" i="1">
                <a:solidFill>
                  <a:srgbClr val="FF0000"/>
                </a:solidFill>
              </a:rPr>
              <a:t>three </a:t>
            </a:r>
            <a:r>
              <a:rPr lang="en"/>
              <a:t>basic types of expressions that our expression parser will support.</a:t>
            </a:r>
            <a:endParaRPr/>
          </a:p>
          <a:p>
            <a:pPr marL="457200" lvl="0" indent="-311150" algn="l" rtl="0">
              <a:lnSpc>
                <a:spcPct val="100000"/>
              </a:lnSpc>
              <a:spcBef>
                <a:spcPts val="0"/>
              </a:spcBef>
              <a:spcAft>
                <a:spcPts val="0"/>
              </a:spcAft>
              <a:buSzPts val="1300"/>
              <a:buChar char="●"/>
            </a:pPr>
            <a:r>
              <a:rPr lang="en"/>
              <a:t>A </a:t>
            </a:r>
            <a:r>
              <a:rPr lang="en" b="1" i="1">
                <a:solidFill>
                  <a:srgbClr val="FF0000"/>
                </a:solidFill>
              </a:rPr>
              <a:t>constant</a:t>
            </a:r>
            <a:r>
              <a:rPr lang="en">
                <a:solidFill>
                  <a:srgbClr val="FF0000"/>
                </a:solidFill>
              </a:rPr>
              <a:t> </a:t>
            </a:r>
            <a:r>
              <a:rPr lang="en"/>
              <a:t>is a literal value, eg. </a:t>
            </a:r>
            <a:r>
              <a:rPr lang="en">
                <a:solidFill>
                  <a:srgbClr val="FF0000"/>
                </a:solidFill>
                <a:latin typeface="Courier New"/>
                <a:ea typeface="Courier New"/>
                <a:cs typeface="Courier New"/>
                <a:sym typeface="Courier New"/>
              </a:rPr>
              <a:t>3.14159</a:t>
            </a:r>
            <a:r>
              <a:rPr lang="en"/>
              <a:t>.</a:t>
            </a:r>
            <a:endParaRPr/>
          </a:p>
          <a:p>
            <a:pPr marL="914400" lvl="1" indent="-298450" algn="l" rtl="0">
              <a:lnSpc>
                <a:spcPct val="100000"/>
              </a:lnSpc>
              <a:spcBef>
                <a:spcPts val="0"/>
              </a:spcBef>
              <a:spcAft>
                <a:spcPts val="0"/>
              </a:spcAft>
              <a:buSzPts val="1100"/>
              <a:buChar char="○"/>
            </a:pPr>
            <a:r>
              <a:rPr lang="en"/>
              <a:t>When a</a:t>
            </a:r>
            <a:r>
              <a:rPr lang="en">
                <a:solidFill>
                  <a:srgbClr val="FF0000"/>
                </a:solidFill>
              </a:rPr>
              <a:t> </a:t>
            </a:r>
            <a:r>
              <a:rPr lang="en" b="1" i="1">
                <a:solidFill>
                  <a:srgbClr val="FF0000"/>
                </a:solidFill>
              </a:rPr>
              <a:t>constant expression</a:t>
            </a:r>
            <a:r>
              <a:rPr lang="en"/>
              <a:t> is evaluated, it always just returns its value.</a:t>
            </a:r>
            <a:endParaRPr/>
          </a:p>
          <a:p>
            <a:pPr marL="457200" lvl="0" indent="-311150" algn="l" rtl="0">
              <a:lnSpc>
                <a:spcPct val="100000"/>
              </a:lnSpc>
              <a:spcBef>
                <a:spcPts val="0"/>
              </a:spcBef>
              <a:spcAft>
                <a:spcPts val="0"/>
              </a:spcAft>
              <a:buSzPts val="1300"/>
              <a:buChar char="●"/>
            </a:pPr>
            <a:r>
              <a:rPr lang="en"/>
              <a:t>A </a:t>
            </a:r>
            <a:r>
              <a:rPr lang="en" b="1" i="1">
                <a:solidFill>
                  <a:srgbClr val="FF0000"/>
                </a:solidFill>
              </a:rPr>
              <a:t>unary expression</a:t>
            </a:r>
            <a:r>
              <a:rPr lang="en"/>
              <a:t> is an operator and exactly </a:t>
            </a:r>
            <a:r>
              <a:rPr lang="en" b="1" i="1">
                <a:solidFill>
                  <a:srgbClr val="FF0000"/>
                </a:solidFill>
              </a:rPr>
              <a:t>one </a:t>
            </a:r>
            <a:r>
              <a:rPr lang="en"/>
              <a:t>other expression.</a:t>
            </a:r>
            <a:endParaRPr/>
          </a:p>
          <a:p>
            <a:pPr marL="914400" lvl="1" indent="-298450" algn="l" rtl="0">
              <a:lnSpc>
                <a:spcPct val="100000"/>
              </a:lnSpc>
              <a:spcBef>
                <a:spcPts val="0"/>
              </a:spcBef>
              <a:spcAft>
                <a:spcPts val="0"/>
              </a:spcAft>
              <a:buSzPts val="1100"/>
              <a:buChar char="○"/>
            </a:pPr>
            <a:r>
              <a:rPr lang="en"/>
              <a:t>The other expression must be evaluated </a:t>
            </a:r>
            <a:r>
              <a:rPr lang="en" b="1" i="1">
                <a:solidFill>
                  <a:srgbClr val="FF0000"/>
                </a:solidFill>
              </a:rPr>
              <a:t>first</a:t>
            </a:r>
            <a:r>
              <a:rPr lang="en"/>
              <a:t>.</a:t>
            </a:r>
            <a:endParaRPr/>
          </a:p>
          <a:p>
            <a:pPr marL="914400" lvl="1" indent="-298450" algn="l" rtl="0">
              <a:lnSpc>
                <a:spcPct val="100000"/>
              </a:lnSpc>
              <a:spcBef>
                <a:spcPts val="0"/>
              </a:spcBef>
              <a:spcAft>
                <a:spcPts val="0"/>
              </a:spcAft>
              <a:buSzPts val="1100"/>
              <a:buChar char="○"/>
            </a:pPr>
            <a:r>
              <a:rPr lang="en"/>
              <a:t>Then the operator is applied to the result.</a:t>
            </a:r>
            <a:endParaRPr/>
          </a:p>
          <a:p>
            <a:pPr marL="914400" lvl="1" indent="-298450" algn="l" rtl="0">
              <a:lnSpc>
                <a:spcPct val="100000"/>
              </a:lnSpc>
              <a:spcBef>
                <a:spcPts val="0"/>
              </a:spcBef>
              <a:spcAft>
                <a:spcPts val="0"/>
              </a:spcAft>
              <a:buSzPts val="1100"/>
              <a:buChar char="○"/>
            </a:pPr>
            <a:r>
              <a:rPr lang="en"/>
              <a:t>For example </a:t>
            </a:r>
            <a:r>
              <a:rPr lang="en">
                <a:solidFill>
                  <a:srgbClr val="FF0000"/>
                </a:solidFill>
              </a:rPr>
              <a:t>++ 5</a:t>
            </a:r>
            <a:r>
              <a:rPr lang="en"/>
              <a:t> is a unary expression that evaluates the constant expression </a:t>
            </a:r>
            <a:r>
              <a:rPr lang="en">
                <a:solidFill>
                  <a:srgbClr val="FF0000"/>
                </a:solidFill>
              </a:rPr>
              <a:t>5</a:t>
            </a:r>
            <a:r>
              <a:rPr lang="en"/>
              <a:t>, and then adds one.</a:t>
            </a:r>
            <a:endParaRPr/>
          </a:p>
          <a:p>
            <a:pPr marL="457200" lvl="0" indent="-311150" algn="l" rtl="0">
              <a:lnSpc>
                <a:spcPct val="100000"/>
              </a:lnSpc>
              <a:spcBef>
                <a:spcPts val="0"/>
              </a:spcBef>
              <a:spcAft>
                <a:spcPts val="0"/>
              </a:spcAft>
              <a:buSzPts val="1300"/>
              <a:buChar char="●"/>
            </a:pPr>
            <a:r>
              <a:rPr lang="en"/>
              <a:t>A </a:t>
            </a:r>
            <a:r>
              <a:rPr lang="en" b="1" i="1">
                <a:solidFill>
                  <a:srgbClr val="FF0000"/>
                </a:solidFill>
              </a:rPr>
              <a:t>binary expression</a:t>
            </a:r>
            <a:r>
              <a:rPr lang="en"/>
              <a:t> is an operator and exactly </a:t>
            </a:r>
            <a:r>
              <a:rPr lang="en" b="1" i="1">
                <a:solidFill>
                  <a:srgbClr val="FF0000"/>
                </a:solidFill>
              </a:rPr>
              <a:t>two</a:t>
            </a:r>
            <a:r>
              <a:rPr lang="en">
                <a:solidFill>
                  <a:srgbClr val="FF0000"/>
                </a:solidFill>
              </a:rPr>
              <a:t> </a:t>
            </a:r>
            <a:r>
              <a:rPr lang="en"/>
              <a:t>other expressions.</a:t>
            </a:r>
            <a:endParaRPr/>
          </a:p>
          <a:p>
            <a:pPr marL="914400" lvl="1" indent="-298450" algn="l" rtl="0">
              <a:lnSpc>
                <a:spcPct val="100000"/>
              </a:lnSpc>
              <a:spcBef>
                <a:spcPts val="0"/>
              </a:spcBef>
              <a:spcAft>
                <a:spcPts val="0"/>
              </a:spcAft>
              <a:buSzPts val="1100"/>
              <a:buChar char="○"/>
            </a:pPr>
            <a:r>
              <a:rPr lang="en" b="1" i="1">
                <a:solidFill>
                  <a:srgbClr val="FF0000"/>
                </a:solidFill>
              </a:rPr>
              <a:t>Both</a:t>
            </a:r>
            <a:r>
              <a:rPr lang="en">
                <a:solidFill>
                  <a:srgbClr val="FF0000"/>
                </a:solidFill>
              </a:rPr>
              <a:t> </a:t>
            </a:r>
            <a:r>
              <a:rPr lang="en"/>
              <a:t>of the other expressions must be evaluated </a:t>
            </a:r>
            <a:r>
              <a:rPr lang="en" b="1" i="1">
                <a:solidFill>
                  <a:srgbClr val="FF0000"/>
                </a:solidFill>
              </a:rPr>
              <a:t>first</a:t>
            </a:r>
            <a:r>
              <a:rPr lang="en"/>
              <a:t>.</a:t>
            </a:r>
            <a:endParaRPr/>
          </a:p>
          <a:p>
            <a:pPr marL="914400" lvl="1" indent="-298450" algn="l" rtl="0">
              <a:lnSpc>
                <a:spcPct val="100000"/>
              </a:lnSpc>
              <a:spcBef>
                <a:spcPts val="0"/>
              </a:spcBef>
              <a:spcAft>
                <a:spcPts val="0"/>
              </a:spcAft>
              <a:buSzPts val="1100"/>
              <a:buChar char="○"/>
            </a:pPr>
            <a:r>
              <a:rPr lang="en"/>
              <a:t>Then the operator is applied to both results.</a:t>
            </a:r>
            <a:endParaRPr/>
          </a:p>
          <a:p>
            <a:pPr marL="914400" lvl="1" indent="-298450" algn="l" rtl="0">
              <a:lnSpc>
                <a:spcPct val="100000"/>
              </a:lnSpc>
              <a:spcBef>
                <a:spcPts val="0"/>
              </a:spcBef>
              <a:spcAft>
                <a:spcPts val="0"/>
              </a:spcAft>
              <a:buSzPts val="1100"/>
              <a:buChar char="○"/>
            </a:pPr>
            <a:r>
              <a:rPr lang="en"/>
              <a:t>For example</a:t>
            </a:r>
            <a:r>
              <a:rPr lang="en">
                <a:solidFill>
                  <a:srgbClr val="FF0000"/>
                </a:solidFill>
              </a:rPr>
              <a:t> + 4 5</a:t>
            </a:r>
            <a:r>
              <a:rPr lang="en"/>
              <a:t> is a binary expression that evaluates two constant expressions and then adds the results together.</a:t>
            </a:r>
            <a:endParaRPr/>
          </a:p>
        </p:txBody>
      </p:sp>
      <p:sp>
        <p:nvSpPr>
          <p:cNvPr id="1119" name="Google Shape;1119;p11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
        <p:nvSpPr>
          <p:cNvPr id="1120" name="Google Shape;1120;p118"/>
          <p:cNvSpPr txBox="1">
            <a:spLocks noGrp="1"/>
          </p:cNvSpPr>
          <p:nvPr>
            <p:ph type="body" idx="3"/>
          </p:nvPr>
        </p:nvSpPr>
        <p:spPr>
          <a:xfrm>
            <a:off x="5246050" y="782900"/>
            <a:ext cx="3706500" cy="6888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It can be helpful to visualize expressions as a </a:t>
            </a:r>
            <a:r>
              <a:rPr lang="en" sz="1200" b="1" i="1">
                <a:solidFill>
                  <a:srgbClr val="FF0000"/>
                </a:solidFill>
              </a:rPr>
              <a:t>tree</a:t>
            </a:r>
            <a:r>
              <a:rPr lang="en" sz="1200"/>
              <a:t>. For example, take the example expression shown previously. </a:t>
            </a:r>
            <a:endParaRPr sz="1200"/>
          </a:p>
        </p:txBody>
      </p:sp>
      <p:sp>
        <p:nvSpPr>
          <p:cNvPr id="1121" name="Google Shape;1121;p118"/>
          <p:cNvSpPr txBox="1"/>
          <p:nvPr/>
        </p:nvSpPr>
        <p:spPr>
          <a:xfrm>
            <a:off x="5246050" y="1572775"/>
            <a:ext cx="3706500" cy="3531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Consolas"/>
                <a:ea typeface="Consolas"/>
                <a:cs typeface="Consolas"/>
                <a:sym typeface="Consolas"/>
              </a:rPr>
              <a:t>+ 2 * + 3 1 - 5 2</a:t>
            </a:r>
            <a:endParaRPr sz="1600">
              <a:latin typeface="Consolas"/>
              <a:ea typeface="Consolas"/>
              <a:cs typeface="Consolas"/>
              <a:sym typeface="Consolas"/>
            </a:endParaRPr>
          </a:p>
        </p:txBody>
      </p:sp>
      <p:sp>
        <p:nvSpPr>
          <p:cNvPr id="1122" name="Google Shape;1122;p118"/>
          <p:cNvSpPr txBox="1">
            <a:spLocks noGrp="1"/>
          </p:cNvSpPr>
          <p:nvPr>
            <p:ph type="body" idx="3"/>
          </p:nvPr>
        </p:nvSpPr>
        <p:spPr>
          <a:xfrm>
            <a:off x="5246050" y="4390000"/>
            <a:ext cx="3706500" cy="515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Each </a:t>
            </a:r>
            <a:r>
              <a:rPr lang="en" sz="1200" b="1" i="1">
                <a:solidFill>
                  <a:srgbClr val="FF0000"/>
                </a:solidFill>
              </a:rPr>
              <a:t>binary expression</a:t>
            </a:r>
            <a:r>
              <a:rPr lang="en" sz="1200"/>
              <a:t> in this tree must evaluate both of its expressions before applying the operator.</a:t>
            </a:r>
            <a:endParaRPr sz="1200"/>
          </a:p>
        </p:txBody>
      </p:sp>
      <p:sp>
        <p:nvSpPr>
          <p:cNvPr id="1123" name="Google Shape;1123;p118"/>
          <p:cNvSpPr/>
          <p:nvPr/>
        </p:nvSpPr>
        <p:spPr>
          <a:xfrm>
            <a:off x="6659588" y="2063025"/>
            <a:ext cx="393600" cy="393600"/>
          </a:xfrm>
          <a:prstGeom prst="ellipse">
            <a:avLst/>
          </a:prstGeom>
          <a:solidFill>
            <a:srgbClr val="FF0000"/>
          </a:solidFill>
          <a:ln w="28575"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grpSp>
        <p:nvGrpSpPr>
          <p:cNvPr id="1124" name="Google Shape;1124;p118"/>
          <p:cNvGrpSpPr/>
          <p:nvPr/>
        </p:nvGrpSpPr>
        <p:grpSpPr>
          <a:xfrm>
            <a:off x="5975375" y="2259825"/>
            <a:ext cx="684213" cy="787350"/>
            <a:chOff x="5975375" y="2259825"/>
            <a:chExt cx="684213" cy="787350"/>
          </a:xfrm>
        </p:grpSpPr>
        <p:sp>
          <p:nvSpPr>
            <p:cNvPr id="1125" name="Google Shape;1125;p118"/>
            <p:cNvSpPr/>
            <p:nvPr/>
          </p:nvSpPr>
          <p:spPr>
            <a:xfrm>
              <a:off x="5975375" y="2653575"/>
              <a:ext cx="393600" cy="393600"/>
            </a:xfrm>
            <a:prstGeom prst="ellipse">
              <a:avLst/>
            </a:prstGeom>
            <a:solidFill>
              <a:srgbClr val="38761D"/>
            </a:solidFill>
            <a:ln w="2857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p:txBody>
        </p:sp>
        <p:cxnSp>
          <p:nvCxnSpPr>
            <p:cNvPr id="1126" name="Google Shape;1126;p118"/>
            <p:cNvCxnSpPr>
              <a:stCxn id="1123" idx="2"/>
              <a:endCxn id="1125" idx="0"/>
            </p:cNvCxnSpPr>
            <p:nvPr/>
          </p:nvCxnSpPr>
          <p:spPr>
            <a:xfrm flipH="1">
              <a:off x="6172088" y="2259825"/>
              <a:ext cx="487500" cy="393900"/>
            </a:xfrm>
            <a:prstGeom prst="curvedConnector2">
              <a:avLst/>
            </a:prstGeom>
            <a:noFill/>
            <a:ln w="28575" cap="flat" cmpd="sng">
              <a:solidFill>
                <a:srgbClr val="FFFFFF"/>
              </a:solidFill>
              <a:prstDash val="solid"/>
              <a:round/>
              <a:headEnd type="none" w="med" len="med"/>
              <a:tailEnd type="none" w="med" len="med"/>
            </a:ln>
          </p:spPr>
        </p:cxnSp>
      </p:grpSp>
      <p:grpSp>
        <p:nvGrpSpPr>
          <p:cNvPr id="1127" name="Google Shape;1127;p118"/>
          <p:cNvGrpSpPr/>
          <p:nvPr/>
        </p:nvGrpSpPr>
        <p:grpSpPr>
          <a:xfrm>
            <a:off x="7053100" y="2259825"/>
            <a:ext cx="684300" cy="806400"/>
            <a:chOff x="7053100" y="2259825"/>
            <a:chExt cx="684300" cy="806400"/>
          </a:xfrm>
        </p:grpSpPr>
        <p:sp>
          <p:nvSpPr>
            <p:cNvPr id="1128" name="Google Shape;1128;p118"/>
            <p:cNvSpPr/>
            <p:nvPr/>
          </p:nvSpPr>
          <p:spPr>
            <a:xfrm>
              <a:off x="7343800" y="2672625"/>
              <a:ext cx="393600" cy="393600"/>
            </a:xfrm>
            <a:prstGeom prst="ellipse">
              <a:avLst/>
            </a:prstGeom>
            <a:solidFill>
              <a:srgbClr val="FF0000"/>
            </a:solidFill>
            <a:ln w="28575"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129" name="Google Shape;1129;p118"/>
            <p:cNvCxnSpPr>
              <a:endCxn id="1128" idx="0"/>
            </p:cNvCxnSpPr>
            <p:nvPr/>
          </p:nvCxnSpPr>
          <p:spPr>
            <a:xfrm>
              <a:off x="7053100" y="2259825"/>
              <a:ext cx="487500" cy="412800"/>
            </a:xfrm>
            <a:prstGeom prst="curvedConnector2">
              <a:avLst/>
            </a:prstGeom>
            <a:noFill/>
            <a:ln w="28575" cap="flat" cmpd="sng">
              <a:solidFill>
                <a:srgbClr val="FFFFFF"/>
              </a:solidFill>
              <a:prstDash val="solid"/>
              <a:round/>
              <a:headEnd type="none" w="med" len="med"/>
              <a:tailEnd type="none" w="med" len="med"/>
            </a:ln>
          </p:spPr>
        </p:cxnSp>
      </p:grpSp>
      <p:grpSp>
        <p:nvGrpSpPr>
          <p:cNvPr id="1130" name="Google Shape;1130;p118"/>
          <p:cNvGrpSpPr/>
          <p:nvPr/>
        </p:nvGrpSpPr>
        <p:grpSpPr>
          <a:xfrm>
            <a:off x="6658000" y="2869425"/>
            <a:ext cx="685800" cy="806400"/>
            <a:chOff x="6658000" y="2869425"/>
            <a:chExt cx="685800" cy="806400"/>
          </a:xfrm>
        </p:grpSpPr>
        <p:sp>
          <p:nvSpPr>
            <p:cNvPr id="1131" name="Google Shape;1131;p118"/>
            <p:cNvSpPr/>
            <p:nvPr/>
          </p:nvSpPr>
          <p:spPr>
            <a:xfrm>
              <a:off x="6658000" y="3282225"/>
              <a:ext cx="393600" cy="393600"/>
            </a:xfrm>
            <a:prstGeom prst="ellipse">
              <a:avLst/>
            </a:prstGeom>
            <a:solidFill>
              <a:srgbClr val="FF0000"/>
            </a:solidFill>
            <a:ln w="28575"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132" name="Google Shape;1132;p118"/>
            <p:cNvCxnSpPr>
              <a:stCxn id="1128" idx="2"/>
              <a:endCxn id="1131" idx="0"/>
            </p:cNvCxnSpPr>
            <p:nvPr/>
          </p:nvCxnSpPr>
          <p:spPr>
            <a:xfrm flipH="1">
              <a:off x="6854800" y="2869425"/>
              <a:ext cx="489000" cy="412800"/>
            </a:xfrm>
            <a:prstGeom prst="curvedConnector2">
              <a:avLst/>
            </a:prstGeom>
            <a:noFill/>
            <a:ln w="28575" cap="flat" cmpd="sng">
              <a:solidFill>
                <a:srgbClr val="FFFFFF"/>
              </a:solidFill>
              <a:prstDash val="solid"/>
              <a:round/>
              <a:headEnd type="none" w="med" len="med"/>
              <a:tailEnd type="none" w="med" len="med"/>
            </a:ln>
          </p:spPr>
        </p:cxnSp>
      </p:grpSp>
      <p:grpSp>
        <p:nvGrpSpPr>
          <p:cNvPr id="1133" name="Google Shape;1133;p118"/>
          <p:cNvGrpSpPr/>
          <p:nvPr/>
        </p:nvGrpSpPr>
        <p:grpSpPr>
          <a:xfrm>
            <a:off x="7737400" y="2869425"/>
            <a:ext cx="685800" cy="806400"/>
            <a:chOff x="7737400" y="2869425"/>
            <a:chExt cx="685800" cy="806400"/>
          </a:xfrm>
        </p:grpSpPr>
        <p:sp>
          <p:nvSpPr>
            <p:cNvPr id="1134" name="Google Shape;1134;p118"/>
            <p:cNvSpPr/>
            <p:nvPr/>
          </p:nvSpPr>
          <p:spPr>
            <a:xfrm>
              <a:off x="8029600" y="3282225"/>
              <a:ext cx="393600" cy="393600"/>
            </a:xfrm>
            <a:prstGeom prst="ellipse">
              <a:avLst/>
            </a:prstGeom>
            <a:solidFill>
              <a:srgbClr val="FF0000"/>
            </a:solidFill>
            <a:ln w="28575"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135" name="Google Shape;1135;p118"/>
            <p:cNvCxnSpPr>
              <a:endCxn id="1134" idx="0"/>
            </p:cNvCxnSpPr>
            <p:nvPr/>
          </p:nvCxnSpPr>
          <p:spPr>
            <a:xfrm>
              <a:off x="7737400" y="2869425"/>
              <a:ext cx="489000" cy="412800"/>
            </a:xfrm>
            <a:prstGeom prst="curvedConnector2">
              <a:avLst/>
            </a:prstGeom>
            <a:noFill/>
            <a:ln w="28575" cap="flat" cmpd="sng">
              <a:solidFill>
                <a:srgbClr val="FFFFFF"/>
              </a:solidFill>
              <a:prstDash val="solid"/>
              <a:round/>
              <a:headEnd type="none" w="med" len="med"/>
              <a:tailEnd type="none" w="med" len="med"/>
            </a:ln>
          </p:spPr>
        </p:cxnSp>
      </p:grpSp>
      <p:grpSp>
        <p:nvGrpSpPr>
          <p:cNvPr id="1136" name="Google Shape;1136;p118"/>
          <p:cNvGrpSpPr/>
          <p:nvPr/>
        </p:nvGrpSpPr>
        <p:grpSpPr>
          <a:xfrm>
            <a:off x="6264400" y="3479025"/>
            <a:ext cx="393600" cy="689450"/>
            <a:chOff x="6264400" y="3479025"/>
            <a:chExt cx="393600" cy="689450"/>
          </a:xfrm>
        </p:grpSpPr>
        <p:sp>
          <p:nvSpPr>
            <p:cNvPr id="1137" name="Google Shape;1137;p118"/>
            <p:cNvSpPr/>
            <p:nvPr/>
          </p:nvSpPr>
          <p:spPr>
            <a:xfrm>
              <a:off x="6264400" y="3774875"/>
              <a:ext cx="393600" cy="393600"/>
            </a:xfrm>
            <a:prstGeom prst="ellipse">
              <a:avLst/>
            </a:prstGeom>
            <a:solidFill>
              <a:srgbClr val="38761D"/>
            </a:solidFill>
            <a:ln w="2857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3</a:t>
              </a:r>
              <a:endParaRPr>
                <a:solidFill>
                  <a:srgbClr val="FFFFFF"/>
                </a:solidFill>
                <a:latin typeface="Consolas"/>
                <a:ea typeface="Consolas"/>
                <a:cs typeface="Consolas"/>
                <a:sym typeface="Consolas"/>
              </a:endParaRPr>
            </a:p>
          </p:txBody>
        </p:sp>
        <p:cxnSp>
          <p:nvCxnSpPr>
            <p:cNvPr id="1138" name="Google Shape;1138;p118"/>
            <p:cNvCxnSpPr>
              <a:stCxn id="1131" idx="2"/>
              <a:endCxn id="1137" idx="0"/>
            </p:cNvCxnSpPr>
            <p:nvPr/>
          </p:nvCxnSpPr>
          <p:spPr>
            <a:xfrm flipH="1">
              <a:off x="6461200" y="3479025"/>
              <a:ext cx="196800" cy="295800"/>
            </a:xfrm>
            <a:prstGeom prst="curvedConnector2">
              <a:avLst/>
            </a:prstGeom>
            <a:noFill/>
            <a:ln w="28575" cap="flat" cmpd="sng">
              <a:solidFill>
                <a:srgbClr val="FFFFFF"/>
              </a:solidFill>
              <a:prstDash val="solid"/>
              <a:round/>
              <a:headEnd type="none" w="med" len="med"/>
              <a:tailEnd type="none" w="med" len="med"/>
            </a:ln>
          </p:spPr>
        </p:cxnSp>
      </p:grpSp>
      <p:grpSp>
        <p:nvGrpSpPr>
          <p:cNvPr id="1139" name="Google Shape;1139;p118"/>
          <p:cNvGrpSpPr/>
          <p:nvPr/>
        </p:nvGrpSpPr>
        <p:grpSpPr>
          <a:xfrm>
            <a:off x="7026400" y="3479025"/>
            <a:ext cx="393600" cy="689450"/>
            <a:chOff x="7026400" y="3479025"/>
            <a:chExt cx="393600" cy="689450"/>
          </a:xfrm>
        </p:grpSpPr>
        <p:sp>
          <p:nvSpPr>
            <p:cNvPr id="1140" name="Google Shape;1140;p118"/>
            <p:cNvSpPr/>
            <p:nvPr/>
          </p:nvSpPr>
          <p:spPr>
            <a:xfrm>
              <a:off x="7026400" y="3774875"/>
              <a:ext cx="393600" cy="393600"/>
            </a:xfrm>
            <a:prstGeom prst="ellipse">
              <a:avLst/>
            </a:prstGeom>
            <a:solidFill>
              <a:srgbClr val="38761D"/>
            </a:solidFill>
            <a:ln w="2857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1</a:t>
              </a:r>
              <a:endParaRPr>
                <a:solidFill>
                  <a:srgbClr val="FFFFFF"/>
                </a:solidFill>
                <a:latin typeface="Consolas"/>
                <a:ea typeface="Consolas"/>
                <a:cs typeface="Consolas"/>
                <a:sym typeface="Consolas"/>
              </a:endParaRPr>
            </a:p>
          </p:txBody>
        </p:sp>
        <p:cxnSp>
          <p:nvCxnSpPr>
            <p:cNvPr id="1141" name="Google Shape;1141;p118"/>
            <p:cNvCxnSpPr>
              <a:stCxn id="1131" idx="6"/>
              <a:endCxn id="1140" idx="0"/>
            </p:cNvCxnSpPr>
            <p:nvPr/>
          </p:nvCxnSpPr>
          <p:spPr>
            <a:xfrm>
              <a:off x="7051600" y="3479025"/>
              <a:ext cx="171600" cy="295800"/>
            </a:xfrm>
            <a:prstGeom prst="curvedConnector2">
              <a:avLst/>
            </a:prstGeom>
            <a:noFill/>
            <a:ln w="28575" cap="flat" cmpd="sng">
              <a:solidFill>
                <a:srgbClr val="FFFFFF"/>
              </a:solidFill>
              <a:prstDash val="solid"/>
              <a:round/>
              <a:headEnd type="none" w="med" len="med"/>
              <a:tailEnd type="none" w="med" len="med"/>
            </a:ln>
          </p:spPr>
        </p:cxnSp>
      </p:grpSp>
      <p:grpSp>
        <p:nvGrpSpPr>
          <p:cNvPr id="1142" name="Google Shape;1142;p118"/>
          <p:cNvGrpSpPr/>
          <p:nvPr/>
        </p:nvGrpSpPr>
        <p:grpSpPr>
          <a:xfrm>
            <a:off x="7636000" y="3479025"/>
            <a:ext cx="393600" cy="689450"/>
            <a:chOff x="7636000" y="3479025"/>
            <a:chExt cx="393600" cy="689450"/>
          </a:xfrm>
        </p:grpSpPr>
        <p:sp>
          <p:nvSpPr>
            <p:cNvPr id="1143" name="Google Shape;1143;p118"/>
            <p:cNvSpPr/>
            <p:nvPr/>
          </p:nvSpPr>
          <p:spPr>
            <a:xfrm>
              <a:off x="7636000" y="3774875"/>
              <a:ext cx="393600" cy="393600"/>
            </a:xfrm>
            <a:prstGeom prst="ellipse">
              <a:avLst/>
            </a:prstGeom>
            <a:solidFill>
              <a:srgbClr val="38761D"/>
            </a:solidFill>
            <a:ln w="2857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5</a:t>
              </a:r>
              <a:endParaRPr>
                <a:solidFill>
                  <a:srgbClr val="FFFFFF"/>
                </a:solidFill>
                <a:latin typeface="Consolas"/>
                <a:ea typeface="Consolas"/>
                <a:cs typeface="Consolas"/>
                <a:sym typeface="Consolas"/>
              </a:endParaRPr>
            </a:p>
          </p:txBody>
        </p:sp>
        <p:cxnSp>
          <p:nvCxnSpPr>
            <p:cNvPr id="1144" name="Google Shape;1144;p118"/>
            <p:cNvCxnSpPr>
              <a:stCxn id="1134" idx="2"/>
              <a:endCxn id="1143" idx="0"/>
            </p:cNvCxnSpPr>
            <p:nvPr/>
          </p:nvCxnSpPr>
          <p:spPr>
            <a:xfrm flipH="1">
              <a:off x="7832800" y="3479025"/>
              <a:ext cx="196800" cy="295800"/>
            </a:xfrm>
            <a:prstGeom prst="curvedConnector2">
              <a:avLst/>
            </a:prstGeom>
            <a:noFill/>
            <a:ln w="28575" cap="flat" cmpd="sng">
              <a:solidFill>
                <a:srgbClr val="FFFFFF"/>
              </a:solidFill>
              <a:prstDash val="solid"/>
              <a:round/>
              <a:headEnd type="none" w="med" len="med"/>
              <a:tailEnd type="none" w="med" len="med"/>
            </a:ln>
          </p:spPr>
        </p:cxnSp>
      </p:grpSp>
      <p:grpSp>
        <p:nvGrpSpPr>
          <p:cNvPr id="1145" name="Google Shape;1145;p118"/>
          <p:cNvGrpSpPr/>
          <p:nvPr/>
        </p:nvGrpSpPr>
        <p:grpSpPr>
          <a:xfrm>
            <a:off x="8398000" y="3479025"/>
            <a:ext cx="393600" cy="689450"/>
            <a:chOff x="8398000" y="3479025"/>
            <a:chExt cx="393600" cy="689450"/>
          </a:xfrm>
        </p:grpSpPr>
        <p:sp>
          <p:nvSpPr>
            <p:cNvPr id="1146" name="Google Shape;1146;p118"/>
            <p:cNvSpPr/>
            <p:nvPr/>
          </p:nvSpPr>
          <p:spPr>
            <a:xfrm>
              <a:off x="8398000" y="3774875"/>
              <a:ext cx="393600" cy="393600"/>
            </a:xfrm>
            <a:prstGeom prst="ellipse">
              <a:avLst/>
            </a:prstGeom>
            <a:solidFill>
              <a:srgbClr val="38761D"/>
            </a:solidFill>
            <a:ln w="2857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p:txBody>
        </p:sp>
        <p:cxnSp>
          <p:nvCxnSpPr>
            <p:cNvPr id="1147" name="Google Shape;1147;p118"/>
            <p:cNvCxnSpPr>
              <a:stCxn id="1134" idx="6"/>
              <a:endCxn id="1146" idx="0"/>
            </p:cNvCxnSpPr>
            <p:nvPr/>
          </p:nvCxnSpPr>
          <p:spPr>
            <a:xfrm>
              <a:off x="8423200" y="3479025"/>
              <a:ext cx="171600" cy="295800"/>
            </a:xfrm>
            <a:prstGeom prst="curvedConnector2">
              <a:avLst/>
            </a:prstGeom>
            <a:noFill/>
            <a:ln w="28575" cap="flat" cmpd="sng">
              <a:solidFill>
                <a:srgbClr val="FFFFFF"/>
              </a:solidFill>
              <a:prstDash val="solid"/>
              <a:round/>
              <a:headEnd type="none" w="med" len="med"/>
              <a:tailEnd type="none" w="med" len="med"/>
            </a:ln>
          </p:spPr>
        </p:cxnSp>
      </p:grpSp>
      <p:sp>
        <p:nvSpPr>
          <p:cNvPr id="1148" name="Google Shape;1148;p118"/>
          <p:cNvSpPr txBox="1"/>
          <p:nvPr/>
        </p:nvSpPr>
        <p:spPr>
          <a:xfrm>
            <a:off x="6437325" y="3009913"/>
            <a:ext cx="393600" cy="35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Shadows Into Light"/>
                <a:ea typeface="Shadows Into Light"/>
                <a:cs typeface="Shadows Into Light"/>
                <a:sym typeface="Shadows Into Light"/>
              </a:rPr>
              <a:t>4</a:t>
            </a:r>
            <a:endParaRPr sz="1800">
              <a:solidFill>
                <a:srgbClr val="FFFFFF"/>
              </a:solidFill>
              <a:latin typeface="Shadows Into Light"/>
              <a:ea typeface="Shadows Into Light"/>
              <a:cs typeface="Shadows Into Light"/>
              <a:sym typeface="Shadows Into Light"/>
            </a:endParaRPr>
          </a:p>
        </p:txBody>
      </p:sp>
      <p:sp>
        <p:nvSpPr>
          <p:cNvPr id="1149" name="Google Shape;1149;p118"/>
          <p:cNvSpPr txBox="1"/>
          <p:nvPr/>
        </p:nvSpPr>
        <p:spPr>
          <a:xfrm>
            <a:off x="8266125" y="3009913"/>
            <a:ext cx="393600" cy="35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Shadows Into Light"/>
                <a:ea typeface="Shadows Into Light"/>
                <a:cs typeface="Shadows Into Light"/>
                <a:sym typeface="Shadows Into Light"/>
              </a:rPr>
              <a:t>3</a:t>
            </a:r>
            <a:endParaRPr sz="1800">
              <a:solidFill>
                <a:srgbClr val="FFFFFF"/>
              </a:solidFill>
              <a:latin typeface="Shadows Into Light"/>
              <a:ea typeface="Shadows Into Light"/>
              <a:cs typeface="Shadows Into Light"/>
              <a:sym typeface="Shadows Into Light"/>
            </a:endParaRPr>
          </a:p>
        </p:txBody>
      </p:sp>
      <p:sp>
        <p:nvSpPr>
          <p:cNvPr id="1150" name="Google Shape;1150;p118"/>
          <p:cNvSpPr txBox="1"/>
          <p:nvPr/>
        </p:nvSpPr>
        <p:spPr>
          <a:xfrm>
            <a:off x="7504125" y="2324113"/>
            <a:ext cx="393600" cy="35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Shadows Into Light"/>
                <a:ea typeface="Shadows Into Light"/>
                <a:cs typeface="Shadows Into Light"/>
                <a:sym typeface="Shadows Into Light"/>
              </a:rPr>
              <a:t>12</a:t>
            </a:r>
            <a:endParaRPr sz="1800">
              <a:solidFill>
                <a:srgbClr val="FFFFFF"/>
              </a:solidFill>
              <a:latin typeface="Shadows Into Light"/>
              <a:ea typeface="Shadows Into Light"/>
              <a:cs typeface="Shadows Into Light"/>
              <a:sym typeface="Shadows Into Light"/>
            </a:endParaRPr>
          </a:p>
        </p:txBody>
      </p:sp>
      <p:sp>
        <p:nvSpPr>
          <p:cNvPr id="1151" name="Google Shape;1151;p118"/>
          <p:cNvSpPr txBox="1"/>
          <p:nvPr/>
        </p:nvSpPr>
        <p:spPr>
          <a:xfrm>
            <a:off x="7023113" y="1919300"/>
            <a:ext cx="393600" cy="35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Shadows Into Light"/>
                <a:ea typeface="Shadows Into Light"/>
                <a:cs typeface="Shadows Into Light"/>
                <a:sym typeface="Shadows Into Light"/>
              </a:rPr>
              <a:t>14</a:t>
            </a:r>
            <a:endParaRPr sz="1800">
              <a:solidFill>
                <a:srgbClr val="FFFFFF"/>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0"/>
                                        </p:tgtEl>
                                        <p:attrNameLst>
                                          <p:attrName>style.visibility</p:attrName>
                                        </p:attrNameLst>
                                      </p:cBhvr>
                                      <p:to>
                                        <p:strVal val="visible"/>
                                      </p:to>
                                    </p:set>
                                    <p:animEffect transition="in" filter="fade">
                                      <p:cBhvr>
                                        <p:cTn id="7" dur="1000"/>
                                        <p:tgtEl>
                                          <p:spTgt spid="1120"/>
                                        </p:tgtEl>
                                      </p:cBhvr>
                                    </p:animEffect>
                                  </p:childTnLst>
                                </p:cTn>
                              </p:par>
                              <p:par>
                                <p:cTn id="8" presetID="10" presetClass="entr" presetSubtype="0" fill="hold" nodeType="withEffect">
                                  <p:stCondLst>
                                    <p:cond delay="0"/>
                                  </p:stCondLst>
                                  <p:childTnLst>
                                    <p:set>
                                      <p:cBhvr>
                                        <p:cTn id="9" dur="1" fill="hold">
                                          <p:stCondLst>
                                            <p:cond delay="0"/>
                                          </p:stCondLst>
                                        </p:cTn>
                                        <p:tgtEl>
                                          <p:spTgt spid="1121"/>
                                        </p:tgtEl>
                                        <p:attrNameLst>
                                          <p:attrName>style.visibility</p:attrName>
                                        </p:attrNameLst>
                                      </p:cBhvr>
                                      <p:to>
                                        <p:strVal val="visible"/>
                                      </p:to>
                                    </p:set>
                                    <p:animEffect transition="in" filter="fade">
                                      <p:cBhvr>
                                        <p:cTn id="10" dur="1000"/>
                                        <p:tgtEl>
                                          <p:spTgt spid="11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23"/>
                                        </p:tgtEl>
                                        <p:attrNameLst>
                                          <p:attrName>style.visibility</p:attrName>
                                        </p:attrNameLst>
                                      </p:cBhvr>
                                      <p:to>
                                        <p:strVal val="visible"/>
                                      </p:to>
                                    </p:set>
                                    <p:animEffect transition="in" filter="fade">
                                      <p:cBhvr>
                                        <p:cTn id="15" dur="1000"/>
                                        <p:tgtEl>
                                          <p:spTgt spid="11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24"/>
                                        </p:tgtEl>
                                        <p:attrNameLst>
                                          <p:attrName>style.visibility</p:attrName>
                                        </p:attrNameLst>
                                      </p:cBhvr>
                                      <p:to>
                                        <p:strVal val="visible"/>
                                      </p:to>
                                    </p:set>
                                    <p:animEffect transition="in" filter="fade">
                                      <p:cBhvr>
                                        <p:cTn id="20" dur="1000"/>
                                        <p:tgtEl>
                                          <p:spTgt spid="1124"/>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1127"/>
                                        </p:tgtEl>
                                        <p:attrNameLst>
                                          <p:attrName>style.visibility</p:attrName>
                                        </p:attrNameLst>
                                      </p:cBhvr>
                                      <p:to>
                                        <p:strVal val="visible"/>
                                      </p:to>
                                    </p:set>
                                    <p:animEffect transition="in" filter="fade">
                                      <p:cBhvr>
                                        <p:cTn id="24" dur="1000"/>
                                        <p:tgtEl>
                                          <p:spTgt spid="11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30"/>
                                        </p:tgtEl>
                                        <p:attrNameLst>
                                          <p:attrName>style.visibility</p:attrName>
                                        </p:attrNameLst>
                                      </p:cBhvr>
                                      <p:to>
                                        <p:strVal val="visible"/>
                                      </p:to>
                                    </p:set>
                                    <p:animEffect transition="in" filter="fade">
                                      <p:cBhvr>
                                        <p:cTn id="29" dur="1000"/>
                                        <p:tgtEl>
                                          <p:spTgt spid="113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36"/>
                                        </p:tgtEl>
                                        <p:attrNameLst>
                                          <p:attrName>style.visibility</p:attrName>
                                        </p:attrNameLst>
                                      </p:cBhvr>
                                      <p:to>
                                        <p:strVal val="visible"/>
                                      </p:to>
                                    </p:set>
                                    <p:animEffect transition="in" filter="fade">
                                      <p:cBhvr>
                                        <p:cTn id="34" dur="1000"/>
                                        <p:tgtEl>
                                          <p:spTgt spid="1136"/>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139"/>
                                        </p:tgtEl>
                                        <p:attrNameLst>
                                          <p:attrName>style.visibility</p:attrName>
                                        </p:attrNameLst>
                                      </p:cBhvr>
                                      <p:to>
                                        <p:strVal val="visible"/>
                                      </p:to>
                                    </p:set>
                                    <p:animEffect transition="in" filter="fade">
                                      <p:cBhvr>
                                        <p:cTn id="38" dur="1000"/>
                                        <p:tgtEl>
                                          <p:spTgt spid="113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133"/>
                                        </p:tgtEl>
                                        <p:attrNameLst>
                                          <p:attrName>style.visibility</p:attrName>
                                        </p:attrNameLst>
                                      </p:cBhvr>
                                      <p:to>
                                        <p:strVal val="visible"/>
                                      </p:to>
                                    </p:set>
                                    <p:animEffect transition="in" filter="fade">
                                      <p:cBhvr>
                                        <p:cTn id="43" dur="1000"/>
                                        <p:tgtEl>
                                          <p:spTgt spid="113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142"/>
                                        </p:tgtEl>
                                        <p:attrNameLst>
                                          <p:attrName>style.visibility</p:attrName>
                                        </p:attrNameLst>
                                      </p:cBhvr>
                                      <p:to>
                                        <p:strVal val="visible"/>
                                      </p:to>
                                    </p:set>
                                    <p:animEffect transition="in" filter="fade">
                                      <p:cBhvr>
                                        <p:cTn id="48" dur="1000"/>
                                        <p:tgtEl>
                                          <p:spTgt spid="1142"/>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1145"/>
                                        </p:tgtEl>
                                        <p:attrNameLst>
                                          <p:attrName>style.visibility</p:attrName>
                                        </p:attrNameLst>
                                      </p:cBhvr>
                                      <p:to>
                                        <p:strVal val="visible"/>
                                      </p:to>
                                    </p:set>
                                    <p:animEffect transition="in" filter="fade">
                                      <p:cBhvr>
                                        <p:cTn id="52" dur="1000"/>
                                        <p:tgtEl>
                                          <p:spTgt spid="114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22"/>
                                        </p:tgtEl>
                                        <p:attrNameLst>
                                          <p:attrName>style.visibility</p:attrName>
                                        </p:attrNameLst>
                                      </p:cBhvr>
                                      <p:to>
                                        <p:strVal val="visible"/>
                                      </p:to>
                                    </p:set>
                                    <p:animEffect transition="in" filter="fade">
                                      <p:cBhvr>
                                        <p:cTn id="57" dur="1000"/>
                                        <p:tgtEl>
                                          <p:spTgt spid="112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48"/>
                                        </p:tgtEl>
                                        <p:attrNameLst>
                                          <p:attrName>style.visibility</p:attrName>
                                        </p:attrNameLst>
                                      </p:cBhvr>
                                      <p:to>
                                        <p:strVal val="visible"/>
                                      </p:to>
                                    </p:set>
                                    <p:animEffect transition="in" filter="fade">
                                      <p:cBhvr>
                                        <p:cTn id="62" dur="1000"/>
                                        <p:tgtEl>
                                          <p:spTgt spid="114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49"/>
                                        </p:tgtEl>
                                        <p:attrNameLst>
                                          <p:attrName>style.visibility</p:attrName>
                                        </p:attrNameLst>
                                      </p:cBhvr>
                                      <p:to>
                                        <p:strVal val="visible"/>
                                      </p:to>
                                    </p:set>
                                    <p:animEffect transition="in" filter="fade">
                                      <p:cBhvr>
                                        <p:cTn id="67" dur="1000"/>
                                        <p:tgtEl>
                                          <p:spTgt spid="114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50"/>
                                        </p:tgtEl>
                                        <p:attrNameLst>
                                          <p:attrName>style.visibility</p:attrName>
                                        </p:attrNameLst>
                                      </p:cBhvr>
                                      <p:to>
                                        <p:strVal val="visible"/>
                                      </p:to>
                                    </p:set>
                                    <p:animEffect transition="in" filter="fade">
                                      <p:cBhvr>
                                        <p:cTn id="72" dur="1000"/>
                                        <p:tgtEl>
                                          <p:spTgt spid="115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151"/>
                                        </p:tgtEl>
                                        <p:attrNameLst>
                                          <p:attrName>style.visibility</p:attrName>
                                        </p:attrNameLst>
                                      </p:cBhvr>
                                      <p:to>
                                        <p:strVal val="visible"/>
                                      </p:to>
                                    </p:set>
                                    <p:animEffect transition="in" filter="fade">
                                      <p:cBhvr>
                                        <p:cTn id="77" dur="1000"/>
                                        <p:tgtEl>
                                          <p:spTgt spid="1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graphicFrame>
        <p:nvGraphicFramePr>
          <p:cNvPr id="1156" name="Google Shape;1156;p119"/>
          <p:cNvGraphicFramePr/>
          <p:nvPr/>
        </p:nvGraphicFramePr>
        <p:xfrm>
          <a:off x="2507450" y="1521650"/>
          <a:ext cx="6147600" cy="3169680"/>
        </p:xfrm>
        <a:graphic>
          <a:graphicData uri="http://schemas.openxmlformats.org/drawingml/2006/table">
            <a:tbl>
              <a:tblPr>
                <a:noFill/>
                <a:tableStyleId>{BB7116F7-C15E-4CF7-A1A4-3F0B48A09751}</a:tableStyleId>
              </a:tblPr>
              <a:tblGrid>
                <a:gridCol w="3073800">
                  <a:extLst>
                    <a:ext uri="{9D8B030D-6E8A-4147-A177-3AD203B41FA5}">
                      <a16:colId xmlns:a16="http://schemas.microsoft.com/office/drawing/2014/main" val="20000"/>
                    </a:ext>
                  </a:extLst>
                </a:gridCol>
                <a:gridCol w="30738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a:solidFill>
                            <a:srgbClr val="FFFFFF"/>
                          </a:solidFill>
                        </a:rPr>
                        <a:t>Expression</a:t>
                      </a:r>
                      <a:endParaRPr>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l" rtl="0">
                        <a:spcBef>
                          <a:spcPts val="0"/>
                        </a:spcBef>
                        <a:spcAft>
                          <a:spcPts val="0"/>
                        </a:spcAft>
                        <a:buNone/>
                      </a:pPr>
                      <a:r>
                        <a:rPr lang="en">
                          <a:solidFill>
                            <a:srgbClr val="FFFFFF"/>
                          </a:solidFill>
                        </a:rPr>
                        <a:t>Final Result</a:t>
                      </a:r>
                      <a:endParaRPr>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++ 5.6</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+ 2 3</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++ 2 ++ 3</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+ 2 - 4 2</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+ 2 3 - 5 3</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 * 3 + 4 2 7 5</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bl>
          </a:graphicData>
        </a:graphic>
      </p:graphicFrame>
      <p:sp>
        <p:nvSpPr>
          <p:cNvPr id="1157" name="Google Shape;1157;p11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Before we start implementing our expression parser, let's practice evaluating prefix expressions by hand.</a:t>
            </a:r>
            <a:endParaRPr/>
          </a:p>
        </p:txBody>
      </p:sp>
      <p:sp>
        <p:nvSpPr>
          <p:cNvPr id="1158" name="Google Shape;1158;p1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57</a:t>
            </a:fld>
            <a:endParaRPr/>
          </a:p>
        </p:txBody>
      </p:sp>
      <p:sp>
        <p:nvSpPr>
          <p:cNvPr id="1159" name="Google Shape;1159;p11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Expression Practice</a:t>
            </a:r>
            <a:endParaRPr/>
          </a:p>
        </p:txBody>
      </p:sp>
      <p:sp>
        <p:nvSpPr>
          <p:cNvPr id="1160" name="Google Shape;1160;p11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3.25</a:t>
            </a:r>
            <a:endParaRPr/>
          </a:p>
        </p:txBody>
      </p:sp>
      <p:pic>
        <p:nvPicPr>
          <p:cNvPr id="1161" name="Google Shape;1161;p119"/>
          <p:cNvPicPr preferRelativeResize="0"/>
          <p:nvPr/>
        </p:nvPicPr>
        <p:blipFill rotWithShape="1">
          <a:blip r:embed="rId3">
            <a:alphaModFix/>
          </a:blip>
          <a:srcRect l="6938" r="8651"/>
          <a:stretch/>
        </p:blipFill>
        <p:spPr>
          <a:xfrm>
            <a:off x="71438" y="1521650"/>
            <a:ext cx="2412200" cy="257187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graphicFrame>
        <p:nvGraphicFramePr>
          <p:cNvPr id="1166" name="Google Shape;1166;p120"/>
          <p:cNvGraphicFramePr/>
          <p:nvPr/>
        </p:nvGraphicFramePr>
        <p:xfrm>
          <a:off x="2507450" y="1521650"/>
          <a:ext cx="6147600" cy="3169680"/>
        </p:xfrm>
        <a:graphic>
          <a:graphicData uri="http://schemas.openxmlformats.org/drawingml/2006/table">
            <a:tbl>
              <a:tblPr>
                <a:noFill/>
                <a:tableStyleId>{BB7116F7-C15E-4CF7-A1A4-3F0B48A09751}</a:tableStyleId>
              </a:tblPr>
              <a:tblGrid>
                <a:gridCol w="3073800">
                  <a:extLst>
                    <a:ext uri="{9D8B030D-6E8A-4147-A177-3AD203B41FA5}">
                      <a16:colId xmlns:a16="http://schemas.microsoft.com/office/drawing/2014/main" val="20000"/>
                    </a:ext>
                  </a:extLst>
                </a:gridCol>
                <a:gridCol w="30738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a:solidFill>
                            <a:srgbClr val="FFFFFF"/>
                          </a:solidFill>
                        </a:rPr>
                        <a:t>Expression</a:t>
                      </a:r>
                      <a:endParaRPr>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l" rtl="0">
                        <a:spcBef>
                          <a:spcPts val="0"/>
                        </a:spcBef>
                        <a:spcAft>
                          <a:spcPts val="0"/>
                        </a:spcAft>
                        <a:buNone/>
                      </a:pPr>
                      <a:r>
                        <a:rPr lang="en">
                          <a:solidFill>
                            <a:srgbClr val="FFFFFF"/>
                          </a:solidFill>
                        </a:rPr>
                        <a:t>Final Result</a:t>
                      </a:r>
                      <a:endParaRPr>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++ 5.6</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+ 2 3</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++ 2 ++ 3</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+ 2 - 4 2</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+ 2 3 - 5 3</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a:latin typeface="Consolas"/>
                          <a:ea typeface="Consolas"/>
                          <a:cs typeface="Consolas"/>
                          <a:sym typeface="Consolas"/>
                        </a:rPr>
                        <a:t>+ - * 3 + 4 2 7 5</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solidFill>
                          <a:srgbClr val="FF0000"/>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bl>
          </a:graphicData>
        </a:graphic>
      </p:graphicFrame>
      <p:sp>
        <p:nvSpPr>
          <p:cNvPr id="1167" name="Google Shape;1167;p120"/>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Before we start implementing our expression parser, let's practice evaluating prefix expressions by hand.</a:t>
            </a:r>
            <a:endParaRPr/>
          </a:p>
        </p:txBody>
      </p:sp>
      <p:sp>
        <p:nvSpPr>
          <p:cNvPr id="1168" name="Google Shape;1168;p1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58</a:t>
            </a:fld>
            <a:endParaRPr/>
          </a:p>
        </p:txBody>
      </p:sp>
      <p:sp>
        <p:nvSpPr>
          <p:cNvPr id="1169" name="Google Shape;1169;p12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Expression Practice</a:t>
            </a:r>
            <a:endParaRPr/>
          </a:p>
        </p:txBody>
      </p:sp>
      <p:sp>
        <p:nvSpPr>
          <p:cNvPr id="1170" name="Google Shape;1170;p12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3.25</a:t>
            </a:r>
            <a:endParaRPr/>
          </a:p>
        </p:txBody>
      </p:sp>
      <p:pic>
        <p:nvPicPr>
          <p:cNvPr id="1171" name="Google Shape;1171;p120"/>
          <p:cNvPicPr preferRelativeResize="0"/>
          <p:nvPr/>
        </p:nvPicPr>
        <p:blipFill rotWithShape="1">
          <a:blip r:embed="rId3">
            <a:alphaModFix/>
          </a:blip>
          <a:srcRect l="6938" r="8651"/>
          <a:stretch/>
        </p:blipFill>
        <p:spPr>
          <a:xfrm>
            <a:off x="71438" y="1521650"/>
            <a:ext cx="2412200" cy="2571876"/>
          </a:xfrm>
          <a:prstGeom prst="rect">
            <a:avLst/>
          </a:prstGeom>
          <a:noFill/>
          <a:ln>
            <a:noFill/>
          </a:ln>
        </p:spPr>
      </p:pic>
      <p:sp>
        <p:nvSpPr>
          <p:cNvPr id="1172" name="Google Shape;1172;p120"/>
          <p:cNvSpPr txBox="1"/>
          <p:nvPr/>
        </p:nvSpPr>
        <p:spPr>
          <a:xfrm>
            <a:off x="5591577" y="1880234"/>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7</a:t>
            </a:r>
            <a:endParaRPr sz="2000">
              <a:solidFill>
                <a:srgbClr val="FF0000"/>
              </a:solidFill>
              <a:latin typeface="Shadows Into Light"/>
              <a:ea typeface="Shadows Into Light"/>
              <a:cs typeface="Shadows Into Light"/>
              <a:sym typeface="Shadows Into Light"/>
            </a:endParaRPr>
          </a:p>
        </p:txBody>
      </p:sp>
      <p:sp>
        <p:nvSpPr>
          <p:cNvPr id="1173" name="Google Shape;1173;p120"/>
          <p:cNvSpPr txBox="1"/>
          <p:nvPr/>
        </p:nvSpPr>
        <p:spPr>
          <a:xfrm>
            <a:off x="5591577" y="2261234"/>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6.6</a:t>
            </a:r>
            <a:endParaRPr sz="2000">
              <a:solidFill>
                <a:srgbClr val="FF0000"/>
              </a:solidFill>
              <a:latin typeface="Shadows Into Light"/>
              <a:ea typeface="Shadows Into Light"/>
              <a:cs typeface="Shadows Into Light"/>
              <a:sym typeface="Shadows Into Light"/>
            </a:endParaRPr>
          </a:p>
        </p:txBody>
      </p:sp>
      <p:sp>
        <p:nvSpPr>
          <p:cNvPr id="1174" name="Google Shape;1174;p120"/>
          <p:cNvSpPr txBox="1"/>
          <p:nvPr/>
        </p:nvSpPr>
        <p:spPr>
          <a:xfrm>
            <a:off x="5591577" y="2661167"/>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5</a:t>
            </a:r>
            <a:endParaRPr sz="2000">
              <a:solidFill>
                <a:srgbClr val="FF0000"/>
              </a:solidFill>
              <a:latin typeface="Shadows Into Light"/>
              <a:ea typeface="Shadows Into Light"/>
              <a:cs typeface="Shadows Into Light"/>
              <a:sym typeface="Shadows Into Light"/>
            </a:endParaRPr>
          </a:p>
        </p:txBody>
      </p:sp>
      <p:sp>
        <p:nvSpPr>
          <p:cNvPr id="1175" name="Google Shape;1175;p120"/>
          <p:cNvSpPr txBox="1"/>
          <p:nvPr/>
        </p:nvSpPr>
        <p:spPr>
          <a:xfrm>
            <a:off x="5591577" y="3061100"/>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7</a:t>
            </a:r>
            <a:endParaRPr sz="2000">
              <a:solidFill>
                <a:srgbClr val="FF0000"/>
              </a:solidFill>
              <a:latin typeface="Shadows Into Light"/>
              <a:ea typeface="Shadows Into Light"/>
              <a:cs typeface="Shadows Into Light"/>
              <a:sym typeface="Shadows Into Light"/>
            </a:endParaRPr>
          </a:p>
        </p:txBody>
      </p:sp>
      <p:sp>
        <p:nvSpPr>
          <p:cNvPr id="1176" name="Google Shape;1176;p120"/>
          <p:cNvSpPr txBox="1"/>
          <p:nvPr/>
        </p:nvSpPr>
        <p:spPr>
          <a:xfrm>
            <a:off x="5591577" y="3448411"/>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4</a:t>
            </a:r>
            <a:endParaRPr sz="2000">
              <a:solidFill>
                <a:srgbClr val="FF0000"/>
              </a:solidFill>
              <a:latin typeface="Shadows Into Light"/>
              <a:ea typeface="Shadows Into Light"/>
              <a:cs typeface="Shadows Into Light"/>
              <a:sym typeface="Shadows Into Light"/>
            </a:endParaRPr>
          </a:p>
        </p:txBody>
      </p:sp>
      <p:sp>
        <p:nvSpPr>
          <p:cNvPr id="1177" name="Google Shape;1177;p120"/>
          <p:cNvSpPr txBox="1"/>
          <p:nvPr/>
        </p:nvSpPr>
        <p:spPr>
          <a:xfrm>
            <a:off x="5591577" y="3848344"/>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10</a:t>
            </a:r>
            <a:endParaRPr sz="2000">
              <a:solidFill>
                <a:srgbClr val="FF0000"/>
              </a:solidFill>
              <a:latin typeface="Shadows Into Light"/>
              <a:ea typeface="Shadows Into Light"/>
              <a:cs typeface="Shadows Into Light"/>
              <a:sym typeface="Shadows Into Light"/>
            </a:endParaRPr>
          </a:p>
        </p:txBody>
      </p:sp>
      <p:sp>
        <p:nvSpPr>
          <p:cNvPr id="1178" name="Google Shape;1178;p120"/>
          <p:cNvSpPr txBox="1"/>
          <p:nvPr/>
        </p:nvSpPr>
        <p:spPr>
          <a:xfrm>
            <a:off x="5591577" y="4235655"/>
            <a:ext cx="3063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16</a:t>
            </a:r>
            <a:endParaRPr sz="2000">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72"/>
                                        </p:tgtEl>
                                        <p:attrNameLst>
                                          <p:attrName>style.visibility</p:attrName>
                                        </p:attrNameLst>
                                      </p:cBhvr>
                                      <p:to>
                                        <p:strVal val="visible"/>
                                      </p:to>
                                    </p:set>
                                    <p:animEffect transition="in" filter="fade">
                                      <p:cBhvr>
                                        <p:cTn id="7" dur="1000"/>
                                        <p:tgtEl>
                                          <p:spTgt spid="117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73"/>
                                        </p:tgtEl>
                                        <p:attrNameLst>
                                          <p:attrName>style.visibility</p:attrName>
                                        </p:attrNameLst>
                                      </p:cBhvr>
                                      <p:to>
                                        <p:strVal val="visible"/>
                                      </p:to>
                                    </p:set>
                                    <p:animEffect transition="in" filter="fade">
                                      <p:cBhvr>
                                        <p:cTn id="12" dur="1000"/>
                                        <p:tgtEl>
                                          <p:spTgt spid="117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74"/>
                                        </p:tgtEl>
                                        <p:attrNameLst>
                                          <p:attrName>style.visibility</p:attrName>
                                        </p:attrNameLst>
                                      </p:cBhvr>
                                      <p:to>
                                        <p:strVal val="visible"/>
                                      </p:to>
                                    </p:set>
                                    <p:animEffect transition="in" filter="fade">
                                      <p:cBhvr>
                                        <p:cTn id="17" dur="1000"/>
                                        <p:tgtEl>
                                          <p:spTgt spid="117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75"/>
                                        </p:tgtEl>
                                        <p:attrNameLst>
                                          <p:attrName>style.visibility</p:attrName>
                                        </p:attrNameLst>
                                      </p:cBhvr>
                                      <p:to>
                                        <p:strVal val="visible"/>
                                      </p:to>
                                    </p:set>
                                    <p:animEffect transition="in" filter="fade">
                                      <p:cBhvr>
                                        <p:cTn id="22" dur="1000"/>
                                        <p:tgtEl>
                                          <p:spTgt spid="117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76"/>
                                        </p:tgtEl>
                                        <p:attrNameLst>
                                          <p:attrName>style.visibility</p:attrName>
                                        </p:attrNameLst>
                                      </p:cBhvr>
                                      <p:to>
                                        <p:strVal val="visible"/>
                                      </p:to>
                                    </p:set>
                                    <p:animEffect transition="in" filter="fade">
                                      <p:cBhvr>
                                        <p:cTn id="27" dur="1000"/>
                                        <p:tgtEl>
                                          <p:spTgt spid="117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77"/>
                                        </p:tgtEl>
                                        <p:attrNameLst>
                                          <p:attrName>style.visibility</p:attrName>
                                        </p:attrNameLst>
                                      </p:cBhvr>
                                      <p:to>
                                        <p:strVal val="visible"/>
                                      </p:to>
                                    </p:set>
                                    <p:animEffect transition="in" filter="fade">
                                      <p:cBhvr>
                                        <p:cTn id="32" dur="1000"/>
                                        <p:tgtEl>
                                          <p:spTgt spid="117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78"/>
                                        </p:tgtEl>
                                        <p:attrNameLst>
                                          <p:attrName>style.visibility</p:attrName>
                                        </p:attrNameLst>
                                      </p:cBhvr>
                                      <p:to>
                                        <p:strVal val="visible"/>
                                      </p:to>
                                    </p:set>
                                    <p:animEffect transition="in" filter="fade">
                                      <p:cBhvr>
                                        <p:cTn id="37" dur="1000"/>
                                        <p:tgtEl>
                                          <p:spTgt spid="1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82"/>
        <p:cNvGrpSpPr/>
        <p:nvPr/>
      </p:nvGrpSpPr>
      <p:grpSpPr>
        <a:xfrm>
          <a:off x="0" y="0"/>
          <a:ext cx="0" cy="0"/>
          <a:chOff x="0" y="0"/>
          <a:chExt cx="0" cy="0"/>
        </a:xfrm>
      </p:grpSpPr>
      <p:sp>
        <p:nvSpPr>
          <p:cNvPr id="1183" name="Google Shape;1183;p12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start with a focused simple domain analysis and concentrate first on </a:t>
            </a:r>
            <a:r>
              <a:rPr lang="en" b="1" i="1">
                <a:solidFill>
                  <a:srgbClr val="FF0000"/>
                </a:solidFill>
              </a:rPr>
              <a:t>constants</a:t>
            </a:r>
            <a:r>
              <a:rPr lang="en">
                <a:solidFill>
                  <a:srgbClr val="FF0000"/>
                </a:solidFill>
              </a:rPr>
              <a:t> </a:t>
            </a:r>
            <a:r>
              <a:rPr lang="en"/>
              <a:t>and the two </a:t>
            </a:r>
            <a:r>
              <a:rPr lang="en" b="1" i="1">
                <a:solidFill>
                  <a:srgbClr val="FF0000"/>
                </a:solidFill>
              </a:rPr>
              <a:t>unary expressions</a:t>
            </a:r>
            <a:r>
              <a:rPr lang="en"/>
              <a:t>: </a:t>
            </a:r>
            <a:r>
              <a:rPr lang="en" b="1" i="1">
                <a:solidFill>
                  <a:srgbClr val="FF0000"/>
                </a:solidFill>
              </a:rPr>
              <a:t>increment </a:t>
            </a:r>
            <a:r>
              <a:rPr lang="en"/>
              <a:t>and </a:t>
            </a:r>
            <a:r>
              <a:rPr lang="en" b="1" i="1">
                <a:solidFill>
                  <a:srgbClr val="FF0000"/>
                </a:solidFill>
              </a:rPr>
              <a:t>decrement</a:t>
            </a:r>
            <a:r>
              <a:rPr lang="en"/>
              <a:t>.</a:t>
            </a:r>
            <a:endParaRPr/>
          </a:p>
        </p:txBody>
      </p:sp>
      <p:sp>
        <p:nvSpPr>
          <p:cNvPr id="1184" name="Google Shape;1184;p1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59</a:t>
            </a:fld>
            <a:endParaRPr/>
          </a:p>
        </p:txBody>
      </p:sp>
      <p:sp>
        <p:nvSpPr>
          <p:cNvPr id="1185" name="Google Shape;1185;p12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Another Simple Domain Analysis</a:t>
            </a:r>
            <a:endParaRPr/>
          </a:p>
        </p:txBody>
      </p:sp>
      <p:sp>
        <p:nvSpPr>
          <p:cNvPr id="1186" name="Google Shape;1186;p12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3.26</a:t>
            </a:r>
            <a:endParaRPr/>
          </a:p>
        </p:txBody>
      </p:sp>
      <p:graphicFrame>
        <p:nvGraphicFramePr>
          <p:cNvPr id="1187" name="Google Shape;1187;p121"/>
          <p:cNvGraphicFramePr/>
          <p:nvPr/>
        </p:nvGraphicFramePr>
        <p:xfrm>
          <a:off x="1558150" y="1574350"/>
          <a:ext cx="7190400" cy="3288700"/>
        </p:xfrm>
        <a:graphic>
          <a:graphicData uri="http://schemas.openxmlformats.org/drawingml/2006/table">
            <a:tbl>
              <a:tblPr>
                <a:noFill/>
                <a:tableStyleId>{BB7116F7-C15E-4CF7-A1A4-3F0B48A09751}</a:tableStyleId>
              </a:tblPr>
              <a:tblGrid>
                <a:gridCol w="977525">
                  <a:extLst>
                    <a:ext uri="{9D8B030D-6E8A-4147-A177-3AD203B41FA5}">
                      <a16:colId xmlns:a16="http://schemas.microsoft.com/office/drawing/2014/main" val="20000"/>
                    </a:ext>
                  </a:extLst>
                </a:gridCol>
                <a:gridCol w="1242575">
                  <a:extLst>
                    <a:ext uri="{9D8B030D-6E8A-4147-A177-3AD203B41FA5}">
                      <a16:colId xmlns:a16="http://schemas.microsoft.com/office/drawing/2014/main" val="20001"/>
                    </a:ext>
                  </a:extLst>
                </a:gridCol>
                <a:gridCol w="1242575">
                  <a:extLst>
                    <a:ext uri="{9D8B030D-6E8A-4147-A177-3AD203B41FA5}">
                      <a16:colId xmlns:a16="http://schemas.microsoft.com/office/drawing/2014/main" val="20002"/>
                    </a:ext>
                  </a:extLst>
                </a:gridCol>
                <a:gridCol w="1242575">
                  <a:extLst>
                    <a:ext uri="{9D8B030D-6E8A-4147-A177-3AD203B41FA5}">
                      <a16:colId xmlns:a16="http://schemas.microsoft.com/office/drawing/2014/main" val="20003"/>
                    </a:ext>
                  </a:extLst>
                </a:gridCol>
                <a:gridCol w="1242575">
                  <a:extLst>
                    <a:ext uri="{9D8B030D-6E8A-4147-A177-3AD203B41FA5}">
                      <a16:colId xmlns:a16="http://schemas.microsoft.com/office/drawing/2014/main" val="20004"/>
                    </a:ext>
                  </a:extLst>
                </a:gridCol>
                <a:gridCol w="1242575">
                  <a:extLst>
                    <a:ext uri="{9D8B030D-6E8A-4147-A177-3AD203B41FA5}">
                      <a16:colId xmlns:a16="http://schemas.microsoft.com/office/drawing/2014/main" val="20005"/>
                    </a:ext>
                  </a:extLst>
                </a:gridCol>
              </a:tblGrid>
              <a:tr h="563200">
                <a:tc>
                  <a:txBody>
                    <a:bodyPr/>
                    <a:lstStyle/>
                    <a:p>
                      <a:pPr marL="0" lvl="0" indent="0" algn="l" rtl="0">
                        <a:spcBef>
                          <a:spcPts val="0"/>
                        </a:spcBef>
                        <a:spcAft>
                          <a:spcPts val="0"/>
                        </a:spcAft>
                        <a:buNone/>
                      </a:pPr>
                      <a:r>
                        <a:rPr lang="en"/>
                        <a:t>Class </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362750">
                <a:tc>
                  <a:txBody>
                    <a:bodyPr/>
                    <a:lstStyle/>
                    <a:p>
                      <a:pPr marL="0" lvl="0" indent="0" algn="l" rtl="0">
                        <a:spcBef>
                          <a:spcPts val="0"/>
                        </a:spcBef>
                        <a:spcAft>
                          <a:spcPts val="0"/>
                        </a:spcAft>
                        <a:buNone/>
                      </a:pPr>
                      <a:r>
                        <a:rPr lang="en"/>
                        <a:t>State</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362750">
                <a:tc>
                  <a:txBody>
                    <a:bodyPr/>
                    <a:lstStyle/>
                    <a:p>
                      <a:pPr marL="0" lvl="0" indent="0" algn="l" rtl="0">
                        <a:spcBef>
                          <a:spcPts val="0"/>
                        </a:spcBef>
                        <a:spcAft>
                          <a:spcPts val="0"/>
                        </a:spcAft>
                        <a:buNone/>
                      </a:pPr>
                      <a:r>
                        <a:rPr lang="en"/>
                        <a:t>Behavior</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91"/>
        <p:cNvGrpSpPr/>
        <p:nvPr/>
      </p:nvGrpSpPr>
      <p:grpSpPr>
        <a:xfrm>
          <a:off x="0" y="0"/>
          <a:ext cx="0" cy="0"/>
          <a:chOff x="0" y="0"/>
          <a:chExt cx="0" cy="0"/>
        </a:xfrm>
      </p:grpSpPr>
      <p:sp>
        <p:nvSpPr>
          <p:cNvPr id="1192" name="Google Shape;1192;p122"/>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start with a focused simple domain analysis and concentrate first on </a:t>
            </a:r>
            <a:r>
              <a:rPr lang="en" b="1" i="1">
                <a:solidFill>
                  <a:srgbClr val="FF0000"/>
                </a:solidFill>
              </a:rPr>
              <a:t>constants</a:t>
            </a:r>
            <a:r>
              <a:rPr lang="en">
                <a:solidFill>
                  <a:srgbClr val="FF0000"/>
                </a:solidFill>
              </a:rPr>
              <a:t> </a:t>
            </a:r>
            <a:r>
              <a:rPr lang="en"/>
              <a:t>and the two </a:t>
            </a:r>
            <a:r>
              <a:rPr lang="en" b="1" i="1">
                <a:solidFill>
                  <a:srgbClr val="FF0000"/>
                </a:solidFill>
              </a:rPr>
              <a:t>unary expressions</a:t>
            </a:r>
            <a:r>
              <a:rPr lang="en"/>
              <a:t>: </a:t>
            </a:r>
            <a:r>
              <a:rPr lang="en" b="1" i="1">
                <a:solidFill>
                  <a:srgbClr val="FF0000"/>
                </a:solidFill>
              </a:rPr>
              <a:t>increment </a:t>
            </a:r>
            <a:r>
              <a:rPr lang="en"/>
              <a:t>and </a:t>
            </a:r>
            <a:r>
              <a:rPr lang="en" b="1" i="1">
                <a:solidFill>
                  <a:srgbClr val="FF0000"/>
                </a:solidFill>
              </a:rPr>
              <a:t>decrement</a:t>
            </a:r>
            <a:r>
              <a:rPr lang="en"/>
              <a:t>.</a:t>
            </a:r>
            <a:endParaRPr/>
          </a:p>
        </p:txBody>
      </p:sp>
      <p:sp>
        <p:nvSpPr>
          <p:cNvPr id="1193" name="Google Shape;1193;p1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60</a:t>
            </a:fld>
            <a:endParaRPr/>
          </a:p>
        </p:txBody>
      </p:sp>
      <p:sp>
        <p:nvSpPr>
          <p:cNvPr id="1194" name="Google Shape;1194;p12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Another Simple Domain Analysis</a:t>
            </a:r>
            <a:endParaRPr/>
          </a:p>
        </p:txBody>
      </p:sp>
      <p:sp>
        <p:nvSpPr>
          <p:cNvPr id="1195" name="Google Shape;1195;p12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3.26</a:t>
            </a:r>
            <a:endParaRPr/>
          </a:p>
        </p:txBody>
      </p:sp>
      <p:graphicFrame>
        <p:nvGraphicFramePr>
          <p:cNvPr id="1196" name="Google Shape;1196;p122"/>
          <p:cNvGraphicFramePr/>
          <p:nvPr/>
        </p:nvGraphicFramePr>
        <p:xfrm>
          <a:off x="1558150" y="1574350"/>
          <a:ext cx="7190400" cy="3288700"/>
        </p:xfrm>
        <a:graphic>
          <a:graphicData uri="http://schemas.openxmlformats.org/drawingml/2006/table">
            <a:tbl>
              <a:tblPr>
                <a:noFill/>
                <a:tableStyleId>{BB7116F7-C15E-4CF7-A1A4-3F0B48A09751}</a:tableStyleId>
              </a:tblPr>
              <a:tblGrid>
                <a:gridCol w="977525">
                  <a:extLst>
                    <a:ext uri="{9D8B030D-6E8A-4147-A177-3AD203B41FA5}">
                      <a16:colId xmlns:a16="http://schemas.microsoft.com/office/drawing/2014/main" val="20000"/>
                    </a:ext>
                  </a:extLst>
                </a:gridCol>
                <a:gridCol w="1242575">
                  <a:extLst>
                    <a:ext uri="{9D8B030D-6E8A-4147-A177-3AD203B41FA5}">
                      <a16:colId xmlns:a16="http://schemas.microsoft.com/office/drawing/2014/main" val="20001"/>
                    </a:ext>
                  </a:extLst>
                </a:gridCol>
                <a:gridCol w="1242575">
                  <a:extLst>
                    <a:ext uri="{9D8B030D-6E8A-4147-A177-3AD203B41FA5}">
                      <a16:colId xmlns:a16="http://schemas.microsoft.com/office/drawing/2014/main" val="20002"/>
                    </a:ext>
                  </a:extLst>
                </a:gridCol>
                <a:gridCol w="1242575">
                  <a:extLst>
                    <a:ext uri="{9D8B030D-6E8A-4147-A177-3AD203B41FA5}">
                      <a16:colId xmlns:a16="http://schemas.microsoft.com/office/drawing/2014/main" val="20003"/>
                    </a:ext>
                  </a:extLst>
                </a:gridCol>
                <a:gridCol w="1242575">
                  <a:extLst>
                    <a:ext uri="{9D8B030D-6E8A-4147-A177-3AD203B41FA5}">
                      <a16:colId xmlns:a16="http://schemas.microsoft.com/office/drawing/2014/main" val="20004"/>
                    </a:ext>
                  </a:extLst>
                </a:gridCol>
                <a:gridCol w="1242575">
                  <a:extLst>
                    <a:ext uri="{9D8B030D-6E8A-4147-A177-3AD203B41FA5}">
                      <a16:colId xmlns:a16="http://schemas.microsoft.com/office/drawing/2014/main" val="20005"/>
                    </a:ext>
                  </a:extLst>
                </a:gridCol>
              </a:tblGrid>
              <a:tr h="563200">
                <a:tc>
                  <a:txBody>
                    <a:bodyPr/>
                    <a:lstStyle/>
                    <a:p>
                      <a:pPr marL="0" lvl="0" indent="0" algn="l" rtl="0">
                        <a:spcBef>
                          <a:spcPts val="0"/>
                        </a:spcBef>
                        <a:spcAft>
                          <a:spcPts val="0"/>
                        </a:spcAft>
                        <a:buNone/>
                      </a:pPr>
                      <a:r>
                        <a:rPr lang="en"/>
                        <a:t>Class </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1362750">
                <a:tc>
                  <a:txBody>
                    <a:bodyPr/>
                    <a:lstStyle/>
                    <a:p>
                      <a:pPr marL="0" lvl="0" indent="0" algn="l" rtl="0">
                        <a:spcBef>
                          <a:spcPts val="0"/>
                        </a:spcBef>
                        <a:spcAft>
                          <a:spcPts val="0"/>
                        </a:spcAft>
                        <a:buNone/>
                      </a:pPr>
                      <a:r>
                        <a:rPr lang="en"/>
                        <a:t>State</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362750">
                <a:tc>
                  <a:txBody>
                    <a:bodyPr/>
                    <a:lstStyle/>
                    <a:p>
                      <a:pPr marL="0" lvl="0" indent="0" algn="l" rtl="0">
                        <a:spcBef>
                          <a:spcPts val="0"/>
                        </a:spcBef>
                        <a:spcAft>
                          <a:spcPts val="0"/>
                        </a:spcAft>
                        <a:buNone/>
                      </a:pPr>
                      <a:r>
                        <a:rPr lang="en"/>
                        <a:t>Behavior</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a:latin typeface="Shadows Into Light"/>
                          <a:ea typeface="Shadows Into Light"/>
                          <a:cs typeface="Shadows Into Light"/>
                          <a:sym typeface="Shadows Into Light"/>
                        </a:rPr>
                        <a:t> </a:t>
                      </a:r>
                      <a:endParaRPr>
                        <a:latin typeface="Shadows Into Light"/>
                        <a:ea typeface="Shadows Into Light"/>
                        <a:cs typeface="Shadows Into Light"/>
                        <a:sym typeface="Shadows Into Light"/>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1197" name="Google Shape;1197;p122"/>
          <p:cNvSpPr txBox="1"/>
          <p:nvPr/>
        </p:nvSpPr>
        <p:spPr>
          <a:xfrm>
            <a:off x="2524575" y="1581350"/>
            <a:ext cx="1253700" cy="5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EXPRESSION</a:t>
            </a:r>
            <a:endParaRPr>
              <a:solidFill>
                <a:srgbClr val="FF0000"/>
              </a:solidFill>
              <a:latin typeface="Shadows Into Light"/>
              <a:ea typeface="Shadows Into Light"/>
              <a:cs typeface="Shadows Into Light"/>
              <a:sym typeface="Shadows Into Light"/>
            </a:endParaRPr>
          </a:p>
        </p:txBody>
      </p:sp>
      <p:sp>
        <p:nvSpPr>
          <p:cNvPr id="1198" name="Google Shape;1198;p122"/>
          <p:cNvSpPr txBox="1"/>
          <p:nvPr/>
        </p:nvSpPr>
        <p:spPr>
          <a:xfrm>
            <a:off x="2524575" y="21375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a:t>
            </a:r>
            <a:endParaRPr>
              <a:solidFill>
                <a:srgbClr val="FF0000"/>
              </a:solidFill>
              <a:latin typeface="Shadows Into Light"/>
              <a:ea typeface="Shadows Into Light"/>
              <a:cs typeface="Shadows Into Light"/>
              <a:sym typeface="Shadows Into Light"/>
            </a:endParaRPr>
          </a:p>
        </p:txBody>
      </p:sp>
      <p:sp>
        <p:nvSpPr>
          <p:cNvPr id="1199" name="Google Shape;1199;p122"/>
          <p:cNvSpPr txBox="1"/>
          <p:nvPr/>
        </p:nvSpPr>
        <p:spPr>
          <a:xfrm>
            <a:off x="2524575" y="35004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
        <p:nvSpPr>
          <p:cNvPr id="1200" name="Google Shape;1200;p122"/>
          <p:cNvSpPr txBox="1"/>
          <p:nvPr/>
        </p:nvSpPr>
        <p:spPr>
          <a:xfrm>
            <a:off x="3780380" y="1581350"/>
            <a:ext cx="1253700" cy="5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CONSTANT</a:t>
            </a:r>
            <a:endParaRPr>
              <a:solidFill>
                <a:srgbClr val="FF0000"/>
              </a:solidFill>
              <a:latin typeface="Shadows Into Light"/>
              <a:ea typeface="Shadows Into Light"/>
              <a:cs typeface="Shadows Into Light"/>
              <a:sym typeface="Shadows Into Light"/>
            </a:endParaRPr>
          </a:p>
        </p:txBody>
      </p:sp>
      <p:sp>
        <p:nvSpPr>
          <p:cNvPr id="1201" name="Google Shape;1201;p122"/>
          <p:cNvSpPr txBox="1"/>
          <p:nvPr/>
        </p:nvSpPr>
        <p:spPr>
          <a:xfrm>
            <a:off x="3780380" y="21375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VALUE</a:t>
            </a:r>
            <a:endParaRPr>
              <a:solidFill>
                <a:srgbClr val="FF0000"/>
              </a:solidFill>
              <a:latin typeface="Shadows Into Light"/>
              <a:ea typeface="Shadows Into Light"/>
              <a:cs typeface="Shadows Into Light"/>
              <a:sym typeface="Shadows Into Light"/>
            </a:endParaRPr>
          </a:p>
        </p:txBody>
      </p:sp>
      <p:sp>
        <p:nvSpPr>
          <p:cNvPr id="1202" name="Google Shape;1202;p122"/>
          <p:cNvSpPr txBox="1"/>
          <p:nvPr/>
        </p:nvSpPr>
        <p:spPr>
          <a:xfrm>
            <a:off x="3780380" y="35004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CONSTRUCTOR</a:t>
            </a:r>
            <a:endParaRPr>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
        <p:nvSpPr>
          <p:cNvPr id="1203" name="Google Shape;1203;p122"/>
          <p:cNvSpPr txBox="1"/>
          <p:nvPr/>
        </p:nvSpPr>
        <p:spPr>
          <a:xfrm>
            <a:off x="4999580" y="1581350"/>
            <a:ext cx="1253700" cy="5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UNARY EXPRESSION?</a:t>
            </a:r>
            <a:endParaRPr>
              <a:solidFill>
                <a:srgbClr val="FF0000"/>
              </a:solidFill>
              <a:latin typeface="Shadows Into Light"/>
              <a:ea typeface="Shadows Into Light"/>
              <a:cs typeface="Shadows Into Light"/>
              <a:sym typeface="Shadows Into Light"/>
            </a:endParaRPr>
          </a:p>
        </p:txBody>
      </p:sp>
      <p:sp>
        <p:nvSpPr>
          <p:cNvPr id="1204" name="Google Shape;1204;p122"/>
          <p:cNvSpPr txBox="1"/>
          <p:nvPr/>
        </p:nvSpPr>
        <p:spPr>
          <a:xfrm>
            <a:off x="4999580" y="21375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EXPRESSION</a:t>
            </a:r>
            <a:endParaRPr>
              <a:solidFill>
                <a:srgbClr val="FF0000"/>
              </a:solidFill>
              <a:latin typeface="Shadows Into Light"/>
              <a:ea typeface="Shadows Into Light"/>
              <a:cs typeface="Shadows Into Light"/>
              <a:sym typeface="Shadows Into Light"/>
            </a:endParaRPr>
          </a:p>
        </p:txBody>
      </p:sp>
      <p:sp>
        <p:nvSpPr>
          <p:cNvPr id="1205" name="Google Shape;1205;p122"/>
          <p:cNvSpPr txBox="1"/>
          <p:nvPr/>
        </p:nvSpPr>
        <p:spPr>
          <a:xfrm>
            <a:off x="4999580" y="35004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CONSTRUCTOR</a:t>
            </a:r>
            <a:endParaRPr>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
        <p:nvSpPr>
          <p:cNvPr id="1206" name="Google Shape;1206;p122"/>
          <p:cNvSpPr txBox="1"/>
          <p:nvPr/>
        </p:nvSpPr>
        <p:spPr>
          <a:xfrm>
            <a:off x="6255386" y="1581350"/>
            <a:ext cx="1253700" cy="5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INCREMENT</a:t>
            </a:r>
            <a:endParaRPr>
              <a:solidFill>
                <a:srgbClr val="FF0000"/>
              </a:solidFill>
              <a:latin typeface="Shadows Into Light"/>
              <a:ea typeface="Shadows Into Light"/>
              <a:cs typeface="Shadows Into Light"/>
              <a:sym typeface="Shadows Into Light"/>
            </a:endParaRPr>
          </a:p>
        </p:txBody>
      </p:sp>
      <p:sp>
        <p:nvSpPr>
          <p:cNvPr id="1207" name="Google Shape;1207;p122"/>
          <p:cNvSpPr txBox="1"/>
          <p:nvPr/>
        </p:nvSpPr>
        <p:spPr>
          <a:xfrm>
            <a:off x="6255386" y="21375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EXPRESSION</a:t>
            </a:r>
            <a:endParaRPr>
              <a:solidFill>
                <a:srgbClr val="FF0000"/>
              </a:solidFill>
              <a:latin typeface="Shadows Into Light"/>
              <a:ea typeface="Shadows Into Light"/>
              <a:cs typeface="Shadows Into Light"/>
              <a:sym typeface="Shadows Into Light"/>
            </a:endParaRPr>
          </a:p>
        </p:txBody>
      </p:sp>
      <p:sp>
        <p:nvSpPr>
          <p:cNvPr id="1208" name="Google Shape;1208;p122"/>
          <p:cNvSpPr txBox="1"/>
          <p:nvPr/>
        </p:nvSpPr>
        <p:spPr>
          <a:xfrm>
            <a:off x="6255386" y="35004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CONSTRUCTOR</a:t>
            </a:r>
            <a:endParaRPr>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
        <p:nvSpPr>
          <p:cNvPr id="1209" name="Google Shape;1209;p122"/>
          <p:cNvSpPr txBox="1"/>
          <p:nvPr/>
        </p:nvSpPr>
        <p:spPr>
          <a:xfrm>
            <a:off x="7514180" y="1581350"/>
            <a:ext cx="1253700" cy="5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DECREMENT</a:t>
            </a:r>
            <a:endParaRPr>
              <a:solidFill>
                <a:srgbClr val="FF0000"/>
              </a:solidFill>
              <a:latin typeface="Shadows Into Light"/>
              <a:ea typeface="Shadows Into Light"/>
              <a:cs typeface="Shadows Into Light"/>
              <a:sym typeface="Shadows Into Light"/>
            </a:endParaRPr>
          </a:p>
        </p:txBody>
      </p:sp>
      <p:sp>
        <p:nvSpPr>
          <p:cNvPr id="1210" name="Google Shape;1210;p122"/>
          <p:cNvSpPr txBox="1"/>
          <p:nvPr/>
        </p:nvSpPr>
        <p:spPr>
          <a:xfrm>
            <a:off x="7514180" y="21375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EXPRESSION</a:t>
            </a:r>
            <a:endParaRPr>
              <a:solidFill>
                <a:srgbClr val="FF0000"/>
              </a:solidFill>
              <a:latin typeface="Shadows Into Light"/>
              <a:ea typeface="Shadows Into Light"/>
              <a:cs typeface="Shadows Into Light"/>
              <a:sym typeface="Shadows Into Light"/>
            </a:endParaRPr>
          </a:p>
        </p:txBody>
      </p:sp>
      <p:sp>
        <p:nvSpPr>
          <p:cNvPr id="1211" name="Google Shape;1211;p122"/>
          <p:cNvSpPr txBox="1"/>
          <p:nvPr/>
        </p:nvSpPr>
        <p:spPr>
          <a:xfrm>
            <a:off x="7514180" y="3500450"/>
            <a:ext cx="1253700" cy="136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CONSTRUCTOR</a:t>
            </a:r>
            <a:endParaRPr>
              <a:solidFill>
                <a:srgbClr val="FF0000"/>
              </a:solidFill>
              <a:latin typeface="Shadows Into Light"/>
              <a:ea typeface="Shadows Into Light"/>
              <a:cs typeface="Shadows Into Light"/>
              <a:sym typeface="Shadows Into Light"/>
            </a:endParaRPr>
          </a:p>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EVALUATE</a:t>
            </a:r>
            <a:endParaRPr>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97"/>
                                        </p:tgtEl>
                                        <p:attrNameLst>
                                          <p:attrName>style.visibility</p:attrName>
                                        </p:attrNameLst>
                                      </p:cBhvr>
                                      <p:to>
                                        <p:strVal val="visible"/>
                                      </p:to>
                                    </p:set>
                                    <p:animEffect transition="in" filter="fade">
                                      <p:cBhvr>
                                        <p:cTn id="7" dur="1000"/>
                                        <p:tgtEl>
                                          <p:spTgt spid="11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98"/>
                                        </p:tgtEl>
                                        <p:attrNameLst>
                                          <p:attrName>style.visibility</p:attrName>
                                        </p:attrNameLst>
                                      </p:cBhvr>
                                      <p:to>
                                        <p:strVal val="visible"/>
                                      </p:to>
                                    </p:set>
                                    <p:animEffect transition="in" filter="fade">
                                      <p:cBhvr>
                                        <p:cTn id="12" dur="1000"/>
                                        <p:tgtEl>
                                          <p:spTgt spid="119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99"/>
                                        </p:tgtEl>
                                        <p:attrNameLst>
                                          <p:attrName>style.visibility</p:attrName>
                                        </p:attrNameLst>
                                      </p:cBhvr>
                                      <p:to>
                                        <p:strVal val="visible"/>
                                      </p:to>
                                    </p:set>
                                    <p:animEffect transition="in" filter="fade">
                                      <p:cBhvr>
                                        <p:cTn id="17" dur="1000"/>
                                        <p:tgtEl>
                                          <p:spTgt spid="119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00"/>
                                        </p:tgtEl>
                                        <p:attrNameLst>
                                          <p:attrName>style.visibility</p:attrName>
                                        </p:attrNameLst>
                                      </p:cBhvr>
                                      <p:to>
                                        <p:strVal val="visible"/>
                                      </p:to>
                                    </p:set>
                                    <p:animEffect transition="in" filter="fade">
                                      <p:cBhvr>
                                        <p:cTn id="22" dur="1000"/>
                                        <p:tgtEl>
                                          <p:spTgt spid="120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01"/>
                                        </p:tgtEl>
                                        <p:attrNameLst>
                                          <p:attrName>style.visibility</p:attrName>
                                        </p:attrNameLst>
                                      </p:cBhvr>
                                      <p:to>
                                        <p:strVal val="visible"/>
                                      </p:to>
                                    </p:set>
                                    <p:animEffect transition="in" filter="fade">
                                      <p:cBhvr>
                                        <p:cTn id="27" dur="1000"/>
                                        <p:tgtEl>
                                          <p:spTgt spid="120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02"/>
                                        </p:tgtEl>
                                        <p:attrNameLst>
                                          <p:attrName>style.visibility</p:attrName>
                                        </p:attrNameLst>
                                      </p:cBhvr>
                                      <p:to>
                                        <p:strVal val="visible"/>
                                      </p:to>
                                    </p:set>
                                    <p:animEffect transition="in" filter="fade">
                                      <p:cBhvr>
                                        <p:cTn id="32" dur="1000"/>
                                        <p:tgtEl>
                                          <p:spTgt spid="120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03"/>
                                        </p:tgtEl>
                                        <p:attrNameLst>
                                          <p:attrName>style.visibility</p:attrName>
                                        </p:attrNameLst>
                                      </p:cBhvr>
                                      <p:to>
                                        <p:strVal val="visible"/>
                                      </p:to>
                                    </p:set>
                                    <p:animEffect transition="in" filter="fade">
                                      <p:cBhvr>
                                        <p:cTn id="37" dur="1000"/>
                                        <p:tgtEl>
                                          <p:spTgt spid="120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04"/>
                                        </p:tgtEl>
                                        <p:attrNameLst>
                                          <p:attrName>style.visibility</p:attrName>
                                        </p:attrNameLst>
                                      </p:cBhvr>
                                      <p:to>
                                        <p:strVal val="visible"/>
                                      </p:to>
                                    </p:set>
                                    <p:animEffect transition="in" filter="fade">
                                      <p:cBhvr>
                                        <p:cTn id="42" dur="1000"/>
                                        <p:tgtEl>
                                          <p:spTgt spid="120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05"/>
                                        </p:tgtEl>
                                        <p:attrNameLst>
                                          <p:attrName>style.visibility</p:attrName>
                                        </p:attrNameLst>
                                      </p:cBhvr>
                                      <p:to>
                                        <p:strVal val="visible"/>
                                      </p:to>
                                    </p:set>
                                    <p:animEffect transition="in" filter="fade">
                                      <p:cBhvr>
                                        <p:cTn id="47" dur="1000"/>
                                        <p:tgtEl>
                                          <p:spTgt spid="120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06"/>
                                        </p:tgtEl>
                                        <p:attrNameLst>
                                          <p:attrName>style.visibility</p:attrName>
                                        </p:attrNameLst>
                                      </p:cBhvr>
                                      <p:to>
                                        <p:strVal val="visible"/>
                                      </p:to>
                                    </p:set>
                                    <p:animEffect transition="in" filter="fade">
                                      <p:cBhvr>
                                        <p:cTn id="52" dur="1000"/>
                                        <p:tgtEl>
                                          <p:spTgt spid="120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207"/>
                                        </p:tgtEl>
                                        <p:attrNameLst>
                                          <p:attrName>style.visibility</p:attrName>
                                        </p:attrNameLst>
                                      </p:cBhvr>
                                      <p:to>
                                        <p:strVal val="visible"/>
                                      </p:to>
                                    </p:set>
                                    <p:animEffect transition="in" filter="fade">
                                      <p:cBhvr>
                                        <p:cTn id="57" dur="1000"/>
                                        <p:tgtEl>
                                          <p:spTgt spid="120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208"/>
                                        </p:tgtEl>
                                        <p:attrNameLst>
                                          <p:attrName>style.visibility</p:attrName>
                                        </p:attrNameLst>
                                      </p:cBhvr>
                                      <p:to>
                                        <p:strVal val="visible"/>
                                      </p:to>
                                    </p:set>
                                    <p:animEffect transition="in" filter="fade">
                                      <p:cBhvr>
                                        <p:cTn id="62" dur="1000"/>
                                        <p:tgtEl>
                                          <p:spTgt spid="120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209"/>
                                        </p:tgtEl>
                                        <p:attrNameLst>
                                          <p:attrName>style.visibility</p:attrName>
                                        </p:attrNameLst>
                                      </p:cBhvr>
                                      <p:to>
                                        <p:strVal val="visible"/>
                                      </p:to>
                                    </p:set>
                                    <p:animEffect transition="in" filter="fade">
                                      <p:cBhvr>
                                        <p:cTn id="67" dur="1000"/>
                                        <p:tgtEl>
                                          <p:spTgt spid="120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210"/>
                                        </p:tgtEl>
                                        <p:attrNameLst>
                                          <p:attrName>style.visibility</p:attrName>
                                        </p:attrNameLst>
                                      </p:cBhvr>
                                      <p:to>
                                        <p:strVal val="visible"/>
                                      </p:to>
                                    </p:set>
                                    <p:animEffect transition="in" filter="fade">
                                      <p:cBhvr>
                                        <p:cTn id="72" dur="1000"/>
                                        <p:tgtEl>
                                          <p:spTgt spid="121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211"/>
                                        </p:tgtEl>
                                        <p:attrNameLst>
                                          <p:attrName>style.visibility</p:attrName>
                                        </p:attrNameLst>
                                      </p:cBhvr>
                                      <p:to>
                                        <p:strVal val="visible"/>
                                      </p:to>
                                    </p:set>
                                    <p:animEffect transition="in" filter="fade">
                                      <p:cBhvr>
                                        <p:cTn id="77" dur="1000"/>
                                        <p:tgtEl>
                                          <p:spTgt spid="1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15"/>
        <p:cNvGrpSpPr/>
        <p:nvPr/>
      </p:nvGrpSpPr>
      <p:grpSpPr>
        <a:xfrm>
          <a:off x="0" y="0"/>
          <a:ext cx="0" cy="0"/>
          <a:chOff x="0" y="0"/>
          <a:chExt cx="0" cy="0"/>
        </a:xfrm>
      </p:grpSpPr>
      <p:sp>
        <p:nvSpPr>
          <p:cNvPr id="1216" name="Google Shape;1216;p123"/>
          <p:cNvSpPr txBox="1">
            <a:spLocks noGrp="1"/>
          </p:cNvSpPr>
          <p:nvPr>
            <p:ph type="body" idx="1"/>
          </p:nvPr>
        </p:nvSpPr>
        <p:spPr>
          <a:xfrm>
            <a:off x="4414500" y="127050"/>
            <a:ext cx="4531200" cy="4754400"/>
          </a:xfrm>
          <a:prstGeom prst="rect">
            <a:avLst/>
          </a:prstGeom>
        </p:spPr>
        <p:txBody>
          <a:bodyPr spcFirstLastPara="1" wrap="square" lIns="91425" tIns="91425" rIns="91425" bIns="91425" anchor="ctr" anchorCtr="0">
            <a:noAutofit/>
          </a:bodyPr>
          <a:lstStyle/>
          <a:p>
            <a:pPr marL="457200" lvl="0" indent="-311150" algn="l" rtl="0">
              <a:spcBef>
                <a:spcPts val="0"/>
              </a:spcBef>
              <a:spcAft>
                <a:spcPts val="0"/>
              </a:spcAft>
              <a:buSzPts val="1300"/>
              <a:buChar char="●"/>
            </a:pPr>
            <a:r>
              <a:rPr lang="en"/>
              <a:t>For many inexperienced </a:t>
            </a:r>
            <a:r>
              <a:rPr lang="en" b="1" i="1">
                <a:solidFill>
                  <a:srgbClr val="FF0000"/>
                </a:solidFill>
              </a:rPr>
              <a:t>object-oriented programmers</a:t>
            </a:r>
            <a:r>
              <a:rPr lang="en"/>
              <a:t> thinking in terms of </a:t>
            </a:r>
            <a:r>
              <a:rPr lang="en" b="1" i="1">
                <a:solidFill>
                  <a:srgbClr val="FF0000"/>
                </a:solidFill>
              </a:rPr>
              <a:t>inheritance</a:t>
            </a:r>
            <a:r>
              <a:rPr lang="en">
                <a:solidFill>
                  <a:srgbClr val="FF0000"/>
                </a:solidFill>
              </a:rPr>
              <a:t> </a:t>
            </a:r>
            <a:r>
              <a:rPr lang="en"/>
              <a:t>is not yet </a:t>
            </a:r>
            <a:r>
              <a:rPr lang="en" b="1" i="1">
                <a:solidFill>
                  <a:srgbClr val="FF0000"/>
                </a:solidFill>
              </a:rPr>
              <a:t>natural </a:t>
            </a:r>
            <a:r>
              <a:rPr lang="en"/>
              <a:t>or </a:t>
            </a:r>
            <a:r>
              <a:rPr lang="en" b="1" i="1">
                <a:solidFill>
                  <a:srgbClr val="FF0000"/>
                </a:solidFill>
              </a:rPr>
              <a:t>automatic</a:t>
            </a:r>
            <a:r>
              <a:rPr lang="en"/>
              <a:t>.</a:t>
            </a:r>
            <a:endParaRPr/>
          </a:p>
          <a:p>
            <a:pPr marL="457200" lvl="0" indent="-311150" algn="l" rtl="0">
              <a:spcBef>
                <a:spcPts val="0"/>
              </a:spcBef>
              <a:spcAft>
                <a:spcPts val="0"/>
              </a:spcAft>
              <a:buSzPts val="1300"/>
              <a:buChar char="●"/>
            </a:pPr>
            <a:r>
              <a:rPr lang="en"/>
              <a:t>Nevertheless, it may seem clear that some kind of common parent class is needed to represent all </a:t>
            </a:r>
            <a:r>
              <a:rPr lang="en" b="1" i="1">
                <a:solidFill>
                  <a:srgbClr val="FF0000"/>
                </a:solidFill>
              </a:rPr>
              <a:t>expressions</a:t>
            </a:r>
            <a:r>
              <a:rPr lang="en"/>
              <a:t>.</a:t>
            </a:r>
            <a:endParaRPr/>
          </a:p>
          <a:p>
            <a:pPr marL="914400" lvl="1" indent="-298450" algn="l" rtl="0">
              <a:spcBef>
                <a:spcPts val="0"/>
              </a:spcBef>
              <a:spcAft>
                <a:spcPts val="0"/>
              </a:spcAft>
              <a:buSzPts val="1100"/>
              <a:buChar char="○"/>
            </a:pPr>
            <a:r>
              <a:rPr lang="en"/>
              <a:t>This will enable us to use </a:t>
            </a:r>
            <a:r>
              <a:rPr lang="en" b="1" i="1">
                <a:solidFill>
                  <a:srgbClr val="FF0000"/>
                </a:solidFill>
              </a:rPr>
              <a:t>polymorphism</a:t>
            </a:r>
            <a:r>
              <a:rPr lang="en">
                <a:solidFill>
                  <a:srgbClr val="FF0000"/>
                </a:solidFill>
              </a:rPr>
              <a:t> </a:t>
            </a:r>
            <a:r>
              <a:rPr lang="en"/>
              <a:t>in our </a:t>
            </a:r>
            <a:r>
              <a:rPr lang="en" b="1" i="1">
                <a:solidFill>
                  <a:srgbClr val="FF0000"/>
                </a:solidFill>
              </a:rPr>
              <a:t>unary</a:t>
            </a:r>
            <a:r>
              <a:rPr lang="en">
                <a:solidFill>
                  <a:srgbClr val="FF0000"/>
                </a:solidFill>
              </a:rPr>
              <a:t> </a:t>
            </a:r>
            <a:r>
              <a:rPr lang="en"/>
              <a:t>and</a:t>
            </a:r>
            <a:r>
              <a:rPr lang="en">
                <a:solidFill>
                  <a:srgbClr val="FF0000"/>
                </a:solidFill>
              </a:rPr>
              <a:t> </a:t>
            </a:r>
            <a:r>
              <a:rPr lang="en" b="1" i="1">
                <a:solidFill>
                  <a:srgbClr val="FF0000"/>
                </a:solidFill>
              </a:rPr>
              <a:t>binary expression</a:t>
            </a:r>
            <a:r>
              <a:rPr lang="en"/>
              <a:t> classes so that they will work with </a:t>
            </a:r>
            <a:r>
              <a:rPr lang="en" b="1" i="1">
                <a:solidFill>
                  <a:srgbClr val="FF0000"/>
                </a:solidFill>
              </a:rPr>
              <a:t>any</a:t>
            </a:r>
            <a:r>
              <a:rPr lang="en">
                <a:solidFill>
                  <a:srgbClr val="FF0000"/>
                </a:solidFill>
              </a:rPr>
              <a:t> </a:t>
            </a:r>
            <a:r>
              <a:rPr lang="en"/>
              <a:t>kind of expression.</a:t>
            </a:r>
            <a:endParaRPr/>
          </a:p>
          <a:p>
            <a:pPr marL="457200" lvl="0" indent="-311150" algn="l" rtl="0">
              <a:spcBef>
                <a:spcPts val="0"/>
              </a:spcBef>
              <a:spcAft>
                <a:spcPts val="0"/>
              </a:spcAft>
              <a:buSzPts val="1300"/>
              <a:buChar char="●"/>
            </a:pPr>
            <a:r>
              <a:rPr lang="en"/>
              <a:t>However, let's take a moment and imagine a world where polymorphism doesn't exist. What would our expression classes look like then? </a:t>
            </a:r>
            <a:endParaRPr/>
          </a:p>
          <a:p>
            <a:pPr marL="914400" lvl="1" indent="-298450" algn="l" rtl="0">
              <a:spcBef>
                <a:spcPts val="0"/>
              </a:spcBef>
              <a:spcAft>
                <a:spcPts val="0"/>
              </a:spcAft>
              <a:buSzPts val="1100"/>
              <a:buChar char="○"/>
            </a:pPr>
            <a:r>
              <a:rPr lang="en"/>
              <a:t>What would we need to do in order to make the </a:t>
            </a:r>
            <a:r>
              <a:rPr lang="en" b="1" i="1">
                <a:solidFill>
                  <a:srgbClr val="FF0000"/>
                </a:solidFill>
              </a:rPr>
              <a:t>increment</a:t>
            </a:r>
            <a:r>
              <a:rPr lang="en">
                <a:solidFill>
                  <a:srgbClr val="FF0000"/>
                </a:solidFill>
              </a:rPr>
              <a:t> </a:t>
            </a:r>
            <a:r>
              <a:rPr lang="en"/>
              <a:t>expression work with </a:t>
            </a:r>
            <a:r>
              <a:rPr lang="en" b="1" i="1">
                <a:solidFill>
                  <a:srgbClr val="FF0000"/>
                </a:solidFill>
              </a:rPr>
              <a:t>any</a:t>
            </a:r>
            <a:r>
              <a:rPr lang="en">
                <a:solidFill>
                  <a:srgbClr val="FF0000"/>
                </a:solidFill>
              </a:rPr>
              <a:t> </a:t>
            </a:r>
            <a:r>
              <a:rPr lang="en"/>
              <a:t>of our other expressions?</a:t>
            </a:r>
            <a:endParaRPr/>
          </a:p>
          <a:p>
            <a:pPr marL="914400" lvl="1" indent="-298450" algn="l" rtl="0">
              <a:spcBef>
                <a:spcPts val="0"/>
              </a:spcBef>
              <a:spcAft>
                <a:spcPts val="0"/>
              </a:spcAft>
              <a:buSzPts val="1100"/>
              <a:buChar char="○"/>
            </a:pPr>
            <a:r>
              <a:rPr lang="en"/>
              <a:t>We would have no choice but to create fields for every type of expression, including constant, increment, and decrement.</a:t>
            </a:r>
            <a:endParaRPr/>
          </a:p>
          <a:p>
            <a:pPr marL="457200" lvl="0" indent="-311150" algn="l" rtl="0">
              <a:spcBef>
                <a:spcPts val="0"/>
              </a:spcBef>
              <a:spcAft>
                <a:spcPts val="0"/>
              </a:spcAft>
              <a:buSzPts val="1300"/>
              <a:buChar char="●"/>
            </a:pPr>
            <a:r>
              <a:rPr lang="en"/>
              <a:t>Our solution would only get worse as we added new expressions to the system, e.g. addition, exponent, etc.</a:t>
            </a:r>
            <a:endParaRPr/>
          </a:p>
          <a:p>
            <a:pPr marL="914400" lvl="1" indent="-298450" algn="l" rtl="0">
              <a:spcBef>
                <a:spcPts val="0"/>
              </a:spcBef>
              <a:spcAft>
                <a:spcPts val="0"/>
              </a:spcAft>
              <a:buSzPts val="1100"/>
              <a:buChar char="○"/>
            </a:pPr>
            <a:r>
              <a:rPr lang="en" b="1" i="1">
                <a:solidFill>
                  <a:srgbClr val="FF0000"/>
                </a:solidFill>
              </a:rPr>
              <a:t>Every</a:t>
            </a:r>
            <a:r>
              <a:rPr lang="en">
                <a:solidFill>
                  <a:srgbClr val="FF0000"/>
                </a:solidFill>
              </a:rPr>
              <a:t> </a:t>
            </a:r>
            <a:r>
              <a:rPr lang="en"/>
              <a:t>expression class would need to have fields for </a:t>
            </a:r>
            <a:r>
              <a:rPr lang="en" b="1" i="1">
                <a:solidFill>
                  <a:srgbClr val="FF0000"/>
                </a:solidFill>
              </a:rPr>
              <a:t>every </a:t>
            </a:r>
            <a:r>
              <a:rPr lang="en"/>
              <a:t>type of expression!</a:t>
            </a:r>
            <a:endParaRPr/>
          </a:p>
        </p:txBody>
      </p:sp>
      <p:sp>
        <p:nvSpPr>
          <p:cNvPr id="1217" name="Google Shape;1217;p123"/>
          <p:cNvSpPr txBox="1">
            <a:spLocks noGrp="1"/>
          </p:cNvSpPr>
          <p:nvPr>
            <p:ph type="title"/>
          </p:nvPr>
        </p:nvSpPr>
        <p:spPr>
          <a:xfrm>
            <a:off x="311725" y="43725"/>
            <a:ext cx="3706500" cy="88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a:t>A World Without Polymorphism</a:t>
            </a:r>
            <a:endParaRPr sz="2400"/>
          </a:p>
        </p:txBody>
      </p:sp>
      <p:sp>
        <p:nvSpPr>
          <p:cNvPr id="1218" name="Google Shape;1218;p123"/>
          <p:cNvSpPr txBox="1"/>
          <p:nvPr/>
        </p:nvSpPr>
        <p:spPr>
          <a:xfrm>
            <a:off x="288025" y="935925"/>
            <a:ext cx="3706500" cy="3540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class</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Increment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private</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Constant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3</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private</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Increment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4</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private</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Decrement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5</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6</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Increment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Constant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7</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 = </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8</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9</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10 </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Increment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Increment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11</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 = </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12</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13</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14</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Increment</a:t>
            </a:r>
            <a:r>
              <a:rPr lang="en" sz="800">
                <a:latin typeface="Consolas"/>
                <a:ea typeface="Consolas"/>
                <a:cs typeface="Consolas"/>
                <a:sym typeface="Consolas"/>
              </a:rPr>
              <a:t>(</a:t>
            </a:r>
            <a:r>
              <a:rPr lang="en" sz="800">
                <a:solidFill>
                  <a:srgbClr val="267F99"/>
                </a:solidFill>
                <a:latin typeface="Consolas"/>
                <a:ea typeface="Consolas"/>
                <a:cs typeface="Consolas"/>
                <a:sym typeface="Consolas"/>
              </a:rPr>
              <a:t>Decrement</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15</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 = </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16</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17</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18</a:t>
            </a:r>
            <a:r>
              <a:rPr lang="en" sz="800">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latin typeface="Consolas"/>
                <a:ea typeface="Consolas"/>
                <a:cs typeface="Consolas"/>
                <a:sym typeface="Consolas"/>
              </a:rPr>
              <a:t> </a:t>
            </a:r>
            <a:r>
              <a:rPr lang="en" sz="800">
                <a:solidFill>
                  <a:srgbClr val="267F99"/>
                </a:solidFill>
                <a:latin typeface="Consolas"/>
                <a:ea typeface="Consolas"/>
                <a:cs typeface="Consolas"/>
                <a:sym typeface="Consolas"/>
              </a:rPr>
              <a:t>double</a:t>
            </a:r>
            <a:r>
              <a:rPr lang="en" sz="800">
                <a:latin typeface="Consolas"/>
                <a:ea typeface="Consolas"/>
                <a:cs typeface="Consolas"/>
                <a:sym typeface="Consolas"/>
              </a:rPr>
              <a:t> </a:t>
            </a:r>
            <a:r>
              <a:rPr lang="en" sz="800">
                <a:solidFill>
                  <a:srgbClr val="795E26"/>
                </a:solidFill>
                <a:latin typeface="Consolas"/>
                <a:ea typeface="Consolas"/>
                <a:cs typeface="Consolas"/>
                <a:sym typeface="Consolas"/>
              </a:rPr>
              <a:t>evaluate</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19</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if</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20</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constant</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evaluate</a:t>
            </a:r>
            <a:r>
              <a:rPr lang="en" sz="800">
                <a:latin typeface="Consolas"/>
                <a:ea typeface="Consolas"/>
                <a:cs typeface="Consolas"/>
                <a:sym typeface="Consolas"/>
              </a:rPr>
              <a:t>() + </a:t>
            </a: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21</a:t>
            </a:r>
            <a:r>
              <a:rPr lang="en" sz="800">
                <a:latin typeface="Consolas"/>
                <a:ea typeface="Consolas"/>
                <a:cs typeface="Consolas"/>
                <a:sym typeface="Consolas"/>
              </a:rPr>
              <a:t>         } </a:t>
            </a:r>
            <a:r>
              <a:rPr lang="en" sz="800">
                <a:solidFill>
                  <a:srgbClr val="AF00DB"/>
                </a:solidFill>
                <a:latin typeface="Consolas"/>
                <a:ea typeface="Consolas"/>
                <a:cs typeface="Consolas"/>
                <a:sym typeface="Consolas"/>
              </a:rPr>
              <a:t>else</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if</a:t>
            </a:r>
            <a:r>
              <a:rPr lang="en" sz="800">
                <a:latin typeface="Consolas"/>
                <a:ea typeface="Consolas"/>
                <a:cs typeface="Consolas"/>
                <a:sym typeface="Consolas"/>
              </a:rPr>
              <a:t>(</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 != </a:t>
            </a:r>
            <a:r>
              <a:rPr lang="en" sz="800">
                <a:solidFill>
                  <a:srgbClr val="0000FF"/>
                </a:solidFill>
                <a:latin typeface="Consolas"/>
                <a:ea typeface="Consolas"/>
                <a:cs typeface="Consolas"/>
                <a:sym typeface="Consolas"/>
              </a:rPr>
              <a:t>null</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22</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increment</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evaluate</a:t>
            </a:r>
            <a:r>
              <a:rPr lang="en" sz="800">
                <a:latin typeface="Consolas"/>
                <a:ea typeface="Consolas"/>
                <a:cs typeface="Consolas"/>
                <a:sym typeface="Consolas"/>
              </a:rPr>
              <a:t>() + </a:t>
            </a: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23</a:t>
            </a:r>
            <a:r>
              <a:rPr lang="en" sz="800">
                <a:latin typeface="Consolas"/>
                <a:ea typeface="Consolas"/>
                <a:cs typeface="Consolas"/>
                <a:sym typeface="Consolas"/>
              </a:rPr>
              <a:t>         } </a:t>
            </a:r>
            <a:r>
              <a:rPr lang="en" sz="800">
                <a:solidFill>
                  <a:srgbClr val="AF00DB"/>
                </a:solidFill>
                <a:latin typeface="Consolas"/>
                <a:ea typeface="Consolas"/>
                <a:cs typeface="Consolas"/>
                <a:sym typeface="Consolas"/>
              </a:rPr>
              <a:t>else</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24</a:t>
            </a:r>
            <a:r>
              <a:rPr lang="en" sz="800">
                <a:latin typeface="Consolas"/>
                <a:ea typeface="Consolas"/>
                <a:cs typeface="Consolas"/>
                <a:sym typeface="Consolas"/>
              </a:rPr>
              <a:t>             </a:t>
            </a:r>
            <a:r>
              <a:rPr lang="en" sz="800">
                <a:solidFill>
                  <a:srgbClr val="AF00DB"/>
                </a:solidFill>
                <a:latin typeface="Consolas"/>
                <a:ea typeface="Consolas"/>
                <a:cs typeface="Consolas"/>
                <a:sym typeface="Consolas"/>
              </a:rPr>
              <a:t>return</a:t>
            </a:r>
            <a:r>
              <a:rPr lang="en" sz="800">
                <a:latin typeface="Consolas"/>
                <a:ea typeface="Consolas"/>
                <a:cs typeface="Consolas"/>
                <a:sym typeface="Consolas"/>
              </a:rPr>
              <a:t> </a:t>
            </a:r>
            <a:r>
              <a:rPr lang="en" sz="800">
                <a:solidFill>
                  <a:srgbClr val="001080"/>
                </a:solidFill>
                <a:latin typeface="Consolas"/>
                <a:ea typeface="Consolas"/>
                <a:cs typeface="Consolas"/>
                <a:sym typeface="Consolas"/>
              </a:rPr>
              <a:t>decrement</a:t>
            </a:r>
            <a:r>
              <a:rPr lang="en" sz="800">
                <a:latin typeface="Consolas"/>
                <a:ea typeface="Consolas"/>
                <a:cs typeface="Consolas"/>
                <a:sym typeface="Consolas"/>
              </a:rPr>
              <a:t>.</a:t>
            </a:r>
            <a:r>
              <a:rPr lang="en" sz="800">
                <a:solidFill>
                  <a:srgbClr val="795E26"/>
                </a:solidFill>
                <a:latin typeface="Consolas"/>
                <a:ea typeface="Consolas"/>
                <a:cs typeface="Consolas"/>
                <a:sym typeface="Consolas"/>
              </a:rPr>
              <a:t>evaluate</a:t>
            </a:r>
            <a:r>
              <a:rPr lang="en" sz="800">
                <a:latin typeface="Consolas"/>
                <a:ea typeface="Consolas"/>
                <a:cs typeface="Consolas"/>
                <a:sym typeface="Consolas"/>
              </a:rPr>
              <a:t>() + </a:t>
            </a:r>
            <a:r>
              <a:rPr lang="en" sz="800">
                <a:solidFill>
                  <a:srgbClr val="098658"/>
                </a:solidFill>
                <a:latin typeface="Consolas"/>
                <a:ea typeface="Consolas"/>
                <a:cs typeface="Consolas"/>
                <a:sym typeface="Consolas"/>
              </a:rPr>
              <a:t>1</a:t>
            </a:r>
            <a:r>
              <a:rPr lang="en" sz="800">
                <a:latin typeface="Consolas"/>
                <a:ea typeface="Consolas"/>
                <a:cs typeface="Consolas"/>
                <a:sym typeface="Consolas"/>
              </a:rPr>
              <a:t>;</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25</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26</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098658"/>
                </a:solidFill>
                <a:latin typeface="Consolas"/>
                <a:ea typeface="Consolas"/>
                <a:cs typeface="Consolas"/>
                <a:sym typeface="Consolas"/>
              </a:rPr>
              <a:t>27</a:t>
            </a:r>
            <a:r>
              <a:rPr lang="en" sz="800">
                <a:latin typeface="Consolas"/>
                <a:ea typeface="Consolas"/>
                <a:cs typeface="Consolas"/>
                <a:sym typeface="Consolas"/>
              </a:rPr>
              <a:t> }</a:t>
            </a:r>
            <a:endParaRPr sz="800">
              <a:latin typeface="Consolas"/>
              <a:ea typeface="Consolas"/>
              <a:cs typeface="Consolas"/>
              <a:sym typeface="Consolas"/>
            </a:endParaRPr>
          </a:p>
          <a:p>
            <a:pPr marL="0" lvl="0" indent="0" algn="l" rtl="0">
              <a:lnSpc>
                <a:spcPct val="100000"/>
              </a:lnSpc>
              <a:spcBef>
                <a:spcPts val="0"/>
              </a:spcBef>
              <a:spcAft>
                <a:spcPts val="0"/>
              </a:spcAft>
              <a:buNone/>
            </a:pPr>
            <a:endParaRPr sz="800">
              <a:solidFill>
                <a:srgbClr val="999999"/>
              </a:solidFill>
              <a:latin typeface="Consolas"/>
              <a:ea typeface="Consolas"/>
              <a:cs typeface="Consolas"/>
              <a:sym typeface="Consolas"/>
            </a:endParaRPr>
          </a:p>
        </p:txBody>
      </p:sp>
      <p:sp>
        <p:nvSpPr>
          <p:cNvPr id="1219" name="Google Shape;1219;p1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61</a:t>
            </a:fld>
            <a:endParaRPr/>
          </a:p>
        </p:txBody>
      </p:sp>
      <p:sp>
        <p:nvSpPr>
          <p:cNvPr id="1220" name="Google Shape;1220;p123"/>
          <p:cNvSpPr txBox="1">
            <a:spLocks noGrp="1"/>
          </p:cNvSpPr>
          <p:nvPr>
            <p:ph type="body" idx="3"/>
          </p:nvPr>
        </p:nvSpPr>
        <p:spPr>
          <a:xfrm>
            <a:off x="287925" y="4550575"/>
            <a:ext cx="3706500" cy="4866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Clearly this is not scalable. So let's make sure to use </a:t>
            </a:r>
            <a:r>
              <a:rPr lang="en" sz="1200" b="1" i="1">
                <a:solidFill>
                  <a:srgbClr val="FF0000"/>
                </a:solidFill>
              </a:rPr>
              <a:t>inheritance</a:t>
            </a:r>
            <a:r>
              <a:rPr lang="en" sz="1200">
                <a:solidFill>
                  <a:srgbClr val="FF0000"/>
                </a:solidFill>
              </a:rPr>
              <a:t> </a:t>
            </a:r>
            <a:r>
              <a:rPr lang="en" sz="1200"/>
              <a:t>and </a:t>
            </a:r>
            <a:r>
              <a:rPr lang="en" sz="1200" b="1" i="1">
                <a:solidFill>
                  <a:srgbClr val="FF0000"/>
                </a:solidFill>
              </a:rPr>
              <a:t>polymorphism</a:t>
            </a:r>
            <a:r>
              <a:rPr lang="en" sz="1200">
                <a:solidFill>
                  <a:srgbClr val="FF0000"/>
                </a:solidFill>
              </a:rPr>
              <a:t> </a:t>
            </a:r>
            <a:r>
              <a:rPr lang="en" sz="1200"/>
              <a:t>in our design.</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0"/>
                                        </p:tgtEl>
                                        <p:attrNameLst>
                                          <p:attrName>style.visibility</p:attrName>
                                        </p:attrNameLst>
                                      </p:cBhvr>
                                      <p:to>
                                        <p:strVal val="visible"/>
                                      </p:to>
                                    </p:set>
                                    <p:animEffect transition="in" filter="fade">
                                      <p:cBhvr>
                                        <p:cTn id="7" dur="1000"/>
                                        <p:tgtEl>
                                          <p:spTgt spid="1220"/>
                                        </p:tgtEl>
                                      </p:cBhvr>
                                    </p:animEffect>
                                  </p:childTnLst>
                                </p:cTn>
                              </p:par>
                              <p:par>
                                <p:cTn id="8" presetID="10" presetClass="entr" presetSubtype="0" fill="hold" nodeType="withEffect">
                                  <p:stCondLst>
                                    <p:cond delay="0"/>
                                  </p:stCondLst>
                                  <p:childTnLst>
                                    <p:set>
                                      <p:cBhvr>
                                        <p:cTn id="9" dur="1" fill="hold">
                                          <p:stCondLst>
                                            <p:cond delay="0"/>
                                          </p:stCondLst>
                                        </p:cTn>
                                        <p:tgtEl>
                                          <p:spTgt spid="1218"/>
                                        </p:tgtEl>
                                        <p:attrNameLst>
                                          <p:attrName>style.visibility</p:attrName>
                                        </p:attrNameLst>
                                      </p:cBhvr>
                                      <p:to>
                                        <p:strVal val="visible"/>
                                      </p:to>
                                    </p:set>
                                    <p:animEffect transition="in" filter="fade">
                                      <p:cBhvr>
                                        <p:cTn id="10" dur="1000"/>
                                        <p:tgtEl>
                                          <p:spTgt spid="1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12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Both constants and unary expressions are types of </a:t>
            </a:r>
            <a:r>
              <a:rPr lang="en" b="1" i="1">
                <a:solidFill>
                  <a:srgbClr val="FF0000"/>
                </a:solidFill>
              </a:rPr>
              <a:t>expressions</a:t>
            </a:r>
            <a:r>
              <a:rPr lang="en">
                <a:solidFill>
                  <a:srgbClr val="FF0000"/>
                </a:solidFill>
              </a:rPr>
              <a:t> </a:t>
            </a:r>
            <a:r>
              <a:rPr lang="en"/>
              <a:t>that evaluate to a single value. This implies that they have some common behavior, even if the implementation of that behavior is going to be different. Create a common parent class to represent an expression.</a:t>
            </a:r>
            <a:endParaRPr/>
          </a:p>
        </p:txBody>
      </p:sp>
      <p:sp>
        <p:nvSpPr>
          <p:cNvPr id="1226" name="Google Shape;1226;p1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62</a:t>
            </a:fld>
            <a:endParaRPr/>
          </a:p>
        </p:txBody>
      </p:sp>
      <p:sp>
        <p:nvSpPr>
          <p:cNvPr id="1227" name="Google Shape;1227;p124"/>
          <p:cNvSpPr txBox="1">
            <a:spLocks noGrp="1"/>
          </p:cNvSpPr>
          <p:nvPr>
            <p:ph type="body" idx="2"/>
          </p:nvPr>
        </p:nvSpPr>
        <p:spPr>
          <a:xfrm>
            <a:off x="3367675" y="1784525"/>
            <a:ext cx="5573400" cy="25950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Create a new package named "</a:t>
            </a:r>
            <a:r>
              <a:rPr lang="en" sz="1600">
                <a:solidFill>
                  <a:srgbClr val="FF0000"/>
                </a:solidFill>
                <a:latin typeface="Courier New"/>
                <a:ea typeface="Courier New"/>
                <a:cs typeface="Courier New"/>
                <a:sym typeface="Courier New"/>
              </a:rPr>
              <a:t>parser</a:t>
            </a:r>
            <a:r>
              <a:rPr lang="en" sz="1600"/>
              <a:t>" and use it for all of the code that you write for the "expression parser" problem.</a:t>
            </a:r>
            <a:endParaRPr sz="1600"/>
          </a:p>
          <a:p>
            <a:pPr marL="457200" lvl="0" indent="-330200" algn="l" rtl="0">
              <a:spcBef>
                <a:spcPts val="0"/>
              </a:spcBef>
              <a:spcAft>
                <a:spcPts val="0"/>
              </a:spcAft>
              <a:buSzPts val="1600"/>
              <a:buChar char="●"/>
            </a:pPr>
            <a:r>
              <a:rPr lang="en" sz="1600"/>
              <a:t>Create a new Java class name "</a:t>
            </a:r>
            <a:r>
              <a:rPr lang="en" sz="1600">
                <a:solidFill>
                  <a:srgbClr val="FF0000"/>
                </a:solidFill>
                <a:latin typeface="Courier New"/>
                <a:ea typeface="Courier New"/>
                <a:cs typeface="Courier New"/>
                <a:sym typeface="Courier New"/>
              </a:rPr>
              <a:t>Expression</a:t>
            </a:r>
            <a:r>
              <a:rPr lang="en" sz="1600"/>
              <a:t>" in the </a:t>
            </a:r>
            <a:r>
              <a:rPr lang="en" sz="1600">
                <a:latin typeface="Courier New"/>
                <a:ea typeface="Courier New"/>
                <a:cs typeface="Courier New"/>
                <a:sym typeface="Courier New"/>
              </a:rPr>
              <a:t>parser</a:t>
            </a:r>
            <a:r>
              <a:rPr lang="en" sz="1600"/>
              <a:t> package and define a method named </a:t>
            </a:r>
            <a:r>
              <a:rPr lang="en" sz="1600">
                <a:solidFill>
                  <a:srgbClr val="FF0000"/>
                </a:solidFill>
                <a:latin typeface="Courier New"/>
                <a:ea typeface="Courier New"/>
                <a:cs typeface="Courier New"/>
                <a:sym typeface="Courier New"/>
              </a:rPr>
              <a:t>evaluate</a:t>
            </a:r>
            <a:r>
              <a:rPr lang="en" sz="1600">
                <a:solidFill>
                  <a:srgbClr val="FF0000"/>
                </a:solidFill>
              </a:rPr>
              <a:t> </a:t>
            </a:r>
            <a:r>
              <a:rPr lang="en" sz="1600"/>
              <a:t>that returns a </a:t>
            </a:r>
            <a:r>
              <a:rPr lang="en" sz="1600">
                <a:solidFill>
                  <a:srgbClr val="FF0000"/>
                </a:solidFill>
                <a:latin typeface="Courier New"/>
                <a:ea typeface="Courier New"/>
                <a:cs typeface="Courier New"/>
                <a:sym typeface="Courier New"/>
              </a:rPr>
              <a:t>double</a:t>
            </a:r>
            <a:r>
              <a:rPr lang="en" sz="1600"/>
              <a:t>.</a:t>
            </a:r>
            <a:endParaRPr sz="1600"/>
          </a:p>
          <a:p>
            <a:pPr marL="914400" lvl="1" indent="-317500" algn="l" rtl="0">
              <a:spcBef>
                <a:spcPts val="0"/>
              </a:spcBef>
              <a:spcAft>
                <a:spcPts val="0"/>
              </a:spcAft>
              <a:buSzPts val="1400"/>
              <a:buChar char="○"/>
            </a:pPr>
            <a:r>
              <a:rPr lang="en" sz="1400"/>
              <a:t>There is no possible common implementation of this method, and so it should probably be declared </a:t>
            </a:r>
            <a:r>
              <a:rPr lang="en" sz="1400">
                <a:solidFill>
                  <a:srgbClr val="FF0000"/>
                </a:solidFill>
                <a:latin typeface="Courier New"/>
                <a:ea typeface="Courier New"/>
                <a:cs typeface="Courier New"/>
                <a:sym typeface="Courier New"/>
              </a:rPr>
              <a:t>abstract</a:t>
            </a:r>
            <a:r>
              <a:rPr lang="en" sz="1400"/>
              <a:t>.</a:t>
            </a:r>
            <a:endParaRPr sz="1400"/>
          </a:p>
        </p:txBody>
      </p:sp>
      <p:sp>
        <p:nvSpPr>
          <p:cNvPr id="1228" name="Google Shape;1228;p12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Expression Class</a:t>
            </a:r>
            <a:endParaRPr/>
          </a:p>
        </p:txBody>
      </p:sp>
      <p:sp>
        <p:nvSpPr>
          <p:cNvPr id="1229" name="Google Shape;1229;p12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3.27</a:t>
            </a:r>
            <a:endParaRPr/>
          </a:p>
        </p:txBody>
      </p:sp>
      <p:sp>
        <p:nvSpPr>
          <p:cNvPr id="1230" name="Google Shape;1230;p124"/>
          <p:cNvSpPr txBox="1">
            <a:spLocks noGrp="1"/>
          </p:cNvSpPr>
          <p:nvPr>
            <p:ph type="body" idx="4"/>
          </p:nvPr>
        </p:nvSpPr>
        <p:spPr>
          <a:xfrm>
            <a:off x="256200" y="28022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Ultimately, we'd like our expression parser to be able to work with any kind of expression. </a:t>
            </a:r>
            <a:endParaRPr/>
          </a:p>
        </p:txBody>
      </p:sp>
      <p:sp>
        <p:nvSpPr>
          <p:cNvPr id="1231" name="Google Shape;1231;p124"/>
          <p:cNvSpPr txBox="1"/>
          <p:nvPr/>
        </p:nvSpPr>
        <p:spPr>
          <a:xfrm>
            <a:off x="256200" y="1909875"/>
            <a:ext cx="3023700" cy="80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abstract</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class</a:t>
            </a:r>
            <a:r>
              <a:rPr lang="en" sz="1000">
                <a:highlight>
                  <a:srgbClr val="FFFFFF"/>
                </a:highlight>
                <a:latin typeface="Courier New"/>
                <a:ea typeface="Courier New"/>
                <a:cs typeface="Courier New"/>
                <a:sym typeface="Courier New"/>
              </a:rPr>
              <a:t> Animal {</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abstract</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void</a:t>
            </a:r>
            <a:r>
              <a:rPr lang="en" sz="1000">
                <a:highlight>
                  <a:srgbClr val="FFFFFF"/>
                </a:highlight>
                <a:latin typeface="Courier New"/>
                <a:ea typeface="Courier New"/>
                <a:cs typeface="Courier New"/>
                <a:sym typeface="Courier New"/>
              </a:rPr>
              <a:t> speak();</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a:t>
            </a:r>
            <a:endParaRPr sz="1000">
              <a:highlight>
                <a:srgbClr val="FFFFFF"/>
              </a:highlight>
              <a:latin typeface="Courier New"/>
              <a:ea typeface="Courier New"/>
              <a:cs typeface="Courier New"/>
              <a:sym typeface="Courier New"/>
            </a:endParaRPr>
          </a:p>
        </p:txBody>
      </p:sp>
      <p:sp>
        <p:nvSpPr>
          <p:cNvPr id="1232" name="Google Shape;1232;p124"/>
          <p:cNvSpPr txBox="1">
            <a:spLocks noGrp="1"/>
          </p:cNvSpPr>
          <p:nvPr>
            <p:ph type="body" idx="4"/>
          </p:nvPr>
        </p:nvSpPr>
        <p:spPr>
          <a:xfrm>
            <a:off x="256200" y="36404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common expression class will allow us to use </a:t>
            </a:r>
            <a:r>
              <a:rPr lang="en" b="1" i="1">
                <a:solidFill>
                  <a:srgbClr val="FF0000"/>
                </a:solidFill>
              </a:rPr>
              <a:t>polymorphism</a:t>
            </a:r>
            <a:r>
              <a:rPr lang="en">
                <a:solidFill>
                  <a:srgbClr val="FF0000"/>
                </a:solidFill>
              </a:rPr>
              <a:t> </a:t>
            </a:r>
            <a:r>
              <a:rPr lang="en"/>
              <a:t>when implementing the parser.</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236"/>
        <p:cNvGrpSpPr/>
        <p:nvPr/>
      </p:nvGrpSpPr>
      <p:grpSpPr>
        <a:xfrm>
          <a:off x="0" y="0"/>
          <a:ext cx="0" cy="0"/>
          <a:chOff x="0" y="0"/>
          <a:chExt cx="0" cy="0"/>
        </a:xfrm>
      </p:grpSpPr>
      <p:sp>
        <p:nvSpPr>
          <p:cNvPr id="1237" name="Google Shape;1237;p125"/>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 constant is the simplest kind of expression: it always evaluates to the same value. Create a new class that implements a Constant expression.</a:t>
            </a:r>
            <a:endParaRPr/>
          </a:p>
        </p:txBody>
      </p:sp>
      <p:sp>
        <p:nvSpPr>
          <p:cNvPr id="1238" name="Google Shape;1238;p1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63</a:t>
            </a:fld>
            <a:endParaRPr/>
          </a:p>
        </p:txBody>
      </p:sp>
      <p:sp>
        <p:nvSpPr>
          <p:cNvPr id="1239" name="Google Shape;1239;p125"/>
          <p:cNvSpPr txBox="1">
            <a:spLocks noGrp="1"/>
          </p:cNvSpPr>
          <p:nvPr>
            <p:ph type="body" idx="2"/>
          </p:nvPr>
        </p:nvSpPr>
        <p:spPr>
          <a:xfrm>
            <a:off x="3177350" y="1479725"/>
            <a:ext cx="5763900" cy="29775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Create a new Java class named "</a:t>
            </a:r>
            <a:r>
              <a:rPr lang="en" sz="1700">
                <a:solidFill>
                  <a:srgbClr val="FF0000"/>
                </a:solidFill>
                <a:latin typeface="Courier New"/>
                <a:ea typeface="Courier New"/>
                <a:cs typeface="Courier New"/>
                <a:sym typeface="Courier New"/>
              </a:rPr>
              <a:t>Constant</a:t>
            </a:r>
            <a:r>
              <a:rPr lang="en" sz="1700"/>
              <a:t>". When a constant expression is evaluated, it always returns its constant value.</a:t>
            </a:r>
            <a:endParaRPr sz="1700"/>
          </a:p>
          <a:p>
            <a:pPr marL="914400" lvl="1" indent="-323850" algn="l" rtl="0">
              <a:spcBef>
                <a:spcPts val="0"/>
              </a:spcBef>
              <a:spcAft>
                <a:spcPts val="0"/>
              </a:spcAft>
              <a:buSzPts val="1500"/>
              <a:buChar char="○"/>
            </a:pPr>
            <a:r>
              <a:rPr lang="en" sz="1500"/>
              <a:t>Don't forget to </a:t>
            </a:r>
            <a:r>
              <a:rPr lang="en" sz="1500" b="1" i="1">
                <a:solidFill>
                  <a:srgbClr val="FF0000"/>
                </a:solidFill>
              </a:rPr>
              <a:t>extend </a:t>
            </a:r>
            <a:r>
              <a:rPr lang="en" sz="1500"/>
              <a:t>your </a:t>
            </a:r>
            <a:r>
              <a:rPr lang="en" sz="1500">
                <a:latin typeface="Courier New"/>
                <a:ea typeface="Courier New"/>
                <a:cs typeface="Courier New"/>
                <a:sym typeface="Courier New"/>
              </a:rPr>
              <a:t>Expression</a:t>
            </a:r>
            <a:r>
              <a:rPr lang="en" sz="1500"/>
              <a:t> class.</a:t>
            </a:r>
            <a:endParaRPr sz="1500"/>
          </a:p>
          <a:p>
            <a:pPr marL="914400" lvl="1" indent="-323850" algn="l" rtl="0">
              <a:spcBef>
                <a:spcPts val="0"/>
              </a:spcBef>
              <a:spcAft>
                <a:spcPts val="0"/>
              </a:spcAft>
              <a:buSzPts val="1500"/>
              <a:buChar char="○"/>
            </a:pPr>
            <a:r>
              <a:rPr lang="en" sz="1500"/>
              <a:t>Declare a </a:t>
            </a:r>
            <a:r>
              <a:rPr lang="en" sz="1500" b="1" i="1">
                <a:solidFill>
                  <a:srgbClr val="FF0000"/>
                </a:solidFill>
              </a:rPr>
              <a:t>field </a:t>
            </a:r>
            <a:r>
              <a:rPr lang="en" sz="1500"/>
              <a:t>to hold the constant value.</a:t>
            </a:r>
            <a:endParaRPr sz="1500"/>
          </a:p>
          <a:p>
            <a:pPr marL="914400" lvl="1" indent="-323850" algn="l" rtl="0">
              <a:spcBef>
                <a:spcPts val="0"/>
              </a:spcBef>
              <a:spcAft>
                <a:spcPts val="0"/>
              </a:spcAft>
              <a:buSzPts val="1500"/>
              <a:buChar char="○"/>
            </a:pPr>
            <a:r>
              <a:rPr lang="en" sz="1500"/>
              <a:t>Implement a </a:t>
            </a:r>
            <a:r>
              <a:rPr lang="en" sz="1500" b="1" i="1">
                <a:solidFill>
                  <a:srgbClr val="FF0000"/>
                </a:solidFill>
              </a:rPr>
              <a:t>constructor </a:t>
            </a:r>
            <a:r>
              <a:rPr lang="en" sz="1500"/>
              <a:t>to set the value.</a:t>
            </a:r>
            <a:endParaRPr sz="1500"/>
          </a:p>
          <a:p>
            <a:pPr marL="914400" lvl="1" indent="-323850" algn="l" rtl="0">
              <a:spcBef>
                <a:spcPts val="0"/>
              </a:spcBef>
              <a:spcAft>
                <a:spcPts val="0"/>
              </a:spcAft>
              <a:buSzPts val="1500"/>
              <a:buChar char="○"/>
            </a:pPr>
            <a:r>
              <a:rPr lang="en" sz="1500" b="1" i="1">
                <a:solidFill>
                  <a:srgbClr val="FF0000"/>
                </a:solidFill>
              </a:rPr>
              <a:t>Implement </a:t>
            </a:r>
            <a:r>
              <a:rPr lang="en" sz="1500"/>
              <a:t>the </a:t>
            </a:r>
            <a:r>
              <a:rPr lang="en" sz="1500">
                <a:latin typeface="Courier New"/>
                <a:ea typeface="Courier New"/>
                <a:cs typeface="Courier New"/>
                <a:sym typeface="Courier New"/>
              </a:rPr>
              <a:t>evaluate</a:t>
            </a:r>
            <a:r>
              <a:rPr lang="en" sz="1500"/>
              <a:t> method. Hint: it just returns the constant value!</a:t>
            </a:r>
            <a:endParaRPr sz="1500"/>
          </a:p>
          <a:p>
            <a:pPr marL="457200" lvl="0" indent="-336550" algn="l" rtl="0">
              <a:spcBef>
                <a:spcPts val="0"/>
              </a:spcBef>
              <a:spcAft>
                <a:spcPts val="0"/>
              </a:spcAft>
              <a:buSzPts val="1700"/>
              <a:buChar char="●"/>
            </a:pPr>
            <a:r>
              <a:rPr lang="en" sz="1700"/>
              <a:t>Define a </a:t>
            </a:r>
            <a:r>
              <a:rPr lang="en" sz="1700">
                <a:latin typeface="Courier New"/>
                <a:ea typeface="Courier New"/>
                <a:cs typeface="Courier New"/>
                <a:sym typeface="Courier New"/>
              </a:rPr>
              <a:t>main</a:t>
            </a:r>
            <a:r>
              <a:rPr lang="en" sz="1700"/>
              <a:t> method with the appropriate signature, and test your new </a:t>
            </a:r>
            <a:r>
              <a:rPr lang="en" sz="1700">
                <a:latin typeface="Courier New"/>
                <a:ea typeface="Courier New"/>
                <a:cs typeface="Courier New"/>
                <a:sym typeface="Courier New"/>
              </a:rPr>
              <a:t>Constant</a:t>
            </a:r>
            <a:r>
              <a:rPr lang="en" sz="1700"/>
              <a:t> class.</a:t>
            </a:r>
            <a:endParaRPr sz="1700"/>
          </a:p>
        </p:txBody>
      </p:sp>
      <p:sp>
        <p:nvSpPr>
          <p:cNvPr id="1240" name="Google Shape;1240;p12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Constant Expression</a:t>
            </a:r>
            <a:endParaRPr/>
          </a:p>
        </p:txBody>
      </p:sp>
      <p:sp>
        <p:nvSpPr>
          <p:cNvPr id="1241" name="Google Shape;1241;p12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3.28</a:t>
            </a:r>
            <a:endParaRPr/>
          </a:p>
        </p:txBody>
      </p:sp>
      <p:sp>
        <p:nvSpPr>
          <p:cNvPr id="1242" name="Google Shape;1242;p125"/>
          <p:cNvSpPr txBox="1"/>
          <p:nvPr/>
        </p:nvSpPr>
        <p:spPr>
          <a:xfrm>
            <a:off x="177325" y="1463625"/>
            <a:ext cx="2794500" cy="80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abstract</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class</a:t>
            </a:r>
            <a:r>
              <a:rPr lang="en" sz="1000">
                <a:highlight>
                  <a:srgbClr val="FFFFFF"/>
                </a:highlight>
                <a:latin typeface="Courier New"/>
                <a:ea typeface="Courier New"/>
                <a:cs typeface="Courier New"/>
                <a:sym typeface="Courier New"/>
              </a:rPr>
              <a:t> Animal {</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abstract</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void</a:t>
            </a:r>
            <a:r>
              <a:rPr lang="en" sz="1000">
                <a:highlight>
                  <a:srgbClr val="FFFFFF"/>
                </a:highlight>
                <a:latin typeface="Courier New"/>
                <a:ea typeface="Courier New"/>
                <a:cs typeface="Courier New"/>
                <a:sym typeface="Courier New"/>
              </a:rPr>
              <a:t> speak();</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a:t>
            </a:r>
            <a:endParaRPr sz="1000">
              <a:highlight>
                <a:srgbClr val="FFFFFF"/>
              </a:highlight>
              <a:latin typeface="Courier New"/>
              <a:ea typeface="Courier New"/>
              <a:cs typeface="Courier New"/>
              <a:sym typeface="Courier New"/>
            </a:endParaRPr>
          </a:p>
        </p:txBody>
      </p:sp>
      <p:sp>
        <p:nvSpPr>
          <p:cNvPr id="1243" name="Google Shape;1243;p125"/>
          <p:cNvSpPr txBox="1"/>
          <p:nvPr/>
        </p:nvSpPr>
        <p:spPr>
          <a:xfrm>
            <a:off x="177325" y="2568825"/>
            <a:ext cx="2794500" cy="2416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class</a:t>
            </a:r>
            <a:r>
              <a:rPr lang="en" sz="1000">
                <a:highlight>
                  <a:srgbClr val="FFFFFF"/>
                </a:highlight>
                <a:latin typeface="Courier New"/>
                <a:ea typeface="Courier New"/>
                <a:cs typeface="Courier New"/>
                <a:sym typeface="Courier New"/>
              </a:rPr>
              <a:t> Dog </a:t>
            </a:r>
            <a:r>
              <a:rPr lang="en" sz="1000">
                <a:solidFill>
                  <a:srgbClr val="0000FF"/>
                </a:solidFill>
                <a:highlight>
                  <a:srgbClr val="FFFFFF"/>
                </a:highlight>
                <a:latin typeface="Courier New"/>
                <a:ea typeface="Courier New"/>
                <a:cs typeface="Courier New"/>
                <a:sym typeface="Courier New"/>
              </a:rPr>
              <a:t>extends</a:t>
            </a:r>
            <a:r>
              <a:rPr lang="en" sz="1000">
                <a:highlight>
                  <a:srgbClr val="FFFFFF"/>
                </a:highlight>
                <a:latin typeface="Courier New"/>
                <a:ea typeface="Courier New"/>
                <a:cs typeface="Courier New"/>
                <a:sym typeface="Courier New"/>
              </a:rPr>
              <a:t> Animal{</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private</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String</a:t>
            </a:r>
            <a:r>
              <a:rPr lang="en" sz="1000">
                <a:highlight>
                  <a:srgbClr val="FFFFFF"/>
                </a:highlight>
                <a:latin typeface="Courier New"/>
                <a:ea typeface="Courier New"/>
                <a:cs typeface="Courier New"/>
                <a:sym typeface="Courier New"/>
              </a:rPr>
              <a:t> name;</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Dog(</a:t>
            </a:r>
            <a:r>
              <a:rPr lang="en" sz="1000">
                <a:solidFill>
                  <a:srgbClr val="0000FF"/>
                </a:solidFill>
                <a:highlight>
                  <a:srgbClr val="FFFFFF"/>
                </a:highlight>
                <a:latin typeface="Courier New"/>
                <a:ea typeface="Courier New"/>
                <a:cs typeface="Courier New"/>
                <a:sym typeface="Courier New"/>
              </a:rPr>
              <a:t>String</a:t>
            </a:r>
            <a:r>
              <a:rPr lang="en" sz="1000">
                <a:highlight>
                  <a:srgbClr val="FFFFFF"/>
                </a:highlight>
                <a:latin typeface="Courier New"/>
                <a:ea typeface="Courier New"/>
                <a:cs typeface="Courier New"/>
                <a:sym typeface="Courier New"/>
              </a:rPr>
              <a:t> name){</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this</a:t>
            </a:r>
            <a:r>
              <a:rPr lang="en" sz="1000">
                <a:highlight>
                  <a:srgbClr val="FFFFFF"/>
                </a:highlight>
                <a:latin typeface="Courier New"/>
                <a:ea typeface="Courier New"/>
                <a:cs typeface="Courier New"/>
                <a:sym typeface="Courier New"/>
              </a:rPr>
              <a:t>.name = name;</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Override</a:t>
            </a:r>
            <a:endParaRPr sz="1000">
              <a:solidFill>
                <a:srgbClr val="0000FF"/>
              </a:solidFill>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public</a:t>
            </a:r>
            <a:r>
              <a:rPr lang="en" sz="1000">
                <a:highlight>
                  <a:srgbClr val="FFFFFF"/>
                </a:highlight>
                <a:latin typeface="Courier New"/>
                <a:ea typeface="Courier New"/>
                <a:cs typeface="Courier New"/>
                <a:sym typeface="Courier New"/>
              </a:rPr>
              <a:t> </a:t>
            </a:r>
            <a:r>
              <a:rPr lang="en" sz="1000">
                <a:solidFill>
                  <a:srgbClr val="0000FF"/>
                </a:solidFill>
                <a:highlight>
                  <a:srgbClr val="FFFFFF"/>
                </a:highlight>
                <a:latin typeface="Courier New"/>
                <a:ea typeface="Courier New"/>
                <a:cs typeface="Courier New"/>
                <a:sym typeface="Courier New"/>
              </a:rPr>
              <a:t>void</a:t>
            </a:r>
            <a:r>
              <a:rPr lang="en" sz="1000">
                <a:highlight>
                  <a:srgbClr val="FFFFFF"/>
                </a:highlight>
                <a:latin typeface="Courier New"/>
                <a:ea typeface="Courier New"/>
                <a:cs typeface="Courier New"/>
                <a:sym typeface="Courier New"/>
              </a:rPr>
              <a:t> speak(){</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System.out.println(</a:t>
            </a:r>
            <a:r>
              <a:rPr lang="en" sz="1000">
                <a:solidFill>
                  <a:srgbClr val="A31515"/>
                </a:solidFill>
                <a:highlight>
                  <a:srgbClr val="FFFFFF"/>
                </a:highlight>
                <a:latin typeface="Courier New"/>
                <a:ea typeface="Courier New"/>
                <a:cs typeface="Courier New"/>
                <a:sym typeface="Courier New"/>
              </a:rPr>
              <a:t>"Woof"</a:t>
            </a:r>
            <a:r>
              <a:rPr lang="en" sz="1000">
                <a:highlight>
                  <a:srgbClr val="FFFFFF"/>
                </a:highlight>
                <a:latin typeface="Courier New"/>
                <a:ea typeface="Courier New"/>
                <a:cs typeface="Courier New"/>
                <a:sym typeface="Courier New"/>
              </a:rPr>
              <a:t>);</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   }</a:t>
            </a:r>
            <a:endParaRPr sz="1000">
              <a:highlight>
                <a:srgbClr val="FFFFFF"/>
              </a:highlight>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highlight>
                  <a:srgbClr val="FFFFFF"/>
                </a:highlight>
                <a:latin typeface="Courier New"/>
                <a:ea typeface="Courier New"/>
                <a:cs typeface="Courier New"/>
                <a:sym typeface="Courier New"/>
              </a:rPr>
              <a:t>}</a:t>
            </a:r>
            <a:endParaRPr sz="1000">
              <a:highlight>
                <a:srgbClr val="FFFFFF"/>
              </a:highlight>
              <a:latin typeface="Courier New"/>
              <a:ea typeface="Courier New"/>
              <a:cs typeface="Courier New"/>
              <a:sym typeface="Courier New"/>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247"/>
        <p:cNvGrpSpPr/>
        <p:nvPr/>
      </p:nvGrpSpPr>
      <p:grpSpPr>
        <a:xfrm>
          <a:off x="0" y="0"/>
          <a:ext cx="0" cy="0"/>
          <a:chOff x="0" y="0"/>
          <a:chExt cx="0" cy="0"/>
        </a:xfrm>
      </p:grpSpPr>
      <p:sp>
        <p:nvSpPr>
          <p:cNvPr id="1248" name="Google Shape;1248;p12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Increment and decrement are both </a:t>
            </a:r>
            <a:r>
              <a:rPr lang="en" b="1" i="1">
                <a:solidFill>
                  <a:srgbClr val="FF0000"/>
                </a:solidFill>
              </a:rPr>
              <a:t>unary expressions</a:t>
            </a:r>
            <a:r>
              <a:rPr lang="en"/>
              <a:t>, meaning that each is created with </a:t>
            </a:r>
            <a:r>
              <a:rPr lang="en" b="1" i="1">
                <a:solidFill>
                  <a:srgbClr val="FF0000"/>
                </a:solidFill>
              </a:rPr>
              <a:t>one</a:t>
            </a:r>
            <a:r>
              <a:rPr lang="en">
                <a:solidFill>
                  <a:srgbClr val="FF0000"/>
                </a:solidFill>
              </a:rPr>
              <a:t> </a:t>
            </a:r>
            <a:r>
              <a:rPr lang="en"/>
              <a:t>operand (another expression) that must be evaluated before the final result is computed. </a:t>
            </a:r>
            <a:endParaRPr/>
          </a:p>
        </p:txBody>
      </p:sp>
      <p:sp>
        <p:nvSpPr>
          <p:cNvPr id="1249" name="Google Shape;1249;p1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64</a:t>
            </a:fld>
            <a:endParaRPr/>
          </a:p>
        </p:txBody>
      </p:sp>
      <p:sp>
        <p:nvSpPr>
          <p:cNvPr id="1250" name="Google Shape;1250;p126"/>
          <p:cNvSpPr txBox="1">
            <a:spLocks noGrp="1"/>
          </p:cNvSpPr>
          <p:nvPr>
            <p:ph type="body" idx="2"/>
          </p:nvPr>
        </p:nvSpPr>
        <p:spPr>
          <a:xfrm>
            <a:off x="3306125" y="1555925"/>
            <a:ext cx="5558700" cy="25929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Create a new Java class named "</a:t>
            </a:r>
            <a:r>
              <a:rPr lang="en" sz="1500">
                <a:solidFill>
                  <a:srgbClr val="FF0000"/>
                </a:solidFill>
                <a:latin typeface="Courier New"/>
                <a:ea typeface="Courier New"/>
                <a:cs typeface="Courier New"/>
                <a:sym typeface="Courier New"/>
              </a:rPr>
              <a:t>Increment</a:t>
            </a:r>
            <a:r>
              <a:rPr lang="en" sz="1500"/>
              <a:t>" and implement the </a:t>
            </a:r>
            <a:r>
              <a:rPr lang="en" sz="1500" b="1" i="1">
                <a:solidFill>
                  <a:srgbClr val="FF0000"/>
                </a:solidFill>
              </a:rPr>
              <a:t>increment </a:t>
            </a:r>
            <a:r>
              <a:rPr lang="en" sz="1500"/>
              <a:t>expression.</a:t>
            </a:r>
            <a:endParaRPr sz="1500"/>
          </a:p>
          <a:p>
            <a:pPr marL="914400" lvl="1" indent="-311150" algn="l" rtl="0">
              <a:spcBef>
                <a:spcPts val="0"/>
              </a:spcBef>
              <a:spcAft>
                <a:spcPts val="0"/>
              </a:spcAft>
              <a:buSzPts val="1300"/>
              <a:buChar char="○"/>
            </a:pPr>
            <a:r>
              <a:rPr lang="en" sz="1300"/>
              <a:t>Do not forget to </a:t>
            </a:r>
            <a:r>
              <a:rPr lang="en" sz="1300" b="1" i="1">
                <a:solidFill>
                  <a:srgbClr val="FF0000"/>
                </a:solidFill>
              </a:rPr>
              <a:t>extend</a:t>
            </a:r>
            <a:r>
              <a:rPr lang="en" sz="1300">
                <a:solidFill>
                  <a:srgbClr val="FF0000"/>
                </a:solidFill>
              </a:rPr>
              <a:t> </a:t>
            </a:r>
            <a:r>
              <a:rPr lang="en" sz="1300"/>
              <a:t>your </a:t>
            </a:r>
            <a:r>
              <a:rPr lang="en" sz="1300">
                <a:latin typeface="Courier New"/>
                <a:ea typeface="Courier New"/>
                <a:cs typeface="Courier New"/>
                <a:sym typeface="Courier New"/>
              </a:rPr>
              <a:t>Expression</a:t>
            </a:r>
            <a:r>
              <a:rPr lang="en" sz="1300"/>
              <a:t> class.</a:t>
            </a:r>
            <a:endParaRPr sz="1300"/>
          </a:p>
          <a:p>
            <a:pPr marL="914400" lvl="1" indent="-311150" algn="l" rtl="0">
              <a:spcBef>
                <a:spcPts val="0"/>
              </a:spcBef>
              <a:spcAft>
                <a:spcPts val="0"/>
              </a:spcAft>
              <a:buSzPts val="1300"/>
              <a:buChar char="○"/>
            </a:pPr>
            <a:r>
              <a:rPr lang="en" sz="1300"/>
              <a:t>An increment expression is created with an </a:t>
            </a:r>
            <a:r>
              <a:rPr lang="en" sz="1300" b="1" i="1">
                <a:solidFill>
                  <a:srgbClr val="FF0000"/>
                </a:solidFill>
              </a:rPr>
              <a:t>operand</a:t>
            </a:r>
            <a:r>
              <a:rPr lang="en" sz="1300">
                <a:solidFill>
                  <a:srgbClr val="FF0000"/>
                </a:solidFill>
              </a:rPr>
              <a:t> </a:t>
            </a:r>
            <a:r>
              <a:rPr lang="en" sz="1300"/>
              <a:t>that may be any other kind of expression.</a:t>
            </a:r>
            <a:endParaRPr sz="1300"/>
          </a:p>
          <a:p>
            <a:pPr marL="914400" lvl="1" indent="-311150" algn="l" rtl="0">
              <a:spcBef>
                <a:spcPts val="0"/>
              </a:spcBef>
              <a:spcAft>
                <a:spcPts val="0"/>
              </a:spcAft>
              <a:buSzPts val="1300"/>
              <a:buChar char="○"/>
            </a:pPr>
            <a:r>
              <a:rPr lang="en" sz="1300"/>
              <a:t>When an increment is evaluated, it </a:t>
            </a:r>
            <a:r>
              <a:rPr lang="en" sz="1300" b="1" i="1">
                <a:solidFill>
                  <a:srgbClr val="FF0000"/>
                </a:solidFill>
              </a:rPr>
              <a:t>evaluates </a:t>
            </a:r>
            <a:r>
              <a:rPr lang="en" sz="1300"/>
              <a:t>its operand expression and then </a:t>
            </a:r>
            <a:r>
              <a:rPr lang="en" sz="1300" b="1" i="1">
                <a:solidFill>
                  <a:srgbClr val="FF0000"/>
                </a:solidFill>
              </a:rPr>
              <a:t>adds 1</a:t>
            </a:r>
            <a:r>
              <a:rPr lang="en" sz="1300"/>
              <a:t>.</a:t>
            </a:r>
            <a:endParaRPr sz="1300"/>
          </a:p>
          <a:p>
            <a:pPr marL="914400" lvl="1" indent="-311150" algn="l" rtl="0">
              <a:spcBef>
                <a:spcPts val="0"/>
              </a:spcBef>
              <a:spcAft>
                <a:spcPts val="0"/>
              </a:spcAft>
              <a:buSzPts val="1300"/>
              <a:buChar char="○"/>
            </a:pPr>
            <a:r>
              <a:rPr lang="en" sz="1300"/>
              <a:t>Add a </a:t>
            </a:r>
            <a:r>
              <a:rPr lang="en" sz="1300">
                <a:solidFill>
                  <a:srgbClr val="FF0000"/>
                </a:solidFill>
                <a:latin typeface="Courier New"/>
                <a:ea typeface="Courier New"/>
                <a:cs typeface="Courier New"/>
                <a:sym typeface="Courier New"/>
              </a:rPr>
              <a:t>main</a:t>
            </a:r>
            <a:r>
              <a:rPr lang="en" sz="1300">
                <a:solidFill>
                  <a:srgbClr val="FF0000"/>
                </a:solidFill>
              </a:rPr>
              <a:t> </a:t>
            </a:r>
            <a:r>
              <a:rPr lang="en" sz="1300"/>
              <a:t>method to test your new </a:t>
            </a:r>
            <a:r>
              <a:rPr lang="en" sz="1300">
                <a:latin typeface="Courier New"/>
                <a:ea typeface="Courier New"/>
                <a:cs typeface="Courier New"/>
                <a:sym typeface="Courier New"/>
              </a:rPr>
              <a:t>Increment</a:t>
            </a:r>
            <a:r>
              <a:rPr lang="en" sz="1300"/>
              <a:t> class.</a:t>
            </a:r>
            <a:endParaRPr sz="1300"/>
          </a:p>
          <a:p>
            <a:pPr marL="457200" lvl="0" indent="-323850" algn="l" rtl="0">
              <a:spcBef>
                <a:spcPts val="0"/>
              </a:spcBef>
              <a:spcAft>
                <a:spcPts val="0"/>
              </a:spcAft>
              <a:buSzPts val="1500"/>
              <a:buChar char="●"/>
            </a:pPr>
            <a:r>
              <a:rPr lang="en" sz="1500"/>
              <a:t>Repeat the above steps to create a new class that implements the </a:t>
            </a:r>
            <a:r>
              <a:rPr lang="en" sz="1500" b="1" i="1">
                <a:solidFill>
                  <a:srgbClr val="FF0000"/>
                </a:solidFill>
              </a:rPr>
              <a:t>decrement </a:t>
            </a:r>
            <a:r>
              <a:rPr lang="en" sz="1500"/>
              <a:t>expression.</a:t>
            </a:r>
            <a:endParaRPr sz="1500" b="1"/>
          </a:p>
        </p:txBody>
      </p:sp>
      <p:sp>
        <p:nvSpPr>
          <p:cNvPr id="1251" name="Google Shape;1251;p12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Increment &amp; Decrement</a:t>
            </a:r>
            <a:endParaRPr/>
          </a:p>
        </p:txBody>
      </p:sp>
      <p:sp>
        <p:nvSpPr>
          <p:cNvPr id="1252" name="Google Shape;1252;p12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3.29</a:t>
            </a:r>
            <a:endParaRPr/>
          </a:p>
        </p:txBody>
      </p:sp>
      <p:sp>
        <p:nvSpPr>
          <p:cNvPr id="1253" name="Google Shape;1253;p126"/>
          <p:cNvSpPr txBox="1">
            <a:spLocks noGrp="1"/>
          </p:cNvSpPr>
          <p:nvPr>
            <p:ph type="body" idx="4"/>
          </p:nvPr>
        </p:nvSpPr>
        <p:spPr>
          <a:xfrm>
            <a:off x="141600" y="3495000"/>
            <a:ext cx="3023700" cy="92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Unary expressions are created with some other expression. When evaluated, the unary expression first evaluates the other expression, then applies its operator.</a:t>
            </a:r>
            <a:endParaRPr/>
          </a:p>
        </p:txBody>
      </p:sp>
      <p:sp>
        <p:nvSpPr>
          <p:cNvPr id="1254" name="Google Shape;1254;p126"/>
          <p:cNvSpPr txBox="1">
            <a:spLocks noGrp="1"/>
          </p:cNvSpPr>
          <p:nvPr>
            <p:ph type="body" idx="4"/>
          </p:nvPr>
        </p:nvSpPr>
        <p:spPr>
          <a:xfrm>
            <a:off x="141600" y="1454750"/>
            <a:ext cx="3023700" cy="2154900"/>
          </a:xfrm>
          <a:prstGeom prst="rect">
            <a:avLst/>
          </a:prstGeom>
          <a:noFill/>
          <a:ln>
            <a:noFill/>
          </a:ln>
        </p:spPr>
        <p:txBody>
          <a:bodyPr spcFirstLastPara="1" wrap="square" lIns="91425" tIns="91425" rIns="91425" bIns="91425" anchor="ctr" anchorCtr="0">
            <a:spAutoFit/>
          </a:bodyPr>
          <a:lstStyle/>
          <a:p>
            <a:pPr marL="0" lvl="0" indent="0" algn="ctr" rtl="0">
              <a:spcBef>
                <a:spcPts val="0"/>
              </a:spcBef>
              <a:spcAft>
                <a:spcPts val="0"/>
              </a:spcAft>
              <a:buNone/>
            </a:pPr>
            <a:r>
              <a:rPr lang="en" sz="6400">
                <a:solidFill>
                  <a:srgbClr val="FF0000"/>
                </a:solidFill>
                <a:latin typeface="Consolas"/>
                <a:ea typeface="Consolas"/>
                <a:cs typeface="Consolas"/>
                <a:sym typeface="Consolas"/>
              </a:rPr>
              <a:t>++</a:t>
            </a:r>
            <a:endParaRPr sz="6400">
              <a:solidFill>
                <a:srgbClr val="FF0000"/>
              </a:solidFill>
              <a:latin typeface="Consolas"/>
              <a:ea typeface="Consolas"/>
              <a:cs typeface="Consolas"/>
              <a:sym typeface="Consolas"/>
            </a:endParaRPr>
          </a:p>
          <a:p>
            <a:pPr marL="0" lvl="0" indent="0" algn="ctr" rtl="0">
              <a:spcBef>
                <a:spcPts val="0"/>
              </a:spcBef>
              <a:spcAft>
                <a:spcPts val="0"/>
              </a:spcAft>
              <a:buNone/>
            </a:pPr>
            <a:r>
              <a:rPr lang="en" sz="6400">
                <a:solidFill>
                  <a:srgbClr val="FF0000"/>
                </a:solidFill>
                <a:latin typeface="Consolas"/>
                <a:ea typeface="Consolas"/>
                <a:cs typeface="Consolas"/>
                <a:sym typeface="Consolas"/>
              </a:rPr>
              <a:t>--</a:t>
            </a:r>
            <a:endParaRPr sz="6400">
              <a:solidFill>
                <a:srgbClr val="FF0000"/>
              </a:solidFill>
              <a:latin typeface="Consolas"/>
              <a:ea typeface="Consolas"/>
              <a:cs typeface="Consolas"/>
              <a:sym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258"/>
        <p:cNvGrpSpPr/>
        <p:nvPr/>
      </p:nvGrpSpPr>
      <p:grpSpPr>
        <a:xfrm>
          <a:off x="0" y="0"/>
          <a:ext cx="0" cy="0"/>
          <a:chOff x="0" y="0"/>
          <a:chExt cx="0" cy="0"/>
        </a:xfrm>
      </p:grpSpPr>
      <p:sp>
        <p:nvSpPr>
          <p:cNvPr id="1259" name="Google Shape;1259;p127"/>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Addition and subtraction are </a:t>
            </a:r>
            <a:r>
              <a:rPr lang="en" b="1" i="1"/>
              <a:t>binary expressions</a:t>
            </a:r>
            <a:r>
              <a:rPr lang="en"/>
              <a:t>. Each is created with </a:t>
            </a:r>
            <a:r>
              <a:rPr lang="en" b="1" i="1"/>
              <a:t>two </a:t>
            </a:r>
            <a:r>
              <a:rPr lang="en"/>
              <a:t>other expressions. </a:t>
            </a:r>
            <a:r>
              <a:rPr lang="en" b="1" i="1"/>
              <a:t>Both</a:t>
            </a:r>
            <a:r>
              <a:rPr lang="en"/>
              <a:t> expressions are evaluated before the operator is applied. Let's create classes to represent each of these binary expressions.</a:t>
            </a:r>
            <a:endParaRPr/>
          </a:p>
        </p:txBody>
      </p:sp>
      <p:sp>
        <p:nvSpPr>
          <p:cNvPr id="1260" name="Google Shape;1260;p1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65</a:t>
            </a:fld>
            <a:endParaRPr/>
          </a:p>
        </p:txBody>
      </p:sp>
      <p:sp>
        <p:nvSpPr>
          <p:cNvPr id="1261" name="Google Shape;1261;p127"/>
          <p:cNvSpPr txBox="1">
            <a:spLocks noGrp="1"/>
          </p:cNvSpPr>
          <p:nvPr>
            <p:ph type="body" idx="2"/>
          </p:nvPr>
        </p:nvSpPr>
        <p:spPr>
          <a:xfrm>
            <a:off x="3345700" y="1669025"/>
            <a:ext cx="5566200" cy="30885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Implement a new Java class in a file named "</a:t>
            </a:r>
            <a:r>
              <a:rPr lang="en" sz="1500">
                <a:solidFill>
                  <a:srgbClr val="FF0000"/>
                </a:solidFill>
                <a:latin typeface="Courier New"/>
                <a:ea typeface="Courier New"/>
                <a:cs typeface="Courier New"/>
                <a:sym typeface="Courier New"/>
              </a:rPr>
              <a:t>Addition.java</a:t>
            </a:r>
            <a:r>
              <a:rPr lang="en" sz="1500"/>
              <a:t>" and implement the </a:t>
            </a:r>
            <a:r>
              <a:rPr lang="en" sz="1500" b="1" i="1">
                <a:solidFill>
                  <a:srgbClr val="FF0000"/>
                </a:solidFill>
              </a:rPr>
              <a:t>addition</a:t>
            </a:r>
            <a:r>
              <a:rPr lang="en" sz="1500">
                <a:solidFill>
                  <a:srgbClr val="FF0000"/>
                </a:solidFill>
              </a:rPr>
              <a:t> </a:t>
            </a:r>
            <a:r>
              <a:rPr lang="en" sz="1500"/>
              <a:t>expression.</a:t>
            </a:r>
            <a:endParaRPr sz="1500"/>
          </a:p>
          <a:p>
            <a:pPr marL="914400" lvl="1" indent="-311150" algn="l" rtl="0">
              <a:spcBef>
                <a:spcPts val="0"/>
              </a:spcBef>
              <a:spcAft>
                <a:spcPts val="0"/>
              </a:spcAft>
              <a:buSzPts val="1300"/>
              <a:buChar char="○"/>
            </a:pPr>
            <a:r>
              <a:rPr lang="en" sz="1300"/>
              <a:t>Do not forget to </a:t>
            </a:r>
            <a:r>
              <a:rPr lang="en" sz="1300" b="1" i="1">
                <a:solidFill>
                  <a:srgbClr val="FF0000"/>
                </a:solidFill>
              </a:rPr>
              <a:t>extend</a:t>
            </a:r>
            <a:r>
              <a:rPr lang="en" sz="1300">
                <a:solidFill>
                  <a:srgbClr val="FF0000"/>
                </a:solidFill>
              </a:rPr>
              <a:t> </a:t>
            </a:r>
            <a:r>
              <a:rPr lang="en" sz="1300"/>
              <a:t>your </a:t>
            </a:r>
            <a:r>
              <a:rPr lang="en" sz="1300">
                <a:latin typeface="Courier New"/>
                <a:ea typeface="Courier New"/>
                <a:cs typeface="Courier New"/>
                <a:sym typeface="Courier New"/>
              </a:rPr>
              <a:t>Expression</a:t>
            </a:r>
            <a:r>
              <a:rPr lang="en" sz="1300"/>
              <a:t> class.</a:t>
            </a:r>
            <a:endParaRPr sz="1300"/>
          </a:p>
          <a:p>
            <a:pPr marL="914400" lvl="1" indent="-311150" algn="l" rtl="0">
              <a:spcBef>
                <a:spcPts val="0"/>
              </a:spcBef>
              <a:spcAft>
                <a:spcPts val="0"/>
              </a:spcAft>
              <a:buSzPts val="1300"/>
              <a:buChar char="○"/>
            </a:pPr>
            <a:r>
              <a:rPr lang="en" sz="1300"/>
              <a:t>An addition expression is created with </a:t>
            </a:r>
            <a:r>
              <a:rPr lang="en" sz="1300" b="1" i="1">
                <a:solidFill>
                  <a:srgbClr val="FF0000"/>
                </a:solidFill>
              </a:rPr>
              <a:t>two</a:t>
            </a:r>
            <a:r>
              <a:rPr lang="en" sz="1300">
                <a:solidFill>
                  <a:srgbClr val="FF0000"/>
                </a:solidFill>
              </a:rPr>
              <a:t> </a:t>
            </a:r>
            <a:r>
              <a:rPr lang="en" sz="1300"/>
              <a:t>expressions that it uses as its operands.</a:t>
            </a:r>
            <a:endParaRPr sz="1300"/>
          </a:p>
          <a:p>
            <a:pPr marL="914400" lvl="1" indent="-311150" algn="l" rtl="0">
              <a:spcBef>
                <a:spcPts val="0"/>
              </a:spcBef>
              <a:spcAft>
                <a:spcPts val="0"/>
              </a:spcAft>
              <a:buSzPts val="1300"/>
              <a:buChar char="○"/>
            </a:pPr>
            <a:r>
              <a:rPr lang="en" sz="1300"/>
              <a:t>When evaluated, the addition expression must first evaluate </a:t>
            </a:r>
            <a:r>
              <a:rPr lang="en" sz="1300" b="1" i="1">
                <a:solidFill>
                  <a:srgbClr val="FF0000"/>
                </a:solidFill>
              </a:rPr>
              <a:t>both</a:t>
            </a:r>
            <a:r>
              <a:rPr lang="en" sz="1300">
                <a:solidFill>
                  <a:srgbClr val="FF0000"/>
                </a:solidFill>
              </a:rPr>
              <a:t> </a:t>
            </a:r>
            <a:r>
              <a:rPr lang="en" sz="1300"/>
              <a:t>of its operand expressions before </a:t>
            </a:r>
            <a:r>
              <a:rPr lang="en" sz="1300" b="1" i="1">
                <a:solidFill>
                  <a:srgbClr val="FF0000"/>
                </a:solidFill>
              </a:rPr>
              <a:t>adding</a:t>
            </a:r>
            <a:r>
              <a:rPr lang="en" sz="1300">
                <a:solidFill>
                  <a:srgbClr val="FF0000"/>
                </a:solidFill>
              </a:rPr>
              <a:t> </a:t>
            </a:r>
            <a:r>
              <a:rPr lang="en" sz="1300"/>
              <a:t>the results together.</a:t>
            </a:r>
            <a:endParaRPr sz="1300"/>
          </a:p>
          <a:p>
            <a:pPr marL="914400" lvl="1" indent="-311150" algn="l" rtl="0">
              <a:spcBef>
                <a:spcPts val="0"/>
              </a:spcBef>
              <a:spcAft>
                <a:spcPts val="0"/>
              </a:spcAft>
              <a:buSzPts val="1300"/>
              <a:buChar char="○"/>
            </a:pPr>
            <a:r>
              <a:rPr lang="en" sz="1300"/>
              <a:t>Add a </a:t>
            </a:r>
            <a:r>
              <a:rPr lang="en" sz="1300">
                <a:solidFill>
                  <a:srgbClr val="FF0000"/>
                </a:solidFill>
                <a:latin typeface="Courier New"/>
                <a:ea typeface="Courier New"/>
                <a:cs typeface="Courier New"/>
                <a:sym typeface="Courier New"/>
              </a:rPr>
              <a:t>main</a:t>
            </a:r>
            <a:r>
              <a:rPr lang="en" sz="1300">
                <a:solidFill>
                  <a:srgbClr val="FF0000"/>
                </a:solidFill>
              </a:rPr>
              <a:t> </a:t>
            </a:r>
            <a:r>
              <a:rPr lang="en" sz="1300"/>
              <a:t>method to test your new </a:t>
            </a:r>
            <a:r>
              <a:rPr lang="en" sz="1300">
                <a:latin typeface="Courier New"/>
                <a:ea typeface="Courier New"/>
                <a:cs typeface="Courier New"/>
                <a:sym typeface="Courier New"/>
              </a:rPr>
              <a:t>Addition</a:t>
            </a:r>
            <a:r>
              <a:rPr lang="en" sz="1300"/>
              <a:t> class.</a:t>
            </a:r>
            <a:endParaRPr sz="1300"/>
          </a:p>
          <a:p>
            <a:pPr marL="457200" lvl="0" indent="-323850" algn="l" rtl="0">
              <a:spcBef>
                <a:spcPts val="0"/>
              </a:spcBef>
              <a:spcAft>
                <a:spcPts val="0"/>
              </a:spcAft>
              <a:buSzPts val="1500"/>
              <a:buChar char="●"/>
            </a:pPr>
            <a:r>
              <a:rPr lang="en" sz="1500"/>
              <a:t>Repeat the above steps to create a new class that implements the </a:t>
            </a:r>
            <a:r>
              <a:rPr lang="en" sz="1500" b="1" i="1">
                <a:solidFill>
                  <a:srgbClr val="FF0000"/>
                </a:solidFill>
              </a:rPr>
              <a:t>subtraction</a:t>
            </a:r>
            <a:r>
              <a:rPr lang="en" sz="1500">
                <a:solidFill>
                  <a:srgbClr val="FF0000"/>
                </a:solidFill>
              </a:rPr>
              <a:t> </a:t>
            </a:r>
            <a:r>
              <a:rPr lang="en" sz="1500"/>
              <a:t>expression.</a:t>
            </a:r>
            <a:endParaRPr sz="1500"/>
          </a:p>
        </p:txBody>
      </p:sp>
      <p:sp>
        <p:nvSpPr>
          <p:cNvPr id="1262" name="Google Shape;1262;p12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Addition &amp; Subtraction</a:t>
            </a:r>
            <a:endParaRPr/>
          </a:p>
        </p:txBody>
      </p:sp>
      <p:sp>
        <p:nvSpPr>
          <p:cNvPr id="1263" name="Google Shape;1263;p12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3.30</a:t>
            </a:r>
            <a:endParaRPr/>
          </a:p>
        </p:txBody>
      </p:sp>
      <p:sp>
        <p:nvSpPr>
          <p:cNvPr id="1264" name="Google Shape;1264;p127"/>
          <p:cNvSpPr txBox="1">
            <a:spLocks noGrp="1"/>
          </p:cNvSpPr>
          <p:nvPr>
            <p:ph type="body" idx="4"/>
          </p:nvPr>
        </p:nvSpPr>
        <p:spPr>
          <a:xfrm>
            <a:off x="141600" y="40807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binary expression must evaluate </a:t>
            </a:r>
            <a:r>
              <a:rPr lang="en" b="1" i="1"/>
              <a:t>both</a:t>
            </a:r>
            <a:r>
              <a:rPr lang="en"/>
              <a:t> of is expression before it can compute its result.</a:t>
            </a:r>
            <a:endParaRPr/>
          </a:p>
        </p:txBody>
      </p:sp>
      <p:sp>
        <p:nvSpPr>
          <p:cNvPr id="1265" name="Google Shape;1265;p127"/>
          <p:cNvSpPr/>
          <p:nvPr/>
        </p:nvSpPr>
        <p:spPr>
          <a:xfrm>
            <a:off x="1033288" y="1833075"/>
            <a:ext cx="393600" cy="393600"/>
          </a:xfrm>
          <a:prstGeom prst="ellipse">
            <a:avLst/>
          </a:prstGeom>
          <a:solidFill>
            <a:srgbClr val="FF0000"/>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grpSp>
        <p:nvGrpSpPr>
          <p:cNvPr id="1266" name="Google Shape;1266;p127"/>
          <p:cNvGrpSpPr/>
          <p:nvPr/>
        </p:nvGrpSpPr>
        <p:grpSpPr>
          <a:xfrm>
            <a:off x="349075" y="2029875"/>
            <a:ext cx="684213" cy="787350"/>
            <a:chOff x="5975375" y="2259825"/>
            <a:chExt cx="684213" cy="787350"/>
          </a:xfrm>
        </p:grpSpPr>
        <p:sp>
          <p:nvSpPr>
            <p:cNvPr id="1267" name="Google Shape;1267;p127"/>
            <p:cNvSpPr/>
            <p:nvPr/>
          </p:nvSpPr>
          <p:spPr>
            <a:xfrm>
              <a:off x="5975375" y="2653575"/>
              <a:ext cx="393600" cy="393600"/>
            </a:xfrm>
            <a:prstGeom prst="ellipse">
              <a:avLst/>
            </a:prstGeom>
            <a:solidFill>
              <a:srgbClr val="38761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p:txBody>
        </p:sp>
        <p:cxnSp>
          <p:nvCxnSpPr>
            <p:cNvPr id="1268" name="Google Shape;1268;p127"/>
            <p:cNvCxnSpPr>
              <a:stCxn id="1265" idx="2"/>
              <a:endCxn id="1267" idx="0"/>
            </p:cNvCxnSpPr>
            <p:nvPr/>
          </p:nvCxnSpPr>
          <p:spPr>
            <a:xfrm flipH="1">
              <a:off x="6172088" y="2259825"/>
              <a:ext cx="487500" cy="393900"/>
            </a:xfrm>
            <a:prstGeom prst="curvedConnector2">
              <a:avLst/>
            </a:prstGeom>
            <a:noFill/>
            <a:ln w="28575" cap="flat" cmpd="sng">
              <a:solidFill>
                <a:srgbClr val="000000"/>
              </a:solidFill>
              <a:prstDash val="solid"/>
              <a:round/>
              <a:headEnd type="none" w="med" len="med"/>
              <a:tailEnd type="none" w="med" len="med"/>
            </a:ln>
          </p:spPr>
        </p:cxnSp>
      </p:grpSp>
      <p:grpSp>
        <p:nvGrpSpPr>
          <p:cNvPr id="1269" name="Google Shape;1269;p127"/>
          <p:cNvGrpSpPr/>
          <p:nvPr/>
        </p:nvGrpSpPr>
        <p:grpSpPr>
          <a:xfrm>
            <a:off x="1426800" y="2029875"/>
            <a:ext cx="684300" cy="806400"/>
            <a:chOff x="7053100" y="2259825"/>
            <a:chExt cx="684300" cy="806400"/>
          </a:xfrm>
        </p:grpSpPr>
        <p:sp>
          <p:nvSpPr>
            <p:cNvPr id="1270" name="Google Shape;1270;p127"/>
            <p:cNvSpPr/>
            <p:nvPr/>
          </p:nvSpPr>
          <p:spPr>
            <a:xfrm>
              <a:off x="7343800" y="2672625"/>
              <a:ext cx="393600" cy="393600"/>
            </a:xfrm>
            <a:prstGeom prst="ellipse">
              <a:avLst/>
            </a:prstGeom>
            <a:solidFill>
              <a:srgbClr val="FF0000"/>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271" name="Google Shape;1271;p127"/>
            <p:cNvCxnSpPr>
              <a:endCxn id="1270" idx="0"/>
            </p:cNvCxnSpPr>
            <p:nvPr/>
          </p:nvCxnSpPr>
          <p:spPr>
            <a:xfrm>
              <a:off x="7053100" y="2259825"/>
              <a:ext cx="487500" cy="412800"/>
            </a:xfrm>
            <a:prstGeom prst="curvedConnector2">
              <a:avLst/>
            </a:prstGeom>
            <a:noFill/>
            <a:ln w="28575" cap="flat" cmpd="sng">
              <a:solidFill>
                <a:srgbClr val="000000"/>
              </a:solidFill>
              <a:prstDash val="solid"/>
              <a:round/>
              <a:headEnd type="none" w="med" len="med"/>
              <a:tailEnd type="none" w="med" len="med"/>
            </a:ln>
          </p:spPr>
        </p:cxnSp>
      </p:grpSp>
      <p:grpSp>
        <p:nvGrpSpPr>
          <p:cNvPr id="1272" name="Google Shape;1272;p127"/>
          <p:cNvGrpSpPr/>
          <p:nvPr/>
        </p:nvGrpSpPr>
        <p:grpSpPr>
          <a:xfrm>
            <a:off x="1031700" y="2639475"/>
            <a:ext cx="685800" cy="806400"/>
            <a:chOff x="6658000" y="2869425"/>
            <a:chExt cx="685800" cy="806400"/>
          </a:xfrm>
        </p:grpSpPr>
        <p:sp>
          <p:nvSpPr>
            <p:cNvPr id="1273" name="Google Shape;1273;p127"/>
            <p:cNvSpPr/>
            <p:nvPr/>
          </p:nvSpPr>
          <p:spPr>
            <a:xfrm>
              <a:off x="6658000" y="3282225"/>
              <a:ext cx="393600" cy="393600"/>
            </a:xfrm>
            <a:prstGeom prst="ellipse">
              <a:avLst/>
            </a:prstGeom>
            <a:solidFill>
              <a:srgbClr val="FF0000"/>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274" name="Google Shape;1274;p127"/>
            <p:cNvCxnSpPr>
              <a:stCxn id="1270" idx="2"/>
              <a:endCxn id="1273" idx="0"/>
            </p:cNvCxnSpPr>
            <p:nvPr/>
          </p:nvCxnSpPr>
          <p:spPr>
            <a:xfrm flipH="1">
              <a:off x="6854800" y="2869425"/>
              <a:ext cx="489000" cy="412800"/>
            </a:xfrm>
            <a:prstGeom prst="curvedConnector2">
              <a:avLst/>
            </a:prstGeom>
            <a:noFill/>
            <a:ln w="28575" cap="flat" cmpd="sng">
              <a:solidFill>
                <a:srgbClr val="000000"/>
              </a:solidFill>
              <a:prstDash val="solid"/>
              <a:round/>
              <a:headEnd type="none" w="med" len="med"/>
              <a:tailEnd type="none" w="med" len="med"/>
            </a:ln>
          </p:spPr>
        </p:cxnSp>
      </p:grpSp>
      <p:grpSp>
        <p:nvGrpSpPr>
          <p:cNvPr id="1275" name="Google Shape;1275;p127"/>
          <p:cNvGrpSpPr/>
          <p:nvPr/>
        </p:nvGrpSpPr>
        <p:grpSpPr>
          <a:xfrm>
            <a:off x="2111100" y="2639475"/>
            <a:ext cx="685800" cy="806400"/>
            <a:chOff x="7737400" y="2869425"/>
            <a:chExt cx="685800" cy="806400"/>
          </a:xfrm>
        </p:grpSpPr>
        <p:sp>
          <p:nvSpPr>
            <p:cNvPr id="1276" name="Google Shape;1276;p127"/>
            <p:cNvSpPr/>
            <p:nvPr/>
          </p:nvSpPr>
          <p:spPr>
            <a:xfrm>
              <a:off x="8029600" y="3282225"/>
              <a:ext cx="393600" cy="393600"/>
            </a:xfrm>
            <a:prstGeom prst="ellipse">
              <a:avLst/>
            </a:prstGeom>
            <a:solidFill>
              <a:srgbClr val="FF0000"/>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cxnSp>
          <p:nvCxnSpPr>
            <p:cNvPr id="1277" name="Google Shape;1277;p127"/>
            <p:cNvCxnSpPr>
              <a:endCxn id="1276" idx="0"/>
            </p:cNvCxnSpPr>
            <p:nvPr/>
          </p:nvCxnSpPr>
          <p:spPr>
            <a:xfrm>
              <a:off x="7737400" y="2869425"/>
              <a:ext cx="489000" cy="412800"/>
            </a:xfrm>
            <a:prstGeom prst="curvedConnector2">
              <a:avLst/>
            </a:prstGeom>
            <a:noFill/>
            <a:ln w="28575" cap="flat" cmpd="sng">
              <a:solidFill>
                <a:srgbClr val="000000"/>
              </a:solidFill>
              <a:prstDash val="solid"/>
              <a:round/>
              <a:headEnd type="none" w="med" len="med"/>
              <a:tailEnd type="none" w="med" len="med"/>
            </a:ln>
          </p:spPr>
        </p:cxnSp>
      </p:grpSp>
      <p:grpSp>
        <p:nvGrpSpPr>
          <p:cNvPr id="1278" name="Google Shape;1278;p127"/>
          <p:cNvGrpSpPr/>
          <p:nvPr/>
        </p:nvGrpSpPr>
        <p:grpSpPr>
          <a:xfrm>
            <a:off x="638100" y="3249075"/>
            <a:ext cx="393600" cy="689450"/>
            <a:chOff x="6264400" y="3479025"/>
            <a:chExt cx="393600" cy="689450"/>
          </a:xfrm>
        </p:grpSpPr>
        <p:sp>
          <p:nvSpPr>
            <p:cNvPr id="1279" name="Google Shape;1279;p127"/>
            <p:cNvSpPr/>
            <p:nvPr/>
          </p:nvSpPr>
          <p:spPr>
            <a:xfrm>
              <a:off x="6264400" y="3774875"/>
              <a:ext cx="393600" cy="393600"/>
            </a:xfrm>
            <a:prstGeom prst="ellipse">
              <a:avLst/>
            </a:prstGeom>
            <a:solidFill>
              <a:srgbClr val="38761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3</a:t>
              </a:r>
              <a:endParaRPr>
                <a:solidFill>
                  <a:srgbClr val="FFFFFF"/>
                </a:solidFill>
                <a:latin typeface="Consolas"/>
                <a:ea typeface="Consolas"/>
                <a:cs typeface="Consolas"/>
                <a:sym typeface="Consolas"/>
              </a:endParaRPr>
            </a:p>
          </p:txBody>
        </p:sp>
        <p:cxnSp>
          <p:nvCxnSpPr>
            <p:cNvPr id="1280" name="Google Shape;1280;p127"/>
            <p:cNvCxnSpPr>
              <a:stCxn id="1273" idx="2"/>
              <a:endCxn id="1279" idx="0"/>
            </p:cNvCxnSpPr>
            <p:nvPr/>
          </p:nvCxnSpPr>
          <p:spPr>
            <a:xfrm flipH="1">
              <a:off x="6461200" y="3479025"/>
              <a:ext cx="196800" cy="295800"/>
            </a:xfrm>
            <a:prstGeom prst="curvedConnector2">
              <a:avLst/>
            </a:prstGeom>
            <a:noFill/>
            <a:ln w="28575" cap="flat" cmpd="sng">
              <a:solidFill>
                <a:srgbClr val="000000"/>
              </a:solidFill>
              <a:prstDash val="solid"/>
              <a:round/>
              <a:headEnd type="none" w="med" len="med"/>
              <a:tailEnd type="none" w="med" len="med"/>
            </a:ln>
          </p:spPr>
        </p:cxnSp>
      </p:grpSp>
      <p:grpSp>
        <p:nvGrpSpPr>
          <p:cNvPr id="1281" name="Google Shape;1281;p127"/>
          <p:cNvGrpSpPr/>
          <p:nvPr/>
        </p:nvGrpSpPr>
        <p:grpSpPr>
          <a:xfrm>
            <a:off x="1400100" y="3249075"/>
            <a:ext cx="393600" cy="689450"/>
            <a:chOff x="7026400" y="3479025"/>
            <a:chExt cx="393600" cy="689450"/>
          </a:xfrm>
        </p:grpSpPr>
        <p:sp>
          <p:nvSpPr>
            <p:cNvPr id="1282" name="Google Shape;1282;p127"/>
            <p:cNvSpPr/>
            <p:nvPr/>
          </p:nvSpPr>
          <p:spPr>
            <a:xfrm>
              <a:off x="7026400" y="3774875"/>
              <a:ext cx="393600" cy="393600"/>
            </a:xfrm>
            <a:prstGeom prst="ellipse">
              <a:avLst/>
            </a:prstGeom>
            <a:solidFill>
              <a:srgbClr val="38761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1</a:t>
              </a:r>
              <a:endParaRPr>
                <a:solidFill>
                  <a:srgbClr val="FFFFFF"/>
                </a:solidFill>
                <a:latin typeface="Consolas"/>
                <a:ea typeface="Consolas"/>
                <a:cs typeface="Consolas"/>
                <a:sym typeface="Consolas"/>
              </a:endParaRPr>
            </a:p>
          </p:txBody>
        </p:sp>
        <p:cxnSp>
          <p:nvCxnSpPr>
            <p:cNvPr id="1283" name="Google Shape;1283;p127"/>
            <p:cNvCxnSpPr>
              <a:stCxn id="1273" idx="6"/>
              <a:endCxn id="1282" idx="0"/>
            </p:cNvCxnSpPr>
            <p:nvPr/>
          </p:nvCxnSpPr>
          <p:spPr>
            <a:xfrm>
              <a:off x="7051600" y="3479025"/>
              <a:ext cx="171600" cy="295800"/>
            </a:xfrm>
            <a:prstGeom prst="curvedConnector2">
              <a:avLst/>
            </a:prstGeom>
            <a:noFill/>
            <a:ln w="28575" cap="flat" cmpd="sng">
              <a:solidFill>
                <a:srgbClr val="000000"/>
              </a:solidFill>
              <a:prstDash val="solid"/>
              <a:round/>
              <a:headEnd type="none" w="med" len="med"/>
              <a:tailEnd type="none" w="med" len="med"/>
            </a:ln>
          </p:spPr>
        </p:cxnSp>
      </p:grpSp>
      <p:grpSp>
        <p:nvGrpSpPr>
          <p:cNvPr id="1284" name="Google Shape;1284;p127"/>
          <p:cNvGrpSpPr/>
          <p:nvPr/>
        </p:nvGrpSpPr>
        <p:grpSpPr>
          <a:xfrm>
            <a:off x="2009700" y="3249075"/>
            <a:ext cx="393600" cy="689450"/>
            <a:chOff x="7636000" y="3479025"/>
            <a:chExt cx="393600" cy="689450"/>
          </a:xfrm>
        </p:grpSpPr>
        <p:sp>
          <p:nvSpPr>
            <p:cNvPr id="1285" name="Google Shape;1285;p127"/>
            <p:cNvSpPr/>
            <p:nvPr/>
          </p:nvSpPr>
          <p:spPr>
            <a:xfrm>
              <a:off x="7636000" y="3774875"/>
              <a:ext cx="393600" cy="393600"/>
            </a:xfrm>
            <a:prstGeom prst="ellipse">
              <a:avLst/>
            </a:prstGeom>
            <a:solidFill>
              <a:srgbClr val="38761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5</a:t>
              </a:r>
              <a:endParaRPr>
                <a:solidFill>
                  <a:srgbClr val="FFFFFF"/>
                </a:solidFill>
                <a:latin typeface="Consolas"/>
                <a:ea typeface="Consolas"/>
                <a:cs typeface="Consolas"/>
                <a:sym typeface="Consolas"/>
              </a:endParaRPr>
            </a:p>
          </p:txBody>
        </p:sp>
        <p:cxnSp>
          <p:nvCxnSpPr>
            <p:cNvPr id="1286" name="Google Shape;1286;p127"/>
            <p:cNvCxnSpPr>
              <a:stCxn id="1276" idx="2"/>
              <a:endCxn id="1285" idx="0"/>
            </p:cNvCxnSpPr>
            <p:nvPr/>
          </p:nvCxnSpPr>
          <p:spPr>
            <a:xfrm flipH="1">
              <a:off x="7832800" y="3479025"/>
              <a:ext cx="196800" cy="295800"/>
            </a:xfrm>
            <a:prstGeom prst="curvedConnector2">
              <a:avLst/>
            </a:prstGeom>
            <a:noFill/>
            <a:ln w="28575" cap="flat" cmpd="sng">
              <a:solidFill>
                <a:srgbClr val="000000"/>
              </a:solidFill>
              <a:prstDash val="solid"/>
              <a:round/>
              <a:headEnd type="none" w="med" len="med"/>
              <a:tailEnd type="none" w="med" len="med"/>
            </a:ln>
          </p:spPr>
        </p:cxnSp>
      </p:grpSp>
      <p:grpSp>
        <p:nvGrpSpPr>
          <p:cNvPr id="1287" name="Google Shape;1287;p127"/>
          <p:cNvGrpSpPr/>
          <p:nvPr/>
        </p:nvGrpSpPr>
        <p:grpSpPr>
          <a:xfrm>
            <a:off x="2771700" y="3249075"/>
            <a:ext cx="393600" cy="689450"/>
            <a:chOff x="8398000" y="3479025"/>
            <a:chExt cx="393600" cy="689450"/>
          </a:xfrm>
        </p:grpSpPr>
        <p:sp>
          <p:nvSpPr>
            <p:cNvPr id="1288" name="Google Shape;1288;p127"/>
            <p:cNvSpPr/>
            <p:nvPr/>
          </p:nvSpPr>
          <p:spPr>
            <a:xfrm>
              <a:off x="8398000" y="3774875"/>
              <a:ext cx="393600" cy="393600"/>
            </a:xfrm>
            <a:prstGeom prst="ellipse">
              <a:avLst/>
            </a:prstGeom>
            <a:solidFill>
              <a:srgbClr val="38761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p:txBody>
        </p:sp>
        <p:cxnSp>
          <p:nvCxnSpPr>
            <p:cNvPr id="1289" name="Google Shape;1289;p127"/>
            <p:cNvCxnSpPr>
              <a:stCxn id="1276" idx="6"/>
              <a:endCxn id="1288" idx="0"/>
            </p:cNvCxnSpPr>
            <p:nvPr/>
          </p:nvCxnSpPr>
          <p:spPr>
            <a:xfrm>
              <a:off x="8423200" y="3479025"/>
              <a:ext cx="171600" cy="295800"/>
            </a:xfrm>
            <a:prstGeom prst="curvedConnector2">
              <a:avLst/>
            </a:prstGeom>
            <a:noFill/>
            <a:ln w="28575" cap="flat" cmpd="sng">
              <a:solidFill>
                <a:srgbClr val="000000"/>
              </a:solidFill>
              <a:prstDash val="solid"/>
              <a:round/>
              <a:headEnd type="none" w="med" len="med"/>
              <a:tailEnd type="none" w="med" len="med"/>
            </a:ln>
          </p:spPr>
        </p:cxn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sp>
        <p:nvSpPr>
          <p:cNvPr id="1294" name="Google Shape;1294;p12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66</a:t>
            </a:fld>
            <a:endParaRPr/>
          </a:p>
        </p:txBody>
      </p:sp>
      <p:sp>
        <p:nvSpPr>
          <p:cNvPr id="1295" name="Google Shape;1295;p128"/>
          <p:cNvSpPr txBox="1">
            <a:spLocks noGrp="1"/>
          </p:cNvSpPr>
          <p:nvPr>
            <p:ph type="title"/>
          </p:nvPr>
        </p:nvSpPr>
        <p:spPr>
          <a:xfrm>
            <a:off x="5192250"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Interfaces</a:t>
            </a:r>
            <a:endParaRPr/>
          </a:p>
        </p:txBody>
      </p:sp>
      <p:sp>
        <p:nvSpPr>
          <p:cNvPr id="1296" name="Google Shape;1296;p128"/>
          <p:cNvSpPr txBox="1">
            <a:spLocks noGrp="1"/>
          </p:cNvSpPr>
          <p:nvPr>
            <p:ph type="body" idx="1"/>
          </p:nvPr>
        </p:nvSpPr>
        <p:spPr>
          <a:xfrm>
            <a:off x="225075" y="119925"/>
            <a:ext cx="4521600" cy="46347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We now have </a:t>
            </a:r>
            <a:r>
              <a:rPr lang="en" b="1" i="1">
                <a:solidFill>
                  <a:srgbClr val="FF0000"/>
                </a:solidFill>
              </a:rPr>
              <a:t>five</a:t>
            </a:r>
            <a:r>
              <a:rPr lang="en">
                <a:solidFill>
                  <a:srgbClr val="FF0000"/>
                </a:solidFill>
              </a:rPr>
              <a:t> </a:t>
            </a:r>
            <a:r>
              <a:rPr lang="en"/>
              <a:t>different expression classes: </a:t>
            </a:r>
            <a:r>
              <a:rPr lang="en">
                <a:solidFill>
                  <a:srgbClr val="FF0000"/>
                </a:solidFill>
                <a:latin typeface="Courier New"/>
                <a:ea typeface="Courier New"/>
                <a:cs typeface="Courier New"/>
                <a:sym typeface="Courier New"/>
              </a:rPr>
              <a:t>Constant</a:t>
            </a:r>
            <a:r>
              <a:rPr lang="en"/>
              <a:t>, </a:t>
            </a:r>
            <a:r>
              <a:rPr lang="en">
                <a:solidFill>
                  <a:srgbClr val="FF0000"/>
                </a:solidFill>
                <a:latin typeface="Courier New"/>
                <a:ea typeface="Courier New"/>
                <a:cs typeface="Courier New"/>
                <a:sym typeface="Courier New"/>
              </a:rPr>
              <a:t>Increment</a:t>
            </a:r>
            <a:r>
              <a:rPr lang="en"/>
              <a:t>, </a:t>
            </a:r>
            <a:r>
              <a:rPr lang="en">
                <a:solidFill>
                  <a:srgbClr val="FF0000"/>
                </a:solidFill>
                <a:latin typeface="Courier New"/>
                <a:ea typeface="Courier New"/>
                <a:cs typeface="Courier New"/>
                <a:sym typeface="Courier New"/>
              </a:rPr>
              <a:t>Decrement</a:t>
            </a:r>
            <a:r>
              <a:rPr lang="en"/>
              <a:t>, </a:t>
            </a:r>
            <a:r>
              <a:rPr lang="en">
                <a:solidFill>
                  <a:srgbClr val="FF0000"/>
                </a:solidFill>
                <a:latin typeface="Courier New"/>
                <a:ea typeface="Courier New"/>
                <a:cs typeface="Courier New"/>
                <a:sym typeface="Courier New"/>
              </a:rPr>
              <a:t>Addition</a:t>
            </a:r>
            <a:r>
              <a:rPr lang="en"/>
              <a:t>, and </a:t>
            </a:r>
            <a:r>
              <a:rPr lang="en">
                <a:solidFill>
                  <a:srgbClr val="FF0000"/>
                </a:solidFill>
                <a:latin typeface="Courier New"/>
                <a:ea typeface="Courier New"/>
                <a:cs typeface="Courier New"/>
                <a:sym typeface="Courier New"/>
              </a:rPr>
              <a:t>Subtraction</a:t>
            </a:r>
            <a:r>
              <a:rPr lang="en"/>
              <a:t>.</a:t>
            </a:r>
            <a:endParaRPr/>
          </a:p>
          <a:p>
            <a:pPr marL="457200" lvl="0" indent="-311150" algn="l" rtl="0">
              <a:spcBef>
                <a:spcPts val="0"/>
              </a:spcBef>
              <a:spcAft>
                <a:spcPts val="0"/>
              </a:spcAft>
              <a:buSzPts val="1300"/>
              <a:buChar char="●"/>
            </a:pPr>
            <a:r>
              <a:rPr lang="en"/>
              <a:t>All five classes </a:t>
            </a:r>
            <a:r>
              <a:rPr lang="en" b="1" i="1">
                <a:solidFill>
                  <a:srgbClr val="FF0000"/>
                </a:solidFill>
              </a:rPr>
              <a:t>define</a:t>
            </a:r>
            <a:r>
              <a:rPr lang="en">
                <a:solidFill>
                  <a:srgbClr val="FF0000"/>
                </a:solidFill>
              </a:rPr>
              <a:t> </a:t>
            </a:r>
            <a:r>
              <a:rPr lang="en"/>
              <a:t>the same behavior, but </a:t>
            </a:r>
            <a:r>
              <a:rPr lang="en" b="1" i="1">
                <a:solidFill>
                  <a:srgbClr val="FF0000"/>
                </a:solidFill>
              </a:rPr>
              <a:t>implement</a:t>
            </a:r>
            <a:r>
              <a:rPr lang="en">
                <a:solidFill>
                  <a:srgbClr val="FF0000"/>
                </a:solidFill>
              </a:rPr>
              <a:t> </a:t>
            </a:r>
            <a:r>
              <a:rPr lang="en"/>
              <a:t>it differently: the </a:t>
            </a:r>
            <a:r>
              <a:rPr lang="en">
                <a:solidFill>
                  <a:srgbClr val="FF0000"/>
                </a:solidFill>
                <a:latin typeface="Courier New"/>
                <a:ea typeface="Courier New"/>
                <a:cs typeface="Courier New"/>
                <a:sym typeface="Courier New"/>
              </a:rPr>
              <a:t>evaluate</a:t>
            </a:r>
            <a:r>
              <a:rPr lang="en">
                <a:solidFill>
                  <a:srgbClr val="FF0000"/>
                </a:solidFill>
              </a:rPr>
              <a:t> </a:t>
            </a:r>
            <a:r>
              <a:rPr lang="en"/>
              <a:t>method.</a:t>
            </a:r>
            <a:endParaRPr/>
          </a:p>
          <a:p>
            <a:pPr marL="457200" lvl="0" indent="-311150" algn="l" rtl="0">
              <a:spcBef>
                <a:spcPts val="0"/>
              </a:spcBef>
              <a:spcAft>
                <a:spcPts val="0"/>
              </a:spcAft>
              <a:buSzPts val="1300"/>
              <a:buChar char="●"/>
            </a:pPr>
            <a:r>
              <a:rPr lang="en"/>
              <a:t>As with the examples in the previous parts of this unit, we recognized the need for a parent class to </a:t>
            </a:r>
            <a:r>
              <a:rPr lang="en" b="1" i="1">
                <a:solidFill>
                  <a:srgbClr val="FF0000"/>
                </a:solidFill>
              </a:rPr>
              <a:t>define</a:t>
            </a:r>
            <a:r>
              <a:rPr lang="en">
                <a:solidFill>
                  <a:srgbClr val="FF0000"/>
                </a:solidFill>
              </a:rPr>
              <a:t> </a:t>
            </a:r>
            <a:r>
              <a:rPr lang="en"/>
              <a:t>this behavior so that we could leverage </a:t>
            </a:r>
            <a:r>
              <a:rPr lang="en" b="1" i="1">
                <a:solidFill>
                  <a:srgbClr val="FF0000"/>
                </a:solidFill>
              </a:rPr>
              <a:t>polymorphism</a:t>
            </a:r>
            <a:r>
              <a:rPr lang="en">
                <a:solidFill>
                  <a:srgbClr val="FF0000"/>
                </a:solidFill>
              </a:rPr>
              <a:t> </a:t>
            </a:r>
            <a:r>
              <a:rPr lang="en"/>
              <a:t>to use the different types of expressions </a:t>
            </a:r>
            <a:r>
              <a:rPr lang="en" b="1" i="1">
                <a:solidFill>
                  <a:srgbClr val="FF0000"/>
                </a:solidFill>
              </a:rPr>
              <a:t>interchangeably</a:t>
            </a:r>
            <a:r>
              <a:rPr lang="en"/>
              <a:t>.</a:t>
            </a:r>
            <a:endParaRPr/>
          </a:p>
          <a:p>
            <a:pPr marL="914400" lvl="1" indent="-298450" algn="l" rtl="0">
              <a:spcBef>
                <a:spcPts val="0"/>
              </a:spcBef>
              <a:spcAft>
                <a:spcPts val="0"/>
              </a:spcAft>
              <a:buSzPts val="1100"/>
              <a:buChar char="○"/>
            </a:pPr>
            <a:r>
              <a:rPr lang="en"/>
              <a:t>But because there is no common implementation of the </a:t>
            </a:r>
            <a:r>
              <a:rPr lang="en">
                <a:latin typeface="Courier New"/>
                <a:ea typeface="Courier New"/>
                <a:cs typeface="Courier New"/>
                <a:sym typeface="Courier New"/>
              </a:rPr>
              <a:t>evaluate</a:t>
            </a:r>
            <a:r>
              <a:rPr lang="en"/>
              <a:t> method that is shared by two or more classes, we declared the method </a:t>
            </a:r>
            <a:r>
              <a:rPr lang="en">
                <a:solidFill>
                  <a:srgbClr val="FF0000"/>
                </a:solidFill>
                <a:latin typeface="Courier New"/>
                <a:ea typeface="Courier New"/>
                <a:cs typeface="Courier New"/>
                <a:sym typeface="Courier New"/>
              </a:rPr>
              <a:t>abstract</a:t>
            </a:r>
            <a:r>
              <a:rPr lang="en"/>
              <a:t>.</a:t>
            </a:r>
            <a:endParaRPr/>
          </a:p>
          <a:p>
            <a:pPr marL="457200" lvl="0" indent="-311150" algn="l" rtl="0">
              <a:spcBef>
                <a:spcPts val="0"/>
              </a:spcBef>
              <a:spcAft>
                <a:spcPts val="0"/>
              </a:spcAft>
              <a:buSzPts val="1300"/>
              <a:buChar char="●"/>
            </a:pPr>
            <a:r>
              <a:rPr lang="en"/>
              <a:t>But the </a:t>
            </a:r>
            <a:r>
              <a:rPr lang="en">
                <a:latin typeface="Courier New"/>
                <a:ea typeface="Courier New"/>
                <a:cs typeface="Courier New"/>
                <a:sym typeface="Courier New"/>
              </a:rPr>
              <a:t>Expression</a:t>
            </a:r>
            <a:r>
              <a:rPr lang="en"/>
              <a:t> class has no other state or behavior; it's </a:t>
            </a:r>
            <a:r>
              <a:rPr lang="en" b="1" i="1">
                <a:solidFill>
                  <a:srgbClr val="FF0000"/>
                </a:solidFill>
              </a:rPr>
              <a:t>only </a:t>
            </a:r>
            <a:r>
              <a:rPr lang="en"/>
              <a:t>method is abstract.</a:t>
            </a:r>
            <a:endParaRPr/>
          </a:p>
          <a:p>
            <a:pPr marL="914400" lvl="1" indent="-298450" algn="l" rtl="0">
              <a:spcBef>
                <a:spcPts val="0"/>
              </a:spcBef>
              <a:spcAft>
                <a:spcPts val="0"/>
              </a:spcAft>
              <a:buSzPts val="1100"/>
              <a:buChar char="○"/>
            </a:pPr>
            <a:r>
              <a:rPr lang="en"/>
              <a:t>Unlike the </a:t>
            </a:r>
            <a:r>
              <a:rPr lang="en">
                <a:latin typeface="Courier New"/>
                <a:ea typeface="Courier New"/>
                <a:cs typeface="Courier New"/>
                <a:sym typeface="Courier New"/>
              </a:rPr>
              <a:t>Goat</a:t>
            </a:r>
            <a:r>
              <a:rPr lang="en"/>
              <a:t> class, which had a </a:t>
            </a:r>
            <a:r>
              <a:rPr lang="en" b="1" i="1">
                <a:solidFill>
                  <a:srgbClr val="FF0000"/>
                </a:solidFill>
              </a:rPr>
              <a:t>mix </a:t>
            </a:r>
            <a:r>
              <a:rPr lang="en"/>
              <a:t>of </a:t>
            </a:r>
            <a:r>
              <a:rPr lang="en" b="1" i="1">
                <a:solidFill>
                  <a:srgbClr val="FF0000"/>
                </a:solidFill>
              </a:rPr>
              <a:t>state</a:t>
            </a:r>
            <a:r>
              <a:rPr lang="en"/>
              <a:t>, and </a:t>
            </a:r>
            <a:r>
              <a:rPr lang="en" b="1" i="1">
                <a:solidFill>
                  <a:srgbClr val="FF0000"/>
                </a:solidFill>
              </a:rPr>
              <a:t>both</a:t>
            </a:r>
            <a:r>
              <a:rPr lang="en">
                <a:solidFill>
                  <a:srgbClr val="FF0000"/>
                </a:solidFill>
              </a:rPr>
              <a:t> </a:t>
            </a:r>
            <a:r>
              <a:rPr lang="en"/>
              <a:t>concrete and abstract behavior.</a:t>
            </a:r>
            <a:endParaRPr/>
          </a:p>
          <a:p>
            <a:pPr marL="457200" lvl="0" indent="-311150" algn="l" rtl="0">
              <a:spcBef>
                <a:spcPts val="0"/>
              </a:spcBef>
              <a:spcAft>
                <a:spcPts val="0"/>
              </a:spcAft>
              <a:buSzPts val="1300"/>
              <a:buChar char="●"/>
            </a:pPr>
            <a:r>
              <a:rPr lang="en"/>
              <a:t>In Java, there is an alternative to abstract classes when there is no state and </a:t>
            </a:r>
            <a:r>
              <a:rPr lang="en" b="1" i="1">
                <a:solidFill>
                  <a:srgbClr val="FF0000"/>
                </a:solidFill>
              </a:rPr>
              <a:t>only abstract behavior</a:t>
            </a:r>
            <a:r>
              <a:rPr lang="en"/>
              <a:t>: the </a:t>
            </a:r>
            <a:r>
              <a:rPr lang="en" b="1" i="1">
                <a:solidFill>
                  <a:srgbClr val="FF0000"/>
                </a:solidFill>
              </a:rPr>
              <a:t>interface</a:t>
            </a:r>
            <a:r>
              <a:rPr lang="en"/>
              <a:t>.</a:t>
            </a:r>
            <a:endParaRPr/>
          </a:p>
        </p:txBody>
      </p:sp>
      <p:sp>
        <p:nvSpPr>
          <p:cNvPr id="1297" name="Google Shape;1297;p128"/>
          <p:cNvSpPr txBox="1"/>
          <p:nvPr/>
        </p:nvSpPr>
        <p:spPr>
          <a:xfrm>
            <a:off x="5192250" y="2017375"/>
            <a:ext cx="3706500" cy="71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solidFill>
                  <a:srgbClr val="098658"/>
                </a:solidFill>
                <a:latin typeface="Consolas"/>
                <a:ea typeface="Consolas"/>
                <a:cs typeface="Consolas"/>
                <a:sym typeface="Consolas"/>
              </a:rPr>
              <a:t>1</a:t>
            </a: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public</a:t>
            </a: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latin typeface="Consolas"/>
                <a:ea typeface="Consolas"/>
                <a:cs typeface="Consolas"/>
                <a:sym typeface="Consolas"/>
              </a:rPr>
              <a:t> </a:t>
            </a:r>
            <a:r>
              <a:rPr lang="en" sz="1200">
                <a:solidFill>
                  <a:srgbClr val="267F99"/>
                </a:solidFill>
                <a:latin typeface="Consolas"/>
                <a:ea typeface="Consolas"/>
                <a:cs typeface="Consolas"/>
                <a:sym typeface="Consolas"/>
              </a:rPr>
              <a:t>Animal</a:t>
            </a:r>
            <a:r>
              <a:rPr lang="en" sz="1200">
                <a:latin typeface="Consolas"/>
                <a:ea typeface="Consolas"/>
                <a:cs typeface="Consolas"/>
                <a:sym typeface="Consolas"/>
              </a:rPr>
              <a:t> {</a:t>
            </a:r>
            <a:endParaRPr sz="1200">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98658"/>
                </a:solidFill>
                <a:latin typeface="Consolas"/>
                <a:ea typeface="Consolas"/>
                <a:cs typeface="Consolas"/>
                <a:sym typeface="Consolas"/>
              </a:rPr>
              <a:t>2</a:t>
            </a: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public</a:t>
            </a: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abstract</a:t>
            </a:r>
            <a:r>
              <a:rPr lang="en" sz="1200">
                <a:latin typeface="Consolas"/>
                <a:ea typeface="Consolas"/>
                <a:cs typeface="Consolas"/>
                <a:sym typeface="Consolas"/>
              </a:rPr>
              <a:t> </a:t>
            </a:r>
            <a:r>
              <a:rPr lang="en" sz="1200">
                <a:solidFill>
                  <a:srgbClr val="267F99"/>
                </a:solidFill>
                <a:latin typeface="Consolas"/>
                <a:ea typeface="Consolas"/>
                <a:cs typeface="Consolas"/>
                <a:sym typeface="Consolas"/>
              </a:rPr>
              <a:t>void</a:t>
            </a:r>
            <a:r>
              <a:rPr lang="en" sz="1200">
                <a:latin typeface="Consolas"/>
                <a:ea typeface="Consolas"/>
                <a:cs typeface="Consolas"/>
                <a:sym typeface="Consolas"/>
              </a:rPr>
              <a:t> </a:t>
            </a:r>
            <a:r>
              <a:rPr lang="en" sz="1200">
                <a:solidFill>
                  <a:srgbClr val="795E26"/>
                </a:solidFill>
                <a:latin typeface="Consolas"/>
                <a:ea typeface="Consolas"/>
                <a:cs typeface="Consolas"/>
                <a:sym typeface="Consolas"/>
              </a:rPr>
              <a:t>speak</a:t>
            </a:r>
            <a:r>
              <a:rPr lang="en" sz="1200">
                <a:latin typeface="Consolas"/>
                <a:ea typeface="Consolas"/>
                <a:cs typeface="Consolas"/>
                <a:sym typeface="Consolas"/>
              </a:rPr>
              <a:t>();</a:t>
            </a:r>
            <a:endParaRPr sz="1200">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98658"/>
                </a:solidFill>
                <a:latin typeface="Consolas"/>
                <a:ea typeface="Consolas"/>
                <a:cs typeface="Consolas"/>
                <a:sym typeface="Consolas"/>
              </a:rPr>
              <a:t>3</a:t>
            </a:r>
            <a:r>
              <a:rPr lang="en" sz="1200">
                <a:latin typeface="Consolas"/>
                <a:ea typeface="Consolas"/>
                <a:cs typeface="Consolas"/>
                <a:sym typeface="Consolas"/>
              </a:rPr>
              <a:t>  }</a:t>
            </a:r>
            <a:endParaRPr sz="1200">
              <a:solidFill>
                <a:srgbClr val="999999"/>
              </a:solidFill>
              <a:latin typeface="Consolas"/>
              <a:ea typeface="Consolas"/>
              <a:cs typeface="Consolas"/>
              <a:sym typeface="Consolas"/>
            </a:endParaRPr>
          </a:p>
        </p:txBody>
      </p:sp>
      <p:sp>
        <p:nvSpPr>
          <p:cNvPr id="1298" name="Google Shape;1298;p128"/>
          <p:cNvSpPr/>
          <p:nvPr/>
        </p:nvSpPr>
        <p:spPr>
          <a:xfrm>
            <a:off x="7609325" y="1783796"/>
            <a:ext cx="439125" cy="507613"/>
          </a:xfrm>
          <a:custGeom>
            <a:avLst/>
            <a:gdLst/>
            <a:ahLst/>
            <a:cxnLst/>
            <a:rect l="l" t="t" r="r" b="b"/>
            <a:pathLst>
              <a:path w="17565" h="15075" extrusionOk="0">
                <a:moveTo>
                  <a:pt x="0" y="0"/>
                </a:moveTo>
                <a:cubicBezTo>
                  <a:pt x="2858" y="1478"/>
                  <a:pt x="15125" y="6356"/>
                  <a:pt x="17145" y="8868"/>
                </a:cubicBezTo>
                <a:cubicBezTo>
                  <a:pt x="19165" y="11381"/>
                  <a:pt x="12958" y="14041"/>
                  <a:pt x="12120" y="1507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299" name="Google Shape;1299;p128"/>
          <p:cNvSpPr txBox="1"/>
          <p:nvPr/>
        </p:nvSpPr>
        <p:spPr>
          <a:xfrm>
            <a:off x="5192250" y="3410800"/>
            <a:ext cx="3706500" cy="809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1</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class</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Dog</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implements</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Canus</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Animal</a:t>
            </a:r>
            <a:r>
              <a:rPr lang="en" sz="1100">
                <a:latin typeface="Consolas"/>
                <a:ea typeface="Consolas"/>
                <a:cs typeface="Consolas"/>
                <a:sym typeface="Consolas"/>
              </a:rPr>
              <a:t> {</a:t>
            </a:r>
            <a:endParaRPr sz="1100">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2</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void</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speak</a:t>
            </a:r>
            <a:r>
              <a:rPr lang="en" sz="1100">
                <a:latin typeface="Consolas"/>
                <a:ea typeface="Consolas"/>
                <a:cs typeface="Consolas"/>
                <a:sym typeface="Consolas"/>
              </a:rPr>
              <a:t>() { ... }</a:t>
            </a:r>
            <a:endParaRPr sz="1100">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3</a:t>
            </a:r>
            <a:r>
              <a:rPr lang="en" sz="1100">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latin typeface="Consolas"/>
                <a:ea typeface="Consolas"/>
                <a:cs typeface="Consolas"/>
                <a:sym typeface="Consolas"/>
              </a:rPr>
              <a:t> </a:t>
            </a:r>
            <a:r>
              <a:rPr lang="en" sz="1100">
                <a:solidFill>
                  <a:srgbClr val="267F99"/>
                </a:solidFill>
                <a:latin typeface="Consolas"/>
                <a:ea typeface="Consolas"/>
                <a:cs typeface="Consolas"/>
                <a:sym typeface="Consolas"/>
              </a:rPr>
              <a:t>void</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buryBone</a:t>
            </a:r>
            <a:r>
              <a:rPr lang="en" sz="1100">
                <a:latin typeface="Consolas"/>
                <a:ea typeface="Consolas"/>
                <a:cs typeface="Consolas"/>
                <a:sym typeface="Consolas"/>
              </a:rPr>
              <a:t>() { ... }</a:t>
            </a:r>
            <a:endParaRPr sz="1100">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4</a:t>
            </a:r>
            <a:r>
              <a:rPr lang="en" sz="1100">
                <a:latin typeface="Consolas"/>
                <a:ea typeface="Consolas"/>
                <a:cs typeface="Consolas"/>
                <a:sym typeface="Consolas"/>
              </a:rPr>
              <a:t> }</a:t>
            </a:r>
            <a:endParaRPr sz="1100">
              <a:solidFill>
                <a:srgbClr val="999999"/>
              </a:solidFill>
              <a:latin typeface="Consolas"/>
              <a:ea typeface="Consolas"/>
              <a:cs typeface="Consolas"/>
              <a:sym typeface="Consolas"/>
            </a:endParaRPr>
          </a:p>
        </p:txBody>
      </p:sp>
      <p:sp>
        <p:nvSpPr>
          <p:cNvPr id="1300" name="Google Shape;1300;p128"/>
          <p:cNvSpPr/>
          <p:nvPr/>
        </p:nvSpPr>
        <p:spPr>
          <a:xfrm>
            <a:off x="7124050" y="3178230"/>
            <a:ext cx="284475" cy="347325"/>
          </a:xfrm>
          <a:custGeom>
            <a:avLst/>
            <a:gdLst/>
            <a:ahLst/>
            <a:cxnLst/>
            <a:rect l="l" t="t" r="r" b="b"/>
            <a:pathLst>
              <a:path w="11379" h="13893" extrusionOk="0">
                <a:moveTo>
                  <a:pt x="0" y="0"/>
                </a:moveTo>
                <a:cubicBezTo>
                  <a:pt x="1872" y="739"/>
                  <a:pt x="10248" y="2119"/>
                  <a:pt x="11233" y="4434"/>
                </a:cubicBezTo>
                <a:cubicBezTo>
                  <a:pt x="12218" y="6750"/>
                  <a:pt x="6799" y="12317"/>
                  <a:pt x="5912" y="1389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01" name="Google Shape;1301;p128"/>
          <p:cNvSpPr/>
          <p:nvPr/>
        </p:nvSpPr>
        <p:spPr>
          <a:xfrm>
            <a:off x="7597000" y="3259035"/>
            <a:ext cx="301150" cy="273425"/>
          </a:xfrm>
          <a:custGeom>
            <a:avLst/>
            <a:gdLst/>
            <a:ahLst/>
            <a:cxnLst/>
            <a:rect l="l" t="t" r="r" b="b"/>
            <a:pathLst>
              <a:path w="12046" h="10937" extrusionOk="0">
                <a:moveTo>
                  <a:pt x="0" y="0"/>
                </a:moveTo>
                <a:cubicBezTo>
                  <a:pt x="1922" y="690"/>
                  <a:pt x="9903" y="2315"/>
                  <a:pt x="11529" y="4138"/>
                </a:cubicBezTo>
                <a:cubicBezTo>
                  <a:pt x="13155" y="5961"/>
                  <a:pt x="10051" y="9804"/>
                  <a:pt x="9755" y="10937"/>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02" name="Google Shape;1302;p128"/>
          <p:cNvSpPr/>
          <p:nvPr/>
        </p:nvSpPr>
        <p:spPr>
          <a:xfrm>
            <a:off x="7648750" y="3259035"/>
            <a:ext cx="802500" cy="273423"/>
          </a:xfrm>
          <a:custGeom>
            <a:avLst/>
            <a:gdLst/>
            <a:ahLst/>
            <a:cxnLst/>
            <a:rect l="l" t="t" r="r" b="b"/>
            <a:pathLst>
              <a:path w="32100" h="13302" extrusionOk="0">
                <a:moveTo>
                  <a:pt x="0" y="0"/>
                </a:moveTo>
                <a:cubicBezTo>
                  <a:pt x="4877" y="788"/>
                  <a:pt x="24091" y="2513"/>
                  <a:pt x="29264" y="4730"/>
                </a:cubicBezTo>
                <a:cubicBezTo>
                  <a:pt x="34437" y="6947"/>
                  <a:pt x="30742" y="11873"/>
                  <a:pt x="31038" y="13302"/>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03" name="Google Shape;1303;p128"/>
          <p:cNvSpPr txBox="1">
            <a:spLocks noGrp="1"/>
          </p:cNvSpPr>
          <p:nvPr>
            <p:ph type="body" idx="3"/>
          </p:nvPr>
        </p:nvSpPr>
        <p:spPr>
          <a:xfrm>
            <a:off x="5192250" y="2807863"/>
            <a:ext cx="3706500" cy="5076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class may only extend </a:t>
            </a:r>
            <a:r>
              <a:rPr lang="en" sz="1200" b="1" i="1">
                <a:solidFill>
                  <a:srgbClr val="FF0000"/>
                </a:solidFill>
              </a:rPr>
              <a:t>one</a:t>
            </a:r>
            <a:r>
              <a:rPr lang="en" sz="1200">
                <a:solidFill>
                  <a:srgbClr val="FF0000"/>
                </a:solidFill>
              </a:rPr>
              <a:t> </a:t>
            </a:r>
            <a:r>
              <a:rPr lang="en" sz="1200"/>
              <a:t>class, but may </a:t>
            </a:r>
            <a:r>
              <a:rPr lang="en" sz="1200" b="1" i="1">
                <a:solidFill>
                  <a:srgbClr val="FF0000"/>
                </a:solidFill>
              </a:rPr>
              <a:t>implement</a:t>
            </a:r>
            <a:r>
              <a:rPr lang="en" sz="1200">
                <a:solidFill>
                  <a:srgbClr val="FF0000"/>
                </a:solidFill>
              </a:rPr>
              <a:t> </a:t>
            </a:r>
            <a:r>
              <a:rPr lang="en" sz="1200"/>
              <a:t>many interfaces.</a:t>
            </a:r>
            <a:endParaRPr sz="1200"/>
          </a:p>
        </p:txBody>
      </p:sp>
      <p:sp>
        <p:nvSpPr>
          <p:cNvPr id="1304" name="Google Shape;1304;p128"/>
          <p:cNvSpPr txBox="1">
            <a:spLocks noGrp="1"/>
          </p:cNvSpPr>
          <p:nvPr>
            <p:ph type="body" idx="3"/>
          </p:nvPr>
        </p:nvSpPr>
        <p:spPr>
          <a:xfrm>
            <a:off x="5192250" y="1425445"/>
            <a:ext cx="3706500" cy="5076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Java </a:t>
            </a:r>
            <a:r>
              <a:rPr lang="en" sz="1200" b="1" i="1">
                <a:solidFill>
                  <a:srgbClr val="FF0000"/>
                </a:solidFill>
              </a:rPr>
              <a:t>interface</a:t>
            </a:r>
            <a:r>
              <a:rPr lang="en" sz="1200"/>
              <a:t> is very much like an abstract class that </a:t>
            </a:r>
            <a:r>
              <a:rPr lang="en" sz="1200" b="1" i="1">
                <a:solidFill>
                  <a:srgbClr val="FF0000"/>
                </a:solidFill>
              </a:rPr>
              <a:t>only</a:t>
            </a:r>
            <a:r>
              <a:rPr lang="en" sz="1200">
                <a:solidFill>
                  <a:srgbClr val="FF0000"/>
                </a:solidFill>
              </a:rPr>
              <a:t> </a:t>
            </a:r>
            <a:r>
              <a:rPr lang="en" sz="1200"/>
              <a:t>has abstract methods.</a:t>
            </a:r>
            <a:endParaRPr sz="1200"/>
          </a:p>
        </p:txBody>
      </p:sp>
      <p:sp>
        <p:nvSpPr>
          <p:cNvPr id="1305" name="Google Shape;1305;p128"/>
          <p:cNvSpPr/>
          <p:nvPr/>
        </p:nvSpPr>
        <p:spPr>
          <a:xfrm>
            <a:off x="4898100" y="931145"/>
            <a:ext cx="1220875" cy="1285875"/>
          </a:xfrm>
          <a:custGeom>
            <a:avLst/>
            <a:gdLst/>
            <a:ahLst/>
            <a:cxnLst/>
            <a:rect l="l" t="t" r="r" b="b"/>
            <a:pathLst>
              <a:path w="48835" h="51435" extrusionOk="0">
                <a:moveTo>
                  <a:pt x="14545" y="0"/>
                </a:moveTo>
                <a:cubicBezTo>
                  <a:pt x="12328" y="6602"/>
                  <a:pt x="-4472" y="31039"/>
                  <a:pt x="1243" y="39611"/>
                </a:cubicBezTo>
                <a:cubicBezTo>
                  <a:pt x="6958" y="48184"/>
                  <a:pt x="40903" y="49464"/>
                  <a:pt x="48835" y="5143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06" name="Google Shape;1306;p128"/>
          <p:cNvSpPr txBox="1">
            <a:spLocks noGrp="1"/>
          </p:cNvSpPr>
          <p:nvPr>
            <p:ph type="body" idx="3"/>
          </p:nvPr>
        </p:nvSpPr>
        <p:spPr>
          <a:xfrm>
            <a:off x="5192250" y="722141"/>
            <a:ext cx="3706500" cy="638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Like a class, an interface is declared in a </a:t>
            </a:r>
            <a:r>
              <a:rPr lang="en" sz="1200">
                <a:latin typeface="Courier New"/>
                <a:ea typeface="Courier New"/>
                <a:cs typeface="Courier New"/>
                <a:sym typeface="Courier New"/>
              </a:rPr>
              <a:t>.java</a:t>
            </a:r>
            <a:r>
              <a:rPr lang="en" sz="1200"/>
              <a:t> file with the same name, but uses the </a:t>
            </a:r>
            <a:r>
              <a:rPr lang="en" sz="1200">
                <a:solidFill>
                  <a:srgbClr val="FF0000"/>
                </a:solidFill>
                <a:latin typeface="Courier New"/>
                <a:ea typeface="Courier New"/>
                <a:cs typeface="Courier New"/>
                <a:sym typeface="Courier New"/>
              </a:rPr>
              <a:t>interface</a:t>
            </a:r>
            <a:r>
              <a:rPr lang="en" sz="1200">
                <a:solidFill>
                  <a:srgbClr val="FF0000"/>
                </a:solidFill>
              </a:rPr>
              <a:t> </a:t>
            </a:r>
            <a:r>
              <a:rPr lang="en" sz="1200" b="1" i="1">
                <a:solidFill>
                  <a:srgbClr val="FF0000"/>
                </a:solidFill>
              </a:rPr>
              <a:t>keyword </a:t>
            </a:r>
            <a:r>
              <a:rPr lang="en" sz="1200"/>
              <a:t>(rather than </a:t>
            </a:r>
            <a:r>
              <a:rPr lang="en" sz="1200">
                <a:latin typeface="Courier New"/>
                <a:ea typeface="Courier New"/>
                <a:cs typeface="Courier New"/>
                <a:sym typeface="Courier New"/>
              </a:rPr>
              <a:t>class</a:t>
            </a:r>
            <a:r>
              <a:rPr lang="en" sz="1200"/>
              <a:t>).</a:t>
            </a:r>
            <a:endParaRPr sz="1200"/>
          </a:p>
        </p:txBody>
      </p:sp>
      <p:sp>
        <p:nvSpPr>
          <p:cNvPr id="1307" name="Google Shape;1307;p128"/>
          <p:cNvSpPr/>
          <p:nvPr/>
        </p:nvSpPr>
        <p:spPr>
          <a:xfrm>
            <a:off x="8025625" y="3946300"/>
            <a:ext cx="447125" cy="480350"/>
          </a:xfrm>
          <a:custGeom>
            <a:avLst/>
            <a:gdLst/>
            <a:ahLst/>
            <a:cxnLst/>
            <a:rect l="l" t="t" r="r" b="b"/>
            <a:pathLst>
              <a:path w="17885" h="19214" extrusionOk="0">
                <a:moveTo>
                  <a:pt x="7095" y="19214"/>
                </a:moveTo>
                <a:cubicBezTo>
                  <a:pt x="8869" y="16899"/>
                  <a:pt x="18920" y="8523"/>
                  <a:pt x="17737" y="5321"/>
                </a:cubicBezTo>
                <a:cubicBezTo>
                  <a:pt x="16555" y="2119"/>
                  <a:pt x="2956" y="887"/>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08" name="Google Shape;1308;p128"/>
          <p:cNvSpPr/>
          <p:nvPr/>
        </p:nvSpPr>
        <p:spPr>
          <a:xfrm>
            <a:off x="7796550" y="3724600"/>
            <a:ext cx="1001975" cy="687275"/>
          </a:xfrm>
          <a:custGeom>
            <a:avLst/>
            <a:gdLst/>
            <a:ahLst/>
            <a:cxnLst/>
            <a:rect l="l" t="t" r="r" b="b"/>
            <a:pathLst>
              <a:path w="40079" h="27491" extrusionOk="0">
                <a:moveTo>
                  <a:pt x="21283" y="27491"/>
                </a:moveTo>
                <a:cubicBezTo>
                  <a:pt x="24338" y="24289"/>
                  <a:pt x="43157" y="12859"/>
                  <a:pt x="39610" y="8277"/>
                </a:cubicBezTo>
                <a:cubicBezTo>
                  <a:pt x="36063" y="3695"/>
                  <a:pt x="6602" y="1380"/>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09" name="Google Shape;1309;p128"/>
          <p:cNvSpPr txBox="1">
            <a:spLocks noGrp="1"/>
          </p:cNvSpPr>
          <p:nvPr>
            <p:ph type="body" idx="3"/>
          </p:nvPr>
        </p:nvSpPr>
        <p:spPr>
          <a:xfrm>
            <a:off x="5192250" y="4315213"/>
            <a:ext cx="3706500" cy="5076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The class </a:t>
            </a:r>
            <a:r>
              <a:rPr lang="en" sz="1200" b="1" i="1">
                <a:solidFill>
                  <a:srgbClr val="FF0000"/>
                </a:solidFill>
              </a:rPr>
              <a:t>must</a:t>
            </a:r>
            <a:r>
              <a:rPr lang="en" sz="1200">
                <a:solidFill>
                  <a:srgbClr val="FF0000"/>
                </a:solidFill>
              </a:rPr>
              <a:t> </a:t>
            </a:r>
            <a:r>
              <a:rPr lang="en" sz="1200"/>
              <a:t>implement </a:t>
            </a:r>
            <a:r>
              <a:rPr lang="en" sz="1200" b="1" i="1">
                <a:solidFill>
                  <a:srgbClr val="FF0000"/>
                </a:solidFill>
              </a:rPr>
              <a:t>all</a:t>
            </a:r>
            <a:r>
              <a:rPr lang="en" sz="1200">
                <a:solidFill>
                  <a:srgbClr val="FF0000"/>
                </a:solidFill>
              </a:rPr>
              <a:t> </a:t>
            </a:r>
            <a:r>
              <a:rPr lang="en" sz="1200"/>
              <a:t>of the abstract methods in </a:t>
            </a:r>
            <a:r>
              <a:rPr lang="en" sz="1200" b="1" i="1">
                <a:solidFill>
                  <a:srgbClr val="FF0000"/>
                </a:solidFill>
              </a:rPr>
              <a:t>all</a:t>
            </a:r>
            <a:r>
              <a:rPr lang="en" sz="1200">
                <a:solidFill>
                  <a:srgbClr val="FF0000"/>
                </a:solidFill>
              </a:rPr>
              <a:t> </a:t>
            </a:r>
            <a:r>
              <a:rPr lang="en" sz="1200"/>
              <a:t>of the interfaces that it implements.</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6"/>
                                        </p:tgtEl>
                                        <p:attrNameLst>
                                          <p:attrName>style.visibility</p:attrName>
                                        </p:attrNameLst>
                                      </p:cBhvr>
                                      <p:to>
                                        <p:strVal val="visible"/>
                                      </p:to>
                                    </p:set>
                                    <p:animEffect transition="in" filter="fade">
                                      <p:cBhvr>
                                        <p:cTn id="7" dur="1000"/>
                                        <p:tgtEl>
                                          <p:spTgt spid="1306"/>
                                        </p:tgtEl>
                                      </p:cBhvr>
                                    </p:animEffect>
                                  </p:childTnLst>
                                </p:cTn>
                              </p:par>
                              <p:par>
                                <p:cTn id="8" presetID="10" presetClass="entr" presetSubtype="0" fill="hold" nodeType="withEffect">
                                  <p:stCondLst>
                                    <p:cond delay="0"/>
                                  </p:stCondLst>
                                  <p:childTnLst>
                                    <p:set>
                                      <p:cBhvr>
                                        <p:cTn id="9" dur="1" fill="hold">
                                          <p:stCondLst>
                                            <p:cond delay="0"/>
                                          </p:stCondLst>
                                        </p:cTn>
                                        <p:tgtEl>
                                          <p:spTgt spid="1297"/>
                                        </p:tgtEl>
                                        <p:attrNameLst>
                                          <p:attrName>style.visibility</p:attrName>
                                        </p:attrNameLst>
                                      </p:cBhvr>
                                      <p:to>
                                        <p:strVal val="visible"/>
                                      </p:to>
                                    </p:set>
                                    <p:animEffect transition="in" filter="fade">
                                      <p:cBhvr>
                                        <p:cTn id="10" dur="1000"/>
                                        <p:tgtEl>
                                          <p:spTgt spid="1297"/>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1305"/>
                                        </p:tgtEl>
                                        <p:attrNameLst>
                                          <p:attrName>style.visibility</p:attrName>
                                        </p:attrNameLst>
                                      </p:cBhvr>
                                      <p:to>
                                        <p:strVal val="visible"/>
                                      </p:to>
                                    </p:set>
                                    <p:animEffect transition="in" filter="fade">
                                      <p:cBhvr>
                                        <p:cTn id="14" dur="1000"/>
                                        <p:tgtEl>
                                          <p:spTgt spid="130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304"/>
                                        </p:tgtEl>
                                        <p:attrNameLst>
                                          <p:attrName>style.visibility</p:attrName>
                                        </p:attrNameLst>
                                      </p:cBhvr>
                                      <p:to>
                                        <p:strVal val="visible"/>
                                      </p:to>
                                    </p:set>
                                    <p:animEffect transition="in" filter="fade">
                                      <p:cBhvr>
                                        <p:cTn id="19" dur="1000"/>
                                        <p:tgtEl>
                                          <p:spTgt spid="1304"/>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298"/>
                                        </p:tgtEl>
                                        <p:attrNameLst>
                                          <p:attrName>style.visibility</p:attrName>
                                        </p:attrNameLst>
                                      </p:cBhvr>
                                      <p:to>
                                        <p:strVal val="visible"/>
                                      </p:to>
                                    </p:set>
                                    <p:animEffect transition="in" filter="fade">
                                      <p:cBhvr>
                                        <p:cTn id="23" dur="1000"/>
                                        <p:tgtEl>
                                          <p:spTgt spid="129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03"/>
                                        </p:tgtEl>
                                        <p:attrNameLst>
                                          <p:attrName>style.visibility</p:attrName>
                                        </p:attrNameLst>
                                      </p:cBhvr>
                                      <p:to>
                                        <p:strVal val="visible"/>
                                      </p:to>
                                    </p:set>
                                    <p:animEffect transition="in" filter="fade">
                                      <p:cBhvr>
                                        <p:cTn id="28" dur="1000"/>
                                        <p:tgtEl>
                                          <p:spTgt spid="1303"/>
                                        </p:tgtEl>
                                      </p:cBhvr>
                                    </p:animEffect>
                                  </p:childTnLst>
                                </p:cTn>
                              </p:par>
                              <p:par>
                                <p:cTn id="29" presetID="10" presetClass="entr" presetSubtype="0" fill="hold" nodeType="withEffect">
                                  <p:stCondLst>
                                    <p:cond delay="0"/>
                                  </p:stCondLst>
                                  <p:childTnLst>
                                    <p:set>
                                      <p:cBhvr>
                                        <p:cTn id="30" dur="1" fill="hold">
                                          <p:stCondLst>
                                            <p:cond delay="0"/>
                                          </p:stCondLst>
                                        </p:cTn>
                                        <p:tgtEl>
                                          <p:spTgt spid="1299"/>
                                        </p:tgtEl>
                                        <p:attrNameLst>
                                          <p:attrName>style.visibility</p:attrName>
                                        </p:attrNameLst>
                                      </p:cBhvr>
                                      <p:to>
                                        <p:strVal val="visible"/>
                                      </p:to>
                                    </p:set>
                                    <p:animEffect transition="in" filter="fade">
                                      <p:cBhvr>
                                        <p:cTn id="31" dur="1000"/>
                                        <p:tgtEl>
                                          <p:spTgt spid="1299"/>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1300"/>
                                        </p:tgtEl>
                                        <p:attrNameLst>
                                          <p:attrName>style.visibility</p:attrName>
                                        </p:attrNameLst>
                                      </p:cBhvr>
                                      <p:to>
                                        <p:strVal val="visible"/>
                                      </p:to>
                                    </p:set>
                                    <p:animEffect transition="in" filter="fade">
                                      <p:cBhvr>
                                        <p:cTn id="35" dur="1100"/>
                                        <p:tgtEl>
                                          <p:spTgt spid="1300"/>
                                        </p:tgtEl>
                                      </p:cBhvr>
                                    </p:animEffect>
                                  </p:childTnLst>
                                </p:cTn>
                              </p:par>
                            </p:childTnLst>
                          </p:cTn>
                        </p:par>
                        <p:par>
                          <p:cTn id="36" fill="hold">
                            <p:stCondLst>
                              <p:cond delay="2100"/>
                            </p:stCondLst>
                            <p:childTnLst>
                              <p:par>
                                <p:cTn id="37" presetID="10" presetClass="entr" presetSubtype="0" fill="hold" nodeType="afterEffect">
                                  <p:stCondLst>
                                    <p:cond delay="0"/>
                                  </p:stCondLst>
                                  <p:childTnLst>
                                    <p:set>
                                      <p:cBhvr>
                                        <p:cTn id="38" dur="1" fill="hold">
                                          <p:stCondLst>
                                            <p:cond delay="0"/>
                                          </p:stCondLst>
                                        </p:cTn>
                                        <p:tgtEl>
                                          <p:spTgt spid="1301"/>
                                        </p:tgtEl>
                                        <p:attrNameLst>
                                          <p:attrName>style.visibility</p:attrName>
                                        </p:attrNameLst>
                                      </p:cBhvr>
                                      <p:to>
                                        <p:strVal val="visible"/>
                                      </p:to>
                                    </p:set>
                                    <p:animEffect transition="in" filter="fade">
                                      <p:cBhvr>
                                        <p:cTn id="39" dur="1000"/>
                                        <p:tgtEl>
                                          <p:spTgt spid="1301"/>
                                        </p:tgtEl>
                                      </p:cBhvr>
                                    </p:animEffect>
                                  </p:childTnLst>
                                </p:cTn>
                              </p:par>
                              <p:par>
                                <p:cTn id="40" presetID="10" presetClass="entr" presetSubtype="0" fill="hold" nodeType="withEffect">
                                  <p:stCondLst>
                                    <p:cond delay="0"/>
                                  </p:stCondLst>
                                  <p:childTnLst>
                                    <p:set>
                                      <p:cBhvr>
                                        <p:cTn id="41" dur="1" fill="hold">
                                          <p:stCondLst>
                                            <p:cond delay="0"/>
                                          </p:stCondLst>
                                        </p:cTn>
                                        <p:tgtEl>
                                          <p:spTgt spid="1302"/>
                                        </p:tgtEl>
                                        <p:attrNameLst>
                                          <p:attrName>style.visibility</p:attrName>
                                        </p:attrNameLst>
                                      </p:cBhvr>
                                      <p:to>
                                        <p:strVal val="visible"/>
                                      </p:to>
                                    </p:set>
                                    <p:animEffect transition="in" filter="fade">
                                      <p:cBhvr>
                                        <p:cTn id="42" dur="1000"/>
                                        <p:tgtEl>
                                          <p:spTgt spid="130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09"/>
                                        </p:tgtEl>
                                        <p:attrNameLst>
                                          <p:attrName>style.visibility</p:attrName>
                                        </p:attrNameLst>
                                      </p:cBhvr>
                                      <p:to>
                                        <p:strVal val="visible"/>
                                      </p:to>
                                    </p:set>
                                    <p:animEffect transition="in" filter="fade">
                                      <p:cBhvr>
                                        <p:cTn id="47" dur="1000"/>
                                        <p:tgtEl>
                                          <p:spTgt spid="1309"/>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1308"/>
                                        </p:tgtEl>
                                        <p:attrNameLst>
                                          <p:attrName>style.visibility</p:attrName>
                                        </p:attrNameLst>
                                      </p:cBhvr>
                                      <p:to>
                                        <p:strVal val="visible"/>
                                      </p:to>
                                    </p:set>
                                    <p:animEffect transition="in" filter="fade">
                                      <p:cBhvr>
                                        <p:cTn id="51" dur="1000"/>
                                        <p:tgtEl>
                                          <p:spTgt spid="1308"/>
                                        </p:tgtEl>
                                      </p:cBhvr>
                                    </p:animEffect>
                                  </p:childTnLst>
                                </p:cTn>
                              </p:par>
                            </p:childTnLst>
                          </p:cTn>
                        </p:par>
                        <p:par>
                          <p:cTn id="52" fill="hold">
                            <p:stCondLst>
                              <p:cond delay="2000"/>
                            </p:stCondLst>
                            <p:childTnLst>
                              <p:par>
                                <p:cTn id="53" presetID="10" presetClass="entr" presetSubtype="0" fill="hold" nodeType="afterEffect">
                                  <p:stCondLst>
                                    <p:cond delay="0"/>
                                  </p:stCondLst>
                                  <p:childTnLst>
                                    <p:set>
                                      <p:cBhvr>
                                        <p:cTn id="54" dur="1" fill="hold">
                                          <p:stCondLst>
                                            <p:cond delay="0"/>
                                          </p:stCondLst>
                                        </p:cTn>
                                        <p:tgtEl>
                                          <p:spTgt spid="1307"/>
                                        </p:tgtEl>
                                        <p:attrNameLst>
                                          <p:attrName>style.visibility</p:attrName>
                                        </p:attrNameLst>
                                      </p:cBhvr>
                                      <p:to>
                                        <p:strVal val="visible"/>
                                      </p:to>
                                    </p:set>
                                    <p:animEffect transition="in" filter="fade">
                                      <p:cBhvr>
                                        <p:cTn id="55" dur="1000"/>
                                        <p:tgtEl>
                                          <p:spTgt spid="1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313"/>
        <p:cNvGrpSpPr/>
        <p:nvPr/>
      </p:nvGrpSpPr>
      <p:grpSpPr>
        <a:xfrm>
          <a:off x="0" y="0"/>
          <a:ext cx="0" cy="0"/>
          <a:chOff x="0" y="0"/>
          <a:chExt cx="0" cy="0"/>
        </a:xfrm>
      </p:grpSpPr>
      <p:sp>
        <p:nvSpPr>
          <p:cNvPr id="1314" name="Google Shape;1314;p1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67</a:t>
            </a:fld>
            <a:endParaRPr/>
          </a:p>
        </p:txBody>
      </p:sp>
      <p:sp>
        <p:nvSpPr>
          <p:cNvPr id="1315" name="Google Shape;1315;p129"/>
          <p:cNvSpPr txBox="1">
            <a:spLocks noGrp="1"/>
          </p:cNvSpPr>
          <p:nvPr>
            <p:ph type="title"/>
          </p:nvPr>
        </p:nvSpPr>
        <p:spPr>
          <a:xfrm>
            <a:off x="3117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 Interfaces</a:t>
            </a:r>
            <a:endParaRPr/>
          </a:p>
        </p:txBody>
      </p:sp>
      <p:sp>
        <p:nvSpPr>
          <p:cNvPr id="1316" name="Google Shape;1316;p129"/>
          <p:cNvSpPr txBox="1">
            <a:spLocks noGrp="1"/>
          </p:cNvSpPr>
          <p:nvPr>
            <p:ph type="body" idx="1"/>
          </p:nvPr>
        </p:nvSpPr>
        <p:spPr>
          <a:xfrm>
            <a:off x="4341800" y="119925"/>
            <a:ext cx="4487700" cy="4854000"/>
          </a:xfrm>
          <a:prstGeom prst="rect">
            <a:avLst/>
          </a:prstGeom>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a:t>A Java </a:t>
            </a:r>
            <a:r>
              <a:rPr lang="en" b="1" i="1">
                <a:solidFill>
                  <a:srgbClr val="FF0000"/>
                </a:solidFill>
              </a:rPr>
              <a:t>interface </a:t>
            </a:r>
            <a:r>
              <a:rPr lang="en"/>
              <a:t>is very much </a:t>
            </a:r>
            <a:r>
              <a:rPr lang="en" b="1" i="1">
                <a:solidFill>
                  <a:srgbClr val="FF0000"/>
                </a:solidFill>
              </a:rPr>
              <a:t>like </a:t>
            </a:r>
            <a:r>
              <a:rPr lang="en"/>
              <a:t>an abstract class that contains </a:t>
            </a:r>
            <a:r>
              <a:rPr lang="en" b="1" i="1">
                <a:solidFill>
                  <a:srgbClr val="FF0000"/>
                </a:solidFill>
              </a:rPr>
              <a:t>only</a:t>
            </a:r>
            <a:r>
              <a:rPr lang="en">
                <a:solidFill>
                  <a:srgbClr val="FF0000"/>
                </a:solidFill>
              </a:rPr>
              <a:t> </a:t>
            </a:r>
            <a:r>
              <a:rPr lang="en"/>
              <a:t>abstract methods.</a:t>
            </a:r>
            <a:endParaRPr/>
          </a:p>
          <a:p>
            <a:pPr marL="914400" lvl="1" indent="-298450" algn="l" rtl="0">
              <a:lnSpc>
                <a:spcPct val="100000"/>
              </a:lnSpc>
              <a:spcBef>
                <a:spcPts val="0"/>
              </a:spcBef>
              <a:spcAft>
                <a:spcPts val="0"/>
              </a:spcAft>
              <a:buSzPts val="1100"/>
              <a:buChar char="○"/>
            </a:pPr>
            <a:r>
              <a:rPr lang="en"/>
              <a:t>An interface </a:t>
            </a:r>
            <a:r>
              <a:rPr lang="en" b="1" i="1">
                <a:solidFill>
                  <a:srgbClr val="FF0000"/>
                </a:solidFill>
              </a:rPr>
              <a:t>may</a:t>
            </a:r>
            <a:r>
              <a:rPr lang="en">
                <a:solidFill>
                  <a:srgbClr val="FF0000"/>
                </a:solidFill>
              </a:rPr>
              <a:t> </a:t>
            </a:r>
            <a:r>
              <a:rPr lang="en"/>
              <a:t>include </a:t>
            </a:r>
            <a:r>
              <a:rPr lang="en">
                <a:latin typeface="Courier New"/>
                <a:ea typeface="Courier New"/>
                <a:cs typeface="Courier New"/>
                <a:sym typeface="Courier New"/>
              </a:rPr>
              <a:t>static</a:t>
            </a:r>
            <a:r>
              <a:rPr lang="en"/>
              <a:t> state and behavior as well.</a:t>
            </a:r>
            <a:endParaRPr/>
          </a:p>
          <a:p>
            <a:pPr marL="457200" lvl="0" indent="-311150" algn="l" rtl="0">
              <a:lnSpc>
                <a:spcPct val="100000"/>
              </a:lnSpc>
              <a:spcBef>
                <a:spcPts val="0"/>
              </a:spcBef>
              <a:spcAft>
                <a:spcPts val="0"/>
              </a:spcAft>
              <a:buSzPts val="1300"/>
              <a:buChar char="●"/>
            </a:pPr>
            <a:r>
              <a:rPr lang="en"/>
              <a:t>An interface </a:t>
            </a:r>
            <a:r>
              <a:rPr lang="en" b="1" i="1">
                <a:solidFill>
                  <a:srgbClr val="FF0000"/>
                </a:solidFill>
              </a:rPr>
              <a:t>may not</a:t>
            </a:r>
            <a:r>
              <a:rPr lang="en"/>
              <a:t>:</a:t>
            </a:r>
            <a:endParaRPr/>
          </a:p>
          <a:p>
            <a:pPr marL="914400" lvl="1" indent="-298450" algn="l" rtl="0">
              <a:lnSpc>
                <a:spcPct val="100000"/>
              </a:lnSpc>
              <a:spcBef>
                <a:spcPts val="0"/>
              </a:spcBef>
              <a:spcAft>
                <a:spcPts val="0"/>
              </a:spcAft>
              <a:buSzPts val="1100"/>
              <a:buChar char="○"/>
            </a:pPr>
            <a:r>
              <a:rPr lang="en"/>
              <a:t>Include any </a:t>
            </a:r>
            <a:r>
              <a:rPr lang="en" b="1" i="1">
                <a:solidFill>
                  <a:srgbClr val="FF0000"/>
                </a:solidFill>
              </a:rPr>
              <a:t>non-</a:t>
            </a:r>
            <a:r>
              <a:rPr lang="en">
                <a:solidFill>
                  <a:srgbClr val="FF0000"/>
                </a:solidFill>
                <a:latin typeface="Courier New"/>
                <a:ea typeface="Courier New"/>
                <a:cs typeface="Courier New"/>
                <a:sym typeface="Courier New"/>
              </a:rPr>
              <a:t>static</a:t>
            </a:r>
            <a:r>
              <a:rPr lang="en">
                <a:solidFill>
                  <a:srgbClr val="FF0000"/>
                </a:solidFill>
              </a:rPr>
              <a:t> </a:t>
            </a:r>
            <a:r>
              <a:rPr lang="en" b="1" i="1">
                <a:solidFill>
                  <a:srgbClr val="FF0000"/>
                </a:solidFill>
              </a:rPr>
              <a:t>state</a:t>
            </a:r>
            <a:r>
              <a:rPr lang="en"/>
              <a:t>.</a:t>
            </a:r>
            <a:endParaRPr/>
          </a:p>
          <a:p>
            <a:pPr marL="914400" lvl="1" indent="-298450" algn="l" rtl="0">
              <a:lnSpc>
                <a:spcPct val="100000"/>
              </a:lnSpc>
              <a:spcBef>
                <a:spcPts val="0"/>
              </a:spcBef>
              <a:spcAft>
                <a:spcPts val="0"/>
              </a:spcAft>
              <a:buSzPts val="1100"/>
              <a:buChar char="○"/>
            </a:pPr>
            <a:r>
              <a:rPr lang="en"/>
              <a:t>Include any </a:t>
            </a:r>
            <a:r>
              <a:rPr lang="en" b="1" i="1">
                <a:solidFill>
                  <a:srgbClr val="FF0000"/>
                </a:solidFill>
              </a:rPr>
              <a:t>concrete methods</a:t>
            </a:r>
            <a:r>
              <a:rPr lang="en"/>
              <a:t>.</a:t>
            </a:r>
            <a:endParaRPr/>
          </a:p>
          <a:p>
            <a:pPr marL="914400" lvl="1" indent="-298450" algn="l" rtl="0">
              <a:lnSpc>
                <a:spcPct val="100000"/>
              </a:lnSpc>
              <a:spcBef>
                <a:spcPts val="0"/>
              </a:spcBef>
              <a:spcAft>
                <a:spcPts val="0"/>
              </a:spcAft>
              <a:buSzPts val="1100"/>
              <a:buChar char="○"/>
            </a:pPr>
            <a:r>
              <a:rPr lang="en" b="1" i="1">
                <a:solidFill>
                  <a:srgbClr val="FF0000"/>
                </a:solidFill>
              </a:rPr>
              <a:t>Be instantiated</a:t>
            </a:r>
            <a:r>
              <a:rPr lang="en"/>
              <a:t> using </a:t>
            </a:r>
            <a:r>
              <a:rPr lang="en">
                <a:latin typeface="Courier New"/>
                <a:ea typeface="Courier New"/>
                <a:cs typeface="Courier New"/>
                <a:sym typeface="Courier New"/>
              </a:rPr>
              <a:t>new</a:t>
            </a:r>
            <a:r>
              <a:rPr lang="en"/>
              <a:t>.</a:t>
            </a:r>
            <a:endParaRPr/>
          </a:p>
          <a:p>
            <a:pPr marL="457200" lvl="0" indent="-311150" algn="l" rtl="0">
              <a:lnSpc>
                <a:spcPct val="100000"/>
              </a:lnSpc>
              <a:spcBef>
                <a:spcPts val="0"/>
              </a:spcBef>
              <a:spcAft>
                <a:spcPts val="0"/>
              </a:spcAft>
              <a:buSzPts val="1300"/>
              <a:buChar char="●"/>
            </a:pPr>
            <a:r>
              <a:rPr lang="en"/>
              <a:t>Creating an interface creates </a:t>
            </a:r>
            <a:r>
              <a:rPr lang="en" b="1" i="1">
                <a:solidFill>
                  <a:srgbClr val="FF0000"/>
                </a:solidFill>
              </a:rPr>
              <a:t>a new type</a:t>
            </a:r>
            <a:r>
              <a:rPr lang="en"/>
              <a:t>.</a:t>
            </a:r>
            <a:endParaRPr/>
          </a:p>
          <a:p>
            <a:pPr marL="914400" lvl="1" indent="-298450" algn="l" rtl="0">
              <a:lnSpc>
                <a:spcPct val="100000"/>
              </a:lnSpc>
              <a:spcBef>
                <a:spcPts val="0"/>
              </a:spcBef>
              <a:spcAft>
                <a:spcPts val="0"/>
              </a:spcAft>
              <a:buSzPts val="1100"/>
              <a:buChar char="○"/>
            </a:pPr>
            <a:r>
              <a:rPr lang="en"/>
              <a:t>This means that an interface may be used as a </a:t>
            </a:r>
            <a:r>
              <a:rPr lang="en">
                <a:solidFill>
                  <a:srgbClr val="FF0000"/>
                </a:solidFill>
              </a:rPr>
              <a:t>variable</a:t>
            </a:r>
            <a:r>
              <a:rPr lang="en"/>
              <a:t>, </a:t>
            </a:r>
            <a:r>
              <a:rPr lang="en">
                <a:solidFill>
                  <a:srgbClr val="FF0000"/>
                </a:solidFill>
              </a:rPr>
              <a:t>field</a:t>
            </a:r>
            <a:r>
              <a:rPr lang="en"/>
              <a:t>, or </a:t>
            </a:r>
            <a:r>
              <a:rPr lang="en">
                <a:solidFill>
                  <a:srgbClr val="FF0000"/>
                </a:solidFill>
              </a:rPr>
              <a:t>parameter</a:t>
            </a:r>
            <a:r>
              <a:rPr lang="en"/>
              <a:t>.</a:t>
            </a:r>
            <a:endParaRPr/>
          </a:p>
          <a:p>
            <a:pPr marL="457200" lvl="0" indent="-311150" algn="l" rtl="0">
              <a:lnSpc>
                <a:spcPct val="100000"/>
              </a:lnSpc>
              <a:spcBef>
                <a:spcPts val="0"/>
              </a:spcBef>
              <a:spcAft>
                <a:spcPts val="0"/>
              </a:spcAft>
              <a:buSzPts val="1300"/>
              <a:buChar char="●"/>
            </a:pPr>
            <a:r>
              <a:rPr lang="en"/>
              <a:t>A class that </a:t>
            </a:r>
            <a:r>
              <a:rPr lang="en" b="1" i="1">
                <a:solidFill>
                  <a:srgbClr val="FF0000"/>
                </a:solidFill>
              </a:rPr>
              <a:t>implements </a:t>
            </a:r>
            <a:r>
              <a:rPr lang="en"/>
              <a:t>an interface establishes an inheritance relationship with the interface.</a:t>
            </a:r>
            <a:endParaRPr/>
          </a:p>
          <a:p>
            <a:pPr marL="914400" lvl="1" indent="-298450" algn="l" rtl="0">
              <a:lnSpc>
                <a:spcPct val="100000"/>
              </a:lnSpc>
              <a:spcBef>
                <a:spcPts val="0"/>
              </a:spcBef>
              <a:spcAft>
                <a:spcPts val="0"/>
              </a:spcAft>
              <a:buSzPts val="1100"/>
              <a:buChar char="○"/>
            </a:pPr>
            <a:r>
              <a:rPr lang="en"/>
              <a:t>The class </a:t>
            </a:r>
            <a:r>
              <a:rPr lang="en" b="1" i="1">
                <a:solidFill>
                  <a:srgbClr val="FF0000"/>
                </a:solidFill>
              </a:rPr>
              <a:t>is a</a:t>
            </a:r>
            <a:r>
              <a:rPr lang="en"/>
              <a:t> instance of the interface.</a:t>
            </a:r>
            <a:endParaRPr/>
          </a:p>
          <a:p>
            <a:pPr marL="914400" lvl="1" indent="-298450" algn="l" rtl="0">
              <a:lnSpc>
                <a:spcPct val="100000"/>
              </a:lnSpc>
              <a:spcBef>
                <a:spcPts val="0"/>
              </a:spcBef>
              <a:spcAft>
                <a:spcPts val="0"/>
              </a:spcAft>
              <a:buSzPts val="1100"/>
              <a:buChar char="○"/>
            </a:pPr>
            <a:r>
              <a:rPr lang="en"/>
              <a:t>This means that any code written to use the interface will work with the class! </a:t>
            </a:r>
            <a:r>
              <a:rPr lang="en" b="1" i="1">
                <a:solidFill>
                  <a:srgbClr val="FF0000"/>
                </a:solidFill>
              </a:rPr>
              <a:t>Polymorphism!</a:t>
            </a:r>
            <a:endParaRPr b="1" i="1">
              <a:solidFill>
                <a:srgbClr val="FF0000"/>
              </a:solidFill>
            </a:endParaRPr>
          </a:p>
          <a:p>
            <a:pPr marL="457200" lvl="0" indent="-311150" algn="l" rtl="0">
              <a:lnSpc>
                <a:spcPct val="100000"/>
              </a:lnSpc>
              <a:spcBef>
                <a:spcPts val="0"/>
              </a:spcBef>
              <a:spcAft>
                <a:spcPts val="0"/>
              </a:spcAft>
              <a:buSzPts val="1300"/>
              <a:buChar char="●"/>
            </a:pPr>
            <a:r>
              <a:rPr lang="en"/>
              <a:t>Java only supports </a:t>
            </a:r>
            <a:r>
              <a:rPr lang="en" b="1" i="1">
                <a:solidFill>
                  <a:srgbClr val="FF0000"/>
                </a:solidFill>
              </a:rPr>
              <a:t>single inheritance</a:t>
            </a:r>
            <a:r>
              <a:rPr lang="en">
                <a:solidFill>
                  <a:srgbClr val="FF0000"/>
                </a:solidFill>
              </a:rPr>
              <a:t> </a:t>
            </a:r>
            <a:r>
              <a:rPr lang="en"/>
              <a:t>with respect to classes.</a:t>
            </a:r>
            <a:endParaRPr/>
          </a:p>
          <a:p>
            <a:pPr marL="914400" lvl="1" indent="-298450" algn="l" rtl="0">
              <a:lnSpc>
                <a:spcPct val="100000"/>
              </a:lnSpc>
              <a:spcBef>
                <a:spcPts val="0"/>
              </a:spcBef>
              <a:spcAft>
                <a:spcPts val="0"/>
              </a:spcAft>
              <a:buSzPts val="1100"/>
              <a:buChar char="○"/>
            </a:pPr>
            <a:r>
              <a:rPr lang="en"/>
              <a:t>A class may extend </a:t>
            </a:r>
            <a:r>
              <a:rPr lang="en" b="1" i="1">
                <a:solidFill>
                  <a:srgbClr val="FF0000"/>
                </a:solidFill>
              </a:rPr>
              <a:t>at most one</a:t>
            </a:r>
            <a:r>
              <a:rPr lang="en"/>
              <a:t> other class.</a:t>
            </a:r>
            <a:endParaRPr/>
          </a:p>
          <a:p>
            <a:pPr marL="914400" lvl="1" indent="-298450" algn="l" rtl="0">
              <a:lnSpc>
                <a:spcPct val="100000"/>
              </a:lnSpc>
              <a:spcBef>
                <a:spcPts val="0"/>
              </a:spcBef>
              <a:spcAft>
                <a:spcPts val="0"/>
              </a:spcAft>
              <a:buSzPts val="1100"/>
              <a:buChar char="○"/>
            </a:pPr>
            <a:r>
              <a:rPr lang="en"/>
              <a:t>If the class already extends some other class, it </a:t>
            </a:r>
            <a:r>
              <a:rPr lang="en" b="1" i="1">
                <a:solidFill>
                  <a:srgbClr val="FF0000"/>
                </a:solidFill>
              </a:rPr>
              <a:t>cannot</a:t>
            </a:r>
            <a:r>
              <a:rPr lang="en">
                <a:solidFill>
                  <a:srgbClr val="FF0000"/>
                </a:solidFill>
              </a:rPr>
              <a:t> </a:t>
            </a:r>
            <a:r>
              <a:rPr lang="en"/>
              <a:t>extend a second class.</a:t>
            </a:r>
            <a:endParaRPr/>
          </a:p>
          <a:p>
            <a:pPr marL="457200" lvl="0" indent="-311150" algn="l" rtl="0">
              <a:lnSpc>
                <a:spcPct val="100000"/>
              </a:lnSpc>
              <a:spcBef>
                <a:spcPts val="0"/>
              </a:spcBef>
              <a:spcAft>
                <a:spcPts val="0"/>
              </a:spcAft>
              <a:buSzPts val="1300"/>
              <a:buChar char="●"/>
            </a:pPr>
            <a:r>
              <a:rPr lang="en"/>
              <a:t>But a class may implement </a:t>
            </a:r>
            <a:r>
              <a:rPr lang="en" b="1" i="1">
                <a:solidFill>
                  <a:srgbClr val="FF0000"/>
                </a:solidFill>
              </a:rPr>
              <a:t>any number</a:t>
            </a:r>
            <a:r>
              <a:rPr lang="en"/>
              <a:t> of interfaces.</a:t>
            </a:r>
            <a:endParaRPr/>
          </a:p>
          <a:p>
            <a:pPr marL="914400" lvl="1" indent="-298450" algn="l" rtl="0">
              <a:lnSpc>
                <a:spcPct val="100000"/>
              </a:lnSpc>
              <a:spcBef>
                <a:spcPts val="0"/>
              </a:spcBef>
              <a:spcAft>
                <a:spcPts val="0"/>
              </a:spcAft>
              <a:buSzPts val="1100"/>
              <a:buChar char="○"/>
            </a:pPr>
            <a:r>
              <a:rPr lang="en"/>
              <a:t>This means that, if an abstract class has </a:t>
            </a:r>
            <a:r>
              <a:rPr lang="en" b="1" i="1">
                <a:solidFill>
                  <a:srgbClr val="FF0000"/>
                </a:solidFill>
              </a:rPr>
              <a:t>only abstract methods</a:t>
            </a:r>
            <a:r>
              <a:rPr lang="en"/>
              <a:t>, it is better to use an interface instead.</a:t>
            </a:r>
            <a:endParaRPr/>
          </a:p>
        </p:txBody>
      </p:sp>
      <p:sp>
        <p:nvSpPr>
          <p:cNvPr id="1317" name="Google Shape;1317;p129"/>
          <p:cNvSpPr txBox="1">
            <a:spLocks noGrp="1"/>
          </p:cNvSpPr>
          <p:nvPr>
            <p:ph type="body" idx="3"/>
          </p:nvPr>
        </p:nvSpPr>
        <p:spPr>
          <a:xfrm>
            <a:off x="311725" y="685650"/>
            <a:ext cx="3706500" cy="5205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When one class extends another, it is </a:t>
            </a:r>
            <a:r>
              <a:rPr lang="en" sz="1200" b="1" i="1">
                <a:solidFill>
                  <a:srgbClr val="FF0000"/>
                </a:solidFill>
              </a:rPr>
              <a:t>locked in</a:t>
            </a:r>
            <a:r>
              <a:rPr lang="en" sz="1200"/>
              <a:t> to that relationship; it </a:t>
            </a:r>
            <a:r>
              <a:rPr lang="en" sz="1200" b="1" i="1">
                <a:solidFill>
                  <a:srgbClr val="FF0000"/>
                </a:solidFill>
              </a:rPr>
              <a:t>cannot </a:t>
            </a:r>
            <a:r>
              <a:rPr lang="en" sz="1200"/>
              <a:t>extend any other class.</a:t>
            </a:r>
            <a:endParaRPr sz="1200"/>
          </a:p>
        </p:txBody>
      </p:sp>
      <p:sp>
        <p:nvSpPr>
          <p:cNvPr id="1318" name="Google Shape;1318;p129"/>
          <p:cNvSpPr txBox="1">
            <a:spLocks noGrp="1"/>
          </p:cNvSpPr>
          <p:nvPr>
            <p:ph type="body" idx="3"/>
          </p:nvPr>
        </p:nvSpPr>
        <p:spPr>
          <a:xfrm>
            <a:off x="311725" y="1295250"/>
            <a:ext cx="3706500" cy="5205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This means that </a:t>
            </a:r>
            <a:r>
              <a:rPr lang="en" sz="1200" b="1" i="1">
                <a:solidFill>
                  <a:srgbClr val="FF0000"/>
                </a:solidFill>
              </a:rPr>
              <a:t>polymorphism </a:t>
            </a:r>
            <a:r>
              <a:rPr lang="en" sz="1200"/>
              <a:t>can't be used with any other Java class.</a:t>
            </a:r>
            <a:endParaRPr sz="1200"/>
          </a:p>
        </p:txBody>
      </p:sp>
      <p:sp>
        <p:nvSpPr>
          <p:cNvPr id="1319" name="Google Shape;1319;p129"/>
          <p:cNvSpPr txBox="1"/>
          <p:nvPr/>
        </p:nvSpPr>
        <p:spPr>
          <a:xfrm>
            <a:off x="311725" y="2514450"/>
            <a:ext cx="3706500" cy="638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35714"/>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Implementor</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A</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D</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35714"/>
              </a:lnSpc>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a:t>
            </a:r>
            <a:endParaRPr sz="1000">
              <a:solidFill>
                <a:srgbClr val="008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320" name="Google Shape;1320;p129"/>
          <p:cNvSpPr txBox="1">
            <a:spLocks noGrp="1"/>
          </p:cNvSpPr>
          <p:nvPr>
            <p:ph type="body" idx="3"/>
          </p:nvPr>
        </p:nvSpPr>
        <p:spPr>
          <a:xfrm>
            <a:off x="311725" y="1904850"/>
            <a:ext cx="3706500" cy="5205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But a class may implement </a:t>
            </a:r>
            <a:r>
              <a:rPr lang="en" sz="1200" b="1" i="1">
                <a:solidFill>
                  <a:srgbClr val="FF0000"/>
                </a:solidFill>
              </a:rPr>
              <a:t>any number</a:t>
            </a:r>
            <a:r>
              <a:rPr lang="en" sz="1200"/>
              <a:t> of interfaces (specified as a comma-separated list)...</a:t>
            </a:r>
            <a:endParaRPr sz="1200"/>
          </a:p>
        </p:txBody>
      </p:sp>
      <p:sp>
        <p:nvSpPr>
          <p:cNvPr id="1321" name="Google Shape;1321;p129"/>
          <p:cNvSpPr txBox="1">
            <a:spLocks noGrp="1"/>
          </p:cNvSpPr>
          <p:nvPr>
            <p:ph type="body" idx="3"/>
          </p:nvPr>
        </p:nvSpPr>
        <p:spPr>
          <a:xfrm>
            <a:off x="311725" y="3241650"/>
            <a:ext cx="3706500" cy="8358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When a class implements an interface, it establishes an </a:t>
            </a:r>
            <a:r>
              <a:rPr lang="en" sz="1200" b="1" i="1">
                <a:solidFill>
                  <a:srgbClr val="FF0000"/>
                </a:solidFill>
              </a:rPr>
              <a:t>inheritance relationship</a:t>
            </a:r>
            <a:r>
              <a:rPr lang="en" sz="1200"/>
              <a:t> with the interface, meaning that the class can be used in place of </a:t>
            </a:r>
            <a:r>
              <a:rPr lang="en" sz="1200" b="1" i="1">
                <a:solidFill>
                  <a:srgbClr val="FF0000"/>
                </a:solidFill>
              </a:rPr>
              <a:t>any</a:t>
            </a:r>
            <a:r>
              <a:rPr lang="en" sz="1200">
                <a:solidFill>
                  <a:srgbClr val="FF0000"/>
                </a:solidFill>
              </a:rPr>
              <a:t> </a:t>
            </a:r>
            <a:r>
              <a:rPr lang="en" sz="1200"/>
              <a:t>interface that it implements.</a:t>
            </a:r>
            <a:endParaRPr sz="1200"/>
          </a:p>
        </p:txBody>
      </p:sp>
      <p:sp>
        <p:nvSpPr>
          <p:cNvPr id="1322" name="Google Shape;1322;p129"/>
          <p:cNvSpPr txBox="1">
            <a:spLocks noGrp="1"/>
          </p:cNvSpPr>
          <p:nvPr>
            <p:ph type="body" idx="3"/>
          </p:nvPr>
        </p:nvSpPr>
        <p:spPr>
          <a:xfrm>
            <a:off x="311725" y="4166550"/>
            <a:ext cx="3706500" cy="8358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Given the choice, using an interface instead of an abstract class makes your design </a:t>
            </a:r>
            <a:r>
              <a:rPr lang="en" sz="1200" b="1" i="1">
                <a:solidFill>
                  <a:srgbClr val="FF0000"/>
                </a:solidFill>
              </a:rPr>
              <a:t>much more flexible</a:t>
            </a:r>
            <a:r>
              <a:rPr lang="en" sz="1200"/>
              <a:t> and dramatically improves the potential for </a:t>
            </a:r>
            <a:r>
              <a:rPr lang="en" sz="1200" b="1" i="1">
                <a:solidFill>
                  <a:srgbClr val="FF0000"/>
                </a:solidFill>
              </a:rPr>
              <a:t>polymorphism</a:t>
            </a:r>
            <a:r>
              <a:rPr lang="en" sz="1200"/>
              <a:t>.</a:t>
            </a:r>
            <a:endParaRPr sz="1200"/>
          </a:p>
        </p:txBody>
      </p:sp>
      <p:grpSp>
        <p:nvGrpSpPr>
          <p:cNvPr id="1323" name="Google Shape;1323;p129"/>
          <p:cNvGrpSpPr/>
          <p:nvPr/>
        </p:nvGrpSpPr>
        <p:grpSpPr>
          <a:xfrm>
            <a:off x="2126275" y="2165200"/>
            <a:ext cx="1892100" cy="537600"/>
            <a:chOff x="2126275" y="2165200"/>
            <a:chExt cx="1892100" cy="537600"/>
          </a:xfrm>
        </p:grpSpPr>
        <p:sp>
          <p:nvSpPr>
            <p:cNvPr id="1324" name="Google Shape;1324;p129"/>
            <p:cNvSpPr/>
            <p:nvPr/>
          </p:nvSpPr>
          <p:spPr>
            <a:xfrm>
              <a:off x="2126275" y="2515600"/>
              <a:ext cx="1557300" cy="18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25" name="Google Shape;1325;p129"/>
            <p:cNvCxnSpPr>
              <a:stCxn id="1324" idx="3"/>
              <a:endCxn id="1320" idx="3"/>
            </p:cNvCxnSpPr>
            <p:nvPr/>
          </p:nvCxnSpPr>
          <p:spPr>
            <a:xfrm rot="10800000" flipH="1">
              <a:off x="3683575" y="2165200"/>
              <a:ext cx="334800" cy="444000"/>
            </a:xfrm>
            <a:prstGeom prst="bentConnector3">
              <a:avLst>
                <a:gd name="adj1" fmla="val 171080"/>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7"/>
                                        </p:tgtEl>
                                        <p:attrNameLst>
                                          <p:attrName>style.visibility</p:attrName>
                                        </p:attrNameLst>
                                      </p:cBhvr>
                                      <p:to>
                                        <p:strVal val="visible"/>
                                      </p:to>
                                    </p:set>
                                    <p:animEffect transition="in" filter="fade">
                                      <p:cBhvr>
                                        <p:cTn id="7" dur="1000"/>
                                        <p:tgtEl>
                                          <p:spTgt spid="13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8"/>
                                        </p:tgtEl>
                                        <p:attrNameLst>
                                          <p:attrName>style.visibility</p:attrName>
                                        </p:attrNameLst>
                                      </p:cBhvr>
                                      <p:to>
                                        <p:strVal val="visible"/>
                                      </p:to>
                                    </p:set>
                                    <p:animEffect transition="in" filter="fade">
                                      <p:cBhvr>
                                        <p:cTn id="12" dur="1000"/>
                                        <p:tgtEl>
                                          <p:spTgt spid="13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20"/>
                                        </p:tgtEl>
                                        <p:attrNameLst>
                                          <p:attrName>style.visibility</p:attrName>
                                        </p:attrNameLst>
                                      </p:cBhvr>
                                      <p:to>
                                        <p:strVal val="visible"/>
                                      </p:to>
                                    </p:set>
                                    <p:animEffect transition="in" filter="fade">
                                      <p:cBhvr>
                                        <p:cTn id="17" dur="1000"/>
                                        <p:tgtEl>
                                          <p:spTgt spid="1320"/>
                                        </p:tgtEl>
                                      </p:cBhvr>
                                    </p:animEffect>
                                  </p:childTnLst>
                                </p:cTn>
                              </p:par>
                              <p:par>
                                <p:cTn id="18" presetID="10" presetClass="entr" presetSubtype="0" fill="hold" nodeType="withEffect">
                                  <p:stCondLst>
                                    <p:cond delay="0"/>
                                  </p:stCondLst>
                                  <p:childTnLst>
                                    <p:set>
                                      <p:cBhvr>
                                        <p:cTn id="19" dur="1" fill="hold">
                                          <p:stCondLst>
                                            <p:cond delay="0"/>
                                          </p:stCondLst>
                                        </p:cTn>
                                        <p:tgtEl>
                                          <p:spTgt spid="1319"/>
                                        </p:tgtEl>
                                        <p:attrNameLst>
                                          <p:attrName>style.visibility</p:attrName>
                                        </p:attrNameLst>
                                      </p:cBhvr>
                                      <p:to>
                                        <p:strVal val="visible"/>
                                      </p:to>
                                    </p:set>
                                    <p:animEffect transition="in" filter="fade">
                                      <p:cBhvr>
                                        <p:cTn id="20" dur="1000"/>
                                        <p:tgtEl>
                                          <p:spTgt spid="1319"/>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1323"/>
                                        </p:tgtEl>
                                        <p:attrNameLst>
                                          <p:attrName>style.visibility</p:attrName>
                                        </p:attrNameLst>
                                      </p:cBhvr>
                                      <p:to>
                                        <p:strVal val="visible"/>
                                      </p:to>
                                    </p:set>
                                    <p:animEffect transition="in" filter="fade">
                                      <p:cBhvr>
                                        <p:cTn id="24" dur="1000"/>
                                        <p:tgtEl>
                                          <p:spTgt spid="132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21"/>
                                        </p:tgtEl>
                                        <p:attrNameLst>
                                          <p:attrName>style.visibility</p:attrName>
                                        </p:attrNameLst>
                                      </p:cBhvr>
                                      <p:to>
                                        <p:strVal val="visible"/>
                                      </p:to>
                                    </p:set>
                                    <p:animEffect transition="in" filter="fade">
                                      <p:cBhvr>
                                        <p:cTn id="29" dur="1000"/>
                                        <p:tgtEl>
                                          <p:spTgt spid="132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322"/>
                                        </p:tgtEl>
                                        <p:attrNameLst>
                                          <p:attrName>style.visibility</p:attrName>
                                        </p:attrNameLst>
                                      </p:cBhvr>
                                      <p:to>
                                        <p:strVal val="visible"/>
                                      </p:to>
                                    </p:set>
                                    <p:animEffect transition="in" filter="fade">
                                      <p:cBhvr>
                                        <p:cTn id="34" dur="1000"/>
                                        <p:tgtEl>
                                          <p:spTgt spid="1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sp>
        <p:nvSpPr>
          <p:cNvPr id="1330" name="Google Shape;1330;p1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68</a:t>
            </a:fld>
            <a:endParaRPr/>
          </a:p>
        </p:txBody>
      </p:sp>
      <p:sp>
        <p:nvSpPr>
          <p:cNvPr id="1331" name="Google Shape;1331;p13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Interfaces</a:t>
            </a:r>
            <a:endParaRPr/>
          </a:p>
        </p:txBody>
      </p:sp>
      <p:sp>
        <p:nvSpPr>
          <p:cNvPr id="1332" name="Google Shape;1332;p130"/>
          <p:cNvSpPr txBox="1"/>
          <p:nvPr/>
        </p:nvSpPr>
        <p:spPr>
          <a:xfrm>
            <a:off x="2512640" y="2155125"/>
            <a:ext cx="4059600" cy="1532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highlight>
                  <a:srgbClr val="FFFFFF"/>
                </a:highlight>
                <a:latin typeface="Consolas"/>
                <a:ea typeface="Consolas"/>
                <a:cs typeface="Consolas"/>
                <a:sym typeface="Consolas"/>
              </a:rPr>
              <a:t>1  </a:t>
            </a:r>
            <a:r>
              <a:rPr lang="en" sz="1000">
                <a:solidFill>
                  <a:srgbClr val="0000FF"/>
                </a:solidFill>
                <a:highlight>
                  <a:srgbClr val="FFFFFF"/>
                </a:highlight>
                <a:latin typeface="Consolas"/>
                <a:ea typeface="Consolas"/>
                <a:cs typeface="Consolas"/>
                <a:sym typeface="Consolas"/>
              </a:rPr>
              <a:t>public</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interface</a:t>
            </a:r>
            <a:r>
              <a:rPr lang="en" sz="1000">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Animal</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2</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private</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final</a:t>
            </a:r>
            <a:r>
              <a:rPr lang="en" sz="1000">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highlight>
                  <a:srgbClr val="FFFFFF"/>
                </a:highlight>
                <a:latin typeface="Consolas"/>
                <a:ea typeface="Consolas"/>
                <a:cs typeface="Consolas"/>
                <a:sym typeface="Consolas"/>
              </a:rPr>
              <a:t> </a:t>
            </a:r>
            <a:r>
              <a:rPr lang="en" sz="1000">
                <a:solidFill>
                  <a:srgbClr val="0070C1"/>
                </a:solidFill>
                <a:highlight>
                  <a:srgbClr val="FFFFFF"/>
                </a:highlight>
                <a:latin typeface="Consolas"/>
                <a:ea typeface="Consolas"/>
                <a:cs typeface="Consolas"/>
                <a:sym typeface="Consolas"/>
              </a:rPr>
              <a:t>KINGDOM</a:t>
            </a:r>
            <a:r>
              <a:rPr lang="en" sz="1000">
                <a:highlight>
                  <a:srgbClr val="FFFFFF"/>
                </a:highlight>
                <a:latin typeface="Consolas"/>
                <a:ea typeface="Consolas"/>
                <a:cs typeface="Consolas"/>
                <a:sym typeface="Consolas"/>
              </a:rPr>
              <a:t> = </a:t>
            </a:r>
            <a:r>
              <a:rPr lang="en" sz="1000">
                <a:solidFill>
                  <a:srgbClr val="A31515"/>
                </a:solidFill>
                <a:highlight>
                  <a:srgbClr val="FFFFFF"/>
                </a:highlight>
                <a:latin typeface="Consolas"/>
                <a:ea typeface="Consolas"/>
                <a:cs typeface="Consolas"/>
                <a:sym typeface="Consolas"/>
              </a:rPr>
              <a:t>"Animalia"</a:t>
            </a:r>
            <a:r>
              <a:rPr lang="en" sz="1000">
                <a:highlight>
                  <a:srgbClr val="FFFFFF"/>
                </a:highlight>
                <a:latin typeface="Consolas"/>
                <a:ea typeface="Consolas"/>
                <a:cs typeface="Consolas"/>
                <a:sym typeface="Consolas"/>
              </a:rPr>
              <a:t>;</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3</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highlight>
                  <a:srgbClr val="FFFFFF"/>
                </a:highlight>
                <a:latin typeface="Consolas"/>
                <a:ea typeface="Consolas"/>
                <a:cs typeface="Consolas"/>
                <a:sym typeface="Consolas"/>
              </a:rPr>
              <a:t>4     </a:t>
            </a:r>
            <a:r>
              <a:rPr lang="en" sz="1000">
                <a:solidFill>
                  <a:srgbClr val="0000FF"/>
                </a:solidFill>
                <a:highlight>
                  <a:srgbClr val="FFFFFF"/>
                </a:highlight>
                <a:latin typeface="Consolas"/>
                <a:ea typeface="Consolas"/>
                <a:cs typeface="Consolas"/>
                <a:sym typeface="Consolas"/>
              </a:rPr>
              <a:t>public</a:t>
            </a:r>
            <a:r>
              <a:rPr lang="en" sz="1000">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getKingdom</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5</a:t>
            </a:r>
            <a:r>
              <a:rPr lang="en" sz="1000">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return</a:t>
            </a:r>
            <a:r>
              <a:rPr lang="en" sz="1000">
                <a:highlight>
                  <a:srgbClr val="FFFFFF"/>
                </a:highlight>
                <a:latin typeface="Consolas"/>
                <a:ea typeface="Consolas"/>
                <a:cs typeface="Consolas"/>
                <a:sym typeface="Consolas"/>
              </a:rPr>
              <a:t> </a:t>
            </a:r>
            <a:r>
              <a:rPr lang="en" sz="1000">
                <a:solidFill>
                  <a:srgbClr val="0070C1"/>
                </a:solidFill>
                <a:highlight>
                  <a:srgbClr val="FFFFFF"/>
                </a:highlight>
                <a:latin typeface="Consolas"/>
                <a:ea typeface="Consolas"/>
                <a:cs typeface="Consolas"/>
                <a:sym typeface="Consolas"/>
              </a:rPr>
              <a:t>KINGDOM</a:t>
            </a:r>
            <a:r>
              <a:rPr lang="en" sz="1000">
                <a:highlight>
                  <a:srgbClr val="FFFFFF"/>
                </a:highlight>
                <a:latin typeface="Consolas"/>
                <a:ea typeface="Consolas"/>
                <a:cs typeface="Consolas"/>
                <a:sym typeface="Consolas"/>
              </a:rPr>
              <a:t>;</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6</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7</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highlight>
                  <a:srgbClr val="FFFFFF"/>
                </a:highlight>
                <a:latin typeface="Consolas"/>
                <a:ea typeface="Consolas"/>
                <a:cs typeface="Consolas"/>
                <a:sym typeface="Consolas"/>
              </a:rPr>
              <a:t>8                     </a:t>
            </a:r>
            <a:r>
              <a:rPr lang="en" sz="1000">
                <a:solidFill>
                  <a:srgbClr val="267F99"/>
                </a:solidFill>
                <a:highlight>
                  <a:srgbClr val="FFFFFF"/>
                </a:highlight>
                <a:latin typeface="Consolas"/>
                <a:ea typeface="Consolas"/>
                <a:cs typeface="Consolas"/>
                <a:sym typeface="Consolas"/>
              </a:rPr>
              <a:t>void</a:t>
            </a:r>
            <a:r>
              <a:rPr lang="en" sz="1000">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speak</a:t>
            </a:r>
            <a:r>
              <a:rPr lang="en" sz="1000">
                <a:highlight>
                  <a:srgbClr val="FFFFFF"/>
                </a:highlight>
                <a:latin typeface="Consolas"/>
                <a:ea typeface="Consolas"/>
                <a:cs typeface="Consolas"/>
                <a:sym typeface="Consolas"/>
              </a:rPr>
              <a:t>();    </a:t>
            </a:r>
            <a:endParaRPr sz="10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highlight>
                  <a:srgbClr val="FFFFFF"/>
                </a:highlight>
                <a:latin typeface="Consolas"/>
                <a:ea typeface="Consolas"/>
                <a:cs typeface="Consolas"/>
                <a:sym typeface="Consolas"/>
              </a:rPr>
              <a:t>9</a:t>
            </a:r>
            <a:r>
              <a:rPr lang="en" sz="1000">
                <a:highlight>
                  <a:srgbClr val="FFFFFF"/>
                </a:highlight>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1333" name="Google Shape;1333;p130"/>
          <p:cNvSpPr/>
          <p:nvPr/>
        </p:nvSpPr>
        <p:spPr>
          <a:xfrm>
            <a:off x="3026873" y="1847525"/>
            <a:ext cx="593383" cy="406450"/>
          </a:xfrm>
          <a:custGeom>
            <a:avLst/>
            <a:gdLst/>
            <a:ahLst/>
            <a:cxnLst/>
            <a:rect l="l" t="t" r="r" b="b"/>
            <a:pathLst>
              <a:path w="20988" h="16258" extrusionOk="0">
                <a:moveTo>
                  <a:pt x="0" y="0"/>
                </a:moveTo>
                <a:cubicBezTo>
                  <a:pt x="2907" y="739"/>
                  <a:pt x="13943" y="1724"/>
                  <a:pt x="17441" y="4434"/>
                </a:cubicBezTo>
                <a:cubicBezTo>
                  <a:pt x="20939" y="7144"/>
                  <a:pt x="20397" y="14287"/>
                  <a:pt x="20988" y="1625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34" name="Google Shape;1334;p130"/>
          <p:cNvSpPr txBox="1"/>
          <p:nvPr/>
        </p:nvSpPr>
        <p:spPr>
          <a:xfrm>
            <a:off x="129765" y="1359770"/>
            <a:ext cx="2897100" cy="672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The first step to creating an </a:t>
            </a:r>
            <a:r>
              <a:rPr lang="en" sz="1200" b="1" i="1">
                <a:solidFill>
                  <a:srgbClr val="FF0000"/>
                </a:solidFill>
              </a:rPr>
              <a:t>interface</a:t>
            </a:r>
            <a:r>
              <a:rPr lang="en" sz="1200">
                <a:solidFill>
                  <a:srgbClr val="FF0000"/>
                </a:solidFill>
              </a:rPr>
              <a:t> </a:t>
            </a:r>
            <a:r>
              <a:rPr lang="en" sz="1200"/>
              <a:t>is to declare it as such (rather than a class) using the </a:t>
            </a:r>
            <a:r>
              <a:rPr lang="en" sz="1200">
                <a:solidFill>
                  <a:srgbClr val="FF0000"/>
                </a:solidFill>
                <a:latin typeface="Courier New"/>
                <a:ea typeface="Courier New"/>
                <a:cs typeface="Courier New"/>
                <a:sym typeface="Courier New"/>
              </a:rPr>
              <a:t>interface</a:t>
            </a:r>
            <a:r>
              <a:rPr lang="en" sz="1200"/>
              <a:t> keyword.</a:t>
            </a:r>
            <a:endParaRPr sz="1200"/>
          </a:p>
        </p:txBody>
      </p:sp>
      <p:sp>
        <p:nvSpPr>
          <p:cNvPr id="1335" name="Google Shape;1335;p130"/>
          <p:cNvSpPr/>
          <p:nvPr/>
        </p:nvSpPr>
        <p:spPr>
          <a:xfrm>
            <a:off x="5254340" y="2008175"/>
            <a:ext cx="1851648" cy="393621"/>
          </a:xfrm>
          <a:custGeom>
            <a:avLst/>
            <a:gdLst/>
            <a:ahLst/>
            <a:cxnLst/>
            <a:rect l="l" t="t" r="r" b="b"/>
            <a:pathLst>
              <a:path w="45523" h="17440" extrusionOk="0">
                <a:moveTo>
                  <a:pt x="45523" y="0"/>
                </a:moveTo>
                <a:cubicBezTo>
                  <a:pt x="38872" y="788"/>
                  <a:pt x="13203" y="1822"/>
                  <a:pt x="5616" y="4729"/>
                </a:cubicBezTo>
                <a:cubicBezTo>
                  <a:pt x="-1971" y="7636"/>
                  <a:pt x="936" y="15322"/>
                  <a:pt x="0" y="1744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36" name="Google Shape;1336;p130"/>
          <p:cNvSpPr/>
          <p:nvPr/>
        </p:nvSpPr>
        <p:spPr>
          <a:xfrm>
            <a:off x="5527790" y="1958375"/>
            <a:ext cx="2368992" cy="913475"/>
          </a:xfrm>
          <a:custGeom>
            <a:avLst/>
            <a:gdLst/>
            <a:ahLst/>
            <a:cxnLst/>
            <a:rect l="l" t="t" r="r" b="b"/>
            <a:pathLst>
              <a:path w="61781" h="36539" extrusionOk="0">
                <a:moveTo>
                  <a:pt x="61781" y="0"/>
                </a:moveTo>
                <a:cubicBezTo>
                  <a:pt x="59909" y="5666"/>
                  <a:pt x="60845" y="28328"/>
                  <a:pt x="50548" y="33994"/>
                </a:cubicBezTo>
                <a:cubicBezTo>
                  <a:pt x="40251" y="39660"/>
                  <a:pt x="8425" y="33994"/>
                  <a:pt x="0" y="3399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37" name="Google Shape;1337;p130"/>
          <p:cNvSpPr txBox="1"/>
          <p:nvPr/>
        </p:nvSpPr>
        <p:spPr>
          <a:xfrm>
            <a:off x="5819165" y="1337600"/>
            <a:ext cx="2897100" cy="672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 interface </a:t>
            </a:r>
            <a:r>
              <a:rPr lang="en" sz="1200" b="1" i="1">
                <a:solidFill>
                  <a:srgbClr val="FF0000"/>
                </a:solidFill>
              </a:rPr>
              <a:t>may </a:t>
            </a:r>
            <a:r>
              <a:rPr lang="en" sz="1200"/>
              <a:t>declare </a:t>
            </a:r>
            <a:r>
              <a:rPr lang="en" sz="1200">
                <a:solidFill>
                  <a:srgbClr val="FF0000"/>
                </a:solidFill>
                <a:latin typeface="Courier New"/>
                <a:ea typeface="Courier New"/>
                <a:cs typeface="Courier New"/>
                <a:sym typeface="Courier New"/>
              </a:rPr>
              <a:t>static</a:t>
            </a:r>
            <a:r>
              <a:rPr lang="en" sz="1200"/>
              <a:t> state or behavior that is used through the interface, e.g. </a:t>
            </a:r>
            <a:r>
              <a:rPr lang="en" sz="1200">
                <a:solidFill>
                  <a:srgbClr val="FF0000"/>
                </a:solidFill>
                <a:latin typeface="Courier New"/>
                <a:ea typeface="Courier New"/>
                <a:cs typeface="Courier New"/>
                <a:sym typeface="Courier New"/>
              </a:rPr>
              <a:t>Animal.</a:t>
            </a:r>
            <a:r>
              <a:rPr lang="en" sz="1200" i="1">
                <a:solidFill>
                  <a:srgbClr val="FF0000"/>
                </a:solidFill>
                <a:latin typeface="Courier New"/>
                <a:ea typeface="Courier New"/>
                <a:cs typeface="Courier New"/>
                <a:sym typeface="Courier New"/>
              </a:rPr>
              <a:t>getKingdom()</a:t>
            </a:r>
            <a:endParaRPr sz="1200">
              <a:solidFill>
                <a:srgbClr val="FF0000"/>
              </a:solidFill>
              <a:latin typeface="Courier New"/>
              <a:ea typeface="Courier New"/>
              <a:cs typeface="Courier New"/>
              <a:sym typeface="Courier New"/>
            </a:endParaRPr>
          </a:p>
        </p:txBody>
      </p:sp>
      <p:sp>
        <p:nvSpPr>
          <p:cNvPr id="1338" name="Google Shape;1338;p130"/>
          <p:cNvSpPr/>
          <p:nvPr/>
        </p:nvSpPr>
        <p:spPr>
          <a:xfrm>
            <a:off x="3259040" y="3020857"/>
            <a:ext cx="2645650" cy="289900"/>
          </a:xfrm>
          <a:custGeom>
            <a:avLst/>
            <a:gdLst/>
            <a:ahLst/>
            <a:cxnLst/>
            <a:rect l="l" t="t" r="r" b="b"/>
            <a:pathLst>
              <a:path w="105826" h="11596" extrusionOk="0">
                <a:moveTo>
                  <a:pt x="105826" y="8345"/>
                </a:moveTo>
                <a:cubicBezTo>
                  <a:pt x="91243" y="6966"/>
                  <a:pt x="35965" y="-474"/>
                  <a:pt x="18327" y="68"/>
                </a:cubicBezTo>
                <a:cubicBezTo>
                  <a:pt x="689" y="610"/>
                  <a:pt x="3055" y="9675"/>
                  <a:pt x="0" y="11596"/>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39" name="Google Shape;1339;p130"/>
          <p:cNvSpPr/>
          <p:nvPr/>
        </p:nvSpPr>
        <p:spPr>
          <a:xfrm>
            <a:off x="3724615" y="3155575"/>
            <a:ext cx="2150500" cy="169975"/>
          </a:xfrm>
          <a:custGeom>
            <a:avLst/>
            <a:gdLst/>
            <a:ahLst/>
            <a:cxnLst/>
            <a:rect l="l" t="t" r="r" b="b"/>
            <a:pathLst>
              <a:path w="86020" h="6799" extrusionOk="0">
                <a:moveTo>
                  <a:pt x="86020" y="6799"/>
                </a:moveTo>
                <a:cubicBezTo>
                  <a:pt x="73703" y="5666"/>
                  <a:pt x="26456" y="0"/>
                  <a:pt x="12119" y="0"/>
                </a:cubicBezTo>
                <a:cubicBezTo>
                  <a:pt x="-2218" y="0"/>
                  <a:pt x="2020" y="5666"/>
                  <a:pt x="0" y="679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40" name="Google Shape;1340;p130"/>
          <p:cNvSpPr txBox="1"/>
          <p:nvPr/>
        </p:nvSpPr>
        <p:spPr>
          <a:xfrm>
            <a:off x="5819165" y="3196208"/>
            <a:ext cx="2897100" cy="672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Any non-static behavior </a:t>
            </a:r>
            <a:r>
              <a:rPr lang="en" sz="1200" b="1" i="1">
                <a:solidFill>
                  <a:srgbClr val="FF0000"/>
                </a:solidFill>
              </a:rPr>
              <a:t>must</a:t>
            </a:r>
            <a:r>
              <a:rPr lang="en" sz="1200">
                <a:solidFill>
                  <a:srgbClr val="FF0000"/>
                </a:solidFill>
              </a:rPr>
              <a:t> </a:t>
            </a:r>
            <a:r>
              <a:rPr lang="en" sz="1200"/>
              <a:t>be both </a:t>
            </a:r>
            <a:r>
              <a:rPr lang="en" sz="1200">
                <a:solidFill>
                  <a:srgbClr val="FF0000"/>
                </a:solidFill>
                <a:latin typeface="Courier New"/>
                <a:ea typeface="Courier New"/>
                <a:cs typeface="Courier New"/>
                <a:sym typeface="Courier New"/>
              </a:rPr>
              <a:t>public</a:t>
            </a:r>
            <a:r>
              <a:rPr lang="en" sz="1200">
                <a:solidFill>
                  <a:srgbClr val="FF0000"/>
                </a:solidFill>
              </a:rPr>
              <a:t> </a:t>
            </a:r>
            <a:r>
              <a:rPr lang="en" sz="1200"/>
              <a:t>and </a:t>
            </a:r>
            <a:r>
              <a:rPr lang="en" sz="1200">
                <a:solidFill>
                  <a:srgbClr val="FF0000"/>
                </a:solidFill>
                <a:latin typeface="Courier New"/>
                <a:ea typeface="Courier New"/>
                <a:cs typeface="Courier New"/>
                <a:sym typeface="Courier New"/>
              </a:rPr>
              <a:t>abstract</a:t>
            </a:r>
            <a:r>
              <a:rPr lang="en" sz="1200"/>
              <a:t>. Because of this, </a:t>
            </a:r>
            <a:r>
              <a:rPr lang="en" sz="1200" b="1" i="1">
                <a:solidFill>
                  <a:srgbClr val="FF0000"/>
                </a:solidFill>
              </a:rPr>
              <a:t>both</a:t>
            </a:r>
            <a:r>
              <a:rPr lang="en" sz="1200">
                <a:solidFill>
                  <a:srgbClr val="FF0000"/>
                </a:solidFill>
              </a:rPr>
              <a:t> </a:t>
            </a:r>
            <a:r>
              <a:rPr lang="en" sz="1200"/>
              <a:t>modifiers are </a:t>
            </a:r>
            <a:r>
              <a:rPr lang="en" sz="1200" b="1" i="1">
                <a:solidFill>
                  <a:srgbClr val="FF0000"/>
                </a:solidFill>
              </a:rPr>
              <a:t>optional</a:t>
            </a:r>
            <a:r>
              <a:rPr lang="en" sz="1200"/>
              <a:t>.</a:t>
            </a:r>
            <a:endParaRPr sz="1200"/>
          </a:p>
        </p:txBody>
      </p:sp>
      <p:sp>
        <p:nvSpPr>
          <p:cNvPr id="1341" name="Google Shape;1341;p130"/>
          <p:cNvSpPr txBox="1"/>
          <p:nvPr/>
        </p:nvSpPr>
        <p:spPr>
          <a:xfrm>
            <a:off x="2879334" y="3177745"/>
            <a:ext cx="1347900" cy="406500"/>
          </a:xfrm>
          <a:prstGeom prst="rect">
            <a:avLst/>
          </a:prstGeom>
          <a:noFill/>
          <a:ln>
            <a:noFill/>
          </a:ln>
        </p:spPr>
        <p:txBody>
          <a:bodyPr spcFirstLastPara="1" wrap="square" lIns="91425" tIns="91425" rIns="91425" bIns="91425" anchor="ctr" anchorCtr="0">
            <a:noAutofit/>
          </a:bodyPr>
          <a:lstStyle/>
          <a:p>
            <a:pPr marL="0" lvl="0" indent="0" algn="ctr" rtl="0">
              <a:lnSpc>
                <a:spcPct val="135714"/>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abstract</a:t>
            </a:r>
            <a:endParaRPr sz="1000">
              <a:solidFill>
                <a:srgbClr val="569CD6"/>
              </a:solidFill>
              <a:latin typeface="Consolas"/>
              <a:ea typeface="Consolas"/>
              <a:cs typeface="Consolas"/>
              <a:sym typeface="Consolas"/>
            </a:endParaRPr>
          </a:p>
        </p:txBody>
      </p:sp>
      <p:sp>
        <p:nvSpPr>
          <p:cNvPr id="1342" name="Google Shape;1342;p130"/>
          <p:cNvSpPr txBox="1"/>
          <p:nvPr/>
        </p:nvSpPr>
        <p:spPr>
          <a:xfrm>
            <a:off x="129765" y="3938125"/>
            <a:ext cx="3000000" cy="1113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Dog</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speak</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"Woof!"</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343" name="Google Shape;1343;p130"/>
          <p:cNvSpPr txBox="1"/>
          <p:nvPr/>
        </p:nvSpPr>
        <p:spPr>
          <a:xfrm>
            <a:off x="3253965" y="3938125"/>
            <a:ext cx="3000000" cy="1113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Cat</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Animal</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speak</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"Meow!"</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344" name="Google Shape;1344;p130"/>
          <p:cNvSpPr/>
          <p:nvPr/>
        </p:nvSpPr>
        <p:spPr>
          <a:xfrm>
            <a:off x="1529740" y="3665425"/>
            <a:ext cx="365575" cy="406519"/>
          </a:xfrm>
          <a:custGeom>
            <a:avLst/>
            <a:gdLst/>
            <a:ahLst/>
            <a:cxnLst/>
            <a:rect l="l" t="t" r="r" b="b"/>
            <a:pathLst>
              <a:path w="14623" h="19509" extrusionOk="0">
                <a:moveTo>
                  <a:pt x="0" y="0"/>
                </a:moveTo>
                <a:cubicBezTo>
                  <a:pt x="2217" y="1527"/>
                  <a:pt x="10937" y="5912"/>
                  <a:pt x="13302" y="9163"/>
                </a:cubicBezTo>
                <a:cubicBezTo>
                  <a:pt x="15667" y="12415"/>
                  <a:pt x="14041" y="17785"/>
                  <a:pt x="14189" y="1950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45" name="Google Shape;1345;p130"/>
          <p:cNvSpPr/>
          <p:nvPr/>
        </p:nvSpPr>
        <p:spPr>
          <a:xfrm>
            <a:off x="1825340" y="3700100"/>
            <a:ext cx="2999885" cy="357070"/>
          </a:xfrm>
          <a:custGeom>
            <a:avLst/>
            <a:gdLst/>
            <a:ahLst/>
            <a:cxnLst/>
            <a:rect l="l" t="t" r="r" b="b"/>
            <a:pathLst>
              <a:path w="130657" h="16554" extrusionOk="0">
                <a:moveTo>
                  <a:pt x="0" y="0"/>
                </a:moveTo>
                <a:cubicBezTo>
                  <a:pt x="18968" y="1133"/>
                  <a:pt x="92032" y="4040"/>
                  <a:pt x="113808" y="6799"/>
                </a:cubicBezTo>
                <a:cubicBezTo>
                  <a:pt x="135584" y="9558"/>
                  <a:pt x="127849" y="14928"/>
                  <a:pt x="130657" y="1655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46" name="Google Shape;1346;p130"/>
          <p:cNvSpPr txBox="1"/>
          <p:nvPr/>
        </p:nvSpPr>
        <p:spPr>
          <a:xfrm>
            <a:off x="129765" y="2963426"/>
            <a:ext cx="2250000" cy="736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 class uses </a:t>
            </a:r>
            <a:r>
              <a:rPr lang="en" sz="1200">
                <a:solidFill>
                  <a:srgbClr val="FF0000"/>
                </a:solidFill>
                <a:latin typeface="Courier New"/>
                <a:ea typeface="Courier New"/>
                <a:cs typeface="Courier New"/>
                <a:sym typeface="Courier New"/>
              </a:rPr>
              <a:t>implements</a:t>
            </a:r>
            <a:r>
              <a:rPr lang="en" sz="1200">
                <a:solidFill>
                  <a:srgbClr val="FF0000"/>
                </a:solidFill>
              </a:rPr>
              <a:t> </a:t>
            </a:r>
            <a:r>
              <a:rPr lang="en" sz="1200"/>
              <a:t>(rather than </a:t>
            </a:r>
            <a:r>
              <a:rPr lang="en" sz="1200">
                <a:solidFill>
                  <a:srgbClr val="FF0000"/>
                </a:solidFill>
                <a:latin typeface="Courier New"/>
                <a:ea typeface="Courier New"/>
                <a:cs typeface="Courier New"/>
                <a:sym typeface="Courier New"/>
              </a:rPr>
              <a:t>extends</a:t>
            </a:r>
            <a:r>
              <a:rPr lang="en" sz="1200"/>
              <a:t>) to </a:t>
            </a:r>
            <a:r>
              <a:rPr lang="en" sz="1200" b="1" i="1">
                <a:solidFill>
                  <a:srgbClr val="FF0000"/>
                </a:solidFill>
              </a:rPr>
              <a:t>implement </a:t>
            </a:r>
            <a:r>
              <a:rPr lang="en" sz="1200"/>
              <a:t>an interface...</a:t>
            </a:r>
            <a:endParaRPr sz="1200"/>
          </a:p>
        </p:txBody>
      </p:sp>
      <p:sp>
        <p:nvSpPr>
          <p:cNvPr id="1347" name="Google Shape;1347;p130"/>
          <p:cNvSpPr/>
          <p:nvPr/>
        </p:nvSpPr>
        <p:spPr>
          <a:xfrm>
            <a:off x="5150900" y="4379540"/>
            <a:ext cx="1337600" cy="254025"/>
          </a:xfrm>
          <a:custGeom>
            <a:avLst/>
            <a:gdLst/>
            <a:ahLst/>
            <a:cxnLst/>
            <a:rect l="l" t="t" r="r" b="b"/>
            <a:pathLst>
              <a:path w="53504" h="10161" extrusionOk="0">
                <a:moveTo>
                  <a:pt x="53504" y="10161"/>
                </a:moveTo>
                <a:cubicBezTo>
                  <a:pt x="50893" y="8535"/>
                  <a:pt x="46754" y="1736"/>
                  <a:pt x="37837" y="406"/>
                </a:cubicBezTo>
                <a:cubicBezTo>
                  <a:pt x="28920" y="-924"/>
                  <a:pt x="6306" y="1884"/>
                  <a:pt x="0" y="218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48" name="Google Shape;1348;p130"/>
          <p:cNvSpPr/>
          <p:nvPr/>
        </p:nvSpPr>
        <p:spPr>
          <a:xfrm>
            <a:off x="2069225" y="4692700"/>
            <a:ext cx="4434050" cy="306000"/>
          </a:xfrm>
          <a:custGeom>
            <a:avLst/>
            <a:gdLst/>
            <a:ahLst/>
            <a:cxnLst/>
            <a:rect l="l" t="t" r="r" b="b"/>
            <a:pathLst>
              <a:path w="177362" h="12240" extrusionOk="0">
                <a:moveTo>
                  <a:pt x="177362" y="5617"/>
                </a:moveTo>
                <a:cubicBezTo>
                  <a:pt x="154305" y="6701"/>
                  <a:pt x="68580" y="13056"/>
                  <a:pt x="39020" y="12120"/>
                </a:cubicBezTo>
                <a:cubicBezTo>
                  <a:pt x="9460" y="11184"/>
                  <a:pt x="6503" y="2020"/>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49" name="Google Shape;1349;p130"/>
          <p:cNvSpPr txBox="1"/>
          <p:nvPr/>
        </p:nvSpPr>
        <p:spPr>
          <a:xfrm>
            <a:off x="6466265" y="4054396"/>
            <a:ext cx="2250000" cy="999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...and the implementing class </a:t>
            </a:r>
            <a:r>
              <a:rPr lang="en" sz="1200" b="1" i="1">
                <a:solidFill>
                  <a:srgbClr val="FF0000"/>
                </a:solidFill>
              </a:rPr>
              <a:t>must</a:t>
            </a:r>
            <a:r>
              <a:rPr lang="en" sz="1200">
                <a:solidFill>
                  <a:srgbClr val="FF0000"/>
                </a:solidFill>
              </a:rPr>
              <a:t> </a:t>
            </a:r>
            <a:r>
              <a:rPr lang="en" sz="1200"/>
              <a:t>implement any abstract methods defined by the interface (or be declared </a:t>
            </a:r>
            <a:r>
              <a:rPr lang="en" sz="1200">
                <a:solidFill>
                  <a:srgbClr val="FF0000"/>
                </a:solidFill>
                <a:latin typeface="Courier New"/>
                <a:ea typeface="Courier New"/>
                <a:cs typeface="Courier New"/>
                <a:sym typeface="Courier New"/>
              </a:rPr>
              <a:t>abstract</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4"/>
                                        </p:tgtEl>
                                        <p:attrNameLst>
                                          <p:attrName>style.visibility</p:attrName>
                                        </p:attrNameLst>
                                      </p:cBhvr>
                                      <p:to>
                                        <p:strVal val="visible"/>
                                      </p:to>
                                    </p:set>
                                    <p:animEffect transition="in" filter="fade">
                                      <p:cBhvr>
                                        <p:cTn id="7" dur="1000"/>
                                        <p:tgtEl>
                                          <p:spTgt spid="133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333"/>
                                        </p:tgtEl>
                                        <p:attrNameLst>
                                          <p:attrName>style.visibility</p:attrName>
                                        </p:attrNameLst>
                                      </p:cBhvr>
                                      <p:to>
                                        <p:strVal val="visible"/>
                                      </p:to>
                                    </p:set>
                                    <p:animEffect transition="in" filter="fade">
                                      <p:cBhvr>
                                        <p:cTn id="11" dur="1000"/>
                                        <p:tgtEl>
                                          <p:spTgt spid="133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337"/>
                                        </p:tgtEl>
                                        <p:attrNameLst>
                                          <p:attrName>style.visibility</p:attrName>
                                        </p:attrNameLst>
                                      </p:cBhvr>
                                      <p:to>
                                        <p:strVal val="visible"/>
                                      </p:to>
                                    </p:set>
                                    <p:animEffect transition="in" filter="fade">
                                      <p:cBhvr>
                                        <p:cTn id="16" dur="1000"/>
                                        <p:tgtEl>
                                          <p:spTgt spid="1337"/>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335"/>
                                        </p:tgtEl>
                                        <p:attrNameLst>
                                          <p:attrName>style.visibility</p:attrName>
                                        </p:attrNameLst>
                                      </p:cBhvr>
                                      <p:to>
                                        <p:strVal val="visible"/>
                                      </p:to>
                                    </p:set>
                                    <p:animEffect transition="in" filter="fade">
                                      <p:cBhvr>
                                        <p:cTn id="20" dur="1000"/>
                                        <p:tgtEl>
                                          <p:spTgt spid="1335"/>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1336"/>
                                        </p:tgtEl>
                                        <p:attrNameLst>
                                          <p:attrName>style.visibility</p:attrName>
                                        </p:attrNameLst>
                                      </p:cBhvr>
                                      <p:to>
                                        <p:strVal val="visible"/>
                                      </p:to>
                                    </p:set>
                                    <p:animEffect transition="in" filter="fade">
                                      <p:cBhvr>
                                        <p:cTn id="24" dur="1000"/>
                                        <p:tgtEl>
                                          <p:spTgt spid="133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40"/>
                                        </p:tgtEl>
                                        <p:attrNameLst>
                                          <p:attrName>style.visibility</p:attrName>
                                        </p:attrNameLst>
                                      </p:cBhvr>
                                      <p:to>
                                        <p:strVal val="visible"/>
                                      </p:to>
                                    </p:set>
                                    <p:animEffect transition="in" filter="fade">
                                      <p:cBhvr>
                                        <p:cTn id="29" dur="1000"/>
                                        <p:tgtEl>
                                          <p:spTgt spid="1340"/>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1338"/>
                                        </p:tgtEl>
                                        <p:attrNameLst>
                                          <p:attrName>style.visibility</p:attrName>
                                        </p:attrNameLst>
                                      </p:cBhvr>
                                      <p:to>
                                        <p:strVal val="visible"/>
                                      </p:to>
                                    </p:set>
                                    <p:animEffect transition="in" filter="fade">
                                      <p:cBhvr>
                                        <p:cTn id="33" dur="1000"/>
                                        <p:tgtEl>
                                          <p:spTgt spid="1338"/>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1339"/>
                                        </p:tgtEl>
                                        <p:attrNameLst>
                                          <p:attrName>style.visibility</p:attrName>
                                        </p:attrNameLst>
                                      </p:cBhvr>
                                      <p:to>
                                        <p:strVal val="visible"/>
                                      </p:to>
                                    </p:set>
                                    <p:animEffect transition="in" filter="fade">
                                      <p:cBhvr>
                                        <p:cTn id="37" dur="1000"/>
                                        <p:tgtEl>
                                          <p:spTgt spid="1339"/>
                                        </p:tgtEl>
                                      </p:cBhvr>
                                    </p:animEffect>
                                  </p:childTnLst>
                                </p:cTn>
                              </p:par>
                            </p:childTnLst>
                          </p:cTn>
                        </p:par>
                        <p:par>
                          <p:cTn id="38" fill="hold">
                            <p:stCondLst>
                              <p:cond delay="3000"/>
                            </p:stCondLst>
                            <p:childTnLst>
                              <p:par>
                                <p:cTn id="39" presetID="10" presetClass="exit" presetSubtype="0" fill="hold" nodeType="afterEffect">
                                  <p:stCondLst>
                                    <p:cond delay="0"/>
                                  </p:stCondLst>
                                  <p:childTnLst>
                                    <p:animEffect transition="out" filter="fade">
                                      <p:cBhvr>
                                        <p:cTn id="40" dur="1000"/>
                                        <p:tgtEl>
                                          <p:spTgt spid="1341"/>
                                        </p:tgtEl>
                                      </p:cBhvr>
                                    </p:animEffect>
                                    <p:set>
                                      <p:cBhvr>
                                        <p:cTn id="41" dur="1" fill="hold">
                                          <p:stCondLst>
                                            <p:cond delay="1000"/>
                                          </p:stCondLst>
                                        </p:cTn>
                                        <p:tgtEl>
                                          <p:spTgt spid="1341"/>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346"/>
                                        </p:tgtEl>
                                        <p:attrNameLst>
                                          <p:attrName>style.visibility</p:attrName>
                                        </p:attrNameLst>
                                      </p:cBhvr>
                                      <p:to>
                                        <p:strVal val="visible"/>
                                      </p:to>
                                    </p:set>
                                    <p:animEffect transition="in" filter="fade">
                                      <p:cBhvr>
                                        <p:cTn id="46" dur="1000"/>
                                        <p:tgtEl>
                                          <p:spTgt spid="1346"/>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1344"/>
                                        </p:tgtEl>
                                        <p:attrNameLst>
                                          <p:attrName>style.visibility</p:attrName>
                                        </p:attrNameLst>
                                      </p:cBhvr>
                                      <p:to>
                                        <p:strVal val="visible"/>
                                      </p:to>
                                    </p:set>
                                    <p:animEffect transition="in" filter="fade">
                                      <p:cBhvr>
                                        <p:cTn id="50" dur="1000"/>
                                        <p:tgtEl>
                                          <p:spTgt spid="1344"/>
                                        </p:tgtEl>
                                      </p:cBhvr>
                                    </p:animEffect>
                                  </p:childTnLst>
                                </p:cTn>
                              </p:par>
                              <p:par>
                                <p:cTn id="51" presetID="10" presetClass="entr" presetSubtype="0" fill="hold" nodeType="withEffect">
                                  <p:stCondLst>
                                    <p:cond delay="0"/>
                                  </p:stCondLst>
                                  <p:childTnLst>
                                    <p:set>
                                      <p:cBhvr>
                                        <p:cTn id="52" dur="1" fill="hold">
                                          <p:stCondLst>
                                            <p:cond delay="0"/>
                                          </p:stCondLst>
                                        </p:cTn>
                                        <p:tgtEl>
                                          <p:spTgt spid="1342"/>
                                        </p:tgtEl>
                                        <p:attrNameLst>
                                          <p:attrName>style.visibility</p:attrName>
                                        </p:attrNameLst>
                                      </p:cBhvr>
                                      <p:to>
                                        <p:strVal val="visible"/>
                                      </p:to>
                                    </p:set>
                                    <p:animEffect transition="in" filter="fade">
                                      <p:cBhvr>
                                        <p:cTn id="53" dur="1000"/>
                                        <p:tgtEl>
                                          <p:spTgt spid="1342"/>
                                        </p:tgtEl>
                                      </p:cBhvr>
                                    </p:animEffect>
                                  </p:childTnLst>
                                </p:cTn>
                              </p:par>
                            </p:childTnLst>
                          </p:cTn>
                        </p:par>
                        <p:par>
                          <p:cTn id="54" fill="hold">
                            <p:stCondLst>
                              <p:cond delay="2000"/>
                            </p:stCondLst>
                            <p:childTnLst>
                              <p:par>
                                <p:cTn id="55" presetID="10" presetClass="entr" presetSubtype="0" fill="hold" nodeType="afterEffect">
                                  <p:stCondLst>
                                    <p:cond delay="0"/>
                                  </p:stCondLst>
                                  <p:childTnLst>
                                    <p:set>
                                      <p:cBhvr>
                                        <p:cTn id="56" dur="1" fill="hold">
                                          <p:stCondLst>
                                            <p:cond delay="0"/>
                                          </p:stCondLst>
                                        </p:cTn>
                                        <p:tgtEl>
                                          <p:spTgt spid="1345"/>
                                        </p:tgtEl>
                                        <p:attrNameLst>
                                          <p:attrName>style.visibility</p:attrName>
                                        </p:attrNameLst>
                                      </p:cBhvr>
                                      <p:to>
                                        <p:strVal val="visible"/>
                                      </p:to>
                                    </p:set>
                                    <p:animEffect transition="in" filter="fade">
                                      <p:cBhvr>
                                        <p:cTn id="57" dur="1000"/>
                                        <p:tgtEl>
                                          <p:spTgt spid="1345"/>
                                        </p:tgtEl>
                                      </p:cBhvr>
                                    </p:animEffect>
                                  </p:childTnLst>
                                </p:cTn>
                              </p:par>
                              <p:par>
                                <p:cTn id="58" presetID="10" presetClass="entr" presetSubtype="0" fill="hold" nodeType="withEffect">
                                  <p:stCondLst>
                                    <p:cond delay="0"/>
                                  </p:stCondLst>
                                  <p:childTnLst>
                                    <p:set>
                                      <p:cBhvr>
                                        <p:cTn id="59" dur="1" fill="hold">
                                          <p:stCondLst>
                                            <p:cond delay="0"/>
                                          </p:stCondLst>
                                        </p:cTn>
                                        <p:tgtEl>
                                          <p:spTgt spid="1343"/>
                                        </p:tgtEl>
                                        <p:attrNameLst>
                                          <p:attrName>style.visibility</p:attrName>
                                        </p:attrNameLst>
                                      </p:cBhvr>
                                      <p:to>
                                        <p:strVal val="visible"/>
                                      </p:to>
                                    </p:set>
                                    <p:animEffect transition="in" filter="fade">
                                      <p:cBhvr>
                                        <p:cTn id="60" dur="1000"/>
                                        <p:tgtEl>
                                          <p:spTgt spid="134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349"/>
                                        </p:tgtEl>
                                        <p:attrNameLst>
                                          <p:attrName>style.visibility</p:attrName>
                                        </p:attrNameLst>
                                      </p:cBhvr>
                                      <p:to>
                                        <p:strVal val="visible"/>
                                      </p:to>
                                    </p:set>
                                    <p:animEffect transition="in" filter="fade">
                                      <p:cBhvr>
                                        <p:cTn id="65" dur="1000"/>
                                        <p:tgtEl>
                                          <p:spTgt spid="1349"/>
                                        </p:tgtEl>
                                      </p:cBhvr>
                                    </p:animEffect>
                                  </p:childTnLst>
                                </p:cTn>
                              </p:par>
                            </p:childTnLst>
                          </p:cTn>
                        </p:par>
                        <p:par>
                          <p:cTn id="66" fill="hold">
                            <p:stCondLst>
                              <p:cond delay="1000"/>
                            </p:stCondLst>
                            <p:childTnLst>
                              <p:par>
                                <p:cTn id="67" presetID="10" presetClass="entr" presetSubtype="0" fill="hold" nodeType="afterEffect">
                                  <p:stCondLst>
                                    <p:cond delay="0"/>
                                  </p:stCondLst>
                                  <p:childTnLst>
                                    <p:set>
                                      <p:cBhvr>
                                        <p:cTn id="68" dur="1" fill="hold">
                                          <p:stCondLst>
                                            <p:cond delay="0"/>
                                          </p:stCondLst>
                                        </p:cTn>
                                        <p:tgtEl>
                                          <p:spTgt spid="1347"/>
                                        </p:tgtEl>
                                        <p:attrNameLst>
                                          <p:attrName>style.visibility</p:attrName>
                                        </p:attrNameLst>
                                      </p:cBhvr>
                                      <p:to>
                                        <p:strVal val="visible"/>
                                      </p:to>
                                    </p:set>
                                    <p:animEffect transition="in" filter="fade">
                                      <p:cBhvr>
                                        <p:cTn id="69" dur="1000"/>
                                        <p:tgtEl>
                                          <p:spTgt spid="1347"/>
                                        </p:tgtEl>
                                      </p:cBhvr>
                                    </p:animEffect>
                                  </p:childTnLst>
                                </p:cTn>
                              </p:par>
                            </p:childTnLst>
                          </p:cTn>
                        </p:par>
                        <p:par>
                          <p:cTn id="70" fill="hold">
                            <p:stCondLst>
                              <p:cond delay="2000"/>
                            </p:stCondLst>
                            <p:childTnLst>
                              <p:par>
                                <p:cTn id="71" presetID="10" presetClass="entr" presetSubtype="0" fill="hold" nodeType="afterEffect">
                                  <p:stCondLst>
                                    <p:cond delay="0"/>
                                  </p:stCondLst>
                                  <p:childTnLst>
                                    <p:set>
                                      <p:cBhvr>
                                        <p:cTn id="72" dur="1" fill="hold">
                                          <p:stCondLst>
                                            <p:cond delay="0"/>
                                          </p:stCondLst>
                                        </p:cTn>
                                        <p:tgtEl>
                                          <p:spTgt spid="1348"/>
                                        </p:tgtEl>
                                        <p:attrNameLst>
                                          <p:attrName>style.visibility</p:attrName>
                                        </p:attrNameLst>
                                      </p:cBhvr>
                                      <p:to>
                                        <p:strVal val="visible"/>
                                      </p:to>
                                    </p:set>
                                    <p:animEffect transition="in" filter="fade">
                                      <p:cBhvr>
                                        <p:cTn id="73" dur="1000"/>
                                        <p:tgtEl>
                                          <p:spTgt spid="1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53"/>
        <p:cNvGrpSpPr/>
        <p:nvPr/>
      </p:nvGrpSpPr>
      <p:grpSpPr>
        <a:xfrm>
          <a:off x="0" y="0"/>
          <a:ext cx="0" cy="0"/>
          <a:chOff x="0" y="0"/>
          <a:chExt cx="0" cy="0"/>
        </a:xfrm>
      </p:grpSpPr>
      <p:sp>
        <p:nvSpPr>
          <p:cNvPr id="1354" name="Google Shape;1354;p13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a:latin typeface="Courier New"/>
                <a:ea typeface="Courier New"/>
                <a:cs typeface="Courier New"/>
                <a:sym typeface="Courier New"/>
              </a:rPr>
              <a:t>Expression</a:t>
            </a:r>
            <a:r>
              <a:rPr lang="en"/>
              <a:t> class defines only a single, abstract method. It does not have any fields, constructors, or concrete methods. There is no reason not to make it into an interface!</a:t>
            </a:r>
            <a:endParaRPr/>
          </a:p>
        </p:txBody>
      </p:sp>
      <p:sp>
        <p:nvSpPr>
          <p:cNvPr id="1355" name="Google Shape;1355;p1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69</a:t>
            </a:fld>
            <a:endParaRPr/>
          </a:p>
        </p:txBody>
      </p:sp>
      <p:sp>
        <p:nvSpPr>
          <p:cNvPr id="1356" name="Google Shape;1356;p131"/>
          <p:cNvSpPr txBox="1">
            <a:spLocks noGrp="1"/>
          </p:cNvSpPr>
          <p:nvPr>
            <p:ph type="body" idx="2"/>
          </p:nvPr>
        </p:nvSpPr>
        <p:spPr>
          <a:xfrm>
            <a:off x="3698525" y="1709625"/>
            <a:ext cx="5242500" cy="28275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your </a:t>
            </a:r>
            <a:r>
              <a:rPr lang="en" sz="1500">
                <a:latin typeface="Courier New"/>
                <a:ea typeface="Courier New"/>
                <a:cs typeface="Courier New"/>
                <a:sym typeface="Courier New"/>
              </a:rPr>
              <a:t>Expression</a:t>
            </a:r>
            <a:r>
              <a:rPr lang="en" sz="1500"/>
              <a:t> class and change it so that it is an </a:t>
            </a:r>
            <a:r>
              <a:rPr lang="en" sz="1500" b="1" i="1">
                <a:solidFill>
                  <a:srgbClr val="FF0000"/>
                </a:solidFill>
              </a:rPr>
              <a:t>interface </a:t>
            </a:r>
            <a:r>
              <a:rPr lang="en" sz="1500"/>
              <a:t>rather than a class.</a:t>
            </a:r>
            <a:endParaRPr sz="1500"/>
          </a:p>
          <a:p>
            <a:pPr marL="914400" lvl="1" indent="-311150" algn="l" rtl="0">
              <a:spcBef>
                <a:spcPts val="0"/>
              </a:spcBef>
              <a:spcAft>
                <a:spcPts val="0"/>
              </a:spcAft>
              <a:buSzPts val="1300"/>
              <a:buChar char="○"/>
            </a:pPr>
            <a:r>
              <a:rPr lang="en" sz="1300"/>
              <a:t>Change the "</a:t>
            </a:r>
            <a:r>
              <a:rPr lang="en" sz="1300">
                <a:latin typeface="Courier New"/>
                <a:ea typeface="Courier New"/>
                <a:cs typeface="Courier New"/>
                <a:sym typeface="Courier New"/>
              </a:rPr>
              <a:t>class</a:t>
            </a:r>
            <a:r>
              <a:rPr lang="en" sz="1300"/>
              <a:t>" keyword to "</a:t>
            </a:r>
            <a:r>
              <a:rPr lang="en" sz="1300">
                <a:solidFill>
                  <a:srgbClr val="FF0000"/>
                </a:solidFill>
                <a:latin typeface="Courier New"/>
                <a:ea typeface="Courier New"/>
                <a:cs typeface="Courier New"/>
                <a:sym typeface="Courier New"/>
              </a:rPr>
              <a:t>interface</a:t>
            </a:r>
            <a:r>
              <a:rPr lang="en" sz="1300"/>
              <a:t>".</a:t>
            </a:r>
            <a:endParaRPr sz="1300"/>
          </a:p>
          <a:p>
            <a:pPr marL="914400" lvl="1" indent="-311150" algn="l" rtl="0">
              <a:spcBef>
                <a:spcPts val="0"/>
              </a:spcBef>
              <a:spcAft>
                <a:spcPts val="0"/>
              </a:spcAft>
              <a:buSzPts val="1300"/>
              <a:buChar char="○"/>
            </a:pPr>
            <a:r>
              <a:rPr lang="en" sz="1300"/>
              <a:t>Note that, because </a:t>
            </a:r>
            <a:r>
              <a:rPr lang="en" sz="1300" b="1" i="1">
                <a:solidFill>
                  <a:srgbClr val="FF0000"/>
                </a:solidFill>
              </a:rPr>
              <a:t>all</a:t>
            </a:r>
            <a:r>
              <a:rPr lang="en" sz="1300">
                <a:solidFill>
                  <a:srgbClr val="FF0000"/>
                </a:solidFill>
              </a:rPr>
              <a:t> </a:t>
            </a:r>
            <a:r>
              <a:rPr lang="en" sz="1300"/>
              <a:t>methods in an interface </a:t>
            </a:r>
            <a:r>
              <a:rPr lang="en" sz="1300" b="1" i="1">
                <a:solidFill>
                  <a:srgbClr val="FF0000"/>
                </a:solidFill>
              </a:rPr>
              <a:t>must</a:t>
            </a:r>
            <a:r>
              <a:rPr lang="en" sz="1300">
                <a:solidFill>
                  <a:srgbClr val="FF0000"/>
                </a:solidFill>
              </a:rPr>
              <a:t> </a:t>
            </a:r>
            <a:r>
              <a:rPr lang="en" sz="1300"/>
              <a:t>be both </a:t>
            </a:r>
            <a:r>
              <a:rPr lang="en" sz="1300">
                <a:solidFill>
                  <a:srgbClr val="FF0000"/>
                </a:solidFill>
                <a:latin typeface="Courier New"/>
                <a:ea typeface="Courier New"/>
                <a:cs typeface="Courier New"/>
                <a:sym typeface="Courier New"/>
              </a:rPr>
              <a:t>public</a:t>
            </a:r>
            <a:r>
              <a:rPr lang="en" sz="1300">
                <a:solidFill>
                  <a:srgbClr val="FF0000"/>
                </a:solidFill>
              </a:rPr>
              <a:t> </a:t>
            </a:r>
            <a:r>
              <a:rPr lang="en" sz="1300"/>
              <a:t>and </a:t>
            </a:r>
            <a:r>
              <a:rPr lang="en" sz="1300">
                <a:solidFill>
                  <a:srgbClr val="FF0000"/>
                </a:solidFill>
                <a:latin typeface="Courier New"/>
                <a:ea typeface="Courier New"/>
                <a:cs typeface="Courier New"/>
                <a:sym typeface="Courier New"/>
              </a:rPr>
              <a:t>abstract</a:t>
            </a:r>
            <a:r>
              <a:rPr lang="en" sz="1300">
                <a:solidFill>
                  <a:srgbClr val="FF0000"/>
                </a:solidFill>
              </a:rPr>
              <a:t> </a:t>
            </a:r>
            <a:r>
              <a:rPr lang="en" sz="1300"/>
              <a:t>that those modifiers are optional. You may remove them from your method declaration. This is a purely stylistic choice.</a:t>
            </a:r>
            <a:endParaRPr sz="1300"/>
          </a:p>
          <a:p>
            <a:pPr marL="457200" lvl="0" indent="-323850" algn="l" rtl="0">
              <a:spcBef>
                <a:spcPts val="0"/>
              </a:spcBef>
              <a:spcAft>
                <a:spcPts val="0"/>
              </a:spcAft>
              <a:buSzPts val="1500"/>
              <a:buChar char="●"/>
            </a:pPr>
            <a:r>
              <a:rPr lang="en" sz="1500"/>
              <a:t>You should notice that all of your other expression classes are now flagged by VSCode as having errors.</a:t>
            </a:r>
            <a:endParaRPr sz="1500">
              <a:solidFill>
                <a:srgbClr val="FF0000"/>
              </a:solidFill>
            </a:endParaRPr>
          </a:p>
          <a:p>
            <a:pPr marL="914400" lvl="1" indent="-311150" algn="l" rtl="0">
              <a:spcBef>
                <a:spcPts val="0"/>
              </a:spcBef>
              <a:spcAft>
                <a:spcPts val="0"/>
              </a:spcAft>
              <a:buSzPts val="1300"/>
              <a:buChar char="○"/>
            </a:pPr>
            <a:r>
              <a:rPr lang="en" sz="1300"/>
              <a:t>Update your concrete expressions so that they all </a:t>
            </a:r>
            <a:r>
              <a:rPr lang="en" sz="1300" b="1" i="1">
                <a:solidFill>
                  <a:srgbClr val="FF0000"/>
                </a:solidFill>
              </a:rPr>
              <a:t>implement </a:t>
            </a:r>
            <a:r>
              <a:rPr lang="en" sz="1300"/>
              <a:t>your </a:t>
            </a:r>
            <a:r>
              <a:rPr lang="en" sz="1300">
                <a:latin typeface="Courier New"/>
                <a:ea typeface="Courier New"/>
                <a:cs typeface="Courier New"/>
                <a:sym typeface="Courier New"/>
              </a:rPr>
              <a:t>Expression</a:t>
            </a:r>
            <a:r>
              <a:rPr lang="en" sz="1300"/>
              <a:t> interface.</a:t>
            </a:r>
            <a:endParaRPr sz="1300"/>
          </a:p>
        </p:txBody>
      </p:sp>
      <p:sp>
        <p:nvSpPr>
          <p:cNvPr id="1357" name="Google Shape;1357;p13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Expression Interface</a:t>
            </a:r>
            <a:endParaRPr/>
          </a:p>
        </p:txBody>
      </p:sp>
      <p:sp>
        <p:nvSpPr>
          <p:cNvPr id="1358" name="Google Shape;1358;p13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3.31</a:t>
            </a:r>
            <a:endParaRPr/>
          </a:p>
        </p:txBody>
      </p:sp>
      <p:sp>
        <p:nvSpPr>
          <p:cNvPr id="1359" name="Google Shape;1359;p131"/>
          <p:cNvSpPr txBox="1">
            <a:spLocks noGrp="1"/>
          </p:cNvSpPr>
          <p:nvPr>
            <p:ph type="body" idx="4"/>
          </p:nvPr>
        </p:nvSpPr>
        <p:spPr>
          <a:xfrm>
            <a:off x="251075" y="2592575"/>
            <a:ext cx="32274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a:t>
            </a:r>
            <a:r>
              <a:rPr lang="en">
                <a:latin typeface="Courier New"/>
                <a:ea typeface="Courier New"/>
                <a:cs typeface="Courier New"/>
                <a:sym typeface="Courier New"/>
              </a:rPr>
              <a:t>public</a:t>
            </a:r>
            <a:r>
              <a:rPr lang="en"/>
              <a:t> and </a:t>
            </a:r>
            <a:r>
              <a:rPr lang="en">
                <a:latin typeface="Courier New"/>
                <a:ea typeface="Courier New"/>
                <a:cs typeface="Courier New"/>
                <a:sym typeface="Courier New"/>
              </a:rPr>
              <a:t>abstract</a:t>
            </a:r>
            <a:r>
              <a:rPr lang="en"/>
              <a:t> modifiers are optional in interfaces. It's a stylistic choice whether or not to include them.</a:t>
            </a:r>
            <a:endParaRPr/>
          </a:p>
        </p:txBody>
      </p:sp>
      <p:pic>
        <p:nvPicPr>
          <p:cNvPr id="1360" name="Google Shape;1360;p131"/>
          <p:cNvPicPr preferRelativeResize="0"/>
          <p:nvPr/>
        </p:nvPicPr>
        <p:blipFill>
          <a:blip r:embed="rId3">
            <a:alphaModFix/>
          </a:blip>
          <a:stretch>
            <a:fillRect/>
          </a:stretch>
        </p:blipFill>
        <p:spPr>
          <a:xfrm>
            <a:off x="251075" y="1709625"/>
            <a:ext cx="3227560" cy="70260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64"/>
        <p:cNvGrpSpPr/>
        <p:nvPr/>
      </p:nvGrpSpPr>
      <p:grpSpPr>
        <a:xfrm>
          <a:off x="0" y="0"/>
          <a:ext cx="0" cy="0"/>
          <a:chOff x="0" y="0"/>
          <a:chExt cx="0" cy="0"/>
        </a:xfrm>
      </p:grpSpPr>
      <p:sp>
        <p:nvSpPr>
          <p:cNvPr id="1365" name="Google Shape;1365;p13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urier New"/>
                <a:ea typeface="Courier New"/>
                <a:cs typeface="Courier New"/>
                <a:sym typeface="Courier New"/>
              </a:rPr>
              <a:t>class</a:t>
            </a:r>
            <a:r>
              <a:rPr lang="en"/>
              <a:t> vs. </a:t>
            </a:r>
            <a:r>
              <a:rPr lang="en">
                <a:latin typeface="Courier New"/>
                <a:ea typeface="Courier New"/>
                <a:cs typeface="Courier New"/>
                <a:sym typeface="Courier New"/>
              </a:rPr>
              <a:t>abstract class</a:t>
            </a:r>
            <a:r>
              <a:rPr lang="en"/>
              <a:t> vs. </a:t>
            </a:r>
            <a:r>
              <a:rPr lang="en">
                <a:latin typeface="Courier New"/>
                <a:ea typeface="Courier New"/>
                <a:cs typeface="Courier New"/>
                <a:sym typeface="Courier New"/>
              </a:rPr>
              <a:t>interface</a:t>
            </a:r>
            <a:endParaRPr>
              <a:latin typeface="Courier New"/>
              <a:ea typeface="Courier New"/>
              <a:cs typeface="Courier New"/>
              <a:sym typeface="Courier New"/>
            </a:endParaRPr>
          </a:p>
        </p:txBody>
      </p:sp>
      <p:sp>
        <p:nvSpPr>
          <p:cNvPr id="1366" name="Google Shape;1366;p1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70</a:t>
            </a:fld>
            <a:endParaRPr/>
          </a:p>
        </p:txBody>
      </p:sp>
      <p:graphicFrame>
        <p:nvGraphicFramePr>
          <p:cNvPr id="1367" name="Google Shape;1367;p132"/>
          <p:cNvGraphicFramePr/>
          <p:nvPr/>
        </p:nvGraphicFramePr>
        <p:xfrm>
          <a:off x="952500" y="1352550"/>
          <a:ext cx="7238975" cy="3627090"/>
        </p:xfrm>
        <a:graphic>
          <a:graphicData uri="http://schemas.openxmlformats.org/drawingml/2006/table">
            <a:tbl>
              <a:tblPr>
                <a:noFill/>
                <a:tableStyleId>{BB7116F7-C15E-4CF7-A1A4-3F0B48A09751}</a:tableStyleId>
              </a:tblPr>
              <a:tblGrid>
                <a:gridCol w="3879575">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gridCol w="111980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 sz="1300">
                          <a:solidFill>
                            <a:srgbClr val="FFFFFF"/>
                          </a:solidFill>
                        </a:rPr>
                        <a:t>Feature</a:t>
                      </a:r>
                      <a:endParaRPr sz="1300">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300">
                          <a:solidFill>
                            <a:srgbClr val="FFFFFF"/>
                          </a:solidFill>
                        </a:rPr>
                        <a:t>Class</a:t>
                      </a:r>
                      <a:endParaRPr sz="1300">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300">
                          <a:solidFill>
                            <a:srgbClr val="FFFFFF"/>
                          </a:solidFill>
                        </a:rPr>
                        <a:t>Abstract Class</a:t>
                      </a:r>
                      <a:endParaRPr sz="1300">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300">
                          <a:solidFill>
                            <a:srgbClr val="FFFFFF"/>
                          </a:solidFill>
                        </a:rPr>
                        <a:t>Interface</a:t>
                      </a:r>
                      <a:endParaRPr sz="1300">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a:t>be instantiated using </a:t>
                      </a:r>
                      <a:r>
                        <a:rPr lang="en" sz="1100">
                          <a:latin typeface="Courier New"/>
                          <a:ea typeface="Courier New"/>
                          <a:cs typeface="Courier New"/>
                          <a:sym typeface="Courier New"/>
                        </a:rPr>
                        <a:t>new</a:t>
                      </a:r>
                      <a:r>
                        <a:rPr lang="en" sz="1100"/>
                        <a:t>.</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a:t>include </a:t>
                      </a:r>
                      <a:r>
                        <a:rPr lang="en" sz="1100">
                          <a:latin typeface="Courier New"/>
                          <a:ea typeface="Courier New"/>
                          <a:cs typeface="Courier New"/>
                          <a:sym typeface="Courier New"/>
                        </a:rPr>
                        <a:t>static</a:t>
                      </a:r>
                      <a:r>
                        <a:rPr lang="en" sz="1100"/>
                        <a:t> state and behavior.</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a:t>include non-</a:t>
                      </a:r>
                      <a:r>
                        <a:rPr lang="en" sz="1100">
                          <a:latin typeface="Courier New"/>
                          <a:ea typeface="Courier New"/>
                          <a:cs typeface="Courier New"/>
                          <a:sym typeface="Courier New"/>
                        </a:rPr>
                        <a:t>static</a:t>
                      </a:r>
                      <a:r>
                        <a:rPr lang="en" sz="1100"/>
                        <a:t> state.</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a:t>define one or more </a:t>
                      </a:r>
                      <a:r>
                        <a:rPr lang="en" sz="1100">
                          <a:latin typeface="Courier New"/>
                          <a:ea typeface="Courier New"/>
                          <a:cs typeface="Courier New"/>
                          <a:sym typeface="Courier New"/>
                        </a:rPr>
                        <a:t>abstract</a:t>
                      </a:r>
                      <a:r>
                        <a:rPr lang="en" sz="1100"/>
                        <a:t> methods.</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100" b="1" i="1">
                          <a:solidFill>
                            <a:srgbClr val="FF0000"/>
                          </a:solidFill>
                        </a:rPr>
                        <a:t>Must</a:t>
                      </a:r>
                      <a:r>
                        <a:rPr lang="en" sz="1100">
                          <a:solidFill>
                            <a:srgbClr val="FF0000"/>
                          </a:solidFill>
                        </a:rPr>
                        <a:t> </a:t>
                      </a:r>
                      <a:r>
                        <a:rPr lang="en" sz="1100"/>
                        <a:t>implement inherited </a:t>
                      </a:r>
                      <a:r>
                        <a:rPr lang="en" sz="1100">
                          <a:latin typeface="Courier New"/>
                          <a:ea typeface="Courier New"/>
                          <a:cs typeface="Courier New"/>
                          <a:sym typeface="Courier New"/>
                        </a:rPr>
                        <a:t>abstract</a:t>
                      </a:r>
                      <a:r>
                        <a:rPr lang="en" sz="1100"/>
                        <a:t> methods.</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a:t>implement concrete methods.</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b="1" i="1">
                          <a:solidFill>
                            <a:srgbClr val="FF0000"/>
                          </a:solidFill>
                        </a:rPr>
                        <a:t>extend </a:t>
                      </a:r>
                      <a:r>
                        <a:rPr lang="en" sz="1100"/>
                        <a:t>exactly one other class.</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381000">
                <a:tc>
                  <a:txBody>
                    <a:bodyPr/>
                    <a:lstStyle/>
                    <a:p>
                      <a:pPr marL="0" lvl="0" indent="0" algn="l" rtl="0">
                        <a:spcBef>
                          <a:spcPts val="0"/>
                        </a:spcBef>
                        <a:spcAft>
                          <a:spcPts val="0"/>
                        </a:spcAft>
                        <a:buNone/>
                      </a:pPr>
                      <a:r>
                        <a:rPr lang="en" sz="1100" b="1" i="1">
                          <a:solidFill>
                            <a:srgbClr val="FF0000"/>
                          </a:solidFill>
                        </a:rPr>
                        <a:t>May</a:t>
                      </a:r>
                      <a:r>
                        <a:rPr lang="en" sz="1100">
                          <a:solidFill>
                            <a:srgbClr val="FF0000"/>
                          </a:solidFill>
                        </a:rPr>
                        <a:t> </a:t>
                      </a:r>
                      <a:r>
                        <a:rPr lang="en" sz="1100" b="1" i="1">
                          <a:solidFill>
                            <a:srgbClr val="FF0000"/>
                          </a:solidFill>
                        </a:rPr>
                        <a:t>implement </a:t>
                      </a:r>
                      <a:r>
                        <a:rPr lang="en" sz="1100"/>
                        <a:t>zero or more interfaces. </a:t>
                      </a:r>
                      <a:endParaRPr sz="11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sz="13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8"/>
                  </a:ext>
                </a:extLst>
              </a:tr>
            </a:tbl>
          </a:graphicData>
        </a:graphic>
      </p:graphicFrame>
      <p:graphicFrame>
        <p:nvGraphicFramePr>
          <p:cNvPr id="1368" name="Google Shape;1368;p132"/>
          <p:cNvGraphicFramePr/>
          <p:nvPr/>
        </p:nvGraphicFramePr>
        <p:xfrm>
          <a:off x="4832100" y="2299573"/>
          <a:ext cx="3359400" cy="381000"/>
        </p:xfrm>
        <a:graphic>
          <a:graphicData uri="http://schemas.openxmlformats.org/drawingml/2006/table">
            <a:tbl>
              <a:tblPr>
                <a:noFill/>
                <a:tableStyleId>{BB7116F7-C15E-4CF7-A1A4-3F0B48A09751}</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369" name="Google Shape;1369;p132"/>
          <p:cNvGraphicFramePr/>
          <p:nvPr/>
        </p:nvGraphicFramePr>
        <p:xfrm>
          <a:off x="4832100" y="2687003"/>
          <a:ext cx="3359400" cy="381000"/>
        </p:xfrm>
        <a:graphic>
          <a:graphicData uri="http://schemas.openxmlformats.org/drawingml/2006/table">
            <a:tbl>
              <a:tblPr>
                <a:noFill/>
                <a:tableStyleId>{BB7116F7-C15E-4CF7-A1A4-3F0B48A09751}</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370" name="Google Shape;1370;p132"/>
          <p:cNvGraphicFramePr/>
          <p:nvPr/>
        </p:nvGraphicFramePr>
        <p:xfrm>
          <a:off x="4832100" y="3087291"/>
          <a:ext cx="3359400" cy="381000"/>
        </p:xfrm>
        <a:graphic>
          <a:graphicData uri="http://schemas.openxmlformats.org/drawingml/2006/table">
            <a:tbl>
              <a:tblPr>
                <a:noFill/>
                <a:tableStyleId>{BB7116F7-C15E-4CF7-A1A4-3F0B48A09751}</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371" name="Google Shape;1371;p132"/>
          <p:cNvGraphicFramePr/>
          <p:nvPr/>
        </p:nvGraphicFramePr>
        <p:xfrm>
          <a:off x="4832100" y="3455432"/>
          <a:ext cx="3359400" cy="381000"/>
        </p:xfrm>
        <a:graphic>
          <a:graphicData uri="http://schemas.openxmlformats.org/drawingml/2006/table">
            <a:tbl>
              <a:tblPr>
                <a:noFill/>
                <a:tableStyleId>{BB7116F7-C15E-4CF7-A1A4-3F0B48A09751}</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372" name="Google Shape;1372;p132"/>
          <p:cNvGraphicFramePr/>
          <p:nvPr/>
        </p:nvGraphicFramePr>
        <p:xfrm>
          <a:off x="4832100" y="3830003"/>
          <a:ext cx="3359400" cy="381000"/>
        </p:xfrm>
        <a:graphic>
          <a:graphicData uri="http://schemas.openxmlformats.org/drawingml/2006/table">
            <a:tbl>
              <a:tblPr>
                <a:noFill/>
                <a:tableStyleId>{BB7116F7-C15E-4CF7-A1A4-3F0B48A09751}</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373" name="Google Shape;1373;p132"/>
          <p:cNvGraphicFramePr/>
          <p:nvPr/>
        </p:nvGraphicFramePr>
        <p:xfrm>
          <a:off x="4832100" y="4223861"/>
          <a:ext cx="3359400" cy="381000"/>
        </p:xfrm>
        <a:graphic>
          <a:graphicData uri="http://schemas.openxmlformats.org/drawingml/2006/table">
            <a:tbl>
              <a:tblPr>
                <a:noFill/>
                <a:tableStyleId>{BB7116F7-C15E-4CF7-A1A4-3F0B48A09751}</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374" name="Google Shape;1374;p132"/>
          <p:cNvGraphicFramePr/>
          <p:nvPr/>
        </p:nvGraphicFramePr>
        <p:xfrm>
          <a:off x="4832100" y="4604861"/>
          <a:ext cx="3359400" cy="381000"/>
        </p:xfrm>
        <a:graphic>
          <a:graphicData uri="http://schemas.openxmlformats.org/drawingml/2006/table">
            <a:tbl>
              <a:tblPr>
                <a:noFill/>
                <a:tableStyleId>{BB7116F7-C15E-4CF7-A1A4-3F0B48A09751}</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graphicFrame>
        <p:nvGraphicFramePr>
          <p:cNvPr id="1375" name="Google Shape;1375;p132"/>
          <p:cNvGraphicFramePr/>
          <p:nvPr/>
        </p:nvGraphicFramePr>
        <p:xfrm>
          <a:off x="4832100" y="1931432"/>
          <a:ext cx="3359400" cy="381000"/>
        </p:xfrm>
        <a:graphic>
          <a:graphicData uri="http://schemas.openxmlformats.org/drawingml/2006/table">
            <a:tbl>
              <a:tblPr>
                <a:noFill/>
                <a:tableStyleId>{BB7116F7-C15E-4CF7-A1A4-3F0B48A09751}</a:tableStyleId>
              </a:tblPr>
              <a:tblGrid>
                <a:gridCol w="1119800">
                  <a:extLst>
                    <a:ext uri="{9D8B030D-6E8A-4147-A177-3AD203B41FA5}">
                      <a16:colId xmlns:a16="http://schemas.microsoft.com/office/drawing/2014/main" val="20000"/>
                    </a:ext>
                  </a:extLst>
                </a:gridCol>
                <a:gridCol w="1119800">
                  <a:extLst>
                    <a:ext uri="{9D8B030D-6E8A-4147-A177-3AD203B41FA5}">
                      <a16:colId xmlns:a16="http://schemas.microsoft.com/office/drawing/2014/main" val="20001"/>
                    </a:ext>
                  </a:extLst>
                </a:gridCol>
                <a:gridCol w="11198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300">
                          <a:solidFill>
                            <a:srgbClr val="6AA84F"/>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tc>
                  <a:txBody>
                    <a:bodyPr/>
                    <a:lstStyle/>
                    <a:p>
                      <a:pPr marL="0" lvl="0" indent="0" algn="ctr" rtl="0">
                        <a:spcBef>
                          <a:spcPts val="0"/>
                        </a:spcBef>
                        <a:spcAft>
                          <a:spcPts val="0"/>
                        </a:spcAft>
                        <a:buNone/>
                      </a:pPr>
                      <a:r>
                        <a:rPr lang="en" sz="1300">
                          <a:solidFill>
                            <a:srgbClr val="FF0000"/>
                          </a:solidFill>
                        </a:rPr>
                        <a:t>✘</a:t>
                      </a:r>
                      <a:endParaRPr sz="13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no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5"/>
                                        </p:tgtEl>
                                        <p:attrNameLst>
                                          <p:attrName>style.visibility</p:attrName>
                                        </p:attrNameLst>
                                      </p:cBhvr>
                                      <p:to>
                                        <p:strVal val="visible"/>
                                      </p:to>
                                    </p:set>
                                    <p:animEffect transition="in" filter="fade">
                                      <p:cBhvr>
                                        <p:cTn id="7" dur="1000"/>
                                        <p:tgtEl>
                                          <p:spTgt spid="13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68"/>
                                        </p:tgtEl>
                                        <p:attrNameLst>
                                          <p:attrName>style.visibility</p:attrName>
                                        </p:attrNameLst>
                                      </p:cBhvr>
                                      <p:to>
                                        <p:strVal val="visible"/>
                                      </p:to>
                                    </p:set>
                                    <p:animEffect transition="in" filter="fade">
                                      <p:cBhvr>
                                        <p:cTn id="12" dur="1000"/>
                                        <p:tgtEl>
                                          <p:spTgt spid="136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69"/>
                                        </p:tgtEl>
                                        <p:attrNameLst>
                                          <p:attrName>style.visibility</p:attrName>
                                        </p:attrNameLst>
                                      </p:cBhvr>
                                      <p:to>
                                        <p:strVal val="visible"/>
                                      </p:to>
                                    </p:set>
                                    <p:animEffect transition="in" filter="fade">
                                      <p:cBhvr>
                                        <p:cTn id="17" dur="1000"/>
                                        <p:tgtEl>
                                          <p:spTgt spid="136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70"/>
                                        </p:tgtEl>
                                        <p:attrNameLst>
                                          <p:attrName>style.visibility</p:attrName>
                                        </p:attrNameLst>
                                      </p:cBhvr>
                                      <p:to>
                                        <p:strVal val="visible"/>
                                      </p:to>
                                    </p:set>
                                    <p:animEffect transition="in" filter="fade">
                                      <p:cBhvr>
                                        <p:cTn id="22" dur="1000"/>
                                        <p:tgtEl>
                                          <p:spTgt spid="137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71"/>
                                        </p:tgtEl>
                                        <p:attrNameLst>
                                          <p:attrName>style.visibility</p:attrName>
                                        </p:attrNameLst>
                                      </p:cBhvr>
                                      <p:to>
                                        <p:strVal val="visible"/>
                                      </p:to>
                                    </p:set>
                                    <p:animEffect transition="in" filter="fade">
                                      <p:cBhvr>
                                        <p:cTn id="27" dur="1000"/>
                                        <p:tgtEl>
                                          <p:spTgt spid="137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72"/>
                                        </p:tgtEl>
                                        <p:attrNameLst>
                                          <p:attrName>style.visibility</p:attrName>
                                        </p:attrNameLst>
                                      </p:cBhvr>
                                      <p:to>
                                        <p:strVal val="visible"/>
                                      </p:to>
                                    </p:set>
                                    <p:animEffect transition="in" filter="fade">
                                      <p:cBhvr>
                                        <p:cTn id="32" dur="1000"/>
                                        <p:tgtEl>
                                          <p:spTgt spid="137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73"/>
                                        </p:tgtEl>
                                        <p:attrNameLst>
                                          <p:attrName>style.visibility</p:attrName>
                                        </p:attrNameLst>
                                      </p:cBhvr>
                                      <p:to>
                                        <p:strVal val="visible"/>
                                      </p:to>
                                    </p:set>
                                    <p:animEffect transition="in" filter="fade">
                                      <p:cBhvr>
                                        <p:cTn id="37" dur="1000"/>
                                        <p:tgtEl>
                                          <p:spTgt spid="137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74"/>
                                        </p:tgtEl>
                                        <p:attrNameLst>
                                          <p:attrName>style.visibility</p:attrName>
                                        </p:attrNameLst>
                                      </p:cBhvr>
                                      <p:to>
                                        <p:strVal val="visible"/>
                                      </p:to>
                                    </p:set>
                                    <p:animEffect transition="in" filter="fade">
                                      <p:cBhvr>
                                        <p:cTn id="42" dur="1000"/>
                                        <p:tgtEl>
                                          <p:spTgt spid="1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379"/>
        <p:cNvGrpSpPr/>
        <p:nvPr/>
      </p:nvGrpSpPr>
      <p:grpSpPr>
        <a:xfrm>
          <a:off x="0" y="0"/>
          <a:ext cx="0" cy="0"/>
          <a:chOff x="0" y="0"/>
          <a:chExt cx="0" cy="0"/>
        </a:xfrm>
      </p:grpSpPr>
      <p:pic>
        <p:nvPicPr>
          <p:cNvPr id="1380" name="Google Shape;1380;p133"/>
          <p:cNvPicPr preferRelativeResize="0"/>
          <p:nvPr/>
        </p:nvPicPr>
        <p:blipFill>
          <a:blip r:embed="rId3">
            <a:alphaModFix/>
          </a:blip>
          <a:stretch>
            <a:fillRect/>
          </a:stretch>
        </p:blipFill>
        <p:spPr>
          <a:xfrm>
            <a:off x="2429321" y="2184354"/>
            <a:ext cx="4338712" cy="2374075"/>
          </a:xfrm>
          <a:prstGeom prst="rect">
            <a:avLst/>
          </a:prstGeom>
          <a:noFill/>
          <a:ln>
            <a:noFill/>
          </a:ln>
        </p:spPr>
      </p:pic>
      <p:sp>
        <p:nvSpPr>
          <p:cNvPr id="1381" name="Google Shape;1381;p1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71</a:t>
            </a:fld>
            <a:endParaRPr/>
          </a:p>
        </p:txBody>
      </p:sp>
      <p:sp>
        <p:nvSpPr>
          <p:cNvPr id="1382" name="Google Shape;1382;p133"/>
          <p:cNvSpPr txBox="1">
            <a:spLocks noGrp="1"/>
          </p:cNvSpPr>
          <p:nvPr>
            <p:ph type="title"/>
          </p:nvPr>
        </p:nvSpPr>
        <p:spPr>
          <a:xfrm>
            <a:off x="311725" y="5009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UML</a:t>
            </a:r>
            <a:endParaRPr/>
          </a:p>
          <a:p>
            <a:pPr marL="0" lvl="0" indent="0" algn="l" rtl="0">
              <a:spcBef>
                <a:spcPts val="0"/>
              </a:spcBef>
              <a:spcAft>
                <a:spcPts val="0"/>
              </a:spcAft>
              <a:buNone/>
            </a:pPr>
            <a:r>
              <a:rPr lang="en" sz="2000"/>
              <a:t>(with Interfaces)</a:t>
            </a:r>
            <a:endParaRPr sz="20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386"/>
        <p:cNvGrpSpPr/>
        <p:nvPr/>
      </p:nvGrpSpPr>
      <p:grpSpPr>
        <a:xfrm>
          <a:off x="0" y="0"/>
          <a:ext cx="0" cy="0"/>
          <a:chOff x="0" y="0"/>
          <a:chExt cx="0" cy="0"/>
        </a:xfrm>
      </p:grpSpPr>
      <p:pic>
        <p:nvPicPr>
          <p:cNvPr id="1387" name="Google Shape;1387;p134"/>
          <p:cNvPicPr preferRelativeResize="0"/>
          <p:nvPr/>
        </p:nvPicPr>
        <p:blipFill>
          <a:blip r:embed="rId3">
            <a:alphaModFix/>
          </a:blip>
          <a:stretch>
            <a:fillRect/>
          </a:stretch>
        </p:blipFill>
        <p:spPr>
          <a:xfrm>
            <a:off x="2429321" y="2184354"/>
            <a:ext cx="4338712" cy="2374075"/>
          </a:xfrm>
          <a:prstGeom prst="rect">
            <a:avLst/>
          </a:prstGeom>
          <a:noFill/>
          <a:ln>
            <a:noFill/>
          </a:ln>
        </p:spPr>
      </p:pic>
      <p:sp>
        <p:nvSpPr>
          <p:cNvPr id="1388" name="Google Shape;1388;p1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72</a:t>
            </a:fld>
            <a:endParaRPr/>
          </a:p>
        </p:txBody>
      </p:sp>
      <p:sp>
        <p:nvSpPr>
          <p:cNvPr id="1389" name="Google Shape;1389;p134"/>
          <p:cNvSpPr txBox="1">
            <a:spLocks noGrp="1"/>
          </p:cNvSpPr>
          <p:nvPr>
            <p:ph type="title"/>
          </p:nvPr>
        </p:nvSpPr>
        <p:spPr>
          <a:xfrm>
            <a:off x="311725" y="5009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UML</a:t>
            </a:r>
            <a:endParaRPr/>
          </a:p>
          <a:p>
            <a:pPr marL="0" lvl="0" indent="0" algn="l" rtl="0">
              <a:spcBef>
                <a:spcPts val="0"/>
              </a:spcBef>
              <a:spcAft>
                <a:spcPts val="0"/>
              </a:spcAft>
              <a:buNone/>
            </a:pPr>
            <a:r>
              <a:rPr lang="en" sz="2000"/>
              <a:t>(with Interfaces)</a:t>
            </a:r>
            <a:endParaRPr sz="2000"/>
          </a:p>
        </p:txBody>
      </p:sp>
      <p:sp>
        <p:nvSpPr>
          <p:cNvPr id="1390" name="Google Shape;1390;p134"/>
          <p:cNvSpPr txBox="1"/>
          <p:nvPr/>
        </p:nvSpPr>
        <p:spPr>
          <a:xfrm>
            <a:off x="6750916" y="1426500"/>
            <a:ext cx="2301900" cy="68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 </a:t>
            </a:r>
            <a:r>
              <a:rPr lang="en" sz="1200" b="1" i="1">
                <a:solidFill>
                  <a:srgbClr val="FF0000"/>
                </a:solidFill>
              </a:rPr>
              <a:t>interface</a:t>
            </a:r>
            <a:r>
              <a:rPr lang="en" sz="1200">
                <a:solidFill>
                  <a:srgbClr val="FF0000"/>
                </a:solidFill>
              </a:rPr>
              <a:t> </a:t>
            </a:r>
            <a:r>
              <a:rPr lang="en" sz="1200"/>
              <a:t>is often marked with an </a:t>
            </a:r>
            <a:r>
              <a:rPr lang="en" sz="1200" i="1">
                <a:solidFill>
                  <a:srgbClr val="FF0000"/>
                </a:solidFill>
                <a:latin typeface="Courier New"/>
                <a:ea typeface="Courier New"/>
                <a:cs typeface="Courier New"/>
                <a:sym typeface="Courier New"/>
              </a:rPr>
              <a:t>&lt;&lt;interface&gt;&gt;</a:t>
            </a:r>
            <a:r>
              <a:rPr lang="en" sz="1200"/>
              <a:t> tag above or below its name.</a:t>
            </a:r>
            <a:endParaRPr sz="1200"/>
          </a:p>
        </p:txBody>
      </p:sp>
      <p:sp>
        <p:nvSpPr>
          <p:cNvPr id="1391" name="Google Shape;1391;p134"/>
          <p:cNvSpPr/>
          <p:nvPr/>
        </p:nvSpPr>
        <p:spPr>
          <a:xfrm>
            <a:off x="6102500" y="2107200"/>
            <a:ext cx="796289" cy="280120"/>
          </a:xfrm>
          <a:custGeom>
            <a:avLst/>
            <a:gdLst/>
            <a:ahLst/>
            <a:cxnLst/>
            <a:rect l="l" t="t" r="r" b="b"/>
            <a:pathLst>
              <a:path w="25203" h="15757" extrusionOk="0">
                <a:moveTo>
                  <a:pt x="25203" y="0"/>
                </a:moveTo>
                <a:cubicBezTo>
                  <a:pt x="23917" y="2400"/>
                  <a:pt x="21689" y="11873"/>
                  <a:pt x="17488" y="14402"/>
                </a:cubicBezTo>
                <a:cubicBezTo>
                  <a:pt x="13288" y="16931"/>
                  <a:pt x="2915" y="15045"/>
                  <a:pt x="0" y="1517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92" name="Google Shape;1392;p134"/>
          <p:cNvSpPr txBox="1"/>
          <p:nvPr/>
        </p:nvSpPr>
        <p:spPr>
          <a:xfrm>
            <a:off x="6750925" y="2476785"/>
            <a:ext cx="2301900" cy="83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i="1">
                <a:solidFill>
                  <a:srgbClr val="FF0000"/>
                </a:solidFill>
              </a:rPr>
              <a:t>Implementation</a:t>
            </a:r>
            <a:r>
              <a:rPr lang="en" sz="1200">
                <a:solidFill>
                  <a:srgbClr val="FF0000"/>
                </a:solidFill>
              </a:rPr>
              <a:t> </a:t>
            </a:r>
            <a:r>
              <a:rPr lang="en" sz="1200"/>
              <a:t>(also called </a:t>
            </a:r>
            <a:r>
              <a:rPr lang="en" sz="1200" b="1" i="1">
                <a:solidFill>
                  <a:srgbClr val="FF0000"/>
                </a:solidFill>
              </a:rPr>
              <a:t>"realization"</a:t>
            </a:r>
            <a:r>
              <a:rPr lang="en" sz="1200"/>
              <a:t>) is shown with a closed, unfilled arrowhead and a </a:t>
            </a:r>
            <a:r>
              <a:rPr lang="en" sz="1200" b="1" i="1">
                <a:solidFill>
                  <a:srgbClr val="FF0000"/>
                </a:solidFill>
              </a:rPr>
              <a:t>dashed line</a:t>
            </a:r>
            <a:r>
              <a:rPr lang="en" sz="1200"/>
              <a:t> (</a:t>
            </a:r>
            <a:r>
              <a:rPr lang="en" sz="1200">
                <a:solidFill>
                  <a:srgbClr val="FF0000"/>
                </a:solidFill>
                <a:latin typeface="Courier New"/>
                <a:ea typeface="Courier New"/>
                <a:cs typeface="Courier New"/>
                <a:sym typeface="Courier New"/>
              </a:rPr>
              <a:t>---</a:t>
            </a:r>
            <a:r>
              <a:rPr lang="en" sz="1200"/>
              <a:t>).</a:t>
            </a:r>
            <a:endParaRPr sz="1200"/>
          </a:p>
        </p:txBody>
      </p:sp>
      <p:sp>
        <p:nvSpPr>
          <p:cNvPr id="1393" name="Google Shape;1393;p134"/>
          <p:cNvSpPr/>
          <p:nvPr/>
        </p:nvSpPr>
        <p:spPr>
          <a:xfrm>
            <a:off x="5831525" y="3307475"/>
            <a:ext cx="1047975" cy="261114"/>
          </a:xfrm>
          <a:custGeom>
            <a:avLst/>
            <a:gdLst/>
            <a:ahLst/>
            <a:cxnLst/>
            <a:rect l="l" t="t" r="r" b="b"/>
            <a:pathLst>
              <a:path w="41919" h="12858" extrusionOk="0">
                <a:moveTo>
                  <a:pt x="41919" y="0"/>
                </a:moveTo>
                <a:cubicBezTo>
                  <a:pt x="40890" y="1414"/>
                  <a:pt x="42734" y="6343"/>
                  <a:pt x="35747" y="8486"/>
                </a:cubicBezTo>
                <a:cubicBezTo>
                  <a:pt x="28761" y="10629"/>
                  <a:pt x="5958" y="12129"/>
                  <a:pt x="0" y="1285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94" name="Google Shape;1394;p134"/>
          <p:cNvSpPr txBox="1"/>
          <p:nvPr/>
        </p:nvSpPr>
        <p:spPr>
          <a:xfrm>
            <a:off x="6750925" y="3848385"/>
            <a:ext cx="2301900" cy="83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 class that </a:t>
            </a:r>
            <a:r>
              <a:rPr lang="en" sz="1200" b="1" i="1">
                <a:solidFill>
                  <a:srgbClr val="FF0000"/>
                </a:solidFill>
              </a:rPr>
              <a:t>implements </a:t>
            </a:r>
            <a:r>
              <a:rPr lang="en" sz="1200"/>
              <a:t>an interface </a:t>
            </a:r>
            <a:r>
              <a:rPr lang="en" sz="1200" b="1" i="1">
                <a:solidFill>
                  <a:srgbClr val="FF0000"/>
                </a:solidFill>
              </a:rPr>
              <a:t>must</a:t>
            </a:r>
            <a:r>
              <a:rPr lang="en" sz="1200">
                <a:solidFill>
                  <a:srgbClr val="FF0000"/>
                </a:solidFill>
              </a:rPr>
              <a:t> </a:t>
            </a:r>
            <a:r>
              <a:rPr lang="en" sz="1200"/>
              <a:t>implement the interface's methods (or be declared </a:t>
            </a:r>
            <a:r>
              <a:rPr lang="en" sz="1200">
                <a:latin typeface="Courier New"/>
                <a:ea typeface="Courier New"/>
                <a:cs typeface="Courier New"/>
                <a:sym typeface="Courier New"/>
              </a:rPr>
              <a:t>abstract</a:t>
            </a:r>
            <a:r>
              <a:rPr lang="en" sz="1200"/>
              <a:t>).</a:t>
            </a:r>
            <a:endParaRPr sz="1200"/>
          </a:p>
        </p:txBody>
      </p:sp>
      <p:sp>
        <p:nvSpPr>
          <p:cNvPr id="1395" name="Google Shape;1395;p134"/>
          <p:cNvSpPr/>
          <p:nvPr/>
        </p:nvSpPr>
        <p:spPr>
          <a:xfrm>
            <a:off x="5580775" y="4126975"/>
            <a:ext cx="1180774" cy="237900"/>
          </a:xfrm>
          <a:custGeom>
            <a:avLst/>
            <a:gdLst/>
            <a:ahLst/>
            <a:cxnLst/>
            <a:rect l="l" t="t" r="r" b="b"/>
            <a:pathLst>
              <a:path w="48863" h="9516" extrusionOk="0">
                <a:moveTo>
                  <a:pt x="48863" y="0"/>
                </a:moveTo>
                <a:cubicBezTo>
                  <a:pt x="43034" y="300"/>
                  <a:pt x="22031" y="214"/>
                  <a:pt x="13887" y="1800"/>
                </a:cubicBezTo>
                <a:cubicBezTo>
                  <a:pt x="5743" y="3386"/>
                  <a:pt x="2315" y="8230"/>
                  <a:pt x="0" y="9516"/>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96" name="Google Shape;1396;p134"/>
          <p:cNvSpPr/>
          <p:nvPr/>
        </p:nvSpPr>
        <p:spPr>
          <a:xfrm>
            <a:off x="2327500" y="1781474"/>
            <a:ext cx="2186000" cy="623720"/>
          </a:xfrm>
          <a:custGeom>
            <a:avLst/>
            <a:gdLst/>
            <a:ahLst/>
            <a:cxnLst/>
            <a:rect l="l" t="t" r="r" b="b"/>
            <a:pathLst>
              <a:path w="87440" h="23135" extrusionOk="0">
                <a:moveTo>
                  <a:pt x="0" y="761"/>
                </a:moveTo>
                <a:cubicBezTo>
                  <a:pt x="11573" y="975"/>
                  <a:pt x="54865" y="-1682"/>
                  <a:pt x="69438" y="2047"/>
                </a:cubicBezTo>
                <a:cubicBezTo>
                  <a:pt x="84011" y="5776"/>
                  <a:pt x="84440" y="19620"/>
                  <a:pt x="87440" y="2313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97" name="Google Shape;1397;p134"/>
          <p:cNvSpPr/>
          <p:nvPr/>
        </p:nvSpPr>
        <p:spPr>
          <a:xfrm>
            <a:off x="1902376" y="2211975"/>
            <a:ext cx="720914" cy="855125"/>
          </a:xfrm>
          <a:custGeom>
            <a:avLst/>
            <a:gdLst/>
            <a:ahLst/>
            <a:cxnLst/>
            <a:rect l="l" t="t" r="r" b="b"/>
            <a:pathLst>
              <a:path w="25492" h="34205" extrusionOk="0">
                <a:moveTo>
                  <a:pt x="32" y="0"/>
                </a:moveTo>
                <a:cubicBezTo>
                  <a:pt x="546" y="3901"/>
                  <a:pt x="-1125" y="17702"/>
                  <a:pt x="3118" y="23403"/>
                </a:cubicBezTo>
                <a:cubicBezTo>
                  <a:pt x="7361" y="29104"/>
                  <a:pt x="21763" y="32405"/>
                  <a:pt x="25492" y="3420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98" name="Google Shape;1398;p134"/>
          <p:cNvSpPr txBox="1"/>
          <p:nvPr/>
        </p:nvSpPr>
        <p:spPr>
          <a:xfrm>
            <a:off x="121000" y="1426500"/>
            <a:ext cx="2301900" cy="83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 </a:t>
            </a:r>
            <a:r>
              <a:rPr lang="en" sz="1200">
                <a:latin typeface="Courier New"/>
                <a:ea typeface="Courier New"/>
                <a:cs typeface="Courier New"/>
                <a:sym typeface="Courier New"/>
              </a:rPr>
              <a:t>abstract</a:t>
            </a:r>
            <a:r>
              <a:rPr lang="en" sz="1200"/>
              <a:t> class </a:t>
            </a:r>
            <a:r>
              <a:rPr lang="en" sz="1200" b="1" i="1">
                <a:solidFill>
                  <a:srgbClr val="FF0000"/>
                </a:solidFill>
              </a:rPr>
              <a:t>does not</a:t>
            </a:r>
            <a:r>
              <a:rPr lang="en" sz="1200"/>
              <a:t> need to implement any methods inherited from an interface...</a:t>
            </a:r>
            <a:endParaRPr sz="1200"/>
          </a:p>
        </p:txBody>
      </p:sp>
      <p:sp>
        <p:nvSpPr>
          <p:cNvPr id="1399" name="Google Shape;1399;p134"/>
          <p:cNvSpPr/>
          <p:nvPr/>
        </p:nvSpPr>
        <p:spPr>
          <a:xfrm>
            <a:off x="2006050" y="3896475"/>
            <a:ext cx="630075" cy="392200"/>
          </a:xfrm>
          <a:custGeom>
            <a:avLst/>
            <a:gdLst/>
            <a:ahLst/>
            <a:cxnLst/>
            <a:rect l="l" t="t" r="r" b="b"/>
            <a:pathLst>
              <a:path w="25203" h="15688" extrusionOk="0">
                <a:moveTo>
                  <a:pt x="0" y="0"/>
                </a:moveTo>
                <a:cubicBezTo>
                  <a:pt x="1157" y="2015"/>
                  <a:pt x="2743" y="9472"/>
                  <a:pt x="6943" y="12087"/>
                </a:cubicBezTo>
                <a:cubicBezTo>
                  <a:pt x="11144" y="14702"/>
                  <a:pt x="22160" y="15088"/>
                  <a:pt x="25203" y="1568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400" name="Google Shape;1400;p134"/>
          <p:cNvSpPr txBox="1"/>
          <p:nvPr/>
        </p:nvSpPr>
        <p:spPr>
          <a:xfrm>
            <a:off x="121000" y="3106500"/>
            <a:ext cx="2301900" cy="83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...but the responsibility is then passed onto any </a:t>
            </a:r>
            <a:r>
              <a:rPr lang="en" sz="1200" b="1" i="1">
                <a:solidFill>
                  <a:srgbClr val="FF0000"/>
                </a:solidFill>
              </a:rPr>
              <a:t>concrete</a:t>
            </a:r>
            <a:r>
              <a:rPr lang="en" sz="1200">
                <a:solidFill>
                  <a:srgbClr val="FF0000"/>
                </a:solidFill>
              </a:rPr>
              <a:t> </a:t>
            </a:r>
            <a:r>
              <a:rPr lang="en" sz="1200"/>
              <a:t>children that extend the abstract class.</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90"/>
                                        </p:tgtEl>
                                        <p:attrNameLst>
                                          <p:attrName>style.visibility</p:attrName>
                                        </p:attrNameLst>
                                      </p:cBhvr>
                                      <p:to>
                                        <p:strVal val="visible"/>
                                      </p:to>
                                    </p:set>
                                    <p:animEffect transition="in" filter="fade">
                                      <p:cBhvr>
                                        <p:cTn id="7" dur="1000"/>
                                        <p:tgtEl>
                                          <p:spTgt spid="139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391"/>
                                        </p:tgtEl>
                                        <p:attrNameLst>
                                          <p:attrName>style.visibility</p:attrName>
                                        </p:attrNameLst>
                                      </p:cBhvr>
                                      <p:to>
                                        <p:strVal val="visible"/>
                                      </p:to>
                                    </p:set>
                                    <p:animEffect transition="in" filter="fade">
                                      <p:cBhvr>
                                        <p:cTn id="11" dur="1000"/>
                                        <p:tgtEl>
                                          <p:spTgt spid="139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392"/>
                                        </p:tgtEl>
                                        <p:attrNameLst>
                                          <p:attrName>style.visibility</p:attrName>
                                        </p:attrNameLst>
                                      </p:cBhvr>
                                      <p:to>
                                        <p:strVal val="visible"/>
                                      </p:to>
                                    </p:set>
                                    <p:animEffect transition="in" filter="fade">
                                      <p:cBhvr>
                                        <p:cTn id="16" dur="1000"/>
                                        <p:tgtEl>
                                          <p:spTgt spid="1392"/>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393"/>
                                        </p:tgtEl>
                                        <p:attrNameLst>
                                          <p:attrName>style.visibility</p:attrName>
                                        </p:attrNameLst>
                                      </p:cBhvr>
                                      <p:to>
                                        <p:strVal val="visible"/>
                                      </p:to>
                                    </p:set>
                                    <p:animEffect transition="in" filter="fade">
                                      <p:cBhvr>
                                        <p:cTn id="20" dur="1000"/>
                                        <p:tgtEl>
                                          <p:spTgt spid="139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94"/>
                                        </p:tgtEl>
                                        <p:attrNameLst>
                                          <p:attrName>style.visibility</p:attrName>
                                        </p:attrNameLst>
                                      </p:cBhvr>
                                      <p:to>
                                        <p:strVal val="visible"/>
                                      </p:to>
                                    </p:set>
                                    <p:animEffect transition="in" filter="fade">
                                      <p:cBhvr>
                                        <p:cTn id="25" dur="1000"/>
                                        <p:tgtEl>
                                          <p:spTgt spid="1394"/>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395"/>
                                        </p:tgtEl>
                                        <p:attrNameLst>
                                          <p:attrName>style.visibility</p:attrName>
                                        </p:attrNameLst>
                                      </p:cBhvr>
                                      <p:to>
                                        <p:strVal val="visible"/>
                                      </p:to>
                                    </p:set>
                                    <p:animEffect transition="in" filter="fade">
                                      <p:cBhvr>
                                        <p:cTn id="29" dur="1000"/>
                                        <p:tgtEl>
                                          <p:spTgt spid="139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398"/>
                                        </p:tgtEl>
                                        <p:attrNameLst>
                                          <p:attrName>style.visibility</p:attrName>
                                        </p:attrNameLst>
                                      </p:cBhvr>
                                      <p:to>
                                        <p:strVal val="visible"/>
                                      </p:to>
                                    </p:set>
                                    <p:animEffect transition="in" filter="fade">
                                      <p:cBhvr>
                                        <p:cTn id="34" dur="1000"/>
                                        <p:tgtEl>
                                          <p:spTgt spid="1398"/>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396"/>
                                        </p:tgtEl>
                                        <p:attrNameLst>
                                          <p:attrName>style.visibility</p:attrName>
                                        </p:attrNameLst>
                                      </p:cBhvr>
                                      <p:to>
                                        <p:strVal val="visible"/>
                                      </p:to>
                                    </p:set>
                                    <p:animEffect transition="in" filter="fade">
                                      <p:cBhvr>
                                        <p:cTn id="38" dur="1000"/>
                                        <p:tgtEl>
                                          <p:spTgt spid="1396"/>
                                        </p:tgtEl>
                                      </p:cBhvr>
                                    </p:animEffect>
                                  </p:childTnLst>
                                </p:cTn>
                              </p:par>
                            </p:childTnLst>
                          </p:cTn>
                        </p:par>
                        <p:par>
                          <p:cTn id="39" fill="hold">
                            <p:stCondLst>
                              <p:cond delay="2000"/>
                            </p:stCondLst>
                            <p:childTnLst>
                              <p:par>
                                <p:cTn id="40" presetID="10" presetClass="entr" presetSubtype="0" fill="hold" nodeType="afterEffect">
                                  <p:stCondLst>
                                    <p:cond delay="0"/>
                                  </p:stCondLst>
                                  <p:childTnLst>
                                    <p:set>
                                      <p:cBhvr>
                                        <p:cTn id="41" dur="1" fill="hold">
                                          <p:stCondLst>
                                            <p:cond delay="0"/>
                                          </p:stCondLst>
                                        </p:cTn>
                                        <p:tgtEl>
                                          <p:spTgt spid="1397"/>
                                        </p:tgtEl>
                                        <p:attrNameLst>
                                          <p:attrName>style.visibility</p:attrName>
                                        </p:attrNameLst>
                                      </p:cBhvr>
                                      <p:to>
                                        <p:strVal val="visible"/>
                                      </p:to>
                                    </p:set>
                                    <p:animEffect transition="in" filter="fade">
                                      <p:cBhvr>
                                        <p:cTn id="42" dur="1000"/>
                                        <p:tgtEl>
                                          <p:spTgt spid="139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00"/>
                                        </p:tgtEl>
                                        <p:attrNameLst>
                                          <p:attrName>style.visibility</p:attrName>
                                        </p:attrNameLst>
                                      </p:cBhvr>
                                      <p:to>
                                        <p:strVal val="visible"/>
                                      </p:to>
                                    </p:set>
                                    <p:animEffect transition="in" filter="fade">
                                      <p:cBhvr>
                                        <p:cTn id="47" dur="1000"/>
                                        <p:tgtEl>
                                          <p:spTgt spid="1400"/>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1399"/>
                                        </p:tgtEl>
                                        <p:attrNameLst>
                                          <p:attrName>style.visibility</p:attrName>
                                        </p:attrNameLst>
                                      </p:cBhvr>
                                      <p:to>
                                        <p:strVal val="visible"/>
                                      </p:to>
                                    </p:set>
                                    <p:animEffect transition="in" filter="fade">
                                      <p:cBhvr>
                                        <p:cTn id="51" dur="1000"/>
                                        <p:tgtEl>
                                          <p:spTgt spid="1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404"/>
        <p:cNvGrpSpPr/>
        <p:nvPr/>
      </p:nvGrpSpPr>
      <p:grpSpPr>
        <a:xfrm>
          <a:off x="0" y="0"/>
          <a:ext cx="0" cy="0"/>
          <a:chOff x="0" y="0"/>
          <a:chExt cx="0" cy="0"/>
        </a:xfrm>
      </p:grpSpPr>
      <p:sp>
        <p:nvSpPr>
          <p:cNvPr id="1405" name="Google Shape;1405;p135"/>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1406" name="Google Shape;1406;p135"/>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1407" name="Google Shape;1407;p135"/>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1408" name="Google Shape;1408;p135"/>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1409" name="Google Shape;1409;p135"/>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1410" name="Google Shape;1410;p135"/>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1411" name="Google Shape;1411;p135"/>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1412" name="Google Shape;1412;p135"/>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Simple Domain Analysis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Basic Inheritance</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extends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overriding</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Polymorphism</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Abstract Classes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abstract methods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extending</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UML Class Diagrams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Interface Inheritance</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implements</a:t>
            </a:r>
            <a:endParaRPr sz="1600">
              <a:solidFill>
                <a:srgbClr val="FF0000"/>
              </a:solidFill>
              <a:latin typeface="Shadows Into Light"/>
              <a:ea typeface="Shadows Into Light"/>
              <a:cs typeface="Shadows Into Light"/>
              <a:sym typeface="Shadows Into Light"/>
            </a:endParaRPr>
          </a:p>
        </p:txBody>
      </p:sp>
      <p:sp>
        <p:nvSpPr>
          <p:cNvPr id="1413" name="Google Shape;1413;p1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73</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399</TotalTime>
  <Words>12207</Words>
  <Application>Microsoft Office PowerPoint</Application>
  <PresentationFormat>On-screen Show (16:9)</PresentationFormat>
  <Paragraphs>1559</Paragraphs>
  <Slides>73</Slides>
  <Notes>73</Notes>
  <HiddenSlides>3</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73</vt:i4>
      </vt:variant>
    </vt:vector>
  </HeadingPairs>
  <TitlesOfParts>
    <vt:vector size="85" baseType="lpstr">
      <vt:lpstr>Roboto</vt:lpstr>
      <vt:lpstr>Shadows Into Light</vt:lpstr>
      <vt:lpstr>Consolas</vt:lpstr>
      <vt:lpstr>Courier New</vt:lpstr>
      <vt:lpstr>Merriweather</vt:lpstr>
      <vt:lpstr>Arial</vt:lpstr>
      <vt:lpstr>Lato</vt:lpstr>
      <vt:lpstr>Wingdings</vt:lpstr>
      <vt:lpstr>Paradigm</vt:lpstr>
      <vt:lpstr>Paradigm</vt:lpstr>
      <vt:lpstr>Paradigm</vt:lpstr>
      <vt:lpstr>Paradigm</vt:lpstr>
      <vt:lpstr>GCIS-124 Software Development &amp; Problem Solving</vt:lpstr>
      <vt:lpstr>Accept the Assignment </vt:lpstr>
      <vt:lpstr>Asking for Help</vt:lpstr>
      <vt:lpstr>Inheritance</vt:lpstr>
      <vt:lpstr>Goats vs. Trolls V: The Trolls Strike Back  </vt:lpstr>
      <vt:lpstr>Simple Domain Analysis</vt:lpstr>
      <vt:lpstr>Simple Domain Analysis</vt:lpstr>
      <vt:lpstr>Damage Types</vt:lpstr>
      <vt:lpstr>Plan of Attack</vt:lpstr>
      <vt:lpstr>A Goat Mage</vt:lpstr>
      <vt:lpstr>The Goat Mage (continued)</vt:lpstr>
      <vt:lpstr>The Goat Fighter</vt:lpstr>
      <vt:lpstr>PowerPoint Presentation</vt:lpstr>
      <vt:lpstr>Goat Fight Club</vt:lpstr>
      <vt:lpstr>Mage Fight?</vt:lpstr>
      <vt:lpstr>Reuse </vt:lpstr>
      <vt:lpstr>Identifying Common Attributes</vt:lpstr>
      <vt:lpstr>Identifying Common Attributes</vt:lpstr>
      <vt:lpstr>A Common Goat </vt:lpstr>
      <vt:lpstr>A Common Goat</vt:lpstr>
      <vt:lpstr>Inheritance</vt:lpstr>
      <vt:lpstr>super &amp; Access Modifiers</vt:lpstr>
      <vt:lpstr>Inheritance Example</vt:lpstr>
      <vt:lpstr>Begin Refactoring Mage</vt:lpstr>
      <vt:lpstr>Overriding Methods</vt:lpstr>
      <vt:lpstr>Finish Refactoring Mage</vt:lpstr>
      <vt:lpstr>Refactor Fighter</vt:lpstr>
      <vt:lpstr>Polymorphism</vt:lpstr>
      <vt:lpstr>Goat Fight?</vt:lpstr>
      <vt:lpstr>A Closer Look</vt:lpstr>
      <vt:lpstr>A Closer Look</vt:lpstr>
      <vt:lpstr>Goat Fight Part 2</vt:lpstr>
      <vt:lpstr>New Goat Classes!</vt:lpstr>
      <vt:lpstr>A New Goat</vt:lpstr>
      <vt:lpstr>GOAT RUMBLE!</vt:lpstr>
      <vt:lpstr>Abstract Classes</vt:lpstr>
      <vt:lpstr>A Closer Look at Abstract Classes</vt:lpstr>
      <vt:lpstr>A Closer Look at Abstract Classes</vt:lpstr>
      <vt:lpstr>Subclassing an Abstract Class</vt:lpstr>
      <vt:lpstr>Subclassing an Abstract Class</vt:lpstr>
      <vt:lpstr>An Abstract Goat</vt:lpstr>
      <vt:lpstr>The Trolls</vt:lpstr>
      <vt:lpstr>Another Simple Domain Analysis</vt:lpstr>
      <vt:lpstr>Another Simple Domain Analysis</vt:lpstr>
      <vt:lpstr>Software Design</vt:lpstr>
      <vt:lpstr>Identifying Common Attributes</vt:lpstr>
      <vt:lpstr>Identifying Common Attributes</vt:lpstr>
      <vt:lpstr>Abstract Classes in UML</vt:lpstr>
      <vt:lpstr>Abstract Classes in UML</vt:lpstr>
      <vt:lpstr>Diagramming Trolls</vt:lpstr>
      <vt:lpstr>PowerPoint Presentation</vt:lpstr>
      <vt:lpstr>A Common Troll</vt:lpstr>
      <vt:lpstr>The Trollzord</vt:lpstr>
      <vt:lpstr>The Trolling</vt:lpstr>
      <vt:lpstr>An Expression Parser</vt:lpstr>
      <vt:lpstr>Expressions</vt:lpstr>
      <vt:lpstr>Expression Practice</vt:lpstr>
      <vt:lpstr>Expression Practice</vt:lpstr>
      <vt:lpstr>Another Simple Domain Analysis</vt:lpstr>
      <vt:lpstr>Another Simple Domain Analysis</vt:lpstr>
      <vt:lpstr>A World Without Polymorphism</vt:lpstr>
      <vt:lpstr>An Expression Class</vt:lpstr>
      <vt:lpstr>A Constant Expression</vt:lpstr>
      <vt:lpstr>Increment &amp; Decrement</vt:lpstr>
      <vt:lpstr>Addition &amp; Subtraction</vt:lpstr>
      <vt:lpstr>Interfaces</vt:lpstr>
      <vt:lpstr>Java Interfaces</vt:lpstr>
      <vt:lpstr>A Closer Look at Interfaces</vt:lpstr>
      <vt:lpstr>An Expression Interface</vt:lpstr>
      <vt:lpstr>class vs. abstract class vs. interface</vt:lpstr>
      <vt:lpstr>UML (with Interfaces)</vt:lpstr>
      <vt:lpstr>UML (with Interfaces)</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31</cp:revision>
  <dcterms:modified xsi:type="dcterms:W3CDTF">2026-01-27T21:06:17Z</dcterms:modified>
</cp:coreProperties>
</file>