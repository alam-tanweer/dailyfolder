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06" r:id="rId4"/>
    <p:sldMasterId id="2147483707" r:id="rId5"/>
    <p:sldMasterId id="2147483708" r:id="rId6"/>
    <p:sldMasterId id="2147483709"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Lst>
  <p:sldSz cy="5143500" cx="9144000"/>
  <p:notesSz cx="6858000" cy="9144000"/>
  <p:embeddedFontLst>
    <p:embeddedFont>
      <p:font typeface="Roboto"/>
      <p:regular r:id="rId82"/>
      <p:bold r:id="rId83"/>
      <p:italic r:id="rId84"/>
      <p:boldItalic r:id="rId85"/>
    </p:embeddedFont>
    <p:embeddedFont>
      <p:font typeface="Lato"/>
      <p:regular r:id="rId86"/>
      <p:bold r:id="rId87"/>
      <p:italic r:id="rId88"/>
      <p:boldItalic r:id="rId89"/>
    </p:embeddedFont>
    <p:embeddedFont>
      <p:font typeface="Shadows Into Light"/>
      <p:regular r:id="rId90"/>
    </p:embeddedFont>
    <p:embeddedFont>
      <p:font typeface="Merriweather"/>
      <p:regular r:id="rId91"/>
      <p:bold r:id="rId92"/>
      <p:italic r:id="rId93"/>
      <p:boldItalic r:id="rId9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F442979-C056-43AA-83C6-67E564C60A4D}">
  <a:tblStyle styleId="{7F442979-C056-43AA-83C6-67E564C60A4D}"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BB7116F7-C15E-4CF7-A1A4-3F0B48A09751}"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84" Type="http://schemas.openxmlformats.org/officeDocument/2006/relationships/font" Target="fonts/Roboto-italic.fntdata"/><Relationship Id="rId83" Type="http://schemas.openxmlformats.org/officeDocument/2006/relationships/font" Target="fonts/Roboto-bold.fntdata"/><Relationship Id="rId42" Type="http://schemas.openxmlformats.org/officeDocument/2006/relationships/slide" Target="slides/slide34.xml"/><Relationship Id="rId86" Type="http://schemas.openxmlformats.org/officeDocument/2006/relationships/font" Target="fonts/Lato-regular.fntdata"/><Relationship Id="rId41" Type="http://schemas.openxmlformats.org/officeDocument/2006/relationships/slide" Target="slides/slide33.xml"/><Relationship Id="rId85" Type="http://schemas.openxmlformats.org/officeDocument/2006/relationships/font" Target="fonts/Roboto-boldItalic.fntdata"/><Relationship Id="rId44" Type="http://schemas.openxmlformats.org/officeDocument/2006/relationships/slide" Target="slides/slide36.xml"/><Relationship Id="rId88" Type="http://schemas.openxmlformats.org/officeDocument/2006/relationships/font" Target="fonts/Lato-italic.fntdata"/><Relationship Id="rId43" Type="http://schemas.openxmlformats.org/officeDocument/2006/relationships/slide" Target="slides/slide35.xml"/><Relationship Id="rId87" Type="http://schemas.openxmlformats.org/officeDocument/2006/relationships/font" Target="fonts/Lato-bold.fntdata"/><Relationship Id="rId46" Type="http://schemas.openxmlformats.org/officeDocument/2006/relationships/slide" Target="slides/slide38.xml"/><Relationship Id="rId45" Type="http://schemas.openxmlformats.org/officeDocument/2006/relationships/slide" Target="slides/slide37.xml"/><Relationship Id="rId89" Type="http://schemas.openxmlformats.org/officeDocument/2006/relationships/font" Target="fonts/Lato-boldItalic.fntdata"/><Relationship Id="rId80" Type="http://schemas.openxmlformats.org/officeDocument/2006/relationships/slide" Target="slides/slide72.xml"/><Relationship Id="rId82" Type="http://schemas.openxmlformats.org/officeDocument/2006/relationships/font" Target="fonts/Roboto-regular.fntdata"/><Relationship Id="rId81" Type="http://schemas.openxmlformats.org/officeDocument/2006/relationships/slide" Target="slides/slide73.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31" Type="http://schemas.openxmlformats.org/officeDocument/2006/relationships/slide" Target="slides/slide23.xml"/><Relationship Id="rId75" Type="http://schemas.openxmlformats.org/officeDocument/2006/relationships/slide" Target="slides/slide67.xml"/><Relationship Id="rId30" Type="http://schemas.openxmlformats.org/officeDocument/2006/relationships/slide" Target="slides/slide22.xml"/><Relationship Id="rId74" Type="http://schemas.openxmlformats.org/officeDocument/2006/relationships/slide" Target="slides/slide66.xml"/><Relationship Id="rId33" Type="http://schemas.openxmlformats.org/officeDocument/2006/relationships/slide" Target="slides/slide25.xml"/><Relationship Id="rId77" Type="http://schemas.openxmlformats.org/officeDocument/2006/relationships/slide" Target="slides/slide69.xml"/><Relationship Id="rId32" Type="http://schemas.openxmlformats.org/officeDocument/2006/relationships/slide" Target="slides/slide24.xml"/><Relationship Id="rId76" Type="http://schemas.openxmlformats.org/officeDocument/2006/relationships/slide" Target="slides/slide68.xml"/><Relationship Id="rId35" Type="http://schemas.openxmlformats.org/officeDocument/2006/relationships/slide" Target="slides/slide27.xml"/><Relationship Id="rId79" Type="http://schemas.openxmlformats.org/officeDocument/2006/relationships/slide" Target="slides/slide71.xml"/><Relationship Id="rId34" Type="http://schemas.openxmlformats.org/officeDocument/2006/relationships/slide" Target="slides/slide26.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slide" Target="slides/slide56.xml"/><Relationship Id="rId63" Type="http://schemas.openxmlformats.org/officeDocument/2006/relationships/slide" Target="slides/slide55.xml"/><Relationship Id="rId22" Type="http://schemas.openxmlformats.org/officeDocument/2006/relationships/slide" Target="slides/slide14.xml"/><Relationship Id="rId66" Type="http://schemas.openxmlformats.org/officeDocument/2006/relationships/slide" Target="slides/slide58.xml"/><Relationship Id="rId21" Type="http://schemas.openxmlformats.org/officeDocument/2006/relationships/slide" Target="slides/slide13.xml"/><Relationship Id="rId65" Type="http://schemas.openxmlformats.org/officeDocument/2006/relationships/slide" Target="slides/slide57.xml"/><Relationship Id="rId24" Type="http://schemas.openxmlformats.org/officeDocument/2006/relationships/slide" Target="slides/slide16.xml"/><Relationship Id="rId68" Type="http://schemas.openxmlformats.org/officeDocument/2006/relationships/slide" Target="slides/slide60.xml"/><Relationship Id="rId23" Type="http://schemas.openxmlformats.org/officeDocument/2006/relationships/slide" Target="slides/slide15.xml"/><Relationship Id="rId67" Type="http://schemas.openxmlformats.org/officeDocument/2006/relationships/slide" Target="slides/slide59.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slide" Target="slides/slide61.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94" Type="http://schemas.openxmlformats.org/officeDocument/2006/relationships/font" Target="fonts/Merriweather-boldItalic.fntdata"/><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91" Type="http://schemas.openxmlformats.org/officeDocument/2006/relationships/font" Target="fonts/Merriweather-regular.fntdata"/><Relationship Id="rId90" Type="http://schemas.openxmlformats.org/officeDocument/2006/relationships/font" Target="fonts/ShadowsIntoLight-regular.fntdata"/><Relationship Id="rId93" Type="http://schemas.openxmlformats.org/officeDocument/2006/relationships/font" Target="fonts/Merriweather-italic.fntdata"/><Relationship Id="rId92" Type="http://schemas.openxmlformats.org/officeDocument/2006/relationships/font" Target="fonts/Merriweather-bold.fntdata"/><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d361f69cb2_1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1d361f69cb2_1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fcac5a0e77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1fcac5a0e77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d361f69cb2_1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1d361f69cb2_1_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1d361f69cb2_1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1d361f69cb2_1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d361f69cb2_1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d361f69cb2_1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1d361f69cb2_1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1d361f69cb2_1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d361f69cb2_1_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1d361f69cb2_1_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1d361f69cb2_1_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1d361f69cb2_1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1d361f69cb2_1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1d361f69cb2_1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1fcac5a0e77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1fcac5a0e77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1d361f69cb2_1_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1d361f69cb2_1_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1d361f69cb2_1_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1d361f69cb2_1_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1" name="Google Shape;53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1d361f69cb2_1_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1d361f69cb2_1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1d361f69cb2_1_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1d361f69cb2_1_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3" name="Google Shape;57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1d361f69cb2_1_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1d361f69cb2_1_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6" name="Google Shape;60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9" name="Google Shape;61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1" name="Google Shape;64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caveat regarding constructors is the a default or parameterless constructor in the parent will be automatically invoked if it exists and no other constructor is explicitly called by the child.</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1d361f69cb2_1_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1d361f69cb2_1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6" name="Google Shape;67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1d623b8ce9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1d623b8ce9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1d623b8ce9b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1d623b8ce9b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1d361f69cb2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1d361f69cb2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It's worth pointing out that there are exceptions to every rule, and polymorphism/inheritance can be taken too far. For example: having flower and bicycle classes share a common parent because they both have a color...</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1d623b8ce9b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1d623b8ce9b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2b0f774a3bf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2b0f774a3bf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b0f774a3bf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b0f774a3bf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1d623b8ce9b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1d623b8ce9b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1d623b8ce9b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1d623b8ce9b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OK TO SKIP/SKIM</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1d623b8ce9b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1d623b8ce9b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OK TO SKIP/SKIM</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1d623b8ce9b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1d623b8ce9b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OK TO SKIP/SKIM</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1d361f69cb2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0" name="Google Shape;830;g1d361f69cb2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1fcac5a0e77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1fcac5a0e77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1fcac5a0e77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1fcac5a0e77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1fcac5a0e77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1fcac5a0e77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1fcac5a0e77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1fcac5a0e77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1fcac5a0e7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4" name="Google Shape;924;g1fcac5a0e7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1d361f69cb2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1d361f69cb2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1fcac5a0e77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1fcac5a0e77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1fcac5a0e77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1fcac5a0e77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1d361f69cb2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1d361f69cb2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1fcac5a0e77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8" name="Google Shape;988;g1fcac5a0e77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1fcac5a0e77_0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1" name="Google Shape;1001;g1fcac5a0e77_0_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1fcac5a0e77_0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0" name="Google Shape;1020;g1fcac5a0e77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2b0f774a3bf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2b0f774a3bf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1fcac5a0e77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1" name="Google Shape;1051;g1fcac5a0e77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1fcac5a0e77_0_6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1fcac5a0e77_0_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g1fcac5a0e77_0_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7" name="Google Shape;1067;g1fcac5a0e77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1fcac5a0e77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1" name="Google Shape;1081;g1fcac5a0e77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1ebeccc289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2" name="Google Shape;1092;g1ebeccc289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1d361f69cb2_0_7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1d361f69cb2_0_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1d361f69cb2_0_7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5" name="Google Shape;1115;g1d361f69cb2_0_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1ebeccc2898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g1ebeccc2898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1ebeccc2898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4" name="Google Shape;1164;g1ebeccc2898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1ebeccc289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1" name="Google Shape;1181;g1ebeccc289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g1ebeccc2898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0" name="Google Shape;1190;g1ebeccc2898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1d361f69cb2_0_8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4" name="Google Shape;1214;g1d361f69cb2_0_8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1ebeccc2898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3" name="Google Shape;1223;g1ebeccc2898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1ebeccc2898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5" name="Google Shape;1235;g1ebeccc2898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1ebeccc2898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6" name="Google Shape;1246;g1ebeccc2898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g1ebeccc2898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7" name="Google Shape;1257;g1ebeccc2898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g1d361f69cb2_0_8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2" name="Google Shape;1292;g1d361f69cb2_0_8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g1d361f69cb2_0_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2" name="Google Shape;1312;g1d361f69cb2_0_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1d361f69cb2_0_8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8" name="Google Shape;1328;g1d361f69cb2_0_8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of your students may have used default methods before. If they ask, just point out that we won't be covering them in this course because they muddy the water between abstract classes and interfaces too much for students that are just learning.</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g1ebeccc2898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2" name="Google Shape;1352;g1ebeccc2898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1d361f69cb2_0_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3" name="Google Shape;1363;g1d361f69cb2_0_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may want to note that one interface may extend another.</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g1d361f69cb2_0_9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8" name="Google Shape;1378;g1d361f69cb2_0_9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g1d361f69cb2_0_9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5" name="Google Shape;1385;g1d361f69cb2_0_9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g1d361f69cb2_0_9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3" name="Google Shape;1403;g1d361f69cb2_0_9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2"/>
              </a:buClr>
              <a:buSzPts val="1600"/>
              <a:buNone/>
              <a:defRPr sz="1600">
                <a:solidFill>
                  <a:schemeClr val="lt2"/>
                </a:solidFill>
              </a:defRPr>
            </a:lvl1pPr>
            <a:lvl2pPr lvl="1" algn="l">
              <a:lnSpc>
                <a:spcPct val="100000"/>
              </a:lnSpc>
              <a:spcBef>
                <a:spcPts val="0"/>
              </a:spcBef>
              <a:spcAft>
                <a:spcPts val="0"/>
              </a:spcAft>
              <a:buClr>
                <a:schemeClr val="lt2"/>
              </a:buClr>
              <a:buSzPts val="1600"/>
              <a:buNone/>
              <a:defRPr sz="1600">
                <a:solidFill>
                  <a:schemeClr val="lt2"/>
                </a:solidFill>
              </a:defRPr>
            </a:lvl2pPr>
            <a:lvl3pPr lvl="2" algn="l">
              <a:lnSpc>
                <a:spcPct val="100000"/>
              </a:lnSpc>
              <a:spcBef>
                <a:spcPts val="0"/>
              </a:spcBef>
              <a:spcAft>
                <a:spcPts val="0"/>
              </a:spcAft>
              <a:buClr>
                <a:schemeClr val="lt2"/>
              </a:buClr>
              <a:buSzPts val="1600"/>
              <a:buNone/>
              <a:defRPr sz="1600">
                <a:solidFill>
                  <a:schemeClr val="lt2"/>
                </a:solidFill>
              </a:defRPr>
            </a:lvl3pPr>
            <a:lvl4pPr lvl="3" algn="l">
              <a:lnSpc>
                <a:spcPct val="100000"/>
              </a:lnSpc>
              <a:spcBef>
                <a:spcPts val="0"/>
              </a:spcBef>
              <a:spcAft>
                <a:spcPts val="0"/>
              </a:spcAft>
              <a:buClr>
                <a:schemeClr val="lt2"/>
              </a:buClr>
              <a:buSzPts val="1600"/>
              <a:buNone/>
              <a:defRPr sz="1600">
                <a:solidFill>
                  <a:schemeClr val="lt2"/>
                </a:solidFill>
              </a:defRPr>
            </a:lvl4pPr>
            <a:lvl5pPr lvl="4" algn="l">
              <a:lnSpc>
                <a:spcPct val="100000"/>
              </a:lnSpc>
              <a:spcBef>
                <a:spcPts val="0"/>
              </a:spcBef>
              <a:spcAft>
                <a:spcPts val="0"/>
              </a:spcAft>
              <a:buClr>
                <a:schemeClr val="lt2"/>
              </a:buClr>
              <a:buSzPts val="1600"/>
              <a:buNone/>
              <a:defRPr sz="1600">
                <a:solidFill>
                  <a:schemeClr val="lt2"/>
                </a:solidFill>
              </a:defRPr>
            </a:lvl5pPr>
            <a:lvl6pPr lvl="5" algn="l">
              <a:lnSpc>
                <a:spcPct val="100000"/>
              </a:lnSpc>
              <a:spcBef>
                <a:spcPts val="0"/>
              </a:spcBef>
              <a:spcAft>
                <a:spcPts val="0"/>
              </a:spcAft>
              <a:buClr>
                <a:schemeClr val="lt2"/>
              </a:buClr>
              <a:buSzPts val="1600"/>
              <a:buNone/>
              <a:defRPr sz="1600">
                <a:solidFill>
                  <a:schemeClr val="lt2"/>
                </a:solidFill>
              </a:defRPr>
            </a:lvl6pPr>
            <a:lvl7pPr lvl="6" algn="l">
              <a:lnSpc>
                <a:spcPct val="100000"/>
              </a:lnSpc>
              <a:spcBef>
                <a:spcPts val="0"/>
              </a:spcBef>
              <a:spcAft>
                <a:spcPts val="0"/>
              </a:spcAft>
              <a:buClr>
                <a:schemeClr val="lt2"/>
              </a:buClr>
              <a:buSzPts val="1600"/>
              <a:buNone/>
              <a:defRPr sz="1600">
                <a:solidFill>
                  <a:schemeClr val="lt2"/>
                </a:solidFill>
              </a:defRPr>
            </a:lvl7pPr>
            <a:lvl8pPr lvl="7" algn="l">
              <a:lnSpc>
                <a:spcPct val="100000"/>
              </a:lnSpc>
              <a:spcBef>
                <a:spcPts val="0"/>
              </a:spcBef>
              <a:spcAft>
                <a:spcPts val="0"/>
              </a:spcAft>
              <a:buClr>
                <a:schemeClr val="lt2"/>
              </a:buClr>
              <a:buSzPts val="1600"/>
              <a:buNone/>
              <a:defRPr sz="1600">
                <a:solidFill>
                  <a:schemeClr val="lt2"/>
                </a:solidFill>
              </a:defRPr>
            </a:lvl8pPr>
            <a:lvl9pPr lvl="8" algn="l">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 name="Shape 14"/>
        <p:cNvGrpSpPr/>
        <p:nvPr/>
      </p:nvGrpSpPr>
      <p:grpSpPr>
        <a:xfrm>
          <a:off x="0" y="0"/>
          <a:ext cx="0" cy="0"/>
          <a:chOff x="0" y="0"/>
          <a:chExt cx="0" cy="0"/>
        </a:xfrm>
      </p:grpSpPr>
      <p:sp>
        <p:nvSpPr>
          <p:cNvPr id="15" name="Google Shape;15;p3"/>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3"/>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AUTOLAYOUT_1">
    <p:bg>
      <p:bgPr>
        <a:solidFill>
          <a:srgbClr val="FFFFFF"/>
        </a:solidFill>
      </p:bgPr>
    </p:bg>
    <p:spTree>
      <p:nvGrpSpPr>
        <p:cNvPr id="18" name="Shape 18"/>
        <p:cNvGrpSpPr/>
        <p:nvPr/>
      </p:nvGrpSpPr>
      <p:grpSpPr>
        <a:xfrm>
          <a:off x="0" y="0"/>
          <a:ext cx="0" cy="0"/>
          <a:chOff x="0" y="0"/>
          <a:chExt cx="0" cy="0"/>
        </a:xfrm>
      </p:grpSpPr>
      <p:sp>
        <p:nvSpPr>
          <p:cNvPr id="19" name="Google Shape;19;p4"/>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p:nvPr/>
        </p:nvSpPr>
        <p:spPr>
          <a:xfrm flipH="1" rot="10800000">
            <a:off x="365425" y="659700"/>
            <a:ext cx="1063500" cy="6855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4"/>
          <p:cNvSpPr/>
          <p:nvPr/>
        </p:nvSpPr>
        <p:spPr>
          <a:xfrm rot="10800000">
            <a:off x="439525" y="659700"/>
            <a:ext cx="989400" cy="6855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4"/>
          <p:cNvSpPr/>
          <p:nvPr/>
        </p:nvSpPr>
        <p:spPr>
          <a:xfrm>
            <a:off x="365425" y="0"/>
            <a:ext cx="1063500" cy="8160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4"/>
          <p:cNvSpPr txBox="1"/>
          <p:nvPr>
            <p:ph type="title"/>
          </p:nvPr>
        </p:nvSpPr>
        <p:spPr>
          <a:xfrm>
            <a:off x="2454975" y="72350"/>
            <a:ext cx="6486000" cy="85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600"/>
              <a:buNone/>
              <a:defRPr b="1" sz="3600">
                <a:solidFill>
                  <a:schemeClr val="dk1"/>
                </a:solidFill>
              </a:defRPr>
            </a:lvl1pPr>
            <a:lvl2pPr lvl="1" algn="l">
              <a:lnSpc>
                <a:spcPct val="100000"/>
              </a:lnSpc>
              <a:spcBef>
                <a:spcPts val="0"/>
              </a:spcBef>
              <a:spcAft>
                <a:spcPts val="0"/>
              </a:spcAft>
              <a:buClr>
                <a:schemeClr val="dk1"/>
              </a:buClr>
              <a:buSzPts val="3600"/>
              <a:buNone/>
              <a:defRPr b="1" sz="3600">
                <a:solidFill>
                  <a:schemeClr val="dk1"/>
                </a:solidFill>
              </a:defRPr>
            </a:lvl2pPr>
            <a:lvl3pPr lvl="2" algn="l">
              <a:lnSpc>
                <a:spcPct val="100000"/>
              </a:lnSpc>
              <a:spcBef>
                <a:spcPts val="0"/>
              </a:spcBef>
              <a:spcAft>
                <a:spcPts val="0"/>
              </a:spcAft>
              <a:buClr>
                <a:schemeClr val="dk1"/>
              </a:buClr>
              <a:buSzPts val="3600"/>
              <a:buNone/>
              <a:defRPr b="1" sz="3600">
                <a:solidFill>
                  <a:schemeClr val="dk1"/>
                </a:solidFill>
              </a:defRPr>
            </a:lvl3pPr>
            <a:lvl4pPr lvl="3" algn="l">
              <a:lnSpc>
                <a:spcPct val="100000"/>
              </a:lnSpc>
              <a:spcBef>
                <a:spcPts val="0"/>
              </a:spcBef>
              <a:spcAft>
                <a:spcPts val="0"/>
              </a:spcAft>
              <a:buClr>
                <a:schemeClr val="dk1"/>
              </a:buClr>
              <a:buSzPts val="3600"/>
              <a:buNone/>
              <a:defRPr b="1" sz="3600">
                <a:solidFill>
                  <a:schemeClr val="dk1"/>
                </a:solidFill>
              </a:defRPr>
            </a:lvl4pPr>
            <a:lvl5pPr lvl="4" algn="l">
              <a:lnSpc>
                <a:spcPct val="100000"/>
              </a:lnSpc>
              <a:spcBef>
                <a:spcPts val="0"/>
              </a:spcBef>
              <a:spcAft>
                <a:spcPts val="0"/>
              </a:spcAft>
              <a:buClr>
                <a:schemeClr val="dk1"/>
              </a:buClr>
              <a:buSzPts val="3600"/>
              <a:buNone/>
              <a:defRPr b="1" sz="3600">
                <a:solidFill>
                  <a:schemeClr val="dk1"/>
                </a:solidFill>
              </a:defRPr>
            </a:lvl5pPr>
            <a:lvl6pPr lvl="5" algn="l">
              <a:lnSpc>
                <a:spcPct val="100000"/>
              </a:lnSpc>
              <a:spcBef>
                <a:spcPts val="0"/>
              </a:spcBef>
              <a:spcAft>
                <a:spcPts val="0"/>
              </a:spcAft>
              <a:buClr>
                <a:schemeClr val="dk1"/>
              </a:buClr>
              <a:buSzPts val="3600"/>
              <a:buNone/>
              <a:defRPr b="1" sz="3600">
                <a:solidFill>
                  <a:schemeClr val="dk1"/>
                </a:solidFill>
              </a:defRPr>
            </a:lvl6pPr>
            <a:lvl7pPr lvl="6" algn="l">
              <a:lnSpc>
                <a:spcPct val="100000"/>
              </a:lnSpc>
              <a:spcBef>
                <a:spcPts val="0"/>
              </a:spcBef>
              <a:spcAft>
                <a:spcPts val="0"/>
              </a:spcAft>
              <a:buClr>
                <a:schemeClr val="dk1"/>
              </a:buClr>
              <a:buSzPts val="3600"/>
              <a:buNone/>
              <a:defRPr b="1" sz="3600">
                <a:solidFill>
                  <a:schemeClr val="dk1"/>
                </a:solidFill>
              </a:defRPr>
            </a:lvl7pPr>
            <a:lvl8pPr lvl="7" algn="l">
              <a:lnSpc>
                <a:spcPct val="100000"/>
              </a:lnSpc>
              <a:spcBef>
                <a:spcPts val="0"/>
              </a:spcBef>
              <a:spcAft>
                <a:spcPts val="0"/>
              </a:spcAft>
              <a:buClr>
                <a:schemeClr val="dk1"/>
              </a:buClr>
              <a:buSzPts val="3600"/>
              <a:buNone/>
              <a:defRPr b="1" sz="3600">
                <a:solidFill>
                  <a:schemeClr val="dk1"/>
                </a:solidFill>
              </a:defRPr>
            </a:lvl8pPr>
            <a:lvl9pPr lvl="8" algn="l">
              <a:lnSpc>
                <a:spcPct val="100000"/>
              </a:lnSpc>
              <a:spcBef>
                <a:spcPts val="0"/>
              </a:spcBef>
              <a:spcAft>
                <a:spcPts val="0"/>
              </a:spcAft>
              <a:buClr>
                <a:schemeClr val="dk1"/>
              </a:buClr>
              <a:buSzPts val="3600"/>
              <a:buNone/>
              <a:defRPr b="1" sz="3600">
                <a:solidFill>
                  <a:schemeClr val="dk1"/>
                </a:solidFill>
              </a:defRPr>
            </a:lvl9pPr>
          </a:lstStyle>
          <a:p/>
        </p:txBody>
      </p:sp>
      <p:sp>
        <p:nvSpPr>
          <p:cNvPr id="24" name="Google Shape;24;p4"/>
          <p:cNvSpPr txBox="1"/>
          <p:nvPr>
            <p:ph idx="1" type="body"/>
          </p:nvPr>
        </p:nvSpPr>
        <p:spPr>
          <a:xfrm>
            <a:off x="2454975" y="924350"/>
            <a:ext cx="6486000" cy="1146600"/>
          </a:xfrm>
          <a:prstGeom prst="rect">
            <a:avLst/>
          </a:prstGeom>
          <a:noFill/>
          <a:ln>
            <a:noFill/>
          </a:ln>
        </p:spPr>
        <p:txBody>
          <a:bodyPr anchorCtr="0" anchor="t" bIns="91425" lIns="91425" spcFirstLastPara="1" rIns="91425" wrap="square" tIns="91425">
            <a:noAutofit/>
          </a:bodyPr>
          <a:lstStyle>
            <a:lvl1pPr indent="-330200" lvl="0" marL="457200" algn="l">
              <a:lnSpc>
                <a:spcPct val="115000"/>
              </a:lnSpc>
              <a:spcBef>
                <a:spcPts val="0"/>
              </a:spcBef>
              <a:spcAft>
                <a:spcPts val="0"/>
              </a:spcAft>
              <a:buClr>
                <a:schemeClr val="dk2"/>
              </a:buClr>
              <a:buSzPts val="1600"/>
              <a:buChar char="●"/>
              <a:defRPr sz="1600">
                <a:solidFill>
                  <a:schemeClr val="dk2"/>
                </a:solidFill>
              </a:defRPr>
            </a:lvl1pPr>
            <a:lvl2pPr indent="-298450" lvl="1" marL="914400" algn="l">
              <a:lnSpc>
                <a:spcPct val="115000"/>
              </a:lnSpc>
              <a:spcBef>
                <a:spcPts val="1600"/>
              </a:spcBef>
              <a:spcAft>
                <a:spcPts val="0"/>
              </a:spcAft>
              <a:buClr>
                <a:schemeClr val="dk2"/>
              </a:buClr>
              <a:buSzPts val="1100"/>
              <a:buChar char="○"/>
              <a:defRPr sz="1400">
                <a:solidFill>
                  <a:schemeClr val="dk2"/>
                </a:solidFill>
              </a:defRPr>
            </a:lvl2pPr>
            <a:lvl3pPr indent="-298450" lvl="2" marL="1371600" algn="l">
              <a:lnSpc>
                <a:spcPct val="115000"/>
              </a:lnSpc>
              <a:spcBef>
                <a:spcPts val="1600"/>
              </a:spcBef>
              <a:spcAft>
                <a:spcPts val="0"/>
              </a:spcAft>
              <a:buClr>
                <a:schemeClr val="dk2"/>
              </a:buClr>
              <a:buSzPts val="1100"/>
              <a:buChar char="■"/>
              <a:defRPr sz="1400">
                <a:solidFill>
                  <a:schemeClr val="dk2"/>
                </a:solidFill>
              </a:defRPr>
            </a:lvl3pPr>
            <a:lvl4pPr indent="-298450" lvl="3" marL="1828800" algn="l">
              <a:lnSpc>
                <a:spcPct val="115000"/>
              </a:lnSpc>
              <a:spcBef>
                <a:spcPts val="1600"/>
              </a:spcBef>
              <a:spcAft>
                <a:spcPts val="0"/>
              </a:spcAft>
              <a:buClr>
                <a:schemeClr val="dk2"/>
              </a:buClr>
              <a:buSzPts val="1100"/>
              <a:buChar char="●"/>
              <a:defRPr sz="1400">
                <a:solidFill>
                  <a:schemeClr val="dk2"/>
                </a:solidFill>
              </a:defRPr>
            </a:lvl4pPr>
            <a:lvl5pPr indent="-298450" lvl="4" marL="2286000" algn="l">
              <a:lnSpc>
                <a:spcPct val="115000"/>
              </a:lnSpc>
              <a:spcBef>
                <a:spcPts val="1600"/>
              </a:spcBef>
              <a:spcAft>
                <a:spcPts val="0"/>
              </a:spcAft>
              <a:buClr>
                <a:schemeClr val="dk2"/>
              </a:buClr>
              <a:buSzPts val="1100"/>
              <a:buChar char="○"/>
              <a:defRPr sz="1400">
                <a:solidFill>
                  <a:schemeClr val="dk2"/>
                </a:solidFill>
              </a:defRPr>
            </a:lvl5pPr>
            <a:lvl6pPr indent="-298450" lvl="5" marL="2743200" algn="l">
              <a:lnSpc>
                <a:spcPct val="115000"/>
              </a:lnSpc>
              <a:spcBef>
                <a:spcPts val="1600"/>
              </a:spcBef>
              <a:spcAft>
                <a:spcPts val="0"/>
              </a:spcAft>
              <a:buClr>
                <a:schemeClr val="dk2"/>
              </a:buClr>
              <a:buSzPts val="1100"/>
              <a:buChar char="■"/>
              <a:defRPr sz="1400">
                <a:solidFill>
                  <a:schemeClr val="dk2"/>
                </a:solidFill>
              </a:defRPr>
            </a:lvl6pPr>
            <a:lvl7pPr indent="-298450" lvl="6" marL="3200400" algn="l">
              <a:lnSpc>
                <a:spcPct val="115000"/>
              </a:lnSpc>
              <a:spcBef>
                <a:spcPts val="1600"/>
              </a:spcBef>
              <a:spcAft>
                <a:spcPts val="0"/>
              </a:spcAft>
              <a:buClr>
                <a:schemeClr val="dk2"/>
              </a:buClr>
              <a:buSzPts val="1100"/>
              <a:buChar char="●"/>
              <a:defRPr sz="1400">
                <a:solidFill>
                  <a:schemeClr val="dk2"/>
                </a:solidFill>
              </a:defRPr>
            </a:lvl7pPr>
            <a:lvl8pPr indent="-298450" lvl="7" marL="3657600" algn="l">
              <a:lnSpc>
                <a:spcPct val="115000"/>
              </a:lnSpc>
              <a:spcBef>
                <a:spcPts val="1600"/>
              </a:spcBef>
              <a:spcAft>
                <a:spcPts val="0"/>
              </a:spcAft>
              <a:buClr>
                <a:schemeClr val="dk2"/>
              </a:buClr>
              <a:buSzPts val="1100"/>
              <a:buChar char="○"/>
              <a:defRPr sz="1400">
                <a:solidFill>
                  <a:schemeClr val="dk2"/>
                </a:solidFill>
              </a:defRPr>
            </a:lvl8pPr>
            <a:lvl9pPr indent="-298450" lvl="8" marL="411480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25" name="Google Shape;25;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ph idx="2" type="body"/>
          </p:nvPr>
        </p:nvSpPr>
        <p:spPr>
          <a:xfrm>
            <a:off x="110475" y="1720575"/>
            <a:ext cx="2311200" cy="21765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27" name="Google Shape;27;p4"/>
          <p:cNvSpPr txBox="1"/>
          <p:nvPr>
            <p:ph idx="3" type="body"/>
          </p:nvPr>
        </p:nvSpPr>
        <p:spPr>
          <a:xfrm>
            <a:off x="2454975" y="2013125"/>
            <a:ext cx="6486000" cy="28287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28" name="Google Shape;28;p4"/>
          <p:cNvSpPr txBox="1"/>
          <p:nvPr>
            <p:ph idx="4" type="title"/>
          </p:nvPr>
        </p:nvSpPr>
        <p:spPr>
          <a:xfrm>
            <a:off x="427525" y="32875"/>
            <a:ext cx="933900" cy="749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400">
                <a:solidFill>
                  <a:srgbClr val="FFFFFF"/>
                </a:solidFill>
                <a:latin typeface="Roboto"/>
                <a:ea typeface="Roboto"/>
                <a:cs typeface="Roboto"/>
                <a:sym typeface="Roboto"/>
              </a:defRPr>
            </a:lvl1pPr>
            <a:lvl2pPr lvl="1" algn="l">
              <a:lnSpc>
                <a:spcPct val="100000"/>
              </a:lnSpc>
              <a:spcBef>
                <a:spcPts val="0"/>
              </a:spcBef>
              <a:spcAft>
                <a:spcPts val="0"/>
              </a:spcAft>
              <a:buSzPts val="2800"/>
              <a:buNone/>
              <a:defRPr>
                <a:latin typeface="Roboto"/>
                <a:ea typeface="Roboto"/>
                <a:cs typeface="Roboto"/>
                <a:sym typeface="Roboto"/>
              </a:defRPr>
            </a:lvl2pPr>
            <a:lvl3pPr lvl="2" algn="l">
              <a:lnSpc>
                <a:spcPct val="100000"/>
              </a:lnSpc>
              <a:spcBef>
                <a:spcPts val="0"/>
              </a:spcBef>
              <a:spcAft>
                <a:spcPts val="0"/>
              </a:spcAft>
              <a:buSzPts val="2800"/>
              <a:buNone/>
              <a:defRPr>
                <a:latin typeface="Roboto"/>
                <a:ea typeface="Roboto"/>
                <a:cs typeface="Roboto"/>
                <a:sym typeface="Roboto"/>
              </a:defRPr>
            </a:lvl3pPr>
            <a:lvl4pPr lvl="3" algn="l">
              <a:lnSpc>
                <a:spcPct val="100000"/>
              </a:lnSpc>
              <a:spcBef>
                <a:spcPts val="0"/>
              </a:spcBef>
              <a:spcAft>
                <a:spcPts val="0"/>
              </a:spcAft>
              <a:buSzPts val="2800"/>
              <a:buNone/>
              <a:defRPr>
                <a:latin typeface="Roboto"/>
                <a:ea typeface="Roboto"/>
                <a:cs typeface="Roboto"/>
                <a:sym typeface="Roboto"/>
              </a:defRPr>
            </a:lvl4pPr>
            <a:lvl5pPr lvl="4" algn="l">
              <a:lnSpc>
                <a:spcPct val="100000"/>
              </a:lnSpc>
              <a:spcBef>
                <a:spcPts val="0"/>
              </a:spcBef>
              <a:spcAft>
                <a:spcPts val="0"/>
              </a:spcAft>
              <a:buSzPts val="2800"/>
              <a:buNone/>
              <a:defRPr>
                <a:latin typeface="Roboto"/>
                <a:ea typeface="Roboto"/>
                <a:cs typeface="Roboto"/>
                <a:sym typeface="Roboto"/>
              </a:defRPr>
            </a:lvl5pPr>
            <a:lvl6pPr lvl="5" algn="l">
              <a:lnSpc>
                <a:spcPct val="100000"/>
              </a:lnSpc>
              <a:spcBef>
                <a:spcPts val="0"/>
              </a:spcBef>
              <a:spcAft>
                <a:spcPts val="0"/>
              </a:spcAft>
              <a:buSzPts val="2800"/>
              <a:buNone/>
              <a:defRPr>
                <a:latin typeface="Roboto"/>
                <a:ea typeface="Roboto"/>
                <a:cs typeface="Roboto"/>
                <a:sym typeface="Roboto"/>
              </a:defRPr>
            </a:lvl6pPr>
            <a:lvl7pPr lvl="6" algn="l">
              <a:lnSpc>
                <a:spcPct val="100000"/>
              </a:lnSpc>
              <a:spcBef>
                <a:spcPts val="0"/>
              </a:spcBef>
              <a:spcAft>
                <a:spcPts val="0"/>
              </a:spcAft>
              <a:buSzPts val="2800"/>
              <a:buNone/>
              <a:defRPr>
                <a:latin typeface="Roboto"/>
                <a:ea typeface="Roboto"/>
                <a:cs typeface="Roboto"/>
                <a:sym typeface="Roboto"/>
              </a:defRPr>
            </a:lvl7pPr>
            <a:lvl8pPr lvl="7" algn="l">
              <a:lnSpc>
                <a:spcPct val="100000"/>
              </a:lnSpc>
              <a:spcBef>
                <a:spcPts val="0"/>
              </a:spcBef>
              <a:spcAft>
                <a:spcPts val="0"/>
              </a:spcAft>
              <a:buSzPts val="2800"/>
              <a:buNone/>
              <a:defRPr>
                <a:latin typeface="Roboto"/>
                <a:ea typeface="Roboto"/>
                <a:cs typeface="Roboto"/>
                <a:sym typeface="Roboto"/>
              </a:defRPr>
            </a:lvl8pPr>
            <a:lvl9pPr lvl="8" algn="l">
              <a:lnSpc>
                <a:spcPct val="100000"/>
              </a:lnSpc>
              <a:spcBef>
                <a:spcPts val="0"/>
              </a:spcBef>
              <a:spcAft>
                <a:spcPts val="0"/>
              </a:spcAft>
              <a:buSzPts val="2800"/>
              <a:buNone/>
              <a:defRPr>
                <a:latin typeface="Roboto"/>
                <a:ea typeface="Roboto"/>
                <a:cs typeface="Roboto"/>
                <a:sym typeface="Robo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p5"/>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31" name="Google Shape;31;p5"/>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5"/>
          <p:cNvSpPr txBox="1"/>
          <p:nvPr>
            <p:ph type="title"/>
          </p:nvPr>
        </p:nvSpPr>
        <p:spPr>
          <a:xfrm>
            <a:off x="311725" y="500925"/>
            <a:ext cx="3706500" cy="638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33" name="Google Shape;33;p5"/>
          <p:cNvSpPr txBox="1"/>
          <p:nvPr>
            <p:ph idx="1" type="body"/>
          </p:nvPr>
        </p:nvSpPr>
        <p:spPr>
          <a:xfrm>
            <a:off x="4644675" y="500925"/>
            <a:ext cx="4166400" cy="44322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34" name="Google Shape;3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5"/>
          <p:cNvSpPr txBox="1"/>
          <p:nvPr>
            <p:ph idx="2" type="body"/>
          </p:nvPr>
        </p:nvSpPr>
        <p:spPr>
          <a:xfrm>
            <a:off x="315425" y="1286175"/>
            <a:ext cx="3706500" cy="26973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Clr>
                <a:srgbClr val="FFFFFF"/>
              </a:buClr>
              <a:buSzPts val="1300"/>
              <a:buChar char="●"/>
              <a:defRPr>
                <a:solidFill>
                  <a:srgbClr val="FFFFFF"/>
                </a:solidFill>
              </a:defRPr>
            </a:lvl1pPr>
            <a:lvl2pPr indent="-298450" lvl="1" marL="914400" algn="l">
              <a:lnSpc>
                <a:spcPct val="115000"/>
              </a:lnSpc>
              <a:spcBef>
                <a:spcPts val="1600"/>
              </a:spcBef>
              <a:spcAft>
                <a:spcPts val="0"/>
              </a:spcAft>
              <a:buClr>
                <a:srgbClr val="FFFFFF"/>
              </a:buClr>
              <a:buSzPts val="1100"/>
              <a:buChar char="○"/>
              <a:defRPr>
                <a:solidFill>
                  <a:srgbClr val="FFFFFF"/>
                </a:solidFill>
              </a:defRPr>
            </a:lvl2pPr>
            <a:lvl3pPr indent="-298450" lvl="2" marL="1371600" algn="l">
              <a:lnSpc>
                <a:spcPct val="115000"/>
              </a:lnSpc>
              <a:spcBef>
                <a:spcPts val="1600"/>
              </a:spcBef>
              <a:spcAft>
                <a:spcPts val="0"/>
              </a:spcAft>
              <a:buClr>
                <a:srgbClr val="FFFFFF"/>
              </a:buClr>
              <a:buSzPts val="1100"/>
              <a:buChar char="■"/>
              <a:defRPr>
                <a:solidFill>
                  <a:srgbClr val="FFFFFF"/>
                </a:solidFill>
              </a:defRPr>
            </a:lvl3pPr>
            <a:lvl4pPr indent="-298450" lvl="3" marL="1828800" algn="l">
              <a:lnSpc>
                <a:spcPct val="115000"/>
              </a:lnSpc>
              <a:spcBef>
                <a:spcPts val="1600"/>
              </a:spcBef>
              <a:spcAft>
                <a:spcPts val="0"/>
              </a:spcAft>
              <a:buClr>
                <a:srgbClr val="FFFFFF"/>
              </a:buClr>
              <a:buSzPts val="1100"/>
              <a:buChar char="●"/>
              <a:defRPr>
                <a:solidFill>
                  <a:srgbClr val="FFFFFF"/>
                </a:solidFill>
              </a:defRPr>
            </a:lvl4pPr>
            <a:lvl5pPr indent="-298450" lvl="4" marL="2286000" algn="l">
              <a:lnSpc>
                <a:spcPct val="115000"/>
              </a:lnSpc>
              <a:spcBef>
                <a:spcPts val="1600"/>
              </a:spcBef>
              <a:spcAft>
                <a:spcPts val="0"/>
              </a:spcAft>
              <a:buClr>
                <a:srgbClr val="FFFFFF"/>
              </a:buClr>
              <a:buSzPts val="1100"/>
              <a:buChar char="○"/>
              <a:defRPr>
                <a:solidFill>
                  <a:srgbClr val="FFFFFF"/>
                </a:solidFill>
              </a:defRPr>
            </a:lvl5pPr>
            <a:lvl6pPr indent="-298450" lvl="5" marL="2743200" algn="l">
              <a:lnSpc>
                <a:spcPct val="115000"/>
              </a:lnSpc>
              <a:spcBef>
                <a:spcPts val="1600"/>
              </a:spcBef>
              <a:spcAft>
                <a:spcPts val="0"/>
              </a:spcAft>
              <a:buClr>
                <a:srgbClr val="FFFFFF"/>
              </a:buClr>
              <a:buSzPts val="1100"/>
              <a:buChar char="■"/>
              <a:defRPr>
                <a:solidFill>
                  <a:srgbClr val="FFFFFF"/>
                </a:solidFill>
              </a:defRPr>
            </a:lvl6pPr>
            <a:lvl7pPr indent="-298450" lvl="6" marL="3200400" algn="l">
              <a:lnSpc>
                <a:spcPct val="115000"/>
              </a:lnSpc>
              <a:spcBef>
                <a:spcPts val="1600"/>
              </a:spcBef>
              <a:spcAft>
                <a:spcPts val="0"/>
              </a:spcAft>
              <a:buClr>
                <a:srgbClr val="FFFFFF"/>
              </a:buClr>
              <a:buSzPts val="1100"/>
              <a:buChar char="●"/>
              <a:defRPr>
                <a:solidFill>
                  <a:srgbClr val="FFFFFF"/>
                </a:solidFill>
              </a:defRPr>
            </a:lvl7pPr>
            <a:lvl8pPr indent="-298450" lvl="7" marL="3657600" algn="l">
              <a:lnSpc>
                <a:spcPct val="115000"/>
              </a:lnSpc>
              <a:spcBef>
                <a:spcPts val="1600"/>
              </a:spcBef>
              <a:spcAft>
                <a:spcPts val="0"/>
              </a:spcAft>
              <a:buClr>
                <a:srgbClr val="FFFFFF"/>
              </a:buClr>
              <a:buSzPts val="1100"/>
              <a:buChar char="○"/>
              <a:defRPr>
                <a:solidFill>
                  <a:srgbClr val="FFFFFF"/>
                </a:solidFill>
              </a:defRPr>
            </a:lvl8pPr>
            <a:lvl9pPr indent="-298450" lvl="8" marL="4114800" algn="l">
              <a:lnSpc>
                <a:spcPct val="115000"/>
              </a:lnSpc>
              <a:spcBef>
                <a:spcPts val="1600"/>
              </a:spcBef>
              <a:spcAft>
                <a:spcPts val="1600"/>
              </a:spcAft>
              <a:buClr>
                <a:srgbClr val="FFFFFF"/>
              </a:buClr>
              <a:buSzPts val="1100"/>
              <a:buChar char="■"/>
              <a:defRPr>
                <a:solidFill>
                  <a:srgbClr val="FFFFFF"/>
                </a:solidFill>
              </a:defRPr>
            </a:lvl9pPr>
          </a:lstStyle>
          <a:p/>
        </p:txBody>
      </p:sp>
      <p:sp>
        <p:nvSpPr>
          <p:cNvPr id="36" name="Google Shape;36;p5"/>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algn="l">
              <a:lnSpc>
                <a:spcPct val="115000"/>
              </a:lnSpc>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7" name="Shape 37"/>
        <p:cNvGrpSpPr/>
        <p:nvPr/>
      </p:nvGrpSpPr>
      <p:grpSpPr>
        <a:xfrm>
          <a:off x="0" y="0"/>
          <a:ext cx="0" cy="0"/>
          <a:chOff x="0" y="0"/>
          <a:chExt cx="0" cy="0"/>
        </a:xfrm>
      </p:grpSpPr>
      <p:sp>
        <p:nvSpPr>
          <p:cNvPr id="38" name="Google Shape;38;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6"/>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40" name="Google Shape;40;p6"/>
          <p:cNvSpPr txBox="1"/>
          <p:nvPr>
            <p:ph idx="1" type="body"/>
          </p:nvPr>
        </p:nvSpPr>
        <p:spPr>
          <a:xfrm>
            <a:off x="311700" y="1505700"/>
            <a:ext cx="3999900" cy="30762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41" name="Google Shape;41;p6"/>
          <p:cNvSpPr txBox="1"/>
          <p:nvPr>
            <p:ph idx="2" type="body"/>
          </p:nvPr>
        </p:nvSpPr>
        <p:spPr>
          <a:xfrm>
            <a:off x="4832400" y="1505700"/>
            <a:ext cx="3999900" cy="30762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42" name="Google Shape;42;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3" name="Shape 43"/>
        <p:cNvGrpSpPr/>
        <p:nvPr/>
      </p:nvGrpSpPr>
      <p:grpSpPr>
        <a:xfrm>
          <a:off x="0" y="0"/>
          <a:ext cx="0" cy="0"/>
          <a:chOff x="0" y="0"/>
          <a:chExt cx="0" cy="0"/>
        </a:xfrm>
      </p:grpSpPr>
      <p:sp>
        <p:nvSpPr>
          <p:cNvPr id="44" name="Google Shape;44;p7"/>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7"/>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46" name="Google Shape;46;p7"/>
          <p:cNvSpPr txBox="1"/>
          <p:nvPr>
            <p:ph idx="12" type="sldNum"/>
          </p:nvPr>
        </p:nvSpPr>
        <p:spPr>
          <a:xfrm>
            <a:off x="90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7"/>
          <p:cNvSpPr txBox="1"/>
          <p:nvPr>
            <p:ph type="title"/>
          </p:nvPr>
        </p:nvSpPr>
        <p:spPr>
          <a:xfrm>
            <a:off x="5264725" y="500925"/>
            <a:ext cx="3706500" cy="638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48" name="Google Shape;48;p7"/>
          <p:cNvSpPr txBox="1"/>
          <p:nvPr>
            <p:ph idx="1" type="body"/>
          </p:nvPr>
        </p:nvSpPr>
        <p:spPr>
          <a:xfrm>
            <a:off x="301275" y="500925"/>
            <a:ext cx="4166400" cy="44322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49" name="Google Shape;49;p7"/>
          <p:cNvSpPr txBox="1"/>
          <p:nvPr>
            <p:ph idx="2" type="body"/>
          </p:nvPr>
        </p:nvSpPr>
        <p:spPr>
          <a:xfrm>
            <a:off x="5192225" y="1286175"/>
            <a:ext cx="3706500" cy="26973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Clr>
                <a:srgbClr val="FFFFFF"/>
              </a:buClr>
              <a:buSzPts val="1300"/>
              <a:buChar char="●"/>
              <a:defRPr>
                <a:solidFill>
                  <a:srgbClr val="FFFFFF"/>
                </a:solidFill>
              </a:defRPr>
            </a:lvl1pPr>
            <a:lvl2pPr indent="-298450" lvl="1" marL="914400" algn="l">
              <a:lnSpc>
                <a:spcPct val="115000"/>
              </a:lnSpc>
              <a:spcBef>
                <a:spcPts val="1600"/>
              </a:spcBef>
              <a:spcAft>
                <a:spcPts val="0"/>
              </a:spcAft>
              <a:buClr>
                <a:srgbClr val="FFFFFF"/>
              </a:buClr>
              <a:buSzPts val="1100"/>
              <a:buChar char="○"/>
              <a:defRPr>
                <a:solidFill>
                  <a:srgbClr val="FFFFFF"/>
                </a:solidFill>
              </a:defRPr>
            </a:lvl2pPr>
            <a:lvl3pPr indent="-298450" lvl="2" marL="1371600" algn="l">
              <a:lnSpc>
                <a:spcPct val="115000"/>
              </a:lnSpc>
              <a:spcBef>
                <a:spcPts val="1600"/>
              </a:spcBef>
              <a:spcAft>
                <a:spcPts val="0"/>
              </a:spcAft>
              <a:buClr>
                <a:srgbClr val="FFFFFF"/>
              </a:buClr>
              <a:buSzPts val="1100"/>
              <a:buChar char="■"/>
              <a:defRPr>
                <a:solidFill>
                  <a:srgbClr val="FFFFFF"/>
                </a:solidFill>
              </a:defRPr>
            </a:lvl3pPr>
            <a:lvl4pPr indent="-298450" lvl="3" marL="1828800" algn="l">
              <a:lnSpc>
                <a:spcPct val="115000"/>
              </a:lnSpc>
              <a:spcBef>
                <a:spcPts val="1600"/>
              </a:spcBef>
              <a:spcAft>
                <a:spcPts val="0"/>
              </a:spcAft>
              <a:buClr>
                <a:srgbClr val="FFFFFF"/>
              </a:buClr>
              <a:buSzPts val="1100"/>
              <a:buChar char="●"/>
              <a:defRPr>
                <a:solidFill>
                  <a:srgbClr val="FFFFFF"/>
                </a:solidFill>
              </a:defRPr>
            </a:lvl4pPr>
            <a:lvl5pPr indent="-298450" lvl="4" marL="2286000" algn="l">
              <a:lnSpc>
                <a:spcPct val="115000"/>
              </a:lnSpc>
              <a:spcBef>
                <a:spcPts val="1600"/>
              </a:spcBef>
              <a:spcAft>
                <a:spcPts val="0"/>
              </a:spcAft>
              <a:buClr>
                <a:srgbClr val="FFFFFF"/>
              </a:buClr>
              <a:buSzPts val="1100"/>
              <a:buChar char="○"/>
              <a:defRPr>
                <a:solidFill>
                  <a:srgbClr val="FFFFFF"/>
                </a:solidFill>
              </a:defRPr>
            </a:lvl5pPr>
            <a:lvl6pPr indent="-298450" lvl="5" marL="2743200" algn="l">
              <a:lnSpc>
                <a:spcPct val="115000"/>
              </a:lnSpc>
              <a:spcBef>
                <a:spcPts val="1600"/>
              </a:spcBef>
              <a:spcAft>
                <a:spcPts val="0"/>
              </a:spcAft>
              <a:buClr>
                <a:srgbClr val="FFFFFF"/>
              </a:buClr>
              <a:buSzPts val="1100"/>
              <a:buChar char="■"/>
              <a:defRPr>
                <a:solidFill>
                  <a:srgbClr val="FFFFFF"/>
                </a:solidFill>
              </a:defRPr>
            </a:lvl6pPr>
            <a:lvl7pPr indent="-298450" lvl="6" marL="3200400" algn="l">
              <a:lnSpc>
                <a:spcPct val="115000"/>
              </a:lnSpc>
              <a:spcBef>
                <a:spcPts val="1600"/>
              </a:spcBef>
              <a:spcAft>
                <a:spcPts val="0"/>
              </a:spcAft>
              <a:buClr>
                <a:srgbClr val="FFFFFF"/>
              </a:buClr>
              <a:buSzPts val="1100"/>
              <a:buChar char="●"/>
              <a:defRPr>
                <a:solidFill>
                  <a:srgbClr val="FFFFFF"/>
                </a:solidFill>
              </a:defRPr>
            </a:lvl7pPr>
            <a:lvl8pPr indent="-298450" lvl="7" marL="3657600" algn="l">
              <a:lnSpc>
                <a:spcPct val="115000"/>
              </a:lnSpc>
              <a:spcBef>
                <a:spcPts val="1600"/>
              </a:spcBef>
              <a:spcAft>
                <a:spcPts val="0"/>
              </a:spcAft>
              <a:buClr>
                <a:srgbClr val="FFFFFF"/>
              </a:buClr>
              <a:buSzPts val="1100"/>
              <a:buChar char="○"/>
              <a:defRPr>
                <a:solidFill>
                  <a:srgbClr val="FFFFFF"/>
                </a:solidFill>
              </a:defRPr>
            </a:lvl8pPr>
            <a:lvl9pPr indent="-298450" lvl="8" marL="4114800" algn="l">
              <a:lnSpc>
                <a:spcPct val="115000"/>
              </a:lnSpc>
              <a:spcBef>
                <a:spcPts val="1600"/>
              </a:spcBef>
              <a:spcAft>
                <a:spcPts val="1600"/>
              </a:spcAft>
              <a:buClr>
                <a:srgbClr val="FFFFFF"/>
              </a:buClr>
              <a:buSzPts val="1100"/>
              <a:buChar char="■"/>
              <a:defRPr>
                <a:solidFill>
                  <a:srgbClr val="FFFFFF"/>
                </a:solidFill>
              </a:defRPr>
            </a:lvl9pPr>
          </a:lstStyle>
          <a:p/>
        </p:txBody>
      </p:sp>
      <p:sp>
        <p:nvSpPr>
          <p:cNvPr id="50" name="Google Shape;50;p7"/>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algn="l">
              <a:lnSpc>
                <a:spcPct val="115000"/>
              </a:lnSpc>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51" name="Shape 51"/>
        <p:cNvGrpSpPr/>
        <p:nvPr/>
      </p:nvGrpSpPr>
      <p:grpSpPr>
        <a:xfrm>
          <a:off x="0" y="0"/>
          <a:ext cx="0" cy="0"/>
          <a:chOff x="0" y="0"/>
          <a:chExt cx="0" cy="0"/>
        </a:xfrm>
      </p:grpSpPr>
      <p:sp>
        <p:nvSpPr>
          <p:cNvPr id="52" name="Google Shape;52;p8"/>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53" name="Google Shape;53;p8"/>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54" name="Google Shape;54;p8"/>
          <p:cNvSpPr txBox="1"/>
          <p:nvPr>
            <p:ph type="title"/>
          </p:nvPr>
        </p:nvSpPr>
        <p:spPr>
          <a:xfrm>
            <a:off x="311700" y="539725"/>
            <a:ext cx="8520600" cy="128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55" name="Google Shape;55;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6" name="Shape 56"/>
        <p:cNvGrpSpPr/>
        <p:nvPr/>
      </p:nvGrpSpPr>
      <p:grpSpPr>
        <a:xfrm>
          <a:off x="0" y="0"/>
          <a:ext cx="0" cy="0"/>
          <a:chOff x="0" y="0"/>
          <a:chExt cx="0" cy="0"/>
        </a:xfrm>
      </p:grpSpPr>
      <p:sp>
        <p:nvSpPr>
          <p:cNvPr id="57" name="Google Shape;57;p9"/>
          <p:cNvSpPr txBox="1"/>
          <p:nvPr>
            <p:ph type="title"/>
          </p:nvPr>
        </p:nvSpPr>
        <p:spPr>
          <a:xfrm>
            <a:off x="311675" y="798600"/>
            <a:ext cx="6247800" cy="3546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58" name="Google Shape;5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10"/>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0"/>
          <p:cNvSpPr txBox="1"/>
          <p:nvPr>
            <p:ph type="title"/>
          </p:nvPr>
        </p:nvSpPr>
        <p:spPr>
          <a:xfrm>
            <a:off x="311300" y="500925"/>
            <a:ext cx="3704400" cy="2049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62" name="Google Shape;62;p10"/>
          <p:cNvSpPr txBox="1"/>
          <p:nvPr>
            <p:ph idx="1" type="subTitle"/>
          </p:nvPr>
        </p:nvSpPr>
        <p:spPr>
          <a:xfrm>
            <a:off x="304800" y="2626725"/>
            <a:ext cx="3704400" cy="9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2"/>
              </a:buClr>
              <a:buSzPts val="1600"/>
              <a:buNone/>
              <a:defRPr sz="1600">
                <a:solidFill>
                  <a:schemeClr val="accent2"/>
                </a:solidFill>
              </a:defRPr>
            </a:lvl1pPr>
            <a:lvl2pPr lvl="1" algn="l">
              <a:lnSpc>
                <a:spcPct val="100000"/>
              </a:lnSpc>
              <a:spcBef>
                <a:spcPts val="0"/>
              </a:spcBef>
              <a:spcAft>
                <a:spcPts val="0"/>
              </a:spcAft>
              <a:buClr>
                <a:schemeClr val="accent2"/>
              </a:buClr>
              <a:buSzPts val="1600"/>
              <a:buNone/>
              <a:defRPr sz="1600">
                <a:solidFill>
                  <a:schemeClr val="accent2"/>
                </a:solidFill>
              </a:defRPr>
            </a:lvl2pPr>
            <a:lvl3pPr lvl="2" algn="l">
              <a:lnSpc>
                <a:spcPct val="100000"/>
              </a:lnSpc>
              <a:spcBef>
                <a:spcPts val="0"/>
              </a:spcBef>
              <a:spcAft>
                <a:spcPts val="0"/>
              </a:spcAft>
              <a:buClr>
                <a:schemeClr val="accent2"/>
              </a:buClr>
              <a:buSzPts val="1600"/>
              <a:buNone/>
              <a:defRPr sz="1600">
                <a:solidFill>
                  <a:schemeClr val="accent2"/>
                </a:solidFill>
              </a:defRPr>
            </a:lvl3pPr>
            <a:lvl4pPr lvl="3" algn="l">
              <a:lnSpc>
                <a:spcPct val="100000"/>
              </a:lnSpc>
              <a:spcBef>
                <a:spcPts val="0"/>
              </a:spcBef>
              <a:spcAft>
                <a:spcPts val="0"/>
              </a:spcAft>
              <a:buClr>
                <a:schemeClr val="accent2"/>
              </a:buClr>
              <a:buSzPts val="1600"/>
              <a:buNone/>
              <a:defRPr sz="1600">
                <a:solidFill>
                  <a:schemeClr val="accent2"/>
                </a:solidFill>
              </a:defRPr>
            </a:lvl4pPr>
            <a:lvl5pPr lvl="4" algn="l">
              <a:lnSpc>
                <a:spcPct val="100000"/>
              </a:lnSpc>
              <a:spcBef>
                <a:spcPts val="0"/>
              </a:spcBef>
              <a:spcAft>
                <a:spcPts val="0"/>
              </a:spcAft>
              <a:buClr>
                <a:schemeClr val="accent2"/>
              </a:buClr>
              <a:buSzPts val="1600"/>
              <a:buNone/>
              <a:defRPr sz="1600">
                <a:solidFill>
                  <a:schemeClr val="accent2"/>
                </a:solidFill>
              </a:defRPr>
            </a:lvl5pPr>
            <a:lvl6pPr lvl="5" algn="l">
              <a:lnSpc>
                <a:spcPct val="100000"/>
              </a:lnSpc>
              <a:spcBef>
                <a:spcPts val="0"/>
              </a:spcBef>
              <a:spcAft>
                <a:spcPts val="0"/>
              </a:spcAft>
              <a:buClr>
                <a:schemeClr val="accent2"/>
              </a:buClr>
              <a:buSzPts val="1600"/>
              <a:buNone/>
              <a:defRPr sz="1600">
                <a:solidFill>
                  <a:schemeClr val="accent2"/>
                </a:solidFill>
              </a:defRPr>
            </a:lvl6pPr>
            <a:lvl7pPr lvl="6" algn="l">
              <a:lnSpc>
                <a:spcPct val="100000"/>
              </a:lnSpc>
              <a:spcBef>
                <a:spcPts val="0"/>
              </a:spcBef>
              <a:spcAft>
                <a:spcPts val="0"/>
              </a:spcAft>
              <a:buClr>
                <a:schemeClr val="accent2"/>
              </a:buClr>
              <a:buSzPts val="1600"/>
              <a:buNone/>
              <a:defRPr sz="1600">
                <a:solidFill>
                  <a:schemeClr val="accent2"/>
                </a:solidFill>
              </a:defRPr>
            </a:lvl7pPr>
            <a:lvl8pPr lvl="7" algn="l">
              <a:lnSpc>
                <a:spcPct val="100000"/>
              </a:lnSpc>
              <a:spcBef>
                <a:spcPts val="0"/>
              </a:spcBef>
              <a:spcAft>
                <a:spcPts val="0"/>
              </a:spcAft>
              <a:buClr>
                <a:schemeClr val="accent2"/>
              </a:buClr>
              <a:buSzPts val="1600"/>
              <a:buNone/>
              <a:defRPr sz="1600">
                <a:solidFill>
                  <a:schemeClr val="accent2"/>
                </a:solidFill>
              </a:defRPr>
            </a:lvl8pPr>
            <a:lvl9pPr lvl="8" algn="l">
              <a:lnSpc>
                <a:spcPct val="100000"/>
              </a:lnSpc>
              <a:spcBef>
                <a:spcPts val="0"/>
              </a:spcBef>
              <a:spcAft>
                <a:spcPts val="0"/>
              </a:spcAft>
              <a:buClr>
                <a:schemeClr val="accent2"/>
              </a:buClr>
              <a:buSzPts val="1600"/>
              <a:buNone/>
              <a:defRPr sz="1600">
                <a:solidFill>
                  <a:schemeClr val="accent2"/>
                </a:solidFill>
              </a:defRPr>
            </a:lvl9pPr>
          </a:lstStyle>
          <a:p/>
        </p:txBody>
      </p:sp>
      <p:sp>
        <p:nvSpPr>
          <p:cNvPr id="63" name="Google Shape;63;p10"/>
          <p:cNvSpPr txBox="1"/>
          <p:nvPr>
            <p:ph idx="2" type="body"/>
          </p:nvPr>
        </p:nvSpPr>
        <p:spPr>
          <a:xfrm>
            <a:off x="4879025" y="500925"/>
            <a:ext cx="3954000" cy="41115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64" name="Google Shape;64;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5" name="Shape 65"/>
        <p:cNvGrpSpPr/>
        <p:nvPr/>
      </p:nvGrpSpPr>
      <p:grpSpPr>
        <a:xfrm>
          <a:off x="0" y="0"/>
          <a:ext cx="0" cy="0"/>
          <a:chOff x="0" y="0"/>
          <a:chExt cx="0" cy="0"/>
        </a:xfrm>
      </p:grpSpPr>
      <p:sp>
        <p:nvSpPr>
          <p:cNvPr id="66" name="Google Shape;66;p11"/>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1"/>
          <p:cNvSpPr txBox="1"/>
          <p:nvPr>
            <p:ph idx="1" type="body"/>
          </p:nvPr>
        </p:nvSpPr>
        <p:spPr>
          <a:xfrm>
            <a:off x="311700" y="4521400"/>
            <a:ext cx="7979400" cy="4605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68" name="Google Shape;68;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sp>
        <p:nvSpPr>
          <p:cNvPr id="70" name="Google Shape;70;p12"/>
          <p:cNvSpPr txBox="1"/>
          <p:nvPr>
            <p:ph hasCustomPrompt="1" type="title"/>
          </p:nvPr>
        </p:nvSpPr>
        <p:spPr>
          <a:xfrm>
            <a:off x="311750" y="831175"/>
            <a:ext cx="5334900" cy="12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10000"/>
              <a:buNone/>
              <a:defRPr sz="10000">
                <a:solidFill>
                  <a:schemeClr val="lt1"/>
                </a:solidFill>
              </a:defRPr>
            </a:lvl1pPr>
            <a:lvl2pPr lvl="1" algn="l">
              <a:lnSpc>
                <a:spcPct val="100000"/>
              </a:lnSpc>
              <a:spcBef>
                <a:spcPts val="0"/>
              </a:spcBef>
              <a:spcAft>
                <a:spcPts val="0"/>
              </a:spcAft>
              <a:buClr>
                <a:schemeClr val="lt1"/>
              </a:buClr>
              <a:buSzPts val="10000"/>
              <a:buNone/>
              <a:defRPr sz="10000">
                <a:solidFill>
                  <a:schemeClr val="lt1"/>
                </a:solidFill>
              </a:defRPr>
            </a:lvl2pPr>
            <a:lvl3pPr lvl="2" algn="l">
              <a:lnSpc>
                <a:spcPct val="100000"/>
              </a:lnSpc>
              <a:spcBef>
                <a:spcPts val="0"/>
              </a:spcBef>
              <a:spcAft>
                <a:spcPts val="0"/>
              </a:spcAft>
              <a:buClr>
                <a:schemeClr val="lt1"/>
              </a:buClr>
              <a:buSzPts val="10000"/>
              <a:buNone/>
              <a:defRPr sz="10000">
                <a:solidFill>
                  <a:schemeClr val="lt1"/>
                </a:solidFill>
              </a:defRPr>
            </a:lvl3pPr>
            <a:lvl4pPr lvl="3" algn="l">
              <a:lnSpc>
                <a:spcPct val="100000"/>
              </a:lnSpc>
              <a:spcBef>
                <a:spcPts val="0"/>
              </a:spcBef>
              <a:spcAft>
                <a:spcPts val="0"/>
              </a:spcAft>
              <a:buClr>
                <a:schemeClr val="lt1"/>
              </a:buClr>
              <a:buSzPts val="10000"/>
              <a:buNone/>
              <a:defRPr sz="10000">
                <a:solidFill>
                  <a:schemeClr val="lt1"/>
                </a:solidFill>
              </a:defRPr>
            </a:lvl4pPr>
            <a:lvl5pPr lvl="4" algn="l">
              <a:lnSpc>
                <a:spcPct val="100000"/>
              </a:lnSpc>
              <a:spcBef>
                <a:spcPts val="0"/>
              </a:spcBef>
              <a:spcAft>
                <a:spcPts val="0"/>
              </a:spcAft>
              <a:buClr>
                <a:schemeClr val="lt1"/>
              </a:buClr>
              <a:buSzPts val="10000"/>
              <a:buNone/>
              <a:defRPr sz="10000">
                <a:solidFill>
                  <a:schemeClr val="lt1"/>
                </a:solidFill>
              </a:defRPr>
            </a:lvl5pPr>
            <a:lvl6pPr lvl="5" algn="l">
              <a:lnSpc>
                <a:spcPct val="100000"/>
              </a:lnSpc>
              <a:spcBef>
                <a:spcPts val="0"/>
              </a:spcBef>
              <a:spcAft>
                <a:spcPts val="0"/>
              </a:spcAft>
              <a:buClr>
                <a:schemeClr val="lt1"/>
              </a:buClr>
              <a:buSzPts val="10000"/>
              <a:buNone/>
              <a:defRPr sz="10000">
                <a:solidFill>
                  <a:schemeClr val="lt1"/>
                </a:solidFill>
              </a:defRPr>
            </a:lvl6pPr>
            <a:lvl7pPr lvl="6" algn="l">
              <a:lnSpc>
                <a:spcPct val="100000"/>
              </a:lnSpc>
              <a:spcBef>
                <a:spcPts val="0"/>
              </a:spcBef>
              <a:spcAft>
                <a:spcPts val="0"/>
              </a:spcAft>
              <a:buClr>
                <a:schemeClr val="lt1"/>
              </a:buClr>
              <a:buSzPts val="10000"/>
              <a:buNone/>
              <a:defRPr sz="10000">
                <a:solidFill>
                  <a:schemeClr val="lt1"/>
                </a:solidFill>
              </a:defRPr>
            </a:lvl7pPr>
            <a:lvl8pPr lvl="7" algn="l">
              <a:lnSpc>
                <a:spcPct val="100000"/>
              </a:lnSpc>
              <a:spcBef>
                <a:spcPts val="0"/>
              </a:spcBef>
              <a:spcAft>
                <a:spcPts val="0"/>
              </a:spcAft>
              <a:buClr>
                <a:schemeClr val="lt1"/>
              </a:buClr>
              <a:buSzPts val="10000"/>
              <a:buNone/>
              <a:defRPr sz="10000">
                <a:solidFill>
                  <a:schemeClr val="lt1"/>
                </a:solidFill>
              </a:defRPr>
            </a:lvl8pPr>
            <a:lvl9pPr lvl="8" algn="l">
              <a:lnSpc>
                <a:spcPct val="100000"/>
              </a:lnSpc>
              <a:spcBef>
                <a:spcPts val="0"/>
              </a:spcBef>
              <a:spcAft>
                <a:spcPts val="0"/>
              </a:spcAft>
              <a:buClr>
                <a:schemeClr val="lt1"/>
              </a:buClr>
              <a:buSzPts val="10000"/>
              <a:buNone/>
              <a:defRPr sz="10000">
                <a:solidFill>
                  <a:schemeClr val="lt1"/>
                </a:solidFill>
              </a:defRPr>
            </a:lvl9pPr>
          </a:lstStyle>
          <a:p>
            <a:r>
              <a:t>xx%</a:t>
            </a:r>
          </a:p>
        </p:txBody>
      </p:sp>
      <p:sp>
        <p:nvSpPr>
          <p:cNvPr id="71" name="Google Shape;71;p12"/>
          <p:cNvSpPr txBox="1"/>
          <p:nvPr>
            <p:ph idx="1" type="body"/>
          </p:nvPr>
        </p:nvSpPr>
        <p:spPr>
          <a:xfrm>
            <a:off x="311700" y="2121425"/>
            <a:ext cx="5334900" cy="9426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Clr>
                <a:schemeClr val="accent2"/>
              </a:buClr>
              <a:buSzPts val="1300"/>
              <a:buChar char="●"/>
              <a:defRPr>
                <a:solidFill>
                  <a:schemeClr val="accent2"/>
                </a:solidFill>
              </a:defRPr>
            </a:lvl1pPr>
            <a:lvl2pPr indent="-298450" lvl="1" marL="914400" algn="l">
              <a:lnSpc>
                <a:spcPct val="115000"/>
              </a:lnSpc>
              <a:spcBef>
                <a:spcPts val="1600"/>
              </a:spcBef>
              <a:spcAft>
                <a:spcPts val="0"/>
              </a:spcAft>
              <a:buClr>
                <a:schemeClr val="accent2"/>
              </a:buClr>
              <a:buSzPts val="1100"/>
              <a:buChar char="○"/>
              <a:defRPr>
                <a:solidFill>
                  <a:schemeClr val="accent2"/>
                </a:solidFill>
              </a:defRPr>
            </a:lvl2pPr>
            <a:lvl3pPr indent="-298450" lvl="2" marL="1371600" algn="l">
              <a:lnSpc>
                <a:spcPct val="115000"/>
              </a:lnSpc>
              <a:spcBef>
                <a:spcPts val="1600"/>
              </a:spcBef>
              <a:spcAft>
                <a:spcPts val="0"/>
              </a:spcAft>
              <a:buClr>
                <a:schemeClr val="accent2"/>
              </a:buClr>
              <a:buSzPts val="1100"/>
              <a:buChar char="■"/>
              <a:defRPr>
                <a:solidFill>
                  <a:schemeClr val="accent2"/>
                </a:solidFill>
              </a:defRPr>
            </a:lvl3pPr>
            <a:lvl4pPr indent="-298450" lvl="3" marL="1828800" algn="l">
              <a:lnSpc>
                <a:spcPct val="115000"/>
              </a:lnSpc>
              <a:spcBef>
                <a:spcPts val="1600"/>
              </a:spcBef>
              <a:spcAft>
                <a:spcPts val="0"/>
              </a:spcAft>
              <a:buClr>
                <a:schemeClr val="accent2"/>
              </a:buClr>
              <a:buSzPts val="1100"/>
              <a:buChar char="●"/>
              <a:defRPr>
                <a:solidFill>
                  <a:schemeClr val="accent2"/>
                </a:solidFill>
              </a:defRPr>
            </a:lvl4pPr>
            <a:lvl5pPr indent="-298450" lvl="4" marL="2286000" algn="l">
              <a:lnSpc>
                <a:spcPct val="115000"/>
              </a:lnSpc>
              <a:spcBef>
                <a:spcPts val="1600"/>
              </a:spcBef>
              <a:spcAft>
                <a:spcPts val="0"/>
              </a:spcAft>
              <a:buClr>
                <a:schemeClr val="accent2"/>
              </a:buClr>
              <a:buSzPts val="1100"/>
              <a:buChar char="○"/>
              <a:defRPr>
                <a:solidFill>
                  <a:schemeClr val="accent2"/>
                </a:solidFill>
              </a:defRPr>
            </a:lvl5pPr>
            <a:lvl6pPr indent="-298450" lvl="5" marL="2743200" algn="l">
              <a:lnSpc>
                <a:spcPct val="115000"/>
              </a:lnSpc>
              <a:spcBef>
                <a:spcPts val="1600"/>
              </a:spcBef>
              <a:spcAft>
                <a:spcPts val="0"/>
              </a:spcAft>
              <a:buClr>
                <a:schemeClr val="accent2"/>
              </a:buClr>
              <a:buSzPts val="1100"/>
              <a:buChar char="■"/>
              <a:defRPr>
                <a:solidFill>
                  <a:schemeClr val="accent2"/>
                </a:solidFill>
              </a:defRPr>
            </a:lvl6pPr>
            <a:lvl7pPr indent="-298450" lvl="6" marL="3200400" algn="l">
              <a:lnSpc>
                <a:spcPct val="115000"/>
              </a:lnSpc>
              <a:spcBef>
                <a:spcPts val="1600"/>
              </a:spcBef>
              <a:spcAft>
                <a:spcPts val="0"/>
              </a:spcAft>
              <a:buClr>
                <a:schemeClr val="accent2"/>
              </a:buClr>
              <a:buSzPts val="1100"/>
              <a:buChar char="●"/>
              <a:defRPr>
                <a:solidFill>
                  <a:schemeClr val="accent2"/>
                </a:solidFill>
              </a:defRPr>
            </a:lvl7pPr>
            <a:lvl8pPr indent="-298450" lvl="7" marL="3657600" algn="l">
              <a:lnSpc>
                <a:spcPct val="115000"/>
              </a:lnSpc>
              <a:spcBef>
                <a:spcPts val="1600"/>
              </a:spcBef>
              <a:spcAft>
                <a:spcPts val="0"/>
              </a:spcAft>
              <a:buClr>
                <a:schemeClr val="accent2"/>
              </a:buClr>
              <a:buSzPts val="1100"/>
              <a:buChar char="○"/>
              <a:defRPr>
                <a:solidFill>
                  <a:schemeClr val="accent2"/>
                </a:solidFill>
              </a:defRPr>
            </a:lvl8pPr>
            <a:lvl9pPr indent="-298450" lvl="8" marL="4114800" algn="l">
              <a:lnSpc>
                <a:spcPct val="115000"/>
              </a:lnSpc>
              <a:spcBef>
                <a:spcPts val="1600"/>
              </a:spcBef>
              <a:spcAft>
                <a:spcPts val="1600"/>
              </a:spcAft>
              <a:buClr>
                <a:schemeClr val="accent2"/>
              </a:buClr>
              <a:buSzPts val="1100"/>
              <a:buChar char="■"/>
              <a:defRPr>
                <a:solidFill>
                  <a:schemeClr val="accent2"/>
                </a:solidFill>
              </a:defRPr>
            </a:lvl9pPr>
          </a:lstStyle>
          <a:p/>
        </p:txBody>
      </p:sp>
      <p:sp>
        <p:nvSpPr>
          <p:cNvPr id="72" name="Google Shape;72;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3" name="Shape 73"/>
        <p:cNvGrpSpPr/>
        <p:nvPr/>
      </p:nvGrpSpPr>
      <p:grpSpPr>
        <a:xfrm>
          <a:off x="0" y="0"/>
          <a:ext cx="0" cy="0"/>
          <a:chOff x="0" y="0"/>
          <a:chExt cx="0" cy="0"/>
        </a:xfrm>
      </p:grpSpPr>
      <p:sp>
        <p:nvSpPr>
          <p:cNvPr id="74" name="Google Shape;74;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75" name="Shape 75"/>
        <p:cNvGrpSpPr/>
        <p:nvPr/>
      </p:nvGrpSpPr>
      <p:grpSpPr>
        <a:xfrm>
          <a:off x="0" y="0"/>
          <a:ext cx="0" cy="0"/>
          <a:chOff x="0" y="0"/>
          <a:chExt cx="0" cy="0"/>
        </a:xfrm>
      </p:grpSpPr>
      <p:sp>
        <p:nvSpPr>
          <p:cNvPr id="76" name="Google Shape;76;p1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4"/>
          <p:cNvSpPr txBox="1"/>
          <p:nvPr>
            <p:ph type="title"/>
          </p:nvPr>
        </p:nvSpPr>
        <p:spPr>
          <a:xfrm>
            <a:off x="311700" y="315925"/>
            <a:ext cx="8520600" cy="83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8" name="Google Shape;78;p14"/>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79" name="Google Shape;79;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80" name="Shape 80"/>
        <p:cNvGrpSpPr/>
        <p:nvPr/>
      </p:nvGrpSpPr>
      <p:grpSpPr>
        <a:xfrm>
          <a:off x="0" y="0"/>
          <a:ext cx="0" cy="0"/>
          <a:chOff x="0" y="0"/>
          <a:chExt cx="0" cy="0"/>
        </a:xfrm>
      </p:grpSpPr>
      <p:sp>
        <p:nvSpPr>
          <p:cNvPr id="81" name="Google Shape;81;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2" name="Google Shape;82;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83" name="Google Shape;83;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AUTOLAYOUT_1_1">
    <p:bg>
      <p:bgPr>
        <a:solidFill>
          <a:srgbClr val="FFFFFF"/>
        </a:solidFill>
      </p:bgPr>
    </p:bg>
    <p:spTree>
      <p:nvGrpSpPr>
        <p:cNvPr id="84" name="Shape 84"/>
        <p:cNvGrpSpPr/>
        <p:nvPr/>
      </p:nvGrpSpPr>
      <p:grpSpPr>
        <a:xfrm>
          <a:off x="0" y="0"/>
          <a:ext cx="0" cy="0"/>
          <a:chOff x="0" y="0"/>
          <a:chExt cx="0" cy="0"/>
        </a:xfrm>
      </p:grpSpPr>
      <p:sp>
        <p:nvSpPr>
          <p:cNvPr id="85" name="Google Shape;85;p16"/>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6"/>
          <p:cNvSpPr txBox="1"/>
          <p:nvPr>
            <p:ph idx="1" type="body"/>
          </p:nvPr>
        </p:nvSpPr>
        <p:spPr>
          <a:xfrm>
            <a:off x="65250" y="731625"/>
            <a:ext cx="8955900" cy="1146600"/>
          </a:xfrm>
          <a:prstGeom prst="rect">
            <a:avLst/>
          </a:prstGeom>
          <a:noFill/>
        </p:spPr>
        <p:txBody>
          <a:bodyPr anchorCtr="0" anchor="t" bIns="91425" lIns="91425" spcFirstLastPara="1" rIns="91425" wrap="square" tIns="91425">
            <a:sp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87" name="Google Shape;87;p16"/>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rtl="0" algn="r">
              <a:lnSpc>
                <a:spcPct val="100000"/>
              </a:lnSpc>
              <a:spcAft>
                <a:spcPts val="0"/>
              </a:spcAft>
              <a:buNone/>
              <a:defRPr sz="1000">
                <a:solidFill>
                  <a:schemeClr val="dk2"/>
                </a:solidFill>
              </a:defRPr>
            </a:lvl1pPr>
            <a:lvl2pPr lvl="1" rtl="0" algn="r">
              <a:lnSpc>
                <a:spcPct val="100000"/>
              </a:lnSpc>
              <a:spcAft>
                <a:spcPts val="0"/>
              </a:spcAft>
              <a:buNone/>
              <a:defRPr sz="1000">
                <a:solidFill>
                  <a:schemeClr val="dk2"/>
                </a:solidFill>
              </a:defRPr>
            </a:lvl2pPr>
            <a:lvl3pPr lvl="2" rtl="0" algn="r">
              <a:lnSpc>
                <a:spcPct val="100000"/>
              </a:lnSpc>
              <a:spcAft>
                <a:spcPts val="0"/>
              </a:spcAft>
              <a:buNone/>
              <a:defRPr sz="1000">
                <a:solidFill>
                  <a:schemeClr val="dk2"/>
                </a:solidFill>
              </a:defRPr>
            </a:lvl3pPr>
            <a:lvl4pPr lvl="3" rtl="0" algn="r">
              <a:lnSpc>
                <a:spcPct val="100000"/>
              </a:lnSpc>
              <a:spcAft>
                <a:spcPts val="0"/>
              </a:spcAft>
              <a:buNone/>
              <a:defRPr sz="1000">
                <a:solidFill>
                  <a:schemeClr val="dk2"/>
                </a:solidFill>
              </a:defRPr>
            </a:lvl4pPr>
            <a:lvl5pPr lvl="4" rtl="0" algn="r">
              <a:lnSpc>
                <a:spcPct val="100000"/>
              </a:lnSpc>
              <a:spcAft>
                <a:spcPts val="0"/>
              </a:spcAft>
              <a:buNone/>
              <a:defRPr sz="1000">
                <a:solidFill>
                  <a:schemeClr val="dk2"/>
                </a:solidFill>
              </a:defRPr>
            </a:lvl5pPr>
            <a:lvl6pPr lvl="5" rtl="0" algn="r">
              <a:lnSpc>
                <a:spcPct val="100000"/>
              </a:lnSpc>
              <a:spcAft>
                <a:spcPts val="0"/>
              </a:spcAft>
              <a:buNone/>
              <a:defRPr sz="1000">
                <a:solidFill>
                  <a:schemeClr val="dk2"/>
                </a:solidFill>
              </a:defRPr>
            </a:lvl6pPr>
            <a:lvl7pPr lvl="6" rtl="0" algn="r">
              <a:lnSpc>
                <a:spcPct val="100000"/>
              </a:lnSpc>
              <a:spcAft>
                <a:spcPts val="0"/>
              </a:spcAft>
              <a:buNone/>
              <a:defRPr sz="1000">
                <a:solidFill>
                  <a:schemeClr val="dk2"/>
                </a:solidFill>
              </a:defRPr>
            </a:lvl7pPr>
            <a:lvl8pPr lvl="7" rtl="0" algn="r">
              <a:lnSpc>
                <a:spcPct val="100000"/>
              </a:lnSpc>
              <a:spcAft>
                <a:spcPts val="0"/>
              </a:spcAft>
              <a:buNone/>
              <a:defRPr sz="1000">
                <a:solidFill>
                  <a:schemeClr val="dk2"/>
                </a:solidFill>
              </a:defRPr>
            </a:lvl8pPr>
            <a:lvl9pPr lvl="8" rtl="0"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88" name="Google Shape;88;p16"/>
          <p:cNvSpPr txBox="1"/>
          <p:nvPr>
            <p:ph idx="2" type="body"/>
          </p:nvPr>
        </p:nvSpPr>
        <p:spPr>
          <a:xfrm>
            <a:off x="4420400" y="2013125"/>
            <a:ext cx="4520700" cy="28287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89" name="Google Shape;89;p16"/>
          <p:cNvSpPr/>
          <p:nvPr/>
        </p:nvSpPr>
        <p:spPr>
          <a:xfrm>
            <a:off x="1365175" y="0"/>
            <a:ext cx="7778700" cy="645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6"/>
          <p:cNvSpPr txBox="1"/>
          <p:nvPr>
            <p:ph type="title"/>
          </p:nvPr>
        </p:nvSpPr>
        <p:spPr>
          <a:xfrm>
            <a:off x="1436850" y="100"/>
            <a:ext cx="7642500" cy="596700"/>
          </a:xfrm>
          <a:prstGeom prst="rect">
            <a:avLst/>
          </a:prstGeom>
          <a:noFill/>
        </p:spPr>
        <p:txBody>
          <a:bodyPr anchorCtr="0" anchor="ctr" bIns="91425" lIns="91425" spcFirstLastPara="1" rIns="91425" wrap="square" tIns="91425">
            <a:spAutoFit/>
          </a:bodyPr>
          <a:lstStyle>
            <a:lvl1pPr lvl="0" rtl="0" algn="l">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91" name="Google Shape;91;p16"/>
          <p:cNvSpPr/>
          <p:nvPr/>
        </p:nvSpPr>
        <p:spPr>
          <a:xfrm>
            <a:off x="0" y="0"/>
            <a:ext cx="1365300" cy="6456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6"/>
          <p:cNvSpPr txBox="1"/>
          <p:nvPr>
            <p:ph idx="3" type="title"/>
          </p:nvPr>
        </p:nvSpPr>
        <p:spPr>
          <a:xfrm>
            <a:off x="65250" y="100"/>
            <a:ext cx="1253700" cy="596700"/>
          </a:xfrm>
          <a:prstGeom prst="rect">
            <a:avLst/>
          </a:prstGeom>
          <a:noFill/>
        </p:spPr>
        <p:txBody>
          <a:bodyPr anchorCtr="0" anchor="ctr" bIns="91425" lIns="91425" spcFirstLastPara="1" rIns="91425" wrap="square" tIns="91425">
            <a:spAutoFit/>
          </a:bodyPr>
          <a:lstStyle>
            <a:lvl1pPr lvl="0" rtl="0" algn="r">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93" name="Google Shape;93;p16"/>
          <p:cNvSpPr txBox="1"/>
          <p:nvPr>
            <p:ph idx="4" type="body"/>
          </p:nvPr>
        </p:nvSpPr>
        <p:spPr>
          <a:xfrm>
            <a:off x="141600" y="4156900"/>
            <a:ext cx="3023700" cy="478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lvl1pPr indent="-304800" lvl="0" marL="457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8" name="Shape 98"/>
        <p:cNvGrpSpPr/>
        <p:nvPr/>
      </p:nvGrpSpPr>
      <p:grpSpPr>
        <a:xfrm>
          <a:off x="0" y="0"/>
          <a:ext cx="0" cy="0"/>
          <a:chOff x="0" y="0"/>
          <a:chExt cx="0" cy="0"/>
        </a:xfrm>
      </p:grpSpPr>
      <p:sp>
        <p:nvSpPr>
          <p:cNvPr id="99" name="Google Shape;99;p18"/>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00" name="Google Shape;100;p18"/>
          <p:cNvSpPr txBox="1"/>
          <p:nvPr>
            <p:ph type="ctrTitle"/>
          </p:nvPr>
        </p:nvSpPr>
        <p:spPr>
          <a:xfrm>
            <a:off x="311700" y="539725"/>
            <a:ext cx="8520600" cy="1282500"/>
          </a:xfrm>
          <a:prstGeom prst="rect">
            <a:avLst/>
          </a:prstGeom>
        </p:spPr>
        <p:txBody>
          <a:bodyPr anchorCtr="0" anchor="t" bIns="91425" lIns="91425" spcFirstLastPara="1" rIns="91425" wrap="square" tIns="91425">
            <a:sp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01" name="Google Shape;101;p18"/>
          <p:cNvSpPr txBox="1"/>
          <p:nvPr>
            <p:ph idx="1" type="subTitle"/>
          </p:nvPr>
        </p:nvSpPr>
        <p:spPr>
          <a:xfrm>
            <a:off x="311700" y="1878560"/>
            <a:ext cx="4242600" cy="738300"/>
          </a:xfrm>
          <a:prstGeom prst="rect">
            <a:avLst/>
          </a:prstGeom>
        </p:spPr>
        <p:txBody>
          <a:bodyPr anchorCtr="0" anchor="t" bIns="91425" lIns="91425" spcFirstLastPara="1" rIns="91425" wrap="square" tIns="91425">
            <a:sp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p:txBody>
      </p:sp>
      <p:sp>
        <p:nvSpPr>
          <p:cNvPr id="102" name="Google Shape;102;p18"/>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03" name="Shape 103"/>
        <p:cNvGrpSpPr/>
        <p:nvPr/>
      </p:nvGrpSpPr>
      <p:grpSpPr>
        <a:xfrm>
          <a:off x="0" y="0"/>
          <a:ext cx="0" cy="0"/>
          <a:chOff x="0" y="0"/>
          <a:chExt cx="0" cy="0"/>
        </a:xfrm>
      </p:grpSpPr>
      <p:sp>
        <p:nvSpPr>
          <p:cNvPr id="104" name="Google Shape;104;p19"/>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05" name="Google Shape;105;p19"/>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06" name="Google Shape;106;p19"/>
          <p:cNvSpPr txBox="1"/>
          <p:nvPr>
            <p:ph type="title"/>
          </p:nvPr>
        </p:nvSpPr>
        <p:spPr>
          <a:xfrm>
            <a:off x="311700" y="539725"/>
            <a:ext cx="8520600" cy="1282500"/>
          </a:xfrm>
          <a:prstGeom prst="rect">
            <a:avLst/>
          </a:prstGeom>
        </p:spPr>
        <p:txBody>
          <a:bodyPr anchorCtr="0" anchor="t" bIns="91425" lIns="91425" spcFirstLastPara="1" rIns="91425" wrap="square" tIns="91425">
            <a:sp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07" name="Google Shape;107;p19"/>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8" name="Shape 108"/>
        <p:cNvGrpSpPr/>
        <p:nvPr/>
      </p:nvGrpSpPr>
      <p:grpSpPr>
        <a:xfrm>
          <a:off x="0" y="0"/>
          <a:ext cx="0" cy="0"/>
          <a:chOff x="0" y="0"/>
          <a:chExt cx="0" cy="0"/>
        </a:xfrm>
      </p:grpSpPr>
      <p:sp>
        <p:nvSpPr>
          <p:cNvPr id="109" name="Google Shape;109;p20"/>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10" name="Google Shape;110;p20"/>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0"/>
          <p:cNvSpPr txBox="1"/>
          <p:nvPr>
            <p:ph type="title"/>
          </p:nvPr>
        </p:nvSpPr>
        <p:spPr>
          <a:xfrm>
            <a:off x="311725" y="500925"/>
            <a:ext cx="3706500" cy="638100"/>
          </a:xfrm>
          <a:prstGeom prst="rect">
            <a:avLst/>
          </a:prstGeom>
        </p:spPr>
        <p:txBody>
          <a:bodyPr anchorCtr="0" anchor="t" bIns="91425" lIns="91425" spcFirstLastPara="1" rIns="91425" wrap="square" tIns="91425">
            <a:sp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12" name="Google Shape;112;p20"/>
          <p:cNvSpPr txBox="1"/>
          <p:nvPr>
            <p:ph idx="1" type="body"/>
          </p:nvPr>
        </p:nvSpPr>
        <p:spPr>
          <a:xfrm>
            <a:off x="4644675" y="500925"/>
            <a:ext cx="4166400" cy="44322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3" name="Google Shape;113;p20"/>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4" name="Google Shape;114;p20"/>
          <p:cNvSpPr txBox="1"/>
          <p:nvPr>
            <p:ph idx="2" type="body"/>
          </p:nvPr>
        </p:nvSpPr>
        <p:spPr>
          <a:xfrm>
            <a:off x="315425" y="1286175"/>
            <a:ext cx="3706500" cy="26973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115" name="Google Shape;115;p20"/>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6" name="Shape 116"/>
        <p:cNvGrpSpPr/>
        <p:nvPr/>
      </p:nvGrpSpPr>
      <p:grpSpPr>
        <a:xfrm>
          <a:off x="0" y="0"/>
          <a:ext cx="0" cy="0"/>
          <a:chOff x="0" y="0"/>
          <a:chExt cx="0" cy="0"/>
        </a:xfrm>
      </p:grpSpPr>
      <p:sp>
        <p:nvSpPr>
          <p:cNvPr id="117" name="Google Shape;117;p21"/>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1"/>
          <p:cNvSpPr txBox="1"/>
          <p:nvPr>
            <p:ph type="title"/>
          </p:nvPr>
        </p:nvSpPr>
        <p:spPr>
          <a:xfrm>
            <a:off x="311725" y="500925"/>
            <a:ext cx="8520600" cy="623700"/>
          </a:xfrm>
          <a:prstGeom prst="rect">
            <a:avLst/>
          </a:prstGeom>
        </p:spPr>
        <p:txBody>
          <a:bodyPr anchorCtr="0" anchor="t" bIns="91425" lIns="91425" spcFirstLastPara="1" rIns="91425" wrap="square" tIns="91425">
            <a:sp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19" name="Google Shape;119;p21"/>
          <p:cNvSpPr txBox="1"/>
          <p:nvPr>
            <p:ph idx="1" type="body"/>
          </p:nvPr>
        </p:nvSpPr>
        <p:spPr>
          <a:xfrm>
            <a:off x="311700" y="1505700"/>
            <a:ext cx="3999900" cy="30762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20" name="Google Shape;120;p21"/>
          <p:cNvSpPr txBox="1"/>
          <p:nvPr>
            <p:ph idx="2" type="body"/>
          </p:nvPr>
        </p:nvSpPr>
        <p:spPr>
          <a:xfrm>
            <a:off x="4832400" y="1505700"/>
            <a:ext cx="3999900" cy="30762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21" name="Google Shape;121;p21"/>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2" name="Shape 122"/>
        <p:cNvGrpSpPr/>
        <p:nvPr/>
      </p:nvGrpSpPr>
      <p:grpSpPr>
        <a:xfrm>
          <a:off x="0" y="0"/>
          <a:ext cx="0" cy="0"/>
          <a:chOff x="0" y="0"/>
          <a:chExt cx="0" cy="0"/>
        </a:xfrm>
      </p:grpSpPr>
      <p:sp>
        <p:nvSpPr>
          <p:cNvPr id="123" name="Google Shape;123;p22"/>
          <p:cNvSpPr/>
          <p:nvPr/>
        </p:nvSpPr>
        <p:spPr>
          <a:xfrm>
            <a:off x="0" y="0"/>
            <a:ext cx="9144000" cy="729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2"/>
          <p:cNvSpPr txBox="1"/>
          <p:nvPr>
            <p:ph type="title"/>
          </p:nvPr>
        </p:nvSpPr>
        <p:spPr>
          <a:xfrm>
            <a:off x="311700" y="105275"/>
            <a:ext cx="8520600" cy="623700"/>
          </a:xfrm>
          <a:prstGeom prst="rect">
            <a:avLst/>
          </a:prstGeom>
        </p:spPr>
        <p:txBody>
          <a:bodyPr anchorCtr="0" anchor="t" bIns="91425" lIns="91425" spcFirstLastPara="1" rIns="91425" wrap="square" tIns="91425">
            <a:sp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25" name="Google Shape;125;p22"/>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6" name="Shape 126"/>
        <p:cNvGrpSpPr/>
        <p:nvPr/>
      </p:nvGrpSpPr>
      <p:grpSpPr>
        <a:xfrm>
          <a:off x="0" y="0"/>
          <a:ext cx="0" cy="0"/>
          <a:chOff x="0" y="0"/>
          <a:chExt cx="0" cy="0"/>
        </a:xfrm>
      </p:grpSpPr>
      <p:sp>
        <p:nvSpPr>
          <p:cNvPr id="127" name="Google Shape;127;p23"/>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3"/>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29" name="Google Shape;129;p23"/>
          <p:cNvSpPr txBox="1"/>
          <p:nvPr>
            <p:ph idx="12" type="sldNum"/>
          </p:nvPr>
        </p:nvSpPr>
        <p:spPr>
          <a:xfrm>
            <a:off x="90458" y="4663217"/>
            <a:ext cx="548700" cy="3387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0" name="Google Shape;130;p23"/>
          <p:cNvSpPr txBox="1"/>
          <p:nvPr>
            <p:ph type="title"/>
          </p:nvPr>
        </p:nvSpPr>
        <p:spPr>
          <a:xfrm>
            <a:off x="5264725" y="500925"/>
            <a:ext cx="3706500" cy="638100"/>
          </a:xfrm>
          <a:prstGeom prst="rect">
            <a:avLst/>
          </a:prstGeom>
        </p:spPr>
        <p:txBody>
          <a:bodyPr anchorCtr="0" anchor="t" bIns="91425" lIns="91425" spcFirstLastPara="1" rIns="91425" wrap="square" tIns="91425">
            <a:sp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31" name="Google Shape;131;p23"/>
          <p:cNvSpPr txBox="1"/>
          <p:nvPr>
            <p:ph idx="1" type="body"/>
          </p:nvPr>
        </p:nvSpPr>
        <p:spPr>
          <a:xfrm>
            <a:off x="301275" y="500925"/>
            <a:ext cx="4166400" cy="44322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2" name="Google Shape;132;p23"/>
          <p:cNvSpPr txBox="1"/>
          <p:nvPr>
            <p:ph idx="2" type="body"/>
          </p:nvPr>
        </p:nvSpPr>
        <p:spPr>
          <a:xfrm>
            <a:off x="5192225" y="1286175"/>
            <a:ext cx="3706500" cy="26973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133" name="Google Shape;133;p23"/>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4" name="Shape 134"/>
        <p:cNvGrpSpPr/>
        <p:nvPr/>
      </p:nvGrpSpPr>
      <p:grpSpPr>
        <a:xfrm>
          <a:off x="0" y="0"/>
          <a:ext cx="0" cy="0"/>
          <a:chOff x="0" y="0"/>
          <a:chExt cx="0" cy="0"/>
        </a:xfrm>
      </p:grpSpPr>
      <p:sp>
        <p:nvSpPr>
          <p:cNvPr id="135" name="Google Shape;135;p24"/>
          <p:cNvSpPr txBox="1"/>
          <p:nvPr>
            <p:ph type="title"/>
          </p:nvPr>
        </p:nvSpPr>
        <p:spPr>
          <a:xfrm>
            <a:off x="311675" y="798600"/>
            <a:ext cx="6247800" cy="3546300"/>
          </a:xfrm>
          <a:prstGeom prst="rect">
            <a:avLst/>
          </a:prstGeom>
        </p:spPr>
        <p:txBody>
          <a:bodyPr anchorCtr="0" anchor="ctr" bIns="91425" lIns="91425" spcFirstLastPara="1" rIns="91425" wrap="square" tIns="91425">
            <a:sp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36" name="Google Shape;136;p24"/>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7" name="Shape 137"/>
        <p:cNvGrpSpPr/>
        <p:nvPr/>
      </p:nvGrpSpPr>
      <p:grpSpPr>
        <a:xfrm>
          <a:off x="0" y="0"/>
          <a:ext cx="0" cy="0"/>
          <a:chOff x="0" y="0"/>
          <a:chExt cx="0" cy="0"/>
        </a:xfrm>
      </p:grpSpPr>
      <p:sp>
        <p:nvSpPr>
          <p:cNvPr id="138" name="Google Shape;138;p25"/>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5"/>
          <p:cNvSpPr txBox="1"/>
          <p:nvPr>
            <p:ph type="title"/>
          </p:nvPr>
        </p:nvSpPr>
        <p:spPr>
          <a:xfrm>
            <a:off x="311300" y="500925"/>
            <a:ext cx="3704400" cy="2049600"/>
          </a:xfrm>
          <a:prstGeom prst="rect">
            <a:avLst/>
          </a:prstGeom>
        </p:spPr>
        <p:txBody>
          <a:bodyPr anchorCtr="0" anchor="t" bIns="91425" lIns="91425" spcFirstLastPara="1" rIns="91425" wrap="square" tIns="91425">
            <a:sp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40" name="Google Shape;140;p25"/>
          <p:cNvSpPr txBox="1"/>
          <p:nvPr>
            <p:ph idx="1" type="subTitle"/>
          </p:nvPr>
        </p:nvSpPr>
        <p:spPr>
          <a:xfrm>
            <a:off x="304800" y="2626725"/>
            <a:ext cx="3704400" cy="926700"/>
          </a:xfrm>
          <a:prstGeom prst="rect">
            <a:avLst/>
          </a:prstGeom>
        </p:spPr>
        <p:txBody>
          <a:bodyPr anchorCtr="0" anchor="t" bIns="91425" lIns="91425" spcFirstLastPara="1" rIns="91425" wrap="square" tIns="91425">
            <a:sp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p:txBody>
      </p:sp>
      <p:sp>
        <p:nvSpPr>
          <p:cNvPr id="141" name="Google Shape;141;p25"/>
          <p:cNvSpPr txBox="1"/>
          <p:nvPr>
            <p:ph idx="2" type="body"/>
          </p:nvPr>
        </p:nvSpPr>
        <p:spPr>
          <a:xfrm>
            <a:off x="4879025" y="500925"/>
            <a:ext cx="3954000" cy="41115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2" name="Google Shape;142;p25"/>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3" name="Shape 143"/>
        <p:cNvGrpSpPr/>
        <p:nvPr/>
      </p:nvGrpSpPr>
      <p:grpSpPr>
        <a:xfrm>
          <a:off x="0" y="0"/>
          <a:ext cx="0" cy="0"/>
          <a:chOff x="0" y="0"/>
          <a:chExt cx="0" cy="0"/>
        </a:xfrm>
      </p:grpSpPr>
      <p:sp>
        <p:nvSpPr>
          <p:cNvPr id="144" name="Google Shape;144;p26"/>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6"/>
          <p:cNvSpPr txBox="1"/>
          <p:nvPr>
            <p:ph idx="1" type="body"/>
          </p:nvPr>
        </p:nvSpPr>
        <p:spPr>
          <a:xfrm>
            <a:off x="311700" y="4521400"/>
            <a:ext cx="7979400" cy="460500"/>
          </a:xfrm>
          <a:prstGeom prst="rect">
            <a:avLst/>
          </a:prstGeom>
        </p:spPr>
        <p:txBody>
          <a:bodyPr anchorCtr="0" anchor="ctr" bIns="91425" lIns="91425" spcFirstLastPara="1" rIns="91425" wrap="square" tIns="91425">
            <a:spAutoFit/>
          </a:bodyPr>
          <a:lstStyle>
            <a:lvl1pPr indent="-228600" lvl="0" marL="4572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146" name="Google Shape;146;p26"/>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47" name="Shape 147"/>
        <p:cNvGrpSpPr/>
        <p:nvPr/>
      </p:nvGrpSpPr>
      <p:grpSpPr>
        <a:xfrm>
          <a:off x="0" y="0"/>
          <a:ext cx="0" cy="0"/>
          <a:chOff x="0" y="0"/>
          <a:chExt cx="0" cy="0"/>
        </a:xfrm>
      </p:grpSpPr>
      <p:sp>
        <p:nvSpPr>
          <p:cNvPr id="148" name="Google Shape;148;p27"/>
          <p:cNvSpPr txBox="1"/>
          <p:nvPr>
            <p:ph hasCustomPrompt="1" type="title"/>
          </p:nvPr>
        </p:nvSpPr>
        <p:spPr>
          <a:xfrm>
            <a:off x="311750" y="831175"/>
            <a:ext cx="5334900" cy="1244700"/>
          </a:xfrm>
          <a:prstGeom prst="rect">
            <a:avLst/>
          </a:prstGeom>
        </p:spPr>
        <p:txBody>
          <a:bodyPr anchorCtr="0" anchor="b" bIns="91425" lIns="91425" spcFirstLastPara="1" rIns="91425" wrap="square" tIns="91425">
            <a:sp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149" name="Google Shape;149;p27"/>
          <p:cNvSpPr txBox="1"/>
          <p:nvPr>
            <p:ph idx="1" type="body"/>
          </p:nvPr>
        </p:nvSpPr>
        <p:spPr>
          <a:xfrm>
            <a:off x="311700" y="2121425"/>
            <a:ext cx="5334900" cy="9426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Clr>
                <a:schemeClr val="accent2"/>
              </a:buClr>
              <a:buSzPts val="1300"/>
              <a:buChar char="●"/>
              <a:defRPr>
                <a:solidFill>
                  <a:schemeClr val="accent2"/>
                </a:solidFill>
              </a:defRPr>
            </a:lvl1pPr>
            <a:lvl2pPr indent="-298450" lvl="1" marL="914400" rtl="0">
              <a:spcBef>
                <a:spcPts val="1600"/>
              </a:spcBef>
              <a:spcAft>
                <a:spcPts val="0"/>
              </a:spcAft>
              <a:buClr>
                <a:schemeClr val="accent2"/>
              </a:buClr>
              <a:buSzPts val="1100"/>
              <a:buChar char="○"/>
              <a:defRPr>
                <a:solidFill>
                  <a:schemeClr val="accent2"/>
                </a:solidFill>
              </a:defRPr>
            </a:lvl2pPr>
            <a:lvl3pPr indent="-298450" lvl="2" marL="1371600" rtl="0">
              <a:spcBef>
                <a:spcPts val="1600"/>
              </a:spcBef>
              <a:spcAft>
                <a:spcPts val="0"/>
              </a:spcAft>
              <a:buClr>
                <a:schemeClr val="accent2"/>
              </a:buClr>
              <a:buSzPts val="1100"/>
              <a:buChar char="■"/>
              <a:defRPr>
                <a:solidFill>
                  <a:schemeClr val="accent2"/>
                </a:solidFill>
              </a:defRPr>
            </a:lvl3pPr>
            <a:lvl4pPr indent="-298450" lvl="3" marL="1828800" rtl="0">
              <a:spcBef>
                <a:spcPts val="1600"/>
              </a:spcBef>
              <a:spcAft>
                <a:spcPts val="0"/>
              </a:spcAft>
              <a:buClr>
                <a:schemeClr val="accent2"/>
              </a:buClr>
              <a:buSzPts val="1100"/>
              <a:buChar char="●"/>
              <a:defRPr>
                <a:solidFill>
                  <a:schemeClr val="accent2"/>
                </a:solidFill>
              </a:defRPr>
            </a:lvl4pPr>
            <a:lvl5pPr indent="-298450" lvl="4" marL="2286000" rtl="0">
              <a:spcBef>
                <a:spcPts val="1600"/>
              </a:spcBef>
              <a:spcAft>
                <a:spcPts val="0"/>
              </a:spcAft>
              <a:buClr>
                <a:schemeClr val="accent2"/>
              </a:buClr>
              <a:buSzPts val="1100"/>
              <a:buChar char="○"/>
              <a:defRPr>
                <a:solidFill>
                  <a:schemeClr val="accent2"/>
                </a:solidFill>
              </a:defRPr>
            </a:lvl5pPr>
            <a:lvl6pPr indent="-298450" lvl="5" marL="2743200" rtl="0">
              <a:spcBef>
                <a:spcPts val="1600"/>
              </a:spcBef>
              <a:spcAft>
                <a:spcPts val="0"/>
              </a:spcAft>
              <a:buClr>
                <a:schemeClr val="accent2"/>
              </a:buClr>
              <a:buSzPts val="1100"/>
              <a:buChar char="■"/>
              <a:defRPr>
                <a:solidFill>
                  <a:schemeClr val="accent2"/>
                </a:solidFill>
              </a:defRPr>
            </a:lvl6pPr>
            <a:lvl7pPr indent="-298450" lvl="6" marL="3200400" rtl="0">
              <a:spcBef>
                <a:spcPts val="1600"/>
              </a:spcBef>
              <a:spcAft>
                <a:spcPts val="0"/>
              </a:spcAft>
              <a:buClr>
                <a:schemeClr val="accent2"/>
              </a:buClr>
              <a:buSzPts val="1100"/>
              <a:buChar char="●"/>
              <a:defRPr>
                <a:solidFill>
                  <a:schemeClr val="accent2"/>
                </a:solidFill>
              </a:defRPr>
            </a:lvl7pPr>
            <a:lvl8pPr indent="-298450" lvl="7" marL="3657600" rtl="0">
              <a:spcBef>
                <a:spcPts val="1600"/>
              </a:spcBef>
              <a:spcAft>
                <a:spcPts val="0"/>
              </a:spcAft>
              <a:buClr>
                <a:schemeClr val="accent2"/>
              </a:buClr>
              <a:buSzPts val="1100"/>
              <a:buChar char="○"/>
              <a:defRPr>
                <a:solidFill>
                  <a:schemeClr val="accent2"/>
                </a:solidFill>
              </a:defRPr>
            </a:lvl8pPr>
            <a:lvl9pPr indent="-298450" lvl="8" marL="4114800" rtl="0">
              <a:spcBef>
                <a:spcPts val="1600"/>
              </a:spcBef>
              <a:spcAft>
                <a:spcPts val="1600"/>
              </a:spcAft>
              <a:buClr>
                <a:schemeClr val="accent2"/>
              </a:buClr>
              <a:buSzPts val="1100"/>
              <a:buChar char="■"/>
              <a:defRPr>
                <a:solidFill>
                  <a:schemeClr val="accent2"/>
                </a:solidFill>
              </a:defRPr>
            </a:lvl9pPr>
          </a:lstStyle>
          <a:p/>
        </p:txBody>
      </p:sp>
      <p:sp>
        <p:nvSpPr>
          <p:cNvPr id="150" name="Google Shape;150;p27"/>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1" name="Shape 151"/>
        <p:cNvGrpSpPr/>
        <p:nvPr/>
      </p:nvGrpSpPr>
      <p:grpSpPr>
        <a:xfrm>
          <a:off x="0" y="0"/>
          <a:ext cx="0" cy="0"/>
          <a:chOff x="0" y="0"/>
          <a:chExt cx="0" cy="0"/>
        </a:xfrm>
      </p:grpSpPr>
      <p:sp>
        <p:nvSpPr>
          <p:cNvPr id="152" name="Google Shape;152;p28"/>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53" name="Shape 153"/>
        <p:cNvGrpSpPr/>
        <p:nvPr/>
      </p:nvGrpSpPr>
      <p:grpSpPr>
        <a:xfrm>
          <a:off x="0" y="0"/>
          <a:ext cx="0" cy="0"/>
          <a:chOff x="0" y="0"/>
          <a:chExt cx="0" cy="0"/>
        </a:xfrm>
      </p:grpSpPr>
      <p:sp>
        <p:nvSpPr>
          <p:cNvPr id="154" name="Google Shape;154;p29"/>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9"/>
          <p:cNvSpPr txBox="1"/>
          <p:nvPr>
            <p:ph type="title"/>
          </p:nvPr>
        </p:nvSpPr>
        <p:spPr>
          <a:xfrm>
            <a:off x="311700" y="315925"/>
            <a:ext cx="8520600" cy="831300"/>
          </a:xfrm>
          <a:prstGeom prst="rect">
            <a:avLst/>
          </a:prstGeom>
        </p:spPr>
        <p:txBody>
          <a:bodyPr anchorCtr="0" anchor="t" bIns="91425" lIns="91425" spcFirstLastPara="1" rIns="91425" wrap="square" tIns="91425">
            <a:sp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6" name="Google Shape;156;p29"/>
          <p:cNvSpPr txBox="1"/>
          <p:nvPr>
            <p:ph idx="1" type="body"/>
          </p:nvPr>
        </p:nvSpPr>
        <p:spPr>
          <a:xfrm>
            <a:off x="311700" y="1225225"/>
            <a:ext cx="8520600" cy="33540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57" name="Google Shape;157;p29"/>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158" name="Shape 158"/>
        <p:cNvGrpSpPr/>
        <p:nvPr/>
      </p:nvGrpSpPr>
      <p:grpSpPr>
        <a:xfrm>
          <a:off x="0" y="0"/>
          <a:ext cx="0" cy="0"/>
          <a:chOff x="0" y="0"/>
          <a:chExt cx="0" cy="0"/>
        </a:xfrm>
      </p:grpSpPr>
      <p:sp>
        <p:nvSpPr>
          <p:cNvPr id="159" name="Google Shape;159;p3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0" name="Google Shape;160;p30"/>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61" name="Google Shape;161;p30"/>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66" name="Shape 166"/>
        <p:cNvGrpSpPr/>
        <p:nvPr/>
      </p:nvGrpSpPr>
      <p:grpSpPr>
        <a:xfrm>
          <a:off x="0" y="0"/>
          <a:ext cx="0" cy="0"/>
          <a:chOff x="0" y="0"/>
          <a:chExt cx="0" cy="0"/>
        </a:xfrm>
      </p:grpSpPr>
      <p:sp>
        <p:nvSpPr>
          <p:cNvPr id="167" name="Google Shape;167;p3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8" name="Google Shape;168;p32"/>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69" name="Google Shape;169;p32"/>
          <p:cNvSpPr txBox="1"/>
          <p:nvPr>
            <p:ph idx="1" type="subTitle"/>
          </p:nvPr>
        </p:nvSpPr>
        <p:spPr>
          <a:xfrm>
            <a:off x="311700" y="1878560"/>
            <a:ext cx="4242600" cy="73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p:txBody>
      </p:sp>
      <p:sp>
        <p:nvSpPr>
          <p:cNvPr id="170" name="Google Shape;170;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71" name="Shape 171"/>
        <p:cNvGrpSpPr/>
        <p:nvPr/>
      </p:nvGrpSpPr>
      <p:grpSpPr>
        <a:xfrm>
          <a:off x="0" y="0"/>
          <a:ext cx="0" cy="0"/>
          <a:chOff x="0" y="0"/>
          <a:chExt cx="0" cy="0"/>
        </a:xfrm>
      </p:grpSpPr>
      <p:sp>
        <p:nvSpPr>
          <p:cNvPr id="172" name="Google Shape;172;p3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73" name="Google Shape;173;p3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4" name="Google Shape;174;p33"/>
          <p:cNvSpPr txBox="1"/>
          <p:nvPr>
            <p:ph type="title"/>
          </p:nvPr>
        </p:nvSpPr>
        <p:spPr>
          <a:xfrm>
            <a:off x="311700" y="539725"/>
            <a:ext cx="8520600" cy="1282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75" name="Google Shape;175;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6" name="Shape 176"/>
        <p:cNvGrpSpPr/>
        <p:nvPr/>
      </p:nvGrpSpPr>
      <p:grpSpPr>
        <a:xfrm>
          <a:off x="0" y="0"/>
          <a:ext cx="0" cy="0"/>
          <a:chOff x="0" y="0"/>
          <a:chExt cx="0" cy="0"/>
        </a:xfrm>
      </p:grpSpPr>
      <p:sp>
        <p:nvSpPr>
          <p:cNvPr id="177" name="Google Shape;177;p34"/>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78" name="Google Shape;178;p3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4"/>
          <p:cNvSpPr txBox="1"/>
          <p:nvPr>
            <p:ph type="title"/>
          </p:nvPr>
        </p:nvSpPr>
        <p:spPr>
          <a:xfrm>
            <a:off x="311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80" name="Google Shape;180;p34"/>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81" name="Google Shape;181;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82" name="Google Shape;182;p34"/>
          <p:cNvSpPr txBox="1"/>
          <p:nvPr>
            <p:ph idx="2" type="body"/>
          </p:nvPr>
        </p:nvSpPr>
        <p:spPr>
          <a:xfrm>
            <a:off x="3154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183" name="Google Shape;183;p34"/>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4" name="Shape 184"/>
        <p:cNvGrpSpPr/>
        <p:nvPr/>
      </p:nvGrpSpPr>
      <p:grpSpPr>
        <a:xfrm>
          <a:off x="0" y="0"/>
          <a:ext cx="0" cy="0"/>
          <a:chOff x="0" y="0"/>
          <a:chExt cx="0" cy="0"/>
        </a:xfrm>
      </p:grpSpPr>
      <p:sp>
        <p:nvSpPr>
          <p:cNvPr id="185" name="Google Shape;185;p3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87" name="Google Shape;187;p35"/>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88" name="Google Shape;188;p35"/>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89" name="Google Shape;189;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0" name="Shape 190"/>
        <p:cNvGrpSpPr/>
        <p:nvPr/>
      </p:nvGrpSpPr>
      <p:grpSpPr>
        <a:xfrm>
          <a:off x="0" y="0"/>
          <a:ext cx="0" cy="0"/>
          <a:chOff x="0" y="0"/>
          <a:chExt cx="0" cy="0"/>
        </a:xfrm>
      </p:grpSpPr>
      <p:sp>
        <p:nvSpPr>
          <p:cNvPr id="191" name="Google Shape;191;p3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93" name="Google Shape;193;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94" name="Shape 194"/>
        <p:cNvGrpSpPr/>
        <p:nvPr/>
      </p:nvGrpSpPr>
      <p:grpSpPr>
        <a:xfrm>
          <a:off x="0" y="0"/>
          <a:ext cx="0" cy="0"/>
          <a:chOff x="0" y="0"/>
          <a:chExt cx="0" cy="0"/>
        </a:xfrm>
      </p:grpSpPr>
      <p:sp>
        <p:nvSpPr>
          <p:cNvPr id="195" name="Google Shape;195;p37"/>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7"/>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97" name="Google Shape;197;p37"/>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98" name="Google Shape;198;p37"/>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99" name="Google Shape;199;p37"/>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00" name="Google Shape;200;p37"/>
          <p:cNvSpPr txBox="1"/>
          <p:nvPr>
            <p:ph idx="2" type="body"/>
          </p:nvPr>
        </p:nvSpPr>
        <p:spPr>
          <a:xfrm>
            <a:off x="51922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201" name="Google Shape;201;p37"/>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202" name="Shape 202"/>
        <p:cNvGrpSpPr/>
        <p:nvPr/>
      </p:nvGrpSpPr>
      <p:grpSpPr>
        <a:xfrm>
          <a:off x="0" y="0"/>
          <a:ext cx="0" cy="0"/>
          <a:chOff x="0" y="0"/>
          <a:chExt cx="0" cy="0"/>
        </a:xfrm>
      </p:grpSpPr>
      <p:sp>
        <p:nvSpPr>
          <p:cNvPr id="203" name="Google Shape;203;p38"/>
          <p:cNvSpPr txBox="1"/>
          <p:nvPr>
            <p:ph type="title"/>
          </p:nvPr>
        </p:nvSpPr>
        <p:spPr>
          <a:xfrm>
            <a:off x="311675" y="798600"/>
            <a:ext cx="6247800" cy="35463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04" name="Google Shape;204;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5" name="Shape 205"/>
        <p:cNvGrpSpPr/>
        <p:nvPr/>
      </p:nvGrpSpPr>
      <p:grpSpPr>
        <a:xfrm>
          <a:off x="0" y="0"/>
          <a:ext cx="0" cy="0"/>
          <a:chOff x="0" y="0"/>
          <a:chExt cx="0" cy="0"/>
        </a:xfrm>
      </p:grpSpPr>
      <p:sp>
        <p:nvSpPr>
          <p:cNvPr id="206" name="Google Shape;206;p3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9"/>
          <p:cNvSpPr txBox="1"/>
          <p:nvPr>
            <p:ph type="title"/>
          </p:nvPr>
        </p:nvSpPr>
        <p:spPr>
          <a:xfrm>
            <a:off x="311300" y="500925"/>
            <a:ext cx="3704400" cy="2049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08" name="Google Shape;208;p39"/>
          <p:cNvSpPr txBox="1"/>
          <p:nvPr>
            <p:ph idx="1" type="subTitle"/>
          </p:nvPr>
        </p:nvSpPr>
        <p:spPr>
          <a:xfrm>
            <a:off x="304800" y="2626725"/>
            <a:ext cx="3704400" cy="92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p:txBody>
      </p:sp>
      <p:sp>
        <p:nvSpPr>
          <p:cNvPr id="209" name="Google Shape;209;p39"/>
          <p:cNvSpPr txBox="1"/>
          <p:nvPr>
            <p:ph idx="2" type="body"/>
          </p:nvPr>
        </p:nvSpPr>
        <p:spPr>
          <a:xfrm>
            <a:off x="4879025" y="500925"/>
            <a:ext cx="3954000" cy="4111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10" name="Google Shape;210;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11" name="Shape 211"/>
        <p:cNvGrpSpPr/>
        <p:nvPr/>
      </p:nvGrpSpPr>
      <p:grpSpPr>
        <a:xfrm>
          <a:off x="0" y="0"/>
          <a:ext cx="0" cy="0"/>
          <a:chOff x="0" y="0"/>
          <a:chExt cx="0" cy="0"/>
        </a:xfrm>
      </p:grpSpPr>
      <p:sp>
        <p:nvSpPr>
          <p:cNvPr id="212" name="Google Shape;212;p4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40"/>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214" name="Google Shape;214;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215" name="Shape 215"/>
        <p:cNvGrpSpPr/>
        <p:nvPr/>
      </p:nvGrpSpPr>
      <p:grpSpPr>
        <a:xfrm>
          <a:off x="0" y="0"/>
          <a:ext cx="0" cy="0"/>
          <a:chOff x="0" y="0"/>
          <a:chExt cx="0" cy="0"/>
        </a:xfrm>
      </p:grpSpPr>
      <p:sp>
        <p:nvSpPr>
          <p:cNvPr id="216" name="Google Shape;216;p4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217" name="Google Shape;217;p41"/>
          <p:cNvSpPr txBox="1"/>
          <p:nvPr>
            <p:ph idx="1" type="body"/>
          </p:nvPr>
        </p:nvSpPr>
        <p:spPr>
          <a:xfrm>
            <a:off x="311700" y="2121425"/>
            <a:ext cx="5334900" cy="9426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accent2"/>
              </a:buClr>
              <a:buSzPts val="1300"/>
              <a:buChar char="●"/>
              <a:defRPr>
                <a:solidFill>
                  <a:schemeClr val="accent2"/>
                </a:solidFill>
              </a:defRPr>
            </a:lvl1pPr>
            <a:lvl2pPr indent="-298450" lvl="1" marL="914400" rtl="0">
              <a:spcBef>
                <a:spcPts val="1600"/>
              </a:spcBef>
              <a:spcAft>
                <a:spcPts val="0"/>
              </a:spcAft>
              <a:buClr>
                <a:schemeClr val="accent2"/>
              </a:buClr>
              <a:buSzPts val="1100"/>
              <a:buChar char="○"/>
              <a:defRPr>
                <a:solidFill>
                  <a:schemeClr val="accent2"/>
                </a:solidFill>
              </a:defRPr>
            </a:lvl2pPr>
            <a:lvl3pPr indent="-298450" lvl="2" marL="1371600" rtl="0">
              <a:spcBef>
                <a:spcPts val="1600"/>
              </a:spcBef>
              <a:spcAft>
                <a:spcPts val="0"/>
              </a:spcAft>
              <a:buClr>
                <a:schemeClr val="accent2"/>
              </a:buClr>
              <a:buSzPts val="1100"/>
              <a:buChar char="■"/>
              <a:defRPr>
                <a:solidFill>
                  <a:schemeClr val="accent2"/>
                </a:solidFill>
              </a:defRPr>
            </a:lvl3pPr>
            <a:lvl4pPr indent="-298450" lvl="3" marL="1828800" rtl="0">
              <a:spcBef>
                <a:spcPts val="1600"/>
              </a:spcBef>
              <a:spcAft>
                <a:spcPts val="0"/>
              </a:spcAft>
              <a:buClr>
                <a:schemeClr val="accent2"/>
              </a:buClr>
              <a:buSzPts val="1100"/>
              <a:buChar char="●"/>
              <a:defRPr>
                <a:solidFill>
                  <a:schemeClr val="accent2"/>
                </a:solidFill>
              </a:defRPr>
            </a:lvl4pPr>
            <a:lvl5pPr indent="-298450" lvl="4" marL="2286000" rtl="0">
              <a:spcBef>
                <a:spcPts val="1600"/>
              </a:spcBef>
              <a:spcAft>
                <a:spcPts val="0"/>
              </a:spcAft>
              <a:buClr>
                <a:schemeClr val="accent2"/>
              </a:buClr>
              <a:buSzPts val="1100"/>
              <a:buChar char="○"/>
              <a:defRPr>
                <a:solidFill>
                  <a:schemeClr val="accent2"/>
                </a:solidFill>
              </a:defRPr>
            </a:lvl5pPr>
            <a:lvl6pPr indent="-298450" lvl="5" marL="2743200" rtl="0">
              <a:spcBef>
                <a:spcPts val="1600"/>
              </a:spcBef>
              <a:spcAft>
                <a:spcPts val="0"/>
              </a:spcAft>
              <a:buClr>
                <a:schemeClr val="accent2"/>
              </a:buClr>
              <a:buSzPts val="1100"/>
              <a:buChar char="■"/>
              <a:defRPr>
                <a:solidFill>
                  <a:schemeClr val="accent2"/>
                </a:solidFill>
              </a:defRPr>
            </a:lvl6pPr>
            <a:lvl7pPr indent="-298450" lvl="6" marL="3200400" rtl="0">
              <a:spcBef>
                <a:spcPts val="1600"/>
              </a:spcBef>
              <a:spcAft>
                <a:spcPts val="0"/>
              </a:spcAft>
              <a:buClr>
                <a:schemeClr val="accent2"/>
              </a:buClr>
              <a:buSzPts val="1100"/>
              <a:buChar char="●"/>
              <a:defRPr>
                <a:solidFill>
                  <a:schemeClr val="accent2"/>
                </a:solidFill>
              </a:defRPr>
            </a:lvl7pPr>
            <a:lvl8pPr indent="-298450" lvl="7" marL="3657600" rtl="0">
              <a:spcBef>
                <a:spcPts val="1600"/>
              </a:spcBef>
              <a:spcAft>
                <a:spcPts val="0"/>
              </a:spcAft>
              <a:buClr>
                <a:schemeClr val="accent2"/>
              </a:buClr>
              <a:buSzPts val="1100"/>
              <a:buChar char="○"/>
              <a:defRPr>
                <a:solidFill>
                  <a:schemeClr val="accent2"/>
                </a:solidFill>
              </a:defRPr>
            </a:lvl8pPr>
            <a:lvl9pPr indent="-298450" lvl="8" marL="4114800" rtl="0">
              <a:spcBef>
                <a:spcPts val="1600"/>
              </a:spcBef>
              <a:spcAft>
                <a:spcPts val="1600"/>
              </a:spcAft>
              <a:buClr>
                <a:schemeClr val="accent2"/>
              </a:buClr>
              <a:buSzPts val="1100"/>
              <a:buChar char="■"/>
              <a:defRPr>
                <a:solidFill>
                  <a:schemeClr val="accent2"/>
                </a:solidFill>
              </a:defRPr>
            </a:lvl9pPr>
          </a:lstStyle>
          <a:p/>
        </p:txBody>
      </p:sp>
      <p:sp>
        <p:nvSpPr>
          <p:cNvPr id="218" name="Google Shape;218;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9" name="Shape 219"/>
        <p:cNvGrpSpPr/>
        <p:nvPr/>
      </p:nvGrpSpPr>
      <p:grpSpPr>
        <a:xfrm>
          <a:off x="0" y="0"/>
          <a:ext cx="0" cy="0"/>
          <a:chOff x="0" y="0"/>
          <a:chExt cx="0" cy="0"/>
        </a:xfrm>
      </p:grpSpPr>
      <p:sp>
        <p:nvSpPr>
          <p:cNvPr id="220" name="Google Shape;220;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221" name="Shape 221"/>
        <p:cNvGrpSpPr/>
        <p:nvPr/>
      </p:nvGrpSpPr>
      <p:grpSpPr>
        <a:xfrm>
          <a:off x="0" y="0"/>
          <a:ext cx="0" cy="0"/>
          <a:chOff x="0" y="0"/>
          <a:chExt cx="0" cy="0"/>
        </a:xfrm>
      </p:grpSpPr>
      <p:cxnSp>
        <p:nvCxnSpPr>
          <p:cNvPr id="222" name="Google Shape;222;p43"/>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23" name="Google Shape;223;p43"/>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24" name="Google Shape;224;p43"/>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25" name="Google Shape;225;p43"/>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6" name="Google Shape;226;p43"/>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27" name="Google Shape;227;p4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1_One column text">
    <p:spTree>
      <p:nvGrpSpPr>
        <p:cNvPr id="228" name="Shape 228"/>
        <p:cNvGrpSpPr/>
        <p:nvPr/>
      </p:nvGrpSpPr>
      <p:grpSpPr>
        <a:xfrm>
          <a:off x="0" y="0"/>
          <a:ext cx="0" cy="0"/>
          <a:chOff x="0" y="0"/>
          <a:chExt cx="0" cy="0"/>
        </a:xfrm>
      </p:grpSpPr>
      <p:sp>
        <p:nvSpPr>
          <p:cNvPr id="229" name="Google Shape;229;p44"/>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44"/>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1" name="Google Shape;231;p44"/>
          <p:cNvSpPr txBox="1"/>
          <p:nvPr>
            <p:ph idx="12" type="sldNum"/>
          </p:nvPr>
        </p:nvSpPr>
        <p:spPr>
          <a:xfrm>
            <a:off x="90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232" name="Google Shape;232;p44"/>
          <p:cNvSpPr txBox="1"/>
          <p:nvPr>
            <p:ph type="title"/>
          </p:nvPr>
        </p:nvSpPr>
        <p:spPr>
          <a:xfrm>
            <a:off x="5192225" y="500925"/>
            <a:ext cx="3706500" cy="6381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2800"/>
              <a:buNone/>
              <a:defRPr>
                <a:solidFill>
                  <a:schemeClr val="lt1"/>
                </a:solidFill>
              </a:defRPr>
            </a:lvl1pPr>
            <a:lvl2pPr lvl="1" rtl="0" algn="l">
              <a:lnSpc>
                <a:spcPct val="100000"/>
              </a:lnSpc>
              <a:spcBef>
                <a:spcPts val="0"/>
              </a:spcBef>
              <a:spcAft>
                <a:spcPts val="0"/>
              </a:spcAft>
              <a:buClr>
                <a:schemeClr val="lt1"/>
              </a:buClr>
              <a:buSzPts val="2800"/>
              <a:buNone/>
              <a:defRPr>
                <a:solidFill>
                  <a:schemeClr val="lt1"/>
                </a:solidFill>
              </a:defRPr>
            </a:lvl2pPr>
            <a:lvl3pPr lvl="2" rtl="0" algn="l">
              <a:lnSpc>
                <a:spcPct val="100000"/>
              </a:lnSpc>
              <a:spcBef>
                <a:spcPts val="0"/>
              </a:spcBef>
              <a:spcAft>
                <a:spcPts val="0"/>
              </a:spcAft>
              <a:buClr>
                <a:schemeClr val="lt1"/>
              </a:buClr>
              <a:buSzPts val="2800"/>
              <a:buNone/>
              <a:defRPr>
                <a:solidFill>
                  <a:schemeClr val="lt1"/>
                </a:solidFill>
              </a:defRPr>
            </a:lvl3pPr>
            <a:lvl4pPr lvl="3" rtl="0" algn="l">
              <a:lnSpc>
                <a:spcPct val="100000"/>
              </a:lnSpc>
              <a:spcBef>
                <a:spcPts val="0"/>
              </a:spcBef>
              <a:spcAft>
                <a:spcPts val="0"/>
              </a:spcAft>
              <a:buClr>
                <a:schemeClr val="lt1"/>
              </a:buClr>
              <a:buSzPts val="2800"/>
              <a:buNone/>
              <a:defRPr>
                <a:solidFill>
                  <a:schemeClr val="lt1"/>
                </a:solidFill>
              </a:defRPr>
            </a:lvl4pPr>
            <a:lvl5pPr lvl="4" rtl="0" algn="l">
              <a:lnSpc>
                <a:spcPct val="100000"/>
              </a:lnSpc>
              <a:spcBef>
                <a:spcPts val="0"/>
              </a:spcBef>
              <a:spcAft>
                <a:spcPts val="0"/>
              </a:spcAft>
              <a:buClr>
                <a:schemeClr val="lt1"/>
              </a:buClr>
              <a:buSzPts val="2800"/>
              <a:buNone/>
              <a:defRPr>
                <a:solidFill>
                  <a:schemeClr val="lt1"/>
                </a:solidFill>
              </a:defRPr>
            </a:lvl5pPr>
            <a:lvl6pPr lvl="5" rtl="0" algn="l">
              <a:lnSpc>
                <a:spcPct val="100000"/>
              </a:lnSpc>
              <a:spcBef>
                <a:spcPts val="0"/>
              </a:spcBef>
              <a:spcAft>
                <a:spcPts val="0"/>
              </a:spcAft>
              <a:buClr>
                <a:schemeClr val="lt1"/>
              </a:buClr>
              <a:buSzPts val="2800"/>
              <a:buNone/>
              <a:defRPr>
                <a:solidFill>
                  <a:schemeClr val="lt1"/>
                </a:solidFill>
              </a:defRPr>
            </a:lvl6pPr>
            <a:lvl7pPr lvl="6" rtl="0" algn="l">
              <a:lnSpc>
                <a:spcPct val="100000"/>
              </a:lnSpc>
              <a:spcBef>
                <a:spcPts val="0"/>
              </a:spcBef>
              <a:spcAft>
                <a:spcPts val="0"/>
              </a:spcAft>
              <a:buClr>
                <a:schemeClr val="lt1"/>
              </a:buClr>
              <a:buSzPts val="2800"/>
              <a:buNone/>
              <a:defRPr>
                <a:solidFill>
                  <a:schemeClr val="lt1"/>
                </a:solidFill>
              </a:defRPr>
            </a:lvl7pPr>
            <a:lvl8pPr lvl="7" rtl="0" algn="l">
              <a:lnSpc>
                <a:spcPct val="100000"/>
              </a:lnSpc>
              <a:spcBef>
                <a:spcPts val="0"/>
              </a:spcBef>
              <a:spcAft>
                <a:spcPts val="0"/>
              </a:spcAft>
              <a:buClr>
                <a:schemeClr val="lt1"/>
              </a:buClr>
              <a:buSzPts val="2800"/>
              <a:buNone/>
              <a:defRPr>
                <a:solidFill>
                  <a:schemeClr val="lt1"/>
                </a:solidFill>
              </a:defRPr>
            </a:lvl8pPr>
            <a:lvl9pPr lvl="8" rtl="0" algn="l">
              <a:lnSpc>
                <a:spcPct val="100000"/>
              </a:lnSpc>
              <a:spcBef>
                <a:spcPts val="0"/>
              </a:spcBef>
              <a:spcAft>
                <a:spcPts val="0"/>
              </a:spcAft>
              <a:buClr>
                <a:schemeClr val="lt1"/>
              </a:buClr>
              <a:buSzPts val="2800"/>
              <a:buNone/>
              <a:defRPr>
                <a:solidFill>
                  <a:schemeClr val="lt1"/>
                </a:solidFill>
              </a:defRPr>
            </a:lvl9pPr>
          </a:lstStyle>
          <a:p/>
        </p:txBody>
      </p:sp>
      <p:sp>
        <p:nvSpPr>
          <p:cNvPr id="233" name="Google Shape;233;p44"/>
          <p:cNvSpPr txBox="1"/>
          <p:nvPr>
            <p:ph idx="1"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228600" lvl="0" marL="457200" rtl="0" algn="l">
              <a:lnSpc>
                <a:spcPct val="115000"/>
              </a:lnSpc>
              <a:spcBef>
                <a:spcPts val="0"/>
              </a:spcBef>
              <a:spcAft>
                <a:spcPts val="0"/>
              </a:spcAft>
              <a:buClr>
                <a:srgbClr val="000000"/>
              </a:buClr>
              <a:buSzPts val="1300"/>
              <a:buFont typeface="Arial"/>
              <a:buNone/>
              <a:defRPr>
                <a:solidFill>
                  <a:srgbClr val="000000"/>
                </a:solidFill>
                <a:latin typeface="Arial"/>
                <a:ea typeface="Arial"/>
                <a:cs typeface="Arial"/>
                <a:sym typeface="Arial"/>
              </a:defRPr>
            </a:lvl1pPr>
            <a:lvl2pPr indent="-298450" lvl="1" marL="9144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
        <p:nvSpPr>
          <p:cNvPr id="234" name="Google Shape;234;p44"/>
          <p:cNvSpPr txBox="1"/>
          <p:nvPr>
            <p:ph idx="2" type="body"/>
          </p:nvPr>
        </p:nvSpPr>
        <p:spPr>
          <a:xfrm>
            <a:off x="301625" y="501650"/>
            <a:ext cx="4165500" cy="44307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0"/>
              </a:spcBef>
              <a:spcAft>
                <a:spcPts val="0"/>
              </a:spcAft>
              <a:buSzPts val="1100"/>
              <a:buChar char="○"/>
              <a:defRPr/>
            </a:lvl2pPr>
            <a:lvl3pPr indent="-298450" lvl="2" marL="1371600" rtl="0" algn="l">
              <a:lnSpc>
                <a:spcPct val="115000"/>
              </a:lnSpc>
              <a:spcBef>
                <a:spcPts val="0"/>
              </a:spcBef>
              <a:spcAft>
                <a:spcPts val="0"/>
              </a:spcAft>
              <a:buSzPts val="1100"/>
              <a:buChar char="■"/>
              <a:defRPr/>
            </a:lvl3pPr>
            <a:lvl4pPr indent="-298450" lvl="3" marL="1828800" rtl="0" algn="l">
              <a:lnSpc>
                <a:spcPct val="115000"/>
              </a:lnSpc>
              <a:spcBef>
                <a:spcPts val="0"/>
              </a:spcBef>
              <a:spcAft>
                <a:spcPts val="0"/>
              </a:spcAft>
              <a:buSzPts val="1100"/>
              <a:buChar char="●"/>
              <a:defRPr/>
            </a:lvl4pPr>
            <a:lvl5pPr indent="-298450" lvl="4" marL="2286000" rtl="0" algn="l">
              <a:lnSpc>
                <a:spcPct val="115000"/>
              </a:lnSpc>
              <a:spcBef>
                <a:spcPts val="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235" name="Google Shape;235;p44"/>
          <p:cNvSpPr txBox="1"/>
          <p:nvPr>
            <p:ph idx="3" type="body"/>
          </p:nvPr>
        </p:nvSpPr>
        <p:spPr>
          <a:xfrm>
            <a:off x="5192226" y="1278143"/>
            <a:ext cx="3706500" cy="26769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Clr>
                <a:schemeClr val="lt1"/>
              </a:buClr>
              <a:buSzPts val="1300"/>
              <a:buChar char="●"/>
              <a:defRPr>
                <a:solidFill>
                  <a:schemeClr val="lt1"/>
                </a:solidFill>
              </a:defRPr>
            </a:lvl1pPr>
            <a:lvl2pPr indent="-298450" lvl="1" marL="914400" rtl="0" algn="l">
              <a:lnSpc>
                <a:spcPct val="115000"/>
              </a:lnSpc>
              <a:spcBef>
                <a:spcPts val="0"/>
              </a:spcBef>
              <a:spcAft>
                <a:spcPts val="0"/>
              </a:spcAft>
              <a:buClr>
                <a:schemeClr val="lt1"/>
              </a:buClr>
              <a:buSzPts val="1100"/>
              <a:buChar char="○"/>
              <a:defRPr>
                <a:solidFill>
                  <a:schemeClr val="lt1"/>
                </a:solidFill>
              </a:defRPr>
            </a:lvl2pPr>
            <a:lvl3pPr indent="-298450" lvl="2" marL="1371600" rtl="0" algn="l">
              <a:lnSpc>
                <a:spcPct val="115000"/>
              </a:lnSpc>
              <a:spcBef>
                <a:spcPts val="0"/>
              </a:spcBef>
              <a:spcAft>
                <a:spcPts val="0"/>
              </a:spcAft>
              <a:buClr>
                <a:schemeClr val="lt1"/>
              </a:buClr>
              <a:buSzPts val="1100"/>
              <a:buChar char="■"/>
              <a:defRPr>
                <a:solidFill>
                  <a:schemeClr val="lt1"/>
                </a:solidFill>
              </a:defRPr>
            </a:lvl3pPr>
            <a:lvl4pPr indent="-298450" lvl="3" marL="1828800" rtl="0" algn="l">
              <a:lnSpc>
                <a:spcPct val="115000"/>
              </a:lnSpc>
              <a:spcBef>
                <a:spcPts val="0"/>
              </a:spcBef>
              <a:spcAft>
                <a:spcPts val="0"/>
              </a:spcAft>
              <a:buClr>
                <a:schemeClr val="lt1"/>
              </a:buClr>
              <a:buSzPts val="1100"/>
              <a:buChar char="●"/>
              <a:defRPr>
                <a:solidFill>
                  <a:schemeClr val="lt1"/>
                </a:solidFill>
              </a:defRPr>
            </a:lvl4pPr>
            <a:lvl5pPr indent="-298450" lvl="4" marL="2286000" rtl="0" algn="l">
              <a:lnSpc>
                <a:spcPct val="115000"/>
              </a:lnSpc>
              <a:spcBef>
                <a:spcPts val="0"/>
              </a:spcBef>
              <a:spcAft>
                <a:spcPts val="0"/>
              </a:spcAft>
              <a:buClr>
                <a:schemeClr val="lt1"/>
              </a:buClr>
              <a:buSzPts val="1100"/>
              <a:buChar char="○"/>
              <a:defRPr>
                <a:solidFill>
                  <a:schemeClr val="lt1"/>
                </a:solidFill>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AUTOLAYOUT_2">
    <p:bg>
      <p:bgPr>
        <a:solidFill>
          <a:srgbClr val="FFFFFF"/>
        </a:solidFill>
      </p:bgPr>
    </p:bg>
    <p:spTree>
      <p:nvGrpSpPr>
        <p:cNvPr id="236" name="Shape 236"/>
        <p:cNvGrpSpPr/>
        <p:nvPr/>
      </p:nvGrpSpPr>
      <p:grpSpPr>
        <a:xfrm>
          <a:off x="0" y="0"/>
          <a:ext cx="0" cy="0"/>
          <a:chOff x="0" y="0"/>
          <a:chExt cx="0" cy="0"/>
        </a:xfrm>
      </p:grpSpPr>
      <p:sp>
        <p:nvSpPr>
          <p:cNvPr id="237" name="Google Shape;237;p45"/>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45"/>
          <p:cNvSpPr/>
          <p:nvPr/>
        </p:nvSpPr>
        <p:spPr>
          <a:xfrm flipH="1" rot="10800000">
            <a:off x="365425" y="659700"/>
            <a:ext cx="1063500" cy="6855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45"/>
          <p:cNvSpPr/>
          <p:nvPr/>
        </p:nvSpPr>
        <p:spPr>
          <a:xfrm rot="10800000">
            <a:off x="439525" y="659700"/>
            <a:ext cx="989400" cy="6855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45"/>
          <p:cNvSpPr/>
          <p:nvPr/>
        </p:nvSpPr>
        <p:spPr>
          <a:xfrm>
            <a:off x="365425" y="0"/>
            <a:ext cx="1063500" cy="8160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45"/>
          <p:cNvSpPr txBox="1"/>
          <p:nvPr>
            <p:ph type="title"/>
          </p:nvPr>
        </p:nvSpPr>
        <p:spPr>
          <a:xfrm>
            <a:off x="2454975" y="72350"/>
            <a:ext cx="6486000" cy="8520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dk1"/>
              </a:buClr>
              <a:buSzPts val="3600"/>
              <a:buNone/>
              <a:defRPr b="1" sz="3600">
                <a:solidFill>
                  <a:schemeClr val="dk1"/>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242" name="Google Shape;242;p45"/>
          <p:cNvSpPr txBox="1"/>
          <p:nvPr>
            <p:ph idx="1" type="body"/>
          </p:nvPr>
        </p:nvSpPr>
        <p:spPr>
          <a:xfrm>
            <a:off x="2454975" y="924350"/>
            <a:ext cx="6486000" cy="1146600"/>
          </a:xfrm>
          <a:prstGeom prst="rect">
            <a:avLst/>
          </a:prstGeom>
          <a:noFill/>
          <a:ln>
            <a:noFill/>
          </a:ln>
        </p:spPr>
        <p:txBody>
          <a:bodyPr anchorCtr="0" anchor="t" bIns="91425" lIns="91425" spcFirstLastPara="1" rIns="91425" wrap="square" tIns="91425">
            <a:no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243" name="Google Shape;243;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244" name="Google Shape;244;p45"/>
          <p:cNvSpPr txBox="1"/>
          <p:nvPr>
            <p:ph idx="2" type="body"/>
          </p:nvPr>
        </p:nvSpPr>
        <p:spPr>
          <a:xfrm>
            <a:off x="110475" y="1720575"/>
            <a:ext cx="2311200" cy="21765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245" name="Google Shape;245;p45"/>
          <p:cNvSpPr txBox="1"/>
          <p:nvPr>
            <p:ph idx="3" type="body"/>
          </p:nvPr>
        </p:nvSpPr>
        <p:spPr>
          <a:xfrm>
            <a:off x="2454975" y="2013125"/>
            <a:ext cx="6486000" cy="28287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246" name="Google Shape;246;p45"/>
          <p:cNvSpPr txBox="1"/>
          <p:nvPr>
            <p:ph idx="4" type="title"/>
          </p:nvPr>
        </p:nvSpPr>
        <p:spPr>
          <a:xfrm>
            <a:off x="365422" y="170425"/>
            <a:ext cx="1063500" cy="5394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i="1">
                <a:solidFill>
                  <a:srgbClr val="FFFFFF"/>
                </a:solidFill>
                <a:latin typeface="Arial"/>
                <a:ea typeface="Arial"/>
                <a:cs typeface="Arial"/>
                <a:sym typeface="Arial"/>
              </a:defRPr>
            </a:lvl1pPr>
            <a:lvl2pPr lvl="1" rtl="0" algn="l">
              <a:lnSpc>
                <a:spcPct val="100000"/>
              </a:lnSpc>
              <a:spcBef>
                <a:spcPts val="0"/>
              </a:spcBef>
              <a:spcAft>
                <a:spcPts val="0"/>
              </a:spcAft>
              <a:buSzPts val="2800"/>
              <a:buNone/>
              <a:defRPr>
                <a:latin typeface="Roboto"/>
                <a:ea typeface="Roboto"/>
                <a:cs typeface="Roboto"/>
                <a:sym typeface="Roboto"/>
              </a:defRPr>
            </a:lvl2pPr>
            <a:lvl3pPr lvl="2" rtl="0" algn="l">
              <a:lnSpc>
                <a:spcPct val="100000"/>
              </a:lnSpc>
              <a:spcBef>
                <a:spcPts val="0"/>
              </a:spcBef>
              <a:spcAft>
                <a:spcPts val="0"/>
              </a:spcAft>
              <a:buSzPts val="2800"/>
              <a:buNone/>
              <a:defRPr>
                <a:latin typeface="Roboto"/>
                <a:ea typeface="Roboto"/>
                <a:cs typeface="Roboto"/>
                <a:sym typeface="Roboto"/>
              </a:defRPr>
            </a:lvl3pPr>
            <a:lvl4pPr lvl="3" rtl="0" algn="l">
              <a:lnSpc>
                <a:spcPct val="100000"/>
              </a:lnSpc>
              <a:spcBef>
                <a:spcPts val="0"/>
              </a:spcBef>
              <a:spcAft>
                <a:spcPts val="0"/>
              </a:spcAft>
              <a:buSzPts val="2800"/>
              <a:buNone/>
              <a:defRPr>
                <a:latin typeface="Roboto"/>
                <a:ea typeface="Roboto"/>
                <a:cs typeface="Roboto"/>
                <a:sym typeface="Roboto"/>
              </a:defRPr>
            </a:lvl4pPr>
            <a:lvl5pPr lvl="4" rtl="0" algn="l">
              <a:lnSpc>
                <a:spcPct val="100000"/>
              </a:lnSpc>
              <a:spcBef>
                <a:spcPts val="0"/>
              </a:spcBef>
              <a:spcAft>
                <a:spcPts val="0"/>
              </a:spcAft>
              <a:buSzPts val="2800"/>
              <a:buNone/>
              <a:defRPr>
                <a:latin typeface="Roboto"/>
                <a:ea typeface="Roboto"/>
                <a:cs typeface="Roboto"/>
                <a:sym typeface="Roboto"/>
              </a:defRPr>
            </a:lvl5pPr>
            <a:lvl6pPr lvl="5" rtl="0" algn="l">
              <a:lnSpc>
                <a:spcPct val="100000"/>
              </a:lnSpc>
              <a:spcBef>
                <a:spcPts val="0"/>
              </a:spcBef>
              <a:spcAft>
                <a:spcPts val="0"/>
              </a:spcAft>
              <a:buSzPts val="2800"/>
              <a:buNone/>
              <a:defRPr>
                <a:latin typeface="Roboto"/>
                <a:ea typeface="Roboto"/>
                <a:cs typeface="Roboto"/>
                <a:sym typeface="Roboto"/>
              </a:defRPr>
            </a:lvl6pPr>
            <a:lvl7pPr lvl="6" rtl="0" algn="l">
              <a:lnSpc>
                <a:spcPct val="100000"/>
              </a:lnSpc>
              <a:spcBef>
                <a:spcPts val="0"/>
              </a:spcBef>
              <a:spcAft>
                <a:spcPts val="0"/>
              </a:spcAft>
              <a:buSzPts val="2800"/>
              <a:buNone/>
              <a:defRPr>
                <a:latin typeface="Roboto"/>
                <a:ea typeface="Roboto"/>
                <a:cs typeface="Roboto"/>
                <a:sym typeface="Roboto"/>
              </a:defRPr>
            </a:lvl7pPr>
            <a:lvl8pPr lvl="7" rtl="0" algn="l">
              <a:lnSpc>
                <a:spcPct val="100000"/>
              </a:lnSpc>
              <a:spcBef>
                <a:spcPts val="0"/>
              </a:spcBef>
              <a:spcAft>
                <a:spcPts val="0"/>
              </a:spcAft>
              <a:buSzPts val="2800"/>
              <a:buNone/>
              <a:defRPr>
                <a:latin typeface="Roboto"/>
                <a:ea typeface="Roboto"/>
                <a:cs typeface="Roboto"/>
                <a:sym typeface="Roboto"/>
              </a:defRPr>
            </a:lvl8pPr>
            <a:lvl9pPr lvl="8" rtl="0" algn="l">
              <a:lnSpc>
                <a:spcPct val="100000"/>
              </a:lnSpc>
              <a:spcBef>
                <a:spcPts val="0"/>
              </a:spcBef>
              <a:spcAft>
                <a:spcPts val="0"/>
              </a:spcAft>
              <a:buSzPts val="2800"/>
              <a:buNone/>
              <a:defRPr>
                <a:latin typeface="Roboto"/>
                <a:ea typeface="Roboto"/>
                <a:cs typeface="Roboto"/>
                <a:sym typeface="Roboto"/>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251" name="Shape 251"/>
        <p:cNvGrpSpPr/>
        <p:nvPr/>
      </p:nvGrpSpPr>
      <p:grpSpPr>
        <a:xfrm>
          <a:off x="0" y="0"/>
          <a:ext cx="0" cy="0"/>
          <a:chOff x="0" y="0"/>
          <a:chExt cx="0" cy="0"/>
        </a:xfrm>
      </p:grpSpPr>
      <p:sp>
        <p:nvSpPr>
          <p:cNvPr id="252" name="Google Shape;252;p47"/>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253" name="Google Shape;253;p47"/>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54" name="Google Shape;254;p47"/>
          <p:cNvSpPr txBox="1"/>
          <p:nvPr>
            <p:ph idx="1" type="subTitle"/>
          </p:nvPr>
        </p:nvSpPr>
        <p:spPr>
          <a:xfrm>
            <a:off x="311700" y="1878560"/>
            <a:ext cx="4242600" cy="73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p:txBody>
      </p:sp>
      <p:sp>
        <p:nvSpPr>
          <p:cNvPr id="255" name="Google Shape;255;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256" name="Shape 256"/>
        <p:cNvGrpSpPr/>
        <p:nvPr/>
      </p:nvGrpSpPr>
      <p:grpSpPr>
        <a:xfrm>
          <a:off x="0" y="0"/>
          <a:ext cx="0" cy="0"/>
          <a:chOff x="0" y="0"/>
          <a:chExt cx="0" cy="0"/>
        </a:xfrm>
      </p:grpSpPr>
      <p:sp>
        <p:nvSpPr>
          <p:cNvPr id="257" name="Google Shape;257;p48"/>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258" name="Google Shape;258;p48"/>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259" name="Google Shape;259;p48"/>
          <p:cNvSpPr txBox="1"/>
          <p:nvPr>
            <p:ph type="title"/>
          </p:nvPr>
        </p:nvSpPr>
        <p:spPr>
          <a:xfrm>
            <a:off x="311700" y="539725"/>
            <a:ext cx="8520600" cy="1282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60" name="Google Shape;260;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1" name="Shape 261"/>
        <p:cNvGrpSpPr/>
        <p:nvPr/>
      </p:nvGrpSpPr>
      <p:grpSpPr>
        <a:xfrm>
          <a:off x="0" y="0"/>
          <a:ext cx="0" cy="0"/>
          <a:chOff x="0" y="0"/>
          <a:chExt cx="0" cy="0"/>
        </a:xfrm>
      </p:grpSpPr>
      <p:sp>
        <p:nvSpPr>
          <p:cNvPr id="262" name="Google Shape;262;p49"/>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63" name="Google Shape;263;p49"/>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9"/>
          <p:cNvSpPr txBox="1"/>
          <p:nvPr>
            <p:ph type="title"/>
          </p:nvPr>
        </p:nvSpPr>
        <p:spPr>
          <a:xfrm>
            <a:off x="311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65" name="Google Shape;265;p49"/>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66" name="Google Shape;266;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7" name="Google Shape;267;p49"/>
          <p:cNvSpPr txBox="1"/>
          <p:nvPr>
            <p:ph idx="2" type="body"/>
          </p:nvPr>
        </p:nvSpPr>
        <p:spPr>
          <a:xfrm>
            <a:off x="3154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268" name="Google Shape;268;p49"/>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9" name="Shape 269"/>
        <p:cNvGrpSpPr/>
        <p:nvPr/>
      </p:nvGrpSpPr>
      <p:grpSpPr>
        <a:xfrm>
          <a:off x="0" y="0"/>
          <a:ext cx="0" cy="0"/>
          <a:chOff x="0" y="0"/>
          <a:chExt cx="0" cy="0"/>
        </a:xfrm>
      </p:grpSpPr>
      <p:sp>
        <p:nvSpPr>
          <p:cNvPr id="270" name="Google Shape;270;p50"/>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50"/>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72" name="Google Shape;272;p50"/>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73" name="Google Shape;273;p50"/>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74" name="Google Shape;274;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5" name="Shape 275"/>
        <p:cNvGrpSpPr/>
        <p:nvPr/>
      </p:nvGrpSpPr>
      <p:grpSpPr>
        <a:xfrm>
          <a:off x="0" y="0"/>
          <a:ext cx="0" cy="0"/>
          <a:chOff x="0" y="0"/>
          <a:chExt cx="0" cy="0"/>
        </a:xfrm>
      </p:grpSpPr>
      <p:sp>
        <p:nvSpPr>
          <p:cNvPr id="276" name="Google Shape;276;p51"/>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51"/>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78" name="Google Shape;278;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9" name="Shape 279"/>
        <p:cNvGrpSpPr/>
        <p:nvPr/>
      </p:nvGrpSpPr>
      <p:grpSpPr>
        <a:xfrm>
          <a:off x="0" y="0"/>
          <a:ext cx="0" cy="0"/>
          <a:chOff x="0" y="0"/>
          <a:chExt cx="0" cy="0"/>
        </a:xfrm>
      </p:grpSpPr>
      <p:sp>
        <p:nvSpPr>
          <p:cNvPr id="280" name="Google Shape;280;p52"/>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52"/>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82" name="Google Shape;282;p52"/>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3" name="Google Shape;283;p52"/>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84" name="Google Shape;284;p52"/>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85" name="Google Shape;285;p52"/>
          <p:cNvSpPr txBox="1"/>
          <p:nvPr>
            <p:ph idx="2" type="body"/>
          </p:nvPr>
        </p:nvSpPr>
        <p:spPr>
          <a:xfrm>
            <a:off x="51922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286" name="Google Shape;286;p52"/>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287" name="Shape 287"/>
        <p:cNvGrpSpPr/>
        <p:nvPr/>
      </p:nvGrpSpPr>
      <p:grpSpPr>
        <a:xfrm>
          <a:off x="0" y="0"/>
          <a:ext cx="0" cy="0"/>
          <a:chOff x="0" y="0"/>
          <a:chExt cx="0" cy="0"/>
        </a:xfrm>
      </p:grpSpPr>
      <p:sp>
        <p:nvSpPr>
          <p:cNvPr id="288" name="Google Shape;288;p53"/>
          <p:cNvSpPr txBox="1"/>
          <p:nvPr>
            <p:ph type="title"/>
          </p:nvPr>
        </p:nvSpPr>
        <p:spPr>
          <a:xfrm>
            <a:off x="311675" y="798600"/>
            <a:ext cx="6247800" cy="35463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89" name="Google Shape;289;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0" name="Shape 290"/>
        <p:cNvGrpSpPr/>
        <p:nvPr/>
      </p:nvGrpSpPr>
      <p:grpSpPr>
        <a:xfrm>
          <a:off x="0" y="0"/>
          <a:ext cx="0" cy="0"/>
          <a:chOff x="0" y="0"/>
          <a:chExt cx="0" cy="0"/>
        </a:xfrm>
      </p:grpSpPr>
      <p:sp>
        <p:nvSpPr>
          <p:cNvPr id="291" name="Google Shape;291;p54"/>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54"/>
          <p:cNvSpPr txBox="1"/>
          <p:nvPr>
            <p:ph type="title"/>
          </p:nvPr>
        </p:nvSpPr>
        <p:spPr>
          <a:xfrm>
            <a:off x="311300" y="500925"/>
            <a:ext cx="3704400" cy="2049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93" name="Google Shape;293;p54"/>
          <p:cNvSpPr txBox="1"/>
          <p:nvPr>
            <p:ph idx="1" type="subTitle"/>
          </p:nvPr>
        </p:nvSpPr>
        <p:spPr>
          <a:xfrm>
            <a:off x="304800" y="2626725"/>
            <a:ext cx="3704400" cy="92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p:txBody>
      </p:sp>
      <p:sp>
        <p:nvSpPr>
          <p:cNvPr id="294" name="Google Shape;294;p54"/>
          <p:cNvSpPr txBox="1"/>
          <p:nvPr>
            <p:ph idx="2" type="body"/>
          </p:nvPr>
        </p:nvSpPr>
        <p:spPr>
          <a:xfrm>
            <a:off x="4879025" y="500925"/>
            <a:ext cx="3954000" cy="4111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95" name="Google Shape;295;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96" name="Shape 296"/>
        <p:cNvGrpSpPr/>
        <p:nvPr/>
      </p:nvGrpSpPr>
      <p:grpSpPr>
        <a:xfrm>
          <a:off x="0" y="0"/>
          <a:ext cx="0" cy="0"/>
          <a:chOff x="0" y="0"/>
          <a:chExt cx="0" cy="0"/>
        </a:xfrm>
      </p:grpSpPr>
      <p:sp>
        <p:nvSpPr>
          <p:cNvPr id="297" name="Google Shape;297;p55"/>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55"/>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299" name="Google Shape;299;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300" name="Shape 300"/>
        <p:cNvGrpSpPr/>
        <p:nvPr/>
      </p:nvGrpSpPr>
      <p:grpSpPr>
        <a:xfrm>
          <a:off x="0" y="0"/>
          <a:ext cx="0" cy="0"/>
          <a:chOff x="0" y="0"/>
          <a:chExt cx="0" cy="0"/>
        </a:xfrm>
      </p:grpSpPr>
      <p:sp>
        <p:nvSpPr>
          <p:cNvPr id="301" name="Google Shape;301;p56"/>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302" name="Google Shape;302;p56"/>
          <p:cNvSpPr txBox="1"/>
          <p:nvPr>
            <p:ph idx="1" type="body"/>
          </p:nvPr>
        </p:nvSpPr>
        <p:spPr>
          <a:xfrm>
            <a:off x="311700" y="2121425"/>
            <a:ext cx="5334900" cy="9426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accent2"/>
              </a:buClr>
              <a:buSzPts val="1300"/>
              <a:buChar char="●"/>
              <a:defRPr>
                <a:solidFill>
                  <a:schemeClr val="accent2"/>
                </a:solidFill>
              </a:defRPr>
            </a:lvl1pPr>
            <a:lvl2pPr indent="-298450" lvl="1" marL="914400" rtl="0">
              <a:spcBef>
                <a:spcPts val="1600"/>
              </a:spcBef>
              <a:spcAft>
                <a:spcPts val="0"/>
              </a:spcAft>
              <a:buClr>
                <a:schemeClr val="accent2"/>
              </a:buClr>
              <a:buSzPts val="1100"/>
              <a:buChar char="○"/>
              <a:defRPr>
                <a:solidFill>
                  <a:schemeClr val="accent2"/>
                </a:solidFill>
              </a:defRPr>
            </a:lvl2pPr>
            <a:lvl3pPr indent="-298450" lvl="2" marL="1371600" rtl="0">
              <a:spcBef>
                <a:spcPts val="1600"/>
              </a:spcBef>
              <a:spcAft>
                <a:spcPts val="0"/>
              </a:spcAft>
              <a:buClr>
                <a:schemeClr val="accent2"/>
              </a:buClr>
              <a:buSzPts val="1100"/>
              <a:buChar char="■"/>
              <a:defRPr>
                <a:solidFill>
                  <a:schemeClr val="accent2"/>
                </a:solidFill>
              </a:defRPr>
            </a:lvl3pPr>
            <a:lvl4pPr indent="-298450" lvl="3" marL="1828800" rtl="0">
              <a:spcBef>
                <a:spcPts val="1600"/>
              </a:spcBef>
              <a:spcAft>
                <a:spcPts val="0"/>
              </a:spcAft>
              <a:buClr>
                <a:schemeClr val="accent2"/>
              </a:buClr>
              <a:buSzPts val="1100"/>
              <a:buChar char="●"/>
              <a:defRPr>
                <a:solidFill>
                  <a:schemeClr val="accent2"/>
                </a:solidFill>
              </a:defRPr>
            </a:lvl4pPr>
            <a:lvl5pPr indent="-298450" lvl="4" marL="2286000" rtl="0">
              <a:spcBef>
                <a:spcPts val="1600"/>
              </a:spcBef>
              <a:spcAft>
                <a:spcPts val="0"/>
              </a:spcAft>
              <a:buClr>
                <a:schemeClr val="accent2"/>
              </a:buClr>
              <a:buSzPts val="1100"/>
              <a:buChar char="○"/>
              <a:defRPr>
                <a:solidFill>
                  <a:schemeClr val="accent2"/>
                </a:solidFill>
              </a:defRPr>
            </a:lvl5pPr>
            <a:lvl6pPr indent="-298450" lvl="5" marL="2743200" rtl="0">
              <a:spcBef>
                <a:spcPts val="1600"/>
              </a:spcBef>
              <a:spcAft>
                <a:spcPts val="0"/>
              </a:spcAft>
              <a:buClr>
                <a:schemeClr val="accent2"/>
              </a:buClr>
              <a:buSzPts val="1100"/>
              <a:buChar char="■"/>
              <a:defRPr>
                <a:solidFill>
                  <a:schemeClr val="accent2"/>
                </a:solidFill>
              </a:defRPr>
            </a:lvl6pPr>
            <a:lvl7pPr indent="-298450" lvl="6" marL="3200400" rtl="0">
              <a:spcBef>
                <a:spcPts val="1600"/>
              </a:spcBef>
              <a:spcAft>
                <a:spcPts val="0"/>
              </a:spcAft>
              <a:buClr>
                <a:schemeClr val="accent2"/>
              </a:buClr>
              <a:buSzPts val="1100"/>
              <a:buChar char="●"/>
              <a:defRPr>
                <a:solidFill>
                  <a:schemeClr val="accent2"/>
                </a:solidFill>
              </a:defRPr>
            </a:lvl7pPr>
            <a:lvl8pPr indent="-298450" lvl="7" marL="3657600" rtl="0">
              <a:spcBef>
                <a:spcPts val="1600"/>
              </a:spcBef>
              <a:spcAft>
                <a:spcPts val="0"/>
              </a:spcAft>
              <a:buClr>
                <a:schemeClr val="accent2"/>
              </a:buClr>
              <a:buSzPts val="1100"/>
              <a:buChar char="○"/>
              <a:defRPr>
                <a:solidFill>
                  <a:schemeClr val="accent2"/>
                </a:solidFill>
              </a:defRPr>
            </a:lvl8pPr>
            <a:lvl9pPr indent="-298450" lvl="8" marL="4114800" rtl="0">
              <a:spcBef>
                <a:spcPts val="1600"/>
              </a:spcBef>
              <a:spcAft>
                <a:spcPts val="1600"/>
              </a:spcAft>
              <a:buClr>
                <a:schemeClr val="accent2"/>
              </a:buClr>
              <a:buSzPts val="1100"/>
              <a:buChar char="■"/>
              <a:defRPr>
                <a:solidFill>
                  <a:schemeClr val="accent2"/>
                </a:solidFill>
              </a:defRPr>
            </a:lvl9pPr>
          </a:lstStyle>
          <a:p/>
        </p:txBody>
      </p:sp>
      <p:sp>
        <p:nvSpPr>
          <p:cNvPr id="303" name="Google Shape;303;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4" name="Shape 304"/>
        <p:cNvGrpSpPr/>
        <p:nvPr/>
      </p:nvGrpSpPr>
      <p:grpSpPr>
        <a:xfrm>
          <a:off x="0" y="0"/>
          <a:ext cx="0" cy="0"/>
          <a:chOff x="0" y="0"/>
          <a:chExt cx="0" cy="0"/>
        </a:xfrm>
      </p:grpSpPr>
      <p:sp>
        <p:nvSpPr>
          <p:cNvPr id="305" name="Google Shape;305;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06" name="Shape 306"/>
        <p:cNvGrpSpPr/>
        <p:nvPr/>
      </p:nvGrpSpPr>
      <p:grpSpPr>
        <a:xfrm>
          <a:off x="0" y="0"/>
          <a:ext cx="0" cy="0"/>
          <a:chOff x="0" y="0"/>
          <a:chExt cx="0" cy="0"/>
        </a:xfrm>
      </p:grpSpPr>
      <p:sp>
        <p:nvSpPr>
          <p:cNvPr id="307" name="Google Shape;307;p5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58"/>
          <p:cNvSpPr txBox="1"/>
          <p:nvPr>
            <p:ph type="title"/>
          </p:nvPr>
        </p:nvSpPr>
        <p:spPr>
          <a:xfrm>
            <a:off x="311700" y="315925"/>
            <a:ext cx="8520600" cy="8313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9" name="Google Shape;309;p58"/>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310" name="Google Shape;310;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311" name="Shape 311"/>
        <p:cNvGrpSpPr/>
        <p:nvPr/>
      </p:nvGrpSpPr>
      <p:grpSpPr>
        <a:xfrm>
          <a:off x="0" y="0"/>
          <a:ext cx="0" cy="0"/>
          <a:chOff x="0" y="0"/>
          <a:chExt cx="0" cy="0"/>
        </a:xfrm>
      </p:grpSpPr>
      <p:sp>
        <p:nvSpPr>
          <p:cNvPr id="312" name="Google Shape;312;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3" name="Google Shape;313;p5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314" name="Google Shape;314;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1_One column text">
    <p:spTree>
      <p:nvGrpSpPr>
        <p:cNvPr id="315" name="Shape 315"/>
        <p:cNvGrpSpPr/>
        <p:nvPr/>
      </p:nvGrpSpPr>
      <p:grpSpPr>
        <a:xfrm>
          <a:off x="0" y="0"/>
          <a:ext cx="0" cy="0"/>
          <a:chOff x="0" y="0"/>
          <a:chExt cx="0" cy="0"/>
        </a:xfrm>
      </p:grpSpPr>
      <p:sp>
        <p:nvSpPr>
          <p:cNvPr id="316" name="Google Shape;316;p60"/>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60"/>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318" name="Google Shape;318;p60"/>
          <p:cNvSpPr txBox="1"/>
          <p:nvPr>
            <p:ph idx="12" type="sldNum"/>
          </p:nvPr>
        </p:nvSpPr>
        <p:spPr>
          <a:xfrm>
            <a:off x="0" y="4946700"/>
            <a:ext cx="422100" cy="1968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319" name="Google Shape;319;p60"/>
          <p:cNvSpPr txBox="1"/>
          <p:nvPr>
            <p:ph type="title"/>
          </p:nvPr>
        </p:nvSpPr>
        <p:spPr>
          <a:xfrm>
            <a:off x="5192225" y="500925"/>
            <a:ext cx="3706500" cy="6381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2800"/>
              <a:buNone/>
              <a:defRPr>
                <a:solidFill>
                  <a:schemeClr val="lt1"/>
                </a:solidFill>
              </a:defRPr>
            </a:lvl1pPr>
            <a:lvl2pPr lvl="1" rtl="0" algn="l">
              <a:lnSpc>
                <a:spcPct val="100000"/>
              </a:lnSpc>
              <a:spcBef>
                <a:spcPts val="0"/>
              </a:spcBef>
              <a:spcAft>
                <a:spcPts val="0"/>
              </a:spcAft>
              <a:buClr>
                <a:schemeClr val="lt1"/>
              </a:buClr>
              <a:buSzPts val="2800"/>
              <a:buNone/>
              <a:defRPr>
                <a:solidFill>
                  <a:schemeClr val="lt1"/>
                </a:solidFill>
              </a:defRPr>
            </a:lvl2pPr>
            <a:lvl3pPr lvl="2" rtl="0" algn="l">
              <a:lnSpc>
                <a:spcPct val="100000"/>
              </a:lnSpc>
              <a:spcBef>
                <a:spcPts val="0"/>
              </a:spcBef>
              <a:spcAft>
                <a:spcPts val="0"/>
              </a:spcAft>
              <a:buClr>
                <a:schemeClr val="lt1"/>
              </a:buClr>
              <a:buSzPts val="2800"/>
              <a:buNone/>
              <a:defRPr>
                <a:solidFill>
                  <a:schemeClr val="lt1"/>
                </a:solidFill>
              </a:defRPr>
            </a:lvl3pPr>
            <a:lvl4pPr lvl="3" rtl="0" algn="l">
              <a:lnSpc>
                <a:spcPct val="100000"/>
              </a:lnSpc>
              <a:spcBef>
                <a:spcPts val="0"/>
              </a:spcBef>
              <a:spcAft>
                <a:spcPts val="0"/>
              </a:spcAft>
              <a:buClr>
                <a:schemeClr val="lt1"/>
              </a:buClr>
              <a:buSzPts val="2800"/>
              <a:buNone/>
              <a:defRPr>
                <a:solidFill>
                  <a:schemeClr val="lt1"/>
                </a:solidFill>
              </a:defRPr>
            </a:lvl4pPr>
            <a:lvl5pPr lvl="4" rtl="0" algn="l">
              <a:lnSpc>
                <a:spcPct val="100000"/>
              </a:lnSpc>
              <a:spcBef>
                <a:spcPts val="0"/>
              </a:spcBef>
              <a:spcAft>
                <a:spcPts val="0"/>
              </a:spcAft>
              <a:buClr>
                <a:schemeClr val="lt1"/>
              </a:buClr>
              <a:buSzPts val="2800"/>
              <a:buNone/>
              <a:defRPr>
                <a:solidFill>
                  <a:schemeClr val="lt1"/>
                </a:solidFill>
              </a:defRPr>
            </a:lvl5pPr>
            <a:lvl6pPr lvl="5" rtl="0" algn="l">
              <a:lnSpc>
                <a:spcPct val="100000"/>
              </a:lnSpc>
              <a:spcBef>
                <a:spcPts val="0"/>
              </a:spcBef>
              <a:spcAft>
                <a:spcPts val="0"/>
              </a:spcAft>
              <a:buClr>
                <a:schemeClr val="lt1"/>
              </a:buClr>
              <a:buSzPts val="2800"/>
              <a:buNone/>
              <a:defRPr>
                <a:solidFill>
                  <a:schemeClr val="lt1"/>
                </a:solidFill>
              </a:defRPr>
            </a:lvl6pPr>
            <a:lvl7pPr lvl="6" rtl="0" algn="l">
              <a:lnSpc>
                <a:spcPct val="100000"/>
              </a:lnSpc>
              <a:spcBef>
                <a:spcPts val="0"/>
              </a:spcBef>
              <a:spcAft>
                <a:spcPts val="0"/>
              </a:spcAft>
              <a:buClr>
                <a:schemeClr val="lt1"/>
              </a:buClr>
              <a:buSzPts val="2800"/>
              <a:buNone/>
              <a:defRPr>
                <a:solidFill>
                  <a:schemeClr val="lt1"/>
                </a:solidFill>
              </a:defRPr>
            </a:lvl7pPr>
            <a:lvl8pPr lvl="7" rtl="0" algn="l">
              <a:lnSpc>
                <a:spcPct val="100000"/>
              </a:lnSpc>
              <a:spcBef>
                <a:spcPts val="0"/>
              </a:spcBef>
              <a:spcAft>
                <a:spcPts val="0"/>
              </a:spcAft>
              <a:buClr>
                <a:schemeClr val="lt1"/>
              </a:buClr>
              <a:buSzPts val="2800"/>
              <a:buNone/>
              <a:defRPr>
                <a:solidFill>
                  <a:schemeClr val="lt1"/>
                </a:solidFill>
              </a:defRPr>
            </a:lvl8pPr>
            <a:lvl9pPr lvl="8" rtl="0" algn="l">
              <a:lnSpc>
                <a:spcPct val="100000"/>
              </a:lnSpc>
              <a:spcBef>
                <a:spcPts val="0"/>
              </a:spcBef>
              <a:spcAft>
                <a:spcPts val="0"/>
              </a:spcAft>
              <a:buClr>
                <a:schemeClr val="lt1"/>
              </a:buClr>
              <a:buSzPts val="2800"/>
              <a:buNone/>
              <a:defRPr>
                <a:solidFill>
                  <a:schemeClr val="lt1"/>
                </a:solidFill>
              </a:defRPr>
            </a:lvl9pPr>
          </a:lstStyle>
          <a:p/>
        </p:txBody>
      </p:sp>
      <p:sp>
        <p:nvSpPr>
          <p:cNvPr id="320" name="Google Shape;320;p60"/>
          <p:cNvSpPr txBox="1"/>
          <p:nvPr>
            <p:ph idx="1"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228600" lvl="0" marL="457200" rtl="0" algn="l">
              <a:lnSpc>
                <a:spcPct val="115000"/>
              </a:lnSpc>
              <a:spcBef>
                <a:spcPts val="0"/>
              </a:spcBef>
              <a:spcAft>
                <a:spcPts val="0"/>
              </a:spcAft>
              <a:buClr>
                <a:srgbClr val="000000"/>
              </a:buClr>
              <a:buSzPts val="1300"/>
              <a:buFont typeface="Arial"/>
              <a:buNone/>
              <a:defRPr>
                <a:solidFill>
                  <a:srgbClr val="000000"/>
                </a:solidFill>
                <a:latin typeface="Arial"/>
                <a:ea typeface="Arial"/>
                <a:cs typeface="Arial"/>
                <a:sym typeface="Arial"/>
              </a:defRPr>
            </a:lvl1pPr>
            <a:lvl2pPr indent="-298450" lvl="1" marL="9144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
        <p:nvSpPr>
          <p:cNvPr id="321" name="Google Shape;321;p60"/>
          <p:cNvSpPr txBox="1"/>
          <p:nvPr>
            <p:ph idx="2" type="body"/>
          </p:nvPr>
        </p:nvSpPr>
        <p:spPr>
          <a:xfrm>
            <a:off x="301625" y="501650"/>
            <a:ext cx="4165500" cy="44307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600"/>
              </a:spcBef>
              <a:spcAft>
                <a:spcPts val="0"/>
              </a:spcAft>
              <a:buSzPts val="1100"/>
              <a:buChar char="○"/>
              <a:defRPr sz="1200"/>
            </a:lvl2pPr>
            <a:lvl3pPr indent="-298450" lvl="2" marL="1371600" rtl="0" algn="l">
              <a:lnSpc>
                <a:spcPct val="115000"/>
              </a:lnSpc>
              <a:spcBef>
                <a:spcPts val="600"/>
              </a:spcBef>
              <a:spcAft>
                <a:spcPts val="0"/>
              </a:spcAft>
              <a:buSzPts val="1100"/>
              <a:buChar char="■"/>
              <a:defRPr/>
            </a:lvl3pPr>
            <a:lvl4pPr indent="-298450" lvl="3" marL="1828800" rtl="0" algn="l">
              <a:lnSpc>
                <a:spcPct val="115000"/>
              </a:lnSpc>
              <a:spcBef>
                <a:spcPts val="600"/>
              </a:spcBef>
              <a:spcAft>
                <a:spcPts val="0"/>
              </a:spcAft>
              <a:buSzPts val="1100"/>
              <a:buChar char="●"/>
              <a:defRPr/>
            </a:lvl4pPr>
            <a:lvl5pPr indent="-298450" lvl="4" marL="2286000" rtl="0" algn="l">
              <a:lnSpc>
                <a:spcPct val="115000"/>
              </a:lnSpc>
              <a:spcBef>
                <a:spcPts val="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322" name="Google Shape;322;p60"/>
          <p:cNvSpPr txBox="1"/>
          <p:nvPr>
            <p:ph idx="3" type="body"/>
          </p:nvPr>
        </p:nvSpPr>
        <p:spPr>
          <a:xfrm>
            <a:off x="5192226" y="1278143"/>
            <a:ext cx="3706500" cy="26769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Clr>
                <a:schemeClr val="lt1"/>
              </a:buClr>
              <a:buSzPts val="1300"/>
              <a:buChar char="●"/>
              <a:defRPr>
                <a:solidFill>
                  <a:schemeClr val="lt1"/>
                </a:solidFill>
              </a:defRPr>
            </a:lvl1pPr>
            <a:lvl2pPr indent="-298450" lvl="1" marL="914400" rtl="0" algn="l">
              <a:lnSpc>
                <a:spcPct val="115000"/>
              </a:lnSpc>
              <a:spcBef>
                <a:spcPts val="0"/>
              </a:spcBef>
              <a:spcAft>
                <a:spcPts val="0"/>
              </a:spcAft>
              <a:buClr>
                <a:schemeClr val="lt1"/>
              </a:buClr>
              <a:buSzPts val="1100"/>
              <a:buChar char="○"/>
              <a:defRPr sz="1200">
                <a:solidFill>
                  <a:schemeClr val="lt1"/>
                </a:solidFill>
              </a:defRPr>
            </a:lvl2pPr>
            <a:lvl3pPr indent="-298450" lvl="2" marL="1371600" rtl="0" algn="l">
              <a:lnSpc>
                <a:spcPct val="115000"/>
              </a:lnSpc>
              <a:spcBef>
                <a:spcPts val="0"/>
              </a:spcBef>
              <a:spcAft>
                <a:spcPts val="0"/>
              </a:spcAft>
              <a:buClr>
                <a:schemeClr val="lt1"/>
              </a:buClr>
              <a:buSzPts val="1100"/>
              <a:buChar char="■"/>
              <a:defRPr>
                <a:solidFill>
                  <a:schemeClr val="lt1"/>
                </a:solidFill>
              </a:defRPr>
            </a:lvl3pPr>
            <a:lvl4pPr indent="-298450" lvl="3" marL="1828800" rtl="0" algn="l">
              <a:lnSpc>
                <a:spcPct val="115000"/>
              </a:lnSpc>
              <a:spcBef>
                <a:spcPts val="0"/>
              </a:spcBef>
              <a:spcAft>
                <a:spcPts val="0"/>
              </a:spcAft>
              <a:buClr>
                <a:schemeClr val="lt1"/>
              </a:buClr>
              <a:buSzPts val="1100"/>
              <a:buChar char="●"/>
              <a:defRPr>
                <a:solidFill>
                  <a:schemeClr val="lt1"/>
                </a:solidFill>
              </a:defRPr>
            </a:lvl4pPr>
            <a:lvl5pPr indent="-298450" lvl="4" marL="2286000" rtl="0" algn="l">
              <a:lnSpc>
                <a:spcPct val="115000"/>
              </a:lnSpc>
              <a:spcBef>
                <a:spcPts val="0"/>
              </a:spcBef>
              <a:spcAft>
                <a:spcPts val="0"/>
              </a:spcAft>
              <a:buClr>
                <a:schemeClr val="lt1"/>
              </a:buClr>
              <a:buSzPts val="1100"/>
              <a:buChar char="○"/>
              <a:defRPr>
                <a:solidFill>
                  <a:schemeClr val="lt1"/>
                </a:solidFill>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Activity">
    <p:bg>
      <p:bgPr>
        <a:solidFill>
          <a:srgbClr val="FFFFFF"/>
        </a:solidFill>
      </p:bgPr>
    </p:bg>
    <p:spTree>
      <p:nvGrpSpPr>
        <p:cNvPr id="323" name="Shape 323"/>
        <p:cNvGrpSpPr/>
        <p:nvPr/>
      </p:nvGrpSpPr>
      <p:grpSpPr>
        <a:xfrm>
          <a:off x="0" y="0"/>
          <a:ext cx="0" cy="0"/>
          <a:chOff x="0" y="0"/>
          <a:chExt cx="0" cy="0"/>
        </a:xfrm>
      </p:grpSpPr>
      <p:sp>
        <p:nvSpPr>
          <p:cNvPr id="324" name="Google Shape;324;p61"/>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61"/>
          <p:cNvSpPr/>
          <p:nvPr/>
        </p:nvSpPr>
        <p:spPr>
          <a:xfrm flipH="1" rot="10800000">
            <a:off x="365425" y="659700"/>
            <a:ext cx="1063500" cy="6855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61"/>
          <p:cNvSpPr/>
          <p:nvPr/>
        </p:nvSpPr>
        <p:spPr>
          <a:xfrm rot="10800000">
            <a:off x="439525" y="659700"/>
            <a:ext cx="989400" cy="6855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61"/>
          <p:cNvSpPr/>
          <p:nvPr/>
        </p:nvSpPr>
        <p:spPr>
          <a:xfrm>
            <a:off x="365425" y="0"/>
            <a:ext cx="1063500" cy="8160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61"/>
          <p:cNvSpPr txBox="1"/>
          <p:nvPr>
            <p:ph type="title"/>
          </p:nvPr>
        </p:nvSpPr>
        <p:spPr>
          <a:xfrm>
            <a:off x="2454975" y="72350"/>
            <a:ext cx="6486000" cy="8520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dk1"/>
              </a:buClr>
              <a:buSzPts val="3600"/>
              <a:buNone/>
              <a:defRPr b="1" sz="3600">
                <a:solidFill>
                  <a:schemeClr val="dk1"/>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329" name="Google Shape;329;p61"/>
          <p:cNvSpPr txBox="1"/>
          <p:nvPr>
            <p:ph idx="1" type="body"/>
          </p:nvPr>
        </p:nvSpPr>
        <p:spPr>
          <a:xfrm>
            <a:off x="2454975" y="924350"/>
            <a:ext cx="6486000" cy="1146600"/>
          </a:xfrm>
          <a:prstGeom prst="rect">
            <a:avLst/>
          </a:prstGeom>
          <a:noFill/>
          <a:ln>
            <a:noFill/>
          </a:ln>
        </p:spPr>
        <p:txBody>
          <a:bodyPr anchorCtr="0" anchor="t" bIns="91425" lIns="91425" spcFirstLastPara="1" rIns="91425" wrap="square" tIns="91425">
            <a:no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330" name="Google Shape;330;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331" name="Google Shape;331;p61"/>
          <p:cNvSpPr txBox="1"/>
          <p:nvPr>
            <p:ph idx="2" type="body"/>
          </p:nvPr>
        </p:nvSpPr>
        <p:spPr>
          <a:xfrm>
            <a:off x="110475" y="1720575"/>
            <a:ext cx="2311200" cy="21765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332" name="Google Shape;332;p61"/>
          <p:cNvSpPr txBox="1"/>
          <p:nvPr>
            <p:ph idx="3" type="body"/>
          </p:nvPr>
        </p:nvSpPr>
        <p:spPr>
          <a:xfrm>
            <a:off x="2454975" y="2013125"/>
            <a:ext cx="6486000" cy="28287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333" name="Google Shape;333;p61"/>
          <p:cNvSpPr txBox="1"/>
          <p:nvPr>
            <p:ph idx="4" type="title"/>
          </p:nvPr>
        </p:nvSpPr>
        <p:spPr>
          <a:xfrm>
            <a:off x="365422" y="170425"/>
            <a:ext cx="1063500" cy="5394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i="1">
                <a:solidFill>
                  <a:srgbClr val="FFFFFF"/>
                </a:solidFill>
                <a:latin typeface="Arial"/>
                <a:ea typeface="Arial"/>
                <a:cs typeface="Arial"/>
                <a:sym typeface="Arial"/>
              </a:defRPr>
            </a:lvl1pPr>
            <a:lvl2pPr lvl="1" rtl="0" algn="l">
              <a:lnSpc>
                <a:spcPct val="100000"/>
              </a:lnSpc>
              <a:spcBef>
                <a:spcPts val="0"/>
              </a:spcBef>
              <a:spcAft>
                <a:spcPts val="0"/>
              </a:spcAft>
              <a:buSzPts val="2800"/>
              <a:buNone/>
              <a:defRPr>
                <a:latin typeface="Roboto"/>
                <a:ea typeface="Roboto"/>
                <a:cs typeface="Roboto"/>
                <a:sym typeface="Roboto"/>
              </a:defRPr>
            </a:lvl2pPr>
            <a:lvl3pPr lvl="2" rtl="0" algn="l">
              <a:lnSpc>
                <a:spcPct val="100000"/>
              </a:lnSpc>
              <a:spcBef>
                <a:spcPts val="0"/>
              </a:spcBef>
              <a:spcAft>
                <a:spcPts val="0"/>
              </a:spcAft>
              <a:buSzPts val="2800"/>
              <a:buNone/>
              <a:defRPr>
                <a:latin typeface="Roboto"/>
                <a:ea typeface="Roboto"/>
                <a:cs typeface="Roboto"/>
                <a:sym typeface="Roboto"/>
              </a:defRPr>
            </a:lvl3pPr>
            <a:lvl4pPr lvl="3" rtl="0" algn="l">
              <a:lnSpc>
                <a:spcPct val="100000"/>
              </a:lnSpc>
              <a:spcBef>
                <a:spcPts val="0"/>
              </a:spcBef>
              <a:spcAft>
                <a:spcPts val="0"/>
              </a:spcAft>
              <a:buSzPts val="2800"/>
              <a:buNone/>
              <a:defRPr>
                <a:latin typeface="Roboto"/>
                <a:ea typeface="Roboto"/>
                <a:cs typeface="Roboto"/>
                <a:sym typeface="Roboto"/>
              </a:defRPr>
            </a:lvl4pPr>
            <a:lvl5pPr lvl="4" rtl="0" algn="l">
              <a:lnSpc>
                <a:spcPct val="100000"/>
              </a:lnSpc>
              <a:spcBef>
                <a:spcPts val="0"/>
              </a:spcBef>
              <a:spcAft>
                <a:spcPts val="0"/>
              </a:spcAft>
              <a:buSzPts val="2800"/>
              <a:buNone/>
              <a:defRPr>
                <a:latin typeface="Roboto"/>
                <a:ea typeface="Roboto"/>
                <a:cs typeface="Roboto"/>
                <a:sym typeface="Roboto"/>
              </a:defRPr>
            </a:lvl5pPr>
            <a:lvl6pPr lvl="5" rtl="0" algn="l">
              <a:lnSpc>
                <a:spcPct val="100000"/>
              </a:lnSpc>
              <a:spcBef>
                <a:spcPts val="0"/>
              </a:spcBef>
              <a:spcAft>
                <a:spcPts val="0"/>
              </a:spcAft>
              <a:buSzPts val="2800"/>
              <a:buNone/>
              <a:defRPr>
                <a:latin typeface="Roboto"/>
                <a:ea typeface="Roboto"/>
                <a:cs typeface="Roboto"/>
                <a:sym typeface="Roboto"/>
              </a:defRPr>
            </a:lvl6pPr>
            <a:lvl7pPr lvl="6" rtl="0" algn="l">
              <a:lnSpc>
                <a:spcPct val="100000"/>
              </a:lnSpc>
              <a:spcBef>
                <a:spcPts val="0"/>
              </a:spcBef>
              <a:spcAft>
                <a:spcPts val="0"/>
              </a:spcAft>
              <a:buSzPts val="2800"/>
              <a:buNone/>
              <a:defRPr>
                <a:latin typeface="Roboto"/>
                <a:ea typeface="Roboto"/>
                <a:cs typeface="Roboto"/>
                <a:sym typeface="Roboto"/>
              </a:defRPr>
            </a:lvl7pPr>
            <a:lvl8pPr lvl="7" rtl="0" algn="l">
              <a:lnSpc>
                <a:spcPct val="100000"/>
              </a:lnSpc>
              <a:spcBef>
                <a:spcPts val="0"/>
              </a:spcBef>
              <a:spcAft>
                <a:spcPts val="0"/>
              </a:spcAft>
              <a:buSzPts val="2800"/>
              <a:buNone/>
              <a:defRPr>
                <a:latin typeface="Roboto"/>
                <a:ea typeface="Roboto"/>
                <a:cs typeface="Roboto"/>
                <a:sym typeface="Roboto"/>
              </a:defRPr>
            </a:lvl8pPr>
            <a:lvl9pPr lvl="8" rtl="0" algn="l">
              <a:lnSpc>
                <a:spcPct val="100000"/>
              </a:lnSpc>
              <a:spcBef>
                <a:spcPts val="0"/>
              </a:spcBef>
              <a:spcAft>
                <a:spcPts val="0"/>
              </a:spcAft>
              <a:buSzPts val="2800"/>
              <a:buNone/>
              <a:defRPr>
                <a:latin typeface="Roboto"/>
                <a:ea typeface="Roboto"/>
                <a:cs typeface="Roboto"/>
                <a:sym typeface="Roboto"/>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ow Collumns">
    <p:spTree>
      <p:nvGrpSpPr>
        <p:cNvPr id="334" name="Shape 334"/>
        <p:cNvGrpSpPr/>
        <p:nvPr/>
      </p:nvGrpSpPr>
      <p:grpSpPr>
        <a:xfrm>
          <a:off x="0" y="0"/>
          <a:ext cx="0" cy="0"/>
          <a:chOff x="0" y="0"/>
          <a:chExt cx="0" cy="0"/>
        </a:xfrm>
      </p:grpSpPr>
      <p:sp>
        <p:nvSpPr>
          <p:cNvPr id="335" name="Google Shape;335;p62"/>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62"/>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2800"/>
              <a:buNone/>
              <a:defRPr>
                <a:solidFill>
                  <a:schemeClr val="lt1"/>
                </a:solidFill>
              </a:defRPr>
            </a:lvl1pPr>
            <a:lvl2pPr lvl="1" rtl="0" algn="l">
              <a:lnSpc>
                <a:spcPct val="100000"/>
              </a:lnSpc>
              <a:spcBef>
                <a:spcPts val="0"/>
              </a:spcBef>
              <a:spcAft>
                <a:spcPts val="0"/>
              </a:spcAft>
              <a:buClr>
                <a:schemeClr val="lt1"/>
              </a:buClr>
              <a:buSzPts val="2800"/>
              <a:buNone/>
              <a:defRPr>
                <a:solidFill>
                  <a:schemeClr val="lt1"/>
                </a:solidFill>
              </a:defRPr>
            </a:lvl2pPr>
            <a:lvl3pPr lvl="2" rtl="0" algn="l">
              <a:lnSpc>
                <a:spcPct val="100000"/>
              </a:lnSpc>
              <a:spcBef>
                <a:spcPts val="0"/>
              </a:spcBef>
              <a:spcAft>
                <a:spcPts val="0"/>
              </a:spcAft>
              <a:buClr>
                <a:schemeClr val="lt1"/>
              </a:buClr>
              <a:buSzPts val="2800"/>
              <a:buNone/>
              <a:defRPr>
                <a:solidFill>
                  <a:schemeClr val="lt1"/>
                </a:solidFill>
              </a:defRPr>
            </a:lvl3pPr>
            <a:lvl4pPr lvl="3" rtl="0" algn="l">
              <a:lnSpc>
                <a:spcPct val="100000"/>
              </a:lnSpc>
              <a:spcBef>
                <a:spcPts val="0"/>
              </a:spcBef>
              <a:spcAft>
                <a:spcPts val="0"/>
              </a:spcAft>
              <a:buClr>
                <a:schemeClr val="lt1"/>
              </a:buClr>
              <a:buSzPts val="2800"/>
              <a:buNone/>
              <a:defRPr>
                <a:solidFill>
                  <a:schemeClr val="lt1"/>
                </a:solidFill>
              </a:defRPr>
            </a:lvl4pPr>
            <a:lvl5pPr lvl="4" rtl="0" algn="l">
              <a:lnSpc>
                <a:spcPct val="100000"/>
              </a:lnSpc>
              <a:spcBef>
                <a:spcPts val="0"/>
              </a:spcBef>
              <a:spcAft>
                <a:spcPts val="0"/>
              </a:spcAft>
              <a:buClr>
                <a:schemeClr val="lt1"/>
              </a:buClr>
              <a:buSzPts val="2800"/>
              <a:buNone/>
              <a:defRPr>
                <a:solidFill>
                  <a:schemeClr val="lt1"/>
                </a:solidFill>
              </a:defRPr>
            </a:lvl5pPr>
            <a:lvl6pPr lvl="5" rtl="0" algn="l">
              <a:lnSpc>
                <a:spcPct val="100000"/>
              </a:lnSpc>
              <a:spcBef>
                <a:spcPts val="0"/>
              </a:spcBef>
              <a:spcAft>
                <a:spcPts val="0"/>
              </a:spcAft>
              <a:buClr>
                <a:schemeClr val="lt1"/>
              </a:buClr>
              <a:buSzPts val="2800"/>
              <a:buNone/>
              <a:defRPr>
                <a:solidFill>
                  <a:schemeClr val="lt1"/>
                </a:solidFill>
              </a:defRPr>
            </a:lvl6pPr>
            <a:lvl7pPr lvl="6" rtl="0" algn="l">
              <a:lnSpc>
                <a:spcPct val="100000"/>
              </a:lnSpc>
              <a:spcBef>
                <a:spcPts val="0"/>
              </a:spcBef>
              <a:spcAft>
                <a:spcPts val="0"/>
              </a:spcAft>
              <a:buClr>
                <a:schemeClr val="lt1"/>
              </a:buClr>
              <a:buSzPts val="2800"/>
              <a:buNone/>
              <a:defRPr>
                <a:solidFill>
                  <a:schemeClr val="lt1"/>
                </a:solidFill>
              </a:defRPr>
            </a:lvl7pPr>
            <a:lvl8pPr lvl="7" rtl="0" algn="l">
              <a:lnSpc>
                <a:spcPct val="100000"/>
              </a:lnSpc>
              <a:spcBef>
                <a:spcPts val="0"/>
              </a:spcBef>
              <a:spcAft>
                <a:spcPts val="0"/>
              </a:spcAft>
              <a:buClr>
                <a:schemeClr val="lt1"/>
              </a:buClr>
              <a:buSzPts val="2800"/>
              <a:buNone/>
              <a:defRPr>
                <a:solidFill>
                  <a:schemeClr val="lt1"/>
                </a:solidFill>
              </a:defRPr>
            </a:lvl8pPr>
            <a:lvl9pPr lvl="8" rtl="0" algn="l">
              <a:lnSpc>
                <a:spcPct val="100000"/>
              </a:lnSpc>
              <a:spcBef>
                <a:spcPts val="0"/>
              </a:spcBef>
              <a:spcAft>
                <a:spcPts val="0"/>
              </a:spcAft>
              <a:buClr>
                <a:schemeClr val="lt1"/>
              </a:buClr>
              <a:buSzPts val="2800"/>
              <a:buNone/>
              <a:defRPr>
                <a:solidFill>
                  <a:schemeClr val="lt1"/>
                </a:solidFill>
              </a:defRPr>
            </a:lvl9pPr>
          </a:lstStyle>
          <a:p/>
        </p:txBody>
      </p:sp>
      <p:sp>
        <p:nvSpPr>
          <p:cNvPr id="337" name="Google Shape;337;p62"/>
          <p:cNvSpPr txBox="1"/>
          <p:nvPr>
            <p:ph idx="12" type="sldNum"/>
          </p:nvPr>
        </p:nvSpPr>
        <p:spPr>
          <a:xfrm>
            <a:off x="8622145" y="4922423"/>
            <a:ext cx="486900" cy="207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338" name="Google Shape;338;p62"/>
          <p:cNvSpPr txBox="1"/>
          <p:nvPr>
            <p:ph idx="1" type="body"/>
          </p:nvPr>
        </p:nvSpPr>
        <p:spPr>
          <a:xfrm>
            <a:off x="311675" y="1316038"/>
            <a:ext cx="4141800" cy="36624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339" name="Google Shape;339;p62"/>
          <p:cNvSpPr txBox="1"/>
          <p:nvPr>
            <p:ph idx="2" type="body"/>
          </p:nvPr>
        </p:nvSpPr>
        <p:spPr>
          <a:xfrm>
            <a:off x="4690538" y="1320512"/>
            <a:ext cx="4141800" cy="36624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6.xml"/><Relationship Id="rId10" Type="http://schemas.openxmlformats.org/officeDocument/2006/relationships/slideLayout" Target="../slideLayouts/slideLayout25.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theme" Target="../theme/theme1.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9.xml"/><Relationship Id="rId10" Type="http://schemas.openxmlformats.org/officeDocument/2006/relationships/slideLayout" Target="../slideLayouts/slideLayout38.xml"/><Relationship Id="rId13" Type="http://schemas.openxmlformats.org/officeDocument/2006/relationships/slideLayout" Target="../slideLayouts/slideLayout41.xml"/><Relationship Id="rId12" Type="http://schemas.openxmlformats.org/officeDocument/2006/relationships/slideLayout" Target="../slideLayouts/slideLayout40.xml"/><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5" Type="http://schemas.openxmlformats.org/officeDocument/2006/relationships/theme" Target="../theme/theme3.xml"/><Relationship Id="rId14" Type="http://schemas.openxmlformats.org/officeDocument/2006/relationships/slideLayout" Target="../slideLayouts/slideLayout42.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53.xml"/><Relationship Id="rId10" Type="http://schemas.openxmlformats.org/officeDocument/2006/relationships/slideLayout" Target="../slideLayouts/slideLayout52.xml"/><Relationship Id="rId13" Type="http://schemas.openxmlformats.org/officeDocument/2006/relationships/slideLayout" Target="../slideLayouts/slideLayout55.xml"/><Relationship Id="rId12" Type="http://schemas.openxmlformats.org/officeDocument/2006/relationships/slideLayout" Target="../slideLayouts/slideLayout54.xml"/><Relationship Id="rId1" Type="http://schemas.openxmlformats.org/officeDocument/2006/relationships/slideLayout" Target="../slideLayouts/slideLayout43.xml"/><Relationship Id="rId2" Type="http://schemas.openxmlformats.org/officeDocument/2006/relationships/slideLayout" Target="../slideLayouts/slideLayout44.xml"/><Relationship Id="rId3" Type="http://schemas.openxmlformats.org/officeDocument/2006/relationships/slideLayout" Target="../slideLayouts/slideLayout45.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5" Type="http://schemas.openxmlformats.org/officeDocument/2006/relationships/slideLayout" Target="../slideLayouts/slideLayout57.xml"/><Relationship Id="rId14" Type="http://schemas.openxmlformats.org/officeDocument/2006/relationships/slideLayout" Target="../slideLayouts/slideLayout56.xml"/><Relationship Id="rId17" Type="http://schemas.openxmlformats.org/officeDocument/2006/relationships/theme" Target="../theme/theme4.xml"/><Relationship Id="rId16" Type="http://schemas.openxmlformats.org/officeDocument/2006/relationships/slideLayout" Target="../slideLayouts/slideLayout58.xml"/><Relationship Id="rId5" Type="http://schemas.openxmlformats.org/officeDocument/2006/relationships/slideLayout" Target="../slideLayouts/slideLayout47.xml"/><Relationship Id="rId6" Type="http://schemas.openxmlformats.org/officeDocument/2006/relationships/slideLayout" Target="../slideLayouts/slideLayout48.xml"/><Relationship Id="rId7" Type="http://schemas.openxmlformats.org/officeDocument/2006/relationships/slideLayout" Target="../slideLayouts/slideLayout49.xml"/><Relationship Id="rId8"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1pPr>
            <a:lvl2pPr lvl="1"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2pPr>
            <a:lvl3pPr lvl="2"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3pPr>
            <a:lvl4pPr lvl="3"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4pPr>
            <a:lvl5pPr lvl="4"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5pPr>
            <a:lvl6pPr lvl="5"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6pPr>
            <a:lvl7pPr lvl="6"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7pPr>
            <a:lvl8pPr lvl="7"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8pPr>
            <a:lvl9pPr lvl="8"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marR="0" rtl="0" algn="l">
              <a:lnSpc>
                <a:spcPct val="115000"/>
              </a:lnSpc>
              <a:spcBef>
                <a:spcPts val="0"/>
              </a:spcBef>
              <a:spcAft>
                <a:spcPts val="0"/>
              </a:spcAft>
              <a:buClr>
                <a:schemeClr val="dk2"/>
              </a:buClr>
              <a:buSzPts val="1300"/>
              <a:buFont typeface="Roboto"/>
              <a:buChar char="●"/>
              <a:defRPr b="0" i="0" sz="1300" u="none" cap="none" strike="noStrike">
                <a:solidFill>
                  <a:schemeClr val="dk2"/>
                </a:solidFill>
                <a:latin typeface="Roboto"/>
                <a:ea typeface="Roboto"/>
                <a:cs typeface="Roboto"/>
                <a:sym typeface="Roboto"/>
              </a:defRPr>
            </a:lvl1pPr>
            <a:lvl2pPr indent="-298450" lvl="1" marL="9144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2pPr>
            <a:lvl3pPr indent="-298450" lvl="2" marL="13716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3pPr>
            <a:lvl4pPr indent="-298450" lvl="3" marL="18288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4pPr>
            <a:lvl5pPr indent="-298450" lvl="4" marL="22860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5pPr>
            <a:lvl6pPr indent="-298450" lvl="5" marL="27432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6pPr>
            <a:lvl7pPr indent="-298450" lvl="6" marL="32004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7pPr>
            <a:lvl8pPr indent="-298450" lvl="7" marL="36576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8pPr>
            <a:lvl9pPr indent="-298450" lvl="8" marL="4114800" marR="0" rtl="0" algn="l">
              <a:lnSpc>
                <a:spcPct val="115000"/>
              </a:lnSpc>
              <a:spcBef>
                <a:spcPts val="1600"/>
              </a:spcBef>
              <a:spcAft>
                <a:spcPts val="1600"/>
              </a:spcAft>
              <a:buClr>
                <a:schemeClr val="dk2"/>
              </a:buClr>
              <a:buSzPts val="1100"/>
              <a:buFont typeface="Roboto"/>
              <a:buChar char="■"/>
              <a:defRPr b="0" i="0" sz="1100" u="none" cap="none" strike="noStrike">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94" name="Shape 94"/>
        <p:cNvGrpSpPr/>
        <p:nvPr/>
      </p:nvGrpSpPr>
      <p:grpSpPr>
        <a:xfrm>
          <a:off x="0" y="0"/>
          <a:ext cx="0" cy="0"/>
          <a:chOff x="0" y="0"/>
          <a:chExt cx="0" cy="0"/>
        </a:xfrm>
      </p:grpSpPr>
      <p:sp>
        <p:nvSpPr>
          <p:cNvPr id="95" name="Google Shape;95;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96" name="Google Shape;96;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spAutoFit/>
          </a:bodyPr>
          <a:lstStyle>
            <a:lvl1pPr indent="-311150" lvl="0" marL="45720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97" name="Google Shape;97;p17"/>
          <p:cNvSpPr txBox="1"/>
          <p:nvPr>
            <p:ph idx="12" type="sldNum"/>
          </p:nvPr>
        </p:nvSpPr>
        <p:spPr>
          <a:xfrm>
            <a:off x="8472458" y="4663217"/>
            <a:ext cx="548700" cy="338700"/>
          </a:xfrm>
          <a:prstGeom prst="rect">
            <a:avLst/>
          </a:prstGeom>
          <a:noFill/>
          <a:ln>
            <a:noFill/>
          </a:ln>
        </p:spPr>
        <p:txBody>
          <a:bodyPr anchorCtr="0" anchor="ctr" bIns="91425" lIns="91425" spcFirstLastPara="1" rIns="91425" wrap="square" tIns="91425">
            <a:spAutoFit/>
          </a:bodyPr>
          <a:lstStyle>
            <a:lvl1pPr lvl="0" rtl="0" algn="r">
              <a:buNone/>
              <a:defRPr sz="1000">
                <a:solidFill>
                  <a:schemeClr val="dk2"/>
                </a:solidFill>
                <a:latin typeface="Roboto"/>
                <a:ea typeface="Roboto"/>
                <a:cs typeface="Roboto"/>
                <a:sym typeface="Roboto"/>
              </a:defRPr>
            </a:lvl1pPr>
            <a:lvl2pPr lvl="1" rtl="0" algn="r">
              <a:buNone/>
              <a:defRPr sz="1000">
                <a:solidFill>
                  <a:schemeClr val="dk2"/>
                </a:solidFill>
                <a:latin typeface="Roboto"/>
                <a:ea typeface="Roboto"/>
                <a:cs typeface="Roboto"/>
                <a:sym typeface="Roboto"/>
              </a:defRPr>
            </a:lvl2pPr>
            <a:lvl3pPr lvl="2" rtl="0" algn="r">
              <a:buNone/>
              <a:defRPr sz="1000">
                <a:solidFill>
                  <a:schemeClr val="dk2"/>
                </a:solidFill>
                <a:latin typeface="Roboto"/>
                <a:ea typeface="Roboto"/>
                <a:cs typeface="Roboto"/>
                <a:sym typeface="Roboto"/>
              </a:defRPr>
            </a:lvl3pPr>
            <a:lvl4pPr lvl="3" rtl="0" algn="r">
              <a:buNone/>
              <a:defRPr sz="1000">
                <a:solidFill>
                  <a:schemeClr val="dk2"/>
                </a:solidFill>
                <a:latin typeface="Roboto"/>
                <a:ea typeface="Roboto"/>
                <a:cs typeface="Roboto"/>
                <a:sym typeface="Roboto"/>
              </a:defRPr>
            </a:lvl4pPr>
            <a:lvl5pPr lvl="4" rtl="0" algn="r">
              <a:buNone/>
              <a:defRPr sz="1000">
                <a:solidFill>
                  <a:schemeClr val="dk2"/>
                </a:solidFill>
                <a:latin typeface="Roboto"/>
                <a:ea typeface="Roboto"/>
                <a:cs typeface="Roboto"/>
                <a:sym typeface="Roboto"/>
              </a:defRPr>
            </a:lvl5pPr>
            <a:lvl6pPr lvl="5" rtl="0" algn="r">
              <a:buNone/>
              <a:defRPr sz="1000">
                <a:solidFill>
                  <a:schemeClr val="dk2"/>
                </a:solidFill>
                <a:latin typeface="Roboto"/>
                <a:ea typeface="Roboto"/>
                <a:cs typeface="Roboto"/>
                <a:sym typeface="Roboto"/>
              </a:defRPr>
            </a:lvl6pPr>
            <a:lvl7pPr lvl="6" rtl="0" algn="r">
              <a:buNone/>
              <a:defRPr sz="1000">
                <a:solidFill>
                  <a:schemeClr val="dk2"/>
                </a:solidFill>
                <a:latin typeface="Roboto"/>
                <a:ea typeface="Roboto"/>
                <a:cs typeface="Roboto"/>
                <a:sym typeface="Roboto"/>
              </a:defRPr>
            </a:lvl7pPr>
            <a:lvl8pPr lvl="7" rtl="0" algn="r">
              <a:buNone/>
              <a:defRPr sz="1000">
                <a:solidFill>
                  <a:schemeClr val="dk2"/>
                </a:solidFill>
                <a:latin typeface="Roboto"/>
                <a:ea typeface="Roboto"/>
                <a:cs typeface="Roboto"/>
                <a:sym typeface="Roboto"/>
              </a:defRPr>
            </a:lvl8pPr>
            <a:lvl9pPr lvl="8" rtl="0"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162" name="Shape 162"/>
        <p:cNvGrpSpPr/>
        <p:nvPr/>
      </p:nvGrpSpPr>
      <p:grpSpPr>
        <a:xfrm>
          <a:off x="0" y="0"/>
          <a:ext cx="0" cy="0"/>
          <a:chOff x="0" y="0"/>
          <a:chExt cx="0" cy="0"/>
        </a:xfrm>
      </p:grpSpPr>
      <p:sp>
        <p:nvSpPr>
          <p:cNvPr id="163" name="Google Shape;163;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164" name="Google Shape;164;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165" name="Google Shape;165;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Roboto"/>
                <a:ea typeface="Roboto"/>
                <a:cs typeface="Roboto"/>
                <a:sym typeface="Roboto"/>
              </a:defRPr>
            </a:lvl1pPr>
            <a:lvl2pPr lvl="1" rtl="0" algn="r">
              <a:buNone/>
              <a:defRPr sz="1000">
                <a:solidFill>
                  <a:schemeClr val="dk2"/>
                </a:solidFill>
                <a:latin typeface="Roboto"/>
                <a:ea typeface="Roboto"/>
                <a:cs typeface="Roboto"/>
                <a:sym typeface="Roboto"/>
              </a:defRPr>
            </a:lvl2pPr>
            <a:lvl3pPr lvl="2" rtl="0" algn="r">
              <a:buNone/>
              <a:defRPr sz="1000">
                <a:solidFill>
                  <a:schemeClr val="dk2"/>
                </a:solidFill>
                <a:latin typeface="Roboto"/>
                <a:ea typeface="Roboto"/>
                <a:cs typeface="Roboto"/>
                <a:sym typeface="Roboto"/>
              </a:defRPr>
            </a:lvl3pPr>
            <a:lvl4pPr lvl="3" rtl="0" algn="r">
              <a:buNone/>
              <a:defRPr sz="1000">
                <a:solidFill>
                  <a:schemeClr val="dk2"/>
                </a:solidFill>
                <a:latin typeface="Roboto"/>
                <a:ea typeface="Roboto"/>
                <a:cs typeface="Roboto"/>
                <a:sym typeface="Roboto"/>
              </a:defRPr>
            </a:lvl4pPr>
            <a:lvl5pPr lvl="4" rtl="0" algn="r">
              <a:buNone/>
              <a:defRPr sz="1000">
                <a:solidFill>
                  <a:schemeClr val="dk2"/>
                </a:solidFill>
                <a:latin typeface="Roboto"/>
                <a:ea typeface="Roboto"/>
                <a:cs typeface="Roboto"/>
                <a:sym typeface="Roboto"/>
              </a:defRPr>
            </a:lvl5pPr>
            <a:lvl6pPr lvl="5" rtl="0" algn="r">
              <a:buNone/>
              <a:defRPr sz="1000">
                <a:solidFill>
                  <a:schemeClr val="dk2"/>
                </a:solidFill>
                <a:latin typeface="Roboto"/>
                <a:ea typeface="Roboto"/>
                <a:cs typeface="Roboto"/>
                <a:sym typeface="Roboto"/>
              </a:defRPr>
            </a:lvl6pPr>
            <a:lvl7pPr lvl="6" rtl="0" algn="r">
              <a:buNone/>
              <a:defRPr sz="1000">
                <a:solidFill>
                  <a:schemeClr val="dk2"/>
                </a:solidFill>
                <a:latin typeface="Roboto"/>
                <a:ea typeface="Roboto"/>
                <a:cs typeface="Roboto"/>
                <a:sym typeface="Roboto"/>
              </a:defRPr>
            </a:lvl7pPr>
            <a:lvl8pPr lvl="7" rtl="0" algn="r">
              <a:buNone/>
              <a:defRPr sz="1000">
                <a:solidFill>
                  <a:schemeClr val="dk2"/>
                </a:solidFill>
                <a:latin typeface="Roboto"/>
                <a:ea typeface="Roboto"/>
                <a:cs typeface="Roboto"/>
                <a:sym typeface="Roboto"/>
              </a:defRPr>
            </a:lvl8pPr>
            <a:lvl9pPr lvl="8" rtl="0"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247" name="Shape 247"/>
        <p:cNvGrpSpPr/>
        <p:nvPr/>
      </p:nvGrpSpPr>
      <p:grpSpPr>
        <a:xfrm>
          <a:off x="0" y="0"/>
          <a:ext cx="0" cy="0"/>
          <a:chOff x="0" y="0"/>
          <a:chExt cx="0" cy="0"/>
        </a:xfrm>
      </p:grpSpPr>
      <p:sp>
        <p:nvSpPr>
          <p:cNvPr id="248" name="Google Shape;248;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249" name="Google Shape;249;p4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250" name="Google Shape;250;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Roboto"/>
                <a:ea typeface="Roboto"/>
                <a:cs typeface="Roboto"/>
                <a:sym typeface="Roboto"/>
              </a:defRPr>
            </a:lvl1pPr>
            <a:lvl2pPr lvl="1" rtl="0" algn="r">
              <a:buNone/>
              <a:defRPr sz="1000">
                <a:solidFill>
                  <a:schemeClr val="dk2"/>
                </a:solidFill>
                <a:latin typeface="Roboto"/>
                <a:ea typeface="Roboto"/>
                <a:cs typeface="Roboto"/>
                <a:sym typeface="Roboto"/>
              </a:defRPr>
            </a:lvl2pPr>
            <a:lvl3pPr lvl="2" rtl="0" algn="r">
              <a:buNone/>
              <a:defRPr sz="1000">
                <a:solidFill>
                  <a:schemeClr val="dk2"/>
                </a:solidFill>
                <a:latin typeface="Roboto"/>
                <a:ea typeface="Roboto"/>
                <a:cs typeface="Roboto"/>
                <a:sym typeface="Roboto"/>
              </a:defRPr>
            </a:lvl3pPr>
            <a:lvl4pPr lvl="3" rtl="0" algn="r">
              <a:buNone/>
              <a:defRPr sz="1000">
                <a:solidFill>
                  <a:schemeClr val="dk2"/>
                </a:solidFill>
                <a:latin typeface="Roboto"/>
                <a:ea typeface="Roboto"/>
                <a:cs typeface="Roboto"/>
                <a:sym typeface="Roboto"/>
              </a:defRPr>
            </a:lvl4pPr>
            <a:lvl5pPr lvl="4" rtl="0" algn="r">
              <a:buNone/>
              <a:defRPr sz="1000">
                <a:solidFill>
                  <a:schemeClr val="dk2"/>
                </a:solidFill>
                <a:latin typeface="Roboto"/>
                <a:ea typeface="Roboto"/>
                <a:cs typeface="Roboto"/>
                <a:sym typeface="Roboto"/>
              </a:defRPr>
            </a:lvl5pPr>
            <a:lvl6pPr lvl="5" rtl="0" algn="r">
              <a:buNone/>
              <a:defRPr sz="1000">
                <a:solidFill>
                  <a:schemeClr val="dk2"/>
                </a:solidFill>
                <a:latin typeface="Roboto"/>
                <a:ea typeface="Roboto"/>
                <a:cs typeface="Roboto"/>
                <a:sym typeface="Roboto"/>
              </a:defRPr>
            </a:lvl6pPr>
            <a:lvl7pPr lvl="6" rtl="0" algn="r">
              <a:buNone/>
              <a:defRPr sz="1000">
                <a:solidFill>
                  <a:schemeClr val="dk2"/>
                </a:solidFill>
                <a:latin typeface="Roboto"/>
                <a:ea typeface="Roboto"/>
                <a:cs typeface="Roboto"/>
                <a:sym typeface="Roboto"/>
              </a:defRPr>
            </a:lvl7pPr>
            <a:lvl8pPr lvl="7" rtl="0" algn="r">
              <a:buNone/>
              <a:defRPr sz="1000">
                <a:solidFill>
                  <a:schemeClr val="dk2"/>
                </a:solidFill>
                <a:latin typeface="Roboto"/>
                <a:ea typeface="Roboto"/>
                <a:cs typeface="Roboto"/>
                <a:sym typeface="Roboto"/>
              </a:defRPr>
            </a:lvl8pPr>
            <a:lvl9pPr lvl="8" rtl="0"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2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5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image" Target="../media/image19.png"/><Relationship Id="rId5" Type="http://schemas.openxmlformats.org/officeDocument/2006/relationships/image" Target="../media/image22.png"/><Relationship Id="rId6"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19.png"/><Relationship Id="rId5"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19.png"/><Relationship Id="rId5"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37.png"/><Relationship Id="rId4" Type="http://schemas.openxmlformats.org/officeDocument/2006/relationships/image" Target="../media/image35.png"/><Relationship Id="rId5"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22.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 Id="rId3" Type="http://schemas.openxmlformats.org/officeDocument/2006/relationships/image" Target="../media/image24.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 Id="rId3" Type="http://schemas.openxmlformats.org/officeDocument/2006/relationships/image" Target="../media/image24.png"/><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 Id="rId3"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 Id="rId3" Type="http://schemas.openxmlformats.org/officeDocument/2006/relationships/image" Target="../media/image24.png"/><Relationship Id="rId4" Type="http://schemas.openxmlformats.org/officeDocument/2006/relationships/image" Target="../media/image32.png"/><Relationship Id="rId9" Type="http://schemas.openxmlformats.org/officeDocument/2006/relationships/image" Target="../media/image26.png"/><Relationship Id="rId5" Type="http://schemas.openxmlformats.org/officeDocument/2006/relationships/image" Target="../media/image31.png"/><Relationship Id="rId6" Type="http://schemas.openxmlformats.org/officeDocument/2006/relationships/image" Target="../media/image19.png"/><Relationship Id="rId7" Type="http://schemas.openxmlformats.org/officeDocument/2006/relationships/image" Target="../media/image22.png"/><Relationship Id="rId8" Type="http://schemas.openxmlformats.org/officeDocument/2006/relationships/image" Target="../media/image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8.xml"/><Relationship Id="rId3" Type="http://schemas.openxmlformats.org/officeDocument/2006/relationships/image" Target="../media/image36.png"/><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5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2.xml"/><Relationship Id="rId3" Type="http://schemas.openxmlformats.org/officeDocument/2006/relationships/image" Target="../media/image39.png"/><Relationship Id="rId4" Type="http://schemas.openxmlformats.org/officeDocument/2006/relationships/image" Target="../media/image47.png"/><Relationship Id="rId5"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 Id="rId3" Type="http://schemas.openxmlformats.org/officeDocument/2006/relationships/image" Target="../media/image39.png"/><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 Id="rId3" Type="http://schemas.openxmlformats.org/officeDocument/2006/relationships/image" Target="../media/image39.png"/><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 Id="rId3" Type="http://schemas.openxmlformats.org/officeDocument/2006/relationships/image" Target="../media/image43.png"/><Relationship Id="rId4" Type="http://schemas.openxmlformats.org/officeDocument/2006/relationships/image" Target="../media/image51.png"/><Relationship Id="rId5" Type="http://schemas.openxmlformats.org/officeDocument/2006/relationships/image" Target="../media/image4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 Id="rId3" Type="http://schemas.openxmlformats.org/officeDocument/2006/relationships/image" Target="../media/image43.png"/><Relationship Id="rId4" Type="http://schemas.openxmlformats.org/officeDocument/2006/relationships/image" Target="../media/image51.png"/><Relationship Id="rId5" Type="http://schemas.openxmlformats.org/officeDocument/2006/relationships/image" Target="../media/image4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8.xml"/><Relationship Id="rId3" Type="http://schemas.openxmlformats.org/officeDocument/2006/relationships/image" Target="../media/image5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9.xml"/><Relationship Id="rId3" Type="http://schemas.openxmlformats.org/officeDocument/2006/relationships/image" Target="../media/image5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0.xml"/><Relationship Id="rId3" Type="http://schemas.openxmlformats.org/officeDocument/2006/relationships/image" Target="../media/image5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1.xml"/><Relationship Id="rId3" Type="http://schemas.openxmlformats.org/officeDocument/2006/relationships/image" Target="../media/image4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2.xml"/><Relationship Id="rId3" Type="http://schemas.openxmlformats.org/officeDocument/2006/relationships/image" Target="../media/image54.png"/><Relationship Id="rId4" Type="http://schemas.openxmlformats.org/officeDocument/2006/relationships/image" Target="../media/image4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3.xml"/><Relationship Id="rId3" Type="http://schemas.openxmlformats.org/officeDocument/2006/relationships/image" Target="../media/image4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4.xml"/><Relationship Id="rId3" Type="http://schemas.openxmlformats.org/officeDocument/2006/relationships/image" Target="../media/image5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55.xml"/><Relationship Id="rId3" Type="http://schemas.openxmlformats.org/officeDocument/2006/relationships/hyperlink" Target="https://en.wikipedia.org/wiki/Shunting-yard_algorithm"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 Id="rId3" Type="http://schemas.openxmlformats.org/officeDocument/2006/relationships/image" Target="../media/image5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8.xml"/><Relationship Id="rId3" Type="http://schemas.openxmlformats.org/officeDocument/2006/relationships/image" Target="../media/image5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9.xml"/><Relationship Id="rId3" Type="http://schemas.openxmlformats.org/officeDocument/2006/relationships/image" Target="../media/image4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71.xml"/><Relationship Id="rId3" Type="http://schemas.openxmlformats.org/officeDocument/2006/relationships/image" Target="../media/image5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72.xml"/><Relationship Id="rId3" Type="http://schemas.openxmlformats.org/officeDocument/2006/relationships/image" Target="../media/image5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3.xml"/><Relationship Id="rId3" Type="http://schemas.openxmlformats.org/officeDocument/2006/relationships/image" Target="../media/image50.pn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63"/>
          <p:cNvSpPr txBox="1"/>
          <p:nvPr>
            <p:ph type="ctrTitle"/>
          </p:nvPr>
        </p:nvSpPr>
        <p:spPr>
          <a:xfrm>
            <a:off x="311700" y="539725"/>
            <a:ext cx="8520600" cy="1282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GCIS-124</a:t>
            </a:r>
            <a:endParaRPr/>
          </a:p>
          <a:p>
            <a:pPr indent="0" lvl="0" marL="0" rtl="0" algn="l">
              <a:lnSpc>
                <a:spcPct val="100000"/>
              </a:lnSpc>
              <a:spcBef>
                <a:spcPts val="0"/>
              </a:spcBef>
              <a:spcAft>
                <a:spcPts val="0"/>
              </a:spcAft>
              <a:buSzPts val="3600"/>
              <a:buNone/>
            </a:pPr>
            <a:r>
              <a:rPr lang="en" sz="3100"/>
              <a:t>Software Development &amp; Problem Solving</a:t>
            </a:r>
            <a:endParaRPr sz="3100"/>
          </a:p>
        </p:txBody>
      </p:sp>
      <p:sp>
        <p:nvSpPr>
          <p:cNvPr id="345" name="Google Shape;345;p63"/>
          <p:cNvSpPr txBox="1"/>
          <p:nvPr>
            <p:ph idx="1" type="subTitle"/>
          </p:nvPr>
        </p:nvSpPr>
        <p:spPr>
          <a:xfrm>
            <a:off x="311700" y="1878550"/>
            <a:ext cx="4491300" cy="738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i="1" lang="en" sz="2600"/>
              <a:t>3: Inheritance</a:t>
            </a:r>
            <a:endParaRPr i="1" sz="2600">
              <a:solidFill>
                <a:srgbClr val="FF0000"/>
              </a:solidFill>
            </a:endParaRPr>
          </a:p>
        </p:txBody>
      </p:sp>
      <p:grpSp>
        <p:nvGrpSpPr>
          <p:cNvPr id="346" name="Google Shape;346;p63"/>
          <p:cNvGrpSpPr/>
          <p:nvPr/>
        </p:nvGrpSpPr>
        <p:grpSpPr>
          <a:xfrm>
            <a:off x="5001999" y="4264475"/>
            <a:ext cx="3908400" cy="738300"/>
            <a:chOff x="5001999" y="4264475"/>
            <a:chExt cx="3908400" cy="738300"/>
          </a:xfrm>
        </p:grpSpPr>
        <p:sp>
          <p:nvSpPr>
            <p:cNvPr id="347" name="Google Shape;347;p63"/>
            <p:cNvSpPr/>
            <p:nvPr/>
          </p:nvSpPr>
          <p:spPr>
            <a:xfrm>
              <a:off x="5001999" y="4264475"/>
              <a:ext cx="3908400" cy="738300"/>
            </a:xfrm>
            <a:prstGeom prst="rect">
              <a:avLst/>
            </a:prstGeom>
            <a:solidFill>
              <a:srgbClr val="FFFFFF"/>
            </a:solidFill>
            <a:ln cap="flat" cmpd="sng" w="9525">
              <a:solidFill>
                <a:srgbClr val="626B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8" name="Google Shape;348;p63"/>
            <p:cNvPicPr preferRelativeResize="0"/>
            <p:nvPr/>
          </p:nvPicPr>
          <p:blipFill rotWithShape="1">
            <a:blip r:embed="rId3">
              <a:alphaModFix/>
            </a:blip>
            <a:srcRect b="0" l="0" r="0" t="0"/>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64"/>
          <p:cNvSpPr txBox="1"/>
          <p:nvPr>
            <p:ph type="title"/>
          </p:nvPr>
        </p:nvSpPr>
        <p:spPr>
          <a:xfrm>
            <a:off x="1436850" y="100"/>
            <a:ext cx="7642500" cy="6618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sz="3100"/>
              <a:t>Accept the Assignment</a:t>
            </a:r>
            <a:r>
              <a:rPr lang="en"/>
              <a:t> </a:t>
            </a:r>
            <a:endParaRPr/>
          </a:p>
        </p:txBody>
      </p:sp>
      <p:sp>
        <p:nvSpPr>
          <p:cNvPr id="354" name="Google Shape;354;p64"/>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You will create a new repository at the beginning of every new unit in this course. Accept the GitHub Classroom assignment for this unit and clone the new repository to your computer.</a:t>
            </a:r>
            <a:endParaRPr/>
          </a:p>
        </p:txBody>
      </p:sp>
      <p:sp>
        <p:nvSpPr>
          <p:cNvPr id="355" name="Google Shape;355;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6" name="Google Shape;356;p64"/>
          <p:cNvSpPr txBox="1"/>
          <p:nvPr>
            <p:ph idx="2" type="body"/>
          </p:nvPr>
        </p:nvSpPr>
        <p:spPr>
          <a:xfrm>
            <a:off x="2983575" y="1445925"/>
            <a:ext cx="5856600" cy="30708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Your instructor will provide you with a new GitHub classroom invitation for this unit.</a:t>
            </a:r>
            <a:endParaRPr sz="1500"/>
          </a:p>
          <a:p>
            <a:pPr indent="-323850" lvl="0" marL="457200" rtl="0" algn="l">
              <a:spcBef>
                <a:spcPts val="0"/>
              </a:spcBef>
              <a:spcAft>
                <a:spcPts val="0"/>
              </a:spcAft>
              <a:buSzPts val="1500"/>
              <a:buChar char="●"/>
            </a:pPr>
            <a:r>
              <a:rPr lang="en" sz="1500"/>
              <a:t>Upon accepting the invitation, you will be provided with the URL to your new repository, click it to verify that your repository has been created.</a:t>
            </a:r>
            <a:endParaRPr sz="1500"/>
          </a:p>
          <a:p>
            <a:pPr indent="-323850" lvl="0" marL="457200" rtl="0" algn="l">
              <a:spcBef>
                <a:spcPts val="0"/>
              </a:spcBef>
              <a:spcAft>
                <a:spcPts val="0"/>
              </a:spcAft>
              <a:buSzPts val="1500"/>
              <a:buChar char="●"/>
            </a:pPr>
            <a:r>
              <a:rPr lang="en" sz="1500"/>
              <a:t>You should create a </a:t>
            </a:r>
            <a:r>
              <a:rPr lang="en" sz="1500">
                <a:solidFill>
                  <a:srgbClr val="FF0000"/>
                </a:solidFill>
                <a:latin typeface="Courier New"/>
                <a:ea typeface="Courier New"/>
                <a:cs typeface="Courier New"/>
                <a:sym typeface="Courier New"/>
              </a:rPr>
              <a:t>SoftDevII</a:t>
            </a:r>
            <a:r>
              <a:rPr lang="en" sz="1500"/>
              <a:t> directory if you have not done so already.</a:t>
            </a:r>
            <a:endParaRPr sz="1500"/>
          </a:p>
          <a:p>
            <a:pPr indent="-323850" lvl="1" marL="914400" rtl="0" algn="l">
              <a:spcBef>
                <a:spcPts val="0"/>
              </a:spcBef>
              <a:spcAft>
                <a:spcPts val="0"/>
              </a:spcAft>
              <a:buSzPts val="1500"/>
              <a:buChar char="○"/>
            </a:pPr>
            <a:r>
              <a:rPr lang="en" sz="1500"/>
              <a:t>Navigate to your </a:t>
            </a:r>
            <a:r>
              <a:rPr lang="en" sz="1500">
                <a:latin typeface="Courier New"/>
                <a:ea typeface="Courier New"/>
                <a:cs typeface="Courier New"/>
                <a:sym typeface="Courier New"/>
              </a:rPr>
              <a:t>SoftDevII</a:t>
            </a:r>
            <a:r>
              <a:rPr lang="en" sz="1500"/>
              <a:t> directory and clone the new repository there.</a:t>
            </a:r>
            <a:endParaRPr sz="1500"/>
          </a:p>
          <a:p>
            <a:pPr indent="-323850" lvl="0" marL="457200" rtl="0" algn="l">
              <a:spcBef>
                <a:spcPts val="0"/>
              </a:spcBef>
              <a:spcAft>
                <a:spcPts val="0"/>
              </a:spcAft>
              <a:buSzPts val="1500"/>
              <a:buChar char="●"/>
            </a:pPr>
            <a:r>
              <a:rPr lang="en" sz="1500"/>
              <a:t>Open your repository in VSCode and make sure that you have a terminal open with the </a:t>
            </a:r>
            <a:r>
              <a:rPr b="1" lang="en" sz="1500">
                <a:solidFill>
                  <a:srgbClr val="FF0000"/>
                </a:solidFill>
              </a:rPr>
              <a:t>PROBLEMS</a:t>
            </a:r>
            <a:r>
              <a:rPr lang="en" sz="1500"/>
              <a:t> tab visible.</a:t>
            </a:r>
            <a:endParaRPr/>
          </a:p>
        </p:txBody>
      </p:sp>
      <p:sp>
        <p:nvSpPr>
          <p:cNvPr id="357" name="Google Shape;357;p6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a:t>
            </a:r>
            <a:r>
              <a:rPr lang="en"/>
              <a:t>.0</a:t>
            </a:r>
            <a:endParaRPr/>
          </a:p>
        </p:txBody>
      </p:sp>
      <p:pic>
        <p:nvPicPr>
          <p:cNvPr id="358" name="Google Shape;358;p64"/>
          <p:cNvPicPr preferRelativeResize="0"/>
          <p:nvPr/>
        </p:nvPicPr>
        <p:blipFill>
          <a:blip r:embed="rId3">
            <a:alphaModFix/>
          </a:blip>
          <a:stretch>
            <a:fillRect/>
          </a:stretch>
        </p:blipFill>
        <p:spPr>
          <a:xfrm>
            <a:off x="220999" y="1732794"/>
            <a:ext cx="2762576" cy="27625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pic>
        <p:nvPicPr>
          <p:cNvPr id="363" name="Google Shape;363;p65"/>
          <p:cNvPicPr preferRelativeResize="0"/>
          <p:nvPr/>
        </p:nvPicPr>
        <p:blipFill>
          <a:blip r:embed="rId3">
            <a:alphaModFix/>
          </a:blip>
          <a:stretch>
            <a:fillRect/>
          </a:stretch>
        </p:blipFill>
        <p:spPr>
          <a:xfrm>
            <a:off x="3547097" y="1068325"/>
            <a:ext cx="1326913" cy="3727775"/>
          </a:xfrm>
          <a:prstGeom prst="rect">
            <a:avLst/>
          </a:prstGeom>
          <a:noFill/>
          <a:ln>
            <a:noFill/>
          </a:ln>
        </p:spPr>
      </p:pic>
      <p:sp>
        <p:nvSpPr>
          <p:cNvPr id="364" name="Google Shape;364;p65"/>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fld id="{00000000-1234-1234-1234-123412341234}" type="slidenum">
              <a:rPr lang="en"/>
              <a:t>‹#›</a:t>
            </a:fld>
            <a:endParaRPr/>
          </a:p>
        </p:txBody>
      </p:sp>
      <p:pic>
        <p:nvPicPr>
          <p:cNvPr id="365" name="Google Shape;365;p65"/>
          <p:cNvPicPr preferRelativeResize="0"/>
          <p:nvPr/>
        </p:nvPicPr>
        <p:blipFill>
          <a:blip r:embed="rId4">
            <a:alphaModFix/>
          </a:blip>
          <a:stretch>
            <a:fillRect/>
          </a:stretch>
        </p:blipFill>
        <p:spPr>
          <a:xfrm>
            <a:off x="4941475" y="1121750"/>
            <a:ext cx="1283245" cy="3727775"/>
          </a:xfrm>
          <a:prstGeom prst="rect">
            <a:avLst/>
          </a:prstGeom>
          <a:noFill/>
          <a:ln>
            <a:noFill/>
          </a:ln>
        </p:spPr>
      </p:pic>
      <p:sp>
        <p:nvSpPr>
          <p:cNvPr id="366" name="Google Shape;366;p65"/>
          <p:cNvSpPr/>
          <p:nvPr/>
        </p:nvSpPr>
        <p:spPr>
          <a:xfrm>
            <a:off x="2148675" y="1271744"/>
            <a:ext cx="1369200" cy="615600"/>
          </a:xfrm>
          <a:prstGeom prst="wedgeRoundRectCallout">
            <a:avLst>
              <a:gd fmla="val 83507" name="adj1"/>
              <a:gd fmla="val 4459" name="adj2"/>
              <a:gd fmla="val 0" name="adj3"/>
            </a:avLst>
          </a:prstGeom>
          <a:solidFill>
            <a:schemeClr val="l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I don't understand part 4.c. on the homework.</a:t>
            </a:r>
            <a:endParaRPr sz="1000"/>
          </a:p>
        </p:txBody>
      </p:sp>
      <p:sp>
        <p:nvSpPr>
          <p:cNvPr id="367" name="Google Shape;367;p65"/>
          <p:cNvSpPr/>
          <p:nvPr/>
        </p:nvSpPr>
        <p:spPr>
          <a:xfrm>
            <a:off x="6153675" y="1271750"/>
            <a:ext cx="2877000" cy="1961700"/>
          </a:xfrm>
          <a:prstGeom prst="wedgeRoundRectCallout">
            <a:avLst>
              <a:gd fmla="val -64417" name="adj1"/>
              <a:gd fmla="val -25380" name="adj2"/>
              <a:gd fmla="val 0" name="adj3"/>
            </a:avLst>
          </a:prstGeom>
          <a:solidFill>
            <a:schemeClr val="l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Part 4.c. on homework 2.2 asks us to write a function that prompts the user to enter two floating point values and to print the product.</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I reviewed slides 17-18 in the lecture, and I finished the practice activity. That all works fine.</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But when I try to use the values entered by the user, I am getting an "input mismatch" error. Does anyone have a suggestion?</a:t>
            </a:r>
            <a:endParaRPr sz="1000"/>
          </a:p>
        </p:txBody>
      </p:sp>
      <p:sp>
        <p:nvSpPr>
          <p:cNvPr id="368" name="Google Shape;368;p65"/>
          <p:cNvSpPr txBox="1"/>
          <p:nvPr>
            <p:ph type="title"/>
          </p:nvPr>
        </p:nvSpPr>
        <p:spPr>
          <a:xfrm>
            <a:off x="311725" y="67171"/>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Asking for Help</a:t>
            </a:r>
            <a:endParaRPr/>
          </a:p>
        </p:txBody>
      </p:sp>
      <p:sp>
        <p:nvSpPr>
          <p:cNvPr id="369" name="Google Shape;369;p65"/>
          <p:cNvSpPr txBox="1"/>
          <p:nvPr/>
        </p:nvSpPr>
        <p:spPr>
          <a:xfrm>
            <a:off x="127425" y="1984400"/>
            <a:ext cx="3363600" cy="2724300"/>
          </a:xfrm>
          <a:prstGeom prst="rect">
            <a:avLst/>
          </a:prstGeom>
          <a:solidFill>
            <a:srgbClr val="CFE2F3"/>
          </a:solidFill>
          <a:ln cap="flat" cmpd="sng" w="19050">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You have all the resources that you need to solve the problems that have been given to you, but sometimes you may not be able to find the answers to the problems that you encounter.</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Asking for help in this course is both </a:t>
            </a:r>
            <a:r>
              <a:rPr b="1" i="1" lang="en" sz="1100">
                <a:solidFill>
                  <a:srgbClr val="FF0000"/>
                </a:solidFill>
              </a:rPr>
              <a:t>expected</a:t>
            </a:r>
            <a:r>
              <a:rPr lang="en" sz="1100">
                <a:solidFill>
                  <a:srgbClr val="FF0000"/>
                </a:solidFill>
              </a:rPr>
              <a:t> </a:t>
            </a:r>
            <a:r>
              <a:rPr lang="en" sz="1100"/>
              <a:t>and </a:t>
            </a:r>
            <a:r>
              <a:rPr b="1" i="1" lang="en" sz="1100">
                <a:solidFill>
                  <a:srgbClr val="FF0000"/>
                </a:solidFill>
              </a:rPr>
              <a:t>encouraged</a:t>
            </a:r>
            <a:r>
              <a:rPr lang="en" sz="1100"/>
              <a:t>.</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Spending time trying to solve the problem yourself will be a more valuable learning experience in the long run.</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If you </a:t>
            </a:r>
            <a:r>
              <a:rPr b="1" i="1" lang="en" sz="1100">
                <a:solidFill>
                  <a:srgbClr val="FF0000"/>
                </a:solidFill>
              </a:rPr>
              <a:t>do</a:t>
            </a:r>
            <a:r>
              <a:rPr lang="en" sz="1100">
                <a:solidFill>
                  <a:srgbClr val="FF0000"/>
                </a:solidFill>
              </a:rPr>
              <a:t> </a:t>
            </a:r>
            <a:r>
              <a:rPr lang="en" sz="1100"/>
              <a:t>ask for help, try to be as detailed as possible to make it easier for others to help you by providing as much detail as you can.</a:t>
            </a:r>
            <a:endParaRPr sz="1100"/>
          </a:p>
        </p:txBody>
      </p:sp>
      <p:sp>
        <p:nvSpPr>
          <p:cNvPr id="370" name="Google Shape;370;p65"/>
          <p:cNvSpPr txBox="1"/>
          <p:nvPr/>
        </p:nvSpPr>
        <p:spPr>
          <a:xfrm>
            <a:off x="6153675" y="3355825"/>
            <a:ext cx="2877000" cy="1262100"/>
          </a:xfrm>
          <a:prstGeom prst="rect">
            <a:avLst/>
          </a:prstGeom>
          <a:solidFill>
            <a:srgbClr val="CFE2F3"/>
          </a:solidFill>
          <a:ln cap="flat" cmpd="sng" w="19050">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177800" lvl="0" marL="228600" rtl="0" algn="l">
              <a:spcBef>
                <a:spcPts val="0"/>
              </a:spcBef>
              <a:spcAft>
                <a:spcPts val="0"/>
              </a:spcAft>
              <a:buSzPts val="1000"/>
              <a:buFont typeface="Roboto"/>
              <a:buAutoNum type="arabicPeriod"/>
            </a:pPr>
            <a:r>
              <a:rPr lang="en" sz="1000">
                <a:latin typeface="Roboto"/>
                <a:ea typeface="Roboto"/>
                <a:cs typeface="Roboto"/>
                <a:sym typeface="Roboto"/>
              </a:rPr>
              <a:t>Begin by reviewing the lecture slides related to the problem that you are trying to solve</a:t>
            </a:r>
            <a:endParaRPr sz="1000">
              <a:latin typeface="Roboto"/>
              <a:ea typeface="Roboto"/>
              <a:cs typeface="Roboto"/>
              <a:sym typeface="Roboto"/>
            </a:endParaRPr>
          </a:p>
          <a:p>
            <a:pPr indent="-177800" lvl="0" marL="228600" rtl="0" algn="l">
              <a:spcBef>
                <a:spcPts val="0"/>
              </a:spcBef>
              <a:spcAft>
                <a:spcPts val="0"/>
              </a:spcAft>
              <a:buSzPts val="1000"/>
              <a:buFont typeface="Roboto"/>
              <a:buAutoNum type="arabicPeriod"/>
            </a:pPr>
            <a:r>
              <a:rPr lang="en" sz="1000">
                <a:latin typeface="Roboto"/>
                <a:ea typeface="Roboto"/>
                <a:cs typeface="Roboto"/>
                <a:sym typeface="Roboto"/>
              </a:rPr>
              <a:t>Try to solve the related class activities without looking at the answer</a:t>
            </a:r>
            <a:endParaRPr sz="1000">
              <a:latin typeface="Roboto"/>
              <a:ea typeface="Roboto"/>
              <a:cs typeface="Roboto"/>
              <a:sym typeface="Roboto"/>
            </a:endParaRPr>
          </a:p>
          <a:p>
            <a:pPr indent="-177800" lvl="0" marL="228600" rtl="0" algn="l">
              <a:spcBef>
                <a:spcPts val="0"/>
              </a:spcBef>
              <a:spcAft>
                <a:spcPts val="0"/>
              </a:spcAft>
              <a:buSzPts val="1000"/>
              <a:buFont typeface="Roboto"/>
              <a:buAutoNum type="arabicPeriod"/>
            </a:pPr>
            <a:r>
              <a:rPr lang="en" sz="1000">
                <a:latin typeface="Roboto"/>
                <a:ea typeface="Roboto"/>
                <a:cs typeface="Roboto"/>
                <a:sym typeface="Roboto"/>
              </a:rPr>
              <a:t>When asking for help, try to be as specific as possible about the problem you are having</a:t>
            </a:r>
            <a:endParaRPr sz="1000">
              <a:latin typeface="Roboto"/>
              <a:ea typeface="Roboto"/>
              <a:cs typeface="Roboto"/>
              <a:sym typeface="Roboto"/>
            </a:endParaRPr>
          </a:p>
        </p:txBody>
      </p:sp>
      <p:sp>
        <p:nvSpPr>
          <p:cNvPr id="371" name="Google Shape;371;p65"/>
          <p:cNvSpPr txBox="1"/>
          <p:nvPr/>
        </p:nvSpPr>
        <p:spPr>
          <a:xfrm>
            <a:off x="2148625" y="982750"/>
            <a:ext cx="13695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FF0000"/>
                </a:solidFill>
                <a:latin typeface="Roboto"/>
                <a:ea typeface="Roboto"/>
                <a:cs typeface="Roboto"/>
                <a:sym typeface="Roboto"/>
              </a:rPr>
              <a:t>Could be Improved</a:t>
            </a:r>
            <a:endParaRPr sz="1100">
              <a:solidFill>
                <a:srgbClr val="FF0000"/>
              </a:solidFill>
              <a:latin typeface="Roboto"/>
              <a:ea typeface="Roboto"/>
              <a:cs typeface="Roboto"/>
              <a:sym typeface="Roboto"/>
            </a:endParaRPr>
          </a:p>
        </p:txBody>
      </p:sp>
      <p:sp>
        <p:nvSpPr>
          <p:cNvPr id="372" name="Google Shape;372;p65"/>
          <p:cNvSpPr txBox="1"/>
          <p:nvPr/>
        </p:nvSpPr>
        <p:spPr>
          <a:xfrm>
            <a:off x="7107475" y="982751"/>
            <a:ext cx="1046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FF0000"/>
                </a:solidFill>
                <a:latin typeface="Roboto"/>
                <a:ea typeface="Roboto"/>
                <a:cs typeface="Roboto"/>
                <a:sym typeface="Roboto"/>
              </a:rPr>
              <a:t>MUCH Better</a:t>
            </a:r>
            <a:endParaRPr sz="1100">
              <a:solidFill>
                <a:srgbClr val="FF0000"/>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66"/>
          <p:cNvSpPr txBox="1"/>
          <p:nvPr>
            <p:ph type="title"/>
          </p:nvPr>
        </p:nvSpPr>
        <p:spPr>
          <a:xfrm>
            <a:off x="311725" y="3485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Inheritance</a:t>
            </a:r>
            <a:endParaRPr/>
          </a:p>
        </p:txBody>
      </p:sp>
      <p:sp>
        <p:nvSpPr>
          <p:cNvPr id="378" name="Google Shape;378;p66"/>
          <p:cNvSpPr txBox="1"/>
          <p:nvPr>
            <p:ph idx="1" type="body"/>
          </p:nvPr>
        </p:nvSpPr>
        <p:spPr>
          <a:xfrm>
            <a:off x="4644675" y="272325"/>
            <a:ext cx="4166400" cy="45774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a:t>In the previous unit, we learned how to create classes in Java that include:</a:t>
            </a:r>
            <a:endParaRPr/>
          </a:p>
          <a:p>
            <a:pPr indent="-298450" lvl="1" marL="914400" rtl="0" algn="l">
              <a:lnSpc>
                <a:spcPct val="115000"/>
              </a:lnSpc>
              <a:spcBef>
                <a:spcPts val="0"/>
              </a:spcBef>
              <a:spcAft>
                <a:spcPts val="0"/>
              </a:spcAft>
              <a:buSzPts val="1100"/>
              <a:buChar char="○"/>
            </a:pPr>
            <a:r>
              <a:rPr lang="en"/>
              <a:t>State (Fields)</a:t>
            </a:r>
            <a:endParaRPr/>
          </a:p>
          <a:p>
            <a:pPr indent="-298450" lvl="1" marL="914400" rtl="0" algn="l">
              <a:lnSpc>
                <a:spcPct val="115000"/>
              </a:lnSpc>
              <a:spcBef>
                <a:spcPts val="0"/>
              </a:spcBef>
              <a:spcAft>
                <a:spcPts val="0"/>
              </a:spcAft>
              <a:buSzPts val="1100"/>
              <a:buChar char="○"/>
            </a:pPr>
            <a:r>
              <a:rPr lang="en"/>
              <a:t>Behavior (Methods)</a:t>
            </a:r>
            <a:endParaRPr/>
          </a:p>
          <a:p>
            <a:pPr indent="-298450" lvl="1" marL="914400" rtl="0" algn="l">
              <a:lnSpc>
                <a:spcPct val="115000"/>
              </a:lnSpc>
              <a:spcBef>
                <a:spcPts val="0"/>
              </a:spcBef>
              <a:spcAft>
                <a:spcPts val="0"/>
              </a:spcAft>
              <a:buSzPts val="1100"/>
              <a:buChar char="○"/>
            </a:pPr>
            <a:r>
              <a:rPr lang="en"/>
              <a:t>Data privacy (Access Modifiers)</a:t>
            </a:r>
            <a:endParaRPr/>
          </a:p>
          <a:p>
            <a:pPr indent="-298450" lvl="1" marL="914400" rtl="0" algn="l">
              <a:lnSpc>
                <a:spcPct val="115000"/>
              </a:lnSpc>
              <a:spcBef>
                <a:spcPts val="0"/>
              </a:spcBef>
              <a:spcAft>
                <a:spcPts val="0"/>
              </a:spcAft>
              <a:buSzPts val="1100"/>
              <a:buChar char="○"/>
            </a:pPr>
            <a:r>
              <a:rPr lang="en"/>
              <a:t>Constructors</a:t>
            </a:r>
            <a:endParaRPr/>
          </a:p>
          <a:p>
            <a:pPr indent="-298450" lvl="1" marL="914400" rtl="0" algn="l">
              <a:lnSpc>
                <a:spcPct val="115000"/>
              </a:lnSpc>
              <a:spcBef>
                <a:spcPts val="0"/>
              </a:spcBef>
              <a:spcAft>
                <a:spcPts val="0"/>
              </a:spcAft>
              <a:buSzPts val="1100"/>
              <a:buChar char="○"/>
            </a:pPr>
            <a:r>
              <a:rPr lang="en"/>
              <a:t>Static and non-static state and behavior</a:t>
            </a:r>
            <a:endParaRPr/>
          </a:p>
          <a:p>
            <a:pPr indent="-311150" lvl="0" marL="457200" rtl="0" algn="l">
              <a:lnSpc>
                <a:spcPct val="115000"/>
              </a:lnSpc>
              <a:spcBef>
                <a:spcPts val="0"/>
              </a:spcBef>
              <a:spcAft>
                <a:spcPts val="0"/>
              </a:spcAft>
              <a:buSzPts val="1300"/>
              <a:buChar char="●"/>
            </a:pPr>
            <a:r>
              <a:rPr lang="en"/>
              <a:t>During this unit we will learn about a very powerful feature of </a:t>
            </a:r>
            <a:r>
              <a:rPr b="1" i="1" lang="en">
                <a:solidFill>
                  <a:srgbClr val="FF0000"/>
                </a:solidFill>
              </a:rPr>
              <a:t>object-oriented programming</a:t>
            </a:r>
            <a:r>
              <a:rPr lang="en"/>
              <a:t>: </a:t>
            </a:r>
            <a:r>
              <a:rPr b="1" i="1" lang="en">
                <a:solidFill>
                  <a:srgbClr val="FF0000"/>
                </a:solidFill>
              </a:rPr>
              <a:t>inheritance</a:t>
            </a:r>
            <a:r>
              <a:rPr lang="en"/>
              <a:t>.</a:t>
            </a:r>
            <a:endParaRPr/>
          </a:p>
          <a:p>
            <a:pPr indent="-298450" lvl="1" marL="914400" rtl="0" algn="l">
              <a:lnSpc>
                <a:spcPct val="115000"/>
              </a:lnSpc>
              <a:spcBef>
                <a:spcPts val="0"/>
              </a:spcBef>
              <a:spcAft>
                <a:spcPts val="0"/>
              </a:spcAft>
              <a:buSzPts val="1100"/>
              <a:buChar char="○"/>
            </a:pPr>
            <a:r>
              <a:rPr lang="en"/>
              <a:t>Subclassing</a:t>
            </a:r>
            <a:endParaRPr/>
          </a:p>
          <a:p>
            <a:pPr indent="-298450" lvl="1" marL="914400" rtl="0" algn="l">
              <a:lnSpc>
                <a:spcPct val="115000"/>
              </a:lnSpc>
              <a:spcBef>
                <a:spcPts val="0"/>
              </a:spcBef>
              <a:spcAft>
                <a:spcPts val="0"/>
              </a:spcAft>
              <a:buSzPts val="1100"/>
              <a:buChar char="○"/>
            </a:pPr>
            <a:r>
              <a:rPr lang="en"/>
              <a:t>Overriding Methods</a:t>
            </a:r>
            <a:endParaRPr/>
          </a:p>
          <a:p>
            <a:pPr indent="-298450" lvl="1" marL="914400" rtl="0" algn="l">
              <a:lnSpc>
                <a:spcPct val="115000"/>
              </a:lnSpc>
              <a:spcBef>
                <a:spcPts val="0"/>
              </a:spcBef>
              <a:spcAft>
                <a:spcPts val="0"/>
              </a:spcAft>
              <a:buSzPts val="1100"/>
              <a:buChar char="○"/>
            </a:pPr>
            <a:r>
              <a:rPr lang="en"/>
              <a:t>Polymorphism</a:t>
            </a:r>
            <a:endParaRPr/>
          </a:p>
          <a:p>
            <a:pPr indent="-298450" lvl="1" marL="914400" rtl="0" algn="l">
              <a:lnSpc>
                <a:spcPct val="115000"/>
              </a:lnSpc>
              <a:spcBef>
                <a:spcPts val="0"/>
              </a:spcBef>
              <a:spcAft>
                <a:spcPts val="0"/>
              </a:spcAft>
              <a:buSzPts val="1100"/>
              <a:buChar char="○"/>
            </a:pPr>
            <a:r>
              <a:rPr lang="en"/>
              <a:t>Abstract Classes</a:t>
            </a:r>
            <a:endParaRPr/>
          </a:p>
          <a:p>
            <a:pPr indent="-298450" lvl="1" marL="914400" rtl="0" algn="l">
              <a:lnSpc>
                <a:spcPct val="115000"/>
              </a:lnSpc>
              <a:spcBef>
                <a:spcPts val="0"/>
              </a:spcBef>
              <a:spcAft>
                <a:spcPts val="0"/>
              </a:spcAft>
              <a:buSzPts val="1100"/>
              <a:buChar char="○"/>
            </a:pPr>
            <a:r>
              <a:rPr lang="en"/>
              <a:t>Interfaces</a:t>
            </a:r>
            <a:endParaRPr/>
          </a:p>
          <a:p>
            <a:pPr indent="-311150" lvl="0" marL="457200" rtl="0" algn="l">
              <a:lnSpc>
                <a:spcPct val="115000"/>
              </a:lnSpc>
              <a:spcBef>
                <a:spcPts val="0"/>
              </a:spcBef>
              <a:spcAft>
                <a:spcPts val="0"/>
              </a:spcAft>
              <a:buSzPts val="1300"/>
              <a:buChar char="●"/>
            </a:pPr>
            <a:r>
              <a:rPr lang="en"/>
              <a:t>Today we will specifically focus on </a:t>
            </a:r>
            <a:r>
              <a:rPr b="1" i="1" lang="en">
                <a:solidFill>
                  <a:srgbClr val="FF0000"/>
                </a:solidFill>
              </a:rPr>
              <a:t>reuse</a:t>
            </a:r>
            <a:r>
              <a:rPr lang="en">
                <a:solidFill>
                  <a:srgbClr val="FF0000"/>
                </a:solidFill>
              </a:rPr>
              <a:t> </a:t>
            </a:r>
            <a:r>
              <a:rPr lang="en"/>
              <a:t>through subclassing.</a:t>
            </a:r>
            <a:endParaRPr/>
          </a:p>
          <a:p>
            <a:pPr indent="-298450" lvl="1" marL="914400" rtl="0" algn="l">
              <a:lnSpc>
                <a:spcPct val="115000"/>
              </a:lnSpc>
              <a:spcBef>
                <a:spcPts val="0"/>
              </a:spcBef>
              <a:spcAft>
                <a:spcPts val="0"/>
              </a:spcAft>
              <a:buSzPts val="1100"/>
              <a:buChar char="○"/>
            </a:pPr>
            <a:r>
              <a:rPr lang="en"/>
              <a:t>One class </a:t>
            </a:r>
            <a:r>
              <a:rPr b="1" i="1" lang="en">
                <a:solidFill>
                  <a:srgbClr val="FF0000"/>
                </a:solidFill>
              </a:rPr>
              <a:t>inherits </a:t>
            </a:r>
            <a:r>
              <a:rPr lang="en"/>
              <a:t>the state and behavior defined in another class.</a:t>
            </a:r>
            <a:endParaRPr/>
          </a:p>
          <a:p>
            <a:pPr indent="-298450" lvl="1" marL="914400" rtl="0" algn="l">
              <a:lnSpc>
                <a:spcPct val="115000"/>
              </a:lnSpc>
              <a:spcBef>
                <a:spcPts val="0"/>
              </a:spcBef>
              <a:spcAft>
                <a:spcPts val="0"/>
              </a:spcAft>
              <a:buSzPts val="1100"/>
              <a:buChar char="○"/>
            </a:pPr>
            <a:r>
              <a:rPr lang="en"/>
              <a:t>The new class can then modify existing behavior or add new state and/or behavior.</a:t>
            </a:r>
            <a:endParaRPr/>
          </a:p>
        </p:txBody>
      </p:sp>
      <p:sp>
        <p:nvSpPr>
          <p:cNvPr id="379" name="Google Shape;379;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80" name="Google Shape;380;p66"/>
          <p:cNvSpPr txBox="1"/>
          <p:nvPr>
            <p:ph idx="3" type="body"/>
          </p:nvPr>
        </p:nvSpPr>
        <p:spPr>
          <a:xfrm>
            <a:off x="315425" y="3937250"/>
            <a:ext cx="3706500" cy="744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a:t>We'll spend most of this unit using different types of </a:t>
            </a:r>
            <a:r>
              <a:rPr b="1" i="1" lang="en">
                <a:solidFill>
                  <a:srgbClr val="FF0000"/>
                </a:solidFill>
              </a:rPr>
              <a:t>inheritance</a:t>
            </a:r>
            <a:r>
              <a:rPr lang="en">
                <a:solidFill>
                  <a:srgbClr val="FF0000"/>
                </a:solidFill>
              </a:rPr>
              <a:t> </a:t>
            </a:r>
            <a:r>
              <a:rPr lang="en"/>
              <a:t>to implement an RPG based on the classic </a:t>
            </a:r>
            <a:r>
              <a:rPr i="1" lang="en"/>
              <a:t>Goats vs. Trolls</a:t>
            </a:r>
            <a:r>
              <a:rPr lang="en"/>
              <a:t> CCG.</a:t>
            </a:r>
            <a:endParaRPr/>
          </a:p>
        </p:txBody>
      </p:sp>
      <p:pic>
        <p:nvPicPr>
          <p:cNvPr id="381" name="Google Shape;381;p66"/>
          <p:cNvPicPr preferRelativeResize="0"/>
          <p:nvPr/>
        </p:nvPicPr>
        <p:blipFill rotWithShape="1">
          <a:blip r:embed="rId3">
            <a:alphaModFix/>
          </a:blip>
          <a:srcRect b="0" l="0" r="0" t="0"/>
          <a:stretch/>
        </p:blipFill>
        <p:spPr>
          <a:xfrm>
            <a:off x="562225" y="1050135"/>
            <a:ext cx="3052199" cy="2668315"/>
          </a:xfrm>
          <a:prstGeom prst="rect">
            <a:avLst/>
          </a:prstGeom>
          <a:noFill/>
          <a:ln cap="flat" cmpd="sng" w="19050">
            <a:solidFill>
              <a:srgbClr val="B7B7B7"/>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7"/>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Goats vs. Trolls</a:t>
            </a:r>
            <a:r>
              <a:rPr lang="en"/>
              <a:t> V</a:t>
            </a:r>
            <a:r>
              <a:rPr lang="en"/>
              <a:t>: The Trolls Strike Back</a:t>
            </a:r>
            <a:endParaRPr/>
          </a:p>
          <a:p>
            <a:pPr indent="0" lvl="0" marL="0" rtl="0" algn="l">
              <a:lnSpc>
                <a:spcPct val="100000"/>
              </a:lnSpc>
              <a:spcBef>
                <a:spcPts val="0"/>
              </a:spcBef>
              <a:spcAft>
                <a:spcPts val="0"/>
              </a:spcAft>
              <a:buSzPts val="2800"/>
              <a:buNone/>
            </a:pPr>
            <a:r>
              <a:t/>
            </a:r>
            <a:endParaRPr/>
          </a:p>
          <a:p>
            <a:pPr indent="0" lvl="0" marL="0" rtl="0" algn="l">
              <a:lnSpc>
                <a:spcPct val="100000"/>
              </a:lnSpc>
              <a:spcBef>
                <a:spcPts val="0"/>
              </a:spcBef>
              <a:spcAft>
                <a:spcPts val="0"/>
              </a:spcAft>
              <a:buSzPts val="2800"/>
              <a:buNone/>
            </a:pPr>
            <a:r>
              <a:t/>
            </a:r>
            <a:endParaRPr/>
          </a:p>
        </p:txBody>
      </p:sp>
      <p:sp>
        <p:nvSpPr>
          <p:cNvPr id="387" name="Google Shape;387;p67"/>
          <p:cNvSpPr txBox="1"/>
          <p:nvPr>
            <p:ph idx="1" type="body"/>
          </p:nvPr>
        </p:nvSpPr>
        <p:spPr>
          <a:xfrm>
            <a:off x="3411925" y="1353300"/>
            <a:ext cx="5344200" cy="1797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1600"/>
              </a:spcAft>
              <a:buSzPts val="1300"/>
              <a:buNone/>
            </a:pPr>
            <a:r>
              <a:rPr lang="en"/>
              <a:t>The </a:t>
            </a:r>
            <a:r>
              <a:rPr i="1" lang="en"/>
              <a:t>Goats vs. Trolls</a:t>
            </a:r>
            <a:r>
              <a:rPr lang="en"/>
              <a:t> CCG has been so wildly successful that the powers that be have decided to expand the IP into a new video game inspired by the classic JRPGs of the 1980s. Your software development company has been contracted to develop the highly anticipated game. Goats vs. Trolls: The RPG. The player will control a party of 4 goats, as they battle against endless waves of enemy trolls. Your team will begin its design by focusing on the heroic Goats.</a:t>
            </a:r>
            <a:endParaRPr/>
          </a:p>
        </p:txBody>
      </p:sp>
      <p:sp>
        <p:nvSpPr>
          <p:cNvPr id="388" name="Google Shape;388;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aphicFrame>
        <p:nvGraphicFramePr>
          <p:cNvPr id="389" name="Google Shape;389;p67"/>
          <p:cNvGraphicFramePr/>
          <p:nvPr/>
        </p:nvGraphicFramePr>
        <p:xfrm>
          <a:off x="3371925" y="3041350"/>
          <a:ext cx="3000000" cy="3000000"/>
        </p:xfrm>
        <a:graphic>
          <a:graphicData uri="http://schemas.openxmlformats.org/drawingml/2006/table">
            <a:tbl>
              <a:tblPr>
                <a:noFill/>
                <a:tableStyleId>{7F442979-C056-43AA-83C6-67E564C60A4D}</a:tableStyleId>
              </a:tblPr>
              <a:tblGrid>
                <a:gridCol w="1346025"/>
                <a:gridCol w="1056350"/>
                <a:gridCol w="1680075"/>
                <a:gridCol w="1301675"/>
              </a:tblGrid>
              <a:tr h="377750">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FFFFFF"/>
                          </a:solidFill>
                        </a:rPr>
                        <a:t>Type</a:t>
                      </a:r>
                      <a:endParaRPr b="1" sz="1200" u="none" cap="none" strike="noStrike">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FFFFFF"/>
                          </a:solidFill>
                        </a:rPr>
                        <a:t>Hit Points</a:t>
                      </a:r>
                      <a:endParaRPr b="1" sz="1200" u="none" cap="none" strike="noStrike">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FFFFFF"/>
                          </a:solidFill>
                        </a:rPr>
                        <a:t>Attack </a:t>
                      </a:r>
                      <a:endParaRPr b="1" sz="1200" u="none" cap="none" strike="noStrike">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FFFFFF"/>
                          </a:solidFill>
                        </a:rPr>
                        <a:t>Special</a:t>
                      </a:r>
                      <a:endParaRPr b="1" sz="1200" u="none" cap="none" strike="noStrike">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801225">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Mage</a:t>
                      </a:r>
                      <a:endParaRPr sz="1200" u="none" cap="none" strike="noStrike"/>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r>
                        <a:rPr lang="en" sz="1200"/>
                        <a:t>2</a:t>
                      </a:r>
                      <a:r>
                        <a:rPr lang="en" sz="1200" u="none" cap="none" strike="noStrike"/>
                        <a:t>0</a:t>
                      </a:r>
                      <a:endParaRPr sz="12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Magic Missile</a:t>
                      </a:r>
                      <a:endParaRPr sz="1200" u="none" cap="none" strike="noStrike"/>
                    </a:p>
                    <a:p>
                      <a:pPr indent="0" lvl="0" marL="0" marR="0" rtl="0" algn="ctr">
                        <a:lnSpc>
                          <a:spcPct val="100000"/>
                        </a:lnSpc>
                        <a:spcBef>
                          <a:spcPts val="0"/>
                        </a:spcBef>
                        <a:spcAft>
                          <a:spcPts val="0"/>
                        </a:spcAft>
                        <a:buClr>
                          <a:srgbClr val="000000"/>
                        </a:buClr>
                        <a:buSzPts val="1200"/>
                        <a:buFont typeface="Arial"/>
                        <a:buNone/>
                      </a:pPr>
                      <a:r>
                        <a:rPr lang="en" sz="1200" u="none" cap="none" strike="noStrike"/>
                        <a:t>9 (Magic Damage)</a:t>
                      </a:r>
                      <a:endParaRPr sz="1200" u="none" cap="none" strike="noStrike"/>
                    </a:p>
                    <a:p>
                      <a:pPr indent="0" lvl="0" marL="0" marR="0" rtl="0" algn="ctr">
                        <a:lnSpc>
                          <a:spcPct val="100000"/>
                        </a:lnSpc>
                        <a:spcBef>
                          <a:spcPts val="0"/>
                        </a:spcBef>
                        <a:spcAft>
                          <a:spcPts val="0"/>
                        </a:spcAft>
                        <a:buClr>
                          <a:srgbClr val="000000"/>
                        </a:buClr>
                        <a:buSzPts val="1200"/>
                        <a:buFont typeface="Arial"/>
                        <a:buNone/>
                      </a:pPr>
                      <a:r>
                        <a:rPr lang="en" sz="1200" u="none" cap="none" strike="noStrike"/>
                        <a:t>hits 4 times</a:t>
                      </a:r>
                      <a:endParaRPr sz="12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t>+25% physical damage taken </a:t>
                      </a:r>
                      <a:endParaRPr sz="1000" u="none" cap="none" strike="noStrike"/>
                    </a:p>
                    <a:p>
                      <a:pPr indent="0" lvl="0" marL="0" marR="0" rtl="0" algn="ctr">
                        <a:lnSpc>
                          <a:spcPct val="100000"/>
                        </a:lnSpc>
                        <a:spcBef>
                          <a:spcPts val="0"/>
                        </a:spcBef>
                        <a:spcAft>
                          <a:spcPts val="0"/>
                        </a:spcAft>
                        <a:buClr>
                          <a:srgbClr val="000000"/>
                        </a:buClr>
                        <a:buSzPts val="1000"/>
                        <a:buFont typeface="Arial"/>
                        <a:buNone/>
                      </a:pPr>
                      <a:r>
                        <a:rPr lang="en" sz="1000" u="none" cap="none" strike="noStrike"/>
                        <a:t>-25% magical damage taken</a:t>
                      </a:r>
                      <a:endParaRPr sz="10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801225">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Fighter</a:t>
                      </a:r>
                      <a:endParaRPr sz="1200" u="none" cap="none" strike="noStrike"/>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150</a:t>
                      </a:r>
                      <a:endParaRPr sz="12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Cleave</a:t>
                      </a:r>
                      <a:endParaRPr sz="1200" u="none" cap="none" strike="noStrike"/>
                    </a:p>
                    <a:p>
                      <a:pPr indent="0" lvl="0" marL="0" marR="0" rtl="0" algn="ctr">
                        <a:lnSpc>
                          <a:spcPct val="100000"/>
                        </a:lnSpc>
                        <a:spcBef>
                          <a:spcPts val="0"/>
                        </a:spcBef>
                        <a:spcAft>
                          <a:spcPts val="0"/>
                        </a:spcAft>
                        <a:buClr>
                          <a:srgbClr val="000000"/>
                        </a:buClr>
                        <a:buSzPts val="1200"/>
                        <a:buFont typeface="Arial"/>
                        <a:buNone/>
                      </a:pPr>
                      <a:r>
                        <a:rPr lang="en" sz="1200" u="none" cap="none" strike="noStrike"/>
                        <a:t>25 (Physical Damage)</a:t>
                      </a:r>
                      <a:endParaRPr sz="12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000" u="none" cap="none" strike="noStrike"/>
                        <a:t>-25% physical damage taken </a:t>
                      </a:r>
                      <a:endParaRPr sz="1000" u="none" cap="none" strike="noStrike"/>
                    </a:p>
                    <a:p>
                      <a:pPr indent="0" lvl="0" marL="0" marR="0" rtl="0" algn="ctr">
                        <a:lnSpc>
                          <a:spcPct val="100000"/>
                        </a:lnSpc>
                        <a:spcBef>
                          <a:spcPts val="0"/>
                        </a:spcBef>
                        <a:spcAft>
                          <a:spcPts val="0"/>
                        </a:spcAft>
                        <a:buClr>
                          <a:srgbClr val="000000"/>
                        </a:buClr>
                        <a:buSzPts val="1100"/>
                        <a:buFont typeface="Arial"/>
                        <a:buNone/>
                      </a:pPr>
                      <a:r>
                        <a:rPr lang="en" sz="1000" u="none" cap="none" strike="noStrike"/>
                        <a:t>+25% magical damage taken </a:t>
                      </a:r>
                      <a:endParaRPr sz="10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sp>
        <p:nvSpPr>
          <p:cNvPr id="390" name="Google Shape;390;p67"/>
          <p:cNvSpPr txBox="1"/>
          <p:nvPr/>
        </p:nvSpPr>
        <p:spPr>
          <a:xfrm>
            <a:off x="181225" y="4208325"/>
            <a:ext cx="3052200" cy="802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Lato"/>
                <a:ea typeface="Lato"/>
                <a:cs typeface="Lato"/>
                <a:sym typeface="Lato"/>
              </a:rPr>
              <a:t>As the screen above shows, GvTV will leverage modern hardware to enable its cutting edge graphics.</a:t>
            </a:r>
            <a:endParaRPr b="0" i="0" sz="1400" u="none" cap="none" strike="noStrike">
              <a:solidFill>
                <a:srgbClr val="000000"/>
              </a:solidFill>
              <a:latin typeface="Lato"/>
              <a:ea typeface="Lato"/>
              <a:cs typeface="Lato"/>
              <a:sym typeface="Lato"/>
            </a:endParaRPr>
          </a:p>
        </p:txBody>
      </p:sp>
      <p:pic>
        <p:nvPicPr>
          <p:cNvPr id="391" name="Google Shape;391;p67"/>
          <p:cNvPicPr preferRelativeResize="0"/>
          <p:nvPr/>
        </p:nvPicPr>
        <p:blipFill rotWithShape="1">
          <a:blip r:embed="rId3">
            <a:alphaModFix/>
          </a:blip>
          <a:srcRect b="0" l="0" r="0" t="0"/>
          <a:stretch/>
        </p:blipFill>
        <p:spPr>
          <a:xfrm>
            <a:off x="181225" y="1431135"/>
            <a:ext cx="3052199" cy="2668315"/>
          </a:xfrm>
          <a:prstGeom prst="rect">
            <a:avLst/>
          </a:prstGeom>
          <a:noFill/>
          <a:ln cap="flat" cmpd="sng" w="19050">
            <a:solidFill>
              <a:srgbClr val="000000"/>
            </a:solidFill>
            <a:prstDash val="solid"/>
            <a:round/>
            <a:headEnd len="sm" w="sm" type="none"/>
            <a:tailEnd len="sm" w="sm" type="none"/>
          </a:ln>
        </p:spPr>
      </p:pic>
      <p:pic>
        <p:nvPicPr>
          <p:cNvPr id="392" name="Google Shape;392;p67"/>
          <p:cNvPicPr preferRelativeResize="0"/>
          <p:nvPr/>
        </p:nvPicPr>
        <p:blipFill rotWithShape="1">
          <a:blip r:embed="rId4">
            <a:alphaModFix/>
          </a:blip>
          <a:srcRect b="0" l="0" r="0" t="0"/>
          <a:stretch/>
        </p:blipFill>
        <p:spPr>
          <a:xfrm>
            <a:off x="3578441" y="3479491"/>
            <a:ext cx="438150" cy="685800"/>
          </a:xfrm>
          <a:prstGeom prst="rect">
            <a:avLst/>
          </a:prstGeom>
          <a:noFill/>
          <a:ln>
            <a:noFill/>
          </a:ln>
        </p:spPr>
      </p:pic>
      <p:pic>
        <p:nvPicPr>
          <p:cNvPr id="393" name="Google Shape;393;p67"/>
          <p:cNvPicPr preferRelativeResize="0"/>
          <p:nvPr/>
        </p:nvPicPr>
        <p:blipFill rotWithShape="1">
          <a:blip r:embed="rId5">
            <a:alphaModFix/>
          </a:blip>
          <a:srcRect b="0" l="0" r="0" t="0"/>
          <a:stretch/>
        </p:blipFill>
        <p:spPr>
          <a:xfrm>
            <a:off x="3634605" y="4258320"/>
            <a:ext cx="419100" cy="685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graphicFrame>
        <p:nvGraphicFramePr>
          <p:cNvPr id="398" name="Google Shape;398;p68"/>
          <p:cNvGraphicFramePr/>
          <p:nvPr/>
        </p:nvGraphicFramePr>
        <p:xfrm>
          <a:off x="2490850" y="1574350"/>
          <a:ext cx="3000000" cy="3000000"/>
        </p:xfrm>
        <a:graphic>
          <a:graphicData uri="http://schemas.openxmlformats.org/drawingml/2006/table">
            <a:tbl>
              <a:tblPr>
                <a:noFill/>
                <a:tableStyleId>{7F442979-C056-43AA-83C6-67E564C60A4D}</a:tableStyleId>
              </a:tblPr>
              <a:tblGrid>
                <a:gridCol w="900075"/>
                <a:gridCol w="1785900"/>
                <a:gridCol w="1785900"/>
                <a:gridCol w="1785900"/>
              </a:tblGrid>
              <a:tr h="4170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Class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4565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State</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4565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Behavior</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sp>
        <p:nvSpPr>
          <p:cNvPr id="399" name="Google Shape;399;p68"/>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Clr>
                <a:srgbClr val="000000"/>
              </a:buClr>
              <a:buSzPts val="1600"/>
              <a:buFont typeface="Arial"/>
              <a:buNone/>
            </a:pPr>
            <a:r>
              <a:rPr lang="en"/>
              <a:t>Domain analysis is the activity of identifying and documenting the commonalities and variabilities in related software systems. Begin your design with a simple domain analysis.</a:t>
            </a:r>
            <a:endParaRPr/>
          </a:p>
        </p:txBody>
      </p:sp>
      <p:sp>
        <p:nvSpPr>
          <p:cNvPr id="400" name="Google Shape;400;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1" name="Google Shape;401;p6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Simple Domain Analysis</a:t>
            </a:r>
            <a:endParaRPr/>
          </a:p>
        </p:txBody>
      </p:sp>
      <p:sp>
        <p:nvSpPr>
          <p:cNvPr id="402" name="Google Shape;402;p6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3.1</a:t>
            </a:r>
            <a:endParaRPr/>
          </a:p>
        </p:txBody>
      </p:sp>
      <p:sp>
        <p:nvSpPr>
          <p:cNvPr id="403" name="Google Shape;403;p68"/>
          <p:cNvSpPr txBox="1"/>
          <p:nvPr/>
        </p:nvSpPr>
        <p:spPr>
          <a:xfrm>
            <a:off x="51775" y="1574350"/>
            <a:ext cx="2381700" cy="21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lt2"/>
                </a:solidFill>
                <a:latin typeface="Roboto"/>
                <a:ea typeface="Roboto"/>
                <a:cs typeface="Roboto"/>
                <a:sym typeface="Roboto"/>
              </a:rPr>
              <a:t>Things to Note:</a:t>
            </a:r>
            <a:endParaRPr b="0" i="0" sz="1300" u="none" cap="none" strike="noStrike">
              <a:solidFill>
                <a:schemeClr val="lt2"/>
              </a:solidFill>
              <a:latin typeface="Roboto"/>
              <a:ea typeface="Roboto"/>
              <a:cs typeface="Roboto"/>
              <a:sym typeface="Roboto"/>
            </a:endParaRPr>
          </a:p>
          <a:p>
            <a:pPr indent="-311150" lvl="0" marL="457200" marR="0" rtl="0" algn="l">
              <a:lnSpc>
                <a:spcPct val="100000"/>
              </a:lnSpc>
              <a:spcBef>
                <a:spcPts val="0"/>
              </a:spcBef>
              <a:spcAft>
                <a:spcPts val="0"/>
              </a:spcAft>
              <a:buClr>
                <a:schemeClr val="lt2"/>
              </a:buClr>
              <a:buSzPts val="1300"/>
              <a:buFont typeface="Lato"/>
              <a:buChar char="●"/>
            </a:pPr>
            <a:r>
              <a:rPr b="0" i="0" lang="en" sz="1300" u="none" cap="none" strike="noStrike">
                <a:solidFill>
                  <a:schemeClr val="lt2"/>
                </a:solidFill>
                <a:latin typeface="Roboto"/>
                <a:ea typeface="Roboto"/>
                <a:cs typeface="Roboto"/>
                <a:sym typeface="Roboto"/>
              </a:rPr>
              <a:t>All goats have a </a:t>
            </a:r>
            <a:r>
              <a:rPr b="1" i="0" lang="en" sz="1300" u="sng" cap="none" strike="noStrike">
                <a:solidFill>
                  <a:srgbClr val="FF0000"/>
                </a:solidFill>
                <a:latin typeface="Roboto"/>
                <a:ea typeface="Roboto"/>
                <a:cs typeface="Roboto"/>
                <a:sym typeface="Roboto"/>
              </a:rPr>
              <a:t>name</a:t>
            </a:r>
            <a:r>
              <a:rPr b="0" i="0" lang="en" sz="1300" u="none" cap="none" strike="noStrike">
                <a:solidFill>
                  <a:schemeClr val="lt2"/>
                </a:solidFill>
                <a:latin typeface="Roboto"/>
                <a:ea typeface="Roboto"/>
                <a:cs typeface="Roboto"/>
                <a:sym typeface="Roboto"/>
              </a:rPr>
              <a:t>, e.g. “Hairy Potter.”</a:t>
            </a:r>
            <a:endParaRPr b="0" i="0" sz="1300" u="none" cap="none" strike="noStrike">
              <a:solidFill>
                <a:schemeClr val="lt2"/>
              </a:solidFill>
              <a:latin typeface="Roboto"/>
              <a:ea typeface="Roboto"/>
              <a:cs typeface="Roboto"/>
              <a:sym typeface="Roboto"/>
            </a:endParaRPr>
          </a:p>
          <a:p>
            <a:pPr indent="-311150" lvl="0" marL="457200" marR="0" rtl="0" algn="l">
              <a:lnSpc>
                <a:spcPct val="100000"/>
              </a:lnSpc>
              <a:spcBef>
                <a:spcPts val="0"/>
              </a:spcBef>
              <a:spcAft>
                <a:spcPts val="0"/>
              </a:spcAft>
              <a:buClr>
                <a:schemeClr val="lt2"/>
              </a:buClr>
              <a:buSzPts val="1300"/>
              <a:buFont typeface="Lato"/>
              <a:buChar char="●"/>
            </a:pPr>
            <a:r>
              <a:rPr b="0" i="0" lang="en" sz="1300" u="none" cap="none" strike="noStrike">
                <a:solidFill>
                  <a:schemeClr val="lt2"/>
                </a:solidFill>
                <a:latin typeface="Roboto"/>
                <a:ea typeface="Roboto"/>
                <a:cs typeface="Roboto"/>
                <a:sym typeface="Roboto"/>
              </a:rPr>
              <a:t>All goats can be </a:t>
            </a:r>
            <a:r>
              <a:rPr b="1" i="0" lang="en" sz="1300" u="sng" cap="none" strike="noStrike">
                <a:solidFill>
                  <a:srgbClr val="FF0000"/>
                </a:solidFill>
                <a:latin typeface="Roboto"/>
                <a:ea typeface="Roboto"/>
                <a:cs typeface="Roboto"/>
                <a:sym typeface="Roboto"/>
              </a:rPr>
              <a:t>healed</a:t>
            </a:r>
            <a:r>
              <a:rPr b="1" i="0" lang="en" sz="1300" u="sng" cap="none" strike="noStrike">
                <a:solidFill>
                  <a:schemeClr val="lt2"/>
                </a:solidFill>
                <a:latin typeface="Roboto"/>
                <a:ea typeface="Roboto"/>
                <a:cs typeface="Roboto"/>
                <a:sym typeface="Roboto"/>
              </a:rPr>
              <a:t> </a:t>
            </a:r>
            <a:r>
              <a:rPr b="0" i="0" lang="en" sz="1300" u="none" cap="none" strike="noStrike">
                <a:solidFill>
                  <a:schemeClr val="lt2"/>
                </a:solidFill>
                <a:latin typeface="Roboto"/>
                <a:ea typeface="Roboto"/>
                <a:cs typeface="Roboto"/>
                <a:sym typeface="Roboto"/>
              </a:rPr>
              <a:t>for some of their hit points.</a:t>
            </a:r>
            <a:endParaRPr b="0" i="0" sz="1300" u="none" cap="none" strike="noStrike">
              <a:solidFill>
                <a:schemeClr val="lt2"/>
              </a:solidFill>
              <a:latin typeface="Roboto"/>
              <a:ea typeface="Roboto"/>
              <a:cs typeface="Roboto"/>
              <a:sym typeface="Roboto"/>
            </a:endParaRPr>
          </a:p>
          <a:p>
            <a:pPr indent="-311150" lvl="0" marL="457200" marR="0" rtl="0" algn="l">
              <a:lnSpc>
                <a:spcPct val="100000"/>
              </a:lnSpc>
              <a:spcBef>
                <a:spcPts val="0"/>
              </a:spcBef>
              <a:spcAft>
                <a:spcPts val="0"/>
              </a:spcAft>
              <a:buClr>
                <a:schemeClr val="lt2"/>
              </a:buClr>
              <a:buSzPts val="1300"/>
              <a:buFont typeface="Lato"/>
              <a:buChar char="●"/>
            </a:pPr>
            <a:r>
              <a:rPr b="0" i="0" lang="en" sz="1300" u="none" cap="none" strike="noStrike">
                <a:solidFill>
                  <a:schemeClr val="lt2"/>
                </a:solidFill>
                <a:latin typeface="Roboto"/>
                <a:ea typeface="Roboto"/>
                <a:cs typeface="Roboto"/>
                <a:sym typeface="Roboto"/>
              </a:rPr>
              <a:t>If a goats current HP drops to 0, the goat is knocked </a:t>
            </a:r>
            <a:r>
              <a:rPr b="1" i="0" lang="en" sz="1300" u="sng" cap="none" strike="noStrike">
                <a:solidFill>
                  <a:srgbClr val="FF0000"/>
                </a:solidFill>
                <a:latin typeface="Roboto"/>
                <a:ea typeface="Roboto"/>
                <a:cs typeface="Roboto"/>
                <a:sym typeface="Roboto"/>
              </a:rPr>
              <a:t>unconscious</a:t>
            </a:r>
            <a:r>
              <a:rPr b="0" i="0" lang="en" sz="1300" u="none" cap="none" strike="noStrike">
                <a:solidFill>
                  <a:schemeClr val="lt2"/>
                </a:solidFill>
                <a:latin typeface="Roboto"/>
                <a:ea typeface="Roboto"/>
                <a:cs typeface="Roboto"/>
                <a:sym typeface="Roboto"/>
              </a:rPr>
              <a:t>.</a:t>
            </a:r>
            <a:endParaRPr b="0" i="0" sz="1300" u="none" cap="none" strike="noStrike">
              <a:solidFill>
                <a:schemeClr val="lt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graphicFrame>
        <p:nvGraphicFramePr>
          <p:cNvPr id="408" name="Google Shape;408;p69"/>
          <p:cNvGraphicFramePr/>
          <p:nvPr/>
        </p:nvGraphicFramePr>
        <p:xfrm>
          <a:off x="2490850" y="1574350"/>
          <a:ext cx="3000000" cy="3000000"/>
        </p:xfrm>
        <a:graphic>
          <a:graphicData uri="http://schemas.openxmlformats.org/drawingml/2006/table">
            <a:tbl>
              <a:tblPr>
                <a:noFill/>
                <a:tableStyleId>{7F442979-C056-43AA-83C6-67E564C60A4D}</a:tableStyleId>
              </a:tblPr>
              <a:tblGrid>
                <a:gridCol w="900075"/>
                <a:gridCol w="1785900"/>
                <a:gridCol w="1785900"/>
                <a:gridCol w="1785900"/>
              </a:tblGrid>
              <a:tr h="4170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Class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4565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State</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4565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Behavior</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sp>
        <p:nvSpPr>
          <p:cNvPr id="409" name="Google Shape;409;p69"/>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Domain analysis is the activity of identifying and documenting the commonalities and variabilities in related software systems. Begin your design with a simple domain analysis.</a:t>
            </a:r>
            <a:endParaRPr/>
          </a:p>
        </p:txBody>
      </p:sp>
      <p:sp>
        <p:nvSpPr>
          <p:cNvPr id="410" name="Google Shape;410;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1" name="Google Shape;411;p6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Simple Domain Analysis</a:t>
            </a:r>
            <a:endParaRPr/>
          </a:p>
        </p:txBody>
      </p:sp>
      <p:sp>
        <p:nvSpPr>
          <p:cNvPr id="412" name="Google Shape;412;p6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3.1</a:t>
            </a:r>
            <a:endParaRPr/>
          </a:p>
        </p:txBody>
      </p:sp>
      <p:sp>
        <p:nvSpPr>
          <p:cNvPr id="413" name="Google Shape;413;p69"/>
          <p:cNvSpPr txBox="1"/>
          <p:nvPr/>
        </p:nvSpPr>
        <p:spPr>
          <a:xfrm>
            <a:off x="3446150" y="1648968"/>
            <a:ext cx="1565100" cy="315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ATTACK</a:t>
            </a:r>
            <a:endParaRPr b="0" i="0" sz="1800" u="none" cap="none" strike="noStrike">
              <a:solidFill>
                <a:srgbClr val="FF0000"/>
              </a:solidFill>
              <a:latin typeface="Shadows Into Light"/>
              <a:ea typeface="Shadows Into Light"/>
              <a:cs typeface="Shadows Into Light"/>
              <a:sym typeface="Shadows Into Light"/>
            </a:endParaRPr>
          </a:p>
        </p:txBody>
      </p:sp>
      <p:sp>
        <p:nvSpPr>
          <p:cNvPr id="414" name="Google Shape;414;p69"/>
          <p:cNvSpPr txBox="1"/>
          <p:nvPr/>
        </p:nvSpPr>
        <p:spPr>
          <a:xfrm>
            <a:off x="3446150" y="2106168"/>
            <a:ext cx="1565100" cy="123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NAME</a:t>
            </a:r>
            <a:endParaRPr b="0" i="0" sz="18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 OF HITS</a:t>
            </a:r>
            <a:endParaRPr b="0" i="0" sz="18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DAMAGE TYPE</a:t>
            </a:r>
            <a:endParaRPr b="0" i="0" sz="1800" u="none" cap="none" strike="noStrike">
              <a:solidFill>
                <a:srgbClr val="FF0000"/>
              </a:solidFill>
              <a:latin typeface="Shadows Into Light"/>
              <a:ea typeface="Shadows Into Light"/>
              <a:cs typeface="Shadows Into Light"/>
              <a:sym typeface="Shadows Into Light"/>
            </a:endParaRPr>
          </a:p>
        </p:txBody>
      </p:sp>
      <p:sp>
        <p:nvSpPr>
          <p:cNvPr id="415" name="Google Shape;415;p69"/>
          <p:cNvSpPr txBox="1"/>
          <p:nvPr/>
        </p:nvSpPr>
        <p:spPr>
          <a:xfrm>
            <a:off x="3446150" y="3553968"/>
            <a:ext cx="1565100" cy="123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GETTERS</a:t>
            </a:r>
            <a:endParaRPr b="0" i="0" sz="1800" u="none" cap="none" strike="noStrike">
              <a:solidFill>
                <a:srgbClr val="FF0000"/>
              </a:solidFill>
              <a:latin typeface="Shadows Into Light"/>
              <a:ea typeface="Shadows Into Light"/>
              <a:cs typeface="Shadows Into Light"/>
              <a:sym typeface="Shadows Into Light"/>
            </a:endParaRPr>
          </a:p>
        </p:txBody>
      </p:sp>
      <p:sp>
        <p:nvSpPr>
          <p:cNvPr id="416" name="Google Shape;416;p69"/>
          <p:cNvSpPr txBox="1"/>
          <p:nvPr/>
        </p:nvSpPr>
        <p:spPr>
          <a:xfrm>
            <a:off x="5198750" y="1648968"/>
            <a:ext cx="1565100" cy="315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MAGE</a:t>
            </a:r>
            <a:endParaRPr b="0" i="0" sz="1800" u="none" cap="none" strike="noStrike">
              <a:solidFill>
                <a:srgbClr val="FF0000"/>
              </a:solidFill>
              <a:latin typeface="Shadows Into Light"/>
              <a:ea typeface="Shadows Into Light"/>
              <a:cs typeface="Shadows Into Light"/>
              <a:sym typeface="Shadows Into Light"/>
            </a:endParaRPr>
          </a:p>
        </p:txBody>
      </p:sp>
      <p:sp>
        <p:nvSpPr>
          <p:cNvPr id="417" name="Google Shape;417;p69"/>
          <p:cNvSpPr txBox="1"/>
          <p:nvPr/>
        </p:nvSpPr>
        <p:spPr>
          <a:xfrm>
            <a:off x="5179534" y="2106168"/>
            <a:ext cx="1785900" cy="123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NAME</a:t>
            </a:r>
            <a:endParaRPr b="0" i="0" sz="18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MAX HP</a:t>
            </a:r>
            <a:endParaRPr b="0" i="0" sz="18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CURRENT HP</a:t>
            </a:r>
            <a:endParaRPr b="0" i="0" sz="1800" u="none" cap="none" strike="noStrike">
              <a:solidFill>
                <a:srgbClr val="FF0000"/>
              </a:solidFill>
              <a:latin typeface="Shadows Into Light"/>
              <a:ea typeface="Shadows Into Light"/>
              <a:cs typeface="Shadows Into Light"/>
              <a:sym typeface="Shadows Into Light"/>
            </a:endParaRPr>
          </a:p>
        </p:txBody>
      </p:sp>
      <p:sp>
        <p:nvSpPr>
          <p:cNvPr id="418" name="Google Shape;418;p69"/>
          <p:cNvSpPr txBox="1"/>
          <p:nvPr/>
        </p:nvSpPr>
        <p:spPr>
          <a:xfrm>
            <a:off x="5274950" y="3553968"/>
            <a:ext cx="1565100" cy="123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ATTACK</a:t>
            </a:r>
            <a:endParaRPr b="0" i="0" sz="18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ATTACKED</a:t>
            </a:r>
            <a:endParaRPr b="0" i="0" sz="18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HEAL</a:t>
            </a:r>
            <a:endParaRPr b="0" i="0" sz="18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IS CONSCIOUS?</a:t>
            </a:r>
            <a:endParaRPr b="0" i="0" sz="1800" u="none" cap="none" strike="noStrike">
              <a:solidFill>
                <a:srgbClr val="FF0000"/>
              </a:solidFill>
              <a:latin typeface="Shadows Into Light"/>
              <a:ea typeface="Shadows Into Light"/>
              <a:cs typeface="Shadows Into Light"/>
              <a:sym typeface="Shadows Into Light"/>
            </a:endParaRPr>
          </a:p>
        </p:txBody>
      </p:sp>
      <p:sp>
        <p:nvSpPr>
          <p:cNvPr id="419" name="Google Shape;419;p69"/>
          <p:cNvSpPr txBox="1"/>
          <p:nvPr/>
        </p:nvSpPr>
        <p:spPr>
          <a:xfrm>
            <a:off x="7027550" y="1648968"/>
            <a:ext cx="1565100" cy="315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FIGHTER</a:t>
            </a:r>
            <a:endParaRPr b="0" i="0" sz="1800" u="none" cap="none" strike="noStrike">
              <a:solidFill>
                <a:srgbClr val="FF0000"/>
              </a:solidFill>
              <a:latin typeface="Shadows Into Light"/>
              <a:ea typeface="Shadows Into Light"/>
              <a:cs typeface="Shadows Into Light"/>
              <a:sym typeface="Shadows Into Light"/>
            </a:endParaRPr>
          </a:p>
        </p:txBody>
      </p:sp>
      <p:sp>
        <p:nvSpPr>
          <p:cNvPr id="420" name="Google Shape;420;p69"/>
          <p:cNvSpPr txBox="1"/>
          <p:nvPr/>
        </p:nvSpPr>
        <p:spPr>
          <a:xfrm>
            <a:off x="6963184" y="2106168"/>
            <a:ext cx="1785900" cy="123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NAME</a:t>
            </a:r>
            <a:endParaRPr b="0" i="0" sz="18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MAX HP</a:t>
            </a:r>
            <a:endParaRPr b="0" i="0" sz="18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CURRENT HP</a:t>
            </a:r>
            <a:endParaRPr b="0" i="0" sz="1800" u="none" cap="none" strike="noStrike">
              <a:solidFill>
                <a:srgbClr val="FF0000"/>
              </a:solidFill>
              <a:latin typeface="Shadows Into Light"/>
              <a:ea typeface="Shadows Into Light"/>
              <a:cs typeface="Shadows Into Light"/>
              <a:sym typeface="Shadows Into Light"/>
            </a:endParaRPr>
          </a:p>
        </p:txBody>
      </p:sp>
      <p:sp>
        <p:nvSpPr>
          <p:cNvPr id="421" name="Google Shape;421;p69"/>
          <p:cNvSpPr txBox="1"/>
          <p:nvPr/>
        </p:nvSpPr>
        <p:spPr>
          <a:xfrm>
            <a:off x="7027550" y="3553968"/>
            <a:ext cx="1565100" cy="123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ATTACK</a:t>
            </a:r>
            <a:endParaRPr b="0" i="0" sz="18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ATTACKED</a:t>
            </a:r>
            <a:endParaRPr b="0" i="0" sz="18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HEAL</a:t>
            </a:r>
            <a:endParaRPr b="0" i="0" sz="18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IS CONSCIOUS?</a:t>
            </a:r>
            <a:endParaRPr b="0" i="0" sz="1800" u="none" cap="none" strike="noStrike">
              <a:solidFill>
                <a:srgbClr val="FF0000"/>
              </a:solidFill>
              <a:latin typeface="Shadows Into Light"/>
              <a:ea typeface="Shadows Into Light"/>
              <a:cs typeface="Shadows Into Light"/>
              <a:sym typeface="Shadows Into Light"/>
            </a:endParaRPr>
          </a:p>
        </p:txBody>
      </p:sp>
      <p:sp>
        <p:nvSpPr>
          <p:cNvPr id="422" name="Google Shape;422;p69"/>
          <p:cNvSpPr txBox="1"/>
          <p:nvPr/>
        </p:nvSpPr>
        <p:spPr>
          <a:xfrm>
            <a:off x="51775" y="1574350"/>
            <a:ext cx="2381700" cy="21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lt2"/>
                </a:solidFill>
                <a:latin typeface="Roboto"/>
                <a:ea typeface="Roboto"/>
                <a:cs typeface="Roboto"/>
                <a:sym typeface="Roboto"/>
              </a:rPr>
              <a:t>Things to Note:</a:t>
            </a:r>
            <a:endParaRPr b="0" i="0" sz="1300" u="none" cap="none" strike="noStrike">
              <a:solidFill>
                <a:schemeClr val="lt2"/>
              </a:solidFill>
              <a:latin typeface="Roboto"/>
              <a:ea typeface="Roboto"/>
              <a:cs typeface="Roboto"/>
              <a:sym typeface="Roboto"/>
            </a:endParaRPr>
          </a:p>
          <a:p>
            <a:pPr indent="-311150" lvl="0" marL="457200" marR="0" rtl="0" algn="l">
              <a:lnSpc>
                <a:spcPct val="100000"/>
              </a:lnSpc>
              <a:spcBef>
                <a:spcPts val="0"/>
              </a:spcBef>
              <a:spcAft>
                <a:spcPts val="0"/>
              </a:spcAft>
              <a:buClr>
                <a:schemeClr val="lt2"/>
              </a:buClr>
              <a:buSzPts val="1300"/>
              <a:buFont typeface="Lato"/>
              <a:buChar char="●"/>
            </a:pPr>
            <a:r>
              <a:rPr b="0" i="0" lang="en" sz="1300" u="none" cap="none" strike="noStrike">
                <a:solidFill>
                  <a:schemeClr val="lt2"/>
                </a:solidFill>
                <a:latin typeface="Roboto"/>
                <a:ea typeface="Roboto"/>
                <a:cs typeface="Roboto"/>
                <a:sym typeface="Roboto"/>
              </a:rPr>
              <a:t>All goats have a </a:t>
            </a:r>
            <a:r>
              <a:rPr b="1" i="0" lang="en" sz="1300" u="sng" cap="none" strike="noStrike">
                <a:solidFill>
                  <a:srgbClr val="FF0000"/>
                </a:solidFill>
                <a:latin typeface="Roboto"/>
                <a:ea typeface="Roboto"/>
                <a:cs typeface="Roboto"/>
                <a:sym typeface="Roboto"/>
              </a:rPr>
              <a:t>name</a:t>
            </a:r>
            <a:r>
              <a:rPr b="0" i="0" lang="en" sz="1300" u="none" cap="none" strike="noStrike">
                <a:solidFill>
                  <a:schemeClr val="lt2"/>
                </a:solidFill>
                <a:latin typeface="Roboto"/>
                <a:ea typeface="Roboto"/>
                <a:cs typeface="Roboto"/>
                <a:sym typeface="Roboto"/>
              </a:rPr>
              <a:t>, e.g. “Hairy Potter.”</a:t>
            </a:r>
            <a:endParaRPr b="0" i="0" sz="1300" u="none" cap="none" strike="noStrike">
              <a:solidFill>
                <a:schemeClr val="lt2"/>
              </a:solidFill>
              <a:latin typeface="Roboto"/>
              <a:ea typeface="Roboto"/>
              <a:cs typeface="Roboto"/>
              <a:sym typeface="Roboto"/>
            </a:endParaRPr>
          </a:p>
          <a:p>
            <a:pPr indent="-311150" lvl="0" marL="457200" marR="0" rtl="0" algn="l">
              <a:lnSpc>
                <a:spcPct val="100000"/>
              </a:lnSpc>
              <a:spcBef>
                <a:spcPts val="0"/>
              </a:spcBef>
              <a:spcAft>
                <a:spcPts val="0"/>
              </a:spcAft>
              <a:buClr>
                <a:schemeClr val="lt2"/>
              </a:buClr>
              <a:buSzPts val="1300"/>
              <a:buFont typeface="Lato"/>
              <a:buChar char="●"/>
            </a:pPr>
            <a:r>
              <a:rPr b="0" i="0" lang="en" sz="1300" u="none" cap="none" strike="noStrike">
                <a:solidFill>
                  <a:schemeClr val="lt2"/>
                </a:solidFill>
                <a:latin typeface="Roboto"/>
                <a:ea typeface="Roboto"/>
                <a:cs typeface="Roboto"/>
                <a:sym typeface="Roboto"/>
              </a:rPr>
              <a:t>All goats can be </a:t>
            </a:r>
            <a:r>
              <a:rPr b="1" i="0" lang="en" sz="1300" u="sng" cap="none" strike="noStrike">
                <a:solidFill>
                  <a:srgbClr val="FF0000"/>
                </a:solidFill>
                <a:latin typeface="Roboto"/>
                <a:ea typeface="Roboto"/>
                <a:cs typeface="Roboto"/>
                <a:sym typeface="Roboto"/>
              </a:rPr>
              <a:t>healed</a:t>
            </a:r>
            <a:r>
              <a:rPr b="1" i="0" lang="en" sz="1300" u="sng" cap="none" strike="noStrike">
                <a:solidFill>
                  <a:schemeClr val="lt2"/>
                </a:solidFill>
                <a:latin typeface="Roboto"/>
                <a:ea typeface="Roboto"/>
                <a:cs typeface="Roboto"/>
                <a:sym typeface="Roboto"/>
              </a:rPr>
              <a:t> </a:t>
            </a:r>
            <a:r>
              <a:rPr b="0" i="0" lang="en" sz="1300" u="none" cap="none" strike="noStrike">
                <a:solidFill>
                  <a:schemeClr val="lt2"/>
                </a:solidFill>
                <a:latin typeface="Roboto"/>
                <a:ea typeface="Roboto"/>
                <a:cs typeface="Roboto"/>
                <a:sym typeface="Roboto"/>
              </a:rPr>
              <a:t>for some of their hit points.</a:t>
            </a:r>
            <a:endParaRPr b="0" i="0" sz="1300" u="none" cap="none" strike="noStrike">
              <a:solidFill>
                <a:schemeClr val="lt2"/>
              </a:solidFill>
              <a:latin typeface="Roboto"/>
              <a:ea typeface="Roboto"/>
              <a:cs typeface="Roboto"/>
              <a:sym typeface="Roboto"/>
            </a:endParaRPr>
          </a:p>
          <a:p>
            <a:pPr indent="-311150" lvl="0" marL="457200" marR="0" rtl="0" algn="l">
              <a:lnSpc>
                <a:spcPct val="100000"/>
              </a:lnSpc>
              <a:spcBef>
                <a:spcPts val="0"/>
              </a:spcBef>
              <a:spcAft>
                <a:spcPts val="0"/>
              </a:spcAft>
              <a:buClr>
                <a:schemeClr val="lt2"/>
              </a:buClr>
              <a:buSzPts val="1300"/>
              <a:buFont typeface="Lato"/>
              <a:buChar char="●"/>
            </a:pPr>
            <a:r>
              <a:rPr b="0" i="0" lang="en" sz="1300" u="none" cap="none" strike="noStrike">
                <a:solidFill>
                  <a:schemeClr val="lt2"/>
                </a:solidFill>
                <a:latin typeface="Roboto"/>
                <a:ea typeface="Roboto"/>
                <a:cs typeface="Roboto"/>
                <a:sym typeface="Roboto"/>
              </a:rPr>
              <a:t>If a goats current HP drops to 0, the goat is knocked </a:t>
            </a:r>
            <a:r>
              <a:rPr b="1" i="0" lang="en" sz="1300" u="sng" cap="none" strike="noStrike">
                <a:solidFill>
                  <a:srgbClr val="FF0000"/>
                </a:solidFill>
                <a:latin typeface="Roboto"/>
                <a:ea typeface="Roboto"/>
                <a:cs typeface="Roboto"/>
                <a:sym typeface="Roboto"/>
              </a:rPr>
              <a:t>unconscious</a:t>
            </a:r>
            <a:r>
              <a:rPr b="0" i="0" lang="en" sz="1300" u="none" cap="none" strike="noStrike">
                <a:solidFill>
                  <a:schemeClr val="lt2"/>
                </a:solidFill>
                <a:latin typeface="Roboto"/>
                <a:ea typeface="Roboto"/>
                <a:cs typeface="Roboto"/>
                <a:sym typeface="Roboto"/>
              </a:rPr>
              <a:t>.</a:t>
            </a:r>
            <a:endParaRPr b="0" i="0" sz="1300" u="none" cap="none" strike="noStrike">
              <a:solidFill>
                <a:schemeClr val="lt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70"/>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Clr>
                <a:srgbClr val="000000"/>
              </a:buClr>
              <a:buSzPts val="1600"/>
              <a:buFont typeface="Arial"/>
              <a:buNone/>
            </a:pPr>
            <a:r>
              <a:rPr lang="en"/>
              <a:t>An attack in GvT may do one of several predefined types of damage. Define a Java enumeration that can be used to represent the different damage types in a game of GvT.</a:t>
            </a:r>
            <a:endParaRPr/>
          </a:p>
        </p:txBody>
      </p:sp>
      <p:sp>
        <p:nvSpPr>
          <p:cNvPr id="428" name="Google Shape;428;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9" name="Google Shape;429;p70"/>
          <p:cNvSpPr txBox="1"/>
          <p:nvPr>
            <p:ph idx="2" type="body"/>
          </p:nvPr>
        </p:nvSpPr>
        <p:spPr>
          <a:xfrm>
            <a:off x="2969600" y="1479725"/>
            <a:ext cx="5971500" cy="28938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Create a new package under </a:t>
            </a:r>
            <a:r>
              <a:rPr lang="en" sz="1500">
                <a:latin typeface="Courier New"/>
                <a:ea typeface="Courier New"/>
                <a:cs typeface="Courier New"/>
                <a:sym typeface="Courier New"/>
              </a:rPr>
              <a:t>unit03</a:t>
            </a:r>
            <a:r>
              <a:rPr lang="en" sz="1500"/>
              <a:t> named "</a:t>
            </a:r>
            <a:r>
              <a:rPr lang="en" sz="1500">
                <a:latin typeface="Courier New"/>
                <a:ea typeface="Courier New"/>
                <a:cs typeface="Courier New"/>
                <a:sym typeface="Courier New"/>
              </a:rPr>
              <a:t>gvt</a:t>
            </a:r>
            <a:r>
              <a:rPr lang="en" sz="1500"/>
              <a:t>". You will use this package for all of the code that you write today. </a:t>
            </a:r>
            <a:endParaRPr sz="1500"/>
          </a:p>
          <a:p>
            <a:pPr indent="-323850" lvl="0" marL="457200" rtl="0" algn="l">
              <a:spcBef>
                <a:spcPts val="0"/>
              </a:spcBef>
              <a:spcAft>
                <a:spcPts val="0"/>
              </a:spcAft>
              <a:buSzPts val="1500"/>
              <a:buChar char="●"/>
            </a:pPr>
            <a:r>
              <a:rPr lang="en" sz="1500"/>
              <a:t>Create a new Java enum named "</a:t>
            </a:r>
            <a:r>
              <a:rPr lang="en" sz="1500">
                <a:latin typeface="Courier New"/>
                <a:ea typeface="Courier New"/>
                <a:cs typeface="Courier New"/>
                <a:sym typeface="Courier New"/>
              </a:rPr>
              <a:t>DamageType</a:t>
            </a:r>
            <a:r>
              <a:rPr lang="en" sz="1500"/>
              <a:t>". Enumerate the possible values for damage types including:</a:t>
            </a:r>
            <a:endParaRPr sz="1500"/>
          </a:p>
          <a:p>
            <a:pPr indent="-311150" lvl="1" marL="914400" rtl="0" algn="l">
              <a:spcBef>
                <a:spcPts val="0"/>
              </a:spcBef>
              <a:spcAft>
                <a:spcPts val="0"/>
              </a:spcAft>
              <a:buSzPts val="1300"/>
              <a:buChar char="○"/>
            </a:pPr>
            <a:r>
              <a:rPr lang="en" sz="1300"/>
              <a:t>Physical</a:t>
            </a:r>
            <a:endParaRPr sz="1300"/>
          </a:p>
          <a:p>
            <a:pPr indent="-311150" lvl="1" marL="914400" rtl="0" algn="l">
              <a:spcBef>
                <a:spcPts val="0"/>
              </a:spcBef>
              <a:spcAft>
                <a:spcPts val="0"/>
              </a:spcAft>
              <a:buSzPts val="1300"/>
              <a:buChar char="○"/>
            </a:pPr>
            <a:r>
              <a:rPr lang="en" sz="1300"/>
              <a:t>Magical</a:t>
            </a:r>
            <a:endParaRPr sz="1300"/>
          </a:p>
          <a:p>
            <a:pPr indent="-311150" lvl="1" marL="914400" rtl="0" algn="l">
              <a:spcBef>
                <a:spcPts val="0"/>
              </a:spcBef>
              <a:spcAft>
                <a:spcPts val="0"/>
              </a:spcAft>
              <a:buSzPts val="1300"/>
              <a:buChar char="○"/>
            </a:pPr>
            <a:r>
              <a:rPr lang="en" sz="1300"/>
              <a:t>Poison</a:t>
            </a:r>
            <a:endParaRPr sz="1300"/>
          </a:p>
          <a:p>
            <a:pPr indent="-311150" lvl="1" marL="914400" rtl="0" algn="l">
              <a:spcBef>
                <a:spcPts val="0"/>
              </a:spcBef>
              <a:spcAft>
                <a:spcPts val="0"/>
              </a:spcAft>
              <a:buSzPts val="1300"/>
              <a:buChar char="○"/>
            </a:pPr>
            <a:r>
              <a:rPr lang="en" sz="1300"/>
              <a:t>Holy</a:t>
            </a:r>
            <a:endParaRPr sz="1300"/>
          </a:p>
          <a:p>
            <a:pPr indent="-311150" lvl="1" marL="914400" rtl="0" algn="l">
              <a:spcBef>
                <a:spcPts val="0"/>
              </a:spcBef>
              <a:spcAft>
                <a:spcPts val="0"/>
              </a:spcAft>
              <a:buSzPts val="1300"/>
              <a:buChar char="○"/>
            </a:pPr>
            <a:r>
              <a:rPr lang="en" sz="1300"/>
              <a:t>Elemental</a:t>
            </a:r>
            <a:endParaRPr sz="1300"/>
          </a:p>
          <a:p>
            <a:pPr indent="-323850" lvl="0" marL="457200" rtl="0" algn="l">
              <a:spcBef>
                <a:spcPts val="0"/>
              </a:spcBef>
              <a:spcAft>
                <a:spcPts val="0"/>
              </a:spcAft>
              <a:buSzPts val="1500"/>
              <a:buChar char="●"/>
            </a:pPr>
            <a:r>
              <a:rPr lang="en" sz="1500"/>
              <a:t>There is no need to test your new </a:t>
            </a:r>
            <a:r>
              <a:rPr lang="en" sz="1500">
                <a:latin typeface="Courier New"/>
                <a:ea typeface="Courier New"/>
                <a:cs typeface="Courier New"/>
                <a:sym typeface="Courier New"/>
              </a:rPr>
              <a:t>enum</a:t>
            </a:r>
            <a:r>
              <a:rPr lang="en" sz="1500"/>
              <a:t>; you will be using it in the next activity.</a:t>
            </a:r>
            <a:endParaRPr sz="1500"/>
          </a:p>
        </p:txBody>
      </p:sp>
      <p:sp>
        <p:nvSpPr>
          <p:cNvPr id="430" name="Google Shape;430;p70"/>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Damage Types</a:t>
            </a:r>
            <a:endParaRPr/>
          </a:p>
        </p:txBody>
      </p:sp>
      <p:sp>
        <p:nvSpPr>
          <p:cNvPr id="431" name="Google Shape;431;p7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3.2</a:t>
            </a:r>
            <a:endParaRPr/>
          </a:p>
        </p:txBody>
      </p:sp>
      <p:pic>
        <p:nvPicPr>
          <p:cNvPr id="432" name="Google Shape;432;p70"/>
          <p:cNvPicPr preferRelativeResize="0"/>
          <p:nvPr/>
        </p:nvPicPr>
        <p:blipFill rotWithShape="1">
          <a:blip r:embed="rId3">
            <a:alphaModFix/>
          </a:blip>
          <a:srcRect b="0" l="0" r="0" t="0"/>
          <a:stretch/>
        </p:blipFill>
        <p:spPr>
          <a:xfrm>
            <a:off x="1521400" y="3257552"/>
            <a:ext cx="581625" cy="951750"/>
          </a:xfrm>
          <a:prstGeom prst="rect">
            <a:avLst/>
          </a:prstGeom>
          <a:noFill/>
          <a:ln>
            <a:noFill/>
          </a:ln>
        </p:spPr>
      </p:pic>
      <p:pic>
        <p:nvPicPr>
          <p:cNvPr id="433" name="Google Shape;433;p70"/>
          <p:cNvPicPr preferRelativeResize="0"/>
          <p:nvPr/>
        </p:nvPicPr>
        <p:blipFill rotWithShape="1">
          <a:blip r:embed="rId4">
            <a:alphaModFix/>
          </a:blip>
          <a:srcRect b="0" l="0" r="0" t="0"/>
          <a:stretch/>
        </p:blipFill>
        <p:spPr>
          <a:xfrm>
            <a:off x="1617533" y="1469250"/>
            <a:ext cx="465665" cy="737430"/>
          </a:xfrm>
          <a:prstGeom prst="rect">
            <a:avLst/>
          </a:prstGeom>
          <a:noFill/>
          <a:ln>
            <a:noFill/>
          </a:ln>
        </p:spPr>
      </p:pic>
      <p:pic>
        <p:nvPicPr>
          <p:cNvPr id="434" name="Google Shape;434;p70"/>
          <p:cNvPicPr preferRelativeResize="0"/>
          <p:nvPr/>
        </p:nvPicPr>
        <p:blipFill rotWithShape="1">
          <a:blip r:embed="rId5">
            <a:alphaModFix/>
          </a:blip>
          <a:srcRect b="0" l="0" r="0" t="0"/>
          <a:stretch/>
        </p:blipFill>
        <p:spPr>
          <a:xfrm>
            <a:off x="1281191" y="1770662"/>
            <a:ext cx="1012315" cy="389199"/>
          </a:xfrm>
          <a:prstGeom prst="rect">
            <a:avLst/>
          </a:prstGeom>
          <a:noFill/>
          <a:ln>
            <a:noFill/>
          </a:ln>
        </p:spPr>
      </p:pic>
      <p:pic>
        <p:nvPicPr>
          <p:cNvPr id="435" name="Google Shape;435;p70"/>
          <p:cNvPicPr preferRelativeResize="0"/>
          <p:nvPr/>
        </p:nvPicPr>
        <p:blipFill rotWithShape="1">
          <a:blip r:embed="rId6">
            <a:alphaModFix/>
          </a:blip>
          <a:srcRect b="0" l="0" r="0" t="0"/>
          <a:stretch/>
        </p:blipFill>
        <p:spPr>
          <a:xfrm>
            <a:off x="635383" y="1880366"/>
            <a:ext cx="615318" cy="169784"/>
          </a:xfrm>
          <a:prstGeom prst="rect">
            <a:avLst/>
          </a:prstGeom>
          <a:noFill/>
          <a:ln>
            <a:noFill/>
          </a:ln>
        </p:spPr>
      </p:pic>
      <p:sp>
        <p:nvSpPr>
          <p:cNvPr id="436" name="Google Shape;436;p70"/>
          <p:cNvSpPr txBox="1"/>
          <p:nvPr/>
        </p:nvSpPr>
        <p:spPr>
          <a:xfrm>
            <a:off x="205650" y="2494950"/>
            <a:ext cx="2693400" cy="519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Goat Mage’s </a:t>
            </a:r>
            <a:r>
              <a:rPr b="0" i="1" lang="en" sz="1200" u="none" cap="none" strike="noStrike">
                <a:solidFill>
                  <a:srgbClr val="000000"/>
                </a:solidFill>
                <a:latin typeface="Arial"/>
                <a:ea typeface="Arial"/>
                <a:cs typeface="Arial"/>
                <a:sym typeface="Arial"/>
              </a:rPr>
              <a:t>Magic Missile</a:t>
            </a:r>
            <a:r>
              <a:rPr b="0" i="0" lang="en" sz="1200" u="none" cap="none" strike="noStrike">
                <a:solidFill>
                  <a:srgbClr val="000000"/>
                </a:solidFill>
                <a:latin typeface="Arial"/>
                <a:ea typeface="Arial"/>
                <a:cs typeface="Arial"/>
                <a:sym typeface="Arial"/>
              </a:rPr>
              <a:t> attack does </a:t>
            </a:r>
            <a:r>
              <a:rPr b="0" i="1" lang="en" sz="1200" u="none" cap="none" strike="noStrike">
                <a:solidFill>
                  <a:srgbClr val="000000"/>
                </a:solidFill>
                <a:latin typeface="Arial"/>
                <a:ea typeface="Arial"/>
                <a:cs typeface="Arial"/>
                <a:sym typeface="Arial"/>
              </a:rPr>
              <a:t>Magical</a:t>
            </a:r>
            <a:r>
              <a:rPr b="0" i="0" lang="en" sz="1200" u="none" cap="none" strike="noStrike">
                <a:solidFill>
                  <a:srgbClr val="000000"/>
                </a:solidFill>
                <a:latin typeface="Arial"/>
                <a:ea typeface="Arial"/>
                <a:cs typeface="Arial"/>
                <a:sym typeface="Arial"/>
              </a:rPr>
              <a:t> damage...</a:t>
            </a:r>
            <a:endParaRPr b="0" i="0" sz="1200" u="none" cap="none" strike="noStrike">
              <a:solidFill>
                <a:srgbClr val="000000"/>
              </a:solidFill>
              <a:latin typeface="Arial"/>
              <a:ea typeface="Arial"/>
              <a:cs typeface="Arial"/>
              <a:sym typeface="Arial"/>
            </a:endParaRPr>
          </a:p>
        </p:txBody>
      </p:sp>
      <p:pic>
        <p:nvPicPr>
          <p:cNvPr id="437" name="Google Shape;437;p70"/>
          <p:cNvPicPr preferRelativeResize="0"/>
          <p:nvPr/>
        </p:nvPicPr>
        <p:blipFill rotWithShape="1">
          <a:blip r:embed="rId6">
            <a:alphaModFix/>
          </a:blip>
          <a:srcRect b="0" l="0" r="0" t="0"/>
          <a:stretch/>
        </p:blipFill>
        <p:spPr>
          <a:xfrm>
            <a:off x="473850" y="1651181"/>
            <a:ext cx="615318" cy="169784"/>
          </a:xfrm>
          <a:prstGeom prst="rect">
            <a:avLst/>
          </a:prstGeom>
          <a:noFill/>
          <a:ln>
            <a:noFill/>
          </a:ln>
        </p:spPr>
      </p:pic>
      <p:pic>
        <p:nvPicPr>
          <p:cNvPr id="438" name="Google Shape;438;p70"/>
          <p:cNvPicPr preferRelativeResize="0"/>
          <p:nvPr/>
        </p:nvPicPr>
        <p:blipFill rotWithShape="1">
          <a:blip r:embed="rId6">
            <a:alphaModFix/>
          </a:blip>
          <a:srcRect b="0" l="0" r="0" t="0"/>
          <a:stretch/>
        </p:blipFill>
        <p:spPr>
          <a:xfrm>
            <a:off x="473850" y="2103938"/>
            <a:ext cx="615318" cy="169784"/>
          </a:xfrm>
          <a:prstGeom prst="rect">
            <a:avLst/>
          </a:prstGeom>
          <a:noFill/>
          <a:ln>
            <a:noFill/>
          </a:ln>
        </p:spPr>
      </p:pic>
      <p:pic>
        <p:nvPicPr>
          <p:cNvPr id="439" name="Google Shape;439;p70"/>
          <p:cNvPicPr preferRelativeResize="0"/>
          <p:nvPr/>
        </p:nvPicPr>
        <p:blipFill rotWithShape="1">
          <a:blip r:embed="rId7">
            <a:alphaModFix/>
          </a:blip>
          <a:srcRect b="0" l="0" r="0" t="0"/>
          <a:stretch/>
        </p:blipFill>
        <p:spPr>
          <a:xfrm rot="-2332448">
            <a:off x="868753" y="3093309"/>
            <a:ext cx="613892" cy="1280235"/>
          </a:xfrm>
          <a:prstGeom prst="rect">
            <a:avLst/>
          </a:prstGeom>
          <a:noFill/>
          <a:ln>
            <a:noFill/>
          </a:ln>
        </p:spPr>
      </p:pic>
      <p:sp>
        <p:nvSpPr>
          <p:cNvPr id="440" name="Google Shape;440;p70"/>
          <p:cNvSpPr txBox="1"/>
          <p:nvPr/>
        </p:nvSpPr>
        <p:spPr>
          <a:xfrm>
            <a:off x="205650" y="4323750"/>
            <a:ext cx="2693400" cy="519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...while Goat Fighter's </a:t>
            </a:r>
            <a:r>
              <a:rPr b="0" i="1" lang="en" sz="1200" u="none" cap="none" strike="noStrike">
                <a:solidFill>
                  <a:srgbClr val="000000"/>
                </a:solidFill>
                <a:latin typeface="Arial"/>
                <a:ea typeface="Arial"/>
                <a:cs typeface="Arial"/>
                <a:sym typeface="Arial"/>
              </a:rPr>
              <a:t>Cleave</a:t>
            </a:r>
            <a:r>
              <a:rPr b="0" i="0" lang="en" sz="1200" u="none" cap="none" strike="noStrike">
                <a:solidFill>
                  <a:srgbClr val="000000"/>
                </a:solidFill>
                <a:latin typeface="Arial"/>
                <a:ea typeface="Arial"/>
                <a:cs typeface="Arial"/>
                <a:sym typeface="Arial"/>
              </a:rPr>
              <a:t> attack does </a:t>
            </a:r>
            <a:r>
              <a:rPr b="0" i="1" lang="en" sz="1200" u="none" cap="none" strike="noStrike">
                <a:solidFill>
                  <a:srgbClr val="000000"/>
                </a:solidFill>
                <a:latin typeface="Arial"/>
                <a:ea typeface="Arial"/>
                <a:cs typeface="Arial"/>
                <a:sym typeface="Arial"/>
              </a:rPr>
              <a:t>physical</a:t>
            </a:r>
            <a:r>
              <a:rPr b="0" i="0" lang="en" sz="1200" u="none" cap="none" strike="noStrike">
                <a:solidFill>
                  <a:srgbClr val="000000"/>
                </a:solidFill>
                <a:latin typeface="Arial"/>
                <a:ea typeface="Arial"/>
                <a:cs typeface="Arial"/>
                <a:sym typeface="Arial"/>
              </a:rPr>
              <a:t> damage.</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71"/>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Attacks in GvT are too complex to be represented by a simple primitive type. Each attack has a name, a number of hits (each of which has its own damage amount), and a damage type. Create a new class to represent an attack.</a:t>
            </a:r>
            <a:endParaRPr/>
          </a:p>
        </p:txBody>
      </p:sp>
      <p:sp>
        <p:nvSpPr>
          <p:cNvPr id="446" name="Google Shape;446;p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7" name="Google Shape;447;p71"/>
          <p:cNvSpPr txBox="1"/>
          <p:nvPr>
            <p:ph idx="2" type="body"/>
          </p:nvPr>
        </p:nvSpPr>
        <p:spPr>
          <a:xfrm>
            <a:off x="3026425" y="1708325"/>
            <a:ext cx="5914800" cy="28383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Create a new Java class named "</a:t>
            </a:r>
            <a:r>
              <a:rPr lang="en" sz="1600">
                <a:solidFill>
                  <a:srgbClr val="FF0000"/>
                </a:solidFill>
                <a:latin typeface="Courier New"/>
                <a:ea typeface="Courier New"/>
                <a:cs typeface="Courier New"/>
                <a:sym typeface="Courier New"/>
              </a:rPr>
              <a:t>Attack</a:t>
            </a:r>
            <a:r>
              <a:rPr lang="en" sz="1600"/>
              <a:t>". An attack includes:</a:t>
            </a:r>
            <a:endParaRPr sz="1600"/>
          </a:p>
          <a:p>
            <a:pPr indent="-317500" lvl="1" marL="914400" rtl="0" algn="l">
              <a:spcBef>
                <a:spcPts val="0"/>
              </a:spcBef>
              <a:spcAft>
                <a:spcPts val="0"/>
              </a:spcAft>
              <a:buSzPts val="1400"/>
              <a:buChar char="○"/>
            </a:pPr>
            <a:r>
              <a:rPr lang="en" sz="1400"/>
              <a:t>A </a:t>
            </a:r>
            <a:r>
              <a:rPr b="1" i="1" lang="en" sz="1400">
                <a:solidFill>
                  <a:srgbClr val="FF0000"/>
                </a:solidFill>
              </a:rPr>
              <a:t>name</a:t>
            </a:r>
            <a:r>
              <a:rPr lang="en" sz="1400"/>
              <a:t>, e.g. "Magic Missiles".</a:t>
            </a:r>
            <a:endParaRPr sz="1400"/>
          </a:p>
          <a:p>
            <a:pPr indent="-317500" lvl="1" marL="914400" rtl="0" algn="l">
              <a:spcBef>
                <a:spcPts val="0"/>
              </a:spcBef>
              <a:spcAft>
                <a:spcPts val="0"/>
              </a:spcAft>
              <a:buSzPts val="1400"/>
              <a:buChar char="○"/>
            </a:pPr>
            <a:r>
              <a:rPr lang="en" sz="1400"/>
              <a:t>A variable number of </a:t>
            </a:r>
            <a:r>
              <a:rPr b="1" i="1" lang="en" sz="1400">
                <a:solidFill>
                  <a:srgbClr val="FF0000"/>
                </a:solidFill>
              </a:rPr>
              <a:t>hits</a:t>
            </a:r>
            <a:r>
              <a:rPr lang="en" sz="1400"/>
              <a:t>, each of which is an integer value (hint: use an array).</a:t>
            </a:r>
            <a:endParaRPr sz="1400"/>
          </a:p>
          <a:p>
            <a:pPr indent="-317500" lvl="1" marL="914400" rtl="0" algn="l">
              <a:spcBef>
                <a:spcPts val="0"/>
              </a:spcBef>
              <a:spcAft>
                <a:spcPts val="0"/>
              </a:spcAft>
              <a:buSzPts val="1400"/>
              <a:buChar char="○"/>
            </a:pPr>
            <a:r>
              <a:rPr lang="en" sz="1400"/>
              <a:t>A </a:t>
            </a:r>
            <a:r>
              <a:rPr b="1" i="1" lang="en" sz="1400">
                <a:solidFill>
                  <a:srgbClr val="FF0000"/>
                </a:solidFill>
              </a:rPr>
              <a:t>damage type</a:t>
            </a:r>
            <a:r>
              <a:rPr lang="en" sz="1400"/>
              <a:t>.</a:t>
            </a:r>
            <a:endParaRPr b="1" i="1" sz="1400">
              <a:solidFill>
                <a:srgbClr val="FF0000"/>
              </a:solidFill>
            </a:endParaRPr>
          </a:p>
          <a:p>
            <a:pPr indent="-330200" lvl="0" marL="457200" rtl="0" algn="l">
              <a:spcBef>
                <a:spcPts val="0"/>
              </a:spcBef>
              <a:spcAft>
                <a:spcPts val="0"/>
              </a:spcAft>
              <a:buSzPts val="1600"/>
              <a:buChar char="●"/>
            </a:pPr>
            <a:r>
              <a:rPr lang="en" sz="1600"/>
              <a:t>Create a </a:t>
            </a:r>
            <a:r>
              <a:rPr b="1" i="1" lang="en" sz="1600">
                <a:solidFill>
                  <a:srgbClr val="FF0000"/>
                </a:solidFill>
              </a:rPr>
              <a:t>constructor</a:t>
            </a:r>
            <a:r>
              <a:rPr lang="en" sz="1600"/>
              <a:t> that sets all three fields.</a:t>
            </a:r>
            <a:endParaRPr sz="1600"/>
          </a:p>
          <a:p>
            <a:pPr indent="-330200" lvl="0" marL="457200" rtl="0" algn="l">
              <a:spcBef>
                <a:spcPts val="0"/>
              </a:spcBef>
              <a:spcAft>
                <a:spcPts val="0"/>
              </a:spcAft>
              <a:buSzPts val="1600"/>
              <a:buChar char="●"/>
            </a:pPr>
            <a:r>
              <a:rPr lang="en" sz="1600"/>
              <a:t>Create an </a:t>
            </a:r>
            <a:r>
              <a:rPr b="1" i="1" lang="en" sz="1600">
                <a:solidFill>
                  <a:srgbClr val="FF0000"/>
                </a:solidFill>
              </a:rPr>
              <a:t>accessor</a:t>
            </a:r>
            <a:r>
              <a:rPr lang="en" sz="1600"/>
              <a:t> for each of the fields.</a:t>
            </a:r>
            <a:endParaRPr sz="1600"/>
          </a:p>
          <a:p>
            <a:pPr indent="-330200" lvl="0" marL="457200" rtl="0" algn="l">
              <a:spcBef>
                <a:spcPts val="0"/>
              </a:spcBef>
              <a:spcAft>
                <a:spcPts val="0"/>
              </a:spcAft>
              <a:buSzPts val="1600"/>
              <a:buChar char="●"/>
            </a:pPr>
            <a:r>
              <a:rPr lang="en" sz="1600"/>
              <a:t>Once assigned, none of the values in an attack should ever change, so there is no need for any </a:t>
            </a:r>
            <a:r>
              <a:rPr b="1" i="1" lang="en" sz="1600">
                <a:solidFill>
                  <a:srgbClr val="FF0000"/>
                </a:solidFill>
              </a:rPr>
              <a:t>mutators</a:t>
            </a:r>
            <a:r>
              <a:rPr lang="en" sz="1600"/>
              <a:t>.</a:t>
            </a:r>
            <a:endParaRPr sz="1600"/>
          </a:p>
        </p:txBody>
      </p:sp>
      <p:sp>
        <p:nvSpPr>
          <p:cNvPr id="448" name="Google Shape;448;p7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Plan of Attack</a:t>
            </a:r>
            <a:endParaRPr/>
          </a:p>
        </p:txBody>
      </p:sp>
      <p:sp>
        <p:nvSpPr>
          <p:cNvPr id="449" name="Google Shape;449;p7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3.3</a:t>
            </a:r>
            <a:endParaRPr/>
          </a:p>
        </p:txBody>
      </p:sp>
      <p:sp>
        <p:nvSpPr>
          <p:cNvPr id="450" name="Google Shape;450;p71"/>
          <p:cNvSpPr txBox="1"/>
          <p:nvPr/>
        </p:nvSpPr>
        <p:spPr>
          <a:xfrm>
            <a:off x="205650" y="3595725"/>
            <a:ext cx="2693400" cy="693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The Mage's primary attack is </a:t>
            </a:r>
            <a:r>
              <a:rPr b="0" i="1" lang="en" sz="1200" u="none" cap="none" strike="noStrike">
                <a:solidFill>
                  <a:srgbClr val="000000"/>
                </a:solidFill>
                <a:latin typeface="Arial"/>
                <a:ea typeface="Arial"/>
                <a:cs typeface="Arial"/>
                <a:sym typeface="Arial"/>
              </a:rPr>
              <a:t>"Magic Missiles."</a:t>
            </a:r>
            <a:r>
              <a:rPr b="0" i="0" lang="en" sz="1200" u="none" cap="none" strike="noStrike">
                <a:solidFill>
                  <a:srgbClr val="000000"/>
                </a:solidFill>
                <a:latin typeface="Arial"/>
                <a:ea typeface="Arial"/>
                <a:cs typeface="Arial"/>
                <a:sym typeface="Arial"/>
              </a:rPr>
              <a:t> It hits </a:t>
            </a:r>
            <a:r>
              <a:rPr b="0" i="1" lang="en" sz="1200" u="none" cap="none" strike="noStrike">
                <a:solidFill>
                  <a:srgbClr val="000000"/>
                </a:solidFill>
                <a:latin typeface="Arial"/>
                <a:ea typeface="Arial"/>
                <a:cs typeface="Arial"/>
                <a:sym typeface="Arial"/>
              </a:rPr>
              <a:t>4 times</a:t>
            </a:r>
            <a:r>
              <a:rPr b="0" i="0" lang="en" sz="1200" u="none" cap="none" strike="noStrike">
                <a:solidFill>
                  <a:srgbClr val="000000"/>
                </a:solidFill>
                <a:latin typeface="Arial"/>
                <a:ea typeface="Arial"/>
                <a:cs typeface="Arial"/>
                <a:sym typeface="Arial"/>
              </a:rPr>
              <a:t> for </a:t>
            </a:r>
            <a:r>
              <a:rPr b="0" i="1" lang="en" sz="1200" u="none" cap="none" strike="noStrike">
                <a:solidFill>
                  <a:srgbClr val="000000"/>
                </a:solidFill>
                <a:latin typeface="Arial"/>
                <a:ea typeface="Arial"/>
                <a:cs typeface="Arial"/>
                <a:sym typeface="Arial"/>
              </a:rPr>
              <a:t>9 points</a:t>
            </a:r>
            <a:r>
              <a:rPr b="0" i="0" lang="en" sz="1200" u="none" cap="none" strike="noStrike">
                <a:solidFill>
                  <a:srgbClr val="000000"/>
                </a:solidFill>
                <a:latin typeface="Arial"/>
                <a:ea typeface="Arial"/>
                <a:cs typeface="Arial"/>
                <a:sym typeface="Arial"/>
              </a:rPr>
              <a:t> of </a:t>
            </a:r>
            <a:r>
              <a:rPr b="0" i="1" lang="en" sz="1200" u="none" cap="none" strike="noStrike">
                <a:solidFill>
                  <a:srgbClr val="000000"/>
                </a:solidFill>
                <a:latin typeface="Arial"/>
                <a:ea typeface="Arial"/>
                <a:cs typeface="Arial"/>
                <a:sym typeface="Arial"/>
              </a:rPr>
              <a:t>magical damage</a:t>
            </a:r>
            <a:r>
              <a:rPr b="0" i="0" lang="en" sz="12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p:txBody>
      </p:sp>
      <p:grpSp>
        <p:nvGrpSpPr>
          <p:cNvPr id="451" name="Google Shape;451;p71"/>
          <p:cNvGrpSpPr/>
          <p:nvPr/>
        </p:nvGrpSpPr>
        <p:grpSpPr>
          <a:xfrm>
            <a:off x="205591" y="2155021"/>
            <a:ext cx="2693357" cy="1176912"/>
            <a:chOff x="473850" y="1774050"/>
            <a:chExt cx="2272875" cy="993175"/>
          </a:xfrm>
        </p:grpSpPr>
        <p:pic>
          <p:nvPicPr>
            <p:cNvPr id="452" name="Google Shape;452;p71"/>
            <p:cNvPicPr preferRelativeResize="0"/>
            <p:nvPr/>
          </p:nvPicPr>
          <p:blipFill rotWithShape="1">
            <a:blip r:embed="rId3">
              <a:alphaModFix/>
            </a:blip>
            <a:srcRect b="0" l="0" r="0" t="0"/>
            <a:stretch/>
          </p:blipFill>
          <p:spPr>
            <a:xfrm>
              <a:off x="1902388" y="1774050"/>
              <a:ext cx="581648" cy="910407"/>
            </a:xfrm>
            <a:prstGeom prst="rect">
              <a:avLst/>
            </a:prstGeom>
            <a:noFill/>
            <a:ln>
              <a:noFill/>
            </a:ln>
          </p:spPr>
        </p:pic>
        <p:pic>
          <p:nvPicPr>
            <p:cNvPr id="453" name="Google Shape;453;p71"/>
            <p:cNvPicPr preferRelativeResize="0"/>
            <p:nvPr/>
          </p:nvPicPr>
          <p:blipFill rotWithShape="1">
            <a:blip r:embed="rId4">
              <a:alphaModFix/>
            </a:blip>
            <a:srcRect b="0" l="0" r="0" t="0"/>
            <a:stretch/>
          </p:blipFill>
          <p:spPr>
            <a:xfrm>
              <a:off x="1482274" y="2146163"/>
              <a:ext cx="1264451" cy="480493"/>
            </a:xfrm>
            <a:prstGeom prst="rect">
              <a:avLst/>
            </a:prstGeom>
            <a:noFill/>
            <a:ln>
              <a:noFill/>
            </a:ln>
          </p:spPr>
        </p:pic>
        <p:pic>
          <p:nvPicPr>
            <p:cNvPr id="454" name="Google Shape;454;p71"/>
            <p:cNvPicPr preferRelativeResize="0"/>
            <p:nvPr/>
          </p:nvPicPr>
          <p:blipFill rotWithShape="1">
            <a:blip r:embed="rId5">
              <a:alphaModFix/>
            </a:blip>
            <a:srcRect b="0" l="0" r="0" t="0"/>
            <a:stretch/>
          </p:blipFill>
          <p:spPr>
            <a:xfrm>
              <a:off x="675616" y="2281600"/>
              <a:ext cx="768574" cy="209610"/>
            </a:xfrm>
            <a:prstGeom prst="rect">
              <a:avLst/>
            </a:prstGeom>
            <a:noFill/>
            <a:ln>
              <a:noFill/>
            </a:ln>
          </p:spPr>
        </p:pic>
        <p:pic>
          <p:nvPicPr>
            <p:cNvPr id="455" name="Google Shape;455;p71"/>
            <p:cNvPicPr preferRelativeResize="0"/>
            <p:nvPr/>
          </p:nvPicPr>
          <p:blipFill rotWithShape="1">
            <a:blip r:embed="rId5">
              <a:alphaModFix/>
            </a:blip>
            <a:srcRect b="0" l="0" r="0" t="0"/>
            <a:stretch/>
          </p:blipFill>
          <p:spPr>
            <a:xfrm>
              <a:off x="473850" y="1998656"/>
              <a:ext cx="768574" cy="209610"/>
            </a:xfrm>
            <a:prstGeom prst="rect">
              <a:avLst/>
            </a:prstGeom>
            <a:noFill/>
            <a:ln>
              <a:noFill/>
            </a:ln>
          </p:spPr>
        </p:pic>
        <p:pic>
          <p:nvPicPr>
            <p:cNvPr id="456" name="Google Shape;456;p71"/>
            <p:cNvPicPr preferRelativeResize="0"/>
            <p:nvPr/>
          </p:nvPicPr>
          <p:blipFill rotWithShape="1">
            <a:blip r:embed="rId5">
              <a:alphaModFix/>
            </a:blip>
            <a:srcRect b="0" l="0" r="0" t="0"/>
            <a:stretch/>
          </p:blipFill>
          <p:spPr>
            <a:xfrm>
              <a:off x="473850" y="2557615"/>
              <a:ext cx="768574" cy="209610"/>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2"/>
          <p:cNvSpPr txBox="1"/>
          <p:nvPr>
            <p:ph idx="1" type="body"/>
          </p:nvPr>
        </p:nvSpPr>
        <p:spPr>
          <a:xfrm>
            <a:off x="65250" y="884025"/>
            <a:ext cx="89559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A professional software developer will design the software that they write </a:t>
            </a:r>
            <a:r>
              <a:rPr b="1" i="1" lang="en"/>
              <a:t>first</a:t>
            </a:r>
            <a:r>
              <a:rPr lang="en"/>
              <a:t> and then implement their design. Software developers must be able to read UML class diagrams and implement classes based on the design. Use the UML class diagram to begin implementing the Mage class.</a:t>
            </a:r>
            <a:endParaRPr/>
          </a:p>
        </p:txBody>
      </p:sp>
      <p:sp>
        <p:nvSpPr>
          <p:cNvPr id="462" name="Google Shape;462;p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3" name="Google Shape;463;p72"/>
          <p:cNvSpPr txBox="1"/>
          <p:nvPr>
            <p:ph idx="2" type="body"/>
          </p:nvPr>
        </p:nvSpPr>
        <p:spPr>
          <a:xfrm>
            <a:off x="3196925" y="2165525"/>
            <a:ext cx="5744100" cy="27921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Create a new Java class named "</a:t>
            </a:r>
            <a:r>
              <a:rPr lang="en" sz="1500">
                <a:solidFill>
                  <a:srgbClr val="FF0000"/>
                </a:solidFill>
                <a:latin typeface="Courier New"/>
                <a:ea typeface="Courier New"/>
                <a:cs typeface="Courier New"/>
                <a:sym typeface="Courier New"/>
              </a:rPr>
              <a:t>Mage</a:t>
            </a:r>
            <a:r>
              <a:rPr lang="en" sz="1500"/>
              <a:t>" and begin implementing the class.</a:t>
            </a:r>
            <a:endParaRPr/>
          </a:p>
          <a:p>
            <a:pPr indent="-311150" lvl="1" marL="914400" rtl="0" algn="l">
              <a:spcBef>
                <a:spcPts val="0"/>
              </a:spcBef>
              <a:spcAft>
                <a:spcPts val="0"/>
              </a:spcAft>
              <a:buSzPts val="1300"/>
              <a:buChar char="○"/>
            </a:pPr>
            <a:r>
              <a:rPr lang="en" sz="1300"/>
              <a:t>Add the necessary fields.</a:t>
            </a:r>
            <a:endParaRPr sz="1300">
              <a:solidFill>
                <a:srgbClr val="FF0000"/>
              </a:solidFill>
            </a:endParaRPr>
          </a:p>
          <a:p>
            <a:pPr indent="-298450" lvl="1" marL="914400" rtl="0" algn="l">
              <a:spcBef>
                <a:spcPts val="0"/>
              </a:spcBef>
              <a:spcAft>
                <a:spcPts val="0"/>
              </a:spcAft>
              <a:buSzPts val="1100"/>
              <a:buChar char="○"/>
            </a:pPr>
            <a:r>
              <a:rPr lang="en" sz="1300"/>
              <a:t>Create a constructor that initializes the name and sets the current and max HP to the default values (120).</a:t>
            </a:r>
            <a:endParaRPr sz="1300"/>
          </a:p>
          <a:p>
            <a:pPr indent="-285750" lvl="1" marL="914400" rtl="0" algn="l">
              <a:spcBef>
                <a:spcPts val="0"/>
              </a:spcBef>
              <a:spcAft>
                <a:spcPts val="0"/>
              </a:spcAft>
              <a:buSzPts val="900"/>
              <a:buChar char="○"/>
            </a:pPr>
            <a:r>
              <a:rPr lang="en" sz="1300"/>
              <a:t>Add a </a:t>
            </a:r>
            <a:r>
              <a:rPr lang="en" sz="1300">
                <a:latin typeface="Courier New"/>
                <a:ea typeface="Courier New"/>
                <a:cs typeface="Courier New"/>
                <a:sym typeface="Courier New"/>
              </a:rPr>
              <a:t>toString()</a:t>
            </a:r>
            <a:r>
              <a:rPr lang="en" sz="1300"/>
              <a:t> that returns a String in the format </a:t>
            </a:r>
            <a:r>
              <a:rPr lang="en" sz="1300">
                <a:latin typeface="Courier New"/>
                <a:ea typeface="Courier New"/>
                <a:cs typeface="Courier New"/>
                <a:sym typeface="Courier New"/>
              </a:rPr>
              <a:t>"A mage named Hairy Potter with 120/120 hit points!"</a:t>
            </a:r>
            <a:endParaRPr sz="1300">
              <a:latin typeface="Courier New"/>
              <a:ea typeface="Courier New"/>
              <a:cs typeface="Courier New"/>
              <a:sym typeface="Courier New"/>
            </a:endParaRPr>
          </a:p>
          <a:p>
            <a:pPr indent="-323850" lvl="0" marL="457200" rtl="0" algn="l">
              <a:spcBef>
                <a:spcPts val="0"/>
              </a:spcBef>
              <a:spcAft>
                <a:spcPts val="0"/>
              </a:spcAft>
              <a:buSzPts val="1500"/>
              <a:buChar char="●"/>
            </a:pPr>
            <a:r>
              <a:rPr lang="en" sz="1500"/>
              <a:t>Add a </a:t>
            </a:r>
            <a:r>
              <a:rPr lang="en" sz="1500">
                <a:latin typeface="Courier New"/>
                <a:ea typeface="Courier New"/>
                <a:cs typeface="Courier New"/>
                <a:sym typeface="Courier New"/>
              </a:rPr>
              <a:t>main</a:t>
            </a:r>
            <a:r>
              <a:rPr lang="en" sz="1500"/>
              <a:t> method with the appropriate signature.</a:t>
            </a:r>
            <a:endParaRPr sz="1500"/>
          </a:p>
          <a:p>
            <a:pPr indent="-311150" lvl="1" marL="914400" rtl="0" algn="l">
              <a:spcBef>
                <a:spcPts val="0"/>
              </a:spcBef>
              <a:spcAft>
                <a:spcPts val="0"/>
              </a:spcAft>
              <a:buSzPts val="1300"/>
              <a:buChar char="○"/>
            </a:pPr>
            <a:r>
              <a:rPr lang="en" sz="1300"/>
              <a:t>Create two instances of your new class.</a:t>
            </a:r>
            <a:endParaRPr sz="1300"/>
          </a:p>
          <a:p>
            <a:pPr indent="-311150" lvl="1" marL="914400" rtl="0" algn="l">
              <a:spcBef>
                <a:spcPts val="0"/>
              </a:spcBef>
              <a:spcAft>
                <a:spcPts val="0"/>
              </a:spcAft>
              <a:buSzPts val="1300"/>
              <a:buChar char="○"/>
            </a:pPr>
            <a:r>
              <a:rPr lang="en" sz="1300"/>
              <a:t>Print the mages to standard output.</a:t>
            </a:r>
            <a:endParaRPr sz="1300"/>
          </a:p>
        </p:txBody>
      </p:sp>
      <p:sp>
        <p:nvSpPr>
          <p:cNvPr id="464" name="Google Shape;464;p7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Goat Mage</a:t>
            </a:r>
            <a:endParaRPr/>
          </a:p>
        </p:txBody>
      </p:sp>
      <p:sp>
        <p:nvSpPr>
          <p:cNvPr id="465" name="Google Shape;465;p7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3.4</a:t>
            </a:r>
            <a:endParaRPr/>
          </a:p>
        </p:txBody>
      </p:sp>
      <p:pic>
        <p:nvPicPr>
          <p:cNvPr id="466" name="Google Shape;466;p72"/>
          <p:cNvPicPr preferRelativeResize="0"/>
          <p:nvPr/>
        </p:nvPicPr>
        <p:blipFill>
          <a:blip r:embed="rId3">
            <a:alphaModFix/>
          </a:blip>
          <a:stretch>
            <a:fillRect/>
          </a:stretch>
        </p:blipFill>
        <p:spPr>
          <a:xfrm>
            <a:off x="241800" y="2156775"/>
            <a:ext cx="2791200" cy="2791200"/>
          </a:xfrm>
          <a:prstGeom prst="rect">
            <a:avLst/>
          </a:prstGeom>
          <a:noFill/>
          <a:ln>
            <a:noFill/>
          </a:ln>
        </p:spPr>
      </p:pic>
      <p:pic>
        <p:nvPicPr>
          <p:cNvPr id="467" name="Google Shape;467;p72"/>
          <p:cNvPicPr preferRelativeResize="0"/>
          <p:nvPr/>
        </p:nvPicPr>
        <p:blipFill rotWithShape="1">
          <a:blip r:embed="rId4">
            <a:alphaModFix/>
          </a:blip>
          <a:srcRect b="0" l="0" r="0" t="0"/>
          <a:stretch/>
        </p:blipFill>
        <p:spPr>
          <a:xfrm>
            <a:off x="1912375" y="2215027"/>
            <a:ext cx="938200" cy="1115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73"/>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Goat Mage is still missing some essential functionality. Mages can create Magic Missile attacks, can be attacked by other characters, and can be knocked unconscious. Finish implementing the Mage class now.</a:t>
            </a:r>
            <a:endParaRPr/>
          </a:p>
        </p:txBody>
      </p:sp>
      <p:sp>
        <p:nvSpPr>
          <p:cNvPr id="473" name="Google Shape;473;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4" name="Google Shape;474;p73"/>
          <p:cNvSpPr txBox="1"/>
          <p:nvPr>
            <p:ph idx="2" type="body"/>
          </p:nvPr>
        </p:nvSpPr>
        <p:spPr>
          <a:xfrm>
            <a:off x="3189825" y="1936925"/>
            <a:ext cx="5751300" cy="30246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Use the UML as your guide to implement the remaining methods in the Mage class. Remember the following:</a:t>
            </a:r>
            <a:endParaRPr sz="1400"/>
          </a:p>
          <a:p>
            <a:pPr indent="-304800" lvl="1" marL="914400" rtl="0" algn="l">
              <a:spcBef>
                <a:spcPts val="0"/>
              </a:spcBef>
              <a:spcAft>
                <a:spcPts val="0"/>
              </a:spcAft>
              <a:buSzPts val="1200"/>
              <a:buChar char="○"/>
            </a:pPr>
            <a:r>
              <a:rPr lang="en" sz="1200"/>
              <a:t>They can </a:t>
            </a:r>
            <a:r>
              <a:rPr b="1" i="1" lang="en" sz="1200">
                <a:solidFill>
                  <a:srgbClr val="FF0000"/>
                </a:solidFill>
              </a:rPr>
              <a:t>attack</a:t>
            </a:r>
            <a:r>
              <a:rPr lang="en" sz="1200">
                <a:solidFill>
                  <a:srgbClr val="FF0000"/>
                </a:solidFill>
              </a:rPr>
              <a:t> </a:t>
            </a:r>
            <a:r>
              <a:rPr lang="en" sz="1200"/>
              <a:t>with </a:t>
            </a:r>
            <a:r>
              <a:rPr b="1" i="1" lang="en" sz="1200">
                <a:solidFill>
                  <a:srgbClr val="FF0000"/>
                </a:solidFill>
              </a:rPr>
              <a:t>"Magic Missiles,"</a:t>
            </a:r>
            <a:r>
              <a:rPr lang="en" sz="1200"/>
              <a:t> hitting </a:t>
            </a:r>
            <a:r>
              <a:rPr b="1" i="1" lang="en" sz="1200">
                <a:solidFill>
                  <a:srgbClr val="FF0000"/>
                </a:solidFill>
              </a:rPr>
              <a:t>4 times</a:t>
            </a:r>
            <a:r>
              <a:rPr lang="en" sz="1200"/>
              <a:t> for </a:t>
            </a:r>
            <a:r>
              <a:rPr b="1" i="1" lang="en" sz="1200">
                <a:solidFill>
                  <a:srgbClr val="FF0000"/>
                </a:solidFill>
              </a:rPr>
              <a:t>9 points</a:t>
            </a:r>
            <a:r>
              <a:rPr lang="en" sz="1200"/>
              <a:t> of </a:t>
            </a:r>
            <a:r>
              <a:rPr b="1" i="1" lang="en" sz="1200">
                <a:solidFill>
                  <a:srgbClr val="FF0000"/>
                </a:solidFill>
              </a:rPr>
              <a:t>magical</a:t>
            </a:r>
            <a:r>
              <a:rPr b="1" i="1" lang="en" sz="1200"/>
              <a:t> </a:t>
            </a:r>
            <a:r>
              <a:rPr lang="en" sz="1200"/>
              <a:t>damage.</a:t>
            </a:r>
            <a:endParaRPr sz="1200"/>
          </a:p>
          <a:p>
            <a:pPr indent="-304800" lvl="1" marL="914400" rtl="0" algn="l">
              <a:spcBef>
                <a:spcPts val="0"/>
              </a:spcBef>
              <a:spcAft>
                <a:spcPts val="0"/>
              </a:spcAft>
              <a:buSzPts val="1200"/>
              <a:buChar char="○"/>
            </a:pPr>
            <a:r>
              <a:rPr lang="en" sz="1200"/>
              <a:t>They can </a:t>
            </a:r>
            <a:r>
              <a:rPr b="1" i="1" lang="en" sz="1200">
                <a:solidFill>
                  <a:srgbClr val="FF0000"/>
                </a:solidFill>
              </a:rPr>
              <a:t>heal </a:t>
            </a:r>
            <a:r>
              <a:rPr lang="en" sz="1200"/>
              <a:t>for a specified number of hit points, but not above the max HP.</a:t>
            </a:r>
            <a:endParaRPr sz="1200"/>
          </a:p>
          <a:p>
            <a:pPr indent="-304800" lvl="1" marL="914400" rtl="0" algn="l">
              <a:spcBef>
                <a:spcPts val="0"/>
              </a:spcBef>
              <a:spcAft>
                <a:spcPts val="0"/>
              </a:spcAft>
              <a:buSzPts val="1200"/>
              <a:buChar char="○"/>
            </a:pPr>
            <a:r>
              <a:rPr lang="en" sz="1200"/>
              <a:t>They may be </a:t>
            </a:r>
            <a:r>
              <a:rPr b="1" i="1" lang="en" sz="1200">
                <a:solidFill>
                  <a:srgbClr val="FF0000"/>
                </a:solidFill>
              </a:rPr>
              <a:t>unconscious</a:t>
            </a:r>
            <a:r>
              <a:rPr lang="en" sz="1200">
                <a:solidFill>
                  <a:srgbClr val="FF0000"/>
                </a:solidFill>
              </a:rPr>
              <a:t> </a:t>
            </a:r>
            <a:r>
              <a:rPr lang="en" sz="1200"/>
              <a:t>if the current HP is at 0.</a:t>
            </a:r>
            <a:endParaRPr sz="1200"/>
          </a:p>
          <a:p>
            <a:pPr indent="-304800" lvl="1" marL="914400" rtl="0" algn="l">
              <a:spcBef>
                <a:spcPts val="0"/>
              </a:spcBef>
              <a:spcAft>
                <a:spcPts val="0"/>
              </a:spcAft>
              <a:buSzPts val="1200"/>
              <a:buChar char="○"/>
            </a:pPr>
            <a:r>
              <a:rPr lang="en" sz="1200"/>
              <a:t>They can  </a:t>
            </a:r>
            <a:r>
              <a:rPr b="1" i="1" lang="en" sz="1200">
                <a:solidFill>
                  <a:srgbClr val="FF0000"/>
                </a:solidFill>
              </a:rPr>
              <a:t>take damage </a:t>
            </a:r>
            <a:r>
              <a:rPr lang="en" sz="1200"/>
              <a:t>from an attack which reduces their current HP, but not below 0. Remember that </a:t>
            </a:r>
            <a:r>
              <a:rPr b="1" i="1" lang="en" sz="1200">
                <a:solidFill>
                  <a:srgbClr val="FF0000"/>
                </a:solidFill>
              </a:rPr>
              <a:t>magical damage</a:t>
            </a:r>
            <a:r>
              <a:rPr lang="en" sz="1200"/>
              <a:t> is reduced by 25% but </a:t>
            </a:r>
            <a:r>
              <a:rPr b="1" i="1" lang="en" sz="1200">
                <a:solidFill>
                  <a:srgbClr val="FF0000"/>
                </a:solidFill>
              </a:rPr>
              <a:t>physical damage</a:t>
            </a:r>
            <a:r>
              <a:rPr lang="en" sz="1200"/>
              <a:t> is increased by 25%.</a:t>
            </a:r>
            <a:endParaRPr sz="1200"/>
          </a:p>
          <a:p>
            <a:pPr indent="-317500" lvl="0" marL="457200" rtl="0" algn="l">
              <a:spcBef>
                <a:spcPts val="0"/>
              </a:spcBef>
              <a:spcAft>
                <a:spcPts val="0"/>
              </a:spcAft>
              <a:buSzPts val="1400"/>
              <a:buChar char="●"/>
            </a:pPr>
            <a:r>
              <a:rPr lang="en" sz="1400"/>
              <a:t>Use the </a:t>
            </a:r>
            <a:r>
              <a:rPr lang="en" sz="1400">
                <a:latin typeface="Courier New"/>
                <a:ea typeface="Courier New"/>
                <a:cs typeface="Courier New"/>
                <a:sym typeface="Courier New"/>
              </a:rPr>
              <a:t>main</a:t>
            </a:r>
            <a:r>
              <a:rPr lang="en" sz="1400"/>
              <a:t> method to test your class.</a:t>
            </a:r>
            <a:endParaRPr sz="1400"/>
          </a:p>
          <a:p>
            <a:pPr indent="-304800" lvl="1" marL="914400" rtl="0" algn="l">
              <a:spcBef>
                <a:spcPts val="0"/>
              </a:spcBef>
              <a:spcAft>
                <a:spcPts val="0"/>
              </a:spcAft>
              <a:buSzPts val="1200"/>
              <a:buChar char="○"/>
            </a:pPr>
            <a:r>
              <a:rPr lang="en" sz="1200"/>
              <a:t>Have your mages attack each other.</a:t>
            </a:r>
            <a:endParaRPr sz="1200"/>
          </a:p>
          <a:p>
            <a:pPr indent="-304800" lvl="1" marL="914400" rtl="0" algn="l">
              <a:spcBef>
                <a:spcPts val="0"/>
              </a:spcBef>
              <a:spcAft>
                <a:spcPts val="0"/>
              </a:spcAft>
              <a:buSzPts val="1200"/>
              <a:buChar char="○"/>
            </a:pPr>
            <a:r>
              <a:rPr lang="en" sz="1200"/>
              <a:t>Print the mages to standard output after the attacks.</a:t>
            </a:r>
            <a:endParaRPr sz="1400"/>
          </a:p>
        </p:txBody>
      </p:sp>
      <p:sp>
        <p:nvSpPr>
          <p:cNvPr id="475" name="Google Shape;475;p7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Goat Mage (continued)</a:t>
            </a:r>
            <a:endParaRPr/>
          </a:p>
        </p:txBody>
      </p:sp>
      <p:sp>
        <p:nvSpPr>
          <p:cNvPr id="476" name="Google Shape;476;p7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3.5</a:t>
            </a:r>
            <a:endParaRPr/>
          </a:p>
        </p:txBody>
      </p:sp>
      <p:pic>
        <p:nvPicPr>
          <p:cNvPr id="477" name="Google Shape;477;p73"/>
          <p:cNvPicPr preferRelativeResize="0"/>
          <p:nvPr/>
        </p:nvPicPr>
        <p:blipFill>
          <a:blip r:embed="rId3">
            <a:alphaModFix/>
          </a:blip>
          <a:stretch>
            <a:fillRect/>
          </a:stretch>
        </p:blipFill>
        <p:spPr>
          <a:xfrm>
            <a:off x="241800" y="2080575"/>
            <a:ext cx="2791200" cy="2791200"/>
          </a:xfrm>
          <a:prstGeom prst="rect">
            <a:avLst/>
          </a:prstGeom>
          <a:noFill/>
          <a:ln>
            <a:noFill/>
          </a:ln>
        </p:spPr>
      </p:pic>
      <p:pic>
        <p:nvPicPr>
          <p:cNvPr id="478" name="Google Shape;478;p73"/>
          <p:cNvPicPr preferRelativeResize="0"/>
          <p:nvPr/>
        </p:nvPicPr>
        <p:blipFill rotWithShape="1">
          <a:blip r:embed="rId4">
            <a:alphaModFix/>
          </a:blip>
          <a:srcRect b="0" l="0" r="0" t="0"/>
          <a:stretch/>
        </p:blipFill>
        <p:spPr>
          <a:xfrm>
            <a:off x="1912375" y="2138827"/>
            <a:ext cx="938200" cy="1115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74"/>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GvT wouldn't be a very fun game with only one character class! Let's implement a new class to represent Goat Fighters.</a:t>
            </a:r>
            <a:endParaRPr/>
          </a:p>
        </p:txBody>
      </p:sp>
      <p:sp>
        <p:nvSpPr>
          <p:cNvPr id="484" name="Google Shape;484;p7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5" name="Google Shape;485;p74"/>
          <p:cNvSpPr txBox="1"/>
          <p:nvPr>
            <p:ph idx="2" type="body"/>
          </p:nvPr>
        </p:nvSpPr>
        <p:spPr>
          <a:xfrm>
            <a:off x="3083250" y="1403525"/>
            <a:ext cx="5857800" cy="36819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Fighter</a:t>
            </a:r>
            <a:r>
              <a:rPr lang="en"/>
              <a:t>" and begin implementing the class. </a:t>
            </a:r>
            <a:r>
              <a:rPr b="1" i="1" lang="en">
                <a:solidFill>
                  <a:srgbClr val="FF0000"/>
                </a:solidFill>
              </a:rPr>
              <a:t>Hint</a:t>
            </a:r>
            <a:r>
              <a:rPr lang="en"/>
              <a:t>: begin by copy/pasting your </a:t>
            </a:r>
            <a:r>
              <a:rPr lang="en">
                <a:latin typeface="Courier New"/>
                <a:ea typeface="Courier New"/>
                <a:cs typeface="Courier New"/>
                <a:sym typeface="Courier New"/>
              </a:rPr>
              <a:t>Mage</a:t>
            </a:r>
            <a:r>
              <a:rPr lang="en"/>
              <a:t> code.</a:t>
            </a:r>
            <a:endParaRPr/>
          </a:p>
          <a:p>
            <a:pPr indent="-311150" lvl="0" marL="457200" rtl="0" algn="l">
              <a:spcBef>
                <a:spcPts val="0"/>
              </a:spcBef>
              <a:spcAft>
                <a:spcPts val="0"/>
              </a:spcAft>
              <a:buSzPts val="1300"/>
              <a:buChar char="●"/>
            </a:pPr>
            <a:r>
              <a:rPr lang="en"/>
              <a:t>Use the UML as a guide.</a:t>
            </a:r>
            <a:endParaRPr>
              <a:solidFill>
                <a:srgbClr val="FF0000"/>
              </a:solidFill>
            </a:endParaRPr>
          </a:p>
          <a:p>
            <a:pPr indent="-311150" lvl="1" marL="914400" rtl="0" algn="l">
              <a:spcBef>
                <a:spcPts val="0"/>
              </a:spcBef>
              <a:spcAft>
                <a:spcPts val="0"/>
              </a:spcAft>
              <a:buSzPts val="1300"/>
              <a:buChar char="○"/>
            </a:pPr>
            <a:r>
              <a:rPr lang="en"/>
              <a:t>Add fields and a constructor. The maximum HP should be 150.</a:t>
            </a:r>
            <a:endParaRPr/>
          </a:p>
          <a:p>
            <a:pPr indent="-298450" lvl="1" marL="914400" rtl="0" algn="l">
              <a:spcBef>
                <a:spcPts val="0"/>
              </a:spcBef>
              <a:spcAft>
                <a:spcPts val="0"/>
              </a:spcAft>
              <a:buSzPts val="1100"/>
              <a:buChar char="○"/>
            </a:pPr>
            <a:r>
              <a:rPr lang="en"/>
              <a:t>Add the </a:t>
            </a:r>
            <a:r>
              <a:rPr lang="en">
                <a:latin typeface="Courier New"/>
                <a:ea typeface="Courier New"/>
                <a:cs typeface="Courier New"/>
                <a:sym typeface="Courier New"/>
              </a:rPr>
              <a:t>toString()</a:t>
            </a:r>
            <a:r>
              <a:rPr lang="en"/>
              <a:t> method.</a:t>
            </a:r>
            <a:endParaRPr/>
          </a:p>
          <a:p>
            <a:pPr indent="-311150" lvl="0" marL="457200" rtl="0" algn="l">
              <a:spcBef>
                <a:spcPts val="0"/>
              </a:spcBef>
              <a:spcAft>
                <a:spcPts val="0"/>
              </a:spcAft>
              <a:buSzPts val="1300"/>
              <a:buChar char="●"/>
            </a:pPr>
            <a:r>
              <a:rPr lang="en"/>
              <a:t>When implementing the Fighter's </a:t>
            </a:r>
            <a:r>
              <a:rPr b="1" i="1" lang="en">
                <a:solidFill>
                  <a:srgbClr val="FF0000"/>
                </a:solidFill>
              </a:rPr>
              <a:t>behavior</a:t>
            </a:r>
            <a:r>
              <a:rPr lang="en"/>
              <a:t>:</a:t>
            </a:r>
            <a:endParaRPr/>
          </a:p>
          <a:p>
            <a:pPr indent="-298450" lvl="1" marL="914400" rtl="0" algn="l">
              <a:spcBef>
                <a:spcPts val="0"/>
              </a:spcBef>
              <a:spcAft>
                <a:spcPts val="0"/>
              </a:spcAft>
              <a:buSzPts val="1100"/>
              <a:buChar char="○"/>
            </a:pPr>
            <a:r>
              <a:rPr lang="en"/>
              <a:t>They can </a:t>
            </a:r>
            <a:r>
              <a:rPr b="1" i="1" lang="en">
                <a:solidFill>
                  <a:srgbClr val="FF0000"/>
                </a:solidFill>
              </a:rPr>
              <a:t>attack</a:t>
            </a:r>
            <a:r>
              <a:rPr lang="en">
                <a:solidFill>
                  <a:srgbClr val="FF0000"/>
                </a:solidFill>
              </a:rPr>
              <a:t> </a:t>
            </a:r>
            <a:r>
              <a:rPr lang="en"/>
              <a:t>with </a:t>
            </a:r>
            <a:r>
              <a:rPr b="1" i="1" lang="en">
                <a:solidFill>
                  <a:srgbClr val="FF0000"/>
                </a:solidFill>
              </a:rPr>
              <a:t>"Cleave,"</a:t>
            </a:r>
            <a:r>
              <a:rPr lang="en"/>
              <a:t> hitting </a:t>
            </a:r>
            <a:r>
              <a:rPr b="1" i="1" lang="en">
                <a:solidFill>
                  <a:srgbClr val="FF0000"/>
                </a:solidFill>
              </a:rPr>
              <a:t>once </a:t>
            </a:r>
            <a:r>
              <a:rPr lang="en"/>
              <a:t>for </a:t>
            </a:r>
            <a:r>
              <a:rPr b="1" i="1" lang="en">
                <a:solidFill>
                  <a:srgbClr val="FF0000"/>
                </a:solidFill>
              </a:rPr>
              <a:t>25 points</a:t>
            </a:r>
            <a:r>
              <a:rPr lang="en"/>
              <a:t> of </a:t>
            </a:r>
            <a:r>
              <a:rPr b="1" i="1" lang="en">
                <a:solidFill>
                  <a:srgbClr val="FF0000"/>
                </a:solidFill>
              </a:rPr>
              <a:t>physical damage</a:t>
            </a:r>
            <a:r>
              <a:rPr lang="en"/>
              <a:t>.</a:t>
            </a:r>
            <a:endParaRPr/>
          </a:p>
          <a:p>
            <a:pPr indent="-298450" lvl="1" marL="914400" rtl="0" algn="l">
              <a:spcBef>
                <a:spcPts val="0"/>
              </a:spcBef>
              <a:spcAft>
                <a:spcPts val="0"/>
              </a:spcAft>
              <a:buSzPts val="1100"/>
              <a:buChar char="○"/>
            </a:pPr>
            <a:r>
              <a:rPr lang="en"/>
              <a:t>They can </a:t>
            </a:r>
            <a:r>
              <a:rPr b="1" i="1" lang="en">
                <a:solidFill>
                  <a:srgbClr val="FF0000"/>
                </a:solidFill>
              </a:rPr>
              <a:t>heal </a:t>
            </a:r>
            <a:r>
              <a:rPr lang="en"/>
              <a:t>for a specified number of hit points, but not above the max HP.</a:t>
            </a:r>
            <a:endParaRPr/>
          </a:p>
          <a:p>
            <a:pPr indent="-298450" lvl="1" marL="914400" rtl="0" algn="l">
              <a:spcBef>
                <a:spcPts val="0"/>
              </a:spcBef>
              <a:spcAft>
                <a:spcPts val="0"/>
              </a:spcAft>
              <a:buSzPts val="1100"/>
              <a:buChar char="○"/>
            </a:pPr>
            <a:r>
              <a:rPr lang="en"/>
              <a:t>They may be </a:t>
            </a:r>
            <a:r>
              <a:rPr b="1" i="1" lang="en">
                <a:solidFill>
                  <a:srgbClr val="FF0000"/>
                </a:solidFill>
              </a:rPr>
              <a:t>unconscious</a:t>
            </a:r>
            <a:r>
              <a:rPr lang="en">
                <a:solidFill>
                  <a:srgbClr val="FF0000"/>
                </a:solidFill>
              </a:rPr>
              <a:t> </a:t>
            </a:r>
            <a:r>
              <a:rPr lang="en"/>
              <a:t>if the current HP is at 0.</a:t>
            </a:r>
            <a:endParaRPr/>
          </a:p>
          <a:p>
            <a:pPr indent="-298450" lvl="1" marL="914400" rtl="0" algn="l">
              <a:spcBef>
                <a:spcPts val="0"/>
              </a:spcBef>
              <a:spcAft>
                <a:spcPts val="0"/>
              </a:spcAft>
              <a:buSzPts val="1100"/>
              <a:buChar char="○"/>
            </a:pPr>
            <a:r>
              <a:rPr lang="en"/>
              <a:t>They can  </a:t>
            </a:r>
            <a:r>
              <a:rPr b="1" i="1" lang="en">
                <a:solidFill>
                  <a:srgbClr val="FF0000"/>
                </a:solidFill>
              </a:rPr>
              <a:t>take damage </a:t>
            </a:r>
            <a:r>
              <a:rPr lang="en"/>
              <a:t>when from an attack which reduces their current HP, but not below 0. Remember that </a:t>
            </a:r>
            <a:r>
              <a:rPr b="1" i="1" lang="en">
                <a:solidFill>
                  <a:srgbClr val="FF0000"/>
                </a:solidFill>
              </a:rPr>
              <a:t>magical damage</a:t>
            </a:r>
            <a:r>
              <a:rPr lang="en"/>
              <a:t> is increased by 25% but </a:t>
            </a:r>
            <a:r>
              <a:rPr b="1" i="1" lang="en">
                <a:solidFill>
                  <a:srgbClr val="FF0000"/>
                </a:solidFill>
              </a:rPr>
              <a:t>physical damage</a:t>
            </a:r>
            <a:r>
              <a:rPr lang="en"/>
              <a:t> is reduced by 25%.</a:t>
            </a:r>
            <a:endParaRPr/>
          </a:p>
          <a:p>
            <a:pPr indent="-311150" lvl="0" marL="457200" rtl="0" algn="l">
              <a:spcBef>
                <a:spcPts val="0"/>
              </a:spcBef>
              <a:spcAft>
                <a:spcPts val="0"/>
              </a:spcAft>
              <a:buSzPts val="1300"/>
              <a:buChar char="●"/>
            </a:pPr>
            <a:r>
              <a:rPr lang="en"/>
              <a:t>Add a </a:t>
            </a:r>
            <a:r>
              <a:rPr lang="en">
                <a:latin typeface="Courier New"/>
                <a:ea typeface="Courier New"/>
                <a:cs typeface="Courier New"/>
                <a:sym typeface="Courier New"/>
              </a:rPr>
              <a:t>main</a:t>
            </a:r>
            <a:r>
              <a:rPr lang="en"/>
              <a:t> method with the appropriate signature.</a:t>
            </a:r>
            <a:endParaRPr/>
          </a:p>
          <a:p>
            <a:pPr indent="-298450" lvl="1" marL="914400" rtl="0" algn="l">
              <a:spcBef>
                <a:spcPts val="0"/>
              </a:spcBef>
              <a:spcAft>
                <a:spcPts val="0"/>
              </a:spcAft>
              <a:buSzPts val="1100"/>
              <a:buChar char="○"/>
            </a:pPr>
            <a:r>
              <a:rPr lang="en"/>
              <a:t>Create two instances of your new class.</a:t>
            </a:r>
            <a:endParaRPr/>
          </a:p>
          <a:p>
            <a:pPr indent="-298450" lvl="1" marL="914400" rtl="0" algn="l">
              <a:spcBef>
                <a:spcPts val="0"/>
              </a:spcBef>
              <a:spcAft>
                <a:spcPts val="0"/>
              </a:spcAft>
              <a:buSzPts val="1100"/>
              <a:buChar char="○"/>
            </a:pPr>
            <a:r>
              <a:rPr lang="en"/>
              <a:t>Print both to standard output.</a:t>
            </a:r>
            <a:endParaRPr/>
          </a:p>
          <a:p>
            <a:pPr indent="-298450" lvl="1" marL="914400" rtl="0" algn="l">
              <a:spcBef>
                <a:spcPts val="0"/>
              </a:spcBef>
              <a:spcAft>
                <a:spcPts val="0"/>
              </a:spcAft>
              <a:buSzPts val="1100"/>
              <a:buChar char="○"/>
            </a:pPr>
            <a:r>
              <a:rPr lang="en"/>
              <a:t>Have your fighters attack each other, and print them to standard output after the attacks.</a:t>
            </a:r>
            <a:endParaRPr/>
          </a:p>
        </p:txBody>
      </p:sp>
      <p:sp>
        <p:nvSpPr>
          <p:cNvPr id="486" name="Google Shape;486;p7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Goat Fighter</a:t>
            </a:r>
            <a:endParaRPr/>
          </a:p>
        </p:txBody>
      </p:sp>
      <p:sp>
        <p:nvSpPr>
          <p:cNvPr id="487" name="Google Shape;487;p7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3.6</a:t>
            </a:r>
            <a:endParaRPr/>
          </a:p>
        </p:txBody>
      </p:sp>
      <p:pic>
        <p:nvPicPr>
          <p:cNvPr id="488" name="Google Shape;488;p74"/>
          <p:cNvPicPr preferRelativeResize="0"/>
          <p:nvPr/>
        </p:nvPicPr>
        <p:blipFill>
          <a:blip r:embed="rId3">
            <a:alphaModFix/>
          </a:blip>
          <a:stretch>
            <a:fillRect/>
          </a:stretch>
        </p:blipFill>
        <p:spPr>
          <a:xfrm>
            <a:off x="202475" y="1571925"/>
            <a:ext cx="2733625" cy="2733625"/>
          </a:xfrm>
          <a:prstGeom prst="rect">
            <a:avLst/>
          </a:prstGeom>
          <a:noFill/>
          <a:ln>
            <a:noFill/>
          </a:ln>
        </p:spPr>
      </p:pic>
      <p:pic>
        <p:nvPicPr>
          <p:cNvPr id="489" name="Google Shape;489;p74"/>
          <p:cNvPicPr preferRelativeResize="0"/>
          <p:nvPr/>
        </p:nvPicPr>
        <p:blipFill rotWithShape="1">
          <a:blip r:embed="rId4">
            <a:alphaModFix/>
          </a:blip>
          <a:srcRect b="0" l="0" r="0" t="0"/>
          <a:stretch/>
        </p:blipFill>
        <p:spPr>
          <a:xfrm>
            <a:off x="2051439" y="1649075"/>
            <a:ext cx="808611" cy="1164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pic>
        <p:nvPicPr>
          <p:cNvPr id="494" name="Google Shape;494;p75"/>
          <p:cNvPicPr preferRelativeResize="0"/>
          <p:nvPr/>
        </p:nvPicPr>
        <p:blipFill>
          <a:blip r:embed="rId3">
            <a:alphaModFix/>
          </a:blip>
          <a:stretch>
            <a:fillRect/>
          </a:stretch>
        </p:blipFill>
        <p:spPr>
          <a:xfrm rot="-765610">
            <a:off x="449225" y="787878"/>
            <a:ext cx="7060149" cy="1793925"/>
          </a:xfrm>
          <a:prstGeom prst="rect">
            <a:avLst/>
          </a:prstGeom>
          <a:noFill/>
          <a:ln>
            <a:noFill/>
          </a:ln>
        </p:spPr>
      </p:pic>
      <p:sp>
        <p:nvSpPr>
          <p:cNvPr id="495" name="Google Shape;495;p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6" name="Google Shape;496;p75"/>
          <p:cNvSpPr/>
          <p:nvPr/>
        </p:nvSpPr>
        <p:spPr>
          <a:xfrm>
            <a:off x="539700" y="2876850"/>
            <a:ext cx="2559300" cy="1008600"/>
          </a:xfrm>
          <a:prstGeom prst="wedgeRoundRectCallout">
            <a:avLst>
              <a:gd fmla="val 56459" name="adj1"/>
              <a:gd fmla="val 32210" name="adj2"/>
              <a:gd fmla="val 0" name="adj3"/>
            </a:avLst>
          </a:prstGeom>
          <a:solidFill>
            <a:srgbClr val="FFFFFF"/>
          </a:solidFill>
          <a:ln cap="flat" cmpd="sng" w="1905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t>Whenever you see this image, it's a reminder to check your PROBLEMS tab.</a:t>
            </a:r>
            <a:endParaRPr sz="1500"/>
          </a:p>
        </p:txBody>
      </p:sp>
      <p:sp>
        <p:nvSpPr>
          <p:cNvPr id="497" name="Google Shape;497;p75"/>
          <p:cNvSpPr/>
          <p:nvPr/>
        </p:nvSpPr>
        <p:spPr>
          <a:xfrm>
            <a:off x="5602300" y="1933650"/>
            <a:ext cx="2828100" cy="1008600"/>
          </a:xfrm>
          <a:prstGeom prst="wedgeRoundRectCallout">
            <a:avLst>
              <a:gd fmla="val -45574" name="adj1"/>
              <a:gd fmla="val 75991" name="adj2"/>
              <a:gd fmla="val 0" name="adj3"/>
            </a:avLst>
          </a:prstGeom>
          <a:solidFill>
            <a:srgbClr val="FFFFFF"/>
          </a:solidFill>
          <a:ln cap="flat" cmpd="sng" w="1905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If VSCode has identified any problems, try to fix them. If you're not sure how, raise your hand and ask for help!</a:t>
            </a:r>
            <a:endParaRPr/>
          </a:p>
        </p:txBody>
      </p:sp>
      <p:pic>
        <p:nvPicPr>
          <p:cNvPr id="498" name="Google Shape;498;p75"/>
          <p:cNvPicPr preferRelativeResize="0"/>
          <p:nvPr/>
        </p:nvPicPr>
        <p:blipFill>
          <a:blip r:embed="rId4">
            <a:alphaModFix/>
          </a:blip>
          <a:stretch>
            <a:fillRect/>
          </a:stretch>
        </p:blipFill>
        <p:spPr>
          <a:xfrm flipH="1">
            <a:off x="3231514" y="2601712"/>
            <a:ext cx="2437860" cy="2424974"/>
          </a:xfrm>
          <a:prstGeom prst="rect">
            <a:avLst/>
          </a:prstGeom>
          <a:noFill/>
          <a:ln>
            <a:noFill/>
          </a:ln>
        </p:spPr>
      </p:pic>
      <p:sp>
        <p:nvSpPr>
          <p:cNvPr id="499" name="Google Shape;499;p75"/>
          <p:cNvSpPr/>
          <p:nvPr/>
        </p:nvSpPr>
        <p:spPr>
          <a:xfrm>
            <a:off x="5669375" y="3404175"/>
            <a:ext cx="2828100" cy="1008600"/>
          </a:xfrm>
          <a:prstGeom prst="wedgeRoundRectCallout">
            <a:avLst>
              <a:gd fmla="val -69654" name="adj1"/>
              <a:gd fmla="val 21495" name="adj2"/>
              <a:gd fmla="val 0" name="adj3"/>
            </a:avLst>
          </a:prstGeom>
          <a:solidFill>
            <a:srgbClr val="FFFFFF"/>
          </a:solidFill>
          <a:ln cap="flat" cmpd="sng" w="1905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And remember: it's not about </a:t>
            </a:r>
            <a:r>
              <a:rPr i="1" lang="en"/>
              <a:t>avoiding</a:t>
            </a:r>
            <a:r>
              <a:rPr lang="en"/>
              <a:t> making mistakes. It's about learning how to fix them as we make them.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1000"/>
                                        <p:tgtEl>
                                          <p:spTgt spid="4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1000"/>
                                        <p:tgtEl>
                                          <p:spTgt spid="4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1000"/>
                                        <p:tgtEl>
                                          <p:spTgt spid="4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76"/>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Now that we have a couple of goat character classes, let's put them to the test by creating an arena in which they can do battle!</a:t>
            </a:r>
            <a:endParaRPr/>
          </a:p>
        </p:txBody>
      </p:sp>
      <p:sp>
        <p:nvSpPr>
          <p:cNvPr id="505" name="Google Shape;505;p7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6" name="Google Shape;506;p76"/>
          <p:cNvSpPr txBox="1"/>
          <p:nvPr>
            <p:ph idx="2" type="body"/>
          </p:nvPr>
        </p:nvSpPr>
        <p:spPr>
          <a:xfrm>
            <a:off x="3652825" y="1479725"/>
            <a:ext cx="5288100" cy="30954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Create a new Java class named "</a:t>
            </a:r>
            <a:r>
              <a:rPr lang="en" sz="1400">
                <a:latin typeface="Courier New"/>
                <a:ea typeface="Courier New"/>
                <a:cs typeface="Courier New"/>
                <a:sym typeface="Courier New"/>
              </a:rPr>
              <a:t>GoatArena</a:t>
            </a:r>
            <a:r>
              <a:rPr lang="en" sz="1400"/>
              <a:t>" and define a </a:t>
            </a:r>
            <a:r>
              <a:rPr lang="en" sz="1400">
                <a:latin typeface="Courier New"/>
                <a:ea typeface="Courier New"/>
                <a:cs typeface="Courier New"/>
                <a:sym typeface="Courier New"/>
              </a:rPr>
              <a:t>static</a:t>
            </a:r>
            <a:r>
              <a:rPr lang="en" sz="1400"/>
              <a:t> method named "</a:t>
            </a:r>
            <a:r>
              <a:rPr lang="en" sz="1400">
                <a:latin typeface="Courier New"/>
                <a:ea typeface="Courier New"/>
                <a:cs typeface="Courier New"/>
                <a:sym typeface="Courier New"/>
              </a:rPr>
              <a:t>battle</a:t>
            </a:r>
            <a:r>
              <a:rPr lang="en" sz="1400"/>
              <a:t>" that declares parameter for </a:t>
            </a:r>
            <a:r>
              <a:rPr lang="en" sz="1400">
                <a:solidFill>
                  <a:srgbClr val="FF0000"/>
                </a:solidFill>
                <a:latin typeface="Courier New"/>
                <a:ea typeface="Courier New"/>
                <a:cs typeface="Courier New"/>
                <a:sym typeface="Courier New"/>
              </a:rPr>
              <a:t>goat1</a:t>
            </a:r>
            <a:r>
              <a:rPr lang="en" sz="1400">
                <a:solidFill>
                  <a:srgbClr val="FF0000"/>
                </a:solidFill>
              </a:rPr>
              <a:t> </a:t>
            </a:r>
            <a:r>
              <a:rPr lang="en" sz="1400"/>
              <a:t>(a </a:t>
            </a:r>
            <a:r>
              <a:rPr lang="en" sz="1400">
                <a:latin typeface="Courier New"/>
                <a:ea typeface="Courier New"/>
                <a:cs typeface="Courier New"/>
                <a:sym typeface="Courier New"/>
              </a:rPr>
              <a:t>Mage</a:t>
            </a:r>
            <a:r>
              <a:rPr lang="en" sz="1400"/>
              <a:t>) and </a:t>
            </a:r>
            <a:r>
              <a:rPr lang="en" sz="1400">
                <a:solidFill>
                  <a:srgbClr val="FF0000"/>
                </a:solidFill>
                <a:latin typeface="Courier New"/>
                <a:ea typeface="Courier New"/>
                <a:cs typeface="Courier New"/>
                <a:sym typeface="Courier New"/>
              </a:rPr>
              <a:t>goat2</a:t>
            </a:r>
            <a:r>
              <a:rPr lang="en" sz="1400"/>
              <a:t> (a </a:t>
            </a:r>
            <a:r>
              <a:rPr lang="en" sz="1400">
                <a:latin typeface="Courier New"/>
                <a:ea typeface="Courier New"/>
                <a:cs typeface="Courier New"/>
                <a:sym typeface="Courier New"/>
              </a:rPr>
              <a:t>Fighter</a:t>
            </a:r>
            <a:r>
              <a:rPr lang="en" sz="1400"/>
              <a:t>).</a:t>
            </a:r>
            <a:endParaRPr sz="1400"/>
          </a:p>
          <a:p>
            <a:pPr indent="-317500" lvl="0" marL="457200" rtl="0" algn="l">
              <a:spcBef>
                <a:spcPts val="0"/>
              </a:spcBef>
              <a:spcAft>
                <a:spcPts val="0"/>
              </a:spcAft>
              <a:buSzPts val="1400"/>
              <a:buChar char="●"/>
            </a:pPr>
            <a:r>
              <a:rPr lang="en" sz="1400"/>
              <a:t>Have the two goats engage in an epic battle! </a:t>
            </a:r>
            <a:endParaRPr sz="1400"/>
          </a:p>
          <a:p>
            <a:pPr indent="-304800" lvl="1" marL="914400" rtl="0" algn="l">
              <a:spcBef>
                <a:spcPts val="0"/>
              </a:spcBef>
              <a:spcAft>
                <a:spcPts val="0"/>
              </a:spcAft>
              <a:buSzPts val="1200"/>
              <a:buChar char="○"/>
            </a:pPr>
            <a:r>
              <a:rPr lang="en" sz="1200"/>
              <a:t>As long as both goats are conscious, have each goat attack the other in turn.</a:t>
            </a:r>
            <a:endParaRPr sz="1200"/>
          </a:p>
          <a:p>
            <a:pPr indent="-304800" lvl="1" marL="914400" rtl="0" algn="l">
              <a:spcBef>
                <a:spcPts val="0"/>
              </a:spcBef>
              <a:spcAft>
                <a:spcPts val="0"/>
              </a:spcAft>
              <a:buSzPts val="1200"/>
              <a:buChar char="○"/>
            </a:pPr>
            <a:r>
              <a:rPr lang="en" sz="1200"/>
              <a:t>To be fair, both goats will always get to attack the other.</a:t>
            </a:r>
            <a:endParaRPr sz="1200"/>
          </a:p>
          <a:p>
            <a:pPr indent="-304800" lvl="1" marL="914400" rtl="0" algn="l">
              <a:spcBef>
                <a:spcPts val="0"/>
              </a:spcBef>
              <a:spcAft>
                <a:spcPts val="0"/>
              </a:spcAft>
              <a:buSzPts val="1200"/>
              <a:buChar char="○"/>
            </a:pPr>
            <a:r>
              <a:rPr lang="en" sz="1200"/>
              <a:t>Be sure to print attacks and the status of each goat after each round.</a:t>
            </a:r>
            <a:endParaRPr sz="1200"/>
          </a:p>
          <a:p>
            <a:pPr indent="-304800" lvl="1" marL="914400" rtl="0" algn="l">
              <a:spcBef>
                <a:spcPts val="0"/>
              </a:spcBef>
              <a:spcAft>
                <a:spcPts val="0"/>
              </a:spcAft>
              <a:buSzPts val="1200"/>
              <a:buChar char="○"/>
            </a:pPr>
            <a:r>
              <a:rPr lang="en" sz="1200"/>
              <a:t>Once the battle is over, determine the winner by checking to see which goat is still conscious.</a:t>
            </a:r>
            <a:endParaRPr sz="1200"/>
          </a:p>
          <a:p>
            <a:pPr indent="-317500" lvl="0" marL="457200" rtl="0" algn="l">
              <a:spcBef>
                <a:spcPts val="0"/>
              </a:spcBef>
              <a:spcAft>
                <a:spcPts val="0"/>
              </a:spcAft>
              <a:buSzPts val="1400"/>
              <a:buChar char="●"/>
            </a:pPr>
            <a:r>
              <a:rPr lang="en" sz="1400"/>
              <a:t>Define a </a:t>
            </a:r>
            <a:r>
              <a:rPr lang="en" sz="1400">
                <a:latin typeface="Courier New"/>
                <a:ea typeface="Courier New"/>
                <a:cs typeface="Courier New"/>
                <a:sym typeface="Courier New"/>
              </a:rPr>
              <a:t>main</a:t>
            </a:r>
            <a:r>
              <a:rPr lang="en" sz="1400"/>
              <a:t> method with the appropriate signature.</a:t>
            </a:r>
            <a:endParaRPr sz="1400"/>
          </a:p>
          <a:p>
            <a:pPr indent="-304800" lvl="1" marL="914400" rtl="0" algn="l">
              <a:spcBef>
                <a:spcPts val="0"/>
              </a:spcBef>
              <a:spcAft>
                <a:spcPts val="0"/>
              </a:spcAft>
              <a:buSzPts val="1200"/>
              <a:buChar char="○"/>
            </a:pPr>
            <a:r>
              <a:rPr lang="en" sz="1200"/>
              <a:t>Make one of each type of goat and send them to battle.</a:t>
            </a:r>
            <a:endParaRPr sz="1200"/>
          </a:p>
        </p:txBody>
      </p:sp>
      <p:sp>
        <p:nvSpPr>
          <p:cNvPr id="507" name="Google Shape;507;p7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Goat Fight Club</a:t>
            </a:r>
            <a:endParaRPr/>
          </a:p>
        </p:txBody>
      </p:sp>
      <p:sp>
        <p:nvSpPr>
          <p:cNvPr id="508" name="Google Shape;508;p7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3.7</a:t>
            </a:r>
            <a:endParaRPr/>
          </a:p>
        </p:txBody>
      </p:sp>
      <p:pic>
        <p:nvPicPr>
          <p:cNvPr id="509" name="Google Shape;509;p76"/>
          <p:cNvPicPr preferRelativeResize="0"/>
          <p:nvPr/>
        </p:nvPicPr>
        <p:blipFill>
          <a:blip r:embed="rId3">
            <a:alphaModFix/>
          </a:blip>
          <a:stretch>
            <a:fillRect/>
          </a:stretch>
        </p:blipFill>
        <p:spPr>
          <a:xfrm>
            <a:off x="152400" y="1686175"/>
            <a:ext cx="3500427" cy="1980499"/>
          </a:xfrm>
          <a:prstGeom prst="rect">
            <a:avLst/>
          </a:prstGeom>
          <a:noFill/>
          <a:ln cap="flat" cmpd="sng" w="19050">
            <a:solidFill>
              <a:schemeClr val="dk2"/>
            </a:solidFill>
            <a:prstDash val="solid"/>
            <a:round/>
            <a:headEnd len="sm" w="sm" type="none"/>
            <a:tailEnd len="sm" w="sm" type="none"/>
          </a:ln>
        </p:spPr>
      </p:pic>
      <p:sp>
        <p:nvSpPr>
          <p:cNvPr id="510" name="Google Shape;510;p76"/>
          <p:cNvSpPr txBox="1"/>
          <p:nvPr/>
        </p:nvSpPr>
        <p:spPr>
          <a:xfrm>
            <a:off x="146000" y="3772875"/>
            <a:ext cx="3500400" cy="369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Two goats enter. One goat leaves.</a:t>
            </a:r>
            <a:endParaRPr sz="1200"/>
          </a:p>
        </p:txBody>
      </p:sp>
      <p:pic>
        <p:nvPicPr>
          <p:cNvPr id="511" name="Google Shape;511;p76"/>
          <p:cNvPicPr preferRelativeResize="0"/>
          <p:nvPr/>
        </p:nvPicPr>
        <p:blipFill rotWithShape="1">
          <a:blip r:embed="rId4">
            <a:alphaModFix/>
          </a:blip>
          <a:srcRect b="0" l="0" r="0" t="0"/>
          <a:stretch/>
        </p:blipFill>
        <p:spPr>
          <a:xfrm rot="-900005">
            <a:off x="1892166" y="2348692"/>
            <a:ext cx="545794" cy="785994"/>
          </a:xfrm>
          <a:prstGeom prst="rect">
            <a:avLst/>
          </a:prstGeom>
          <a:noFill/>
          <a:ln>
            <a:noFill/>
          </a:ln>
        </p:spPr>
      </p:pic>
      <p:pic>
        <p:nvPicPr>
          <p:cNvPr id="512" name="Google Shape;512;p76"/>
          <p:cNvPicPr preferRelativeResize="0"/>
          <p:nvPr/>
        </p:nvPicPr>
        <p:blipFill rotWithShape="1">
          <a:blip r:embed="rId5">
            <a:alphaModFix/>
          </a:blip>
          <a:srcRect b="0" l="0" r="0" t="0"/>
          <a:stretch/>
        </p:blipFill>
        <p:spPr>
          <a:xfrm flipH="1" rot="900000">
            <a:off x="1295496" y="2348986"/>
            <a:ext cx="548700" cy="790139"/>
          </a:xfrm>
          <a:prstGeom prst="rect">
            <a:avLst/>
          </a:prstGeom>
          <a:noFill/>
          <a:ln>
            <a:noFill/>
          </a:ln>
        </p:spPr>
      </p:pic>
      <p:pic>
        <p:nvPicPr>
          <p:cNvPr id="513" name="Google Shape;513;p76"/>
          <p:cNvPicPr preferRelativeResize="0"/>
          <p:nvPr/>
        </p:nvPicPr>
        <p:blipFill>
          <a:blip r:embed="rId6">
            <a:alphaModFix/>
          </a:blip>
          <a:stretch>
            <a:fillRect/>
          </a:stretch>
        </p:blipFill>
        <p:spPr>
          <a:xfrm>
            <a:off x="7135025" y="87075"/>
            <a:ext cx="1886124" cy="483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77"/>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Who says that it always has to be a mage vs. a fighter in the arena? What if we wanted two mages to fight each other? Or what about two fighters?</a:t>
            </a:r>
            <a:endParaRPr/>
          </a:p>
        </p:txBody>
      </p:sp>
      <p:sp>
        <p:nvSpPr>
          <p:cNvPr id="519" name="Google Shape;519;p7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0" name="Google Shape;520;p77"/>
          <p:cNvSpPr txBox="1"/>
          <p:nvPr>
            <p:ph idx="2" type="body"/>
          </p:nvPr>
        </p:nvSpPr>
        <p:spPr>
          <a:xfrm>
            <a:off x="3652825" y="1609975"/>
            <a:ext cx="5261100" cy="33693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Open the "</a:t>
            </a:r>
            <a:r>
              <a:rPr lang="en" sz="1600">
                <a:latin typeface="Courier New"/>
                <a:ea typeface="Courier New"/>
                <a:cs typeface="Courier New"/>
                <a:sym typeface="Courier New"/>
              </a:rPr>
              <a:t>GoatArena</a:t>
            </a:r>
            <a:r>
              <a:rPr lang="en" sz="1600"/>
              <a:t>" and overload the "</a:t>
            </a:r>
            <a:r>
              <a:rPr lang="en" sz="1600">
                <a:latin typeface="Courier New"/>
                <a:ea typeface="Courier New"/>
                <a:cs typeface="Courier New"/>
                <a:sym typeface="Courier New"/>
              </a:rPr>
              <a:t>battle</a:t>
            </a:r>
            <a:r>
              <a:rPr lang="en" sz="1600"/>
              <a:t>" method so that it declares parameters for </a:t>
            </a:r>
            <a:r>
              <a:rPr lang="en" sz="1600">
                <a:solidFill>
                  <a:srgbClr val="FF0000"/>
                </a:solidFill>
                <a:latin typeface="Courier New"/>
                <a:ea typeface="Courier New"/>
                <a:cs typeface="Courier New"/>
                <a:sym typeface="Courier New"/>
              </a:rPr>
              <a:t>goat1</a:t>
            </a:r>
            <a:r>
              <a:rPr lang="en" sz="1600">
                <a:solidFill>
                  <a:srgbClr val="FF0000"/>
                </a:solidFill>
              </a:rPr>
              <a:t> </a:t>
            </a:r>
            <a:r>
              <a:rPr lang="en" sz="1600"/>
              <a:t>and </a:t>
            </a:r>
            <a:r>
              <a:rPr lang="en" sz="1600">
                <a:solidFill>
                  <a:srgbClr val="FF0000"/>
                </a:solidFill>
                <a:latin typeface="Courier New"/>
                <a:ea typeface="Courier New"/>
                <a:cs typeface="Courier New"/>
                <a:sym typeface="Courier New"/>
              </a:rPr>
              <a:t>goat2</a:t>
            </a:r>
            <a:r>
              <a:rPr lang="en" sz="1600">
                <a:solidFill>
                  <a:srgbClr val="FF0000"/>
                </a:solidFill>
              </a:rPr>
              <a:t> </a:t>
            </a:r>
            <a:r>
              <a:rPr lang="en" sz="1600"/>
              <a:t>(both mages).</a:t>
            </a:r>
            <a:endParaRPr sz="1600"/>
          </a:p>
          <a:p>
            <a:pPr indent="-317500" lvl="1" marL="914400" rtl="0" algn="l">
              <a:spcBef>
                <a:spcPts val="0"/>
              </a:spcBef>
              <a:spcAft>
                <a:spcPts val="0"/>
              </a:spcAft>
              <a:buSzPts val="1400"/>
              <a:buChar char="○"/>
            </a:pPr>
            <a:r>
              <a:rPr lang="en" sz="1400"/>
              <a:t>To speed things up, copy and paste the code from the other battle method. </a:t>
            </a:r>
            <a:endParaRPr sz="1400"/>
          </a:p>
          <a:p>
            <a:pPr indent="-317500" lvl="1" marL="914400" rtl="0" algn="l">
              <a:spcBef>
                <a:spcPts val="0"/>
              </a:spcBef>
              <a:spcAft>
                <a:spcPts val="0"/>
              </a:spcAft>
              <a:buSzPts val="1400"/>
              <a:buChar char="○"/>
            </a:pPr>
            <a:r>
              <a:rPr lang="en" sz="1400"/>
              <a:t>If you make sure that the parameter names are the same, how much of the code do you need to change?</a:t>
            </a:r>
            <a:endParaRPr sz="1400"/>
          </a:p>
          <a:p>
            <a:pPr indent="-330200" lvl="0" marL="457200" rtl="0" algn="l">
              <a:spcBef>
                <a:spcPts val="0"/>
              </a:spcBef>
              <a:spcAft>
                <a:spcPts val="0"/>
              </a:spcAft>
              <a:buSzPts val="1600"/>
              <a:buChar char="●"/>
            </a:pPr>
            <a:r>
              <a:rPr lang="en" sz="1600"/>
              <a:t>Use </a:t>
            </a:r>
            <a:r>
              <a:rPr lang="en" sz="1600">
                <a:latin typeface="Courier New"/>
                <a:ea typeface="Courier New"/>
                <a:cs typeface="Courier New"/>
                <a:sym typeface="Courier New"/>
              </a:rPr>
              <a:t>main</a:t>
            </a:r>
            <a:r>
              <a:rPr lang="en" sz="1600"/>
              <a:t> to call the new battle function, this time with two mages.</a:t>
            </a:r>
            <a:endParaRPr sz="1600"/>
          </a:p>
          <a:p>
            <a:pPr indent="-330200" lvl="0" marL="457200" rtl="0" algn="l">
              <a:spcBef>
                <a:spcPts val="0"/>
              </a:spcBef>
              <a:spcAft>
                <a:spcPts val="0"/>
              </a:spcAft>
              <a:buSzPts val="1600"/>
              <a:buChar char="●"/>
            </a:pPr>
            <a:r>
              <a:rPr lang="en" sz="1600"/>
              <a:t>Repeat the entire process, but this time both </a:t>
            </a:r>
            <a:r>
              <a:rPr lang="en" sz="1600">
                <a:solidFill>
                  <a:srgbClr val="FF0000"/>
                </a:solidFill>
                <a:latin typeface="Courier New"/>
                <a:ea typeface="Courier New"/>
                <a:cs typeface="Courier New"/>
                <a:sym typeface="Courier New"/>
              </a:rPr>
              <a:t>goat1</a:t>
            </a:r>
            <a:r>
              <a:rPr lang="en" sz="1600"/>
              <a:t> and </a:t>
            </a:r>
            <a:r>
              <a:rPr lang="en" sz="1600">
                <a:solidFill>
                  <a:srgbClr val="FF0000"/>
                </a:solidFill>
                <a:latin typeface="Courier New"/>
                <a:ea typeface="Courier New"/>
                <a:cs typeface="Courier New"/>
                <a:sym typeface="Courier New"/>
              </a:rPr>
              <a:t>goat2</a:t>
            </a:r>
            <a:r>
              <a:rPr lang="en" sz="1600"/>
              <a:t> should be fighters.</a:t>
            </a:r>
            <a:endParaRPr sz="1600"/>
          </a:p>
        </p:txBody>
      </p:sp>
      <p:sp>
        <p:nvSpPr>
          <p:cNvPr id="521" name="Google Shape;521;p7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Mage Fight?</a:t>
            </a:r>
            <a:endParaRPr/>
          </a:p>
        </p:txBody>
      </p:sp>
      <p:sp>
        <p:nvSpPr>
          <p:cNvPr id="522" name="Google Shape;522;p7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3.8</a:t>
            </a:r>
            <a:endParaRPr/>
          </a:p>
        </p:txBody>
      </p:sp>
      <p:pic>
        <p:nvPicPr>
          <p:cNvPr id="523" name="Google Shape;523;p77"/>
          <p:cNvPicPr preferRelativeResize="0"/>
          <p:nvPr/>
        </p:nvPicPr>
        <p:blipFill>
          <a:blip r:embed="rId3">
            <a:alphaModFix/>
          </a:blip>
          <a:stretch>
            <a:fillRect/>
          </a:stretch>
        </p:blipFill>
        <p:spPr>
          <a:xfrm>
            <a:off x="152400" y="1609975"/>
            <a:ext cx="3500427" cy="1980499"/>
          </a:xfrm>
          <a:prstGeom prst="rect">
            <a:avLst/>
          </a:prstGeom>
          <a:noFill/>
          <a:ln cap="flat" cmpd="sng" w="19050">
            <a:solidFill>
              <a:schemeClr val="dk2"/>
            </a:solidFill>
            <a:prstDash val="solid"/>
            <a:round/>
            <a:headEnd len="sm" w="sm" type="none"/>
            <a:tailEnd len="sm" w="sm" type="none"/>
          </a:ln>
        </p:spPr>
      </p:pic>
      <p:sp>
        <p:nvSpPr>
          <p:cNvPr id="524" name="Google Shape;524;p77"/>
          <p:cNvSpPr txBox="1"/>
          <p:nvPr/>
        </p:nvSpPr>
        <p:spPr>
          <a:xfrm>
            <a:off x="146000" y="3696675"/>
            <a:ext cx="35004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At this point, we have </a:t>
            </a:r>
            <a:r>
              <a:rPr b="1" i="1" lang="en" sz="1200">
                <a:solidFill>
                  <a:srgbClr val="FF0000"/>
                </a:solidFill>
              </a:rPr>
              <a:t>a lot</a:t>
            </a:r>
            <a:r>
              <a:rPr lang="en" sz="1200"/>
              <a:t> of duplicated (or </a:t>
            </a:r>
            <a:r>
              <a:rPr i="1" lang="en" sz="1200"/>
              <a:t>nearly</a:t>
            </a:r>
            <a:r>
              <a:rPr lang="en" sz="1200"/>
              <a:t> duplicated code).</a:t>
            </a:r>
            <a:endParaRPr sz="1200"/>
          </a:p>
        </p:txBody>
      </p:sp>
      <p:pic>
        <p:nvPicPr>
          <p:cNvPr id="525" name="Google Shape;525;p77"/>
          <p:cNvPicPr preferRelativeResize="0"/>
          <p:nvPr/>
        </p:nvPicPr>
        <p:blipFill rotWithShape="1">
          <a:blip r:embed="rId4">
            <a:alphaModFix/>
          </a:blip>
          <a:srcRect b="0" l="0" r="0" t="0"/>
          <a:stretch/>
        </p:blipFill>
        <p:spPr>
          <a:xfrm rot="-900005">
            <a:off x="1892166" y="2272492"/>
            <a:ext cx="545794" cy="785994"/>
          </a:xfrm>
          <a:prstGeom prst="rect">
            <a:avLst/>
          </a:prstGeom>
          <a:noFill/>
          <a:ln>
            <a:noFill/>
          </a:ln>
        </p:spPr>
      </p:pic>
      <p:pic>
        <p:nvPicPr>
          <p:cNvPr id="526" name="Google Shape;526;p77"/>
          <p:cNvPicPr preferRelativeResize="0"/>
          <p:nvPr/>
        </p:nvPicPr>
        <p:blipFill rotWithShape="1">
          <a:blip r:embed="rId4">
            <a:alphaModFix/>
          </a:blip>
          <a:srcRect b="0" l="0" r="0" t="0"/>
          <a:stretch/>
        </p:blipFill>
        <p:spPr>
          <a:xfrm flipH="1" rot="900005">
            <a:off x="1340341" y="2272492"/>
            <a:ext cx="545794" cy="785994"/>
          </a:xfrm>
          <a:prstGeom prst="rect">
            <a:avLst/>
          </a:prstGeom>
          <a:noFill/>
          <a:ln>
            <a:noFill/>
          </a:ln>
        </p:spPr>
      </p:pic>
      <p:sp>
        <p:nvSpPr>
          <p:cNvPr id="527" name="Google Shape;527;p77"/>
          <p:cNvSpPr txBox="1"/>
          <p:nvPr/>
        </p:nvSpPr>
        <p:spPr>
          <a:xfrm>
            <a:off x="146000" y="4382475"/>
            <a:ext cx="35004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What happens if we add a Thief class? Or a Cleric? Or a Paladin?</a:t>
            </a:r>
            <a:endParaRPr sz="1200"/>
          </a:p>
        </p:txBody>
      </p:sp>
      <p:pic>
        <p:nvPicPr>
          <p:cNvPr id="528" name="Google Shape;528;p77"/>
          <p:cNvPicPr preferRelativeResize="0"/>
          <p:nvPr/>
        </p:nvPicPr>
        <p:blipFill>
          <a:blip r:embed="rId5">
            <a:alphaModFix/>
          </a:blip>
          <a:stretch>
            <a:fillRect/>
          </a:stretch>
        </p:blipFill>
        <p:spPr>
          <a:xfrm>
            <a:off x="7135025" y="87075"/>
            <a:ext cx="1886124" cy="483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78"/>
          <p:cNvSpPr txBox="1"/>
          <p:nvPr>
            <p:ph type="title"/>
          </p:nvPr>
        </p:nvSpPr>
        <p:spPr>
          <a:xfrm>
            <a:off x="311725" y="1961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500"/>
              <a:t>Reuse </a:t>
            </a:r>
            <a:endParaRPr sz="2500"/>
          </a:p>
        </p:txBody>
      </p:sp>
      <p:sp>
        <p:nvSpPr>
          <p:cNvPr id="534" name="Google Shape;534;p78"/>
          <p:cNvSpPr txBox="1"/>
          <p:nvPr>
            <p:ph idx="1" type="body"/>
          </p:nvPr>
        </p:nvSpPr>
        <p:spPr>
          <a:xfrm>
            <a:off x="4541225" y="203000"/>
            <a:ext cx="4166400" cy="46893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a:t>One of the major benefits of </a:t>
            </a:r>
            <a:r>
              <a:rPr b="1" i="1" lang="en">
                <a:solidFill>
                  <a:srgbClr val="FF0000"/>
                </a:solidFill>
              </a:rPr>
              <a:t>object-oriented programming</a:t>
            </a:r>
            <a:r>
              <a:rPr lang="en"/>
              <a:t> is </a:t>
            </a:r>
            <a:r>
              <a:rPr b="1" i="1" lang="en">
                <a:solidFill>
                  <a:srgbClr val="FF0000"/>
                </a:solidFill>
              </a:rPr>
              <a:t>reuse</a:t>
            </a:r>
            <a:r>
              <a:rPr lang="en"/>
              <a:t>.</a:t>
            </a:r>
            <a:endParaRPr/>
          </a:p>
          <a:p>
            <a:pPr indent="-298450" lvl="1" marL="914400" rtl="0" algn="l">
              <a:lnSpc>
                <a:spcPct val="115000"/>
              </a:lnSpc>
              <a:spcBef>
                <a:spcPts val="0"/>
              </a:spcBef>
              <a:spcAft>
                <a:spcPts val="0"/>
              </a:spcAft>
              <a:buSzPts val="1100"/>
              <a:buChar char="○"/>
            </a:pPr>
            <a:r>
              <a:rPr lang="en"/>
              <a:t>Write code </a:t>
            </a:r>
            <a:r>
              <a:rPr b="1" i="1" lang="en">
                <a:solidFill>
                  <a:srgbClr val="FF0000"/>
                </a:solidFill>
              </a:rPr>
              <a:t>once</a:t>
            </a:r>
            <a:r>
              <a:rPr lang="en"/>
              <a:t>, and use it in lots of places.</a:t>
            </a:r>
            <a:endParaRPr/>
          </a:p>
          <a:p>
            <a:pPr indent="-311150" lvl="0" marL="457200" rtl="0" algn="l">
              <a:lnSpc>
                <a:spcPct val="115000"/>
              </a:lnSpc>
              <a:spcBef>
                <a:spcPts val="0"/>
              </a:spcBef>
              <a:spcAft>
                <a:spcPts val="0"/>
              </a:spcAft>
              <a:buSzPts val="1300"/>
              <a:buChar char="●"/>
            </a:pPr>
            <a:r>
              <a:rPr lang="en"/>
              <a:t>Reuse is an alternative to </a:t>
            </a:r>
            <a:r>
              <a:rPr b="1" i="1" lang="en">
                <a:solidFill>
                  <a:srgbClr val="FF0000"/>
                </a:solidFill>
              </a:rPr>
              <a:t>"copy and paste" coding</a:t>
            </a:r>
            <a:r>
              <a:rPr lang="en"/>
              <a:t>, which </a:t>
            </a:r>
            <a:r>
              <a:rPr b="1" i="1" lang="en">
                <a:solidFill>
                  <a:srgbClr val="FF0000"/>
                </a:solidFill>
              </a:rPr>
              <a:t>duplicates</a:t>
            </a:r>
            <a:r>
              <a:rPr lang="en">
                <a:solidFill>
                  <a:srgbClr val="FF0000"/>
                </a:solidFill>
              </a:rPr>
              <a:t> </a:t>
            </a:r>
            <a:r>
              <a:rPr lang="en"/>
              <a:t>the same code wherever it is needed.</a:t>
            </a:r>
            <a:endParaRPr/>
          </a:p>
          <a:p>
            <a:pPr indent="-298450" lvl="1" marL="914400" rtl="0" algn="l">
              <a:lnSpc>
                <a:spcPct val="115000"/>
              </a:lnSpc>
              <a:spcBef>
                <a:spcPts val="0"/>
              </a:spcBef>
              <a:spcAft>
                <a:spcPts val="0"/>
              </a:spcAft>
              <a:buSzPts val="1100"/>
              <a:buChar char="○"/>
            </a:pPr>
            <a:r>
              <a:rPr lang="en"/>
              <a:t>There are many drawbacks to duplicating code, not the least of which is that it is </a:t>
            </a:r>
            <a:r>
              <a:rPr b="1" i="1" lang="en">
                <a:solidFill>
                  <a:srgbClr val="FF0000"/>
                </a:solidFill>
              </a:rPr>
              <a:t>wasteful</a:t>
            </a:r>
            <a:r>
              <a:rPr lang="en"/>
              <a:t>, </a:t>
            </a:r>
            <a:r>
              <a:rPr b="1" i="1" lang="en">
                <a:solidFill>
                  <a:srgbClr val="FF0000"/>
                </a:solidFill>
              </a:rPr>
              <a:t>inefficient</a:t>
            </a:r>
            <a:r>
              <a:rPr lang="en"/>
              <a:t>, and duplicates </a:t>
            </a:r>
            <a:r>
              <a:rPr b="1" i="1" lang="en">
                <a:solidFill>
                  <a:srgbClr val="FF0000"/>
                </a:solidFill>
              </a:rPr>
              <a:t>bugs</a:t>
            </a:r>
            <a:r>
              <a:rPr lang="en"/>
              <a:t>.</a:t>
            </a:r>
            <a:endParaRPr/>
          </a:p>
          <a:p>
            <a:pPr indent="-311150" lvl="0" marL="457200" rtl="0" algn="l">
              <a:lnSpc>
                <a:spcPct val="115000"/>
              </a:lnSpc>
              <a:spcBef>
                <a:spcPts val="0"/>
              </a:spcBef>
              <a:spcAft>
                <a:spcPts val="0"/>
              </a:spcAft>
              <a:buSzPts val="1300"/>
              <a:buChar char="●"/>
            </a:pPr>
            <a:r>
              <a:rPr lang="en"/>
              <a:t>Up to this point, the primary mechanism for </a:t>
            </a:r>
            <a:r>
              <a:rPr b="1" i="1" lang="en">
                <a:solidFill>
                  <a:srgbClr val="FF0000"/>
                </a:solidFill>
              </a:rPr>
              <a:t>reuse</a:t>
            </a:r>
            <a:r>
              <a:rPr lang="en">
                <a:solidFill>
                  <a:srgbClr val="FF0000"/>
                </a:solidFill>
              </a:rPr>
              <a:t> </a:t>
            </a:r>
            <a:r>
              <a:rPr lang="en"/>
              <a:t>has been </a:t>
            </a:r>
            <a:r>
              <a:rPr b="1" i="1" lang="en">
                <a:solidFill>
                  <a:srgbClr val="FF0000"/>
                </a:solidFill>
              </a:rPr>
              <a:t>functions</a:t>
            </a:r>
            <a:r>
              <a:rPr lang="en"/>
              <a:t>, but what if two </a:t>
            </a:r>
            <a:r>
              <a:rPr b="1" i="1" lang="en">
                <a:solidFill>
                  <a:srgbClr val="FF0000"/>
                </a:solidFill>
              </a:rPr>
              <a:t>different</a:t>
            </a:r>
            <a:r>
              <a:rPr lang="en">
                <a:solidFill>
                  <a:srgbClr val="FF0000"/>
                </a:solidFill>
              </a:rPr>
              <a:t> </a:t>
            </a:r>
            <a:r>
              <a:rPr lang="en"/>
              <a:t>classes need the </a:t>
            </a:r>
            <a:r>
              <a:rPr b="1" i="1" lang="en">
                <a:solidFill>
                  <a:srgbClr val="FF0000"/>
                </a:solidFill>
              </a:rPr>
              <a:t>same</a:t>
            </a:r>
            <a:r>
              <a:rPr lang="en">
                <a:solidFill>
                  <a:srgbClr val="FF0000"/>
                </a:solidFill>
              </a:rPr>
              <a:t> </a:t>
            </a:r>
            <a:r>
              <a:rPr lang="en"/>
              <a:t>functionality?</a:t>
            </a:r>
            <a:endParaRPr/>
          </a:p>
          <a:p>
            <a:pPr indent="-298450" lvl="1" marL="914400" rtl="0" algn="l">
              <a:lnSpc>
                <a:spcPct val="115000"/>
              </a:lnSpc>
              <a:spcBef>
                <a:spcPts val="0"/>
              </a:spcBef>
              <a:spcAft>
                <a:spcPts val="0"/>
              </a:spcAft>
              <a:buSzPts val="1100"/>
              <a:buChar char="○"/>
            </a:pPr>
            <a:r>
              <a:rPr lang="en"/>
              <a:t>What if two or more classes implement the </a:t>
            </a:r>
            <a:r>
              <a:rPr b="1" i="1" lang="en">
                <a:solidFill>
                  <a:srgbClr val="FF0000"/>
                </a:solidFill>
              </a:rPr>
              <a:t>same behavior</a:t>
            </a:r>
            <a:r>
              <a:rPr lang="en">
                <a:solidFill>
                  <a:srgbClr val="FF0000"/>
                </a:solidFill>
              </a:rPr>
              <a:t> </a:t>
            </a:r>
            <a:r>
              <a:rPr lang="en"/>
              <a:t>in exactly the same way?</a:t>
            </a:r>
            <a:endParaRPr/>
          </a:p>
          <a:p>
            <a:pPr indent="-298450" lvl="1" marL="914400" rtl="0" algn="l">
              <a:lnSpc>
                <a:spcPct val="115000"/>
              </a:lnSpc>
              <a:spcBef>
                <a:spcPts val="0"/>
              </a:spcBef>
              <a:spcAft>
                <a:spcPts val="0"/>
              </a:spcAft>
              <a:buSzPts val="1100"/>
              <a:buChar char="○"/>
            </a:pPr>
            <a:r>
              <a:rPr lang="en"/>
              <a:t>What if two classes have </a:t>
            </a:r>
            <a:r>
              <a:rPr b="1" i="1" lang="en">
                <a:solidFill>
                  <a:srgbClr val="FF0000"/>
                </a:solidFill>
              </a:rPr>
              <a:t>identical state</a:t>
            </a:r>
            <a:r>
              <a:rPr lang="en"/>
              <a:t>?</a:t>
            </a:r>
            <a:endParaRPr/>
          </a:p>
          <a:p>
            <a:pPr indent="-311150" lvl="0" marL="457200" rtl="0" algn="l">
              <a:lnSpc>
                <a:spcPct val="115000"/>
              </a:lnSpc>
              <a:spcBef>
                <a:spcPts val="0"/>
              </a:spcBef>
              <a:spcAft>
                <a:spcPts val="0"/>
              </a:spcAft>
              <a:buSzPts val="1300"/>
              <a:buChar char="●"/>
            </a:pPr>
            <a:r>
              <a:rPr lang="en"/>
              <a:t>Object-oriented programming provides a core feature that allows different classes to </a:t>
            </a:r>
            <a:r>
              <a:rPr b="1" i="1" lang="en">
                <a:solidFill>
                  <a:srgbClr val="FF0000"/>
                </a:solidFill>
              </a:rPr>
              <a:t>reuse</a:t>
            </a:r>
            <a:r>
              <a:rPr i="1" lang="en">
                <a:solidFill>
                  <a:srgbClr val="FF0000"/>
                </a:solidFill>
              </a:rPr>
              <a:t> </a:t>
            </a:r>
            <a:r>
              <a:rPr lang="en"/>
              <a:t>code: </a:t>
            </a:r>
            <a:r>
              <a:rPr b="1" i="1" lang="en">
                <a:solidFill>
                  <a:srgbClr val="FF0000"/>
                </a:solidFill>
              </a:rPr>
              <a:t>inheritance</a:t>
            </a:r>
            <a:r>
              <a:rPr lang="en"/>
              <a:t>.</a:t>
            </a:r>
            <a:endParaRPr/>
          </a:p>
          <a:p>
            <a:pPr indent="-298450" lvl="1" marL="914400" rtl="0" algn="l">
              <a:lnSpc>
                <a:spcPct val="115000"/>
              </a:lnSpc>
              <a:spcBef>
                <a:spcPts val="0"/>
              </a:spcBef>
              <a:spcAft>
                <a:spcPts val="0"/>
              </a:spcAft>
              <a:buSzPts val="1100"/>
              <a:buChar char="○"/>
            </a:pPr>
            <a:r>
              <a:rPr lang="en"/>
              <a:t>One class may </a:t>
            </a:r>
            <a:r>
              <a:rPr b="1" i="1" lang="en">
                <a:solidFill>
                  <a:srgbClr val="FF0000"/>
                </a:solidFill>
              </a:rPr>
              <a:t>extend</a:t>
            </a:r>
            <a:r>
              <a:rPr lang="en">
                <a:solidFill>
                  <a:srgbClr val="FF0000"/>
                </a:solidFill>
              </a:rPr>
              <a:t> </a:t>
            </a:r>
            <a:r>
              <a:rPr lang="en"/>
              <a:t>another class to inherit its accessible </a:t>
            </a:r>
            <a:r>
              <a:rPr b="1" i="1" lang="en">
                <a:solidFill>
                  <a:srgbClr val="FF0000"/>
                </a:solidFill>
              </a:rPr>
              <a:t>state</a:t>
            </a:r>
            <a:r>
              <a:rPr lang="en">
                <a:solidFill>
                  <a:srgbClr val="FF0000"/>
                </a:solidFill>
              </a:rPr>
              <a:t> </a:t>
            </a:r>
            <a:r>
              <a:rPr lang="en"/>
              <a:t>and </a:t>
            </a:r>
            <a:r>
              <a:rPr b="1" i="1" lang="en">
                <a:solidFill>
                  <a:srgbClr val="FF0000"/>
                </a:solidFill>
              </a:rPr>
              <a:t>behavior</a:t>
            </a:r>
            <a:r>
              <a:rPr lang="en"/>
              <a:t>.</a:t>
            </a:r>
            <a:endParaRPr/>
          </a:p>
          <a:p>
            <a:pPr indent="-298450" lvl="1" marL="914400" rtl="0" algn="l">
              <a:lnSpc>
                <a:spcPct val="115000"/>
              </a:lnSpc>
              <a:spcBef>
                <a:spcPts val="0"/>
              </a:spcBef>
              <a:spcAft>
                <a:spcPts val="0"/>
              </a:spcAft>
              <a:buSzPts val="1100"/>
              <a:buChar char="○"/>
            </a:pPr>
            <a:r>
              <a:rPr lang="en"/>
              <a:t>This creates a </a:t>
            </a:r>
            <a:r>
              <a:rPr b="1" i="1" lang="en">
                <a:solidFill>
                  <a:srgbClr val="FF0000"/>
                </a:solidFill>
              </a:rPr>
              <a:t>parent/child</a:t>
            </a:r>
            <a:r>
              <a:rPr lang="en"/>
              <a:t> relationship between the two classes.</a:t>
            </a:r>
            <a:endParaRPr/>
          </a:p>
        </p:txBody>
      </p:sp>
      <p:sp>
        <p:nvSpPr>
          <p:cNvPr id="535" name="Google Shape;535;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536" name="Google Shape;536;p78"/>
          <p:cNvSpPr txBox="1"/>
          <p:nvPr/>
        </p:nvSpPr>
        <p:spPr>
          <a:xfrm>
            <a:off x="239225" y="676575"/>
            <a:ext cx="3706500" cy="1285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1600"/>
              </a:spcAft>
              <a:buClr>
                <a:srgbClr val="000000"/>
              </a:buClr>
              <a:buSzPts val="7500"/>
              <a:buFont typeface="Arial"/>
              <a:buNone/>
            </a:pPr>
            <a:r>
              <a:rPr b="0" i="0" lang="en" sz="7500" u="none" cap="none" strike="noStrike">
                <a:solidFill>
                  <a:srgbClr val="FFFFFF"/>
                </a:solidFill>
                <a:latin typeface="Roboto"/>
                <a:ea typeface="Roboto"/>
                <a:cs typeface="Roboto"/>
                <a:sym typeface="Roboto"/>
              </a:rPr>
              <a:t>DRY</a:t>
            </a:r>
            <a:endParaRPr b="0" i="0" sz="7500" u="none" cap="none" strike="noStrike">
              <a:solidFill>
                <a:srgbClr val="FFFFFF"/>
              </a:solidFill>
              <a:latin typeface="Roboto"/>
              <a:ea typeface="Roboto"/>
              <a:cs typeface="Roboto"/>
              <a:sym typeface="Roboto"/>
            </a:endParaRPr>
          </a:p>
        </p:txBody>
      </p:sp>
      <p:sp>
        <p:nvSpPr>
          <p:cNvPr id="537" name="Google Shape;537;p78"/>
          <p:cNvSpPr txBox="1"/>
          <p:nvPr/>
        </p:nvSpPr>
        <p:spPr>
          <a:xfrm>
            <a:off x="268225" y="2524250"/>
            <a:ext cx="3706500" cy="55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DRY is a driving principle of software engineering that will be continuously emphasized.</a:t>
            </a:r>
            <a:endParaRPr b="0" i="0" sz="1200" u="none" cap="none" strike="noStrike">
              <a:solidFill>
                <a:srgbClr val="000000"/>
              </a:solidFill>
              <a:latin typeface="Arial"/>
              <a:ea typeface="Arial"/>
              <a:cs typeface="Arial"/>
              <a:sym typeface="Arial"/>
            </a:endParaRPr>
          </a:p>
        </p:txBody>
      </p:sp>
      <p:sp>
        <p:nvSpPr>
          <p:cNvPr id="538" name="Google Shape;538;p78"/>
          <p:cNvSpPr txBox="1"/>
          <p:nvPr/>
        </p:nvSpPr>
        <p:spPr>
          <a:xfrm>
            <a:off x="268225" y="1819850"/>
            <a:ext cx="3706500" cy="638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700"/>
              <a:buFont typeface="Arial"/>
              <a:buNone/>
            </a:pPr>
            <a:r>
              <a:rPr b="0" i="0" lang="en" sz="2700" u="sng" cap="none" strike="noStrike">
                <a:solidFill>
                  <a:srgbClr val="FFFFFF"/>
                </a:solidFill>
                <a:latin typeface="Roboto"/>
                <a:ea typeface="Roboto"/>
                <a:cs typeface="Roboto"/>
                <a:sym typeface="Roboto"/>
              </a:rPr>
              <a:t>D</a:t>
            </a:r>
            <a:r>
              <a:rPr b="0" i="0" lang="en" sz="2700" u="none" cap="none" strike="noStrike">
                <a:solidFill>
                  <a:srgbClr val="FFFFFF"/>
                </a:solidFill>
                <a:latin typeface="Roboto"/>
                <a:ea typeface="Roboto"/>
                <a:cs typeface="Roboto"/>
                <a:sym typeface="Roboto"/>
              </a:rPr>
              <a:t>on’t </a:t>
            </a:r>
            <a:r>
              <a:rPr b="0" i="0" lang="en" sz="2700" u="sng" cap="none" strike="noStrike">
                <a:solidFill>
                  <a:srgbClr val="FFFFFF"/>
                </a:solidFill>
                <a:latin typeface="Roboto"/>
                <a:ea typeface="Roboto"/>
                <a:cs typeface="Roboto"/>
                <a:sym typeface="Roboto"/>
              </a:rPr>
              <a:t>R</a:t>
            </a:r>
            <a:r>
              <a:rPr b="0" i="0" lang="en" sz="2700" u="none" cap="none" strike="noStrike">
                <a:solidFill>
                  <a:srgbClr val="FFFFFF"/>
                </a:solidFill>
                <a:latin typeface="Roboto"/>
                <a:ea typeface="Roboto"/>
                <a:cs typeface="Roboto"/>
                <a:sym typeface="Roboto"/>
              </a:rPr>
              <a:t>epeat </a:t>
            </a:r>
            <a:r>
              <a:rPr b="0" i="0" lang="en" sz="2700" u="sng" cap="none" strike="noStrike">
                <a:solidFill>
                  <a:srgbClr val="FFFFFF"/>
                </a:solidFill>
                <a:latin typeface="Roboto"/>
                <a:ea typeface="Roboto"/>
                <a:cs typeface="Roboto"/>
                <a:sym typeface="Roboto"/>
              </a:rPr>
              <a:t>Y</a:t>
            </a:r>
            <a:r>
              <a:rPr b="0" i="0" lang="en" sz="2700" u="none" cap="none" strike="noStrike">
                <a:solidFill>
                  <a:srgbClr val="FFFFFF"/>
                </a:solidFill>
                <a:latin typeface="Roboto"/>
                <a:ea typeface="Roboto"/>
                <a:cs typeface="Roboto"/>
                <a:sym typeface="Roboto"/>
              </a:rPr>
              <a:t>ourself</a:t>
            </a:r>
            <a:endParaRPr b="0" i="0" sz="2700" u="none" cap="none" strike="noStrike">
              <a:solidFill>
                <a:srgbClr val="FFFFFF"/>
              </a:solidFill>
              <a:latin typeface="Roboto"/>
              <a:ea typeface="Roboto"/>
              <a:cs typeface="Roboto"/>
              <a:sym typeface="Roboto"/>
            </a:endParaRPr>
          </a:p>
        </p:txBody>
      </p:sp>
      <p:sp>
        <p:nvSpPr>
          <p:cNvPr id="539" name="Google Shape;539;p78"/>
          <p:cNvSpPr txBox="1"/>
          <p:nvPr/>
        </p:nvSpPr>
        <p:spPr>
          <a:xfrm>
            <a:off x="268225" y="3214550"/>
            <a:ext cx="3706500" cy="706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Up until now, we have used </a:t>
            </a:r>
            <a:r>
              <a:rPr b="1" i="1" lang="en" sz="1200" u="none" cap="none" strike="noStrike">
                <a:solidFill>
                  <a:srgbClr val="FF0000"/>
                </a:solidFill>
                <a:latin typeface="Arial"/>
                <a:ea typeface="Arial"/>
                <a:cs typeface="Arial"/>
                <a:sym typeface="Arial"/>
              </a:rPr>
              <a:t>functions</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to reuse code, but that technique will </a:t>
            </a:r>
            <a:r>
              <a:rPr b="1" i="1" lang="en" sz="1200" u="none" cap="none" strike="noStrike">
                <a:solidFill>
                  <a:srgbClr val="FF0000"/>
                </a:solidFill>
                <a:latin typeface="Arial"/>
                <a:ea typeface="Arial"/>
                <a:cs typeface="Arial"/>
                <a:sym typeface="Arial"/>
              </a:rPr>
              <a:t>not work</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if two or more classes need the same functionality.</a:t>
            </a:r>
            <a:endParaRPr b="0" i="0" sz="1200" u="none" cap="none" strike="noStrike">
              <a:solidFill>
                <a:srgbClr val="000000"/>
              </a:solidFill>
              <a:latin typeface="Arial"/>
              <a:ea typeface="Arial"/>
              <a:cs typeface="Arial"/>
              <a:sym typeface="Arial"/>
            </a:endParaRPr>
          </a:p>
        </p:txBody>
      </p:sp>
      <p:sp>
        <p:nvSpPr>
          <p:cNvPr id="540" name="Google Shape;540;p78"/>
          <p:cNvSpPr txBox="1"/>
          <p:nvPr/>
        </p:nvSpPr>
        <p:spPr>
          <a:xfrm>
            <a:off x="268225" y="4052750"/>
            <a:ext cx="3706500" cy="706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When using classes and objects, identical functionality in two or more classes may indicate an opportunity to leverage </a:t>
            </a:r>
            <a:r>
              <a:rPr b="1" i="1" lang="en" sz="1200" u="none" cap="none" strike="noStrike">
                <a:solidFill>
                  <a:srgbClr val="FF0000"/>
                </a:solidFill>
                <a:latin typeface="Arial"/>
                <a:ea typeface="Arial"/>
                <a:cs typeface="Arial"/>
                <a:sym typeface="Arial"/>
              </a:rPr>
              <a:t>inheritance</a:t>
            </a:r>
            <a:r>
              <a:rPr b="0" i="0" lang="en" sz="12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1000"/>
                                        <p:tgtEl>
                                          <p:spTgt spid="53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1000"/>
                                        <p:tgtEl>
                                          <p:spTgt spid="5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1000"/>
                                        <p:tgtEl>
                                          <p:spTgt spid="5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9"/>
                                        </p:tgtEl>
                                        <p:attrNameLst>
                                          <p:attrName>style.visibility</p:attrName>
                                        </p:attrNameLst>
                                      </p:cBhvr>
                                      <p:to>
                                        <p:strVal val="visible"/>
                                      </p:to>
                                    </p:set>
                                    <p:animEffect filter="fade" transition="in">
                                      <p:cBhvr>
                                        <p:cTn dur="1000"/>
                                        <p:tgtEl>
                                          <p:spTgt spid="5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1000"/>
                                        <p:tgtEl>
                                          <p:spTgt spid="5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79"/>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We will be creating a new </a:t>
            </a:r>
            <a:r>
              <a:rPr b="1" i="1" lang="en">
                <a:solidFill>
                  <a:srgbClr val="FF0000"/>
                </a:solidFill>
              </a:rPr>
              <a:t>parent</a:t>
            </a:r>
            <a:r>
              <a:rPr lang="en">
                <a:solidFill>
                  <a:srgbClr val="FF0000"/>
                </a:solidFill>
              </a:rPr>
              <a:t> </a:t>
            </a:r>
            <a:r>
              <a:rPr lang="en"/>
              <a:t>class to contain all of the fields and methods that our two goats have in common. Let's start by identifying what those are!</a:t>
            </a:r>
            <a:endParaRPr/>
          </a:p>
        </p:txBody>
      </p:sp>
      <p:sp>
        <p:nvSpPr>
          <p:cNvPr id="546" name="Google Shape;546;p7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7" name="Google Shape;547;p7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Identifying Common Attributes</a:t>
            </a:r>
            <a:endParaRPr/>
          </a:p>
        </p:txBody>
      </p:sp>
      <p:sp>
        <p:nvSpPr>
          <p:cNvPr id="548" name="Google Shape;548;p7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3.9</a:t>
            </a:r>
            <a:endParaRPr/>
          </a:p>
        </p:txBody>
      </p:sp>
      <p:graphicFrame>
        <p:nvGraphicFramePr>
          <p:cNvPr id="549" name="Google Shape;549;p79"/>
          <p:cNvGraphicFramePr/>
          <p:nvPr/>
        </p:nvGraphicFramePr>
        <p:xfrm>
          <a:off x="2490850" y="1650550"/>
          <a:ext cx="3000000" cy="3000000"/>
        </p:xfrm>
        <a:graphic>
          <a:graphicData uri="http://schemas.openxmlformats.org/drawingml/2006/table">
            <a:tbl>
              <a:tblPr>
                <a:noFill/>
                <a:tableStyleId>{7F442979-C056-43AA-83C6-67E564C60A4D}</a:tableStyleId>
              </a:tblPr>
              <a:tblGrid>
                <a:gridCol w="900075"/>
                <a:gridCol w="1785900"/>
                <a:gridCol w="1785900"/>
                <a:gridCol w="1785900"/>
              </a:tblGrid>
              <a:tr h="4170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Common to Both</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Unique to Mage</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Unique to Fighter</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4565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State</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4565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Behavior</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pic>
        <p:nvPicPr>
          <p:cNvPr id="550" name="Google Shape;550;p79"/>
          <p:cNvPicPr preferRelativeResize="0"/>
          <p:nvPr/>
        </p:nvPicPr>
        <p:blipFill rotWithShape="1">
          <a:blip r:embed="rId3">
            <a:alphaModFix/>
          </a:blip>
          <a:srcRect b="0" l="0" r="0" t="0"/>
          <a:stretch/>
        </p:blipFill>
        <p:spPr>
          <a:xfrm>
            <a:off x="133025" y="1650550"/>
            <a:ext cx="1086384" cy="1564401"/>
          </a:xfrm>
          <a:prstGeom prst="rect">
            <a:avLst/>
          </a:prstGeom>
          <a:noFill/>
          <a:ln>
            <a:noFill/>
          </a:ln>
        </p:spPr>
      </p:pic>
      <p:pic>
        <p:nvPicPr>
          <p:cNvPr id="551" name="Google Shape;551;p79"/>
          <p:cNvPicPr preferRelativeResize="0"/>
          <p:nvPr/>
        </p:nvPicPr>
        <p:blipFill rotWithShape="1">
          <a:blip r:embed="rId4">
            <a:alphaModFix/>
          </a:blip>
          <a:srcRect b="0" l="0" r="0" t="0"/>
          <a:stretch/>
        </p:blipFill>
        <p:spPr>
          <a:xfrm>
            <a:off x="1219408" y="1650557"/>
            <a:ext cx="1086384" cy="1564390"/>
          </a:xfrm>
          <a:prstGeom prst="rect">
            <a:avLst/>
          </a:prstGeom>
          <a:noFill/>
          <a:ln>
            <a:noFill/>
          </a:ln>
        </p:spPr>
      </p:pic>
      <p:sp>
        <p:nvSpPr>
          <p:cNvPr id="552" name="Google Shape;552;p79"/>
          <p:cNvSpPr txBox="1"/>
          <p:nvPr/>
        </p:nvSpPr>
        <p:spPr>
          <a:xfrm>
            <a:off x="285425" y="3347700"/>
            <a:ext cx="1995300" cy="852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You may find it useful to open the two classes side-by-side in your editor (i.e. split to the right).</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80"/>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We will be creating a new </a:t>
            </a:r>
            <a:r>
              <a:rPr b="1" i="1" lang="en">
                <a:solidFill>
                  <a:srgbClr val="FF0000"/>
                </a:solidFill>
              </a:rPr>
              <a:t>parent</a:t>
            </a:r>
            <a:r>
              <a:rPr lang="en">
                <a:solidFill>
                  <a:srgbClr val="FF0000"/>
                </a:solidFill>
              </a:rPr>
              <a:t> </a:t>
            </a:r>
            <a:r>
              <a:rPr lang="en"/>
              <a:t>class to contain all of the fields and methods that our two goats have in common. Let's start by identifying what those are!</a:t>
            </a:r>
            <a:endParaRPr/>
          </a:p>
        </p:txBody>
      </p:sp>
      <p:sp>
        <p:nvSpPr>
          <p:cNvPr id="558" name="Google Shape;558;p8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9" name="Google Shape;559;p80"/>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Identifying Common Attributes</a:t>
            </a:r>
            <a:endParaRPr/>
          </a:p>
        </p:txBody>
      </p:sp>
      <p:sp>
        <p:nvSpPr>
          <p:cNvPr id="560" name="Google Shape;560;p8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3.9</a:t>
            </a:r>
            <a:endParaRPr/>
          </a:p>
        </p:txBody>
      </p:sp>
      <p:graphicFrame>
        <p:nvGraphicFramePr>
          <p:cNvPr id="561" name="Google Shape;561;p80"/>
          <p:cNvGraphicFramePr/>
          <p:nvPr/>
        </p:nvGraphicFramePr>
        <p:xfrm>
          <a:off x="2490850" y="1650550"/>
          <a:ext cx="3000000" cy="3000000"/>
        </p:xfrm>
        <a:graphic>
          <a:graphicData uri="http://schemas.openxmlformats.org/drawingml/2006/table">
            <a:tbl>
              <a:tblPr>
                <a:noFill/>
                <a:tableStyleId>{7F442979-C056-43AA-83C6-67E564C60A4D}</a:tableStyleId>
              </a:tblPr>
              <a:tblGrid>
                <a:gridCol w="900075"/>
                <a:gridCol w="1785900"/>
                <a:gridCol w="1785900"/>
                <a:gridCol w="1785900"/>
              </a:tblGrid>
              <a:tr h="4170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Common to Both</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Unique to Mage</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Unique to Fighter</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4565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State</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4565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Behavior</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pic>
        <p:nvPicPr>
          <p:cNvPr id="562" name="Google Shape;562;p80"/>
          <p:cNvPicPr preferRelativeResize="0"/>
          <p:nvPr/>
        </p:nvPicPr>
        <p:blipFill rotWithShape="1">
          <a:blip r:embed="rId3">
            <a:alphaModFix/>
          </a:blip>
          <a:srcRect b="0" l="0" r="0" t="0"/>
          <a:stretch/>
        </p:blipFill>
        <p:spPr>
          <a:xfrm>
            <a:off x="133025" y="1650550"/>
            <a:ext cx="1086384" cy="1564401"/>
          </a:xfrm>
          <a:prstGeom prst="rect">
            <a:avLst/>
          </a:prstGeom>
          <a:noFill/>
          <a:ln>
            <a:noFill/>
          </a:ln>
        </p:spPr>
      </p:pic>
      <p:pic>
        <p:nvPicPr>
          <p:cNvPr id="563" name="Google Shape;563;p80"/>
          <p:cNvPicPr preferRelativeResize="0"/>
          <p:nvPr/>
        </p:nvPicPr>
        <p:blipFill rotWithShape="1">
          <a:blip r:embed="rId4">
            <a:alphaModFix/>
          </a:blip>
          <a:srcRect b="0" l="0" r="0" t="0"/>
          <a:stretch/>
        </p:blipFill>
        <p:spPr>
          <a:xfrm>
            <a:off x="1219408" y="1650557"/>
            <a:ext cx="1086384" cy="1564390"/>
          </a:xfrm>
          <a:prstGeom prst="rect">
            <a:avLst/>
          </a:prstGeom>
          <a:noFill/>
          <a:ln>
            <a:noFill/>
          </a:ln>
        </p:spPr>
      </p:pic>
      <p:sp>
        <p:nvSpPr>
          <p:cNvPr id="564" name="Google Shape;564;p80"/>
          <p:cNvSpPr txBox="1"/>
          <p:nvPr/>
        </p:nvSpPr>
        <p:spPr>
          <a:xfrm>
            <a:off x="285425" y="3347700"/>
            <a:ext cx="1995300" cy="852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You may find it useful to open the two classes side-by-side in your editor (i.e. split to the right).</a:t>
            </a:r>
            <a:endParaRPr b="0" i="0" sz="1200" u="none" cap="none" strike="noStrike">
              <a:solidFill>
                <a:srgbClr val="000000"/>
              </a:solidFill>
              <a:latin typeface="Arial"/>
              <a:ea typeface="Arial"/>
              <a:cs typeface="Arial"/>
              <a:sym typeface="Arial"/>
            </a:endParaRPr>
          </a:p>
        </p:txBody>
      </p:sp>
      <p:sp>
        <p:nvSpPr>
          <p:cNvPr id="565" name="Google Shape;565;p80"/>
          <p:cNvSpPr txBox="1"/>
          <p:nvPr/>
        </p:nvSpPr>
        <p:spPr>
          <a:xfrm>
            <a:off x="5174375" y="3527300"/>
            <a:ext cx="1788300" cy="1453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ATTACK</a:t>
            </a:r>
            <a:endParaRPr b="0" i="0" sz="18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TAKE DAMAGE</a:t>
            </a:r>
            <a:endParaRPr b="0" i="0" sz="1800" u="none" cap="none" strike="noStrike">
              <a:solidFill>
                <a:srgbClr val="FF0000"/>
              </a:solidFill>
              <a:latin typeface="Shadows Into Light"/>
              <a:ea typeface="Shadows Into Light"/>
              <a:cs typeface="Shadows Into Light"/>
              <a:sym typeface="Shadows Into Light"/>
            </a:endParaRPr>
          </a:p>
        </p:txBody>
      </p:sp>
      <p:sp>
        <p:nvSpPr>
          <p:cNvPr id="566" name="Google Shape;566;p80"/>
          <p:cNvSpPr txBox="1"/>
          <p:nvPr/>
        </p:nvSpPr>
        <p:spPr>
          <a:xfrm>
            <a:off x="6960003" y="3532100"/>
            <a:ext cx="1788300" cy="1453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ATTACK</a:t>
            </a:r>
            <a:endParaRPr b="0" i="0" sz="18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TAKE DAMAGE</a:t>
            </a:r>
            <a:endParaRPr b="0" i="0" sz="1800" u="none" cap="none" strike="noStrike">
              <a:solidFill>
                <a:srgbClr val="FF0000"/>
              </a:solidFill>
              <a:latin typeface="Shadows Into Light"/>
              <a:ea typeface="Shadows Into Light"/>
              <a:cs typeface="Shadows Into Light"/>
              <a:sym typeface="Shadows Into Light"/>
            </a:endParaRPr>
          </a:p>
        </p:txBody>
      </p:sp>
      <p:sp>
        <p:nvSpPr>
          <p:cNvPr id="567" name="Google Shape;567;p80"/>
          <p:cNvSpPr txBox="1"/>
          <p:nvPr/>
        </p:nvSpPr>
        <p:spPr>
          <a:xfrm>
            <a:off x="3391175" y="2068549"/>
            <a:ext cx="1788300" cy="1453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NAME</a:t>
            </a:r>
            <a:endParaRPr b="0" i="0" sz="18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MAX HP</a:t>
            </a:r>
            <a:endParaRPr b="0" i="0" sz="18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CURRENT HP</a:t>
            </a:r>
            <a:endParaRPr b="0" i="0" sz="1800" u="none" cap="none" strike="noStrike">
              <a:solidFill>
                <a:srgbClr val="FF0000"/>
              </a:solidFill>
              <a:latin typeface="Shadows Into Light"/>
              <a:ea typeface="Shadows Into Light"/>
              <a:cs typeface="Shadows Into Light"/>
              <a:sym typeface="Shadows Into Light"/>
            </a:endParaRPr>
          </a:p>
        </p:txBody>
      </p:sp>
      <p:sp>
        <p:nvSpPr>
          <p:cNvPr id="568" name="Google Shape;568;p80"/>
          <p:cNvSpPr txBox="1"/>
          <p:nvPr/>
        </p:nvSpPr>
        <p:spPr>
          <a:xfrm>
            <a:off x="5174425" y="2067600"/>
            <a:ext cx="1788300" cy="1453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rgbClr val="FF0000"/>
                </a:solidFill>
                <a:latin typeface="Shadows Into Light"/>
                <a:ea typeface="Shadows Into Light"/>
                <a:cs typeface="Shadows Into Light"/>
                <a:sym typeface="Shadows Into Light"/>
              </a:rPr>
              <a:t>MAX_HP</a:t>
            </a:r>
            <a:endParaRPr b="0" i="0" sz="1800" u="none" cap="none" strike="noStrike">
              <a:solidFill>
                <a:srgbClr val="FF0000"/>
              </a:solidFill>
              <a:latin typeface="Shadows Into Light"/>
              <a:ea typeface="Shadows Into Light"/>
              <a:cs typeface="Shadows Into Light"/>
              <a:sym typeface="Shadows Into Light"/>
            </a:endParaRPr>
          </a:p>
        </p:txBody>
      </p:sp>
      <p:sp>
        <p:nvSpPr>
          <p:cNvPr id="569" name="Google Shape;569;p80"/>
          <p:cNvSpPr txBox="1"/>
          <p:nvPr/>
        </p:nvSpPr>
        <p:spPr>
          <a:xfrm>
            <a:off x="6962725" y="2067600"/>
            <a:ext cx="1788300" cy="1453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rgbClr val="FF0000"/>
                </a:solidFill>
                <a:latin typeface="Shadows Into Light"/>
                <a:ea typeface="Shadows Into Light"/>
                <a:cs typeface="Shadows Into Light"/>
                <a:sym typeface="Shadows Into Light"/>
              </a:rPr>
              <a:t>MAX_HP</a:t>
            </a:r>
            <a:endParaRPr b="0" i="0" sz="1800" u="none" cap="none" strike="noStrike">
              <a:solidFill>
                <a:srgbClr val="FF0000"/>
              </a:solidFill>
              <a:latin typeface="Shadows Into Light"/>
              <a:ea typeface="Shadows Into Light"/>
              <a:cs typeface="Shadows Into Light"/>
              <a:sym typeface="Shadows Into Light"/>
            </a:endParaRPr>
          </a:p>
        </p:txBody>
      </p:sp>
      <p:sp>
        <p:nvSpPr>
          <p:cNvPr id="570" name="Google Shape;570;p80"/>
          <p:cNvSpPr txBox="1"/>
          <p:nvPr/>
        </p:nvSpPr>
        <p:spPr>
          <a:xfrm>
            <a:off x="3391175" y="3529325"/>
            <a:ext cx="1788300" cy="1453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CONSTRUCTOR</a:t>
            </a:r>
            <a:endParaRPr b="0" i="0" sz="18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ACCESSORS</a:t>
            </a:r>
            <a:endParaRPr b="0" i="0" sz="18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HEAL</a:t>
            </a:r>
            <a:endParaRPr b="0" i="0" sz="18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IS CONSCIOUS</a:t>
            </a:r>
            <a:endParaRPr b="0" i="0" sz="18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Shadows Into Light"/>
              <a:ea typeface="Shadows Into Light"/>
              <a:cs typeface="Shadows Into Light"/>
              <a:sym typeface="Shadows Into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81"/>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 Common Goat </a:t>
            </a:r>
            <a:endParaRPr/>
          </a:p>
        </p:txBody>
      </p:sp>
      <p:sp>
        <p:nvSpPr>
          <p:cNvPr id="576" name="Google Shape;576;p81"/>
          <p:cNvSpPr txBox="1"/>
          <p:nvPr>
            <p:ph idx="1" type="body"/>
          </p:nvPr>
        </p:nvSpPr>
        <p:spPr>
          <a:xfrm>
            <a:off x="311700" y="1505700"/>
            <a:ext cx="3999900" cy="3261000"/>
          </a:xfrm>
          <a:prstGeom prst="rect">
            <a:avLst/>
          </a:prstGeom>
          <a:noFill/>
          <a:ln>
            <a:noFill/>
          </a:ln>
        </p:spPr>
        <p:txBody>
          <a:bodyPr anchorCtr="0" anchor="ctr"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a:t>The Mage and Fighter classes share all of the same </a:t>
            </a:r>
            <a:r>
              <a:rPr b="1" i="1" lang="en">
                <a:solidFill>
                  <a:srgbClr val="FF0000"/>
                </a:solidFill>
              </a:rPr>
              <a:t>state</a:t>
            </a:r>
            <a:r>
              <a:rPr lang="en"/>
              <a:t>:</a:t>
            </a:r>
            <a:endParaRPr/>
          </a:p>
          <a:p>
            <a:pPr indent="-298450" lvl="1" marL="914400" rtl="0" algn="l">
              <a:lnSpc>
                <a:spcPct val="115000"/>
              </a:lnSpc>
              <a:spcBef>
                <a:spcPts val="0"/>
              </a:spcBef>
              <a:spcAft>
                <a:spcPts val="0"/>
              </a:spcAft>
              <a:buSzPts val="1100"/>
              <a:buChar char="○"/>
            </a:pPr>
            <a:r>
              <a:rPr lang="en"/>
              <a:t>Name, Max HP, Current HP</a:t>
            </a:r>
            <a:endParaRPr/>
          </a:p>
          <a:p>
            <a:pPr indent="-311150" lvl="0" marL="457200" rtl="0" algn="l">
              <a:lnSpc>
                <a:spcPct val="115000"/>
              </a:lnSpc>
              <a:spcBef>
                <a:spcPts val="0"/>
              </a:spcBef>
              <a:spcAft>
                <a:spcPts val="0"/>
              </a:spcAft>
              <a:buSzPts val="1300"/>
              <a:buChar char="●"/>
            </a:pPr>
            <a:r>
              <a:rPr lang="en"/>
              <a:t>Both classes also implement some of the exact same </a:t>
            </a:r>
            <a:r>
              <a:rPr b="1" i="1" lang="en">
                <a:solidFill>
                  <a:srgbClr val="FF0000"/>
                </a:solidFill>
              </a:rPr>
              <a:t>behavior</a:t>
            </a:r>
            <a:r>
              <a:rPr lang="en"/>
              <a:t>:</a:t>
            </a:r>
            <a:endParaRPr/>
          </a:p>
          <a:p>
            <a:pPr indent="-298450" lvl="1" marL="914400" rtl="0" algn="l">
              <a:lnSpc>
                <a:spcPct val="115000"/>
              </a:lnSpc>
              <a:spcBef>
                <a:spcPts val="0"/>
              </a:spcBef>
              <a:spcAft>
                <a:spcPts val="0"/>
              </a:spcAft>
              <a:buSzPts val="1100"/>
              <a:buChar char="○"/>
            </a:pPr>
            <a:r>
              <a:rPr lang="en"/>
              <a:t>Very similar </a:t>
            </a:r>
            <a:r>
              <a:rPr lang="en">
                <a:solidFill>
                  <a:srgbClr val="FF0000"/>
                </a:solidFill>
              </a:rPr>
              <a:t>constructors</a:t>
            </a:r>
            <a:r>
              <a:rPr lang="en"/>
              <a:t>.</a:t>
            </a:r>
            <a:endParaRPr/>
          </a:p>
          <a:p>
            <a:pPr indent="-298450" lvl="1" marL="914400" rtl="0" algn="l">
              <a:lnSpc>
                <a:spcPct val="115000"/>
              </a:lnSpc>
              <a:spcBef>
                <a:spcPts val="0"/>
              </a:spcBef>
              <a:spcAft>
                <a:spcPts val="0"/>
              </a:spcAft>
              <a:buSzPts val="1100"/>
              <a:buChar char="○"/>
            </a:pPr>
            <a:r>
              <a:rPr lang="en">
                <a:solidFill>
                  <a:srgbClr val="FF0000"/>
                </a:solidFill>
              </a:rPr>
              <a:t>Accessors </a:t>
            </a:r>
            <a:r>
              <a:rPr lang="en"/>
              <a:t>for name, current HP, &amp; Max HP.</a:t>
            </a:r>
            <a:endParaRPr/>
          </a:p>
          <a:p>
            <a:pPr indent="-298450" lvl="1" marL="914400" rtl="0" algn="l">
              <a:lnSpc>
                <a:spcPct val="115000"/>
              </a:lnSpc>
              <a:spcBef>
                <a:spcPts val="0"/>
              </a:spcBef>
              <a:spcAft>
                <a:spcPts val="0"/>
              </a:spcAft>
              <a:buSzPts val="1100"/>
              <a:buChar char="○"/>
            </a:pPr>
            <a:r>
              <a:rPr lang="en">
                <a:solidFill>
                  <a:srgbClr val="FF0000"/>
                </a:solidFill>
              </a:rPr>
              <a:t>Methods </a:t>
            </a:r>
            <a:r>
              <a:rPr lang="en"/>
              <a:t>for healing and consciousness.</a:t>
            </a:r>
            <a:endParaRPr/>
          </a:p>
          <a:p>
            <a:pPr indent="-311150" lvl="0" marL="457200" rtl="0" algn="l">
              <a:lnSpc>
                <a:spcPct val="115000"/>
              </a:lnSpc>
              <a:spcBef>
                <a:spcPts val="0"/>
              </a:spcBef>
              <a:spcAft>
                <a:spcPts val="0"/>
              </a:spcAft>
              <a:buSzPts val="1300"/>
              <a:buChar char="●"/>
            </a:pPr>
            <a:r>
              <a:rPr lang="en"/>
              <a:t>We will create a class that encapsulates all of the common state and behavior so that the Mage and Fighter classes can </a:t>
            </a:r>
            <a:r>
              <a:rPr b="1" i="1" lang="en">
                <a:solidFill>
                  <a:srgbClr val="FF0000"/>
                </a:solidFill>
              </a:rPr>
              <a:t>reuse </a:t>
            </a:r>
            <a:r>
              <a:rPr lang="en"/>
              <a:t>it.</a:t>
            </a:r>
            <a:endParaRPr/>
          </a:p>
          <a:p>
            <a:pPr indent="-298450" lvl="1" marL="914400" rtl="0" algn="l">
              <a:lnSpc>
                <a:spcPct val="115000"/>
              </a:lnSpc>
              <a:spcBef>
                <a:spcPts val="0"/>
              </a:spcBef>
              <a:spcAft>
                <a:spcPts val="0"/>
              </a:spcAft>
              <a:buSzPts val="1100"/>
              <a:buChar char="○"/>
            </a:pPr>
            <a:r>
              <a:rPr lang="en"/>
              <a:t>We'll see exactly how to do this presently.</a:t>
            </a:r>
            <a:endParaRPr/>
          </a:p>
          <a:p>
            <a:pPr indent="-311150" lvl="0" marL="457200" rtl="0" algn="l">
              <a:lnSpc>
                <a:spcPct val="115000"/>
              </a:lnSpc>
              <a:spcBef>
                <a:spcPts val="0"/>
              </a:spcBef>
              <a:spcAft>
                <a:spcPts val="0"/>
              </a:spcAft>
              <a:buSzPts val="1300"/>
              <a:buChar char="●"/>
            </a:pPr>
            <a:r>
              <a:rPr lang="en"/>
              <a:t>The process of identifying common state and behavior and putting it into a parent class is called </a:t>
            </a:r>
            <a:r>
              <a:rPr b="1" i="1" lang="en">
                <a:solidFill>
                  <a:srgbClr val="FF0000"/>
                </a:solidFill>
              </a:rPr>
              <a:t>creating an abstraction</a:t>
            </a:r>
            <a:r>
              <a:rPr lang="en"/>
              <a:t>.</a:t>
            </a:r>
            <a:endParaRPr/>
          </a:p>
        </p:txBody>
      </p:sp>
      <p:sp>
        <p:nvSpPr>
          <p:cNvPr id="577" name="Google Shape;577;p8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pSp>
        <p:nvGrpSpPr>
          <p:cNvPr id="578" name="Google Shape;578;p81"/>
          <p:cNvGrpSpPr/>
          <p:nvPr/>
        </p:nvGrpSpPr>
        <p:grpSpPr>
          <a:xfrm>
            <a:off x="5577825" y="3112241"/>
            <a:ext cx="2693989" cy="1709959"/>
            <a:chOff x="5577825" y="3112241"/>
            <a:chExt cx="2693989" cy="1709959"/>
          </a:xfrm>
        </p:grpSpPr>
        <p:pic>
          <p:nvPicPr>
            <p:cNvPr id="579" name="Google Shape;579;p81"/>
            <p:cNvPicPr preferRelativeResize="0"/>
            <p:nvPr/>
          </p:nvPicPr>
          <p:blipFill rotWithShape="1">
            <a:blip r:embed="rId3">
              <a:alphaModFix/>
            </a:blip>
            <a:srcRect b="0" l="0" r="0" t="0"/>
            <a:stretch/>
          </p:blipFill>
          <p:spPr>
            <a:xfrm>
              <a:off x="5577825" y="3112241"/>
              <a:ext cx="842974" cy="1213885"/>
            </a:xfrm>
            <a:prstGeom prst="rect">
              <a:avLst/>
            </a:prstGeom>
            <a:noFill/>
            <a:ln>
              <a:noFill/>
            </a:ln>
          </p:spPr>
        </p:pic>
        <p:pic>
          <p:nvPicPr>
            <p:cNvPr id="580" name="Google Shape;580;p81"/>
            <p:cNvPicPr preferRelativeResize="0"/>
            <p:nvPr/>
          </p:nvPicPr>
          <p:blipFill rotWithShape="1">
            <a:blip r:embed="rId4">
              <a:alphaModFix/>
            </a:blip>
            <a:srcRect b="0" l="0" r="0" t="0"/>
            <a:stretch/>
          </p:blipFill>
          <p:spPr>
            <a:xfrm>
              <a:off x="7316349" y="3112245"/>
              <a:ext cx="842974" cy="1213885"/>
            </a:xfrm>
            <a:prstGeom prst="rect">
              <a:avLst/>
            </a:prstGeom>
            <a:noFill/>
            <a:ln>
              <a:noFill/>
            </a:ln>
          </p:spPr>
        </p:pic>
        <p:sp>
          <p:nvSpPr>
            <p:cNvPr id="581" name="Google Shape;581;p81"/>
            <p:cNvSpPr txBox="1"/>
            <p:nvPr/>
          </p:nvSpPr>
          <p:spPr>
            <a:xfrm>
              <a:off x="6126372" y="4503900"/>
              <a:ext cx="1866600" cy="318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en" sz="1500" u="none" cap="none" strike="noStrike">
                  <a:solidFill>
                    <a:srgbClr val="FF0000"/>
                  </a:solidFill>
                  <a:latin typeface="Shadows Into Light"/>
                  <a:ea typeface="Shadows Into Light"/>
                  <a:cs typeface="Shadows Into Light"/>
                  <a:sym typeface="Shadows Into Light"/>
                </a:rPr>
                <a:t>UNIQUE/DIFFERENT STUFF GOES HERE</a:t>
              </a:r>
              <a:endParaRPr b="0" i="0" sz="1500" u="none" cap="none" strike="noStrike">
                <a:solidFill>
                  <a:srgbClr val="FF0000"/>
                </a:solidFill>
                <a:latin typeface="Shadows Into Light"/>
                <a:ea typeface="Shadows Into Light"/>
                <a:cs typeface="Shadows Into Light"/>
                <a:sym typeface="Shadows Into Light"/>
              </a:endParaRPr>
            </a:p>
          </p:txBody>
        </p:sp>
        <p:sp>
          <p:nvSpPr>
            <p:cNvPr id="582" name="Google Shape;582;p81"/>
            <p:cNvSpPr/>
            <p:nvPr/>
          </p:nvSpPr>
          <p:spPr>
            <a:xfrm>
              <a:off x="5617384" y="4341853"/>
              <a:ext cx="464457" cy="408141"/>
            </a:xfrm>
            <a:custGeom>
              <a:rect b="b" l="l" r="r" t="t"/>
              <a:pathLst>
                <a:path extrusionOk="0" h="22242" w="25311">
                  <a:moveTo>
                    <a:pt x="25311" y="22242"/>
                  </a:moveTo>
                  <a:cubicBezTo>
                    <a:pt x="21168" y="21097"/>
                    <a:pt x="3070" y="19080"/>
                    <a:pt x="453" y="15373"/>
                  </a:cubicBezTo>
                  <a:cubicBezTo>
                    <a:pt x="-2164" y="11666"/>
                    <a:pt x="8085" y="2562"/>
                    <a:pt x="9611" y="0"/>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81"/>
            <p:cNvSpPr/>
            <p:nvPr/>
          </p:nvSpPr>
          <p:spPr>
            <a:xfrm>
              <a:off x="7922172" y="4269825"/>
              <a:ext cx="349642" cy="372138"/>
            </a:xfrm>
            <a:custGeom>
              <a:rect b="b" l="l" r="r" t="t"/>
              <a:pathLst>
                <a:path extrusionOk="0" h="20280" w="14393">
                  <a:moveTo>
                    <a:pt x="0" y="20280"/>
                  </a:moveTo>
                  <a:cubicBezTo>
                    <a:pt x="2344" y="18372"/>
                    <a:pt x="12429" y="12211"/>
                    <a:pt x="14064" y="8831"/>
                  </a:cubicBezTo>
                  <a:cubicBezTo>
                    <a:pt x="15699" y="5451"/>
                    <a:pt x="10521" y="1472"/>
                    <a:pt x="9812" y="0"/>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4" name="Google Shape;584;p81"/>
          <p:cNvGrpSpPr/>
          <p:nvPr/>
        </p:nvGrpSpPr>
        <p:grpSpPr>
          <a:xfrm>
            <a:off x="5967077" y="1441100"/>
            <a:ext cx="2185200" cy="1309395"/>
            <a:chOff x="5967077" y="1441100"/>
            <a:chExt cx="2185200" cy="1309395"/>
          </a:xfrm>
        </p:grpSpPr>
        <p:pic>
          <p:nvPicPr>
            <p:cNvPr id="585" name="Google Shape;585;p81"/>
            <p:cNvPicPr preferRelativeResize="0"/>
            <p:nvPr/>
          </p:nvPicPr>
          <p:blipFill rotWithShape="1">
            <a:blip r:embed="rId5">
              <a:alphaModFix/>
            </a:blip>
            <a:srcRect b="0" l="0" r="0" t="30656"/>
            <a:stretch/>
          </p:blipFill>
          <p:spPr>
            <a:xfrm>
              <a:off x="6470652" y="1908771"/>
              <a:ext cx="842974" cy="841724"/>
            </a:xfrm>
            <a:prstGeom prst="rect">
              <a:avLst/>
            </a:prstGeom>
            <a:noFill/>
            <a:ln>
              <a:noFill/>
            </a:ln>
          </p:spPr>
        </p:pic>
        <p:sp>
          <p:nvSpPr>
            <p:cNvPr id="586" name="Google Shape;586;p81"/>
            <p:cNvSpPr txBox="1"/>
            <p:nvPr/>
          </p:nvSpPr>
          <p:spPr>
            <a:xfrm>
              <a:off x="5967077" y="1441100"/>
              <a:ext cx="2185200" cy="31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0000"/>
                  </a:solidFill>
                  <a:latin typeface="Shadows Into Light"/>
                  <a:ea typeface="Shadows Into Light"/>
                  <a:cs typeface="Shadows Into Light"/>
                  <a:sym typeface="Shadows Into Light"/>
                </a:rPr>
                <a:t>COMMON STUFF GOES HERE</a:t>
              </a:r>
              <a:endParaRPr b="0" i="0" sz="1300" u="none" cap="none" strike="noStrike">
                <a:solidFill>
                  <a:srgbClr val="FF0000"/>
                </a:solidFill>
                <a:latin typeface="Shadows Into Light"/>
                <a:ea typeface="Shadows Into Light"/>
                <a:cs typeface="Shadows Into Light"/>
                <a:sym typeface="Shadows Into Light"/>
              </a:endParaRPr>
            </a:p>
          </p:txBody>
        </p:sp>
        <p:sp>
          <p:nvSpPr>
            <p:cNvPr id="587" name="Google Shape;587;p81"/>
            <p:cNvSpPr/>
            <p:nvPr/>
          </p:nvSpPr>
          <p:spPr>
            <a:xfrm>
              <a:off x="6320474" y="1769384"/>
              <a:ext cx="204199" cy="402140"/>
            </a:xfrm>
            <a:custGeom>
              <a:rect b="b" l="l" r="r" t="t"/>
              <a:pathLst>
                <a:path extrusionOk="0" h="21915" w="11128">
                  <a:moveTo>
                    <a:pt x="10801" y="0"/>
                  </a:moveTo>
                  <a:cubicBezTo>
                    <a:pt x="9002" y="2780"/>
                    <a:pt x="-47" y="13030"/>
                    <a:pt x="7" y="16682"/>
                  </a:cubicBezTo>
                  <a:cubicBezTo>
                    <a:pt x="62" y="20335"/>
                    <a:pt x="9275" y="21043"/>
                    <a:pt x="11128" y="21915"/>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8" name="Google Shape;588;p81"/>
          <p:cNvGrpSpPr/>
          <p:nvPr/>
        </p:nvGrpSpPr>
        <p:grpSpPr>
          <a:xfrm>
            <a:off x="5999312" y="2750441"/>
            <a:ext cx="1738524" cy="361804"/>
            <a:chOff x="5999312" y="2750441"/>
            <a:chExt cx="1738524" cy="361804"/>
          </a:xfrm>
        </p:grpSpPr>
        <p:cxnSp>
          <p:nvCxnSpPr>
            <p:cNvPr id="589" name="Google Shape;589;p81"/>
            <p:cNvCxnSpPr>
              <a:stCxn id="579" idx="0"/>
              <a:endCxn id="585" idx="2"/>
            </p:cNvCxnSpPr>
            <p:nvPr/>
          </p:nvCxnSpPr>
          <p:spPr>
            <a:xfrm rot="-5400000">
              <a:off x="6264812" y="2484941"/>
              <a:ext cx="361800" cy="892800"/>
            </a:xfrm>
            <a:prstGeom prst="bentConnector3">
              <a:avLst>
                <a:gd fmla="val 49992" name="adj1"/>
              </a:avLst>
            </a:prstGeom>
            <a:noFill/>
            <a:ln cap="flat" cmpd="sng" w="19050">
              <a:solidFill>
                <a:srgbClr val="FF0000"/>
              </a:solidFill>
              <a:prstDash val="solid"/>
              <a:round/>
              <a:headEnd len="sm" w="sm" type="none"/>
              <a:tailEnd len="med" w="med" type="triangle"/>
            </a:ln>
          </p:spPr>
        </p:cxnSp>
        <p:cxnSp>
          <p:nvCxnSpPr>
            <p:cNvPr id="590" name="Google Shape;590;p81"/>
            <p:cNvCxnSpPr>
              <a:stCxn id="580" idx="0"/>
              <a:endCxn id="585" idx="2"/>
            </p:cNvCxnSpPr>
            <p:nvPr/>
          </p:nvCxnSpPr>
          <p:spPr>
            <a:xfrm flipH="1" rot="5400000">
              <a:off x="7134086" y="2508495"/>
              <a:ext cx="361800" cy="845700"/>
            </a:xfrm>
            <a:prstGeom prst="bentConnector3">
              <a:avLst>
                <a:gd fmla="val 49993" name="adj1"/>
              </a:avLst>
            </a:prstGeom>
            <a:noFill/>
            <a:ln cap="flat" cmpd="sng" w="19050">
              <a:solidFill>
                <a:srgbClr val="FF0000"/>
              </a:solidFill>
              <a:prstDash val="solid"/>
              <a:round/>
              <a:headEnd len="sm" w="sm"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gtEl>
                                        <p:attrNameLst>
                                          <p:attrName>style.visibility</p:attrName>
                                        </p:attrNameLst>
                                      </p:cBhvr>
                                      <p:to>
                                        <p:strVal val="visible"/>
                                      </p:to>
                                    </p:set>
                                    <p:animEffect filter="fade" transition="in">
                                      <p:cBhvr>
                                        <p:cTn dur="1000"/>
                                        <p:tgtEl>
                                          <p:spTgt spid="5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1000"/>
                                        <p:tgtEl>
                                          <p:spTgt spid="5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88"/>
                                        </p:tgtEl>
                                        <p:attrNameLst>
                                          <p:attrName>style.visibility</p:attrName>
                                        </p:attrNameLst>
                                      </p:cBhvr>
                                      <p:to>
                                        <p:strVal val="visible"/>
                                      </p:to>
                                    </p:set>
                                    <p:animEffect filter="fade" transition="in">
                                      <p:cBhvr>
                                        <p:cTn dur="1000"/>
                                        <p:tgtEl>
                                          <p:spTgt spid="5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82"/>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Inheritance allows one class to reuse the accessible state and behavior defined by another class so that we don't need to copy-and-paste it in multiple places. Let's create a new Goat class that contains </a:t>
            </a:r>
            <a:r>
              <a:rPr lang="en"/>
              <a:t>all of the common attributes of the Mage and Fighter classes.</a:t>
            </a:r>
            <a:endParaRPr/>
          </a:p>
        </p:txBody>
      </p:sp>
      <p:sp>
        <p:nvSpPr>
          <p:cNvPr id="596" name="Google Shape;596;p8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7" name="Google Shape;597;p82"/>
          <p:cNvSpPr txBox="1"/>
          <p:nvPr>
            <p:ph idx="2" type="body"/>
          </p:nvPr>
        </p:nvSpPr>
        <p:spPr>
          <a:xfrm>
            <a:off x="2898550" y="1860725"/>
            <a:ext cx="6042600" cy="25596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Create a new Java class named "</a:t>
            </a:r>
            <a:r>
              <a:rPr lang="en" sz="1600">
                <a:solidFill>
                  <a:srgbClr val="FF0000"/>
                </a:solidFill>
                <a:latin typeface="Courier New"/>
                <a:ea typeface="Courier New"/>
                <a:cs typeface="Courier New"/>
                <a:sym typeface="Courier New"/>
              </a:rPr>
              <a:t>Goat</a:t>
            </a:r>
            <a:r>
              <a:rPr lang="en" sz="1600"/>
              <a:t>" and use it to encapsulate all of the common state and behavior between your two existing goat classes.</a:t>
            </a:r>
            <a:endParaRPr sz="1600"/>
          </a:p>
          <a:p>
            <a:pPr indent="-317500" lvl="1" marL="914400" rtl="0" algn="l">
              <a:spcBef>
                <a:spcPts val="0"/>
              </a:spcBef>
              <a:spcAft>
                <a:spcPts val="0"/>
              </a:spcAft>
              <a:buSzPts val="1400"/>
              <a:buChar char="○"/>
            </a:pPr>
            <a:r>
              <a:rPr b="1" i="1" lang="en" sz="1400">
                <a:solidFill>
                  <a:srgbClr val="FF0000"/>
                </a:solidFill>
              </a:rPr>
              <a:t>Copy/paste</a:t>
            </a:r>
            <a:r>
              <a:rPr lang="en" sz="1400"/>
              <a:t> all of the code from one of the two goat classes.</a:t>
            </a:r>
            <a:endParaRPr sz="1400"/>
          </a:p>
          <a:p>
            <a:pPr indent="-317500" lvl="1" marL="914400" rtl="0" algn="l">
              <a:spcBef>
                <a:spcPts val="0"/>
              </a:spcBef>
              <a:spcAft>
                <a:spcPts val="0"/>
              </a:spcAft>
              <a:buSzPts val="1400"/>
              <a:buChar char="○"/>
            </a:pPr>
            <a:r>
              <a:rPr lang="en" sz="1400"/>
              <a:t>Update the name of the constructor.</a:t>
            </a:r>
            <a:endParaRPr sz="1400"/>
          </a:p>
          <a:p>
            <a:pPr indent="-330200" lvl="0" marL="457200" rtl="0" algn="l">
              <a:spcBef>
                <a:spcPts val="0"/>
              </a:spcBef>
              <a:spcAft>
                <a:spcPts val="0"/>
              </a:spcAft>
              <a:buSzPts val="1600"/>
              <a:buChar char="●"/>
            </a:pPr>
            <a:r>
              <a:rPr lang="en" sz="1600"/>
              <a:t>How should you handle the </a:t>
            </a:r>
            <a:r>
              <a:rPr b="1" i="1" lang="en" sz="1600">
                <a:solidFill>
                  <a:srgbClr val="FF0000"/>
                </a:solidFill>
              </a:rPr>
              <a:t>attack</a:t>
            </a:r>
            <a:r>
              <a:rPr lang="en" sz="1600">
                <a:solidFill>
                  <a:srgbClr val="FF0000"/>
                </a:solidFill>
              </a:rPr>
              <a:t> </a:t>
            </a:r>
            <a:r>
              <a:rPr lang="en" sz="1600"/>
              <a:t>and </a:t>
            </a:r>
            <a:r>
              <a:rPr b="1" i="1" lang="en" sz="1600">
                <a:solidFill>
                  <a:srgbClr val="FF0000"/>
                </a:solidFill>
              </a:rPr>
              <a:t>take damage</a:t>
            </a:r>
            <a:r>
              <a:rPr lang="en" sz="1600">
                <a:solidFill>
                  <a:srgbClr val="FF0000"/>
                </a:solidFill>
              </a:rPr>
              <a:t> </a:t>
            </a:r>
            <a:r>
              <a:rPr lang="en" sz="1600"/>
              <a:t>methods?</a:t>
            </a:r>
            <a:endParaRPr sz="1600"/>
          </a:p>
          <a:p>
            <a:pPr indent="-317500" lvl="1" marL="914400" rtl="0" algn="l">
              <a:spcBef>
                <a:spcPts val="0"/>
              </a:spcBef>
              <a:spcAft>
                <a:spcPts val="0"/>
              </a:spcAft>
              <a:buSzPts val="1400"/>
              <a:buChar char="○"/>
            </a:pPr>
            <a:r>
              <a:rPr lang="en" sz="1400"/>
              <a:t>All goats </a:t>
            </a:r>
            <a:r>
              <a:rPr b="1" i="1" lang="en" sz="1400">
                <a:solidFill>
                  <a:srgbClr val="FF0000"/>
                </a:solidFill>
              </a:rPr>
              <a:t>need</a:t>
            </a:r>
            <a:r>
              <a:rPr lang="en" sz="1400">
                <a:solidFill>
                  <a:srgbClr val="FF0000"/>
                </a:solidFill>
              </a:rPr>
              <a:t> </a:t>
            </a:r>
            <a:r>
              <a:rPr lang="en" sz="1400"/>
              <a:t>both of these methods.</a:t>
            </a:r>
            <a:endParaRPr sz="1400"/>
          </a:p>
          <a:p>
            <a:pPr indent="-317500" lvl="1" marL="914400" rtl="0" algn="l">
              <a:spcBef>
                <a:spcPts val="0"/>
              </a:spcBef>
              <a:spcAft>
                <a:spcPts val="0"/>
              </a:spcAft>
              <a:buSzPts val="1400"/>
              <a:buChar char="○"/>
            </a:pPr>
            <a:r>
              <a:rPr lang="en" sz="1400"/>
              <a:t>But there is no common implementation.</a:t>
            </a:r>
            <a:endParaRPr sz="1400"/>
          </a:p>
        </p:txBody>
      </p:sp>
      <p:sp>
        <p:nvSpPr>
          <p:cNvPr id="598" name="Google Shape;598;p8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Common Goat</a:t>
            </a:r>
            <a:endParaRPr/>
          </a:p>
        </p:txBody>
      </p:sp>
      <p:sp>
        <p:nvSpPr>
          <p:cNvPr id="599" name="Google Shape;599;p8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3.10</a:t>
            </a:r>
            <a:endParaRPr/>
          </a:p>
        </p:txBody>
      </p:sp>
      <p:pic>
        <p:nvPicPr>
          <p:cNvPr id="600" name="Google Shape;600;p82"/>
          <p:cNvPicPr preferRelativeResize="0"/>
          <p:nvPr/>
        </p:nvPicPr>
        <p:blipFill rotWithShape="1">
          <a:blip r:embed="rId3">
            <a:alphaModFix/>
          </a:blip>
          <a:srcRect b="0" l="0" r="0" t="0"/>
          <a:stretch/>
        </p:blipFill>
        <p:spPr>
          <a:xfrm>
            <a:off x="1361425" y="2258453"/>
            <a:ext cx="1033850" cy="1488723"/>
          </a:xfrm>
          <a:prstGeom prst="rect">
            <a:avLst/>
          </a:prstGeom>
          <a:noFill/>
          <a:ln>
            <a:noFill/>
          </a:ln>
        </p:spPr>
      </p:pic>
      <p:pic>
        <p:nvPicPr>
          <p:cNvPr id="601" name="Google Shape;601;p82"/>
          <p:cNvPicPr preferRelativeResize="0"/>
          <p:nvPr/>
        </p:nvPicPr>
        <p:blipFill rotWithShape="1">
          <a:blip r:embed="rId4">
            <a:alphaModFix/>
          </a:blip>
          <a:srcRect b="0" l="0" r="0" t="0"/>
          <a:stretch/>
        </p:blipFill>
        <p:spPr>
          <a:xfrm>
            <a:off x="377550" y="2883440"/>
            <a:ext cx="1033850" cy="1488735"/>
          </a:xfrm>
          <a:prstGeom prst="rect">
            <a:avLst/>
          </a:prstGeom>
          <a:noFill/>
          <a:ln>
            <a:noFill/>
          </a:ln>
        </p:spPr>
      </p:pic>
      <p:pic>
        <p:nvPicPr>
          <p:cNvPr id="602" name="Google Shape;602;p82"/>
          <p:cNvPicPr preferRelativeResize="0"/>
          <p:nvPr/>
        </p:nvPicPr>
        <p:blipFill rotWithShape="1">
          <a:blip r:embed="rId5">
            <a:alphaModFix/>
          </a:blip>
          <a:srcRect b="0" l="0" r="0" t="0"/>
          <a:stretch/>
        </p:blipFill>
        <p:spPr>
          <a:xfrm>
            <a:off x="327575" y="1550909"/>
            <a:ext cx="1033850" cy="1488741"/>
          </a:xfrm>
          <a:prstGeom prst="rect">
            <a:avLst/>
          </a:prstGeom>
          <a:noFill/>
          <a:ln>
            <a:noFill/>
          </a:ln>
        </p:spPr>
      </p:pic>
      <p:sp>
        <p:nvSpPr>
          <p:cNvPr id="603" name="Google Shape;603;p82"/>
          <p:cNvSpPr txBox="1"/>
          <p:nvPr/>
        </p:nvSpPr>
        <p:spPr>
          <a:xfrm>
            <a:off x="197000" y="4505150"/>
            <a:ext cx="2529900" cy="497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Not all heroes wear capes. And not all goats wear hats.</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83"/>
          <p:cNvSpPr txBox="1"/>
          <p:nvPr>
            <p:ph idx="12" type="sldNum"/>
          </p:nvPr>
        </p:nvSpPr>
        <p:spPr>
          <a:xfrm>
            <a:off x="90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609" name="Google Shape;609;p83"/>
          <p:cNvSpPr txBox="1"/>
          <p:nvPr>
            <p:ph type="title"/>
          </p:nvPr>
        </p:nvSpPr>
        <p:spPr>
          <a:xfrm>
            <a:off x="5264725" y="119925"/>
            <a:ext cx="3706500" cy="522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r>
              <a:rPr lang="en"/>
              <a:t>Inheritance</a:t>
            </a:r>
            <a:endParaRPr sz="1800"/>
          </a:p>
        </p:txBody>
      </p:sp>
      <p:sp>
        <p:nvSpPr>
          <p:cNvPr id="610" name="Google Shape;610;p83"/>
          <p:cNvSpPr txBox="1"/>
          <p:nvPr>
            <p:ph idx="1" type="body"/>
          </p:nvPr>
        </p:nvSpPr>
        <p:spPr>
          <a:xfrm>
            <a:off x="0" y="272325"/>
            <a:ext cx="4788900" cy="4432200"/>
          </a:xfrm>
          <a:prstGeom prst="rect">
            <a:avLst/>
          </a:prstGeom>
          <a:noFill/>
          <a:ln>
            <a:noFill/>
          </a:ln>
        </p:spPr>
        <p:txBody>
          <a:bodyPr anchorCtr="0" anchor="ctr" bIns="91425" lIns="91425" spcFirstLastPara="1" rIns="91425" wrap="square" tIns="91425">
            <a:noAutofit/>
          </a:bodyPr>
          <a:lstStyle/>
          <a:p>
            <a:pPr indent="-311150" lvl="0" marL="457200" rtl="0" algn="l">
              <a:lnSpc>
                <a:spcPct val="100000"/>
              </a:lnSpc>
              <a:spcBef>
                <a:spcPts val="0"/>
              </a:spcBef>
              <a:spcAft>
                <a:spcPts val="0"/>
              </a:spcAft>
              <a:buSzPts val="1300"/>
              <a:buChar char="●"/>
            </a:pPr>
            <a:r>
              <a:rPr lang="en"/>
              <a:t>A child class </a:t>
            </a:r>
            <a:r>
              <a:rPr b="1" i="1" lang="en">
                <a:solidFill>
                  <a:srgbClr val="FF0000"/>
                </a:solidFill>
              </a:rPr>
              <a:t>inherits</a:t>
            </a:r>
            <a:r>
              <a:rPr lang="en">
                <a:solidFill>
                  <a:srgbClr val="FF0000"/>
                </a:solidFill>
              </a:rPr>
              <a:t> </a:t>
            </a:r>
            <a:r>
              <a:rPr lang="en"/>
              <a:t>the </a:t>
            </a:r>
            <a:r>
              <a:rPr b="1" i="1" lang="en">
                <a:solidFill>
                  <a:srgbClr val="FF0000"/>
                </a:solidFill>
              </a:rPr>
              <a:t>accessible</a:t>
            </a:r>
            <a:r>
              <a:rPr lang="en">
                <a:solidFill>
                  <a:srgbClr val="FF0000"/>
                </a:solidFill>
              </a:rPr>
              <a:t> </a:t>
            </a:r>
            <a:r>
              <a:rPr lang="en"/>
              <a:t>state and behavior of its </a:t>
            </a:r>
            <a:r>
              <a:rPr b="1" i="1" lang="en">
                <a:solidFill>
                  <a:srgbClr val="FF0000"/>
                </a:solidFill>
              </a:rPr>
              <a:t>parent class</a:t>
            </a:r>
            <a:r>
              <a:rPr lang="en"/>
              <a:t>.</a:t>
            </a:r>
            <a:endParaRPr/>
          </a:p>
          <a:p>
            <a:pPr indent="-298450" lvl="1" marL="914400" rtl="0" algn="l">
              <a:lnSpc>
                <a:spcPct val="100000"/>
              </a:lnSpc>
              <a:spcBef>
                <a:spcPts val="0"/>
              </a:spcBef>
              <a:spcAft>
                <a:spcPts val="0"/>
              </a:spcAft>
              <a:buSzPts val="1100"/>
              <a:buChar char="○"/>
            </a:pPr>
            <a:r>
              <a:rPr b="1" i="1" lang="en">
                <a:solidFill>
                  <a:srgbClr val="FF0000"/>
                </a:solidFill>
              </a:rPr>
              <a:t>Private</a:t>
            </a:r>
            <a:r>
              <a:rPr lang="en">
                <a:solidFill>
                  <a:srgbClr val="FF0000"/>
                </a:solidFill>
              </a:rPr>
              <a:t> </a:t>
            </a:r>
            <a:r>
              <a:rPr lang="en"/>
              <a:t>members are not inherited.</a:t>
            </a:r>
            <a:endParaRPr/>
          </a:p>
          <a:p>
            <a:pPr indent="-298450" lvl="1" marL="914400" rtl="0" algn="l">
              <a:lnSpc>
                <a:spcPct val="100000"/>
              </a:lnSpc>
              <a:spcBef>
                <a:spcPts val="0"/>
              </a:spcBef>
              <a:spcAft>
                <a:spcPts val="0"/>
              </a:spcAft>
              <a:buSzPts val="1100"/>
              <a:buChar char="○"/>
            </a:pPr>
            <a:r>
              <a:rPr lang="en"/>
              <a:t>Child classes </a:t>
            </a:r>
            <a:r>
              <a:rPr b="1" i="1" lang="en">
                <a:solidFill>
                  <a:srgbClr val="FF0000"/>
                </a:solidFill>
              </a:rPr>
              <a:t>do</a:t>
            </a:r>
            <a:r>
              <a:rPr lang="en">
                <a:solidFill>
                  <a:srgbClr val="FF0000"/>
                </a:solidFill>
              </a:rPr>
              <a:t> </a:t>
            </a:r>
            <a:r>
              <a:rPr lang="en"/>
              <a:t>inherit </a:t>
            </a:r>
            <a:r>
              <a:rPr b="1" i="1" lang="en">
                <a:solidFill>
                  <a:srgbClr val="FF0000"/>
                </a:solidFill>
              </a:rPr>
              <a:t>protected</a:t>
            </a:r>
            <a:r>
              <a:rPr lang="en">
                <a:solidFill>
                  <a:srgbClr val="FF0000"/>
                </a:solidFill>
              </a:rPr>
              <a:t> </a:t>
            </a:r>
            <a:r>
              <a:rPr lang="en"/>
              <a:t>members.</a:t>
            </a:r>
            <a:endParaRPr/>
          </a:p>
          <a:p>
            <a:pPr indent="-298450" lvl="1" marL="914400" rtl="0" algn="l">
              <a:lnSpc>
                <a:spcPct val="100000"/>
              </a:lnSpc>
              <a:spcBef>
                <a:spcPts val="0"/>
              </a:spcBef>
              <a:spcAft>
                <a:spcPts val="0"/>
              </a:spcAft>
              <a:buSzPts val="1100"/>
              <a:buChar char="○"/>
            </a:pPr>
            <a:r>
              <a:rPr b="1" i="1" lang="en">
                <a:solidFill>
                  <a:srgbClr val="FF0000"/>
                </a:solidFill>
              </a:rPr>
              <a:t>Constructors</a:t>
            </a:r>
            <a:r>
              <a:rPr lang="en">
                <a:solidFill>
                  <a:srgbClr val="FF0000"/>
                </a:solidFill>
              </a:rPr>
              <a:t> </a:t>
            </a:r>
            <a:r>
              <a:rPr lang="en"/>
              <a:t>are </a:t>
            </a:r>
            <a:r>
              <a:rPr b="1" i="1" lang="en">
                <a:solidFill>
                  <a:srgbClr val="FF0000"/>
                </a:solidFill>
              </a:rPr>
              <a:t>not</a:t>
            </a:r>
            <a:r>
              <a:rPr lang="en">
                <a:solidFill>
                  <a:srgbClr val="FF0000"/>
                </a:solidFill>
              </a:rPr>
              <a:t> </a:t>
            </a:r>
            <a:r>
              <a:rPr lang="en"/>
              <a:t>inherited. The child class must define its own.</a:t>
            </a:r>
            <a:endParaRPr/>
          </a:p>
          <a:p>
            <a:pPr indent="-311150" lvl="0" marL="457200" rtl="0" algn="l">
              <a:lnSpc>
                <a:spcPct val="100000"/>
              </a:lnSpc>
              <a:spcBef>
                <a:spcPts val="0"/>
              </a:spcBef>
              <a:spcAft>
                <a:spcPts val="0"/>
              </a:spcAft>
              <a:buSzPts val="1300"/>
              <a:buChar char="●"/>
            </a:pPr>
            <a:r>
              <a:rPr lang="en"/>
              <a:t>This means that an instance of the child class can reuse the state and behavior in its parent.</a:t>
            </a:r>
            <a:endParaRPr/>
          </a:p>
          <a:p>
            <a:pPr indent="-298450" lvl="1" marL="914400" rtl="0" algn="l">
              <a:lnSpc>
                <a:spcPct val="100000"/>
              </a:lnSpc>
              <a:spcBef>
                <a:spcPts val="0"/>
              </a:spcBef>
              <a:spcAft>
                <a:spcPts val="0"/>
              </a:spcAft>
              <a:buSzPts val="1100"/>
              <a:buChar char="○"/>
            </a:pPr>
            <a:r>
              <a:rPr lang="en"/>
              <a:t>This includes </a:t>
            </a:r>
            <a:r>
              <a:rPr b="1" i="1" lang="en">
                <a:solidFill>
                  <a:srgbClr val="FF0000"/>
                </a:solidFill>
              </a:rPr>
              <a:t>accessible</a:t>
            </a:r>
            <a:r>
              <a:rPr lang="en"/>
              <a:t> fields in the parent class.</a:t>
            </a:r>
            <a:endParaRPr/>
          </a:p>
          <a:p>
            <a:pPr indent="-298450" lvl="1" marL="914400" rtl="0" algn="l">
              <a:lnSpc>
                <a:spcPct val="100000"/>
              </a:lnSpc>
              <a:spcBef>
                <a:spcPts val="0"/>
              </a:spcBef>
              <a:spcAft>
                <a:spcPts val="0"/>
              </a:spcAft>
              <a:buSzPts val="1100"/>
              <a:buChar char="○"/>
            </a:pPr>
            <a:r>
              <a:rPr lang="en"/>
              <a:t>This also includes any </a:t>
            </a:r>
            <a:r>
              <a:rPr b="1" i="1" lang="en">
                <a:solidFill>
                  <a:srgbClr val="FF0000"/>
                </a:solidFill>
              </a:rPr>
              <a:t>accessible</a:t>
            </a:r>
            <a:r>
              <a:rPr lang="en"/>
              <a:t> methods in the parent class.</a:t>
            </a:r>
            <a:endParaRPr/>
          </a:p>
          <a:p>
            <a:pPr indent="-311150" lvl="0" marL="457200" rtl="0" algn="l">
              <a:lnSpc>
                <a:spcPct val="100000"/>
              </a:lnSpc>
              <a:spcBef>
                <a:spcPts val="0"/>
              </a:spcBef>
              <a:spcAft>
                <a:spcPts val="0"/>
              </a:spcAft>
              <a:buSzPts val="1300"/>
              <a:buChar char="●"/>
            </a:pPr>
            <a:r>
              <a:rPr lang="en"/>
              <a:t>Inherited state and behavior can be accessed </a:t>
            </a:r>
            <a:r>
              <a:rPr b="1" i="1" lang="en">
                <a:solidFill>
                  <a:srgbClr val="FF0000"/>
                </a:solidFill>
              </a:rPr>
              <a:t>through the child</a:t>
            </a:r>
            <a:r>
              <a:rPr lang="en"/>
              <a:t> using dot notation.</a:t>
            </a:r>
            <a:endParaRPr/>
          </a:p>
          <a:p>
            <a:pPr indent="-298450" lvl="1" marL="914400" rtl="0" algn="l">
              <a:lnSpc>
                <a:spcPct val="100000"/>
              </a:lnSpc>
              <a:spcBef>
                <a:spcPts val="0"/>
              </a:spcBef>
              <a:spcAft>
                <a:spcPts val="0"/>
              </a:spcAft>
              <a:buSzPts val="1100"/>
              <a:buChar char="○"/>
            </a:pPr>
            <a:r>
              <a:rPr lang="en"/>
              <a:t>This also means that an instance of the child class can be used anywhere the parent is expected.</a:t>
            </a:r>
            <a:endParaRPr/>
          </a:p>
          <a:p>
            <a:pPr indent="-298450" lvl="1" marL="914400" rtl="0" algn="l">
              <a:lnSpc>
                <a:spcPct val="100000"/>
              </a:lnSpc>
              <a:spcBef>
                <a:spcPts val="0"/>
              </a:spcBef>
              <a:spcAft>
                <a:spcPts val="0"/>
              </a:spcAft>
              <a:buSzPts val="1100"/>
              <a:buChar char="○"/>
            </a:pPr>
            <a:r>
              <a:rPr lang="en"/>
              <a:t>For example, an instance of the </a:t>
            </a:r>
            <a:r>
              <a:rPr b="1" i="1" lang="en">
                <a:solidFill>
                  <a:srgbClr val="FF0000"/>
                </a:solidFill>
              </a:rPr>
              <a:t>child class </a:t>
            </a:r>
            <a:r>
              <a:rPr lang="en"/>
              <a:t>may be passed as an argument to a method that declares a parameter of its </a:t>
            </a:r>
            <a:r>
              <a:rPr b="1" i="1" lang="en">
                <a:solidFill>
                  <a:srgbClr val="FF0000"/>
                </a:solidFill>
              </a:rPr>
              <a:t>parent's type</a:t>
            </a:r>
            <a:r>
              <a:rPr lang="en"/>
              <a:t>. Code inside the method can use </a:t>
            </a:r>
            <a:r>
              <a:rPr b="1" i="1" lang="en">
                <a:solidFill>
                  <a:srgbClr val="FF0000"/>
                </a:solidFill>
              </a:rPr>
              <a:t>any </a:t>
            </a:r>
            <a:r>
              <a:rPr lang="en"/>
              <a:t>of the state and behavior defined by the </a:t>
            </a:r>
            <a:r>
              <a:rPr b="1" i="1" lang="en">
                <a:solidFill>
                  <a:srgbClr val="FF0000"/>
                </a:solidFill>
              </a:rPr>
              <a:t>parent</a:t>
            </a:r>
            <a:r>
              <a:rPr lang="en"/>
              <a:t>.</a:t>
            </a:r>
            <a:endParaRPr/>
          </a:p>
          <a:p>
            <a:pPr indent="-298450" lvl="1" marL="914400" rtl="0" algn="l">
              <a:lnSpc>
                <a:spcPct val="100000"/>
              </a:lnSpc>
              <a:spcBef>
                <a:spcPts val="0"/>
              </a:spcBef>
              <a:spcAft>
                <a:spcPts val="0"/>
              </a:spcAft>
              <a:buSzPts val="1100"/>
              <a:buChar char="○"/>
            </a:pPr>
            <a:r>
              <a:rPr lang="en"/>
              <a:t>This is a core object-oriented concept known as </a:t>
            </a:r>
            <a:r>
              <a:rPr b="1" i="1" lang="en">
                <a:solidFill>
                  <a:srgbClr val="FF0000"/>
                </a:solidFill>
              </a:rPr>
              <a:t>polymorphism</a:t>
            </a:r>
            <a:r>
              <a:rPr lang="en"/>
              <a:t>.</a:t>
            </a:r>
            <a:endParaRPr/>
          </a:p>
          <a:p>
            <a:pPr indent="-311150" lvl="0" marL="457200" rtl="0" algn="l">
              <a:lnSpc>
                <a:spcPct val="100000"/>
              </a:lnSpc>
              <a:spcBef>
                <a:spcPts val="0"/>
              </a:spcBef>
              <a:spcAft>
                <a:spcPts val="0"/>
              </a:spcAft>
              <a:buSzPts val="1300"/>
              <a:buChar char="●"/>
            </a:pPr>
            <a:r>
              <a:rPr lang="en"/>
              <a:t>In Java, a child class uses </a:t>
            </a:r>
            <a:r>
              <a:rPr lang="en">
                <a:solidFill>
                  <a:srgbClr val="FF0000"/>
                </a:solidFill>
                <a:latin typeface="Courier New"/>
                <a:ea typeface="Courier New"/>
                <a:cs typeface="Courier New"/>
                <a:sym typeface="Courier New"/>
              </a:rPr>
              <a:t>extends</a:t>
            </a:r>
            <a:r>
              <a:rPr lang="en"/>
              <a:t> to establish an inheritance relationship with a parent class.</a:t>
            </a:r>
            <a:endParaRPr/>
          </a:p>
          <a:p>
            <a:pPr indent="-298450" lvl="1" marL="914400" rtl="0" algn="l">
              <a:lnSpc>
                <a:spcPct val="100000"/>
              </a:lnSpc>
              <a:spcBef>
                <a:spcPts val="0"/>
              </a:spcBef>
              <a:spcAft>
                <a:spcPts val="0"/>
              </a:spcAft>
              <a:buSzPts val="1100"/>
              <a:buChar char="○"/>
            </a:pPr>
            <a:r>
              <a:rPr lang="en"/>
              <a:t>e.g. </a:t>
            </a:r>
            <a:r>
              <a:rPr lang="en">
                <a:solidFill>
                  <a:srgbClr val="FF0000"/>
                </a:solidFill>
                <a:latin typeface="Courier New"/>
                <a:ea typeface="Courier New"/>
                <a:cs typeface="Courier New"/>
                <a:sym typeface="Courier New"/>
              </a:rPr>
              <a:t>public class Child extends Parent</a:t>
            </a:r>
            <a:endParaRPr>
              <a:solidFill>
                <a:srgbClr val="FF0000"/>
              </a:solidFill>
              <a:latin typeface="Courier New"/>
              <a:ea typeface="Courier New"/>
              <a:cs typeface="Courier New"/>
              <a:sym typeface="Courier New"/>
            </a:endParaRPr>
          </a:p>
        </p:txBody>
      </p:sp>
      <p:sp>
        <p:nvSpPr>
          <p:cNvPr id="611" name="Google Shape;611;p83"/>
          <p:cNvSpPr txBox="1"/>
          <p:nvPr>
            <p:ph idx="3" type="body"/>
          </p:nvPr>
        </p:nvSpPr>
        <p:spPr>
          <a:xfrm>
            <a:off x="5192225" y="3874695"/>
            <a:ext cx="3706500" cy="1084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Remember, arrows in UML indicate the direction of dependency. Because the child depends on the parent (and not the other way around), inheritance in UML is depicted with a </a:t>
            </a:r>
            <a:r>
              <a:rPr b="1" i="1" lang="en" sz="1200">
                <a:solidFill>
                  <a:srgbClr val="FF0000"/>
                </a:solidFill>
              </a:rPr>
              <a:t>closed arrow</a:t>
            </a:r>
            <a:r>
              <a:rPr lang="en" sz="1200"/>
              <a:t> (that is not filled) that points </a:t>
            </a:r>
            <a:r>
              <a:rPr b="1" i="1" lang="en" sz="1200">
                <a:solidFill>
                  <a:srgbClr val="FF0000"/>
                </a:solidFill>
              </a:rPr>
              <a:t>from the child to the parent</a:t>
            </a:r>
            <a:r>
              <a:rPr lang="en" sz="1200"/>
              <a:t>.</a:t>
            </a:r>
            <a:endParaRPr sz="1200"/>
          </a:p>
        </p:txBody>
      </p:sp>
      <p:graphicFrame>
        <p:nvGraphicFramePr>
          <p:cNvPr id="612" name="Google Shape;612;p83"/>
          <p:cNvGraphicFramePr/>
          <p:nvPr/>
        </p:nvGraphicFramePr>
        <p:xfrm>
          <a:off x="6236050" y="721710"/>
          <a:ext cx="3000000" cy="3000000"/>
        </p:xfrm>
        <a:graphic>
          <a:graphicData uri="http://schemas.openxmlformats.org/drawingml/2006/table">
            <a:tbl>
              <a:tblPr>
                <a:noFill/>
                <a:tableStyleId>{7F442979-C056-43AA-83C6-67E564C60A4D}</a:tableStyleId>
              </a:tblPr>
              <a:tblGrid>
                <a:gridCol w="1618850"/>
              </a:tblGrid>
              <a:tr h="1524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Consolas"/>
                          <a:ea typeface="Consolas"/>
                          <a:cs typeface="Consolas"/>
                          <a:sym typeface="Consolas"/>
                        </a:rPr>
                        <a:t>Parent</a:t>
                      </a:r>
                      <a:endParaRPr sz="12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524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Consolas"/>
                          <a:ea typeface="Consolas"/>
                          <a:cs typeface="Consolas"/>
                          <a:sym typeface="Consolas"/>
                        </a:rPr>
                        <a:t>- fields</a:t>
                      </a:r>
                      <a:endParaRPr sz="12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524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Consolas"/>
                          <a:ea typeface="Consolas"/>
                          <a:cs typeface="Consolas"/>
                          <a:sym typeface="Consolas"/>
                        </a:rPr>
                        <a:t>+ methods</a:t>
                      </a:r>
                      <a:endParaRPr sz="12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613" name="Google Shape;613;p83"/>
          <p:cNvGraphicFramePr/>
          <p:nvPr/>
        </p:nvGraphicFramePr>
        <p:xfrm>
          <a:off x="6236050" y="2626710"/>
          <a:ext cx="3000000" cy="3000000"/>
        </p:xfrm>
        <a:graphic>
          <a:graphicData uri="http://schemas.openxmlformats.org/drawingml/2006/table">
            <a:tbl>
              <a:tblPr>
                <a:noFill/>
                <a:tableStyleId>{7F442979-C056-43AA-83C6-67E564C60A4D}</a:tableStyleId>
              </a:tblPr>
              <a:tblGrid>
                <a:gridCol w="1618850"/>
              </a:tblGrid>
              <a:tr h="1524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Consolas"/>
                          <a:ea typeface="Consolas"/>
                          <a:cs typeface="Consolas"/>
                          <a:sym typeface="Consolas"/>
                        </a:rPr>
                        <a:t>Child</a:t>
                      </a:r>
                      <a:endParaRPr sz="12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524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Consolas"/>
                          <a:ea typeface="Consolas"/>
                          <a:cs typeface="Consolas"/>
                          <a:sym typeface="Consolas"/>
                        </a:rPr>
                        <a:t>- more fields</a:t>
                      </a:r>
                      <a:endParaRPr sz="12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524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Consolas"/>
                          <a:ea typeface="Consolas"/>
                          <a:cs typeface="Consolas"/>
                          <a:sym typeface="Consolas"/>
                        </a:rPr>
                        <a:t>+ more methods</a:t>
                      </a:r>
                      <a:endParaRPr sz="12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pSp>
        <p:nvGrpSpPr>
          <p:cNvPr id="614" name="Google Shape;614;p83"/>
          <p:cNvGrpSpPr/>
          <p:nvPr/>
        </p:nvGrpSpPr>
        <p:grpSpPr>
          <a:xfrm>
            <a:off x="6908825" y="1823066"/>
            <a:ext cx="273300" cy="807900"/>
            <a:chOff x="6908825" y="1823066"/>
            <a:chExt cx="273300" cy="807900"/>
          </a:xfrm>
        </p:grpSpPr>
        <p:sp>
          <p:nvSpPr>
            <p:cNvPr id="615" name="Google Shape;615;p83"/>
            <p:cNvSpPr/>
            <p:nvPr/>
          </p:nvSpPr>
          <p:spPr>
            <a:xfrm>
              <a:off x="6908825" y="1823066"/>
              <a:ext cx="273300" cy="207000"/>
            </a:xfrm>
            <a:prstGeom prst="triangle">
              <a:avLst>
                <a:gd fmla="val 50000" name="adj"/>
              </a:avLst>
            </a:prstGeom>
            <a:noFill/>
            <a:ln cap="flat" cmpd="sng" w="2857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16" name="Google Shape;616;p83"/>
            <p:cNvCxnSpPr>
              <a:stCxn id="615" idx="3"/>
            </p:cNvCxnSpPr>
            <p:nvPr/>
          </p:nvCxnSpPr>
          <p:spPr>
            <a:xfrm>
              <a:off x="7045475" y="2030066"/>
              <a:ext cx="0" cy="600900"/>
            </a:xfrm>
            <a:prstGeom prst="straightConnector1">
              <a:avLst/>
            </a:prstGeom>
            <a:noFill/>
            <a:ln cap="flat" cmpd="sng" w="28575">
              <a:solidFill>
                <a:srgbClr val="EA9999"/>
              </a:solidFill>
              <a:prstDash val="solid"/>
              <a:round/>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1000"/>
                                        <p:tgtEl>
                                          <p:spTgt spid="611"/>
                                        </p:tgtEl>
                                      </p:cBhvr>
                                    </p:animEffect>
                                  </p:childTnLst>
                                </p:cTn>
                              </p:par>
                              <p:par>
                                <p:cTn fill="hold" nodeType="with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1000"/>
                                        <p:tgtEl>
                                          <p:spTgt spid="612"/>
                                        </p:tgtEl>
                                      </p:cBhvr>
                                    </p:animEffect>
                                  </p:childTnLst>
                                </p:cTn>
                              </p:par>
                              <p:par>
                                <p:cTn fill="hold" nodeType="withEffect" presetClass="entr" presetID="10" presetSubtype="0">
                                  <p:stCondLst>
                                    <p:cond delay="0"/>
                                  </p:stCondLst>
                                  <p:childTnLst>
                                    <p:set>
                                      <p:cBhvr>
                                        <p:cTn dur="1" fill="hold">
                                          <p:stCondLst>
                                            <p:cond delay="0"/>
                                          </p:stCondLst>
                                        </p:cTn>
                                        <p:tgtEl>
                                          <p:spTgt spid="613"/>
                                        </p:tgtEl>
                                        <p:attrNameLst>
                                          <p:attrName>style.visibility</p:attrName>
                                        </p:attrNameLst>
                                      </p:cBhvr>
                                      <p:to>
                                        <p:strVal val="visible"/>
                                      </p:to>
                                    </p:set>
                                    <p:animEffect filter="fade" transition="in">
                                      <p:cBhvr>
                                        <p:cTn dur="1000"/>
                                        <p:tgtEl>
                                          <p:spTgt spid="61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14"/>
                                        </p:tgtEl>
                                        <p:attrNameLst>
                                          <p:attrName>style.visibility</p:attrName>
                                        </p:attrNameLst>
                                      </p:cBhvr>
                                      <p:to>
                                        <p:strVal val="visible"/>
                                      </p:to>
                                    </p:set>
                                    <p:animEffect filter="fade" transition="in">
                                      <p:cBhvr>
                                        <p:cTn dur="1000"/>
                                        <p:tgtEl>
                                          <p:spTgt spid="6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84"/>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latin typeface="Courier New"/>
                <a:ea typeface="Courier New"/>
                <a:cs typeface="Courier New"/>
                <a:sym typeface="Courier New"/>
              </a:rPr>
              <a:t>super</a:t>
            </a:r>
            <a:r>
              <a:rPr lang="en"/>
              <a:t> &amp; Access Modifiers</a:t>
            </a:r>
            <a:endParaRPr/>
          </a:p>
        </p:txBody>
      </p:sp>
      <p:sp>
        <p:nvSpPr>
          <p:cNvPr id="622" name="Google Shape;622;p84"/>
          <p:cNvSpPr txBox="1"/>
          <p:nvPr>
            <p:ph idx="1" type="body"/>
          </p:nvPr>
        </p:nvSpPr>
        <p:spPr>
          <a:xfrm>
            <a:off x="83100" y="1353300"/>
            <a:ext cx="4143900" cy="3703500"/>
          </a:xfrm>
          <a:prstGeom prst="rect">
            <a:avLst/>
          </a:prstGeom>
          <a:noFill/>
          <a:ln>
            <a:noFill/>
          </a:ln>
        </p:spPr>
        <p:txBody>
          <a:bodyPr anchorCtr="0" anchor="ctr" bIns="91425" lIns="91425" spcFirstLastPara="1" rIns="91425" wrap="square" tIns="91425">
            <a:noAutofit/>
          </a:bodyPr>
          <a:lstStyle/>
          <a:p>
            <a:pPr indent="-311150" lvl="0" marL="457200" rtl="0" algn="l">
              <a:lnSpc>
                <a:spcPct val="100000"/>
              </a:lnSpc>
              <a:spcBef>
                <a:spcPts val="0"/>
              </a:spcBef>
              <a:spcAft>
                <a:spcPts val="0"/>
              </a:spcAft>
              <a:buSzPts val="1300"/>
              <a:buChar char="●"/>
            </a:pPr>
            <a:r>
              <a:rPr lang="en"/>
              <a:t>We already know that an object uses </a:t>
            </a:r>
            <a:r>
              <a:rPr lang="en">
                <a:solidFill>
                  <a:srgbClr val="FF0000"/>
                </a:solidFill>
                <a:latin typeface="Courier New"/>
                <a:ea typeface="Courier New"/>
                <a:cs typeface="Courier New"/>
                <a:sym typeface="Courier New"/>
              </a:rPr>
              <a:t>this</a:t>
            </a:r>
            <a:r>
              <a:rPr lang="en">
                <a:solidFill>
                  <a:srgbClr val="FF0000"/>
                </a:solidFill>
              </a:rPr>
              <a:t> </a:t>
            </a:r>
            <a:r>
              <a:rPr lang="en"/>
              <a:t>to refer to itself and use its </a:t>
            </a:r>
            <a:r>
              <a:rPr b="1" i="1" lang="en">
                <a:solidFill>
                  <a:srgbClr val="FF0000"/>
                </a:solidFill>
              </a:rPr>
              <a:t>own </a:t>
            </a:r>
            <a:r>
              <a:rPr lang="en"/>
              <a:t>state and behavior. It can be used in several different ways, e.g.:</a:t>
            </a:r>
            <a:endParaRPr/>
          </a:p>
          <a:p>
            <a:pPr indent="-298450" lvl="1" marL="914400" rtl="0" algn="l">
              <a:lnSpc>
                <a:spcPct val="100000"/>
              </a:lnSpc>
              <a:spcBef>
                <a:spcPts val="0"/>
              </a:spcBef>
              <a:spcAft>
                <a:spcPts val="0"/>
              </a:spcAft>
              <a:buSzPts val="1100"/>
              <a:buChar char="○"/>
            </a:pPr>
            <a:r>
              <a:rPr lang="en"/>
              <a:t>Setting fields: </a:t>
            </a:r>
            <a:r>
              <a:rPr lang="en">
                <a:solidFill>
                  <a:srgbClr val="FF0000"/>
                </a:solidFill>
                <a:latin typeface="Courier New"/>
                <a:ea typeface="Courier New"/>
                <a:cs typeface="Courier New"/>
                <a:sym typeface="Courier New"/>
              </a:rPr>
              <a:t>this.name = name;</a:t>
            </a:r>
            <a:endParaRPr>
              <a:solidFill>
                <a:srgbClr val="FF0000"/>
              </a:solidFill>
              <a:latin typeface="Courier New"/>
              <a:ea typeface="Courier New"/>
              <a:cs typeface="Courier New"/>
              <a:sym typeface="Courier New"/>
            </a:endParaRPr>
          </a:p>
          <a:p>
            <a:pPr indent="-298450" lvl="1" marL="914400" rtl="0" algn="l">
              <a:lnSpc>
                <a:spcPct val="100000"/>
              </a:lnSpc>
              <a:spcBef>
                <a:spcPts val="0"/>
              </a:spcBef>
              <a:spcAft>
                <a:spcPts val="0"/>
              </a:spcAft>
              <a:buSzPts val="1100"/>
              <a:buChar char="○"/>
            </a:pPr>
            <a:r>
              <a:rPr lang="en"/>
              <a:t>Chaining constructors: </a:t>
            </a:r>
            <a:r>
              <a:rPr lang="en">
                <a:solidFill>
                  <a:srgbClr val="FF0000"/>
                </a:solidFill>
                <a:latin typeface="Courier New"/>
                <a:ea typeface="Courier New"/>
                <a:cs typeface="Courier New"/>
                <a:sym typeface="Courier New"/>
              </a:rPr>
              <a:t>this(name, age);</a:t>
            </a:r>
            <a:endParaRPr>
              <a:solidFill>
                <a:srgbClr val="FF0000"/>
              </a:solidFill>
              <a:latin typeface="Courier New"/>
              <a:ea typeface="Courier New"/>
              <a:cs typeface="Courier New"/>
              <a:sym typeface="Courier New"/>
            </a:endParaRPr>
          </a:p>
          <a:p>
            <a:pPr indent="-298450" lvl="1" marL="914400" rtl="0" algn="l">
              <a:lnSpc>
                <a:spcPct val="100000"/>
              </a:lnSpc>
              <a:spcBef>
                <a:spcPts val="0"/>
              </a:spcBef>
              <a:spcAft>
                <a:spcPts val="0"/>
              </a:spcAft>
              <a:buSzPts val="1100"/>
              <a:buChar char="○"/>
            </a:pPr>
            <a:r>
              <a:rPr lang="en"/>
              <a:t>Invoking methods: </a:t>
            </a:r>
            <a:r>
              <a:rPr lang="en">
                <a:solidFill>
                  <a:srgbClr val="FF0000"/>
                </a:solidFill>
                <a:latin typeface="Courier New"/>
                <a:ea typeface="Courier New"/>
                <a:cs typeface="Courier New"/>
                <a:sym typeface="Courier New"/>
              </a:rPr>
              <a:t>this.getName();</a:t>
            </a:r>
            <a:endParaRPr>
              <a:solidFill>
                <a:srgbClr val="FF0000"/>
              </a:solidFill>
              <a:latin typeface="Courier New"/>
              <a:ea typeface="Courier New"/>
              <a:cs typeface="Courier New"/>
              <a:sym typeface="Courier New"/>
            </a:endParaRPr>
          </a:p>
          <a:p>
            <a:pPr indent="-311150" lvl="0" marL="457200" rtl="0" algn="l">
              <a:lnSpc>
                <a:spcPct val="100000"/>
              </a:lnSpc>
              <a:spcBef>
                <a:spcPts val="0"/>
              </a:spcBef>
              <a:spcAft>
                <a:spcPts val="0"/>
              </a:spcAft>
              <a:buSzPts val="1300"/>
              <a:buChar char="●"/>
            </a:pPr>
            <a:r>
              <a:rPr lang="en"/>
              <a:t>Similarly, an object uses </a:t>
            </a:r>
            <a:r>
              <a:rPr lang="en">
                <a:solidFill>
                  <a:srgbClr val="FF0000"/>
                </a:solidFill>
                <a:latin typeface="Courier New"/>
                <a:ea typeface="Courier New"/>
                <a:cs typeface="Courier New"/>
                <a:sym typeface="Courier New"/>
              </a:rPr>
              <a:t>super</a:t>
            </a:r>
            <a:r>
              <a:rPr lang="en"/>
              <a:t> to access state and behavior defined by its </a:t>
            </a:r>
            <a:r>
              <a:rPr lang="en">
                <a:solidFill>
                  <a:srgbClr val="FF0000"/>
                </a:solidFill>
              </a:rPr>
              <a:t>parent class</a:t>
            </a:r>
            <a:r>
              <a:rPr lang="en"/>
              <a:t>, e.g.</a:t>
            </a:r>
            <a:endParaRPr/>
          </a:p>
          <a:p>
            <a:pPr indent="-298450" lvl="1" marL="914400" rtl="0" algn="l">
              <a:lnSpc>
                <a:spcPct val="100000"/>
              </a:lnSpc>
              <a:spcBef>
                <a:spcPts val="0"/>
              </a:spcBef>
              <a:spcAft>
                <a:spcPts val="0"/>
              </a:spcAft>
              <a:buSzPts val="1100"/>
              <a:buChar char="○"/>
            </a:pPr>
            <a:r>
              <a:rPr lang="en"/>
              <a:t>Invoke a constructor: </a:t>
            </a:r>
            <a:r>
              <a:rPr lang="en">
                <a:solidFill>
                  <a:srgbClr val="FF0000"/>
                </a:solidFill>
                <a:latin typeface="Courier New"/>
                <a:ea typeface="Courier New"/>
                <a:cs typeface="Courier New"/>
                <a:sym typeface="Courier New"/>
              </a:rPr>
              <a:t>super(x, "white");</a:t>
            </a:r>
            <a:endParaRPr>
              <a:solidFill>
                <a:srgbClr val="FF0000"/>
              </a:solidFill>
              <a:latin typeface="Courier New"/>
              <a:ea typeface="Courier New"/>
              <a:cs typeface="Courier New"/>
              <a:sym typeface="Courier New"/>
            </a:endParaRPr>
          </a:p>
          <a:p>
            <a:pPr indent="-298450" lvl="1" marL="914400" rtl="0" algn="l">
              <a:lnSpc>
                <a:spcPct val="100000"/>
              </a:lnSpc>
              <a:spcBef>
                <a:spcPts val="0"/>
              </a:spcBef>
              <a:spcAft>
                <a:spcPts val="0"/>
              </a:spcAft>
              <a:buSzPts val="1100"/>
              <a:buChar char="○"/>
            </a:pPr>
            <a:r>
              <a:rPr lang="en"/>
              <a:t>Access fields: </a:t>
            </a:r>
            <a:r>
              <a:rPr lang="en">
                <a:solidFill>
                  <a:srgbClr val="FF0000"/>
                </a:solidFill>
                <a:latin typeface="Courier New"/>
                <a:ea typeface="Courier New"/>
                <a:cs typeface="Courier New"/>
                <a:sym typeface="Courier New"/>
              </a:rPr>
              <a:t>return super.name;</a:t>
            </a:r>
            <a:endParaRPr>
              <a:solidFill>
                <a:srgbClr val="FF0000"/>
              </a:solidFill>
              <a:latin typeface="Courier New"/>
              <a:ea typeface="Courier New"/>
              <a:cs typeface="Courier New"/>
              <a:sym typeface="Courier New"/>
            </a:endParaRPr>
          </a:p>
          <a:p>
            <a:pPr indent="-298450" lvl="1" marL="914400" rtl="0" algn="l">
              <a:lnSpc>
                <a:spcPct val="100000"/>
              </a:lnSpc>
              <a:spcBef>
                <a:spcPts val="0"/>
              </a:spcBef>
              <a:spcAft>
                <a:spcPts val="0"/>
              </a:spcAft>
              <a:buSzPts val="1100"/>
              <a:buChar char="○"/>
            </a:pPr>
            <a:r>
              <a:rPr lang="en"/>
              <a:t>Calling methods: </a:t>
            </a:r>
            <a:r>
              <a:rPr lang="en">
                <a:solidFill>
                  <a:srgbClr val="FF0000"/>
                </a:solidFill>
                <a:latin typeface="Courier New"/>
                <a:ea typeface="Courier New"/>
                <a:cs typeface="Courier New"/>
                <a:sym typeface="Courier New"/>
              </a:rPr>
              <a:t>super.getAge();</a:t>
            </a:r>
            <a:endParaRPr>
              <a:solidFill>
                <a:srgbClr val="FF0000"/>
              </a:solidFill>
              <a:latin typeface="Courier New"/>
              <a:ea typeface="Courier New"/>
              <a:cs typeface="Courier New"/>
              <a:sym typeface="Courier New"/>
            </a:endParaRPr>
          </a:p>
          <a:p>
            <a:pPr indent="-311150" lvl="0" marL="457200" rtl="0" algn="l">
              <a:lnSpc>
                <a:spcPct val="100000"/>
              </a:lnSpc>
              <a:spcBef>
                <a:spcPts val="0"/>
              </a:spcBef>
              <a:spcAft>
                <a:spcPts val="0"/>
              </a:spcAft>
              <a:buSzPts val="1300"/>
              <a:buChar char="●"/>
            </a:pPr>
            <a:r>
              <a:rPr lang="en"/>
              <a:t>Constructors are </a:t>
            </a:r>
            <a:r>
              <a:rPr b="1" i="1" lang="en">
                <a:solidFill>
                  <a:srgbClr val="FF0000"/>
                </a:solidFill>
              </a:rPr>
              <a:t>not </a:t>
            </a:r>
            <a:r>
              <a:rPr lang="en"/>
              <a:t>inherited from the parent class; the child must define its own </a:t>
            </a:r>
            <a:r>
              <a:rPr b="1" i="1" lang="en">
                <a:solidFill>
                  <a:srgbClr val="FF0000"/>
                </a:solidFill>
              </a:rPr>
              <a:t>and</a:t>
            </a:r>
            <a:r>
              <a:rPr lang="en">
                <a:solidFill>
                  <a:srgbClr val="FF0000"/>
                </a:solidFill>
              </a:rPr>
              <a:t> </a:t>
            </a:r>
            <a:r>
              <a:rPr lang="en"/>
              <a:t>call one of the parent constructors using </a:t>
            </a:r>
            <a:r>
              <a:rPr lang="en">
                <a:latin typeface="Courier New"/>
                <a:ea typeface="Courier New"/>
                <a:cs typeface="Courier New"/>
                <a:sym typeface="Courier New"/>
              </a:rPr>
              <a:t>super</a:t>
            </a:r>
            <a:r>
              <a:rPr lang="en"/>
              <a:t>.</a:t>
            </a:r>
            <a:endParaRPr/>
          </a:p>
          <a:p>
            <a:pPr indent="-298450" lvl="1" marL="914400" rtl="0" algn="l">
              <a:lnSpc>
                <a:spcPct val="100000"/>
              </a:lnSpc>
              <a:spcBef>
                <a:spcPts val="0"/>
              </a:spcBef>
              <a:spcAft>
                <a:spcPts val="0"/>
              </a:spcAft>
              <a:buSzPts val="1100"/>
              <a:buChar char="○"/>
            </a:pPr>
            <a:r>
              <a:rPr lang="en"/>
              <a:t>The exception is that if the parent class has a </a:t>
            </a:r>
            <a:r>
              <a:rPr b="1" i="1" lang="en">
                <a:solidFill>
                  <a:srgbClr val="FF0000"/>
                </a:solidFill>
              </a:rPr>
              <a:t>default </a:t>
            </a:r>
            <a:r>
              <a:rPr lang="en"/>
              <a:t>or </a:t>
            </a:r>
            <a:r>
              <a:rPr b="1" i="1" lang="en">
                <a:solidFill>
                  <a:srgbClr val="FF0000"/>
                </a:solidFill>
              </a:rPr>
              <a:t>parameterless constructor</a:t>
            </a:r>
            <a:r>
              <a:rPr lang="en"/>
              <a:t>, in which case it will be invoked </a:t>
            </a:r>
            <a:r>
              <a:rPr b="1" i="1" lang="en">
                <a:solidFill>
                  <a:srgbClr val="FF0000"/>
                </a:solidFill>
              </a:rPr>
              <a:t>transparently </a:t>
            </a:r>
            <a:r>
              <a:rPr lang="en"/>
              <a:t>by default if no other constructor is explicitly called. </a:t>
            </a:r>
            <a:endParaRPr/>
          </a:p>
        </p:txBody>
      </p:sp>
      <p:sp>
        <p:nvSpPr>
          <p:cNvPr id="623" name="Google Shape;623;p8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aphicFrame>
        <p:nvGraphicFramePr>
          <p:cNvPr id="624" name="Google Shape;624;p84"/>
          <p:cNvGraphicFramePr/>
          <p:nvPr/>
        </p:nvGraphicFramePr>
        <p:xfrm>
          <a:off x="4311600" y="2334775"/>
          <a:ext cx="3000000" cy="3000000"/>
        </p:xfrm>
        <a:graphic>
          <a:graphicData uri="http://schemas.openxmlformats.org/drawingml/2006/table">
            <a:tbl>
              <a:tblPr>
                <a:noFill/>
                <a:tableStyleId>{7F442979-C056-43AA-83C6-67E564C60A4D}</a:tableStyleId>
              </a:tblPr>
              <a:tblGrid>
                <a:gridCol w="1113750"/>
                <a:gridCol w="892050"/>
                <a:gridCol w="892050"/>
                <a:gridCol w="892050"/>
                <a:gridCol w="892050"/>
              </a:tblGrid>
              <a:tr h="381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What has access?</a:t>
                      </a:r>
                      <a:endParaRPr sz="1000" u="none" cap="none" strike="noStrike">
                        <a:solidFill>
                          <a:srgbClr val="FFFFFF"/>
                        </a:solidFill>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latin typeface="Courier New"/>
                          <a:ea typeface="Courier New"/>
                          <a:cs typeface="Courier New"/>
                          <a:sym typeface="Courier New"/>
                        </a:rPr>
                        <a:t>private</a:t>
                      </a:r>
                      <a:endParaRPr sz="1000" u="none" cap="none" strike="noStrike">
                        <a:solidFill>
                          <a:srgbClr val="FFFFFF"/>
                        </a:solidFill>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none</a:t>
                      </a:r>
                      <a:endParaRPr sz="1000" u="none" cap="none" strike="noStrike">
                        <a:solidFill>
                          <a:srgbClr val="FFFFFF"/>
                        </a:solidFill>
                      </a:endParaRPr>
                    </a:p>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a:t>
                      </a:r>
                      <a:r>
                        <a:rPr i="1" lang="en" sz="1000" u="none" cap="none" strike="noStrike">
                          <a:solidFill>
                            <a:srgbClr val="FFFFFF"/>
                          </a:solidFill>
                        </a:rPr>
                        <a:t>package private</a:t>
                      </a:r>
                      <a:r>
                        <a:rPr lang="en" sz="1000" u="none" cap="none" strike="noStrike">
                          <a:solidFill>
                            <a:srgbClr val="FFFFFF"/>
                          </a:solidFill>
                        </a:rPr>
                        <a:t>)</a:t>
                      </a:r>
                      <a:endParaRPr sz="1000" u="none" cap="none" strike="noStrike">
                        <a:solidFill>
                          <a:srgbClr val="FFFFFF"/>
                        </a:solidFill>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latin typeface="Courier New"/>
                          <a:ea typeface="Courier New"/>
                          <a:cs typeface="Courier New"/>
                          <a:sym typeface="Courier New"/>
                        </a:rPr>
                        <a:t>protected</a:t>
                      </a:r>
                      <a:endParaRPr sz="1000" u="none" cap="none" strike="noStrike">
                        <a:solidFill>
                          <a:srgbClr val="FFFFFF"/>
                        </a:solidFill>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latin typeface="Courier New"/>
                          <a:ea typeface="Courier New"/>
                          <a:cs typeface="Courier New"/>
                          <a:sym typeface="Courier New"/>
                        </a:rPr>
                        <a:t>public</a:t>
                      </a:r>
                      <a:endParaRPr sz="1000" u="none" cap="none" strike="noStrike">
                        <a:solidFill>
                          <a:srgbClr val="FFFFFF"/>
                        </a:solidFill>
                        <a:latin typeface="Courier New"/>
                        <a:ea typeface="Courier New"/>
                        <a:cs typeface="Courier New"/>
                        <a:sym typeface="Courier New"/>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38100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Instances of the same class</a:t>
                      </a:r>
                      <a:endParaRPr sz="9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Classes in the same package</a:t>
                      </a:r>
                      <a:endParaRPr sz="9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Child Classes</a:t>
                      </a:r>
                      <a:endParaRPr sz="9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Everything</a:t>
                      </a:r>
                      <a:endParaRPr sz="9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grpSp>
        <p:nvGrpSpPr>
          <p:cNvPr id="625" name="Google Shape;625;p84"/>
          <p:cNvGrpSpPr/>
          <p:nvPr/>
        </p:nvGrpSpPr>
        <p:grpSpPr>
          <a:xfrm>
            <a:off x="5594285" y="3003205"/>
            <a:ext cx="3245650" cy="399000"/>
            <a:chOff x="5594285" y="3003205"/>
            <a:chExt cx="3245650" cy="399000"/>
          </a:xfrm>
        </p:grpSpPr>
        <p:sp>
          <p:nvSpPr>
            <p:cNvPr id="626" name="Google Shape;626;p84"/>
            <p:cNvSpPr txBox="1"/>
            <p:nvPr/>
          </p:nvSpPr>
          <p:spPr>
            <a:xfrm>
              <a:off x="5594285" y="3003205"/>
              <a:ext cx="539400" cy="399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Roboto"/>
                  <a:ea typeface="Roboto"/>
                  <a:cs typeface="Roboto"/>
                  <a:sym typeface="Roboto"/>
                </a:rPr>
                <a:t>✔</a:t>
              </a:r>
              <a:endParaRPr b="0" i="0" sz="1800" u="none" cap="none" strike="noStrike">
                <a:solidFill>
                  <a:srgbClr val="FF0000"/>
                </a:solidFill>
                <a:latin typeface="Roboto"/>
                <a:ea typeface="Roboto"/>
                <a:cs typeface="Roboto"/>
                <a:sym typeface="Roboto"/>
              </a:endParaRPr>
            </a:p>
          </p:txBody>
        </p:sp>
        <p:sp>
          <p:nvSpPr>
            <p:cNvPr id="627" name="Google Shape;627;p84"/>
            <p:cNvSpPr txBox="1"/>
            <p:nvPr/>
          </p:nvSpPr>
          <p:spPr>
            <a:xfrm>
              <a:off x="6493905" y="3003205"/>
              <a:ext cx="539400" cy="399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Roboto"/>
                  <a:ea typeface="Roboto"/>
                  <a:cs typeface="Roboto"/>
                  <a:sym typeface="Roboto"/>
                </a:rPr>
                <a:t>✔</a:t>
              </a:r>
              <a:endParaRPr b="0" i="0" sz="1800" u="none" cap="none" strike="noStrike">
                <a:solidFill>
                  <a:srgbClr val="FF0000"/>
                </a:solidFill>
                <a:latin typeface="Roboto"/>
                <a:ea typeface="Roboto"/>
                <a:cs typeface="Roboto"/>
                <a:sym typeface="Roboto"/>
              </a:endParaRPr>
            </a:p>
          </p:txBody>
        </p:sp>
        <p:sp>
          <p:nvSpPr>
            <p:cNvPr id="628" name="Google Shape;628;p84"/>
            <p:cNvSpPr txBox="1"/>
            <p:nvPr/>
          </p:nvSpPr>
          <p:spPr>
            <a:xfrm>
              <a:off x="7400915" y="3003205"/>
              <a:ext cx="539400" cy="399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Roboto"/>
                  <a:ea typeface="Roboto"/>
                  <a:cs typeface="Roboto"/>
                  <a:sym typeface="Roboto"/>
                </a:rPr>
                <a:t>✔</a:t>
              </a:r>
              <a:endParaRPr b="0" i="0" sz="1800" u="none" cap="none" strike="noStrike">
                <a:solidFill>
                  <a:srgbClr val="FF0000"/>
                </a:solidFill>
                <a:latin typeface="Roboto"/>
                <a:ea typeface="Roboto"/>
                <a:cs typeface="Roboto"/>
                <a:sym typeface="Roboto"/>
              </a:endParaRPr>
            </a:p>
          </p:txBody>
        </p:sp>
        <p:sp>
          <p:nvSpPr>
            <p:cNvPr id="629" name="Google Shape;629;p84"/>
            <p:cNvSpPr txBox="1"/>
            <p:nvPr/>
          </p:nvSpPr>
          <p:spPr>
            <a:xfrm>
              <a:off x="8300535" y="3003205"/>
              <a:ext cx="539400" cy="399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Roboto"/>
                  <a:ea typeface="Roboto"/>
                  <a:cs typeface="Roboto"/>
                  <a:sym typeface="Roboto"/>
                </a:rPr>
                <a:t>✔</a:t>
              </a:r>
              <a:endParaRPr b="0" i="0" sz="1800" u="none" cap="none" strike="noStrike">
                <a:solidFill>
                  <a:srgbClr val="FF0000"/>
                </a:solidFill>
                <a:latin typeface="Roboto"/>
                <a:ea typeface="Roboto"/>
                <a:cs typeface="Roboto"/>
                <a:sym typeface="Roboto"/>
              </a:endParaRPr>
            </a:p>
          </p:txBody>
        </p:sp>
      </p:grpSp>
      <p:grpSp>
        <p:nvGrpSpPr>
          <p:cNvPr id="630" name="Google Shape;630;p84"/>
          <p:cNvGrpSpPr/>
          <p:nvPr/>
        </p:nvGrpSpPr>
        <p:grpSpPr>
          <a:xfrm>
            <a:off x="6493905" y="3445625"/>
            <a:ext cx="2346030" cy="399000"/>
            <a:chOff x="6493905" y="3445625"/>
            <a:chExt cx="2346030" cy="399000"/>
          </a:xfrm>
        </p:grpSpPr>
        <p:sp>
          <p:nvSpPr>
            <p:cNvPr id="631" name="Google Shape;631;p84"/>
            <p:cNvSpPr txBox="1"/>
            <p:nvPr/>
          </p:nvSpPr>
          <p:spPr>
            <a:xfrm>
              <a:off x="6493905" y="3445625"/>
              <a:ext cx="539400" cy="399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Roboto"/>
                  <a:ea typeface="Roboto"/>
                  <a:cs typeface="Roboto"/>
                  <a:sym typeface="Roboto"/>
                </a:rPr>
                <a:t>✔</a:t>
              </a:r>
              <a:endParaRPr b="0" i="0" sz="1800" u="none" cap="none" strike="noStrike">
                <a:solidFill>
                  <a:srgbClr val="FF0000"/>
                </a:solidFill>
                <a:latin typeface="Roboto"/>
                <a:ea typeface="Roboto"/>
                <a:cs typeface="Roboto"/>
                <a:sym typeface="Roboto"/>
              </a:endParaRPr>
            </a:p>
          </p:txBody>
        </p:sp>
        <p:sp>
          <p:nvSpPr>
            <p:cNvPr id="632" name="Google Shape;632;p84"/>
            <p:cNvSpPr txBox="1"/>
            <p:nvPr/>
          </p:nvSpPr>
          <p:spPr>
            <a:xfrm>
              <a:off x="7400915" y="3445625"/>
              <a:ext cx="539400" cy="399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Roboto"/>
                  <a:ea typeface="Roboto"/>
                  <a:cs typeface="Roboto"/>
                  <a:sym typeface="Roboto"/>
                </a:rPr>
                <a:t>✔</a:t>
              </a:r>
              <a:endParaRPr b="0" i="0" sz="1800" u="none" cap="none" strike="noStrike">
                <a:solidFill>
                  <a:srgbClr val="FF0000"/>
                </a:solidFill>
                <a:latin typeface="Roboto"/>
                <a:ea typeface="Roboto"/>
                <a:cs typeface="Roboto"/>
                <a:sym typeface="Roboto"/>
              </a:endParaRPr>
            </a:p>
          </p:txBody>
        </p:sp>
        <p:sp>
          <p:nvSpPr>
            <p:cNvPr id="633" name="Google Shape;633;p84"/>
            <p:cNvSpPr txBox="1"/>
            <p:nvPr/>
          </p:nvSpPr>
          <p:spPr>
            <a:xfrm>
              <a:off x="8300535" y="3445625"/>
              <a:ext cx="539400" cy="399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Roboto"/>
                  <a:ea typeface="Roboto"/>
                  <a:cs typeface="Roboto"/>
                  <a:sym typeface="Roboto"/>
                </a:rPr>
                <a:t>✔</a:t>
              </a:r>
              <a:endParaRPr b="0" i="0" sz="1800" u="none" cap="none" strike="noStrike">
                <a:solidFill>
                  <a:srgbClr val="FF0000"/>
                </a:solidFill>
                <a:latin typeface="Roboto"/>
                <a:ea typeface="Roboto"/>
                <a:cs typeface="Roboto"/>
                <a:sym typeface="Roboto"/>
              </a:endParaRPr>
            </a:p>
          </p:txBody>
        </p:sp>
      </p:grpSp>
      <p:sp>
        <p:nvSpPr>
          <p:cNvPr id="634" name="Google Shape;634;p84"/>
          <p:cNvSpPr txBox="1"/>
          <p:nvPr/>
        </p:nvSpPr>
        <p:spPr>
          <a:xfrm>
            <a:off x="8300530" y="4242765"/>
            <a:ext cx="539400" cy="399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Roboto"/>
                <a:ea typeface="Roboto"/>
                <a:cs typeface="Roboto"/>
                <a:sym typeface="Roboto"/>
              </a:rPr>
              <a:t>✔</a:t>
            </a:r>
            <a:endParaRPr b="0" i="0" sz="1800" u="none" cap="none" strike="noStrike">
              <a:solidFill>
                <a:srgbClr val="FF0000"/>
              </a:solidFill>
              <a:latin typeface="Roboto"/>
              <a:ea typeface="Roboto"/>
              <a:cs typeface="Roboto"/>
              <a:sym typeface="Roboto"/>
            </a:endParaRPr>
          </a:p>
        </p:txBody>
      </p:sp>
      <p:grpSp>
        <p:nvGrpSpPr>
          <p:cNvPr id="635" name="Google Shape;635;p84"/>
          <p:cNvGrpSpPr/>
          <p:nvPr/>
        </p:nvGrpSpPr>
        <p:grpSpPr>
          <a:xfrm>
            <a:off x="7400915" y="3863575"/>
            <a:ext cx="1439020" cy="399000"/>
            <a:chOff x="7400915" y="3863575"/>
            <a:chExt cx="1439020" cy="399000"/>
          </a:xfrm>
        </p:grpSpPr>
        <p:sp>
          <p:nvSpPr>
            <p:cNvPr id="636" name="Google Shape;636;p84"/>
            <p:cNvSpPr txBox="1"/>
            <p:nvPr/>
          </p:nvSpPr>
          <p:spPr>
            <a:xfrm>
              <a:off x="7400915" y="3863575"/>
              <a:ext cx="539400" cy="399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Roboto"/>
                  <a:ea typeface="Roboto"/>
                  <a:cs typeface="Roboto"/>
                  <a:sym typeface="Roboto"/>
                </a:rPr>
                <a:t>✔</a:t>
              </a:r>
              <a:endParaRPr b="0" i="0" sz="1800" u="none" cap="none" strike="noStrike">
                <a:solidFill>
                  <a:srgbClr val="FF0000"/>
                </a:solidFill>
                <a:latin typeface="Roboto"/>
                <a:ea typeface="Roboto"/>
                <a:cs typeface="Roboto"/>
                <a:sym typeface="Roboto"/>
              </a:endParaRPr>
            </a:p>
          </p:txBody>
        </p:sp>
        <p:sp>
          <p:nvSpPr>
            <p:cNvPr id="637" name="Google Shape;637;p84"/>
            <p:cNvSpPr txBox="1"/>
            <p:nvPr/>
          </p:nvSpPr>
          <p:spPr>
            <a:xfrm>
              <a:off x="8300535" y="3863575"/>
              <a:ext cx="539400" cy="399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Roboto"/>
                  <a:ea typeface="Roboto"/>
                  <a:cs typeface="Roboto"/>
                  <a:sym typeface="Roboto"/>
                </a:rPr>
                <a:t>✔</a:t>
              </a:r>
              <a:endParaRPr b="0" i="0" sz="1800" u="none" cap="none" strike="noStrike">
                <a:solidFill>
                  <a:srgbClr val="FF0000"/>
                </a:solidFill>
                <a:latin typeface="Roboto"/>
                <a:ea typeface="Roboto"/>
                <a:cs typeface="Roboto"/>
                <a:sym typeface="Roboto"/>
              </a:endParaRPr>
            </a:p>
          </p:txBody>
        </p:sp>
      </p:grpSp>
      <p:sp>
        <p:nvSpPr>
          <p:cNvPr id="638" name="Google Shape;638;p84"/>
          <p:cNvSpPr txBox="1"/>
          <p:nvPr/>
        </p:nvSpPr>
        <p:spPr>
          <a:xfrm>
            <a:off x="4311600" y="1493700"/>
            <a:ext cx="4682100" cy="671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A child class can only use </a:t>
            </a:r>
            <a:r>
              <a:rPr b="0" i="0" lang="en" sz="1100" u="none" cap="none" strike="noStrike">
                <a:solidFill>
                  <a:srgbClr val="FF0000"/>
                </a:solidFill>
                <a:latin typeface="Courier New"/>
                <a:ea typeface="Courier New"/>
                <a:cs typeface="Courier New"/>
                <a:sym typeface="Courier New"/>
              </a:rPr>
              <a:t>super</a:t>
            </a:r>
            <a:r>
              <a:rPr b="0" i="0" lang="en" sz="1100" u="none" cap="none" strike="noStrike">
                <a:solidFill>
                  <a:srgbClr val="000000"/>
                </a:solidFill>
                <a:latin typeface="Arial"/>
                <a:ea typeface="Arial"/>
                <a:cs typeface="Arial"/>
                <a:sym typeface="Arial"/>
              </a:rPr>
              <a:t> to access </a:t>
            </a:r>
            <a:r>
              <a:rPr b="1" i="1" lang="en" sz="1100" u="none" cap="none" strike="noStrike">
                <a:solidFill>
                  <a:srgbClr val="FF0000"/>
                </a:solidFill>
                <a:latin typeface="Arial"/>
                <a:ea typeface="Arial"/>
                <a:cs typeface="Arial"/>
                <a:sym typeface="Arial"/>
              </a:rPr>
              <a:t>accessible</a:t>
            </a:r>
            <a:r>
              <a:rPr b="0" i="0" lang="en" sz="1100" u="none" cap="none" strike="noStrike">
                <a:solidFill>
                  <a:srgbClr val="FF0000"/>
                </a:solidFill>
                <a:latin typeface="Arial"/>
                <a:ea typeface="Arial"/>
                <a:cs typeface="Arial"/>
                <a:sym typeface="Arial"/>
              </a:rPr>
              <a:t> </a:t>
            </a:r>
            <a:r>
              <a:rPr b="0" i="0" lang="en" sz="1100" u="none" cap="none" strike="noStrike">
                <a:solidFill>
                  <a:srgbClr val="000000"/>
                </a:solidFill>
                <a:latin typeface="Arial"/>
                <a:ea typeface="Arial"/>
                <a:cs typeface="Arial"/>
                <a:sym typeface="Arial"/>
              </a:rPr>
              <a:t>state and behavior in its parent class. Accessibility to the child is determined by the access modifier used with each field, method, and constructor.</a:t>
            </a:r>
            <a:endParaRPr b="0" i="0" sz="11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gtEl>
                                        <p:attrNameLst>
                                          <p:attrName>style.visibility</p:attrName>
                                        </p:attrNameLst>
                                      </p:cBhvr>
                                      <p:to>
                                        <p:strVal val="visible"/>
                                      </p:to>
                                    </p:set>
                                    <p:animEffect filter="fade" transition="in">
                                      <p:cBhvr>
                                        <p:cTn dur="1000"/>
                                        <p:tgtEl>
                                          <p:spTgt spid="63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24"/>
                                        </p:tgtEl>
                                        <p:attrNameLst>
                                          <p:attrName>style.visibility</p:attrName>
                                        </p:attrNameLst>
                                      </p:cBhvr>
                                      <p:to>
                                        <p:strVal val="visible"/>
                                      </p:to>
                                    </p:set>
                                    <p:animEffect filter="fade" transition="in">
                                      <p:cBhvr>
                                        <p:cTn dur="1000"/>
                                        <p:tgtEl>
                                          <p:spTgt spid="6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5"/>
                                        </p:tgtEl>
                                        <p:attrNameLst>
                                          <p:attrName>style.visibility</p:attrName>
                                        </p:attrNameLst>
                                      </p:cBhvr>
                                      <p:to>
                                        <p:strVal val="visible"/>
                                      </p:to>
                                    </p:set>
                                    <p:animEffect filter="fade" transition="in">
                                      <p:cBhvr>
                                        <p:cTn dur="1000"/>
                                        <p:tgtEl>
                                          <p:spTgt spid="6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gtEl>
                                        <p:attrNameLst>
                                          <p:attrName>style.visibility</p:attrName>
                                        </p:attrNameLst>
                                      </p:cBhvr>
                                      <p:to>
                                        <p:strVal val="visible"/>
                                      </p:to>
                                    </p:set>
                                    <p:animEffect filter="fade" transition="in">
                                      <p:cBhvr>
                                        <p:cTn dur="1000"/>
                                        <p:tgtEl>
                                          <p:spTgt spid="6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
                                        </p:tgtEl>
                                        <p:attrNameLst>
                                          <p:attrName>style.visibility</p:attrName>
                                        </p:attrNameLst>
                                      </p:cBhvr>
                                      <p:to>
                                        <p:strVal val="visible"/>
                                      </p:to>
                                    </p:set>
                                    <p:animEffect filter="fade" transition="in">
                                      <p:cBhvr>
                                        <p:cTn dur="1000"/>
                                        <p:tgtEl>
                                          <p:spTgt spid="6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4"/>
                                        </p:tgtEl>
                                        <p:attrNameLst>
                                          <p:attrName>style.visibility</p:attrName>
                                        </p:attrNameLst>
                                      </p:cBhvr>
                                      <p:to>
                                        <p:strVal val="visible"/>
                                      </p:to>
                                    </p:set>
                                    <p:animEffect filter="fade" transition="in">
                                      <p:cBhvr>
                                        <p:cTn dur="1000"/>
                                        <p:tgtEl>
                                          <p:spTgt spid="6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85"/>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Inheritance Example</a:t>
            </a:r>
            <a:endParaRPr/>
          </a:p>
        </p:txBody>
      </p:sp>
      <p:sp>
        <p:nvSpPr>
          <p:cNvPr id="644" name="Google Shape;644;p85"/>
          <p:cNvSpPr txBox="1"/>
          <p:nvPr>
            <p:ph idx="1" type="body"/>
          </p:nvPr>
        </p:nvSpPr>
        <p:spPr>
          <a:xfrm>
            <a:off x="83100" y="1342675"/>
            <a:ext cx="3567600" cy="36162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Animal</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Animal</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toString</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A31515"/>
                </a:solidFill>
                <a:latin typeface="Consolas"/>
                <a:ea typeface="Consolas"/>
                <a:cs typeface="Consolas"/>
                <a:sym typeface="Consolas"/>
              </a:rPr>
              <a:t>"Animal[name="</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name</a:t>
            </a:r>
            <a:endParaRPr sz="1000">
              <a:solidFill>
                <a:srgbClr val="00108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 </a:t>
            </a:r>
            <a:r>
              <a:rPr lang="en" sz="1000">
                <a:solidFill>
                  <a:srgbClr val="A31515"/>
                </a:solidFill>
                <a:latin typeface="Consolas"/>
                <a:ea typeface="Consolas"/>
                <a:cs typeface="Consolas"/>
                <a:sym typeface="Consolas"/>
              </a:rPr>
              <a:t>", weight="</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 + </a:t>
            </a:r>
            <a:r>
              <a:rPr lang="en" sz="1000">
                <a:solidFill>
                  <a:srgbClr val="A31515"/>
                </a:solidFill>
                <a:latin typeface="Consolas"/>
                <a:ea typeface="Consolas"/>
                <a:cs typeface="Consolas"/>
                <a:sym typeface="Consolas"/>
              </a:rPr>
              <a: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getName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greet</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Animal</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o</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 + </a:t>
            </a:r>
            <a:r>
              <a:rPr lang="en" sz="1000">
                <a:solidFill>
                  <a:srgbClr val="A31515"/>
                </a:solidFill>
                <a:latin typeface="Consolas"/>
                <a:ea typeface="Consolas"/>
                <a:cs typeface="Consolas"/>
                <a:sym typeface="Consolas"/>
              </a:rPr>
              <a:t>" greets "</a:t>
            </a:r>
            <a:endParaRPr sz="1000">
              <a:solidFill>
                <a:srgbClr val="A31515"/>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o</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 + </a:t>
            </a:r>
            <a:r>
              <a:rPr lang="en" sz="1000">
                <a:solidFill>
                  <a:srgbClr val="A31515"/>
                </a:solidFill>
                <a:latin typeface="Consolas"/>
                <a:ea typeface="Consolas"/>
                <a:cs typeface="Consolas"/>
                <a:sym typeface="Consolas"/>
              </a:rPr>
              <a: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569CD6"/>
              </a:solidFill>
              <a:latin typeface="Consolas"/>
              <a:ea typeface="Consolas"/>
              <a:cs typeface="Consolas"/>
              <a:sym typeface="Consolas"/>
            </a:endParaRPr>
          </a:p>
        </p:txBody>
      </p:sp>
      <p:sp>
        <p:nvSpPr>
          <p:cNvPr id="645" name="Google Shape;645;p85"/>
          <p:cNvSpPr txBox="1"/>
          <p:nvPr>
            <p:ph idx="2" type="body"/>
          </p:nvPr>
        </p:nvSpPr>
        <p:spPr>
          <a:xfrm>
            <a:off x="6303750" y="1353300"/>
            <a:ext cx="2771400" cy="23592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Rabbit</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extends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Animal</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furColor</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Rabbit</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furColor</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super</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"Rabbit"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furColor</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furColor</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move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0000FF"/>
                </a:solidFill>
                <a:latin typeface="Consolas"/>
                <a:ea typeface="Consolas"/>
                <a:cs typeface="Consolas"/>
                <a:sym typeface="Consolas"/>
              </a:rPr>
              <a:t>super</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name</a:t>
            </a:r>
            <a:endParaRPr sz="1000">
              <a:solidFill>
                <a:srgbClr val="00108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 </a:t>
            </a:r>
            <a:r>
              <a:rPr lang="en" sz="1000">
                <a:solidFill>
                  <a:srgbClr val="A31515"/>
                </a:solidFill>
                <a:latin typeface="Consolas"/>
                <a:ea typeface="Consolas"/>
                <a:cs typeface="Consolas"/>
                <a:sym typeface="Consolas"/>
              </a:rPr>
              <a:t>" goes hop, hop, hop!"</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569CD6"/>
              </a:solidFill>
              <a:latin typeface="Consolas"/>
              <a:ea typeface="Consolas"/>
              <a:cs typeface="Consolas"/>
              <a:sym typeface="Consolas"/>
            </a:endParaRPr>
          </a:p>
        </p:txBody>
      </p:sp>
      <p:sp>
        <p:nvSpPr>
          <p:cNvPr id="646" name="Google Shape;646;p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647" name="Google Shape;647;p85"/>
          <p:cNvSpPr/>
          <p:nvPr/>
        </p:nvSpPr>
        <p:spPr>
          <a:xfrm>
            <a:off x="5793825" y="1143015"/>
            <a:ext cx="2076615" cy="310538"/>
          </a:xfrm>
          <a:custGeom>
            <a:rect b="b" l="l" r="r" t="t"/>
            <a:pathLst>
              <a:path extrusionOk="0" h="11830" w="92820">
                <a:moveTo>
                  <a:pt x="0" y="11830"/>
                </a:moveTo>
                <a:cubicBezTo>
                  <a:pt x="11627" y="9859"/>
                  <a:pt x="54293" y="55"/>
                  <a:pt x="69763" y="6"/>
                </a:cubicBezTo>
                <a:cubicBezTo>
                  <a:pt x="85233" y="-43"/>
                  <a:pt x="88977" y="9613"/>
                  <a:pt x="92820" y="11534"/>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85"/>
          <p:cNvSpPr txBox="1"/>
          <p:nvPr/>
        </p:nvSpPr>
        <p:spPr>
          <a:xfrm>
            <a:off x="3746850" y="1353300"/>
            <a:ext cx="2453400" cy="671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Child classes use </a:t>
            </a:r>
            <a:r>
              <a:rPr b="0" i="0" lang="en" sz="1100" u="none" cap="none" strike="noStrike">
                <a:solidFill>
                  <a:srgbClr val="FF0000"/>
                </a:solidFill>
                <a:latin typeface="Courier New"/>
                <a:ea typeface="Courier New"/>
                <a:cs typeface="Courier New"/>
                <a:sym typeface="Courier New"/>
              </a:rPr>
              <a:t>extends</a:t>
            </a:r>
            <a:r>
              <a:rPr b="0" i="0" lang="en" sz="1100" u="none" cap="none" strike="noStrike">
                <a:solidFill>
                  <a:srgbClr val="000000"/>
                </a:solidFill>
                <a:latin typeface="Arial"/>
                <a:ea typeface="Arial"/>
                <a:cs typeface="Arial"/>
                <a:sym typeface="Arial"/>
              </a:rPr>
              <a:t> to create an </a:t>
            </a:r>
            <a:r>
              <a:rPr b="1" i="1" lang="en" sz="1100" u="sng" cap="none" strike="noStrike">
                <a:solidFill>
                  <a:srgbClr val="FF0000"/>
                </a:solidFill>
                <a:latin typeface="Arial"/>
                <a:ea typeface="Arial"/>
                <a:cs typeface="Arial"/>
                <a:sym typeface="Arial"/>
              </a:rPr>
              <a:t>is-a relationship</a:t>
            </a:r>
            <a:r>
              <a:rPr b="0" i="0" lang="en" sz="1100" u="none" cap="none" strike="noStrike">
                <a:solidFill>
                  <a:srgbClr val="000000"/>
                </a:solidFill>
                <a:latin typeface="Arial"/>
                <a:ea typeface="Arial"/>
                <a:cs typeface="Arial"/>
                <a:sym typeface="Arial"/>
              </a:rPr>
              <a:t> with a parent class.</a:t>
            </a:r>
            <a:endParaRPr b="0" i="0" sz="1100" u="none" cap="none" strike="noStrike">
              <a:solidFill>
                <a:srgbClr val="000000"/>
              </a:solidFill>
              <a:latin typeface="Arial"/>
              <a:ea typeface="Arial"/>
              <a:cs typeface="Arial"/>
              <a:sym typeface="Arial"/>
            </a:endParaRPr>
          </a:p>
        </p:txBody>
      </p:sp>
      <p:sp>
        <p:nvSpPr>
          <p:cNvPr id="649" name="Google Shape;649;p85"/>
          <p:cNvSpPr/>
          <p:nvPr/>
        </p:nvSpPr>
        <p:spPr>
          <a:xfrm>
            <a:off x="6045100" y="2267455"/>
            <a:ext cx="731600" cy="333850"/>
          </a:xfrm>
          <a:custGeom>
            <a:rect b="b" l="l" r="r" t="t"/>
            <a:pathLst>
              <a:path extrusionOk="0" h="13354" w="29264">
                <a:moveTo>
                  <a:pt x="0" y="13354"/>
                </a:moveTo>
                <a:cubicBezTo>
                  <a:pt x="2808" y="11334"/>
                  <a:pt x="11972" y="3403"/>
                  <a:pt x="16849" y="1235"/>
                </a:cubicBezTo>
                <a:cubicBezTo>
                  <a:pt x="21726" y="-933"/>
                  <a:pt x="27195" y="496"/>
                  <a:pt x="29264" y="348"/>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85"/>
          <p:cNvSpPr txBox="1"/>
          <p:nvPr/>
        </p:nvSpPr>
        <p:spPr>
          <a:xfrm>
            <a:off x="3752363" y="2197050"/>
            <a:ext cx="2453400" cy="807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Constructors are </a:t>
            </a:r>
            <a:r>
              <a:rPr b="1" i="1" lang="en" sz="1100" u="none" cap="none" strike="noStrike">
                <a:solidFill>
                  <a:srgbClr val="FF0000"/>
                </a:solidFill>
                <a:latin typeface="Arial"/>
                <a:ea typeface="Arial"/>
                <a:cs typeface="Arial"/>
                <a:sym typeface="Arial"/>
              </a:rPr>
              <a:t>not</a:t>
            </a:r>
            <a:r>
              <a:rPr b="0" i="0" lang="en" sz="1100" u="none" cap="none" strike="noStrike">
                <a:solidFill>
                  <a:srgbClr val="FF0000"/>
                </a:solidFill>
                <a:latin typeface="Arial"/>
                <a:ea typeface="Arial"/>
                <a:cs typeface="Arial"/>
                <a:sym typeface="Arial"/>
              </a:rPr>
              <a:t> </a:t>
            </a:r>
            <a:r>
              <a:rPr b="0" i="0" lang="en" sz="1100" u="none" cap="none" strike="noStrike">
                <a:solidFill>
                  <a:srgbClr val="000000"/>
                </a:solidFill>
                <a:latin typeface="Arial"/>
                <a:ea typeface="Arial"/>
                <a:cs typeface="Arial"/>
                <a:sym typeface="Arial"/>
              </a:rPr>
              <a:t>inherited. A child class must define its own constructors and call one of the parent constructors using </a:t>
            </a:r>
            <a:r>
              <a:rPr b="0" i="0" lang="en" sz="1100" u="none" cap="none" strike="noStrike">
                <a:solidFill>
                  <a:srgbClr val="FF0000"/>
                </a:solidFill>
                <a:latin typeface="Courier New"/>
                <a:ea typeface="Courier New"/>
                <a:cs typeface="Courier New"/>
                <a:sym typeface="Courier New"/>
              </a:rPr>
              <a:t>super</a:t>
            </a:r>
            <a:r>
              <a:rPr b="0" i="0" lang="en" sz="1100" u="none" cap="none" strike="noStrike">
                <a:solidFill>
                  <a:srgbClr val="000000"/>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p:txBody>
      </p:sp>
      <p:sp>
        <p:nvSpPr>
          <p:cNvPr id="651" name="Google Shape;651;p85"/>
          <p:cNvSpPr txBox="1"/>
          <p:nvPr/>
        </p:nvSpPr>
        <p:spPr>
          <a:xfrm rot="-756300">
            <a:off x="7904128" y="2496942"/>
            <a:ext cx="1101140" cy="495448"/>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0000"/>
                </a:solidFill>
                <a:latin typeface="Shadows Into Light"/>
                <a:ea typeface="Shadows Into Light"/>
                <a:cs typeface="Shadows Into Light"/>
                <a:sym typeface="Shadows Into Light"/>
              </a:rPr>
              <a:t>Use getName() instead.</a:t>
            </a:r>
            <a:endParaRPr b="0" i="0" sz="1300" u="none" cap="none" strike="noStrike">
              <a:solidFill>
                <a:srgbClr val="FF0000"/>
              </a:solidFill>
              <a:latin typeface="Shadows Into Light"/>
              <a:ea typeface="Shadows Into Light"/>
              <a:cs typeface="Shadows Into Light"/>
              <a:sym typeface="Shadows Into Light"/>
            </a:endParaRPr>
          </a:p>
        </p:txBody>
      </p:sp>
      <p:grpSp>
        <p:nvGrpSpPr>
          <p:cNvPr id="652" name="Google Shape;652;p85"/>
          <p:cNvGrpSpPr/>
          <p:nvPr/>
        </p:nvGrpSpPr>
        <p:grpSpPr>
          <a:xfrm>
            <a:off x="6155925" y="2664400"/>
            <a:ext cx="2897475" cy="562750"/>
            <a:chOff x="6155925" y="2664400"/>
            <a:chExt cx="2897475" cy="562750"/>
          </a:xfrm>
        </p:grpSpPr>
        <p:sp>
          <p:nvSpPr>
            <p:cNvPr id="653" name="Google Shape;653;p85"/>
            <p:cNvSpPr/>
            <p:nvPr/>
          </p:nvSpPr>
          <p:spPr>
            <a:xfrm>
              <a:off x="7900500" y="2963425"/>
              <a:ext cx="1152900" cy="184800"/>
            </a:xfrm>
            <a:prstGeom prst="mathMultiply">
              <a:avLst>
                <a:gd fmla="val 7994" name="adj1"/>
              </a:avLst>
            </a:prstGeom>
            <a:solidFill>
              <a:srgbClr val="FF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85"/>
            <p:cNvSpPr/>
            <p:nvPr/>
          </p:nvSpPr>
          <p:spPr>
            <a:xfrm>
              <a:off x="6155925" y="2664400"/>
              <a:ext cx="2076688" cy="562750"/>
            </a:xfrm>
            <a:custGeom>
              <a:rect b="b" l="l" r="r" t="t"/>
              <a:pathLst>
                <a:path extrusionOk="0" h="22510" w="85725">
                  <a:moveTo>
                    <a:pt x="0" y="22510"/>
                  </a:moveTo>
                  <a:cubicBezTo>
                    <a:pt x="3646" y="18815"/>
                    <a:pt x="7588" y="2459"/>
                    <a:pt x="21875" y="340"/>
                  </a:cubicBezTo>
                  <a:cubicBezTo>
                    <a:pt x="36163" y="-1778"/>
                    <a:pt x="75083" y="8223"/>
                    <a:pt x="85725" y="9799"/>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5" name="Google Shape;655;p85"/>
          <p:cNvSpPr txBox="1"/>
          <p:nvPr/>
        </p:nvSpPr>
        <p:spPr>
          <a:xfrm>
            <a:off x="3748688" y="3183313"/>
            <a:ext cx="2453400" cy="770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Child classes </a:t>
            </a:r>
            <a:r>
              <a:rPr b="1" i="1" lang="en" sz="1100" u="sng" cap="none" strike="noStrike">
                <a:solidFill>
                  <a:srgbClr val="FF0000"/>
                </a:solidFill>
                <a:latin typeface="Arial"/>
                <a:ea typeface="Arial"/>
                <a:cs typeface="Arial"/>
                <a:sym typeface="Arial"/>
              </a:rPr>
              <a:t>cannot</a:t>
            </a:r>
            <a:r>
              <a:rPr b="0" i="0" lang="en" sz="1100" u="none" cap="none" strike="noStrike">
                <a:solidFill>
                  <a:srgbClr val="FF0000"/>
                </a:solidFill>
                <a:latin typeface="Arial"/>
                <a:ea typeface="Arial"/>
                <a:cs typeface="Arial"/>
                <a:sym typeface="Arial"/>
              </a:rPr>
              <a:t> </a:t>
            </a:r>
            <a:r>
              <a:rPr b="0" i="0" lang="en" sz="1100" u="none" cap="none" strike="noStrike">
                <a:solidFill>
                  <a:srgbClr val="000000"/>
                </a:solidFill>
                <a:latin typeface="Arial"/>
                <a:ea typeface="Arial"/>
                <a:cs typeface="Arial"/>
                <a:sym typeface="Arial"/>
              </a:rPr>
              <a:t>directly access </a:t>
            </a:r>
            <a:r>
              <a:rPr b="0" i="0" lang="en" sz="1100" u="none" cap="none" strike="noStrike">
                <a:solidFill>
                  <a:srgbClr val="000000"/>
                </a:solidFill>
                <a:latin typeface="Courier New"/>
                <a:ea typeface="Courier New"/>
                <a:cs typeface="Courier New"/>
                <a:sym typeface="Courier New"/>
              </a:rPr>
              <a:t>private</a:t>
            </a:r>
            <a:r>
              <a:rPr b="0" i="0" lang="en" sz="1100" u="none" cap="none" strike="noStrike">
                <a:solidFill>
                  <a:srgbClr val="000000"/>
                </a:solidFill>
                <a:latin typeface="Arial"/>
                <a:ea typeface="Arial"/>
                <a:cs typeface="Arial"/>
                <a:sym typeface="Arial"/>
              </a:rPr>
              <a:t> state or behavior in the parent class. Accessors and mutators will need to be used.</a:t>
            </a:r>
            <a:endParaRPr b="0" i="0" sz="1100" u="none" cap="none" strike="noStrike">
              <a:solidFill>
                <a:srgbClr val="000000"/>
              </a:solidFill>
              <a:latin typeface="Arial"/>
              <a:ea typeface="Arial"/>
              <a:cs typeface="Arial"/>
              <a:sym typeface="Arial"/>
            </a:endParaRPr>
          </a:p>
        </p:txBody>
      </p:sp>
      <p:sp>
        <p:nvSpPr>
          <p:cNvPr id="656" name="Google Shape;656;p85"/>
          <p:cNvSpPr txBox="1"/>
          <p:nvPr>
            <p:ph idx="2" type="body"/>
          </p:nvPr>
        </p:nvSpPr>
        <p:spPr>
          <a:xfrm>
            <a:off x="6303750" y="3858163"/>
            <a:ext cx="2771400" cy="8118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solidFill>
                  <a:srgbClr val="267F99"/>
                </a:solidFill>
                <a:latin typeface="Consolas"/>
                <a:ea typeface="Consolas"/>
                <a:cs typeface="Consolas"/>
                <a:sym typeface="Consolas"/>
              </a:rPr>
              <a:t>Rabbit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r</a:t>
            </a:r>
            <a:r>
              <a:rPr lang="en" sz="1000">
                <a:solidFill>
                  <a:srgbClr val="000000"/>
                </a:solidFill>
                <a:latin typeface="Consolas"/>
                <a:ea typeface="Consolas"/>
                <a:cs typeface="Consolas"/>
                <a:sym typeface="Consolas"/>
              </a:rPr>
              <a:t> =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Rabbit</a:t>
            </a:r>
            <a:r>
              <a:rPr lang="en" sz="1000">
                <a:solidFill>
                  <a:srgbClr val="000000"/>
                </a:solidFill>
                <a:latin typeface="Consolas"/>
                <a:ea typeface="Consolas"/>
                <a:cs typeface="Consolas"/>
                <a:sym typeface="Consolas"/>
              </a:rPr>
              <a:t>(</a:t>
            </a:r>
            <a:r>
              <a:rPr lang="en" sz="1000">
                <a:solidFill>
                  <a:srgbClr val="098658"/>
                </a:solidFill>
                <a:latin typeface="Consolas"/>
                <a:ea typeface="Consolas"/>
                <a:cs typeface="Consolas"/>
                <a:sym typeface="Consolas"/>
              </a:rPr>
              <a:t>2.5</a:t>
            </a:r>
            <a:r>
              <a:rPr lang="en" sz="1000">
                <a:solidFill>
                  <a:srgbClr val="000000"/>
                </a:solidFill>
                <a:latin typeface="Consolas"/>
                <a:ea typeface="Consolas"/>
                <a:cs typeface="Consolas"/>
                <a:sym typeface="Consolas"/>
              </a:rPr>
              <a:t>, </a:t>
            </a:r>
            <a:r>
              <a:rPr lang="en" sz="1000">
                <a:solidFill>
                  <a:srgbClr val="A31515"/>
                </a:solidFill>
                <a:latin typeface="Consolas"/>
                <a:ea typeface="Consolas"/>
                <a:cs typeface="Consolas"/>
                <a:sym typeface="Consolas"/>
              </a:rPr>
              <a:t>"brown"</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267F99"/>
                </a:solidFill>
                <a:latin typeface="Consolas"/>
                <a:ea typeface="Consolas"/>
                <a:cs typeface="Consolas"/>
                <a:sym typeface="Consolas"/>
              </a:rPr>
              <a:t>Animal</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a</a:t>
            </a:r>
            <a:r>
              <a:rPr lang="en" sz="1000">
                <a:solidFill>
                  <a:srgbClr val="000000"/>
                </a:solidFill>
                <a:latin typeface="Consolas"/>
                <a:ea typeface="Consolas"/>
                <a:cs typeface="Consolas"/>
                <a:sym typeface="Consolas"/>
              </a:rPr>
              <a:t> =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Rabbit</a:t>
            </a:r>
            <a:r>
              <a:rPr lang="en" sz="1000">
                <a:solidFill>
                  <a:srgbClr val="000000"/>
                </a:solidFill>
                <a:latin typeface="Consolas"/>
                <a:ea typeface="Consolas"/>
                <a:cs typeface="Consolas"/>
                <a:sym typeface="Consolas"/>
              </a:rPr>
              <a:t>(</a:t>
            </a: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r>
              <a:rPr lang="en" sz="1000">
                <a:solidFill>
                  <a:srgbClr val="A31515"/>
                </a:solidFill>
                <a:latin typeface="Consolas"/>
                <a:ea typeface="Consolas"/>
                <a:cs typeface="Consolas"/>
                <a:sym typeface="Consolas"/>
              </a:rPr>
              <a:t>"white"</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1080"/>
                </a:solidFill>
                <a:latin typeface="Consolas"/>
                <a:ea typeface="Consolas"/>
                <a:cs typeface="Consolas"/>
                <a:sym typeface="Consolas"/>
              </a:rPr>
              <a:t>a</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greet</a:t>
            </a:r>
            <a:r>
              <a:rPr lang="en" sz="1000">
                <a:solidFill>
                  <a:srgbClr val="000000"/>
                </a:solidFill>
                <a:latin typeface="Consolas"/>
                <a:ea typeface="Consolas"/>
                <a:cs typeface="Consolas"/>
                <a:sym typeface="Consolas"/>
              </a:rPr>
              <a:t>(r);</a:t>
            </a:r>
            <a:endParaRPr sz="1000">
              <a:solidFill>
                <a:srgbClr val="4EC9B0"/>
              </a:solidFill>
              <a:latin typeface="Consolas"/>
              <a:ea typeface="Consolas"/>
              <a:cs typeface="Consolas"/>
              <a:sym typeface="Consolas"/>
            </a:endParaRPr>
          </a:p>
        </p:txBody>
      </p:sp>
      <p:sp>
        <p:nvSpPr>
          <p:cNvPr id="657" name="Google Shape;657;p85"/>
          <p:cNvSpPr/>
          <p:nvPr/>
        </p:nvSpPr>
        <p:spPr>
          <a:xfrm>
            <a:off x="6096825" y="4241900"/>
            <a:ext cx="1411499" cy="155200"/>
          </a:xfrm>
          <a:custGeom>
            <a:rect b="b" l="l" r="r" t="t"/>
            <a:pathLst>
              <a:path extrusionOk="0" h="6208" w="23944">
                <a:moveTo>
                  <a:pt x="0" y="6208"/>
                </a:moveTo>
                <a:cubicBezTo>
                  <a:pt x="3350" y="6011"/>
                  <a:pt x="16110" y="6061"/>
                  <a:pt x="20101" y="5026"/>
                </a:cubicBezTo>
                <a:cubicBezTo>
                  <a:pt x="24092" y="3991"/>
                  <a:pt x="23304" y="838"/>
                  <a:pt x="23944" y="0"/>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85"/>
          <p:cNvSpPr/>
          <p:nvPr/>
        </p:nvSpPr>
        <p:spPr>
          <a:xfrm>
            <a:off x="6030300" y="4552300"/>
            <a:ext cx="975500" cy="363350"/>
          </a:xfrm>
          <a:custGeom>
            <a:rect b="b" l="l" r="r" t="t"/>
            <a:pathLst>
              <a:path extrusionOk="0" h="14534" w="39020">
                <a:moveTo>
                  <a:pt x="0" y="12119"/>
                </a:moveTo>
                <a:cubicBezTo>
                  <a:pt x="5518" y="12415"/>
                  <a:pt x="26605" y="15913"/>
                  <a:pt x="33108" y="13893"/>
                </a:cubicBezTo>
                <a:cubicBezTo>
                  <a:pt x="39611" y="11873"/>
                  <a:pt x="38035" y="2316"/>
                  <a:pt x="39020" y="0"/>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85"/>
          <p:cNvSpPr txBox="1"/>
          <p:nvPr/>
        </p:nvSpPr>
        <p:spPr>
          <a:xfrm>
            <a:off x="3750525" y="4132370"/>
            <a:ext cx="2453400" cy="811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Through subclassing, </a:t>
            </a:r>
            <a:r>
              <a:rPr b="0" i="0" lang="en" sz="1100" u="none" cap="none" strike="noStrike">
                <a:solidFill>
                  <a:srgbClr val="000000"/>
                </a:solidFill>
                <a:latin typeface="Courier New"/>
                <a:ea typeface="Courier New"/>
                <a:cs typeface="Courier New"/>
                <a:sym typeface="Courier New"/>
              </a:rPr>
              <a:t>Rabbit</a:t>
            </a:r>
            <a:r>
              <a:rPr b="0" i="0" lang="en" sz="1100" u="none" cap="none" strike="noStrike">
                <a:solidFill>
                  <a:srgbClr val="000000"/>
                </a:solidFill>
                <a:latin typeface="Arial"/>
                <a:ea typeface="Arial"/>
                <a:cs typeface="Arial"/>
                <a:sym typeface="Arial"/>
              </a:rPr>
              <a:t> "is a" </a:t>
            </a:r>
            <a:r>
              <a:rPr b="0" i="0" lang="en" sz="1100" u="none" cap="none" strike="noStrike">
                <a:solidFill>
                  <a:srgbClr val="000000"/>
                </a:solidFill>
                <a:latin typeface="Courier New"/>
                <a:ea typeface="Courier New"/>
                <a:cs typeface="Courier New"/>
                <a:sym typeface="Courier New"/>
              </a:rPr>
              <a:t>Animal</a:t>
            </a:r>
            <a:r>
              <a:rPr b="0" i="0" lang="en" sz="1100" u="none" cap="none" strike="noStrike">
                <a:solidFill>
                  <a:srgbClr val="000000"/>
                </a:solidFill>
                <a:latin typeface="Arial"/>
                <a:ea typeface="Arial"/>
                <a:cs typeface="Arial"/>
                <a:sym typeface="Arial"/>
              </a:rPr>
              <a:t>, and can be used with any code written to use </a:t>
            </a:r>
            <a:r>
              <a:rPr b="0" i="0" lang="en" sz="1100" u="none" cap="none" strike="noStrike">
                <a:solidFill>
                  <a:srgbClr val="000000"/>
                </a:solidFill>
                <a:latin typeface="Courier New"/>
                <a:ea typeface="Courier New"/>
                <a:cs typeface="Courier New"/>
                <a:sym typeface="Courier New"/>
              </a:rPr>
              <a:t>Animal</a:t>
            </a:r>
            <a:r>
              <a:rPr b="0" i="0" lang="en" sz="1100" u="none" cap="none" strike="noStrike">
                <a:solidFill>
                  <a:srgbClr val="000000"/>
                </a:solidFill>
                <a:latin typeface="Arial"/>
                <a:ea typeface="Arial"/>
                <a:cs typeface="Arial"/>
                <a:sym typeface="Arial"/>
              </a:rPr>
              <a:t>. </a:t>
            </a:r>
            <a:r>
              <a:rPr b="1" i="1" lang="en" sz="1100" u="sng" cap="none" strike="noStrike">
                <a:solidFill>
                  <a:srgbClr val="FF0000"/>
                </a:solidFill>
                <a:latin typeface="Arial"/>
                <a:ea typeface="Arial"/>
                <a:cs typeface="Arial"/>
                <a:sym typeface="Arial"/>
              </a:rPr>
              <a:t>Polymorphism</a:t>
            </a:r>
            <a:r>
              <a:rPr b="0" i="0" lang="en" sz="1100" u="none" cap="none" strike="noStrike">
                <a:solidFill>
                  <a:srgbClr val="000000"/>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8"/>
                                        </p:tgtEl>
                                        <p:attrNameLst>
                                          <p:attrName>style.visibility</p:attrName>
                                        </p:attrNameLst>
                                      </p:cBhvr>
                                      <p:to>
                                        <p:strVal val="visible"/>
                                      </p:to>
                                    </p:set>
                                    <p:animEffect filter="fade" transition="in">
                                      <p:cBhvr>
                                        <p:cTn dur="1000"/>
                                        <p:tgtEl>
                                          <p:spTgt spid="64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47"/>
                                        </p:tgtEl>
                                        <p:attrNameLst>
                                          <p:attrName>style.visibility</p:attrName>
                                        </p:attrNameLst>
                                      </p:cBhvr>
                                      <p:to>
                                        <p:strVal val="visible"/>
                                      </p:to>
                                    </p:set>
                                    <p:animEffect filter="fade" transition="in">
                                      <p:cBhvr>
                                        <p:cTn dur="1000"/>
                                        <p:tgtEl>
                                          <p:spTgt spid="6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0"/>
                                        </p:tgtEl>
                                        <p:attrNameLst>
                                          <p:attrName>style.visibility</p:attrName>
                                        </p:attrNameLst>
                                      </p:cBhvr>
                                      <p:to>
                                        <p:strVal val="visible"/>
                                      </p:to>
                                    </p:set>
                                    <p:animEffect filter="fade" transition="in">
                                      <p:cBhvr>
                                        <p:cTn dur="1000"/>
                                        <p:tgtEl>
                                          <p:spTgt spid="65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49"/>
                                        </p:tgtEl>
                                        <p:attrNameLst>
                                          <p:attrName>style.visibility</p:attrName>
                                        </p:attrNameLst>
                                      </p:cBhvr>
                                      <p:to>
                                        <p:strVal val="visible"/>
                                      </p:to>
                                    </p:set>
                                    <p:animEffect filter="fade" transition="in">
                                      <p:cBhvr>
                                        <p:cTn dur="1000"/>
                                        <p:tgtEl>
                                          <p:spTgt spid="6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
                                        </p:tgtEl>
                                        <p:attrNameLst>
                                          <p:attrName>style.visibility</p:attrName>
                                        </p:attrNameLst>
                                      </p:cBhvr>
                                      <p:to>
                                        <p:strVal val="visible"/>
                                      </p:to>
                                    </p:set>
                                    <p:animEffect filter="fade" transition="in">
                                      <p:cBhvr>
                                        <p:cTn dur="1000"/>
                                        <p:tgtEl>
                                          <p:spTgt spid="65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52"/>
                                        </p:tgtEl>
                                        <p:attrNameLst>
                                          <p:attrName>style.visibility</p:attrName>
                                        </p:attrNameLst>
                                      </p:cBhvr>
                                      <p:to>
                                        <p:strVal val="visible"/>
                                      </p:to>
                                    </p:set>
                                    <p:animEffect filter="fade" transition="in">
                                      <p:cBhvr>
                                        <p:cTn dur="1000"/>
                                        <p:tgtEl>
                                          <p:spTgt spid="65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51"/>
                                        </p:tgtEl>
                                        <p:attrNameLst>
                                          <p:attrName>style.visibility</p:attrName>
                                        </p:attrNameLst>
                                      </p:cBhvr>
                                      <p:to>
                                        <p:strVal val="visible"/>
                                      </p:to>
                                    </p:set>
                                    <p:animEffect filter="fade" transition="in">
                                      <p:cBhvr>
                                        <p:cTn dur="1000"/>
                                        <p:tgtEl>
                                          <p:spTgt spid="6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gtEl>
                                        <p:attrNameLst>
                                          <p:attrName>style.visibility</p:attrName>
                                        </p:attrNameLst>
                                      </p:cBhvr>
                                      <p:to>
                                        <p:strVal val="visible"/>
                                      </p:to>
                                    </p:set>
                                    <p:animEffect filter="fade" transition="in">
                                      <p:cBhvr>
                                        <p:cTn dur="1000"/>
                                        <p:tgtEl>
                                          <p:spTgt spid="659"/>
                                        </p:tgtEl>
                                      </p:cBhvr>
                                    </p:animEffect>
                                  </p:childTnLst>
                                </p:cTn>
                              </p:par>
                              <p:par>
                                <p:cTn fill="hold" nodeType="withEffect" presetClass="entr" presetID="10" presetSubtype="0">
                                  <p:stCondLst>
                                    <p:cond delay="0"/>
                                  </p:stCondLst>
                                  <p:childTnLst>
                                    <p:set>
                                      <p:cBhvr>
                                        <p:cTn dur="1" fill="hold">
                                          <p:stCondLst>
                                            <p:cond delay="0"/>
                                          </p:stCondLst>
                                        </p:cTn>
                                        <p:tgtEl>
                                          <p:spTgt spid="656"/>
                                        </p:tgtEl>
                                        <p:attrNameLst>
                                          <p:attrName>style.visibility</p:attrName>
                                        </p:attrNameLst>
                                      </p:cBhvr>
                                      <p:to>
                                        <p:strVal val="visible"/>
                                      </p:to>
                                    </p:set>
                                    <p:animEffect filter="fade" transition="in">
                                      <p:cBhvr>
                                        <p:cTn dur="1000"/>
                                        <p:tgtEl>
                                          <p:spTgt spid="65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1000"/>
                                        <p:tgtEl>
                                          <p:spTgt spid="65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58"/>
                                        </p:tgtEl>
                                        <p:attrNameLst>
                                          <p:attrName>style.visibility</p:attrName>
                                        </p:attrNameLst>
                                      </p:cBhvr>
                                      <p:to>
                                        <p:strVal val="visible"/>
                                      </p:to>
                                    </p:set>
                                    <p:animEffect filter="fade" transition="in">
                                      <p:cBhvr>
                                        <p:cTn dur="1000"/>
                                        <p:tgtEl>
                                          <p:spTgt spid="6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86"/>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Now that you have encapsulated all of the common state and behavior in the </a:t>
            </a:r>
            <a:r>
              <a:rPr lang="en">
                <a:latin typeface="Courier New"/>
                <a:ea typeface="Courier New"/>
                <a:cs typeface="Courier New"/>
                <a:sym typeface="Courier New"/>
              </a:rPr>
              <a:t>Goat</a:t>
            </a:r>
            <a:r>
              <a:rPr lang="en"/>
              <a:t> class, refactor </a:t>
            </a:r>
            <a:r>
              <a:rPr lang="en">
                <a:latin typeface="Courier New"/>
                <a:ea typeface="Courier New"/>
                <a:cs typeface="Courier New"/>
                <a:sym typeface="Courier New"/>
              </a:rPr>
              <a:t>Mage</a:t>
            </a:r>
            <a:r>
              <a:rPr lang="en"/>
              <a:t> so that it extends </a:t>
            </a:r>
            <a:r>
              <a:rPr lang="en">
                <a:latin typeface="Courier New"/>
                <a:ea typeface="Courier New"/>
                <a:cs typeface="Courier New"/>
                <a:sym typeface="Courier New"/>
              </a:rPr>
              <a:t>Goat</a:t>
            </a:r>
            <a:r>
              <a:rPr lang="en"/>
              <a:t>.</a:t>
            </a:r>
            <a:endParaRPr/>
          </a:p>
        </p:txBody>
      </p:sp>
      <p:sp>
        <p:nvSpPr>
          <p:cNvPr id="665" name="Google Shape;665;p8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6" name="Google Shape;666;p86"/>
          <p:cNvSpPr txBox="1"/>
          <p:nvPr>
            <p:ph idx="2" type="body"/>
          </p:nvPr>
        </p:nvSpPr>
        <p:spPr>
          <a:xfrm>
            <a:off x="3033175" y="1418875"/>
            <a:ext cx="5807700" cy="30600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Open your </a:t>
            </a:r>
            <a:r>
              <a:rPr lang="en" sz="1400">
                <a:solidFill>
                  <a:srgbClr val="FF0000"/>
                </a:solidFill>
                <a:latin typeface="Courier New"/>
                <a:ea typeface="Courier New"/>
                <a:cs typeface="Courier New"/>
                <a:sym typeface="Courier New"/>
              </a:rPr>
              <a:t>Mage</a:t>
            </a:r>
            <a:r>
              <a:rPr lang="en" sz="1400">
                <a:solidFill>
                  <a:srgbClr val="FF0000"/>
                </a:solidFill>
              </a:rPr>
              <a:t> </a:t>
            </a:r>
            <a:r>
              <a:rPr lang="en" sz="1400"/>
              <a:t>class and modify it so that it subclasses your common </a:t>
            </a:r>
            <a:r>
              <a:rPr lang="en" sz="1400">
                <a:solidFill>
                  <a:srgbClr val="FF0000"/>
                </a:solidFill>
                <a:latin typeface="Courier New"/>
                <a:ea typeface="Courier New"/>
                <a:cs typeface="Courier New"/>
                <a:sym typeface="Courier New"/>
              </a:rPr>
              <a:t>Goat</a:t>
            </a:r>
            <a:r>
              <a:rPr lang="en" sz="1400"/>
              <a:t>. For now we will focus only on the </a:t>
            </a:r>
            <a:r>
              <a:rPr b="1" i="1" lang="en" sz="1400">
                <a:solidFill>
                  <a:srgbClr val="FF0000"/>
                </a:solidFill>
              </a:rPr>
              <a:t>constructor</a:t>
            </a:r>
            <a:r>
              <a:rPr lang="en" sz="1400"/>
              <a:t>.</a:t>
            </a:r>
            <a:endParaRPr sz="1400"/>
          </a:p>
          <a:p>
            <a:pPr indent="-304800" lvl="1" marL="914400" rtl="0" algn="l">
              <a:spcBef>
                <a:spcPts val="0"/>
              </a:spcBef>
              <a:spcAft>
                <a:spcPts val="0"/>
              </a:spcAft>
              <a:buSzPts val="1200"/>
              <a:buChar char="○"/>
            </a:pPr>
            <a:r>
              <a:rPr lang="en" sz="1200"/>
              <a:t>Begin by </a:t>
            </a:r>
            <a:r>
              <a:rPr b="1" i="1" lang="en" sz="1200">
                <a:solidFill>
                  <a:srgbClr val="FF0000"/>
                </a:solidFill>
              </a:rPr>
              <a:t>commenting all but the</a:t>
            </a:r>
            <a:r>
              <a:rPr lang="en" sz="1200">
                <a:solidFill>
                  <a:srgbClr val="FF0000"/>
                </a:solidFill>
              </a:rPr>
              <a:t> </a:t>
            </a:r>
            <a:r>
              <a:rPr lang="en" sz="1200">
                <a:solidFill>
                  <a:srgbClr val="FF0000"/>
                </a:solidFill>
                <a:latin typeface="Courier New"/>
                <a:ea typeface="Courier New"/>
                <a:cs typeface="Courier New"/>
                <a:sym typeface="Courier New"/>
              </a:rPr>
              <a:t>main</a:t>
            </a:r>
            <a:r>
              <a:rPr lang="en" sz="1200">
                <a:solidFill>
                  <a:srgbClr val="FF0000"/>
                </a:solidFill>
              </a:rPr>
              <a:t> </a:t>
            </a:r>
            <a:r>
              <a:rPr b="1" i="1" lang="en" sz="1200">
                <a:solidFill>
                  <a:srgbClr val="FF0000"/>
                </a:solidFill>
              </a:rPr>
              <a:t>method</a:t>
            </a:r>
            <a:r>
              <a:rPr b="1" i="1" lang="en" sz="1200"/>
              <a:t> </a:t>
            </a:r>
            <a:r>
              <a:rPr lang="en" sz="1200"/>
              <a:t>in the body of the class.</a:t>
            </a:r>
            <a:endParaRPr sz="1200"/>
          </a:p>
          <a:p>
            <a:pPr indent="-304800" lvl="1" marL="914400" rtl="0" algn="l">
              <a:spcBef>
                <a:spcPts val="0"/>
              </a:spcBef>
              <a:spcAft>
                <a:spcPts val="0"/>
              </a:spcAft>
              <a:buSzPts val="1200"/>
              <a:buChar char="○"/>
            </a:pPr>
            <a:r>
              <a:rPr lang="en" sz="1200"/>
              <a:t>Use </a:t>
            </a:r>
            <a:r>
              <a:rPr lang="en" sz="1200">
                <a:solidFill>
                  <a:srgbClr val="FF0000"/>
                </a:solidFill>
                <a:latin typeface="Courier New"/>
                <a:ea typeface="Courier New"/>
                <a:cs typeface="Courier New"/>
                <a:sym typeface="Courier New"/>
              </a:rPr>
              <a:t>extends</a:t>
            </a:r>
            <a:r>
              <a:rPr lang="en" sz="1200">
                <a:solidFill>
                  <a:srgbClr val="FF0000"/>
                </a:solidFill>
              </a:rPr>
              <a:t> </a:t>
            </a:r>
            <a:r>
              <a:rPr lang="en" sz="1200"/>
              <a:t>to establish the inheritance relationship with </a:t>
            </a:r>
            <a:r>
              <a:rPr lang="en" sz="1200">
                <a:latin typeface="Courier New"/>
                <a:ea typeface="Courier New"/>
                <a:cs typeface="Courier New"/>
                <a:sym typeface="Courier New"/>
              </a:rPr>
              <a:t>Goat</a:t>
            </a:r>
            <a:r>
              <a:rPr lang="en" sz="1200"/>
              <a:t>.</a:t>
            </a:r>
            <a:endParaRPr sz="1200"/>
          </a:p>
          <a:p>
            <a:pPr indent="-317500" lvl="0" marL="457200" rtl="0" algn="l">
              <a:spcBef>
                <a:spcPts val="0"/>
              </a:spcBef>
              <a:spcAft>
                <a:spcPts val="0"/>
              </a:spcAft>
              <a:buSzPts val="1400"/>
              <a:buChar char="●"/>
            </a:pPr>
            <a:r>
              <a:rPr lang="en" sz="1400"/>
              <a:t>Try to </a:t>
            </a:r>
            <a:r>
              <a:rPr b="1" i="1" lang="en" sz="1400">
                <a:solidFill>
                  <a:srgbClr val="FF0000"/>
                </a:solidFill>
              </a:rPr>
              <a:t>compile</a:t>
            </a:r>
            <a:r>
              <a:rPr lang="en" sz="1400">
                <a:solidFill>
                  <a:srgbClr val="FF0000"/>
                </a:solidFill>
              </a:rPr>
              <a:t> </a:t>
            </a:r>
            <a:r>
              <a:rPr lang="en" sz="1400"/>
              <a:t>and </a:t>
            </a:r>
            <a:r>
              <a:rPr b="1" i="1" lang="en" sz="1400">
                <a:solidFill>
                  <a:srgbClr val="FF0000"/>
                </a:solidFill>
              </a:rPr>
              <a:t>run</a:t>
            </a:r>
            <a:r>
              <a:rPr lang="en" sz="1400">
                <a:solidFill>
                  <a:srgbClr val="FF0000"/>
                </a:solidFill>
              </a:rPr>
              <a:t> </a:t>
            </a:r>
            <a:r>
              <a:rPr lang="en" sz="1400"/>
              <a:t>the class. </a:t>
            </a:r>
            <a:endParaRPr sz="1400"/>
          </a:p>
          <a:p>
            <a:pPr indent="-304800" lvl="1" marL="914400" rtl="0" algn="l">
              <a:spcBef>
                <a:spcPts val="0"/>
              </a:spcBef>
              <a:spcAft>
                <a:spcPts val="0"/>
              </a:spcAft>
              <a:buSzPts val="1200"/>
              <a:buChar char="○"/>
            </a:pPr>
            <a:r>
              <a:rPr lang="en" sz="1200"/>
              <a:t>Compilation will </a:t>
            </a:r>
            <a:r>
              <a:rPr b="1" i="1" lang="en" sz="1200">
                <a:solidFill>
                  <a:srgbClr val="FF0000"/>
                </a:solidFill>
              </a:rPr>
              <a:t>fail </a:t>
            </a:r>
            <a:r>
              <a:rPr lang="en" sz="1200"/>
              <a:t>because you have not yet defined a </a:t>
            </a:r>
            <a:r>
              <a:rPr b="1" i="1" lang="en" sz="1200">
                <a:solidFill>
                  <a:srgbClr val="FF0000"/>
                </a:solidFill>
              </a:rPr>
              <a:t>constructor</a:t>
            </a:r>
            <a:r>
              <a:rPr lang="en" sz="1200"/>
              <a:t>.</a:t>
            </a:r>
            <a:endParaRPr sz="1200"/>
          </a:p>
          <a:p>
            <a:pPr indent="-304800" lvl="1" marL="914400" rtl="0" algn="l">
              <a:spcBef>
                <a:spcPts val="0"/>
              </a:spcBef>
              <a:spcAft>
                <a:spcPts val="0"/>
              </a:spcAft>
              <a:buSzPts val="1200"/>
              <a:buChar char="○"/>
            </a:pPr>
            <a:r>
              <a:rPr lang="en" sz="1200"/>
              <a:t>Add a constructor to your </a:t>
            </a:r>
            <a:r>
              <a:rPr lang="en" sz="1200">
                <a:latin typeface="Courier New"/>
                <a:ea typeface="Courier New"/>
                <a:cs typeface="Courier New"/>
                <a:sym typeface="Courier New"/>
              </a:rPr>
              <a:t>Mage</a:t>
            </a:r>
            <a:r>
              <a:rPr lang="en" sz="1200"/>
              <a:t> class that uses </a:t>
            </a:r>
            <a:r>
              <a:rPr lang="en" sz="1200">
                <a:solidFill>
                  <a:srgbClr val="FF0000"/>
                </a:solidFill>
                <a:latin typeface="Courier New"/>
                <a:ea typeface="Courier New"/>
                <a:cs typeface="Courier New"/>
                <a:sym typeface="Courier New"/>
              </a:rPr>
              <a:t>super</a:t>
            </a:r>
            <a:r>
              <a:rPr lang="en" sz="1200">
                <a:solidFill>
                  <a:srgbClr val="FF0000"/>
                </a:solidFill>
              </a:rPr>
              <a:t> </a:t>
            </a:r>
            <a:r>
              <a:rPr lang="en" sz="1200"/>
              <a:t>to call the constructor in the parent class. </a:t>
            </a:r>
            <a:endParaRPr sz="1200"/>
          </a:p>
          <a:p>
            <a:pPr indent="-304800" lvl="1" marL="914400" rtl="0" algn="l">
              <a:spcBef>
                <a:spcPts val="0"/>
              </a:spcBef>
              <a:spcAft>
                <a:spcPts val="0"/>
              </a:spcAft>
              <a:buSzPts val="1200"/>
              <a:buChar char="○"/>
            </a:pPr>
            <a:r>
              <a:rPr lang="en" sz="1200"/>
              <a:t>What </a:t>
            </a:r>
            <a:r>
              <a:rPr b="1" i="1" lang="en" sz="1200">
                <a:solidFill>
                  <a:srgbClr val="FF0000"/>
                </a:solidFill>
              </a:rPr>
              <a:t>parameters </a:t>
            </a:r>
            <a:r>
              <a:rPr lang="en" sz="1200"/>
              <a:t>will your </a:t>
            </a:r>
            <a:r>
              <a:rPr lang="en" sz="1200">
                <a:latin typeface="Courier New"/>
                <a:ea typeface="Courier New"/>
                <a:cs typeface="Courier New"/>
                <a:sym typeface="Courier New"/>
              </a:rPr>
              <a:t>Mage</a:t>
            </a:r>
            <a:r>
              <a:rPr lang="en" sz="1200"/>
              <a:t> constructor need? </a:t>
            </a:r>
            <a:r>
              <a:rPr b="1" i="1" lang="en" sz="1200">
                <a:solidFill>
                  <a:srgbClr val="FF0000"/>
                </a:solidFill>
              </a:rPr>
              <a:t>Hint</a:t>
            </a:r>
            <a:r>
              <a:rPr lang="en" sz="1200"/>
              <a:t>: some values never change from one </a:t>
            </a:r>
            <a:r>
              <a:rPr lang="en" sz="1200">
                <a:latin typeface="Courier New"/>
                <a:ea typeface="Courier New"/>
                <a:cs typeface="Courier New"/>
                <a:sym typeface="Courier New"/>
              </a:rPr>
              <a:t>Mage</a:t>
            </a:r>
            <a:r>
              <a:rPr lang="en" sz="1200"/>
              <a:t> to the next.</a:t>
            </a:r>
            <a:endParaRPr sz="1200"/>
          </a:p>
          <a:p>
            <a:pPr indent="-317500" lvl="0" marL="457200" rtl="0" algn="l">
              <a:spcBef>
                <a:spcPts val="0"/>
              </a:spcBef>
              <a:spcAft>
                <a:spcPts val="0"/>
              </a:spcAft>
              <a:buSzPts val="1400"/>
              <a:buChar char="●"/>
            </a:pPr>
            <a:r>
              <a:rPr b="1" i="1" lang="en" sz="1400">
                <a:solidFill>
                  <a:srgbClr val="FF0000"/>
                </a:solidFill>
              </a:rPr>
              <a:t>Compile</a:t>
            </a:r>
            <a:r>
              <a:rPr lang="en" sz="1400">
                <a:solidFill>
                  <a:srgbClr val="FF0000"/>
                </a:solidFill>
              </a:rPr>
              <a:t> </a:t>
            </a:r>
            <a:r>
              <a:rPr lang="en" sz="1400"/>
              <a:t>and </a:t>
            </a:r>
            <a:r>
              <a:rPr b="1" i="1" lang="en" sz="1400">
                <a:solidFill>
                  <a:srgbClr val="FF0000"/>
                </a:solidFill>
              </a:rPr>
              <a:t>run</a:t>
            </a:r>
            <a:r>
              <a:rPr lang="en" sz="1400">
                <a:solidFill>
                  <a:srgbClr val="FF0000"/>
                </a:solidFill>
              </a:rPr>
              <a:t> </a:t>
            </a:r>
            <a:r>
              <a:rPr lang="en" sz="1400"/>
              <a:t>the class again. </a:t>
            </a:r>
            <a:endParaRPr sz="1400"/>
          </a:p>
          <a:p>
            <a:pPr indent="-304800" lvl="1" marL="914400" rtl="0" algn="l">
              <a:spcBef>
                <a:spcPts val="0"/>
              </a:spcBef>
              <a:spcAft>
                <a:spcPts val="0"/>
              </a:spcAft>
              <a:buSzPts val="1200"/>
              <a:buChar char="○"/>
            </a:pPr>
            <a:r>
              <a:rPr lang="en" sz="1200"/>
              <a:t>Does the </a:t>
            </a:r>
            <a:r>
              <a:rPr lang="en" sz="1200">
                <a:latin typeface="Courier New"/>
                <a:ea typeface="Courier New"/>
                <a:cs typeface="Courier New"/>
                <a:sym typeface="Courier New"/>
              </a:rPr>
              <a:t>main</a:t>
            </a:r>
            <a:r>
              <a:rPr lang="en" sz="1200"/>
              <a:t> method still work the way that you expect it to?</a:t>
            </a:r>
            <a:endParaRPr sz="1200"/>
          </a:p>
        </p:txBody>
      </p:sp>
      <p:sp>
        <p:nvSpPr>
          <p:cNvPr id="667" name="Google Shape;667;p8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Begin Refactoring Mage</a:t>
            </a:r>
            <a:endParaRPr/>
          </a:p>
        </p:txBody>
      </p:sp>
      <p:sp>
        <p:nvSpPr>
          <p:cNvPr id="668" name="Google Shape;668;p8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3.11</a:t>
            </a:r>
            <a:endParaRPr/>
          </a:p>
        </p:txBody>
      </p:sp>
      <p:sp>
        <p:nvSpPr>
          <p:cNvPr id="669" name="Google Shape;669;p86"/>
          <p:cNvSpPr txBox="1"/>
          <p:nvPr/>
        </p:nvSpPr>
        <p:spPr>
          <a:xfrm>
            <a:off x="228600" y="3485526"/>
            <a:ext cx="2697300" cy="1431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Rabbit</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extends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Animal</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Rabbit</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super</a:t>
            </a:r>
            <a:r>
              <a:rPr lang="en" sz="900">
                <a:latin typeface="Consolas"/>
                <a:ea typeface="Consolas"/>
                <a:cs typeface="Consolas"/>
                <a:sym typeface="Consolas"/>
              </a:rPr>
              <a:t>(</a:t>
            </a:r>
            <a:r>
              <a:rPr lang="en" sz="900">
                <a:solidFill>
                  <a:srgbClr val="A31515"/>
                </a:solidFill>
                <a:latin typeface="Consolas"/>
                <a:ea typeface="Consolas"/>
                <a:cs typeface="Consolas"/>
                <a:sym typeface="Consolas"/>
              </a:rPr>
              <a:t>"Rabbit"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a:t>
            </a:r>
            <a:endParaRPr sz="900">
              <a:solidFill>
                <a:srgbClr val="569CD6"/>
              </a:solidFill>
              <a:latin typeface="Consolas"/>
              <a:ea typeface="Consolas"/>
              <a:cs typeface="Consolas"/>
              <a:sym typeface="Consolas"/>
            </a:endParaRPr>
          </a:p>
        </p:txBody>
      </p:sp>
      <p:sp>
        <p:nvSpPr>
          <p:cNvPr id="670" name="Google Shape;670;p86"/>
          <p:cNvSpPr txBox="1"/>
          <p:nvPr/>
        </p:nvSpPr>
        <p:spPr>
          <a:xfrm>
            <a:off x="228600" y="1545151"/>
            <a:ext cx="2697300" cy="15699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Animal</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Animal</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endParaRPr sz="900">
              <a:solidFill>
                <a:srgbClr val="569CD6"/>
              </a:solidFill>
              <a:latin typeface="Consolas"/>
              <a:ea typeface="Consolas"/>
              <a:cs typeface="Consolas"/>
              <a:sym typeface="Consolas"/>
            </a:endParaRPr>
          </a:p>
        </p:txBody>
      </p:sp>
      <p:grpSp>
        <p:nvGrpSpPr>
          <p:cNvPr id="671" name="Google Shape;671;p86"/>
          <p:cNvGrpSpPr/>
          <p:nvPr/>
        </p:nvGrpSpPr>
        <p:grpSpPr>
          <a:xfrm>
            <a:off x="1437600" y="3113833"/>
            <a:ext cx="279300" cy="371700"/>
            <a:chOff x="1067200" y="1950975"/>
            <a:chExt cx="279300" cy="371700"/>
          </a:xfrm>
        </p:grpSpPr>
        <p:sp>
          <p:nvSpPr>
            <p:cNvPr id="672" name="Google Shape;672;p86"/>
            <p:cNvSpPr/>
            <p:nvPr/>
          </p:nvSpPr>
          <p:spPr>
            <a:xfrm>
              <a:off x="1067200" y="1950975"/>
              <a:ext cx="279300" cy="207900"/>
            </a:xfrm>
            <a:prstGeom prst="triangle">
              <a:avLst>
                <a:gd fmla="val 50000" name="adj"/>
              </a:avLst>
            </a:prstGeom>
            <a:solidFill>
              <a:srgbClr val="FFFFFF"/>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73" name="Google Shape;673;p86"/>
            <p:cNvCxnSpPr>
              <a:stCxn id="672" idx="3"/>
            </p:cNvCxnSpPr>
            <p:nvPr/>
          </p:nvCxnSpPr>
          <p:spPr>
            <a:xfrm>
              <a:off x="1206850" y="2158875"/>
              <a:ext cx="3000" cy="163800"/>
            </a:xfrm>
            <a:prstGeom prst="straightConnector1">
              <a:avLst/>
            </a:prstGeom>
            <a:noFill/>
            <a:ln cap="flat" cmpd="sng" w="28575">
              <a:solidFill>
                <a:srgbClr val="000000"/>
              </a:solidFill>
              <a:prstDash val="solid"/>
              <a:round/>
              <a:headEnd len="sm" w="sm" type="none"/>
              <a:tailEnd len="sm" w="sm" type="none"/>
            </a:ln>
          </p:spPr>
        </p:cxn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87"/>
          <p:cNvSpPr txBox="1"/>
          <p:nvPr>
            <p:ph type="title"/>
          </p:nvPr>
        </p:nvSpPr>
        <p:spPr>
          <a:xfrm>
            <a:off x="311725" y="1199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Overriding Methods</a:t>
            </a:r>
            <a:endParaRPr/>
          </a:p>
        </p:txBody>
      </p:sp>
      <p:sp>
        <p:nvSpPr>
          <p:cNvPr id="679" name="Google Shape;679;p87"/>
          <p:cNvSpPr txBox="1"/>
          <p:nvPr>
            <p:ph idx="1" type="body"/>
          </p:nvPr>
        </p:nvSpPr>
        <p:spPr>
          <a:xfrm>
            <a:off x="4374925" y="119925"/>
            <a:ext cx="4646100" cy="4777800"/>
          </a:xfrm>
          <a:prstGeom prst="rect">
            <a:avLst/>
          </a:prstGeom>
          <a:noFill/>
          <a:ln>
            <a:noFill/>
          </a:ln>
        </p:spPr>
        <p:txBody>
          <a:bodyPr anchorCtr="0" anchor="ctr"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a:t>Inheritance enables </a:t>
            </a:r>
            <a:r>
              <a:rPr b="1" i="1" lang="en">
                <a:solidFill>
                  <a:srgbClr val="FF0000"/>
                </a:solidFill>
              </a:rPr>
              <a:t>polymorphism</a:t>
            </a:r>
            <a:r>
              <a:rPr lang="en"/>
              <a:t>, which means that any code written to use the </a:t>
            </a:r>
            <a:r>
              <a:rPr b="1" i="1" lang="en">
                <a:solidFill>
                  <a:srgbClr val="FF0000"/>
                </a:solidFill>
              </a:rPr>
              <a:t>parent</a:t>
            </a:r>
            <a:r>
              <a:rPr lang="en">
                <a:solidFill>
                  <a:srgbClr val="FF0000"/>
                </a:solidFill>
              </a:rPr>
              <a:t> </a:t>
            </a:r>
            <a:r>
              <a:rPr lang="en"/>
              <a:t>will also work with </a:t>
            </a:r>
            <a:r>
              <a:rPr b="1" i="1" lang="en">
                <a:solidFill>
                  <a:srgbClr val="FF0000"/>
                </a:solidFill>
              </a:rPr>
              <a:t>any </a:t>
            </a:r>
            <a:r>
              <a:rPr lang="en"/>
              <a:t>of its </a:t>
            </a:r>
            <a:r>
              <a:rPr b="1" i="1" lang="en">
                <a:solidFill>
                  <a:srgbClr val="FF0000"/>
                </a:solidFill>
              </a:rPr>
              <a:t>children</a:t>
            </a:r>
            <a:r>
              <a:rPr lang="en"/>
              <a:t>.</a:t>
            </a:r>
            <a:endParaRPr/>
          </a:p>
          <a:p>
            <a:pPr indent="-298450" lvl="1" marL="914400" rtl="0" algn="l">
              <a:lnSpc>
                <a:spcPct val="115000"/>
              </a:lnSpc>
              <a:spcBef>
                <a:spcPts val="0"/>
              </a:spcBef>
              <a:spcAft>
                <a:spcPts val="0"/>
              </a:spcAft>
              <a:buSzPts val="1100"/>
              <a:buChar char="○"/>
            </a:pPr>
            <a:r>
              <a:rPr lang="en"/>
              <a:t>This is because the child class </a:t>
            </a:r>
            <a:r>
              <a:rPr b="1" i="1" lang="en">
                <a:solidFill>
                  <a:srgbClr val="FF0000"/>
                </a:solidFill>
              </a:rPr>
              <a:t>inherits</a:t>
            </a:r>
            <a:r>
              <a:rPr lang="en">
                <a:solidFill>
                  <a:srgbClr val="FF0000"/>
                </a:solidFill>
              </a:rPr>
              <a:t> </a:t>
            </a:r>
            <a:r>
              <a:rPr lang="en"/>
              <a:t>all of the accessible state and behavior from its parent.</a:t>
            </a:r>
            <a:endParaRPr/>
          </a:p>
          <a:p>
            <a:pPr indent="-298450" lvl="1" marL="914400" rtl="0" algn="l">
              <a:lnSpc>
                <a:spcPct val="115000"/>
              </a:lnSpc>
              <a:spcBef>
                <a:spcPts val="0"/>
              </a:spcBef>
              <a:spcAft>
                <a:spcPts val="0"/>
              </a:spcAft>
              <a:buSzPts val="1100"/>
              <a:buChar char="○"/>
            </a:pPr>
            <a:r>
              <a:rPr lang="en"/>
              <a:t>This means that </a:t>
            </a:r>
            <a:r>
              <a:rPr b="1" i="1" lang="en">
                <a:solidFill>
                  <a:srgbClr val="FF0000"/>
                </a:solidFill>
              </a:rPr>
              <a:t>any </a:t>
            </a:r>
            <a:r>
              <a:rPr lang="en"/>
              <a:t>code that uses state and behavior defined in the parent class will find the same state and behavior in the child as well.</a:t>
            </a:r>
            <a:endParaRPr/>
          </a:p>
          <a:p>
            <a:pPr indent="-311150" lvl="0" marL="457200" rtl="0" algn="l">
              <a:lnSpc>
                <a:spcPct val="115000"/>
              </a:lnSpc>
              <a:spcBef>
                <a:spcPts val="0"/>
              </a:spcBef>
              <a:spcAft>
                <a:spcPts val="0"/>
              </a:spcAft>
              <a:buSzPts val="1300"/>
              <a:buChar char="●"/>
            </a:pPr>
            <a:r>
              <a:rPr lang="en"/>
              <a:t>Conversely, this means that state and behavior that is </a:t>
            </a:r>
            <a:r>
              <a:rPr b="1" i="1" lang="en">
                <a:solidFill>
                  <a:srgbClr val="FF0000"/>
                </a:solidFill>
              </a:rPr>
              <a:t>not</a:t>
            </a:r>
            <a:r>
              <a:rPr lang="en">
                <a:solidFill>
                  <a:srgbClr val="FF0000"/>
                </a:solidFill>
              </a:rPr>
              <a:t> </a:t>
            </a:r>
            <a:r>
              <a:rPr lang="en"/>
              <a:t>defined in the parent, </a:t>
            </a:r>
            <a:r>
              <a:rPr b="1" i="1" lang="en">
                <a:solidFill>
                  <a:srgbClr val="FF0000"/>
                </a:solidFill>
              </a:rPr>
              <a:t>cannot </a:t>
            </a:r>
            <a:r>
              <a:rPr lang="en"/>
              <a:t>be used via polymorphism.</a:t>
            </a:r>
            <a:endParaRPr/>
          </a:p>
          <a:p>
            <a:pPr indent="-298450" lvl="1" marL="914400" rtl="0" algn="l">
              <a:lnSpc>
                <a:spcPct val="115000"/>
              </a:lnSpc>
              <a:spcBef>
                <a:spcPts val="0"/>
              </a:spcBef>
              <a:spcAft>
                <a:spcPts val="0"/>
              </a:spcAft>
              <a:buSzPts val="1100"/>
              <a:buChar char="○"/>
            </a:pPr>
            <a:r>
              <a:rPr lang="en"/>
              <a:t>If the method </a:t>
            </a:r>
            <a:r>
              <a:rPr b="1" i="1" lang="en">
                <a:solidFill>
                  <a:srgbClr val="FF0000"/>
                </a:solidFill>
              </a:rPr>
              <a:t>only</a:t>
            </a:r>
            <a:r>
              <a:rPr lang="en">
                <a:solidFill>
                  <a:srgbClr val="FF0000"/>
                </a:solidFill>
              </a:rPr>
              <a:t> </a:t>
            </a:r>
            <a:r>
              <a:rPr lang="en"/>
              <a:t>exists in the </a:t>
            </a:r>
            <a:r>
              <a:rPr b="1" i="1" lang="en">
                <a:solidFill>
                  <a:srgbClr val="FF0000"/>
                </a:solidFill>
              </a:rPr>
              <a:t>child class</a:t>
            </a:r>
            <a:r>
              <a:rPr lang="en"/>
              <a:t>, then it </a:t>
            </a:r>
            <a:r>
              <a:rPr b="1" i="1" lang="en">
                <a:solidFill>
                  <a:srgbClr val="FF0000"/>
                </a:solidFill>
              </a:rPr>
              <a:t>can't</a:t>
            </a:r>
            <a:r>
              <a:rPr lang="en"/>
              <a:t> be used through a variable of the </a:t>
            </a:r>
            <a:r>
              <a:rPr b="1" i="1" lang="en">
                <a:solidFill>
                  <a:srgbClr val="FF0000"/>
                </a:solidFill>
              </a:rPr>
              <a:t>parent type</a:t>
            </a:r>
            <a:r>
              <a:rPr lang="en"/>
              <a:t>.</a:t>
            </a:r>
            <a:endParaRPr/>
          </a:p>
          <a:p>
            <a:pPr indent="-298450" lvl="1" marL="914400" rtl="0" algn="l">
              <a:lnSpc>
                <a:spcPct val="115000"/>
              </a:lnSpc>
              <a:spcBef>
                <a:spcPts val="0"/>
              </a:spcBef>
              <a:spcAft>
                <a:spcPts val="0"/>
              </a:spcAft>
              <a:buSzPts val="1100"/>
              <a:buChar char="○"/>
            </a:pPr>
            <a:r>
              <a:rPr lang="en"/>
              <a:t>This means that we sometimes define methods in the parent to guarantee that </a:t>
            </a:r>
            <a:r>
              <a:rPr b="1" i="1" lang="en">
                <a:solidFill>
                  <a:srgbClr val="FF0000"/>
                </a:solidFill>
              </a:rPr>
              <a:t>all</a:t>
            </a:r>
            <a:r>
              <a:rPr lang="en">
                <a:solidFill>
                  <a:srgbClr val="FF0000"/>
                </a:solidFill>
              </a:rPr>
              <a:t> </a:t>
            </a:r>
            <a:r>
              <a:rPr lang="en"/>
              <a:t>children will include them.</a:t>
            </a:r>
            <a:endParaRPr/>
          </a:p>
          <a:p>
            <a:pPr indent="-311150" lvl="0" marL="457200" rtl="0" algn="l">
              <a:lnSpc>
                <a:spcPct val="115000"/>
              </a:lnSpc>
              <a:spcBef>
                <a:spcPts val="0"/>
              </a:spcBef>
              <a:spcAft>
                <a:spcPts val="0"/>
              </a:spcAft>
              <a:buSzPts val="1300"/>
              <a:buChar char="●"/>
            </a:pPr>
            <a:r>
              <a:rPr lang="en"/>
              <a:t>In these cases, the child may </a:t>
            </a:r>
            <a:r>
              <a:rPr b="1" i="1" lang="en">
                <a:solidFill>
                  <a:srgbClr val="FF0000"/>
                </a:solidFill>
              </a:rPr>
              <a:t>modify</a:t>
            </a:r>
            <a:r>
              <a:rPr lang="en">
                <a:solidFill>
                  <a:srgbClr val="FF0000"/>
                </a:solidFill>
              </a:rPr>
              <a:t> </a:t>
            </a:r>
            <a:r>
              <a:rPr lang="en"/>
              <a:t>or </a:t>
            </a:r>
            <a:r>
              <a:rPr b="1" i="1" lang="en">
                <a:solidFill>
                  <a:srgbClr val="FF0000"/>
                </a:solidFill>
              </a:rPr>
              <a:t>replace</a:t>
            </a:r>
            <a:r>
              <a:rPr lang="en">
                <a:solidFill>
                  <a:srgbClr val="FF0000"/>
                </a:solidFill>
              </a:rPr>
              <a:t> </a:t>
            </a:r>
            <a:r>
              <a:rPr lang="en"/>
              <a:t>the behavior that is defined in its parent.</a:t>
            </a:r>
            <a:endParaRPr/>
          </a:p>
          <a:p>
            <a:pPr indent="-298450" lvl="1" marL="914400" rtl="0" algn="l">
              <a:lnSpc>
                <a:spcPct val="115000"/>
              </a:lnSpc>
              <a:spcBef>
                <a:spcPts val="0"/>
              </a:spcBef>
              <a:spcAft>
                <a:spcPts val="0"/>
              </a:spcAft>
              <a:buSzPts val="1100"/>
              <a:buChar char="○"/>
            </a:pPr>
            <a:r>
              <a:rPr lang="en"/>
              <a:t>The child class </a:t>
            </a:r>
            <a:r>
              <a:rPr b="1" i="1" lang="en">
                <a:solidFill>
                  <a:srgbClr val="FF0000"/>
                </a:solidFill>
              </a:rPr>
              <a:t>overrides</a:t>
            </a:r>
            <a:r>
              <a:rPr lang="en">
                <a:solidFill>
                  <a:srgbClr val="FF0000"/>
                </a:solidFill>
              </a:rPr>
              <a:t> </a:t>
            </a:r>
            <a:r>
              <a:rPr lang="en"/>
              <a:t>the method in the parent class by defining a new method with the </a:t>
            </a:r>
            <a:r>
              <a:rPr b="1" i="1" lang="en">
                <a:solidFill>
                  <a:srgbClr val="FF0000"/>
                </a:solidFill>
              </a:rPr>
              <a:t>exact same signature</a:t>
            </a:r>
            <a:r>
              <a:rPr lang="en"/>
              <a:t>.</a:t>
            </a:r>
            <a:endParaRPr/>
          </a:p>
          <a:p>
            <a:pPr indent="-298450" lvl="1" marL="914400" rtl="0" algn="l">
              <a:lnSpc>
                <a:spcPct val="115000"/>
              </a:lnSpc>
              <a:spcBef>
                <a:spcPts val="0"/>
              </a:spcBef>
              <a:spcAft>
                <a:spcPts val="0"/>
              </a:spcAft>
              <a:buSzPts val="1100"/>
              <a:buChar char="○"/>
            </a:pPr>
            <a:r>
              <a:rPr lang="en"/>
              <a:t>If the method is called on an instance of the child class, the </a:t>
            </a:r>
            <a:r>
              <a:rPr b="1" i="1" lang="en">
                <a:solidFill>
                  <a:srgbClr val="FF0000"/>
                </a:solidFill>
              </a:rPr>
              <a:t>child's version</a:t>
            </a:r>
            <a:r>
              <a:rPr lang="en">
                <a:solidFill>
                  <a:srgbClr val="FF0000"/>
                </a:solidFill>
              </a:rPr>
              <a:t> </a:t>
            </a:r>
            <a:r>
              <a:rPr lang="en"/>
              <a:t>is used instead of the parent's.</a:t>
            </a:r>
            <a:endParaRPr/>
          </a:p>
          <a:p>
            <a:pPr indent="-298450" lvl="1" marL="914400" rtl="0" algn="l">
              <a:lnSpc>
                <a:spcPct val="115000"/>
              </a:lnSpc>
              <a:spcBef>
                <a:spcPts val="0"/>
              </a:spcBef>
              <a:spcAft>
                <a:spcPts val="0"/>
              </a:spcAft>
              <a:buSzPts val="1100"/>
              <a:buChar char="○"/>
            </a:pPr>
            <a:r>
              <a:rPr lang="en"/>
              <a:t>If necessary, the child can call the parent's version suing </a:t>
            </a:r>
            <a:r>
              <a:rPr lang="en">
                <a:solidFill>
                  <a:srgbClr val="FF0000"/>
                </a:solidFill>
                <a:latin typeface="Courier New"/>
                <a:ea typeface="Courier New"/>
                <a:cs typeface="Courier New"/>
                <a:sym typeface="Courier New"/>
              </a:rPr>
              <a:t>super</a:t>
            </a:r>
            <a:r>
              <a:rPr lang="en"/>
              <a:t>, e.g. </a:t>
            </a:r>
            <a:r>
              <a:rPr lang="en">
                <a:solidFill>
                  <a:srgbClr val="FF0000"/>
                </a:solidFill>
                <a:latin typeface="Courier New"/>
                <a:ea typeface="Courier New"/>
                <a:cs typeface="Courier New"/>
                <a:sym typeface="Courier New"/>
              </a:rPr>
              <a:t>super.aMethod();</a:t>
            </a:r>
            <a:endParaRPr>
              <a:solidFill>
                <a:srgbClr val="FF0000"/>
              </a:solidFill>
              <a:latin typeface="Courier New"/>
              <a:ea typeface="Courier New"/>
              <a:cs typeface="Courier New"/>
              <a:sym typeface="Courier New"/>
            </a:endParaRPr>
          </a:p>
        </p:txBody>
      </p:sp>
      <p:sp>
        <p:nvSpPr>
          <p:cNvPr id="680" name="Google Shape;680;p8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681" name="Google Shape;681;p87"/>
          <p:cNvSpPr txBox="1"/>
          <p:nvPr>
            <p:ph idx="2" type="body"/>
          </p:nvPr>
        </p:nvSpPr>
        <p:spPr>
          <a:xfrm>
            <a:off x="212825" y="2207125"/>
            <a:ext cx="3881700" cy="17055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Rabbit</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extends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Animal</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008000"/>
                </a:solidFill>
                <a:latin typeface="Consolas"/>
                <a:ea typeface="Consolas"/>
                <a:cs typeface="Consolas"/>
                <a:sym typeface="Consolas"/>
              </a:rPr>
              <a:t>// other fields, constructors, and methods</a:t>
            </a:r>
            <a:endParaRPr sz="100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r>
              <a:rPr lang="en" sz="1000">
                <a:solidFill>
                  <a:srgbClr val="008000"/>
                </a:solidFill>
                <a:latin typeface="Consolas"/>
                <a:ea typeface="Consolas"/>
                <a:cs typeface="Consolas"/>
                <a:sym typeface="Consolas"/>
              </a:rPr>
              <a:t>// are not shown here for brevity</a:t>
            </a:r>
            <a:endParaRPr sz="100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toString</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7</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A31515"/>
                </a:solidFill>
                <a:latin typeface="Consolas"/>
                <a:ea typeface="Consolas"/>
                <a:cs typeface="Consolas"/>
                <a:sym typeface="Consolas"/>
              </a:rPr>
              <a:t>"Rabbit[weight="</a:t>
            </a:r>
            <a:r>
              <a:rPr lang="en" sz="1000">
                <a:solidFill>
                  <a:srgbClr val="000000"/>
                </a:solidFill>
                <a:latin typeface="Consolas"/>
                <a:ea typeface="Consolas"/>
                <a:cs typeface="Consolas"/>
                <a:sym typeface="Consolas"/>
              </a:rPr>
              <a:t> + </a:t>
            </a:r>
            <a:r>
              <a:rPr lang="en" sz="1000">
                <a:solidFill>
                  <a:srgbClr val="795E26"/>
                </a:solidFill>
                <a:latin typeface="Consolas"/>
                <a:ea typeface="Consolas"/>
                <a:cs typeface="Consolas"/>
                <a:sym typeface="Consolas"/>
              </a:rPr>
              <a:t>getWeight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8</a:t>
            </a:r>
            <a:r>
              <a:rPr lang="en" sz="1000">
                <a:solidFill>
                  <a:srgbClr val="000000"/>
                </a:solidFill>
                <a:latin typeface="Consolas"/>
                <a:ea typeface="Consolas"/>
                <a:cs typeface="Consolas"/>
                <a:sym typeface="Consolas"/>
              </a:rPr>
              <a:t>           + </a:t>
            </a:r>
            <a:r>
              <a:rPr lang="en" sz="1000">
                <a:solidFill>
                  <a:srgbClr val="A31515"/>
                </a:solidFill>
                <a:latin typeface="Consolas"/>
                <a:ea typeface="Consolas"/>
                <a:cs typeface="Consolas"/>
                <a:sym typeface="Consolas"/>
              </a:rPr>
              <a:t>", fur color="</a:t>
            </a:r>
            <a:r>
              <a:rPr lang="en" sz="1000">
                <a:solidFill>
                  <a:srgbClr val="000000"/>
                </a:solidFill>
                <a:latin typeface="Consolas"/>
                <a:ea typeface="Consolas"/>
                <a:cs typeface="Consolas"/>
                <a:sym typeface="Consolas"/>
              </a:rPr>
              <a:t> + furColor + </a:t>
            </a:r>
            <a:r>
              <a:rPr lang="en" sz="1000">
                <a:solidFill>
                  <a:srgbClr val="A31515"/>
                </a:solidFill>
                <a:latin typeface="Consolas"/>
                <a:ea typeface="Consolas"/>
                <a:cs typeface="Consolas"/>
                <a:sym typeface="Consolas"/>
              </a:rPr>
              <a: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9</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10</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SzPts val="1300"/>
              <a:buNone/>
            </a:pPr>
            <a:r>
              <a:t/>
            </a:r>
            <a:endParaRPr sz="1000">
              <a:solidFill>
                <a:srgbClr val="999999"/>
              </a:solidFill>
              <a:latin typeface="Consolas"/>
              <a:ea typeface="Consolas"/>
              <a:cs typeface="Consolas"/>
              <a:sym typeface="Consolas"/>
            </a:endParaRPr>
          </a:p>
        </p:txBody>
      </p:sp>
      <p:sp>
        <p:nvSpPr>
          <p:cNvPr id="682" name="Google Shape;682;p87"/>
          <p:cNvSpPr txBox="1"/>
          <p:nvPr>
            <p:ph idx="3" type="body"/>
          </p:nvPr>
        </p:nvSpPr>
        <p:spPr>
          <a:xfrm>
            <a:off x="209225" y="758025"/>
            <a:ext cx="3885300" cy="638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100"/>
              <a:t>The </a:t>
            </a:r>
            <a:r>
              <a:rPr lang="en" sz="1100">
                <a:latin typeface="Courier New"/>
                <a:ea typeface="Courier New"/>
                <a:cs typeface="Courier New"/>
                <a:sym typeface="Courier New"/>
              </a:rPr>
              <a:t>toString()</a:t>
            </a:r>
            <a:r>
              <a:rPr lang="en" sz="1100"/>
              <a:t> method in the </a:t>
            </a:r>
            <a:r>
              <a:rPr lang="en" sz="1100">
                <a:latin typeface="Courier New"/>
                <a:ea typeface="Courier New"/>
                <a:cs typeface="Courier New"/>
                <a:sym typeface="Courier New"/>
              </a:rPr>
              <a:t>Animal</a:t>
            </a:r>
            <a:r>
              <a:rPr lang="en" sz="1100"/>
              <a:t> class returns a </a:t>
            </a:r>
            <a:r>
              <a:rPr lang="en" sz="1100">
                <a:latin typeface="Courier New"/>
                <a:ea typeface="Courier New"/>
                <a:cs typeface="Courier New"/>
                <a:sym typeface="Courier New"/>
              </a:rPr>
              <a:t>String</a:t>
            </a:r>
            <a:r>
              <a:rPr lang="en" sz="1100"/>
              <a:t> that doesn't include all of the detail about a </a:t>
            </a:r>
            <a:r>
              <a:rPr lang="en" sz="1100">
                <a:latin typeface="Courier New"/>
                <a:ea typeface="Courier New"/>
                <a:cs typeface="Courier New"/>
                <a:sym typeface="Courier New"/>
              </a:rPr>
              <a:t>Rabbit</a:t>
            </a:r>
            <a:r>
              <a:rPr lang="en" sz="1100"/>
              <a:t> (i.e. its fur color is missing).</a:t>
            </a:r>
            <a:endParaRPr sz="1100"/>
          </a:p>
        </p:txBody>
      </p:sp>
      <p:sp>
        <p:nvSpPr>
          <p:cNvPr id="683" name="Google Shape;683;p87"/>
          <p:cNvSpPr txBox="1"/>
          <p:nvPr>
            <p:ph idx="3" type="body"/>
          </p:nvPr>
        </p:nvSpPr>
        <p:spPr>
          <a:xfrm>
            <a:off x="214625" y="4549925"/>
            <a:ext cx="3881700" cy="464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100"/>
              <a:t>If the method is called on an instance of the </a:t>
            </a:r>
            <a:r>
              <a:rPr lang="en" sz="1100">
                <a:solidFill>
                  <a:srgbClr val="FF0000"/>
                </a:solidFill>
                <a:latin typeface="Courier New"/>
                <a:ea typeface="Courier New"/>
                <a:cs typeface="Courier New"/>
                <a:sym typeface="Courier New"/>
              </a:rPr>
              <a:t>Rabbit</a:t>
            </a:r>
            <a:r>
              <a:rPr lang="en" sz="1100"/>
              <a:t> class, </a:t>
            </a:r>
            <a:r>
              <a:rPr b="1" i="1" lang="en" sz="1100">
                <a:solidFill>
                  <a:srgbClr val="FF0000"/>
                </a:solidFill>
              </a:rPr>
              <a:t>its version</a:t>
            </a:r>
            <a:r>
              <a:rPr lang="en" sz="1100">
                <a:solidFill>
                  <a:srgbClr val="FF0000"/>
                </a:solidFill>
              </a:rPr>
              <a:t> </a:t>
            </a:r>
            <a:r>
              <a:rPr lang="en" sz="1100"/>
              <a:t>will be used </a:t>
            </a:r>
            <a:r>
              <a:rPr b="1" i="1" lang="en" sz="1100">
                <a:solidFill>
                  <a:srgbClr val="FF0000"/>
                </a:solidFill>
              </a:rPr>
              <a:t>instead </a:t>
            </a:r>
            <a:r>
              <a:rPr lang="en" sz="1100"/>
              <a:t>of </a:t>
            </a:r>
            <a:r>
              <a:rPr lang="en" sz="1100">
                <a:latin typeface="Courier New"/>
                <a:ea typeface="Courier New"/>
                <a:cs typeface="Courier New"/>
                <a:sym typeface="Courier New"/>
              </a:rPr>
              <a:t>Animal</a:t>
            </a:r>
            <a:r>
              <a:rPr lang="en" sz="1100"/>
              <a:t>'s.</a:t>
            </a:r>
            <a:endParaRPr sz="1100"/>
          </a:p>
        </p:txBody>
      </p:sp>
      <p:sp>
        <p:nvSpPr>
          <p:cNvPr id="684" name="Google Shape;684;p87"/>
          <p:cNvSpPr/>
          <p:nvPr/>
        </p:nvSpPr>
        <p:spPr>
          <a:xfrm>
            <a:off x="2564350" y="2076625"/>
            <a:ext cx="1490900" cy="1071529"/>
          </a:xfrm>
          <a:custGeom>
            <a:rect b="b" l="l" r="r" t="t"/>
            <a:pathLst>
              <a:path extrusionOk="0" h="46705" w="59636">
                <a:moveTo>
                  <a:pt x="38133" y="0"/>
                </a:moveTo>
                <a:cubicBezTo>
                  <a:pt x="41533" y="4631"/>
                  <a:pt x="64886" y="20002"/>
                  <a:pt x="58530" y="27786"/>
                </a:cubicBezTo>
                <a:cubicBezTo>
                  <a:pt x="52175" y="35570"/>
                  <a:pt x="9755" y="43552"/>
                  <a:pt x="0" y="46705"/>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87"/>
          <p:cNvSpPr txBox="1"/>
          <p:nvPr>
            <p:ph idx="3" type="body"/>
          </p:nvPr>
        </p:nvSpPr>
        <p:spPr>
          <a:xfrm>
            <a:off x="212825" y="1482580"/>
            <a:ext cx="3885300" cy="638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100"/>
              <a:t>The Rabbit class may </a:t>
            </a:r>
            <a:r>
              <a:rPr b="1" i="1" lang="en" sz="1100">
                <a:solidFill>
                  <a:srgbClr val="FF0000"/>
                </a:solidFill>
              </a:rPr>
              <a:t>override</a:t>
            </a:r>
            <a:r>
              <a:rPr lang="en" sz="1100">
                <a:solidFill>
                  <a:srgbClr val="FF0000"/>
                </a:solidFill>
              </a:rPr>
              <a:t> </a:t>
            </a:r>
            <a:r>
              <a:rPr lang="en" sz="1100"/>
              <a:t>the implementation of the method in the Animal class by declaring a </a:t>
            </a:r>
            <a:r>
              <a:rPr b="1" i="1" lang="en" sz="1100">
                <a:solidFill>
                  <a:srgbClr val="FF0000"/>
                </a:solidFill>
              </a:rPr>
              <a:t>new implementation</a:t>
            </a:r>
            <a:r>
              <a:rPr lang="en" sz="1100"/>
              <a:t> with the </a:t>
            </a:r>
            <a:r>
              <a:rPr b="1" i="1" lang="en" sz="1100">
                <a:solidFill>
                  <a:srgbClr val="FF0000"/>
                </a:solidFill>
              </a:rPr>
              <a:t>exact same signature</a:t>
            </a:r>
            <a:r>
              <a:rPr lang="en" sz="1100"/>
              <a:t>.</a:t>
            </a:r>
            <a:endParaRPr sz="1100"/>
          </a:p>
        </p:txBody>
      </p:sp>
      <p:sp>
        <p:nvSpPr>
          <p:cNvPr id="686" name="Google Shape;686;p87"/>
          <p:cNvSpPr/>
          <p:nvPr/>
        </p:nvSpPr>
        <p:spPr>
          <a:xfrm>
            <a:off x="413080" y="3000375"/>
            <a:ext cx="318550" cy="1064175"/>
          </a:xfrm>
          <a:custGeom>
            <a:rect b="b" l="l" r="r" t="t"/>
            <a:pathLst>
              <a:path extrusionOk="0" h="42567" w="12742">
                <a:moveTo>
                  <a:pt x="12742" y="42567"/>
                </a:moveTo>
                <a:cubicBezTo>
                  <a:pt x="10624" y="36409"/>
                  <a:pt x="277" y="12711"/>
                  <a:pt x="31" y="5616"/>
                </a:cubicBezTo>
                <a:cubicBezTo>
                  <a:pt x="-215" y="-1478"/>
                  <a:pt x="9392" y="936"/>
                  <a:pt x="11264" y="0"/>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87"/>
          <p:cNvSpPr txBox="1"/>
          <p:nvPr>
            <p:ph idx="3" type="body"/>
          </p:nvPr>
        </p:nvSpPr>
        <p:spPr>
          <a:xfrm>
            <a:off x="212825" y="3999075"/>
            <a:ext cx="3881700" cy="464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100"/>
              <a:t>If the </a:t>
            </a:r>
            <a:r>
              <a:rPr b="1" i="1" lang="en" sz="1100">
                <a:solidFill>
                  <a:srgbClr val="FF0000"/>
                </a:solidFill>
              </a:rPr>
              <a:t>optional</a:t>
            </a:r>
            <a:r>
              <a:rPr lang="en" sz="1100"/>
              <a:t> </a:t>
            </a:r>
            <a:r>
              <a:rPr lang="en" sz="1100">
                <a:solidFill>
                  <a:srgbClr val="FF0000"/>
                </a:solidFill>
                <a:latin typeface="Courier New"/>
                <a:ea typeface="Courier New"/>
                <a:cs typeface="Courier New"/>
                <a:sym typeface="Courier New"/>
              </a:rPr>
              <a:t>@Override</a:t>
            </a:r>
            <a:r>
              <a:rPr lang="en" sz="1100"/>
              <a:t> annotation is used, the Java compiler will validate the method signature.</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gtEl>
                                        <p:attrNameLst>
                                          <p:attrName>style.visibility</p:attrName>
                                        </p:attrNameLst>
                                      </p:cBhvr>
                                      <p:to>
                                        <p:strVal val="visible"/>
                                      </p:to>
                                    </p:set>
                                    <p:animEffect filter="fade" transition="in">
                                      <p:cBhvr>
                                        <p:cTn dur="1000"/>
                                        <p:tgtEl>
                                          <p:spTgt spid="6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5"/>
                                        </p:tgtEl>
                                        <p:attrNameLst>
                                          <p:attrName>style.visibility</p:attrName>
                                        </p:attrNameLst>
                                      </p:cBhvr>
                                      <p:to>
                                        <p:strVal val="visible"/>
                                      </p:to>
                                    </p:set>
                                    <p:animEffect filter="fade" transition="in">
                                      <p:cBhvr>
                                        <p:cTn dur="1000"/>
                                        <p:tgtEl>
                                          <p:spTgt spid="685"/>
                                        </p:tgtEl>
                                      </p:cBhvr>
                                    </p:animEffect>
                                  </p:childTnLst>
                                </p:cTn>
                              </p:par>
                              <p:par>
                                <p:cTn fill="hold" nodeType="withEffect" presetClass="entr" presetID="10" presetSubtype="0">
                                  <p:stCondLst>
                                    <p:cond delay="0"/>
                                  </p:stCondLst>
                                  <p:childTnLst>
                                    <p:set>
                                      <p:cBhvr>
                                        <p:cTn dur="1" fill="hold">
                                          <p:stCondLst>
                                            <p:cond delay="0"/>
                                          </p:stCondLst>
                                        </p:cTn>
                                        <p:tgtEl>
                                          <p:spTgt spid="681"/>
                                        </p:tgtEl>
                                        <p:attrNameLst>
                                          <p:attrName>style.visibility</p:attrName>
                                        </p:attrNameLst>
                                      </p:cBhvr>
                                      <p:to>
                                        <p:strVal val="visible"/>
                                      </p:to>
                                    </p:set>
                                    <p:animEffect filter="fade" transition="in">
                                      <p:cBhvr>
                                        <p:cTn dur="1000"/>
                                        <p:tgtEl>
                                          <p:spTgt spid="68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84"/>
                                        </p:tgtEl>
                                        <p:attrNameLst>
                                          <p:attrName>style.visibility</p:attrName>
                                        </p:attrNameLst>
                                      </p:cBhvr>
                                      <p:to>
                                        <p:strVal val="visible"/>
                                      </p:to>
                                    </p:set>
                                    <p:animEffect filter="fade" transition="in">
                                      <p:cBhvr>
                                        <p:cTn dur="1000"/>
                                        <p:tgtEl>
                                          <p:spTgt spid="6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1000"/>
                                        <p:tgtEl>
                                          <p:spTgt spid="68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86"/>
                                        </p:tgtEl>
                                        <p:attrNameLst>
                                          <p:attrName>style.visibility</p:attrName>
                                        </p:attrNameLst>
                                      </p:cBhvr>
                                      <p:to>
                                        <p:strVal val="visible"/>
                                      </p:to>
                                    </p:set>
                                    <p:animEffect filter="fade" transition="in">
                                      <p:cBhvr>
                                        <p:cTn dur="1000"/>
                                        <p:tgtEl>
                                          <p:spTgt spid="6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gtEl>
                                        <p:attrNameLst>
                                          <p:attrName>style.visibility</p:attrName>
                                        </p:attrNameLst>
                                      </p:cBhvr>
                                      <p:to>
                                        <p:strVal val="visible"/>
                                      </p:to>
                                    </p:set>
                                    <p:animEffect filter="fade" transition="in">
                                      <p:cBhvr>
                                        <p:cTn dur="1000"/>
                                        <p:tgtEl>
                                          <p:spTgt spid="6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88"/>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One major benefit of inheritance is that we can eliminate duplicate code. Continue refactoring the </a:t>
            </a:r>
            <a:r>
              <a:rPr lang="en">
                <a:latin typeface="Courier New"/>
                <a:ea typeface="Courier New"/>
                <a:cs typeface="Courier New"/>
                <a:sym typeface="Courier New"/>
              </a:rPr>
              <a:t>Mage</a:t>
            </a:r>
            <a:r>
              <a:rPr lang="en"/>
              <a:t> class to override methods and delete any duplicate code should be inherited from </a:t>
            </a:r>
            <a:r>
              <a:rPr lang="en">
                <a:latin typeface="Courier New"/>
                <a:ea typeface="Courier New"/>
                <a:cs typeface="Courier New"/>
                <a:sym typeface="Courier New"/>
              </a:rPr>
              <a:t>Goat</a:t>
            </a:r>
            <a:r>
              <a:rPr lang="en"/>
              <a:t>.</a:t>
            </a:r>
            <a:endParaRPr/>
          </a:p>
        </p:txBody>
      </p:sp>
      <p:sp>
        <p:nvSpPr>
          <p:cNvPr id="693" name="Google Shape;693;p8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4" name="Google Shape;694;p88"/>
          <p:cNvSpPr txBox="1"/>
          <p:nvPr>
            <p:ph idx="2" type="body"/>
          </p:nvPr>
        </p:nvSpPr>
        <p:spPr>
          <a:xfrm>
            <a:off x="3111850" y="1495075"/>
            <a:ext cx="5728800" cy="27720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Open your </a:t>
            </a:r>
            <a:r>
              <a:rPr lang="en" sz="1600">
                <a:solidFill>
                  <a:srgbClr val="FF0000"/>
                </a:solidFill>
                <a:latin typeface="Courier New"/>
                <a:ea typeface="Courier New"/>
                <a:cs typeface="Courier New"/>
                <a:sym typeface="Courier New"/>
              </a:rPr>
              <a:t>Mage</a:t>
            </a:r>
            <a:r>
              <a:rPr lang="en" sz="1600">
                <a:solidFill>
                  <a:srgbClr val="FF0000"/>
                </a:solidFill>
              </a:rPr>
              <a:t> </a:t>
            </a:r>
            <a:r>
              <a:rPr lang="en" sz="1600"/>
              <a:t>class and examine the code that you have commented out and selectively </a:t>
            </a:r>
            <a:r>
              <a:rPr b="1" i="1" lang="en" sz="1600">
                <a:solidFill>
                  <a:srgbClr val="FF0000"/>
                </a:solidFill>
              </a:rPr>
              <a:t>delete </a:t>
            </a:r>
            <a:r>
              <a:rPr lang="en" sz="1600"/>
              <a:t>or </a:t>
            </a:r>
            <a:r>
              <a:rPr b="1" i="1" lang="en" sz="1600">
                <a:solidFill>
                  <a:srgbClr val="FF0000"/>
                </a:solidFill>
              </a:rPr>
              <a:t>uncomment </a:t>
            </a:r>
            <a:r>
              <a:rPr lang="en" sz="1600"/>
              <a:t>it.</a:t>
            </a:r>
            <a:endParaRPr sz="1600"/>
          </a:p>
          <a:p>
            <a:pPr indent="-317500" lvl="1" marL="914400" rtl="0" algn="l">
              <a:spcBef>
                <a:spcPts val="0"/>
              </a:spcBef>
              <a:spcAft>
                <a:spcPts val="0"/>
              </a:spcAft>
              <a:buSzPts val="1400"/>
              <a:buChar char="○"/>
            </a:pPr>
            <a:r>
              <a:rPr lang="en" sz="1400"/>
              <a:t>Which fields can safely be </a:t>
            </a:r>
            <a:r>
              <a:rPr b="1" i="1" lang="en" sz="1400">
                <a:solidFill>
                  <a:srgbClr val="FF0000"/>
                </a:solidFill>
              </a:rPr>
              <a:t>deleted</a:t>
            </a:r>
            <a:r>
              <a:rPr lang="en" sz="1400"/>
              <a:t>?</a:t>
            </a:r>
            <a:endParaRPr sz="1400"/>
          </a:p>
          <a:p>
            <a:pPr indent="-317500" lvl="1" marL="914400" rtl="0" algn="l">
              <a:spcBef>
                <a:spcPts val="0"/>
              </a:spcBef>
              <a:spcAft>
                <a:spcPts val="0"/>
              </a:spcAft>
              <a:buSzPts val="1400"/>
              <a:buChar char="○"/>
            </a:pPr>
            <a:r>
              <a:rPr lang="en" sz="1400"/>
              <a:t>Which methods can safely be </a:t>
            </a:r>
            <a:r>
              <a:rPr b="1" i="1" lang="en" sz="1400">
                <a:solidFill>
                  <a:srgbClr val="FF0000"/>
                </a:solidFill>
              </a:rPr>
              <a:t>deleted</a:t>
            </a:r>
            <a:r>
              <a:rPr lang="en" sz="1400"/>
              <a:t>?</a:t>
            </a:r>
            <a:endParaRPr sz="1400"/>
          </a:p>
          <a:p>
            <a:pPr indent="-317500" lvl="1" marL="914400" rtl="0" algn="l">
              <a:spcBef>
                <a:spcPts val="0"/>
              </a:spcBef>
              <a:spcAft>
                <a:spcPts val="0"/>
              </a:spcAft>
              <a:buSzPts val="1400"/>
              <a:buChar char="○"/>
            </a:pPr>
            <a:r>
              <a:rPr lang="en" sz="1400"/>
              <a:t>Which methods do you need to keep to </a:t>
            </a:r>
            <a:r>
              <a:rPr b="1" i="1" lang="en" sz="1400">
                <a:solidFill>
                  <a:srgbClr val="FF0000"/>
                </a:solidFill>
              </a:rPr>
              <a:t>override</a:t>
            </a:r>
            <a:r>
              <a:rPr lang="en" sz="1400">
                <a:solidFill>
                  <a:srgbClr val="FF0000"/>
                </a:solidFill>
              </a:rPr>
              <a:t> </a:t>
            </a:r>
            <a:r>
              <a:rPr lang="en" sz="1400"/>
              <a:t>the same methods in the </a:t>
            </a:r>
            <a:r>
              <a:rPr lang="en" sz="1400">
                <a:latin typeface="Courier New"/>
                <a:ea typeface="Courier New"/>
                <a:cs typeface="Courier New"/>
                <a:sym typeface="Courier New"/>
              </a:rPr>
              <a:t>Goat</a:t>
            </a:r>
            <a:r>
              <a:rPr lang="en" sz="1400"/>
              <a:t> class? Don't forget to use the </a:t>
            </a:r>
            <a:r>
              <a:rPr lang="en" sz="1400">
                <a:solidFill>
                  <a:srgbClr val="FF0000"/>
                </a:solidFill>
                <a:latin typeface="Courier New"/>
                <a:ea typeface="Courier New"/>
                <a:cs typeface="Courier New"/>
                <a:sym typeface="Courier New"/>
              </a:rPr>
              <a:t>@Override</a:t>
            </a:r>
            <a:r>
              <a:rPr lang="en" sz="1400"/>
              <a:t> annotation!</a:t>
            </a:r>
            <a:endParaRPr sz="1400"/>
          </a:p>
          <a:p>
            <a:pPr indent="-330200" lvl="0" marL="457200" rtl="0" algn="l">
              <a:spcBef>
                <a:spcPts val="0"/>
              </a:spcBef>
              <a:spcAft>
                <a:spcPts val="0"/>
              </a:spcAft>
              <a:buSzPts val="1600"/>
              <a:buChar char="●"/>
            </a:pPr>
            <a:r>
              <a:rPr b="1" i="1" lang="en" sz="1600">
                <a:solidFill>
                  <a:srgbClr val="FF0000"/>
                </a:solidFill>
              </a:rPr>
              <a:t>Compile</a:t>
            </a:r>
            <a:r>
              <a:rPr lang="en" sz="1600">
                <a:solidFill>
                  <a:srgbClr val="FF0000"/>
                </a:solidFill>
              </a:rPr>
              <a:t> </a:t>
            </a:r>
            <a:r>
              <a:rPr lang="en" sz="1600"/>
              <a:t>and </a:t>
            </a:r>
            <a:r>
              <a:rPr b="1" i="1" lang="en" sz="1600">
                <a:solidFill>
                  <a:srgbClr val="FF0000"/>
                </a:solidFill>
              </a:rPr>
              <a:t>run</a:t>
            </a:r>
            <a:r>
              <a:rPr lang="en" sz="1600">
                <a:solidFill>
                  <a:srgbClr val="FF0000"/>
                </a:solidFill>
              </a:rPr>
              <a:t> </a:t>
            </a:r>
            <a:r>
              <a:rPr lang="en" sz="1600"/>
              <a:t>the class.</a:t>
            </a:r>
            <a:endParaRPr sz="1600"/>
          </a:p>
          <a:p>
            <a:pPr indent="-317500" lvl="1" marL="914400" rtl="0" algn="l">
              <a:spcBef>
                <a:spcPts val="0"/>
              </a:spcBef>
              <a:spcAft>
                <a:spcPts val="0"/>
              </a:spcAft>
              <a:buSzPts val="1400"/>
              <a:buChar char="○"/>
            </a:pPr>
            <a:r>
              <a:rPr lang="en" sz="1400"/>
              <a:t>Does the </a:t>
            </a:r>
            <a:r>
              <a:rPr lang="en" sz="1400">
                <a:latin typeface="Courier New"/>
                <a:ea typeface="Courier New"/>
                <a:cs typeface="Courier New"/>
                <a:sym typeface="Courier New"/>
              </a:rPr>
              <a:t>main</a:t>
            </a:r>
            <a:r>
              <a:rPr lang="en" sz="1400"/>
              <a:t> method work the way that you expect it to?</a:t>
            </a:r>
            <a:endParaRPr sz="1700"/>
          </a:p>
        </p:txBody>
      </p:sp>
      <p:sp>
        <p:nvSpPr>
          <p:cNvPr id="695" name="Google Shape;695;p8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Finish </a:t>
            </a:r>
            <a:r>
              <a:rPr lang="en"/>
              <a:t>Refactoring Mage</a:t>
            </a:r>
            <a:endParaRPr/>
          </a:p>
        </p:txBody>
      </p:sp>
      <p:sp>
        <p:nvSpPr>
          <p:cNvPr id="696" name="Google Shape;696;p8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3.12</a:t>
            </a:r>
            <a:endParaRPr/>
          </a:p>
        </p:txBody>
      </p:sp>
      <p:sp>
        <p:nvSpPr>
          <p:cNvPr id="697" name="Google Shape;697;p88"/>
          <p:cNvSpPr txBox="1"/>
          <p:nvPr/>
        </p:nvSpPr>
        <p:spPr>
          <a:xfrm>
            <a:off x="228600" y="3485526"/>
            <a:ext cx="2697300" cy="1431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Rabbit</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extends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Animal</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Rabbit</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super</a:t>
            </a:r>
            <a:r>
              <a:rPr lang="en" sz="900">
                <a:latin typeface="Consolas"/>
                <a:ea typeface="Consolas"/>
                <a:cs typeface="Consolas"/>
                <a:sym typeface="Consolas"/>
              </a:rPr>
              <a:t>(</a:t>
            </a:r>
            <a:r>
              <a:rPr lang="en" sz="900">
                <a:solidFill>
                  <a:srgbClr val="A31515"/>
                </a:solidFill>
                <a:latin typeface="Consolas"/>
                <a:ea typeface="Consolas"/>
                <a:cs typeface="Consolas"/>
                <a:sym typeface="Consolas"/>
              </a:rPr>
              <a:t>"Rabbit"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  </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a:t>
            </a:r>
            <a:endParaRPr sz="900">
              <a:solidFill>
                <a:srgbClr val="569CD6"/>
              </a:solidFill>
              <a:latin typeface="Consolas"/>
              <a:ea typeface="Consolas"/>
              <a:cs typeface="Consolas"/>
              <a:sym typeface="Consolas"/>
            </a:endParaRPr>
          </a:p>
        </p:txBody>
      </p:sp>
      <p:sp>
        <p:nvSpPr>
          <p:cNvPr id="698" name="Google Shape;698;p88"/>
          <p:cNvSpPr txBox="1"/>
          <p:nvPr/>
        </p:nvSpPr>
        <p:spPr>
          <a:xfrm>
            <a:off x="228600" y="1537664"/>
            <a:ext cx="2697300" cy="15699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Animal</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Animal</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en" sz="900">
                <a:latin typeface="Consolas"/>
                <a:ea typeface="Consolas"/>
                <a:cs typeface="Consolas"/>
                <a:sym typeface="Consolas"/>
              </a:rPr>
              <a:t> }</a:t>
            </a:r>
            <a:endParaRPr sz="900">
              <a:solidFill>
                <a:srgbClr val="569CD6"/>
              </a:solidFill>
              <a:latin typeface="Consolas"/>
              <a:ea typeface="Consolas"/>
              <a:cs typeface="Consolas"/>
              <a:sym typeface="Consolas"/>
            </a:endParaRPr>
          </a:p>
        </p:txBody>
      </p:sp>
      <p:grpSp>
        <p:nvGrpSpPr>
          <p:cNvPr id="699" name="Google Shape;699;p88"/>
          <p:cNvGrpSpPr/>
          <p:nvPr/>
        </p:nvGrpSpPr>
        <p:grpSpPr>
          <a:xfrm>
            <a:off x="1437600" y="3113833"/>
            <a:ext cx="279300" cy="371700"/>
            <a:chOff x="1067200" y="1950975"/>
            <a:chExt cx="279300" cy="371700"/>
          </a:xfrm>
        </p:grpSpPr>
        <p:sp>
          <p:nvSpPr>
            <p:cNvPr id="700" name="Google Shape;700;p88"/>
            <p:cNvSpPr/>
            <p:nvPr/>
          </p:nvSpPr>
          <p:spPr>
            <a:xfrm>
              <a:off x="1067200" y="1950975"/>
              <a:ext cx="279300" cy="207900"/>
            </a:xfrm>
            <a:prstGeom prst="triangle">
              <a:avLst>
                <a:gd fmla="val 50000" name="adj"/>
              </a:avLst>
            </a:prstGeom>
            <a:solidFill>
              <a:srgbClr val="FFFFFF"/>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01" name="Google Shape;701;p88"/>
            <p:cNvCxnSpPr>
              <a:stCxn id="700" idx="3"/>
            </p:cNvCxnSpPr>
            <p:nvPr/>
          </p:nvCxnSpPr>
          <p:spPr>
            <a:xfrm>
              <a:off x="1206850" y="2158875"/>
              <a:ext cx="3000" cy="163800"/>
            </a:xfrm>
            <a:prstGeom prst="straightConnector1">
              <a:avLst/>
            </a:prstGeom>
            <a:noFill/>
            <a:ln cap="flat" cmpd="sng" w="28575">
              <a:solidFill>
                <a:srgbClr val="000000"/>
              </a:solidFill>
              <a:prstDash val="solid"/>
              <a:round/>
              <a:headEnd len="sm" w="sm" type="none"/>
              <a:tailEnd len="sm" w="sm" type="none"/>
            </a:ln>
          </p:spPr>
        </p:cxn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89"/>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a:t>
            </a:r>
            <a:r>
              <a:rPr lang="en">
                <a:latin typeface="Courier New"/>
                <a:ea typeface="Courier New"/>
                <a:cs typeface="Courier New"/>
                <a:sym typeface="Courier New"/>
              </a:rPr>
              <a:t>Mage</a:t>
            </a:r>
            <a:r>
              <a:rPr lang="en"/>
              <a:t> class is now making effective use of inheritance to reuse the state and behavior from its new parent class. Unfortunately, </a:t>
            </a:r>
            <a:r>
              <a:rPr lang="en">
                <a:latin typeface="Courier New"/>
                <a:ea typeface="Courier New"/>
                <a:cs typeface="Courier New"/>
                <a:sym typeface="Courier New"/>
              </a:rPr>
              <a:t>Fighter</a:t>
            </a:r>
            <a:r>
              <a:rPr lang="en"/>
              <a:t> still has a lot of duplicate code! Let's refactor the </a:t>
            </a:r>
            <a:r>
              <a:rPr lang="en">
                <a:latin typeface="Courier New"/>
                <a:ea typeface="Courier New"/>
                <a:cs typeface="Courier New"/>
                <a:sym typeface="Courier New"/>
              </a:rPr>
              <a:t>Fighter</a:t>
            </a:r>
            <a:r>
              <a:rPr lang="en"/>
              <a:t> class to extend </a:t>
            </a:r>
            <a:r>
              <a:rPr lang="en">
                <a:latin typeface="Courier New"/>
                <a:ea typeface="Courier New"/>
                <a:cs typeface="Courier New"/>
                <a:sym typeface="Courier New"/>
              </a:rPr>
              <a:t>Goat</a:t>
            </a:r>
            <a:r>
              <a:rPr lang="en"/>
              <a:t> now.</a:t>
            </a:r>
            <a:endParaRPr/>
          </a:p>
        </p:txBody>
      </p:sp>
      <p:sp>
        <p:nvSpPr>
          <p:cNvPr id="707" name="Google Shape;707;p8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08" name="Google Shape;708;p89"/>
          <p:cNvSpPr txBox="1"/>
          <p:nvPr>
            <p:ph idx="2" type="body"/>
          </p:nvPr>
        </p:nvSpPr>
        <p:spPr>
          <a:xfrm>
            <a:off x="2146100" y="2013125"/>
            <a:ext cx="6795000" cy="20973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the </a:t>
            </a:r>
            <a:r>
              <a:rPr lang="en" sz="1500">
                <a:latin typeface="Courier New"/>
                <a:ea typeface="Courier New"/>
                <a:cs typeface="Courier New"/>
                <a:sym typeface="Courier New"/>
              </a:rPr>
              <a:t>Fighter</a:t>
            </a:r>
            <a:r>
              <a:rPr lang="en" sz="1500"/>
              <a:t> class and modify it so that it subclasses your common </a:t>
            </a:r>
            <a:r>
              <a:rPr lang="en" sz="1500">
                <a:latin typeface="Courier New"/>
                <a:ea typeface="Courier New"/>
                <a:cs typeface="Courier New"/>
                <a:sym typeface="Courier New"/>
              </a:rPr>
              <a:t>Goat</a:t>
            </a:r>
            <a:r>
              <a:rPr lang="en" sz="1500"/>
              <a:t>.</a:t>
            </a:r>
            <a:endParaRPr sz="1500"/>
          </a:p>
          <a:p>
            <a:pPr indent="-311150" lvl="1" marL="914400" rtl="0" algn="l">
              <a:spcBef>
                <a:spcPts val="0"/>
              </a:spcBef>
              <a:spcAft>
                <a:spcPts val="0"/>
              </a:spcAft>
              <a:buSzPts val="1300"/>
              <a:buChar char="○"/>
            </a:pPr>
            <a:r>
              <a:rPr lang="en" sz="1300"/>
              <a:t>Use </a:t>
            </a:r>
            <a:r>
              <a:rPr lang="en" sz="1300">
                <a:solidFill>
                  <a:srgbClr val="FF0000"/>
                </a:solidFill>
                <a:latin typeface="Courier New"/>
                <a:ea typeface="Courier New"/>
                <a:cs typeface="Courier New"/>
                <a:sym typeface="Courier New"/>
              </a:rPr>
              <a:t>extends</a:t>
            </a:r>
            <a:r>
              <a:rPr lang="en" sz="1300"/>
              <a:t> to establish the inheritance relationship.</a:t>
            </a:r>
            <a:endParaRPr sz="1300"/>
          </a:p>
          <a:p>
            <a:pPr indent="-311150" lvl="1" marL="914400" rtl="0" algn="l">
              <a:spcBef>
                <a:spcPts val="0"/>
              </a:spcBef>
              <a:spcAft>
                <a:spcPts val="0"/>
              </a:spcAft>
              <a:buSzPts val="1300"/>
              <a:buChar char="○"/>
            </a:pPr>
            <a:r>
              <a:rPr lang="en" sz="1300"/>
              <a:t>You will need to write at least one constructor. Use super to call the parent constructor.</a:t>
            </a:r>
            <a:endParaRPr sz="1300"/>
          </a:p>
          <a:p>
            <a:pPr indent="-311150" lvl="1" marL="914400" rtl="0" algn="l">
              <a:spcBef>
                <a:spcPts val="0"/>
              </a:spcBef>
              <a:spcAft>
                <a:spcPts val="0"/>
              </a:spcAft>
              <a:buSzPts val="1300"/>
              <a:buChar char="○"/>
            </a:pPr>
            <a:r>
              <a:rPr lang="en" sz="1300"/>
              <a:t>Which methods can be safely deleted?</a:t>
            </a:r>
            <a:endParaRPr sz="1300"/>
          </a:p>
          <a:p>
            <a:pPr indent="-311150" lvl="1" marL="914400" rtl="0" algn="l">
              <a:spcBef>
                <a:spcPts val="0"/>
              </a:spcBef>
              <a:spcAft>
                <a:spcPts val="0"/>
              </a:spcAft>
              <a:buSzPts val="1300"/>
              <a:buChar char="○"/>
            </a:pPr>
            <a:r>
              <a:rPr lang="en" sz="1300"/>
              <a:t>Which methods will </a:t>
            </a:r>
            <a:r>
              <a:rPr b="1" i="1" lang="en" sz="1300">
                <a:solidFill>
                  <a:srgbClr val="FF0000"/>
                </a:solidFill>
              </a:rPr>
              <a:t>override</a:t>
            </a:r>
            <a:r>
              <a:rPr lang="en" sz="1300"/>
              <a:t> the implementations in the parent class?</a:t>
            </a:r>
            <a:endParaRPr sz="1300"/>
          </a:p>
          <a:p>
            <a:pPr indent="-323850" lvl="0" marL="457200" rtl="0" algn="l">
              <a:spcBef>
                <a:spcPts val="0"/>
              </a:spcBef>
              <a:spcAft>
                <a:spcPts val="0"/>
              </a:spcAft>
              <a:buSzPts val="1500"/>
              <a:buChar char="●"/>
            </a:pPr>
            <a:r>
              <a:rPr lang="en" sz="1500"/>
              <a:t>Experiment by running the class. Does the </a:t>
            </a:r>
            <a:r>
              <a:rPr lang="en" sz="1500">
                <a:latin typeface="Courier New"/>
                <a:ea typeface="Courier New"/>
                <a:cs typeface="Courier New"/>
                <a:sym typeface="Courier New"/>
              </a:rPr>
              <a:t>main</a:t>
            </a:r>
            <a:r>
              <a:rPr lang="en" sz="1500"/>
              <a:t> method still work?</a:t>
            </a:r>
            <a:endParaRPr sz="1500"/>
          </a:p>
        </p:txBody>
      </p:sp>
      <p:sp>
        <p:nvSpPr>
          <p:cNvPr id="709" name="Google Shape;709;p8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Refactor Fighter</a:t>
            </a:r>
            <a:endParaRPr/>
          </a:p>
        </p:txBody>
      </p:sp>
      <p:sp>
        <p:nvSpPr>
          <p:cNvPr id="710" name="Google Shape;710;p8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3.13</a:t>
            </a:r>
            <a:endParaRPr/>
          </a:p>
        </p:txBody>
      </p:sp>
      <p:pic>
        <p:nvPicPr>
          <p:cNvPr id="711" name="Google Shape;711;p89"/>
          <p:cNvPicPr preferRelativeResize="0"/>
          <p:nvPr/>
        </p:nvPicPr>
        <p:blipFill rotWithShape="1">
          <a:blip r:embed="rId3">
            <a:alphaModFix/>
          </a:blip>
          <a:srcRect b="0" l="0" r="0" t="0"/>
          <a:stretch/>
        </p:blipFill>
        <p:spPr>
          <a:xfrm>
            <a:off x="543379" y="3476523"/>
            <a:ext cx="947685" cy="1364628"/>
          </a:xfrm>
          <a:prstGeom prst="rect">
            <a:avLst/>
          </a:prstGeom>
          <a:noFill/>
          <a:ln>
            <a:noFill/>
          </a:ln>
        </p:spPr>
      </p:pic>
      <p:pic>
        <p:nvPicPr>
          <p:cNvPr id="712" name="Google Shape;712;p89"/>
          <p:cNvPicPr preferRelativeResize="0"/>
          <p:nvPr/>
        </p:nvPicPr>
        <p:blipFill rotWithShape="1">
          <a:blip r:embed="rId4">
            <a:alphaModFix/>
          </a:blip>
          <a:srcRect b="0" l="0" r="0" t="0"/>
          <a:stretch/>
        </p:blipFill>
        <p:spPr>
          <a:xfrm flipH="1">
            <a:off x="515727" y="1974426"/>
            <a:ext cx="999300" cy="1068685"/>
          </a:xfrm>
          <a:prstGeom prst="rect">
            <a:avLst/>
          </a:prstGeom>
          <a:noFill/>
          <a:ln>
            <a:noFill/>
          </a:ln>
        </p:spPr>
      </p:pic>
      <p:sp>
        <p:nvSpPr>
          <p:cNvPr id="713" name="Google Shape;713;p89"/>
          <p:cNvSpPr/>
          <p:nvPr/>
        </p:nvSpPr>
        <p:spPr>
          <a:xfrm>
            <a:off x="902941" y="3083386"/>
            <a:ext cx="225000" cy="170400"/>
          </a:xfrm>
          <a:prstGeom prst="triangle">
            <a:avLst>
              <a:gd fmla="val 50000" name="adj"/>
            </a:avLst>
          </a:prstGeom>
          <a:solidFill>
            <a:srgbClr val="FFFFFF"/>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14" name="Google Shape;714;p89"/>
          <p:cNvCxnSpPr>
            <a:stCxn id="713" idx="3"/>
          </p:cNvCxnSpPr>
          <p:nvPr/>
        </p:nvCxnSpPr>
        <p:spPr>
          <a:xfrm>
            <a:off x="1015441" y="3253786"/>
            <a:ext cx="0" cy="224400"/>
          </a:xfrm>
          <a:prstGeom prst="straightConnector1">
            <a:avLst/>
          </a:prstGeom>
          <a:noFill/>
          <a:ln cap="flat" cmpd="sng" w="28575">
            <a:solidFill>
              <a:srgbClr val="000000"/>
            </a:solidFill>
            <a:prstDash val="solid"/>
            <a:round/>
            <a:headEnd len="sm" w="sm" type="none"/>
            <a:tailEnd len="sm" w="sm"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90"/>
          <p:cNvSpPr txBox="1"/>
          <p:nvPr>
            <p:ph type="title"/>
          </p:nvPr>
        </p:nvSpPr>
        <p:spPr>
          <a:xfrm>
            <a:off x="311725" y="119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Polymorphism</a:t>
            </a:r>
            <a:endParaRPr/>
          </a:p>
        </p:txBody>
      </p:sp>
      <p:sp>
        <p:nvSpPr>
          <p:cNvPr id="720" name="Google Shape;720;p90"/>
          <p:cNvSpPr txBox="1"/>
          <p:nvPr>
            <p:ph idx="1" type="body"/>
          </p:nvPr>
        </p:nvSpPr>
        <p:spPr>
          <a:xfrm>
            <a:off x="4405900" y="146700"/>
            <a:ext cx="4615200" cy="4789800"/>
          </a:xfrm>
          <a:prstGeom prst="rect">
            <a:avLst/>
          </a:prstGeom>
        </p:spPr>
        <p:txBody>
          <a:bodyPr anchorCtr="0" anchor="t" bIns="91425" lIns="91425" spcFirstLastPara="1" rIns="91425" wrap="square" tIns="91425">
            <a:noAutofit/>
          </a:bodyPr>
          <a:lstStyle/>
          <a:p>
            <a:pPr indent="-311150" lvl="0" marL="457200" rtl="0" algn="l">
              <a:lnSpc>
                <a:spcPct val="100000"/>
              </a:lnSpc>
              <a:spcBef>
                <a:spcPts val="0"/>
              </a:spcBef>
              <a:spcAft>
                <a:spcPts val="0"/>
              </a:spcAft>
              <a:buSzPts val="1300"/>
              <a:buChar char="●"/>
            </a:pPr>
            <a:r>
              <a:rPr lang="en"/>
              <a:t>When one class extends another, it </a:t>
            </a:r>
            <a:r>
              <a:rPr b="1" i="1" lang="en">
                <a:solidFill>
                  <a:srgbClr val="FF0000"/>
                </a:solidFill>
              </a:rPr>
              <a:t>inherits </a:t>
            </a:r>
            <a:r>
              <a:rPr lang="en"/>
              <a:t>all of the </a:t>
            </a:r>
            <a:r>
              <a:rPr b="1" i="1" lang="en">
                <a:solidFill>
                  <a:srgbClr val="FF0000"/>
                </a:solidFill>
              </a:rPr>
              <a:t>accessible</a:t>
            </a:r>
            <a:r>
              <a:rPr lang="en">
                <a:solidFill>
                  <a:srgbClr val="FF0000"/>
                </a:solidFill>
              </a:rPr>
              <a:t> </a:t>
            </a:r>
            <a:r>
              <a:rPr lang="en"/>
              <a:t>state and behavior from the parent class.</a:t>
            </a:r>
            <a:endParaRPr/>
          </a:p>
          <a:p>
            <a:pPr indent="-298450" lvl="1" marL="914400" rtl="0" algn="l">
              <a:lnSpc>
                <a:spcPct val="100000"/>
              </a:lnSpc>
              <a:spcBef>
                <a:spcPts val="0"/>
              </a:spcBef>
              <a:spcAft>
                <a:spcPts val="0"/>
              </a:spcAft>
              <a:buSzPts val="1100"/>
              <a:buChar char="○"/>
            </a:pPr>
            <a:r>
              <a:rPr lang="en"/>
              <a:t>The </a:t>
            </a:r>
            <a:r>
              <a:rPr b="1" i="1" lang="en">
                <a:solidFill>
                  <a:srgbClr val="FF0000"/>
                </a:solidFill>
              </a:rPr>
              <a:t>subclass</a:t>
            </a:r>
            <a:r>
              <a:rPr lang="en">
                <a:solidFill>
                  <a:srgbClr val="FF0000"/>
                </a:solidFill>
              </a:rPr>
              <a:t> </a:t>
            </a:r>
            <a:r>
              <a:rPr lang="en"/>
              <a:t>can be used with any code that has been written to use the </a:t>
            </a:r>
            <a:r>
              <a:rPr b="1" i="1" lang="en">
                <a:solidFill>
                  <a:srgbClr val="FF0000"/>
                </a:solidFill>
              </a:rPr>
              <a:t>superclass</a:t>
            </a:r>
            <a:r>
              <a:rPr lang="en"/>
              <a:t>.</a:t>
            </a:r>
            <a:endParaRPr/>
          </a:p>
          <a:p>
            <a:pPr indent="-298450" lvl="1" marL="914400" rtl="0" algn="l">
              <a:lnSpc>
                <a:spcPct val="100000"/>
              </a:lnSpc>
              <a:spcBef>
                <a:spcPts val="0"/>
              </a:spcBef>
              <a:spcAft>
                <a:spcPts val="0"/>
              </a:spcAft>
              <a:buSzPts val="1100"/>
              <a:buChar char="○"/>
            </a:pPr>
            <a:r>
              <a:rPr lang="en"/>
              <a:t>This is because any code that uses state and behavior defined by the parent will find that same state and behavior in the child.</a:t>
            </a:r>
            <a:endParaRPr/>
          </a:p>
          <a:p>
            <a:pPr indent="-298450" lvl="1" marL="914400" rtl="0" algn="l">
              <a:lnSpc>
                <a:spcPct val="100000"/>
              </a:lnSpc>
              <a:spcBef>
                <a:spcPts val="0"/>
              </a:spcBef>
              <a:spcAft>
                <a:spcPts val="0"/>
              </a:spcAft>
              <a:buSzPts val="1100"/>
              <a:buChar char="○"/>
            </a:pPr>
            <a:r>
              <a:rPr lang="en"/>
              <a:t>This is a key feature of </a:t>
            </a:r>
            <a:r>
              <a:rPr b="1" i="1" lang="en">
                <a:solidFill>
                  <a:srgbClr val="FF0000"/>
                </a:solidFill>
              </a:rPr>
              <a:t>object-oriented programming</a:t>
            </a:r>
            <a:r>
              <a:rPr lang="en"/>
              <a:t> that is known as </a:t>
            </a:r>
            <a:r>
              <a:rPr b="1" i="1" lang="en">
                <a:solidFill>
                  <a:srgbClr val="FF0000"/>
                </a:solidFill>
              </a:rPr>
              <a:t>polymorphism</a:t>
            </a:r>
            <a:r>
              <a:rPr lang="en"/>
              <a:t>: code written to use a parent will work with any of its children.</a:t>
            </a:r>
            <a:endParaRPr/>
          </a:p>
          <a:p>
            <a:pPr indent="-311150" lvl="0" marL="457200" rtl="0" algn="l">
              <a:spcBef>
                <a:spcPts val="0"/>
              </a:spcBef>
              <a:spcAft>
                <a:spcPts val="0"/>
              </a:spcAft>
              <a:buSzPts val="1300"/>
              <a:buChar char="●"/>
            </a:pPr>
            <a:r>
              <a:rPr lang="en"/>
              <a:t>However, there is another equally important aspect of polymorphism: if a child </a:t>
            </a:r>
            <a:r>
              <a:rPr b="1" i="1" lang="en">
                <a:solidFill>
                  <a:srgbClr val="FF0000"/>
                </a:solidFill>
              </a:rPr>
              <a:t>is</a:t>
            </a:r>
            <a:r>
              <a:rPr lang="en"/>
              <a:t> used in place of its parent </a:t>
            </a:r>
            <a:r>
              <a:rPr b="1" i="1" lang="en">
                <a:solidFill>
                  <a:srgbClr val="FF0000"/>
                </a:solidFill>
              </a:rPr>
              <a:t>and</a:t>
            </a:r>
            <a:r>
              <a:rPr lang="en">
                <a:solidFill>
                  <a:srgbClr val="FF0000"/>
                </a:solidFill>
              </a:rPr>
              <a:t> </a:t>
            </a:r>
            <a:r>
              <a:rPr lang="en"/>
              <a:t>the child overrides the methods in the parent, the </a:t>
            </a:r>
            <a:r>
              <a:rPr b="1" i="1" lang="en">
                <a:solidFill>
                  <a:srgbClr val="FF0000"/>
                </a:solidFill>
              </a:rPr>
              <a:t>child's version</a:t>
            </a:r>
            <a:r>
              <a:rPr lang="en"/>
              <a:t> of those methods will be used.</a:t>
            </a:r>
            <a:endParaRPr/>
          </a:p>
          <a:p>
            <a:pPr indent="-298450" lvl="1" marL="914400" rtl="0" algn="l">
              <a:spcBef>
                <a:spcPts val="0"/>
              </a:spcBef>
              <a:spcAft>
                <a:spcPts val="0"/>
              </a:spcAft>
              <a:buSzPts val="1100"/>
              <a:buChar char="○"/>
            </a:pPr>
            <a:r>
              <a:rPr lang="en"/>
              <a:t>The </a:t>
            </a:r>
            <a:r>
              <a:rPr b="1" i="1" lang="en">
                <a:solidFill>
                  <a:srgbClr val="FF0000"/>
                </a:solidFill>
              </a:rPr>
              <a:t>declared type</a:t>
            </a:r>
            <a:r>
              <a:rPr lang="en"/>
              <a:t> of a variable determines the state and behavior that can be used through that variable.</a:t>
            </a:r>
            <a:endParaRPr/>
          </a:p>
          <a:p>
            <a:pPr indent="-298450" lvl="1" marL="914400" rtl="0" algn="l">
              <a:spcBef>
                <a:spcPts val="0"/>
              </a:spcBef>
              <a:spcAft>
                <a:spcPts val="0"/>
              </a:spcAft>
              <a:buSzPts val="1100"/>
              <a:buChar char="○"/>
            </a:pPr>
            <a:r>
              <a:rPr lang="en"/>
              <a:t>The </a:t>
            </a:r>
            <a:r>
              <a:rPr b="1" i="1" lang="en">
                <a:solidFill>
                  <a:srgbClr val="FF0000"/>
                </a:solidFill>
              </a:rPr>
              <a:t>assigned type</a:t>
            </a:r>
            <a:r>
              <a:rPr lang="en"/>
              <a:t> determines the </a:t>
            </a:r>
            <a:r>
              <a:rPr b="1" i="1" lang="en">
                <a:solidFill>
                  <a:srgbClr val="FF0000"/>
                </a:solidFill>
              </a:rPr>
              <a:t>implementation</a:t>
            </a:r>
            <a:r>
              <a:rPr lang="en"/>
              <a:t> that is used.</a:t>
            </a:r>
            <a:endParaRPr/>
          </a:p>
          <a:p>
            <a:pPr indent="-298450" lvl="1" marL="914400" rtl="0" algn="l">
              <a:spcBef>
                <a:spcPts val="0"/>
              </a:spcBef>
              <a:spcAft>
                <a:spcPts val="0"/>
              </a:spcAft>
              <a:buSzPts val="1100"/>
              <a:buChar char="○"/>
            </a:pPr>
            <a:r>
              <a:rPr lang="en"/>
              <a:t>For example, </a:t>
            </a:r>
            <a:r>
              <a:rPr lang="en">
                <a:solidFill>
                  <a:srgbClr val="FF0000"/>
                </a:solidFill>
                <a:latin typeface="Courier New"/>
                <a:ea typeface="Courier New"/>
                <a:cs typeface="Courier New"/>
                <a:sym typeface="Courier New"/>
              </a:rPr>
              <a:t>Parent p = new Parent();</a:t>
            </a:r>
            <a:r>
              <a:rPr lang="en"/>
              <a:t> will assign an instance of the </a:t>
            </a:r>
            <a:r>
              <a:rPr lang="en">
                <a:latin typeface="Courier New"/>
                <a:ea typeface="Courier New"/>
                <a:cs typeface="Courier New"/>
                <a:sym typeface="Courier New"/>
              </a:rPr>
              <a:t>Parent</a:t>
            </a:r>
            <a:r>
              <a:rPr lang="en"/>
              <a:t> class to the variable, and its methods will be used </a:t>
            </a:r>
            <a:r>
              <a:rPr b="1" i="1" lang="en">
                <a:solidFill>
                  <a:srgbClr val="FF0000"/>
                </a:solidFill>
              </a:rPr>
              <a:t>regardless</a:t>
            </a:r>
            <a:r>
              <a:rPr lang="en"/>
              <a:t>.</a:t>
            </a:r>
            <a:endParaRPr/>
          </a:p>
          <a:p>
            <a:pPr indent="-298450" lvl="1" marL="914400" rtl="0" algn="l">
              <a:spcBef>
                <a:spcPts val="0"/>
              </a:spcBef>
              <a:spcAft>
                <a:spcPts val="0"/>
              </a:spcAft>
              <a:buSzPts val="1100"/>
              <a:buChar char="○"/>
            </a:pPr>
            <a:r>
              <a:rPr lang="en"/>
              <a:t>But </a:t>
            </a:r>
            <a:r>
              <a:rPr lang="en">
                <a:solidFill>
                  <a:srgbClr val="FF0000"/>
                </a:solidFill>
                <a:latin typeface="Courier New"/>
                <a:ea typeface="Courier New"/>
                <a:cs typeface="Courier New"/>
                <a:sym typeface="Courier New"/>
              </a:rPr>
              <a:t>Parent p = new Child();</a:t>
            </a:r>
            <a:r>
              <a:rPr lang="en"/>
              <a:t> will assign an instance of the </a:t>
            </a:r>
            <a:r>
              <a:rPr lang="en">
                <a:latin typeface="Courier New"/>
                <a:ea typeface="Courier New"/>
                <a:cs typeface="Courier New"/>
                <a:sym typeface="Courier New"/>
              </a:rPr>
              <a:t>Child</a:t>
            </a:r>
            <a:r>
              <a:rPr lang="en"/>
              <a:t> class, and </a:t>
            </a:r>
            <a:r>
              <a:rPr b="1" i="1" lang="en">
                <a:solidFill>
                  <a:srgbClr val="FF0000"/>
                </a:solidFill>
              </a:rPr>
              <a:t>its</a:t>
            </a:r>
            <a:r>
              <a:rPr lang="en"/>
              <a:t> versions of any </a:t>
            </a:r>
            <a:r>
              <a:rPr b="1" i="1" lang="en">
                <a:solidFill>
                  <a:srgbClr val="FF0000"/>
                </a:solidFill>
              </a:rPr>
              <a:t>overridden </a:t>
            </a:r>
            <a:r>
              <a:rPr lang="en"/>
              <a:t>methods will be used instead.</a:t>
            </a:r>
            <a:endParaRPr/>
          </a:p>
        </p:txBody>
      </p:sp>
      <p:sp>
        <p:nvSpPr>
          <p:cNvPr id="721" name="Google Shape;721;p9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22" name="Google Shape;722;p90"/>
          <p:cNvSpPr txBox="1"/>
          <p:nvPr>
            <p:ph idx="3" type="body"/>
          </p:nvPr>
        </p:nvSpPr>
        <p:spPr>
          <a:xfrm>
            <a:off x="315425" y="4089650"/>
            <a:ext cx="3706500" cy="8469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i="1" lang="en" sz="1200">
                <a:solidFill>
                  <a:srgbClr val="FF0000"/>
                </a:solidFill>
              </a:rPr>
              <a:t>Polymorphism</a:t>
            </a:r>
            <a:r>
              <a:rPr lang="en" sz="1200">
                <a:solidFill>
                  <a:srgbClr val="FF0000"/>
                </a:solidFill>
              </a:rPr>
              <a:t> </a:t>
            </a:r>
            <a:r>
              <a:rPr lang="en" sz="1200"/>
              <a:t>is a core principle of </a:t>
            </a:r>
            <a:r>
              <a:rPr b="1" i="1" lang="en" sz="1200">
                <a:solidFill>
                  <a:srgbClr val="FF0000"/>
                </a:solidFill>
              </a:rPr>
              <a:t>object- oriented programming</a:t>
            </a:r>
            <a:r>
              <a:rPr lang="en" sz="1200"/>
              <a:t>. It makes code more powerful, flexible, and reusable. It should be used whenever possible!</a:t>
            </a:r>
            <a:endParaRPr sz="1200"/>
          </a:p>
        </p:txBody>
      </p:sp>
      <p:graphicFrame>
        <p:nvGraphicFramePr>
          <p:cNvPr id="723" name="Google Shape;723;p90"/>
          <p:cNvGraphicFramePr/>
          <p:nvPr/>
        </p:nvGraphicFramePr>
        <p:xfrm>
          <a:off x="839350" y="751825"/>
          <a:ext cx="3000000" cy="3000000"/>
        </p:xfrm>
        <a:graphic>
          <a:graphicData uri="http://schemas.openxmlformats.org/drawingml/2006/table">
            <a:tbl>
              <a:tblPr>
                <a:noFill/>
                <a:tableStyleId>{BB7116F7-C15E-4CF7-A1A4-3F0B48A09751}</a:tableStyleId>
              </a:tblPr>
              <a:tblGrid>
                <a:gridCol w="2420625"/>
              </a:tblGrid>
              <a:tr h="212700">
                <a:tc>
                  <a:txBody>
                    <a:bodyPr/>
                    <a:lstStyle/>
                    <a:p>
                      <a:pPr indent="0" lvl="0" marL="0" rtl="0" algn="ctr">
                        <a:spcBef>
                          <a:spcPts val="0"/>
                        </a:spcBef>
                        <a:spcAft>
                          <a:spcPts val="0"/>
                        </a:spcAft>
                        <a:buNone/>
                      </a:pPr>
                      <a:r>
                        <a:rPr lang="en" sz="1000">
                          <a:latin typeface="Consolas"/>
                          <a:ea typeface="Consolas"/>
                          <a:cs typeface="Consolas"/>
                          <a:sym typeface="Consolas"/>
                        </a:rPr>
                        <a:t>Parent</a:t>
                      </a:r>
                      <a:endParaRPr sz="1000">
                        <a:latin typeface="Consolas"/>
                        <a:ea typeface="Consolas"/>
                        <a:cs typeface="Consolas"/>
                        <a:sym typeface="Consolas"/>
                      </a:endParaRPr>
                    </a:p>
                  </a:txBody>
                  <a:tcPr marT="91425" marB="91425" marR="91425" marL="91425">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solidFill>
                      <a:srgbClr val="FFFFFF"/>
                    </a:solidFill>
                  </a:tcPr>
                </a:tc>
              </a:tr>
              <a:tr h="212700">
                <a:tc>
                  <a:txBody>
                    <a:bodyPr/>
                    <a:lstStyle/>
                    <a:p>
                      <a:pPr indent="0" lvl="0" marL="0" rtl="0" algn="l">
                        <a:spcBef>
                          <a:spcPts val="0"/>
                        </a:spcBef>
                        <a:spcAft>
                          <a:spcPts val="0"/>
                        </a:spcAft>
                        <a:buNone/>
                      </a:pPr>
                      <a:r>
                        <a:rPr lang="en" sz="1000">
                          <a:latin typeface="Consolas"/>
                          <a:ea typeface="Consolas"/>
                          <a:cs typeface="Consolas"/>
                          <a:sym typeface="Consolas"/>
                        </a:rPr>
                        <a:t>- name: String</a:t>
                      </a:r>
                      <a:endParaRPr sz="1000">
                        <a:latin typeface="Consolas"/>
                        <a:ea typeface="Consolas"/>
                        <a:cs typeface="Consolas"/>
                        <a:sym typeface="Consolas"/>
                      </a:endParaRPr>
                    </a:p>
                  </a:txBody>
                  <a:tcPr marT="91425" marB="91425" marR="91425" marL="91425">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solidFill>
                      <a:srgbClr val="FFFFFF"/>
                    </a:solidFill>
                  </a:tcPr>
                </a:tc>
              </a:tr>
              <a:tr h="212700">
                <a:tc>
                  <a:txBody>
                    <a:bodyPr/>
                    <a:lstStyle/>
                    <a:p>
                      <a:pPr indent="0" lvl="0" marL="0" rtl="0" algn="l">
                        <a:spcBef>
                          <a:spcPts val="0"/>
                        </a:spcBef>
                        <a:spcAft>
                          <a:spcPts val="0"/>
                        </a:spcAft>
                        <a:buNone/>
                      </a:pPr>
                      <a:r>
                        <a:rPr lang="en" sz="1000">
                          <a:latin typeface="Consolas"/>
                          <a:ea typeface="Consolas"/>
                          <a:cs typeface="Consolas"/>
                          <a:sym typeface="Consolas"/>
                        </a:rPr>
                        <a:t>+ Parent(name: String)</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getName(): String</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toString(): String</a:t>
                      </a:r>
                      <a:endParaRPr sz="1000">
                        <a:latin typeface="Consolas"/>
                        <a:ea typeface="Consolas"/>
                        <a:cs typeface="Consolas"/>
                        <a:sym typeface="Consolas"/>
                      </a:endParaRPr>
                    </a:p>
                  </a:txBody>
                  <a:tcPr marT="91425" marB="91425" marR="91425" marL="91425">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solidFill>
                      <a:srgbClr val="FFFFFF"/>
                    </a:solidFill>
                  </a:tcPr>
                </a:tc>
              </a:tr>
            </a:tbl>
          </a:graphicData>
        </a:graphic>
      </p:graphicFrame>
      <p:graphicFrame>
        <p:nvGraphicFramePr>
          <p:cNvPr id="724" name="Google Shape;724;p90"/>
          <p:cNvGraphicFramePr/>
          <p:nvPr/>
        </p:nvGraphicFramePr>
        <p:xfrm>
          <a:off x="839350" y="2565845"/>
          <a:ext cx="3000000" cy="3000000"/>
        </p:xfrm>
        <a:graphic>
          <a:graphicData uri="http://schemas.openxmlformats.org/drawingml/2006/table">
            <a:tbl>
              <a:tblPr>
                <a:noFill/>
                <a:tableStyleId>{BB7116F7-C15E-4CF7-A1A4-3F0B48A09751}</a:tableStyleId>
              </a:tblPr>
              <a:tblGrid>
                <a:gridCol w="2420625"/>
              </a:tblGrid>
              <a:tr h="212700">
                <a:tc>
                  <a:txBody>
                    <a:bodyPr/>
                    <a:lstStyle/>
                    <a:p>
                      <a:pPr indent="0" lvl="0" marL="0" rtl="0" algn="ctr">
                        <a:spcBef>
                          <a:spcPts val="0"/>
                        </a:spcBef>
                        <a:spcAft>
                          <a:spcPts val="0"/>
                        </a:spcAft>
                        <a:buNone/>
                      </a:pPr>
                      <a:r>
                        <a:rPr lang="en" sz="1000">
                          <a:latin typeface="Consolas"/>
                          <a:ea typeface="Consolas"/>
                          <a:cs typeface="Consolas"/>
                          <a:sym typeface="Consolas"/>
                        </a:rPr>
                        <a:t>Child</a:t>
                      </a:r>
                      <a:endParaRPr sz="1000">
                        <a:latin typeface="Consolas"/>
                        <a:ea typeface="Consolas"/>
                        <a:cs typeface="Consolas"/>
                        <a:sym typeface="Consolas"/>
                      </a:endParaRPr>
                    </a:p>
                  </a:txBody>
                  <a:tcPr marT="91425" marB="91425" marR="91425" marL="91425">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solidFill>
                      <a:srgbClr val="FFFFFF"/>
                    </a:solidFill>
                  </a:tcPr>
                </a:tc>
              </a:tr>
              <a:tr h="212700">
                <a:tc>
                  <a:txBody>
                    <a:bodyPr/>
                    <a:lstStyle/>
                    <a:p>
                      <a:pPr indent="0" lvl="0" marL="0" rtl="0" algn="l">
                        <a:spcBef>
                          <a:spcPts val="0"/>
                        </a:spcBef>
                        <a:spcAft>
                          <a:spcPts val="0"/>
                        </a:spcAft>
                        <a:buNone/>
                      </a:pPr>
                      <a:r>
                        <a:rPr lang="en" sz="1000">
                          <a:latin typeface="Consolas"/>
                          <a:ea typeface="Consolas"/>
                          <a:cs typeface="Consolas"/>
                          <a:sym typeface="Consolas"/>
                        </a:rPr>
                        <a:t>- age: int</a:t>
                      </a:r>
                      <a:endParaRPr sz="1000">
                        <a:latin typeface="Consolas"/>
                        <a:ea typeface="Consolas"/>
                        <a:cs typeface="Consolas"/>
                        <a:sym typeface="Consolas"/>
                      </a:endParaRPr>
                    </a:p>
                  </a:txBody>
                  <a:tcPr marT="91425" marB="91425" marR="91425" marL="91425">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solidFill>
                      <a:srgbClr val="FFFFFF"/>
                    </a:solidFill>
                  </a:tcPr>
                </a:tc>
              </a:tr>
              <a:tr h="212700">
                <a:tc>
                  <a:txBody>
                    <a:bodyPr/>
                    <a:lstStyle/>
                    <a:p>
                      <a:pPr indent="0" lvl="0" marL="0" rtl="0" algn="l">
                        <a:spcBef>
                          <a:spcPts val="0"/>
                        </a:spcBef>
                        <a:spcAft>
                          <a:spcPts val="0"/>
                        </a:spcAft>
                        <a:buNone/>
                      </a:pPr>
                      <a:r>
                        <a:rPr lang="en" sz="1000">
                          <a:latin typeface="Consolas"/>
                          <a:ea typeface="Consolas"/>
                          <a:cs typeface="Consolas"/>
                          <a:sym typeface="Consolas"/>
                        </a:rPr>
                        <a:t>+ Child(name: String, age: int)</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getAge(): int</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toString(): String</a:t>
                      </a:r>
                      <a:endParaRPr sz="1000">
                        <a:latin typeface="Consolas"/>
                        <a:ea typeface="Consolas"/>
                        <a:cs typeface="Consolas"/>
                        <a:sym typeface="Consolas"/>
                      </a:endParaRPr>
                    </a:p>
                  </a:txBody>
                  <a:tcPr marT="91425" marB="91425" marR="91425" marL="91425">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solidFill>
                      <a:srgbClr val="FFFFFF"/>
                    </a:solidFill>
                  </a:tcPr>
                </a:tc>
              </a:tr>
            </a:tbl>
          </a:graphicData>
        </a:graphic>
      </p:graphicFrame>
      <p:sp>
        <p:nvSpPr>
          <p:cNvPr id="725" name="Google Shape;725;p90"/>
          <p:cNvSpPr/>
          <p:nvPr/>
        </p:nvSpPr>
        <p:spPr>
          <a:xfrm>
            <a:off x="1913013" y="2081650"/>
            <a:ext cx="273300" cy="207000"/>
          </a:xfrm>
          <a:prstGeom prst="triangle">
            <a:avLst>
              <a:gd fmla="val 50000" name="adj"/>
            </a:avLst>
          </a:prstGeom>
          <a:noFill/>
          <a:ln cap="flat" cmpd="sng" w="285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26" name="Google Shape;726;p90"/>
          <p:cNvCxnSpPr>
            <a:stCxn id="725" idx="3"/>
          </p:cNvCxnSpPr>
          <p:nvPr/>
        </p:nvCxnSpPr>
        <p:spPr>
          <a:xfrm>
            <a:off x="2049663" y="2288650"/>
            <a:ext cx="0" cy="272700"/>
          </a:xfrm>
          <a:prstGeom prst="straightConnector1">
            <a:avLst/>
          </a:prstGeom>
          <a:noFill/>
          <a:ln cap="flat" cmpd="sng" w="28575">
            <a:solidFill>
              <a:srgbClr val="B7B7B7"/>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2"/>
                                        </p:tgtEl>
                                        <p:attrNameLst>
                                          <p:attrName>style.visibility</p:attrName>
                                        </p:attrNameLst>
                                      </p:cBhvr>
                                      <p:to>
                                        <p:strVal val="visible"/>
                                      </p:to>
                                    </p:set>
                                    <p:animEffect filter="fade" transition="in">
                                      <p:cBhvr>
                                        <p:cTn dur="1000"/>
                                        <p:tgtEl>
                                          <p:spTgt spid="7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91"/>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Polymorphism means that we can write code that uses the </a:t>
            </a:r>
            <a:r>
              <a:rPr lang="en">
                <a:latin typeface="Courier New"/>
                <a:ea typeface="Courier New"/>
                <a:cs typeface="Courier New"/>
                <a:sym typeface="Courier New"/>
              </a:rPr>
              <a:t>Goat</a:t>
            </a:r>
            <a:r>
              <a:rPr lang="en"/>
              <a:t> class and it will work with any class that extends </a:t>
            </a:r>
            <a:r>
              <a:rPr lang="en">
                <a:latin typeface="Courier New"/>
                <a:ea typeface="Courier New"/>
                <a:cs typeface="Courier New"/>
                <a:sym typeface="Courier New"/>
              </a:rPr>
              <a:t>Goat</a:t>
            </a:r>
            <a:r>
              <a:rPr lang="en"/>
              <a:t>! This means that we can write </a:t>
            </a:r>
            <a:r>
              <a:rPr b="1" i="1" lang="en"/>
              <a:t>one</a:t>
            </a:r>
            <a:r>
              <a:rPr lang="en"/>
              <a:t> battle method that declares </a:t>
            </a:r>
            <a:r>
              <a:rPr lang="en">
                <a:latin typeface="Courier New"/>
                <a:ea typeface="Courier New"/>
                <a:cs typeface="Courier New"/>
                <a:sym typeface="Courier New"/>
              </a:rPr>
              <a:t>Goat</a:t>
            </a:r>
            <a:r>
              <a:rPr lang="en"/>
              <a:t> parameters and it will work with </a:t>
            </a:r>
            <a:r>
              <a:rPr b="1" i="1" lang="en"/>
              <a:t>any</a:t>
            </a:r>
            <a:r>
              <a:rPr lang="en"/>
              <a:t> kind of </a:t>
            </a:r>
            <a:r>
              <a:rPr lang="en">
                <a:latin typeface="Courier New"/>
                <a:ea typeface="Courier New"/>
                <a:cs typeface="Courier New"/>
                <a:sym typeface="Courier New"/>
              </a:rPr>
              <a:t>Goat</a:t>
            </a:r>
            <a:r>
              <a:rPr lang="en"/>
              <a:t>!  No more duplication!</a:t>
            </a:r>
            <a:endParaRPr/>
          </a:p>
        </p:txBody>
      </p:sp>
      <p:sp>
        <p:nvSpPr>
          <p:cNvPr id="732" name="Google Shape;732;p9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3" name="Google Shape;733;p91"/>
          <p:cNvSpPr txBox="1"/>
          <p:nvPr>
            <p:ph idx="2" type="body"/>
          </p:nvPr>
        </p:nvSpPr>
        <p:spPr>
          <a:xfrm>
            <a:off x="3819175" y="1814150"/>
            <a:ext cx="5121900" cy="15639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Open the "</a:t>
            </a:r>
            <a:r>
              <a:rPr lang="en" sz="1600">
                <a:latin typeface="Courier New"/>
                <a:ea typeface="Courier New"/>
                <a:cs typeface="Courier New"/>
                <a:sym typeface="Courier New"/>
              </a:rPr>
              <a:t>GoatArena</a:t>
            </a:r>
            <a:r>
              <a:rPr lang="en" sz="1600"/>
              <a:t>" and delete all but one "</a:t>
            </a:r>
            <a:r>
              <a:rPr lang="en" sz="1600">
                <a:latin typeface="Courier New"/>
                <a:ea typeface="Courier New"/>
                <a:cs typeface="Courier New"/>
                <a:sym typeface="Courier New"/>
              </a:rPr>
              <a:t>battle</a:t>
            </a:r>
            <a:r>
              <a:rPr lang="en" sz="1600"/>
              <a:t>" method.</a:t>
            </a:r>
            <a:endParaRPr sz="1600"/>
          </a:p>
          <a:p>
            <a:pPr indent="-330200" lvl="1" marL="914400" rtl="0" algn="l">
              <a:spcBef>
                <a:spcPts val="0"/>
              </a:spcBef>
              <a:spcAft>
                <a:spcPts val="0"/>
              </a:spcAft>
              <a:buSzPts val="1600"/>
              <a:buChar char="○"/>
            </a:pPr>
            <a:r>
              <a:rPr lang="en" sz="1600"/>
              <a:t>Change the parameter types to the </a:t>
            </a:r>
            <a:r>
              <a:rPr lang="en" sz="1600">
                <a:latin typeface="Courier New"/>
                <a:ea typeface="Courier New"/>
                <a:cs typeface="Courier New"/>
                <a:sym typeface="Courier New"/>
              </a:rPr>
              <a:t>Goat</a:t>
            </a:r>
            <a:r>
              <a:rPr lang="en" sz="1600"/>
              <a:t> parent class.</a:t>
            </a:r>
            <a:endParaRPr sz="1600"/>
          </a:p>
          <a:p>
            <a:pPr indent="-330200" lvl="0" marL="457200" rtl="0" algn="l">
              <a:spcBef>
                <a:spcPts val="0"/>
              </a:spcBef>
              <a:spcAft>
                <a:spcPts val="0"/>
              </a:spcAft>
              <a:buSzPts val="1600"/>
              <a:buChar char="●"/>
            </a:pPr>
            <a:r>
              <a:rPr lang="en" sz="1600"/>
              <a:t>What happened?!</a:t>
            </a:r>
            <a:endParaRPr sz="1600"/>
          </a:p>
        </p:txBody>
      </p:sp>
      <p:sp>
        <p:nvSpPr>
          <p:cNvPr id="734" name="Google Shape;734;p9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Goat Fight?</a:t>
            </a:r>
            <a:endParaRPr/>
          </a:p>
        </p:txBody>
      </p:sp>
      <p:sp>
        <p:nvSpPr>
          <p:cNvPr id="735" name="Google Shape;735;p9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3.14</a:t>
            </a:r>
            <a:endParaRPr/>
          </a:p>
        </p:txBody>
      </p:sp>
      <p:pic>
        <p:nvPicPr>
          <p:cNvPr id="736" name="Google Shape;736;p91"/>
          <p:cNvPicPr preferRelativeResize="0"/>
          <p:nvPr/>
        </p:nvPicPr>
        <p:blipFill>
          <a:blip r:embed="rId3">
            <a:alphaModFix/>
          </a:blip>
          <a:stretch>
            <a:fillRect/>
          </a:stretch>
        </p:blipFill>
        <p:spPr>
          <a:xfrm>
            <a:off x="152400" y="1838575"/>
            <a:ext cx="3500427" cy="1980499"/>
          </a:xfrm>
          <a:prstGeom prst="rect">
            <a:avLst/>
          </a:prstGeom>
          <a:noFill/>
          <a:ln cap="flat" cmpd="sng" w="19050">
            <a:solidFill>
              <a:schemeClr val="dk2"/>
            </a:solidFill>
            <a:prstDash val="solid"/>
            <a:round/>
            <a:headEnd len="sm" w="sm" type="none"/>
            <a:tailEnd len="sm" w="sm" type="none"/>
          </a:ln>
        </p:spPr>
      </p:pic>
      <p:sp>
        <p:nvSpPr>
          <p:cNvPr id="737" name="Google Shape;737;p91"/>
          <p:cNvSpPr txBox="1"/>
          <p:nvPr/>
        </p:nvSpPr>
        <p:spPr>
          <a:xfrm>
            <a:off x="146000" y="3925275"/>
            <a:ext cx="35004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Wow! One method that works with any kind of goat?</a:t>
            </a:r>
            <a:endParaRPr sz="1200"/>
          </a:p>
        </p:txBody>
      </p:sp>
      <p:pic>
        <p:nvPicPr>
          <p:cNvPr id="738" name="Google Shape;738;p91"/>
          <p:cNvPicPr preferRelativeResize="0"/>
          <p:nvPr/>
        </p:nvPicPr>
        <p:blipFill rotWithShape="1">
          <a:blip r:embed="rId4">
            <a:alphaModFix/>
          </a:blip>
          <a:srcRect b="0" l="0" r="0" t="0"/>
          <a:stretch/>
        </p:blipFill>
        <p:spPr>
          <a:xfrm flipH="1" rot="-915671">
            <a:off x="1911375" y="2419675"/>
            <a:ext cx="657050" cy="818300"/>
          </a:xfrm>
          <a:prstGeom prst="rect">
            <a:avLst/>
          </a:prstGeom>
          <a:noFill/>
          <a:ln>
            <a:noFill/>
          </a:ln>
        </p:spPr>
      </p:pic>
      <p:pic>
        <p:nvPicPr>
          <p:cNvPr id="739" name="Google Shape;739;p91"/>
          <p:cNvPicPr preferRelativeResize="0"/>
          <p:nvPr/>
        </p:nvPicPr>
        <p:blipFill rotWithShape="1">
          <a:blip r:embed="rId4">
            <a:alphaModFix/>
          </a:blip>
          <a:srcRect b="0" l="0" r="0" t="0"/>
          <a:stretch/>
        </p:blipFill>
        <p:spPr>
          <a:xfrm rot="915671">
            <a:off x="1062125" y="2419675"/>
            <a:ext cx="657050" cy="8183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43" name="Shape 743"/>
        <p:cNvGrpSpPr/>
        <p:nvPr/>
      </p:nvGrpSpPr>
      <p:grpSpPr>
        <a:xfrm>
          <a:off x="0" y="0"/>
          <a:ext cx="0" cy="0"/>
          <a:chOff x="0" y="0"/>
          <a:chExt cx="0" cy="0"/>
        </a:xfrm>
      </p:grpSpPr>
      <p:sp>
        <p:nvSpPr>
          <p:cNvPr id="744" name="Google Shape;744;p92"/>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a:t>
            </a:r>
            <a:endParaRPr/>
          </a:p>
        </p:txBody>
      </p:sp>
      <p:sp>
        <p:nvSpPr>
          <p:cNvPr id="745" name="Google Shape;745;p9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746" name="Google Shape;746;p92"/>
          <p:cNvGraphicFramePr/>
          <p:nvPr/>
        </p:nvGraphicFramePr>
        <p:xfrm>
          <a:off x="4369175" y="1320850"/>
          <a:ext cx="3000000" cy="3000000"/>
        </p:xfrm>
        <a:graphic>
          <a:graphicData uri="http://schemas.openxmlformats.org/drawingml/2006/table">
            <a:tbl>
              <a:tblPr>
                <a:noFill/>
                <a:tableStyleId>{BB7116F7-C15E-4CF7-A1A4-3F0B48A09751}</a:tableStyleId>
              </a:tblPr>
              <a:tblGrid>
                <a:gridCol w="896800"/>
                <a:gridCol w="896800"/>
                <a:gridCol w="896800"/>
              </a:tblGrid>
              <a:tr h="62000">
                <a:tc gridSpan="3">
                  <a:txBody>
                    <a:bodyPr/>
                    <a:lstStyle/>
                    <a:p>
                      <a:pPr indent="0" lvl="0" marL="0" rtl="0" algn="ctr">
                        <a:spcBef>
                          <a:spcPts val="0"/>
                        </a:spcBef>
                        <a:spcAft>
                          <a:spcPts val="0"/>
                        </a:spcAft>
                        <a:buNone/>
                      </a:pPr>
                      <a:r>
                        <a:rPr lang="en" sz="1000">
                          <a:solidFill>
                            <a:srgbClr val="434343"/>
                          </a:solidFill>
                        </a:rPr>
                        <a:t>Variable Table</a:t>
                      </a:r>
                      <a:endParaRPr sz="1000">
                        <a:solidFill>
                          <a:srgbClr val="434343"/>
                        </a:solidFill>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noFill/>
                  </a:tcPr>
                </a:tc>
                <a:tc hMerge="1"/>
                <a:tc hMerge="1"/>
              </a:tr>
              <a:tr h="62000">
                <a:tc>
                  <a:txBody>
                    <a:bodyPr/>
                    <a:lstStyle/>
                    <a:p>
                      <a:pPr indent="0" lvl="0" marL="0" rtl="0" algn="ctr">
                        <a:spcBef>
                          <a:spcPts val="0"/>
                        </a:spcBef>
                        <a:spcAft>
                          <a:spcPts val="0"/>
                        </a:spcAft>
                        <a:buNone/>
                      </a:pPr>
                      <a:r>
                        <a:rPr lang="en" sz="1000">
                          <a:solidFill>
                            <a:srgbClr val="FFFFFF"/>
                          </a:solidFill>
                        </a:rPr>
                        <a:t>Name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Type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Address</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62000">
                <a:tc>
                  <a:txBody>
                    <a:bodyPr/>
                    <a:lstStyle/>
                    <a:p>
                      <a:pPr indent="0" lvl="0" marL="0" rtl="0" algn="ctr">
                        <a:spcBef>
                          <a:spcPts val="0"/>
                        </a:spcBef>
                        <a:spcAft>
                          <a:spcPts val="0"/>
                        </a:spcAft>
                        <a:buNone/>
                      </a:pPr>
                      <a:r>
                        <a:t/>
                      </a:r>
                      <a:endParaRPr sz="10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62000">
                <a:tc>
                  <a:txBody>
                    <a:bodyPr/>
                    <a:lstStyle/>
                    <a:p>
                      <a:pPr indent="0" lvl="0" marL="0" rtl="0" algn="ctr">
                        <a:spcBef>
                          <a:spcPts val="0"/>
                        </a:spcBef>
                        <a:spcAft>
                          <a:spcPts val="0"/>
                        </a:spcAft>
                        <a:buNone/>
                      </a:pPr>
                      <a:r>
                        <a:t/>
                      </a:r>
                      <a:endParaRPr sz="10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graphicFrame>
        <p:nvGraphicFramePr>
          <p:cNvPr id="747" name="Google Shape;747;p92"/>
          <p:cNvGraphicFramePr/>
          <p:nvPr/>
        </p:nvGraphicFramePr>
        <p:xfrm>
          <a:off x="4369175" y="2844850"/>
          <a:ext cx="3000000" cy="3000000"/>
        </p:xfrm>
        <a:graphic>
          <a:graphicData uri="http://schemas.openxmlformats.org/drawingml/2006/table">
            <a:tbl>
              <a:tblPr>
                <a:noFill/>
                <a:tableStyleId>{BB7116F7-C15E-4CF7-A1A4-3F0B48A09751}</a:tableStyleId>
              </a:tblPr>
              <a:tblGrid>
                <a:gridCol w="1345200"/>
                <a:gridCol w="1345200"/>
              </a:tblGrid>
              <a:tr h="62000">
                <a:tc gridSpan="2">
                  <a:txBody>
                    <a:bodyPr/>
                    <a:lstStyle/>
                    <a:p>
                      <a:pPr indent="0" lvl="0" marL="0" rtl="0" algn="ctr">
                        <a:spcBef>
                          <a:spcPts val="0"/>
                        </a:spcBef>
                        <a:spcAft>
                          <a:spcPts val="0"/>
                        </a:spcAft>
                        <a:buNone/>
                      </a:pPr>
                      <a:r>
                        <a:rPr lang="en" sz="1000">
                          <a:solidFill>
                            <a:srgbClr val="434343"/>
                          </a:solidFill>
                        </a:rPr>
                        <a:t>Memory Table</a:t>
                      </a:r>
                      <a:endParaRPr sz="1000">
                        <a:solidFill>
                          <a:srgbClr val="434343"/>
                        </a:solidFill>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noFill/>
                  </a:tcPr>
                </a:tc>
                <a:tc hMerge="1"/>
              </a:tr>
              <a:tr h="62000">
                <a:tc>
                  <a:txBody>
                    <a:bodyPr/>
                    <a:lstStyle/>
                    <a:p>
                      <a:pPr indent="0" lvl="0" marL="0" rtl="0" algn="ctr">
                        <a:spcBef>
                          <a:spcPts val="0"/>
                        </a:spcBef>
                        <a:spcAft>
                          <a:spcPts val="0"/>
                        </a:spcAft>
                        <a:buNone/>
                      </a:pPr>
                      <a:r>
                        <a:rPr lang="en" sz="1000">
                          <a:solidFill>
                            <a:srgbClr val="FFFFFF"/>
                          </a:solidFill>
                        </a:rPr>
                        <a:t>Address</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Value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62000">
                <a:tc>
                  <a:txBody>
                    <a:bodyPr/>
                    <a:lstStyle/>
                    <a:p>
                      <a:pPr indent="0" lvl="0" marL="0" rtl="0" algn="ctr">
                        <a:spcBef>
                          <a:spcPts val="0"/>
                        </a:spcBef>
                        <a:spcAft>
                          <a:spcPts val="0"/>
                        </a:spcAft>
                        <a:buNone/>
                      </a:pPr>
                      <a:r>
                        <a:rPr lang="en" sz="1000">
                          <a:latin typeface="Consolas"/>
                          <a:ea typeface="Consolas"/>
                          <a:cs typeface="Consolas"/>
                          <a:sym typeface="Consolas"/>
                        </a:rPr>
                        <a:t>0x1000</a:t>
                      </a:r>
                      <a:endParaRPr sz="10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t/>
                      </a:r>
                      <a:endParaRPr sz="10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62000">
                <a:tc>
                  <a:txBody>
                    <a:bodyPr/>
                    <a:lstStyle/>
                    <a:p>
                      <a:pPr indent="0" lvl="0" marL="0" rtl="0" algn="ctr">
                        <a:spcBef>
                          <a:spcPts val="0"/>
                        </a:spcBef>
                        <a:spcAft>
                          <a:spcPts val="0"/>
                        </a:spcAft>
                        <a:buNone/>
                      </a:pPr>
                      <a:r>
                        <a:rPr lang="en" sz="1000">
                          <a:latin typeface="Consolas"/>
                          <a:ea typeface="Consolas"/>
                          <a:cs typeface="Consolas"/>
                          <a:sym typeface="Consolas"/>
                        </a:rPr>
                        <a:t>0x2000</a:t>
                      </a:r>
                      <a:endParaRPr sz="10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t/>
                      </a:r>
                      <a:endParaRPr sz="10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62000">
                <a:tc>
                  <a:txBody>
                    <a:bodyPr/>
                    <a:lstStyle/>
                    <a:p>
                      <a:pPr indent="0" lvl="0" marL="0" rtl="0" algn="ctr">
                        <a:spcBef>
                          <a:spcPts val="0"/>
                        </a:spcBef>
                        <a:spcAft>
                          <a:spcPts val="0"/>
                        </a:spcAft>
                        <a:buNone/>
                      </a:pPr>
                      <a:r>
                        <a:rPr lang="en" sz="1000">
                          <a:latin typeface="Consolas"/>
                          <a:ea typeface="Consolas"/>
                          <a:cs typeface="Consolas"/>
                          <a:sym typeface="Consolas"/>
                        </a:rPr>
                        <a:t>0x3000</a:t>
                      </a:r>
                      <a:endParaRPr sz="10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t/>
                      </a:r>
                      <a:endParaRPr sz="10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62000">
                <a:tc>
                  <a:txBody>
                    <a:bodyPr/>
                    <a:lstStyle/>
                    <a:p>
                      <a:pPr indent="0" lvl="0" marL="0" rtl="0" algn="ctr">
                        <a:spcBef>
                          <a:spcPts val="0"/>
                        </a:spcBef>
                        <a:spcAft>
                          <a:spcPts val="0"/>
                        </a:spcAft>
                        <a:buNone/>
                      </a:pPr>
                      <a:r>
                        <a:rPr lang="en" sz="1000">
                          <a:latin typeface="Consolas"/>
                          <a:ea typeface="Consolas"/>
                          <a:cs typeface="Consolas"/>
                          <a:sym typeface="Consolas"/>
                        </a:rPr>
                        <a:t>0x4000</a:t>
                      </a:r>
                      <a:endParaRPr sz="10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t/>
                      </a:r>
                      <a:endParaRPr sz="10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sp>
        <p:nvSpPr>
          <p:cNvPr id="748" name="Google Shape;748;p92"/>
          <p:cNvSpPr txBox="1"/>
          <p:nvPr/>
        </p:nvSpPr>
        <p:spPr>
          <a:xfrm>
            <a:off x="164875" y="1356009"/>
            <a:ext cx="40719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One way to visualize what is going on in a program is through the use of a </a:t>
            </a:r>
            <a:r>
              <a:rPr b="1" i="1" lang="en" sz="1200">
                <a:solidFill>
                  <a:srgbClr val="FF0000"/>
                </a:solidFill>
              </a:rPr>
              <a:t>memory map</a:t>
            </a:r>
            <a:r>
              <a:rPr lang="en" sz="1200"/>
              <a:t>.</a:t>
            </a:r>
            <a:endParaRPr sz="1200"/>
          </a:p>
        </p:txBody>
      </p:sp>
      <p:sp>
        <p:nvSpPr>
          <p:cNvPr id="749" name="Google Shape;749;p92"/>
          <p:cNvSpPr txBox="1"/>
          <p:nvPr/>
        </p:nvSpPr>
        <p:spPr>
          <a:xfrm>
            <a:off x="164875" y="2050184"/>
            <a:ext cx="40719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When a new </a:t>
            </a:r>
            <a:r>
              <a:rPr b="1" i="1" lang="en" sz="1200">
                <a:solidFill>
                  <a:srgbClr val="FF0000"/>
                </a:solidFill>
              </a:rPr>
              <a:t>reference type</a:t>
            </a:r>
            <a:r>
              <a:rPr lang="en" sz="1200"/>
              <a:t> is created, the Java Virtual Machine will allocate sufficient </a:t>
            </a:r>
            <a:r>
              <a:rPr b="1" i="1" lang="en" sz="1200">
                <a:solidFill>
                  <a:srgbClr val="FF0000"/>
                </a:solidFill>
              </a:rPr>
              <a:t>memory </a:t>
            </a:r>
            <a:r>
              <a:rPr lang="en" sz="1200"/>
              <a:t>to store the object and all of its fields.</a:t>
            </a:r>
            <a:endParaRPr sz="1200"/>
          </a:p>
        </p:txBody>
      </p:sp>
      <p:graphicFrame>
        <p:nvGraphicFramePr>
          <p:cNvPr id="750" name="Google Shape;750;p92"/>
          <p:cNvGraphicFramePr/>
          <p:nvPr/>
        </p:nvGraphicFramePr>
        <p:xfrm>
          <a:off x="4369175" y="1999614"/>
          <a:ext cx="3000000" cy="3000000"/>
        </p:xfrm>
        <a:graphic>
          <a:graphicData uri="http://schemas.openxmlformats.org/drawingml/2006/table">
            <a:tbl>
              <a:tblPr>
                <a:noFill/>
                <a:tableStyleId>{BB7116F7-C15E-4CF7-A1A4-3F0B48A09751}</a:tableStyleId>
              </a:tblPr>
              <a:tblGrid>
                <a:gridCol w="896800"/>
                <a:gridCol w="896800"/>
                <a:gridCol w="896800"/>
              </a:tblGrid>
              <a:tr h="62000">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player1</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Mage</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0x2000</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alpha val="0"/>
                        </a:srgbClr>
                      </a:solidFill>
                      <a:prstDash val="solid"/>
                      <a:round/>
                      <a:headEnd len="sm" w="sm" type="none"/>
                      <a:tailEnd len="sm" w="sm" type="none"/>
                    </a:lnB>
                    <a:noFill/>
                  </a:tcPr>
                </a:tc>
              </a:tr>
            </a:tbl>
          </a:graphicData>
        </a:graphic>
      </p:graphicFrame>
      <p:sp>
        <p:nvSpPr>
          <p:cNvPr id="751" name="Google Shape;751;p92"/>
          <p:cNvSpPr txBox="1"/>
          <p:nvPr/>
        </p:nvSpPr>
        <p:spPr>
          <a:xfrm>
            <a:off x="164875" y="2929159"/>
            <a:ext cx="40719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Each variable that refers</a:t>
            </a:r>
            <a:r>
              <a:rPr lang="en" sz="1200">
                <a:solidFill>
                  <a:srgbClr val="FF0000"/>
                </a:solidFill>
              </a:rPr>
              <a:t> </a:t>
            </a:r>
            <a:r>
              <a:rPr lang="en" sz="1200"/>
              <a:t>to the object is stored as an entry in the </a:t>
            </a:r>
            <a:r>
              <a:rPr b="1" i="1" lang="en" sz="1200">
                <a:solidFill>
                  <a:srgbClr val="FF0000"/>
                </a:solidFill>
              </a:rPr>
              <a:t>variable table</a:t>
            </a:r>
            <a:r>
              <a:rPr lang="en" sz="1200">
                <a:solidFill>
                  <a:srgbClr val="FF0000"/>
                </a:solidFill>
              </a:rPr>
              <a:t> </a:t>
            </a:r>
            <a:r>
              <a:rPr lang="en" sz="1200"/>
              <a:t>including its </a:t>
            </a:r>
            <a:r>
              <a:rPr b="1" i="1" lang="en" sz="1200">
                <a:solidFill>
                  <a:srgbClr val="FF0000"/>
                </a:solidFill>
              </a:rPr>
              <a:t>name</a:t>
            </a:r>
            <a:r>
              <a:rPr lang="en" sz="1200"/>
              <a:t>, </a:t>
            </a:r>
            <a:r>
              <a:rPr b="1" i="1" lang="en" sz="1200">
                <a:solidFill>
                  <a:srgbClr val="FF0000"/>
                </a:solidFill>
              </a:rPr>
              <a:t>type</a:t>
            </a:r>
            <a:r>
              <a:rPr lang="en" sz="1200"/>
              <a:t>, and it's </a:t>
            </a:r>
            <a:r>
              <a:rPr b="1" i="1" lang="en" sz="1200">
                <a:solidFill>
                  <a:srgbClr val="FF0000"/>
                </a:solidFill>
              </a:rPr>
              <a:t>address</a:t>
            </a:r>
            <a:r>
              <a:rPr lang="en" sz="1200"/>
              <a:t> in memory. Note that the value being stored is the address of the object to which the variable refers.</a:t>
            </a:r>
            <a:endParaRPr sz="1200"/>
          </a:p>
        </p:txBody>
      </p:sp>
      <p:graphicFrame>
        <p:nvGraphicFramePr>
          <p:cNvPr id="752" name="Google Shape;752;p92"/>
          <p:cNvGraphicFramePr/>
          <p:nvPr/>
        </p:nvGraphicFramePr>
        <p:xfrm>
          <a:off x="7369075" y="1748800"/>
          <a:ext cx="3000000" cy="3000000"/>
        </p:xfrm>
        <a:graphic>
          <a:graphicData uri="http://schemas.openxmlformats.org/drawingml/2006/table">
            <a:tbl>
              <a:tblPr>
                <a:noFill/>
                <a:tableStyleId>{BB7116F7-C15E-4CF7-A1A4-3F0B48A09751}</a:tableStyleId>
              </a:tblPr>
              <a:tblGrid>
                <a:gridCol w="1598025"/>
              </a:tblGrid>
              <a:tr h="166500">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Mage</a:t>
                      </a:r>
                      <a:endParaRPr sz="1000">
                        <a:solidFill>
                          <a:srgbClr val="FF0000"/>
                        </a:solidFill>
                        <a:latin typeface="Consolas"/>
                        <a:ea typeface="Consolas"/>
                        <a:cs typeface="Consolas"/>
                        <a:sym typeface="Consolas"/>
                      </a:endParaRPr>
                    </a:p>
                  </a:txBody>
                  <a:tcPr marT="91425" marB="91425" marR="91425" marL="91425">
                    <a:lnL cap="flat" cmpd="sng" w="19050">
                      <a:solidFill>
                        <a:srgbClr val="FF0000"/>
                      </a:solidFill>
                      <a:prstDash val="solid"/>
                      <a:round/>
                      <a:headEnd len="sm" w="sm" type="none"/>
                      <a:tailEnd len="sm" w="sm" type="none"/>
                    </a:lnL>
                    <a:lnR cap="flat" cmpd="sng" w="19050">
                      <a:solidFill>
                        <a:srgbClr val="FF0000"/>
                      </a:solidFill>
                      <a:prstDash val="solid"/>
                      <a:round/>
                      <a:headEnd len="sm" w="sm" type="none"/>
                      <a:tailEnd len="sm" w="sm" type="none"/>
                    </a:lnR>
                    <a:lnT cap="flat" cmpd="sng" w="19050">
                      <a:solidFill>
                        <a:srgbClr val="FF0000"/>
                      </a:solidFill>
                      <a:prstDash val="solid"/>
                      <a:round/>
                      <a:headEnd len="sm" w="sm" type="none"/>
                      <a:tailEnd len="sm" w="sm" type="none"/>
                    </a:lnT>
                    <a:lnB cap="flat" cmpd="sng" w="19050">
                      <a:solidFill>
                        <a:srgbClr val="FF0000"/>
                      </a:solidFill>
                      <a:prstDash val="solid"/>
                      <a:round/>
                      <a:headEnd len="sm" w="sm" type="none"/>
                      <a:tailEnd len="sm" w="sm" type="none"/>
                    </a:lnB>
                    <a:noFill/>
                  </a:tcPr>
                </a:tc>
              </a:tr>
              <a:tr h="166500">
                <a:tc>
                  <a:txBody>
                    <a:bodyPr/>
                    <a:lstStyle/>
                    <a:p>
                      <a:pPr indent="0" lvl="0" marL="0" rtl="0" algn="l">
                        <a:spcBef>
                          <a:spcPts val="0"/>
                        </a:spcBef>
                        <a:spcAft>
                          <a:spcPts val="0"/>
                        </a:spcAft>
                        <a:buNone/>
                      </a:pPr>
                      <a:r>
                        <a:rPr lang="en" sz="1000">
                          <a:solidFill>
                            <a:srgbClr val="FF0000"/>
                          </a:solidFill>
                          <a:latin typeface="Consolas"/>
                          <a:ea typeface="Consolas"/>
                          <a:cs typeface="Consolas"/>
                          <a:sym typeface="Consolas"/>
                        </a:rPr>
                        <a:t>name: "Hairy Potter"</a:t>
                      </a:r>
                      <a:endParaRPr sz="1000">
                        <a:solidFill>
                          <a:srgbClr val="FF0000"/>
                        </a:solidFill>
                        <a:latin typeface="Consolas"/>
                        <a:ea typeface="Consolas"/>
                        <a:cs typeface="Consolas"/>
                        <a:sym typeface="Consolas"/>
                      </a:endParaRPr>
                    </a:p>
                    <a:p>
                      <a:pPr indent="0" lvl="0" marL="0" rtl="0" algn="l">
                        <a:spcBef>
                          <a:spcPts val="0"/>
                        </a:spcBef>
                        <a:spcAft>
                          <a:spcPts val="0"/>
                        </a:spcAft>
                        <a:buNone/>
                      </a:pPr>
                      <a:r>
                        <a:rPr lang="en" sz="1000">
                          <a:solidFill>
                            <a:srgbClr val="FF0000"/>
                          </a:solidFill>
                          <a:latin typeface="Consolas"/>
                          <a:ea typeface="Consolas"/>
                          <a:cs typeface="Consolas"/>
                          <a:sym typeface="Consolas"/>
                        </a:rPr>
                        <a:t>maxHP(): 120</a:t>
                      </a:r>
                      <a:endParaRPr sz="1000">
                        <a:solidFill>
                          <a:srgbClr val="FF0000"/>
                        </a:solidFill>
                        <a:latin typeface="Consolas"/>
                        <a:ea typeface="Consolas"/>
                        <a:cs typeface="Consolas"/>
                        <a:sym typeface="Consolas"/>
                      </a:endParaRPr>
                    </a:p>
                    <a:p>
                      <a:pPr indent="0" lvl="0" marL="0" rtl="0" algn="l">
                        <a:spcBef>
                          <a:spcPts val="0"/>
                        </a:spcBef>
                        <a:spcAft>
                          <a:spcPts val="0"/>
                        </a:spcAft>
                        <a:buNone/>
                      </a:pPr>
                      <a:r>
                        <a:rPr lang="en" sz="1000">
                          <a:solidFill>
                            <a:srgbClr val="FF0000"/>
                          </a:solidFill>
                          <a:latin typeface="Consolas"/>
                          <a:ea typeface="Consolas"/>
                          <a:cs typeface="Consolas"/>
                          <a:sym typeface="Consolas"/>
                        </a:rPr>
                        <a:t>currentHP: 120</a:t>
                      </a:r>
                      <a:endParaRPr sz="1000">
                        <a:solidFill>
                          <a:srgbClr val="FF0000"/>
                        </a:solidFill>
                        <a:latin typeface="Consolas"/>
                        <a:ea typeface="Consolas"/>
                        <a:cs typeface="Consolas"/>
                        <a:sym typeface="Consolas"/>
                      </a:endParaRPr>
                    </a:p>
                  </a:txBody>
                  <a:tcPr marT="91425" marB="91425" marR="91425" marL="91425">
                    <a:lnL cap="flat" cmpd="sng" w="19050">
                      <a:solidFill>
                        <a:srgbClr val="FF0000"/>
                      </a:solidFill>
                      <a:prstDash val="solid"/>
                      <a:round/>
                      <a:headEnd len="sm" w="sm" type="none"/>
                      <a:tailEnd len="sm" w="sm" type="none"/>
                    </a:lnL>
                    <a:lnR cap="flat" cmpd="sng" w="19050">
                      <a:solidFill>
                        <a:srgbClr val="FF0000"/>
                      </a:solidFill>
                      <a:prstDash val="solid"/>
                      <a:round/>
                      <a:headEnd len="sm" w="sm" type="none"/>
                      <a:tailEnd len="sm" w="sm" type="none"/>
                    </a:lnR>
                    <a:lnT cap="flat" cmpd="sng" w="19050">
                      <a:solidFill>
                        <a:srgbClr val="FF0000"/>
                      </a:solidFill>
                      <a:prstDash val="solid"/>
                      <a:round/>
                      <a:headEnd len="sm" w="sm" type="none"/>
                      <a:tailEnd len="sm" w="sm" type="none"/>
                    </a:lnT>
                    <a:lnB cap="flat" cmpd="sng" w="19050">
                      <a:solidFill>
                        <a:srgbClr val="FF0000"/>
                      </a:solidFill>
                      <a:prstDash val="solid"/>
                      <a:round/>
                      <a:headEnd len="sm" w="sm" type="none"/>
                      <a:tailEnd len="sm" w="sm" type="none"/>
                    </a:lnB>
                    <a:noFill/>
                  </a:tcPr>
                </a:tc>
              </a:tr>
              <a:tr h="166500">
                <a:tc>
                  <a:txBody>
                    <a:bodyPr/>
                    <a:lstStyle/>
                    <a:p>
                      <a:pPr indent="0" lvl="0" marL="0" rtl="0" algn="l">
                        <a:spcBef>
                          <a:spcPts val="0"/>
                        </a:spcBef>
                        <a:spcAft>
                          <a:spcPts val="0"/>
                        </a:spcAft>
                        <a:buNone/>
                      </a:pPr>
                      <a:r>
                        <a:rPr lang="en" sz="1000">
                          <a:solidFill>
                            <a:srgbClr val="FF0000"/>
                          </a:solidFill>
                          <a:latin typeface="Consolas"/>
                          <a:ea typeface="Consolas"/>
                          <a:cs typeface="Consolas"/>
                          <a:sym typeface="Consolas"/>
                        </a:rPr>
                        <a:t>getName()</a:t>
                      </a:r>
                      <a:endParaRPr sz="1000">
                        <a:solidFill>
                          <a:srgbClr val="FF0000"/>
                        </a:solidFill>
                        <a:latin typeface="Consolas"/>
                        <a:ea typeface="Consolas"/>
                        <a:cs typeface="Consolas"/>
                        <a:sym typeface="Consolas"/>
                      </a:endParaRPr>
                    </a:p>
                    <a:p>
                      <a:pPr indent="0" lvl="0" marL="0" rtl="0" algn="l">
                        <a:spcBef>
                          <a:spcPts val="0"/>
                        </a:spcBef>
                        <a:spcAft>
                          <a:spcPts val="0"/>
                        </a:spcAft>
                        <a:buNone/>
                      </a:pPr>
                      <a:r>
                        <a:rPr lang="en" sz="1000">
                          <a:solidFill>
                            <a:srgbClr val="FF0000"/>
                          </a:solidFill>
                          <a:latin typeface="Consolas"/>
                          <a:ea typeface="Consolas"/>
                          <a:cs typeface="Consolas"/>
                          <a:sym typeface="Consolas"/>
                        </a:rPr>
                        <a:t>toString()</a:t>
                      </a:r>
                      <a:endParaRPr sz="1000">
                        <a:solidFill>
                          <a:srgbClr val="FF0000"/>
                        </a:solidFill>
                        <a:latin typeface="Consolas"/>
                        <a:ea typeface="Consolas"/>
                        <a:cs typeface="Consolas"/>
                        <a:sym typeface="Consolas"/>
                      </a:endParaRPr>
                    </a:p>
                  </a:txBody>
                  <a:tcPr marT="91425" marB="91425" marR="91425" marL="91425">
                    <a:lnL cap="flat" cmpd="sng" w="19050">
                      <a:solidFill>
                        <a:srgbClr val="FF0000"/>
                      </a:solidFill>
                      <a:prstDash val="solid"/>
                      <a:round/>
                      <a:headEnd len="sm" w="sm" type="none"/>
                      <a:tailEnd len="sm" w="sm" type="none"/>
                    </a:lnL>
                    <a:lnR cap="flat" cmpd="sng" w="19050">
                      <a:solidFill>
                        <a:srgbClr val="FF0000"/>
                      </a:solidFill>
                      <a:prstDash val="solid"/>
                      <a:round/>
                      <a:headEnd len="sm" w="sm" type="none"/>
                      <a:tailEnd len="sm" w="sm" type="none"/>
                    </a:lnR>
                    <a:lnT cap="flat" cmpd="sng" w="19050">
                      <a:solidFill>
                        <a:srgbClr val="FF0000"/>
                      </a:solidFill>
                      <a:prstDash val="solid"/>
                      <a:round/>
                      <a:headEnd len="sm" w="sm" type="none"/>
                      <a:tailEnd len="sm" w="sm" type="none"/>
                    </a:lnT>
                    <a:lnB cap="flat" cmpd="sng" w="19050">
                      <a:solidFill>
                        <a:srgbClr val="FF0000"/>
                      </a:solidFill>
                      <a:prstDash val="solid"/>
                      <a:round/>
                      <a:headEnd len="sm" w="sm" type="none"/>
                      <a:tailEnd len="sm" w="sm" type="none"/>
                    </a:lnB>
                    <a:noFill/>
                  </a:tcPr>
                </a:tc>
              </a:tr>
            </a:tbl>
          </a:graphicData>
        </a:graphic>
      </p:graphicFrame>
      <p:sp>
        <p:nvSpPr>
          <p:cNvPr id="753" name="Google Shape;753;p92"/>
          <p:cNvSpPr/>
          <p:nvPr/>
        </p:nvSpPr>
        <p:spPr>
          <a:xfrm>
            <a:off x="6557775" y="1949050"/>
            <a:ext cx="823250" cy="1716825"/>
          </a:xfrm>
          <a:custGeom>
            <a:rect b="b" l="l" r="r" t="t"/>
            <a:pathLst>
              <a:path extrusionOk="0" h="68673" w="32930">
                <a:moveTo>
                  <a:pt x="0" y="68673"/>
                </a:moveTo>
                <a:lnTo>
                  <a:pt x="27301" y="68673"/>
                </a:lnTo>
                <a:lnTo>
                  <a:pt x="27301" y="0"/>
                </a:lnTo>
                <a:lnTo>
                  <a:pt x="32930" y="0"/>
                </a:lnTo>
              </a:path>
            </a:pathLst>
          </a:custGeom>
          <a:noFill/>
          <a:ln cap="flat" cmpd="sng" w="19050">
            <a:solidFill>
              <a:srgbClr val="FF0000"/>
            </a:solidFill>
            <a:prstDash val="solid"/>
            <a:round/>
            <a:headEnd len="med" w="med" type="none"/>
            <a:tailEnd len="med" w="med" type="none"/>
          </a:ln>
        </p:spPr>
      </p:sp>
      <p:sp>
        <p:nvSpPr>
          <p:cNvPr id="754" name="Google Shape;754;p92"/>
          <p:cNvSpPr txBox="1"/>
          <p:nvPr/>
        </p:nvSpPr>
        <p:spPr>
          <a:xfrm>
            <a:off x="5714375" y="3850600"/>
            <a:ext cx="1345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FF0000"/>
                </a:solidFill>
                <a:latin typeface="Consolas"/>
                <a:ea typeface="Consolas"/>
                <a:cs typeface="Consolas"/>
                <a:sym typeface="Consolas"/>
              </a:rPr>
              <a:t>0x1000</a:t>
            </a:r>
            <a:endParaRPr sz="1200">
              <a:solidFill>
                <a:srgbClr val="FF0000"/>
              </a:solidFill>
              <a:latin typeface="Consolas"/>
              <a:ea typeface="Consolas"/>
              <a:cs typeface="Consolas"/>
              <a:sym typeface="Consolas"/>
            </a:endParaRPr>
          </a:p>
        </p:txBody>
      </p:sp>
      <p:sp>
        <p:nvSpPr>
          <p:cNvPr id="755" name="Google Shape;755;p92"/>
          <p:cNvSpPr txBox="1"/>
          <p:nvPr/>
        </p:nvSpPr>
        <p:spPr>
          <a:xfrm>
            <a:off x="164875" y="3992634"/>
            <a:ext cx="40719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It is the </a:t>
            </a:r>
            <a:r>
              <a:rPr b="1" i="1" lang="en" sz="1200">
                <a:solidFill>
                  <a:srgbClr val="FF0000"/>
                </a:solidFill>
              </a:rPr>
              <a:t>declared type</a:t>
            </a:r>
            <a:r>
              <a:rPr lang="en" sz="1200"/>
              <a:t> in the variable table that determines the state and behavior that is accessible through the reference, e.g. the </a:t>
            </a:r>
            <a:r>
              <a:rPr lang="en" sz="1200">
                <a:solidFill>
                  <a:srgbClr val="FF0000"/>
                </a:solidFill>
                <a:latin typeface="Courier New"/>
                <a:ea typeface="Courier New"/>
                <a:cs typeface="Courier New"/>
                <a:sym typeface="Courier New"/>
              </a:rPr>
              <a:t>Mage</a:t>
            </a:r>
            <a:r>
              <a:rPr lang="en" sz="1200"/>
              <a:t> class.</a:t>
            </a:r>
            <a:endParaRPr sz="1200"/>
          </a:p>
        </p:txBody>
      </p:sp>
      <p:sp>
        <p:nvSpPr>
          <p:cNvPr id="756" name="Google Shape;756;p92"/>
          <p:cNvSpPr/>
          <p:nvPr/>
        </p:nvSpPr>
        <p:spPr>
          <a:xfrm>
            <a:off x="5368650" y="2047561"/>
            <a:ext cx="675600" cy="246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9"/>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753"/>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7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1"/>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750"/>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7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7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0" name="Shape 760"/>
        <p:cNvGrpSpPr/>
        <p:nvPr/>
      </p:nvGrpSpPr>
      <p:grpSpPr>
        <a:xfrm>
          <a:off x="0" y="0"/>
          <a:ext cx="0" cy="0"/>
          <a:chOff x="0" y="0"/>
          <a:chExt cx="0" cy="0"/>
        </a:xfrm>
      </p:grpSpPr>
      <p:sp>
        <p:nvSpPr>
          <p:cNvPr id="761" name="Google Shape;761;p93"/>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a:t>
            </a:r>
            <a:endParaRPr/>
          </a:p>
        </p:txBody>
      </p:sp>
      <p:sp>
        <p:nvSpPr>
          <p:cNvPr id="762" name="Google Shape;762;p9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763" name="Google Shape;763;p93"/>
          <p:cNvGraphicFramePr/>
          <p:nvPr/>
        </p:nvGraphicFramePr>
        <p:xfrm>
          <a:off x="4369175" y="1320850"/>
          <a:ext cx="3000000" cy="3000000"/>
        </p:xfrm>
        <a:graphic>
          <a:graphicData uri="http://schemas.openxmlformats.org/drawingml/2006/table">
            <a:tbl>
              <a:tblPr>
                <a:noFill/>
                <a:tableStyleId>{BB7116F7-C15E-4CF7-A1A4-3F0B48A09751}</a:tableStyleId>
              </a:tblPr>
              <a:tblGrid>
                <a:gridCol w="896800"/>
                <a:gridCol w="896800"/>
                <a:gridCol w="896800"/>
              </a:tblGrid>
              <a:tr h="62000">
                <a:tc gridSpan="3">
                  <a:txBody>
                    <a:bodyPr/>
                    <a:lstStyle/>
                    <a:p>
                      <a:pPr indent="0" lvl="0" marL="0" rtl="0" algn="ctr">
                        <a:spcBef>
                          <a:spcPts val="0"/>
                        </a:spcBef>
                        <a:spcAft>
                          <a:spcPts val="0"/>
                        </a:spcAft>
                        <a:buNone/>
                      </a:pPr>
                      <a:r>
                        <a:rPr lang="en" sz="1000">
                          <a:solidFill>
                            <a:srgbClr val="434343"/>
                          </a:solidFill>
                        </a:rPr>
                        <a:t>Variable Table</a:t>
                      </a:r>
                      <a:endParaRPr sz="1000">
                        <a:solidFill>
                          <a:srgbClr val="434343"/>
                        </a:solidFill>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noFill/>
                  </a:tcPr>
                </a:tc>
                <a:tc hMerge="1"/>
                <a:tc hMerge="1"/>
              </a:tr>
              <a:tr h="62000">
                <a:tc>
                  <a:txBody>
                    <a:bodyPr/>
                    <a:lstStyle/>
                    <a:p>
                      <a:pPr indent="0" lvl="0" marL="0" rtl="0" algn="ctr">
                        <a:spcBef>
                          <a:spcPts val="0"/>
                        </a:spcBef>
                        <a:spcAft>
                          <a:spcPts val="0"/>
                        </a:spcAft>
                        <a:buNone/>
                      </a:pPr>
                      <a:r>
                        <a:rPr lang="en" sz="1000">
                          <a:solidFill>
                            <a:srgbClr val="FFFFFF"/>
                          </a:solidFill>
                        </a:rPr>
                        <a:t>Name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Type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Address</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62000">
                <a:tc>
                  <a:txBody>
                    <a:bodyPr/>
                    <a:lstStyle/>
                    <a:p>
                      <a:pPr indent="0" lvl="0" marL="0" rtl="0" algn="ctr">
                        <a:spcBef>
                          <a:spcPts val="0"/>
                        </a:spcBef>
                        <a:spcAft>
                          <a:spcPts val="0"/>
                        </a:spcAft>
                        <a:buNone/>
                      </a:pPr>
                      <a:r>
                        <a:t/>
                      </a:r>
                      <a:endParaRPr sz="10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62000">
                <a:tc>
                  <a:txBody>
                    <a:bodyPr/>
                    <a:lstStyle/>
                    <a:p>
                      <a:pPr indent="0" lvl="0" marL="0" rtl="0" algn="ctr">
                        <a:spcBef>
                          <a:spcPts val="0"/>
                        </a:spcBef>
                        <a:spcAft>
                          <a:spcPts val="0"/>
                        </a:spcAft>
                        <a:buNone/>
                      </a:pPr>
                      <a:r>
                        <a:t/>
                      </a:r>
                      <a:endParaRPr sz="10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graphicFrame>
        <p:nvGraphicFramePr>
          <p:cNvPr id="764" name="Google Shape;764;p93"/>
          <p:cNvGraphicFramePr/>
          <p:nvPr/>
        </p:nvGraphicFramePr>
        <p:xfrm>
          <a:off x="4369175" y="2844850"/>
          <a:ext cx="3000000" cy="3000000"/>
        </p:xfrm>
        <a:graphic>
          <a:graphicData uri="http://schemas.openxmlformats.org/drawingml/2006/table">
            <a:tbl>
              <a:tblPr>
                <a:noFill/>
                <a:tableStyleId>{BB7116F7-C15E-4CF7-A1A4-3F0B48A09751}</a:tableStyleId>
              </a:tblPr>
              <a:tblGrid>
                <a:gridCol w="1345200"/>
                <a:gridCol w="1345200"/>
              </a:tblGrid>
              <a:tr h="62000">
                <a:tc gridSpan="2">
                  <a:txBody>
                    <a:bodyPr/>
                    <a:lstStyle/>
                    <a:p>
                      <a:pPr indent="0" lvl="0" marL="0" rtl="0" algn="ctr">
                        <a:spcBef>
                          <a:spcPts val="0"/>
                        </a:spcBef>
                        <a:spcAft>
                          <a:spcPts val="0"/>
                        </a:spcAft>
                        <a:buNone/>
                      </a:pPr>
                      <a:r>
                        <a:rPr lang="en" sz="1000">
                          <a:solidFill>
                            <a:srgbClr val="434343"/>
                          </a:solidFill>
                        </a:rPr>
                        <a:t>Memory Table</a:t>
                      </a:r>
                      <a:endParaRPr sz="1000">
                        <a:solidFill>
                          <a:srgbClr val="434343"/>
                        </a:solidFill>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noFill/>
                  </a:tcPr>
                </a:tc>
                <a:tc hMerge="1"/>
              </a:tr>
              <a:tr h="62000">
                <a:tc>
                  <a:txBody>
                    <a:bodyPr/>
                    <a:lstStyle/>
                    <a:p>
                      <a:pPr indent="0" lvl="0" marL="0" rtl="0" algn="ctr">
                        <a:spcBef>
                          <a:spcPts val="0"/>
                        </a:spcBef>
                        <a:spcAft>
                          <a:spcPts val="0"/>
                        </a:spcAft>
                        <a:buNone/>
                      </a:pPr>
                      <a:r>
                        <a:rPr lang="en" sz="1000">
                          <a:solidFill>
                            <a:srgbClr val="FFFFFF"/>
                          </a:solidFill>
                        </a:rPr>
                        <a:t>Address</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Value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62000">
                <a:tc>
                  <a:txBody>
                    <a:bodyPr/>
                    <a:lstStyle/>
                    <a:p>
                      <a:pPr indent="0" lvl="0" marL="0" rtl="0" algn="ctr">
                        <a:spcBef>
                          <a:spcPts val="0"/>
                        </a:spcBef>
                        <a:spcAft>
                          <a:spcPts val="0"/>
                        </a:spcAft>
                        <a:buNone/>
                      </a:pPr>
                      <a:r>
                        <a:rPr lang="en" sz="1000">
                          <a:latin typeface="Consolas"/>
                          <a:ea typeface="Consolas"/>
                          <a:cs typeface="Consolas"/>
                          <a:sym typeface="Consolas"/>
                        </a:rPr>
                        <a:t>0x1000</a:t>
                      </a:r>
                      <a:endParaRPr sz="10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t/>
                      </a:r>
                      <a:endParaRPr sz="10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62000">
                <a:tc>
                  <a:txBody>
                    <a:bodyPr/>
                    <a:lstStyle/>
                    <a:p>
                      <a:pPr indent="0" lvl="0" marL="0" rtl="0" algn="ctr">
                        <a:spcBef>
                          <a:spcPts val="0"/>
                        </a:spcBef>
                        <a:spcAft>
                          <a:spcPts val="0"/>
                        </a:spcAft>
                        <a:buNone/>
                      </a:pPr>
                      <a:r>
                        <a:rPr lang="en" sz="1000">
                          <a:latin typeface="Consolas"/>
                          <a:ea typeface="Consolas"/>
                          <a:cs typeface="Consolas"/>
                          <a:sym typeface="Consolas"/>
                        </a:rPr>
                        <a:t>0x2000</a:t>
                      </a:r>
                      <a:endParaRPr sz="10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t/>
                      </a:r>
                      <a:endParaRPr sz="10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62000">
                <a:tc>
                  <a:txBody>
                    <a:bodyPr/>
                    <a:lstStyle/>
                    <a:p>
                      <a:pPr indent="0" lvl="0" marL="0" rtl="0" algn="ctr">
                        <a:spcBef>
                          <a:spcPts val="0"/>
                        </a:spcBef>
                        <a:spcAft>
                          <a:spcPts val="0"/>
                        </a:spcAft>
                        <a:buNone/>
                      </a:pPr>
                      <a:r>
                        <a:rPr lang="en" sz="1000">
                          <a:latin typeface="Consolas"/>
                          <a:ea typeface="Consolas"/>
                          <a:cs typeface="Consolas"/>
                          <a:sym typeface="Consolas"/>
                        </a:rPr>
                        <a:t>0x3000</a:t>
                      </a:r>
                      <a:endParaRPr sz="10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t/>
                      </a:r>
                      <a:endParaRPr sz="10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62000">
                <a:tc>
                  <a:txBody>
                    <a:bodyPr/>
                    <a:lstStyle/>
                    <a:p>
                      <a:pPr indent="0" lvl="0" marL="0" rtl="0" algn="ctr">
                        <a:spcBef>
                          <a:spcPts val="0"/>
                        </a:spcBef>
                        <a:spcAft>
                          <a:spcPts val="0"/>
                        </a:spcAft>
                        <a:buNone/>
                      </a:pPr>
                      <a:r>
                        <a:rPr lang="en" sz="1000">
                          <a:latin typeface="Consolas"/>
                          <a:ea typeface="Consolas"/>
                          <a:cs typeface="Consolas"/>
                          <a:sym typeface="Consolas"/>
                        </a:rPr>
                        <a:t>0x4000</a:t>
                      </a:r>
                      <a:endParaRPr sz="10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t/>
                      </a:r>
                      <a:endParaRPr sz="1000">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sp>
        <p:nvSpPr>
          <p:cNvPr id="765" name="Google Shape;765;p93"/>
          <p:cNvSpPr txBox="1"/>
          <p:nvPr/>
        </p:nvSpPr>
        <p:spPr>
          <a:xfrm>
            <a:off x="164875" y="1356009"/>
            <a:ext cx="40719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When the reference is passed in as the argument for a method parameter, a </a:t>
            </a:r>
            <a:r>
              <a:rPr b="1" i="1" lang="en" sz="1200">
                <a:solidFill>
                  <a:srgbClr val="FF0000"/>
                </a:solidFill>
              </a:rPr>
              <a:t>second</a:t>
            </a:r>
            <a:r>
              <a:rPr lang="en" sz="1200">
                <a:solidFill>
                  <a:srgbClr val="FF0000"/>
                </a:solidFill>
              </a:rPr>
              <a:t> </a:t>
            </a:r>
            <a:r>
              <a:rPr lang="en" sz="1200"/>
              <a:t>reference to the </a:t>
            </a:r>
            <a:r>
              <a:rPr b="1" i="1" lang="en" sz="1200">
                <a:solidFill>
                  <a:srgbClr val="FF0000"/>
                </a:solidFill>
              </a:rPr>
              <a:t>same</a:t>
            </a:r>
            <a:r>
              <a:rPr lang="en" sz="1200">
                <a:solidFill>
                  <a:srgbClr val="FF0000"/>
                </a:solidFill>
              </a:rPr>
              <a:t> </a:t>
            </a:r>
            <a:r>
              <a:rPr lang="en" sz="1200"/>
              <a:t>object is created. </a:t>
            </a:r>
            <a:endParaRPr sz="1200"/>
          </a:p>
        </p:txBody>
      </p:sp>
      <p:graphicFrame>
        <p:nvGraphicFramePr>
          <p:cNvPr id="766" name="Google Shape;766;p93"/>
          <p:cNvGraphicFramePr/>
          <p:nvPr/>
        </p:nvGraphicFramePr>
        <p:xfrm>
          <a:off x="4369175" y="1999614"/>
          <a:ext cx="3000000" cy="3000000"/>
        </p:xfrm>
        <a:graphic>
          <a:graphicData uri="http://schemas.openxmlformats.org/drawingml/2006/table">
            <a:tbl>
              <a:tblPr>
                <a:noFill/>
                <a:tableStyleId>{BB7116F7-C15E-4CF7-A1A4-3F0B48A09751}</a:tableStyleId>
              </a:tblPr>
              <a:tblGrid>
                <a:gridCol w="896800"/>
                <a:gridCol w="896800"/>
                <a:gridCol w="896800"/>
              </a:tblGrid>
              <a:tr h="62000">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player1</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Mage</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0x2000</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alpha val="0"/>
                        </a:srgbClr>
                      </a:solidFill>
                      <a:prstDash val="solid"/>
                      <a:round/>
                      <a:headEnd len="sm" w="sm" type="none"/>
                      <a:tailEnd len="sm" w="sm" type="none"/>
                    </a:lnB>
                    <a:noFill/>
                  </a:tcPr>
                </a:tc>
              </a:tr>
            </a:tbl>
          </a:graphicData>
        </a:graphic>
      </p:graphicFrame>
      <p:graphicFrame>
        <p:nvGraphicFramePr>
          <p:cNvPr id="767" name="Google Shape;767;p93"/>
          <p:cNvGraphicFramePr/>
          <p:nvPr/>
        </p:nvGraphicFramePr>
        <p:xfrm>
          <a:off x="7369075" y="1748800"/>
          <a:ext cx="3000000" cy="3000000"/>
        </p:xfrm>
        <a:graphic>
          <a:graphicData uri="http://schemas.openxmlformats.org/drawingml/2006/table">
            <a:tbl>
              <a:tblPr>
                <a:noFill/>
                <a:tableStyleId>{BB7116F7-C15E-4CF7-A1A4-3F0B48A09751}</a:tableStyleId>
              </a:tblPr>
              <a:tblGrid>
                <a:gridCol w="1598025"/>
              </a:tblGrid>
              <a:tr h="166500">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Mage</a:t>
                      </a:r>
                      <a:endParaRPr sz="1000">
                        <a:solidFill>
                          <a:srgbClr val="FF0000"/>
                        </a:solidFill>
                        <a:latin typeface="Consolas"/>
                        <a:ea typeface="Consolas"/>
                        <a:cs typeface="Consolas"/>
                        <a:sym typeface="Consolas"/>
                      </a:endParaRPr>
                    </a:p>
                  </a:txBody>
                  <a:tcPr marT="91425" marB="91425" marR="91425" marL="91425">
                    <a:lnL cap="flat" cmpd="sng" w="19050">
                      <a:solidFill>
                        <a:srgbClr val="FF0000"/>
                      </a:solidFill>
                      <a:prstDash val="solid"/>
                      <a:round/>
                      <a:headEnd len="sm" w="sm" type="none"/>
                      <a:tailEnd len="sm" w="sm" type="none"/>
                    </a:lnL>
                    <a:lnR cap="flat" cmpd="sng" w="19050">
                      <a:solidFill>
                        <a:srgbClr val="FF0000"/>
                      </a:solidFill>
                      <a:prstDash val="solid"/>
                      <a:round/>
                      <a:headEnd len="sm" w="sm" type="none"/>
                      <a:tailEnd len="sm" w="sm" type="none"/>
                    </a:lnR>
                    <a:lnT cap="flat" cmpd="sng" w="19050">
                      <a:solidFill>
                        <a:srgbClr val="FF0000"/>
                      </a:solidFill>
                      <a:prstDash val="solid"/>
                      <a:round/>
                      <a:headEnd len="sm" w="sm" type="none"/>
                      <a:tailEnd len="sm" w="sm" type="none"/>
                    </a:lnT>
                    <a:lnB cap="flat" cmpd="sng" w="19050">
                      <a:solidFill>
                        <a:srgbClr val="FF0000"/>
                      </a:solidFill>
                      <a:prstDash val="solid"/>
                      <a:round/>
                      <a:headEnd len="sm" w="sm" type="none"/>
                      <a:tailEnd len="sm" w="sm" type="none"/>
                    </a:lnB>
                    <a:noFill/>
                  </a:tcPr>
                </a:tc>
              </a:tr>
              <a:tr h="166500">
                <a:tc>
                  <a:txBody>
                    <a:bodyPr/>
                    <a:lstStyle/>
                    <a:p>
                      <a:pPr indent="0" lvl="0" marL="0" rtl="0" algn="l">
                        <a:spcBef>
                          <a:spcPts val="0"/>
                        </a:spcBef>
                        <a:spcAft>
                          <a:spcPts val="0"/>
                        </a:spcAft>
                        <a:buNone/>
                      </a:pPr>
                      <a:r>
                        <a:rPr lang="en" sz="1000">
                          <a:solidFill>
                            <a:srgbClr val="FF0000"/>
                          </a:solidFill>
                          <a:latin typeface="Consolas"/>
                          <a:ea typeface="Consolas"/>
                          <a:cs typeface="Consolas"/>
                          <a:sym typeface="Consolas"/>
                        </a:rPr>
                        <a:t>name: "Hairy Potter"</a:t>
                      </a:r>
                      <a:endParaRPr sz="1000">
                        <a:solidFill>
                          <a:srgbClr val="FF0000"/>
                        </a:solidFill>
                        <a:latin typeface="Consolas"/>
                        <a:ea typeface="Consolas"/>
                        <a:cs typeface="Consolas"/>
                        <a:sym typeface="Consolas"/>
                      </a:endParaRPr>
                    </a:p>
                    <a:p>
                      <a:pPr indent="0" lvl="0" marL="0" rtl="0" algn="l">
                        <a:spcBef>
                          <a:spcPts val="0"/>
                        </a:spcBef>
                        <a:spcAft>
                          <a:spcPts val="0"/>
                        </a:spcAft>
                        <a:buNone/>
                      </a:pPr>
                      <a:r>
                        <a:rPr lang="en" sz="1000">
                          <a:solidFill>
                            <a:srgbClr val="FF0000"/>
                          </a:solidFill>
                          <a:latin typeface="Consolas"/>
                          <a:ea typeface="Consolas"/>
                          <a:cs typeface="Consolas"/>
                          <a:sym typeface="Consolas"/>
                        </a:rPr>
                        <a:t>maxHP(): 120</a:t>
                      </a:r>
                      <a:endParaRPr sz="1000">
                        <a:solidFill>
                          <a:srgbClr val="FF0000"/>
                        </a:solidFill>
                        <a:latin typeface="Consolas"/>
                        <a:ea typeface="Consolas"/>
                        <a:cs typeface="Consolas"/>
                        <a:sym typeface="Consolas"/>
                      </a:endParaRPr>
                    </a:p>
                    <a:p>
                      <a:pPr indent="0" lvl="0" marL="0" rtl="0" algn="l">
                        <a:spcBef>
                          <a:spcPts val="0"/>
                        </a:spcBef>
                        <a:spcAft>
                          <a:spcPts val="0"/>
                        </a:spcAft>
                        <a:buNone/>
                      </a:pPr>
                      <a:r>
                        <a:rPr lang="en" sz="1000">
                          <a:solidFill>
                            <a:srgbClr val="FF0000"/>
                          </a:solidFill>
                          <a:latin typeface="Consolas"/>
                          <a:ea typeface="Consolas"/>
                          <a:cs typeface="Consolas"/>
                          <a:sym typeface="Consolas"/>
                        </a:rPr>
                        <a:t>currentHP: 120</a:t>
                      </a:r>
                      <a:endParaRPr sz="1000">
                        <a:solidFill>
                          <a:srgbClr val="FF0000"/>
                        </a:solidFill>
                        <a:latin typeface="Consolas"/>
                        <a:ea typeface="Consolas"/>
                        <a:cs typeface="Consolas"/>
                        <a:sym typeface="Consolas"/>
                      </a:endParaRPr>
                    </a:p>
                  </a:txBody>
                  <a:tcPr marT="91425" marB="91425" marR="91425" marL="91425">
                    <a:lnL cap="flat" cmpd="sng" w="19050">
                      <a:solidFill>
                        <a:srgbClr val="FF0000"/>
                      </a:solidFill>
                      <a:prstDash val="solid"/>
                      <a:round/>
                      <a:headEnd len="sm" w="sm" type="none"/>
                      <a:tailEnd len="sm" w="sm" type="none"/>
                    </a:lnL>
                    <a:lnR cap="flat" cmpd="sng" w="19050">
                      <a:solidFill>
                        <a:srgbClr val="FF0000"/>
                      </a:solidFill>
                      <a:prstDash val="solid"/>
                      <a:round/>
                      <a:headEnd len="sm" w="sm" type="none"/>
                      <a:tailEnd len="sm" w="sm" type="none"/>
                    </a:lnR>
                    <a:lnT cap="flat" cmpd="sng" w="19050">
                      <a:solidFill>
                        <a:srgbClr val="FF0000"/>
                      </a:solidFill>
                      <a:prstDash val="solid"/>
                      <a:round/>
                      <a:headEnd len="sm" w="sm" type="none"/>
                      <a:tailEnd len="sm" w="sm" type="none"/>
                    </a:lnT>
                    <a:lnB cap="flat" cmpd="sng" w="19050">
                      <a:solidFill>
                        <a:srgbClr val="FF0000"/>
                      </a:solidFill>
                      <a:prstDash val="solid"/>
                      <a:round/>
                      <a:headEnd len="sm" w="sm" type="none"/>
                      <a:tailEnd len="sm" w="sm" type="none"/>
                    </a:lnB>
                    <a:noFill/>
                  </a:tcPr>
                </a:tc>
              </a:tr>
              <a:tr h="166500">
                <a:tc>
                  <a:txBody>
                    <a:bodyPr/>
                    <a:lstStyle/>
                    <a:p>
                      <a:pPr indent="0" lvl="0" marL="0" rtl="0" algn="l">
                        <a:spcBef>
                          <a:spcPts val="0"/>
                        </a:spcBef>
                        <a:spcAft>
                          <a:spcPts val="0"/>
                        </a:spcAft>
                        <a:buNone/>
                      </a:pPr>
                      <a:r>
                        <a:rPr lang="en" sz="1000">
                          <a:solidFill>
                            <a:srgbClr val="FF0000"/>
                          </a:solidFill>
                          <a:latin typeface="Consolas"/>
                          <a:ea typeface="Consolas"/>
                          <a:cs typeface="Consolas"/>
                          <a:sym typeface="Consolas"/>
                        </a:rPr>
                        <a:t>getName()</a:t>
                      </a:r>
                      <a:endParaRPr sz="1000">
                        <a:solidFill>
                          <a:srgbClr val="FF0000"/>
                        </a:solidFill>
                        <a:latin typeface="Consolas"/>
                        <a:ea typeface="Consolas"/>
                        <a:cs typeface="Consolas"/>
                        <a:sym typeface="Consolas"/>
                      </a:endParaRPr>
                    </a:p>
                    <a:p>
                      <a:pPr indent="0" lvl="0" marL="0" rtl="0" algn="l">
                        <a:spcBef>
                          <a:spcPts val="0"/>
                        </a:spcBef>
                        <a:spcAft>
                          <a:spcPts val="0"/>
                        </a:spcAft>
                        <a:buNone/>
                      </a:pPr>
                      <a:r>
                        <a:rPr lang="en" sz="1000">
                          <a:solidFill>
                            <a:srgbClr val="FF0000"/>
                          </a:solidFill>
                          <a:latin typeface="Consolas"/>
                          <a:ea typeface="Consolas"/>
                          <a:cs typeface="Consolas"/>
                          <a:sym typeface="Consolas"/>
                        </a:rPr>
                        <a:t>toString()</a:t>
                      </a:r>
                      <a:endParaRPr sz="1000">
                        <a:solidFill>
                          <a:srgbClr val="FF0000"/>
                        </a:solidFill>
                        <a:latin typeface="Consolas"/>
                        <a:ea typeface="Consolas"/>
                        <a:cs typeface="Consolas"/>
                        <a:sym typeface="Consolas"/>
                      </a:endParaRPr>
                    </a:p>
                  </a:txBody>
                  <a:tcPr marT="91425" marB="91425" marR="91425" marL="91425">
                    <a:lnL cap="flat" cmpd="sng" w="19050">
                      <a:solidFill>
                        <a:srgbClr val="FF0000"/>
                      </a:solidFill>
                      <a:prstDash val="solid"/>
                      <a:round/>
                      <a:headEnd len="sm" w="sm" type="none"/>
                      <a:tailEnd len="sm" w="sm" type="none"/>
                    </a:lnL>
                    <a:lnR cap="flat" cmpd="sng" w="19050">
                      <a:solidFill>
                        <a:srgbClr val="FF0000"/>
                      </a:solidFill>
                      <a:prstDash val="solid"/>
                      <a:round/>
                      <a:headEnd len="sm" w="sm" type="none"/>
                      <a:tailEnd len="sm" w="sm" type="none"/>
                    </a:lnR>
                    <a:lnT cap="flat" cmpd="sng" w="19050">
                      <a:solidFill>
                        <a:srgbClr val="FF0000"/>
                      </a:solidFill>
                      <a:prstDash val="solid"/>
                      <a:round/>
                      <a:headEnd len="sm" w="sm" type="none"/>
                      <a:tailEnd len="sm" w="sm" type="none"/>
                    </a:lnT>
                    <a:lnB cap="flat" cmpd="sng" w="19050">
                      <a:solidFill>
                        <a:srgbClr val="FF0000"/>
                      </a:solidFill>
                      <a:prstDash val="solid"/>
                      <a:round/>
                      <a:headEnd len="sm" w="sm" type="none"/>
                      <a:tailEnd len="sm" w="sm" type="none"/>
                    </a:lnB>
                    <a:noFill/>
                  </a:tcPr>
                </a:tc>
              </a:tr>
            </a:tbl>
          </a:graphicData>
        </a:graphic>
      </p:graphicFrame>
      <p:sp>
        <p:nvSpPr>
          <p:cNvPr id="768" name="Google Shape;768;p93"/>
          <p:cNvSpPr/>
          <p:nvPr/>
        </p:nvSpPr>
        <p:spPr>
          <a:xfrm>
            <a:off x="6557775" y="1949050"/>
            <a:ext cx="823250" cy="1716825"/>
          </a:xfrm>
          <a:custGeom>
            <a:rect b="b" l="l" r="r" t="t"/>
            <a:pathLst>
              <a:path extrusionOk="0" h="68673" w="32930">
                <a:moveTo>
                  <a:pt x="0" y="68673"/>
                </a:moveTo>
                <a:lnTo>
                  <a:pt x="27301" y="68673"/>
                </a:lnTo>
                <a:lnTo>
                  <a:pt x="27301" y="0"/>
                </a:lnTo>
                <a:lnTo>
                  <a:pt x="32930" y="0"/>
                </a:lnTo>
              </a:path>
            </a:pathLst>
          </a:custGeom>
          <a:noFill/>
          <a:ln cap="flat" cmpd="sng" w="19050">
            <a:solidFill>
              <a:srgbClr val="FF0000"/>
            </a:solidFill>
            <a:prstDash val="solid"/>
            <a:round/>
            <a:headEnd len="med" w="med" type="none"/>
            <a:tailEnd len="med" w="med" type="none"/>
          </a:ln>
        </p:spPr>
      </p:sp>
      <p:sp>
        <p:nvSpPr>
          <p:cNvPr id="769" name="Google Shape;769;p93"/>
          <p:cNvSpPr txBox="1"/>
          <p:nvPr/>
        </p:nvSpPr>
        <p:spPr>
          <a:xfrm>
            <a:off x="5714375" y="3850600"/>
            <a:ext cx="1345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FF0000"/>
                </a:solidFill>
                <a:latin typeface="Consolas"/>
                <a:ea typeface="Consolas"/>
                <a:cs typeface="Consolas"/>
                <a:sym typeface="Consolas"/>
              </a:rPr>
              <a:t>0x1000</a:t>
            </a:r>
            <a:endParaRPr sz="1200">
              <a:solidFill>
                <a:srgbClr val="FF0000"/>
              </a:solidFill>
              <a:latin typeface="Consolas"/>
              <a:ea typeface="Consolas"/>
              <a:cs typeface="Consolas"/>
              <a:sym typeface="Consolas"/>
            </a:endParaRPr>
          </a:p>
        </p:txBody>
      </p:sp>
      <p:graphicFrame>
        <p:nvGraphicFramePr>
          <p:cNvPr id="770" name="Google Shape;770;p93"/>
          <p:cNvGraphicFramePr/>
          <p:nvPr/>
        </p:nvGraphicFramePr>
        <p:xfrm>
          <a:off x="4369175" y="2325523"/>
          <a:ext cx="3000000" cy="3000000"/>
        </p:xfrm>
        <a:graphic>
          <a:graphicData uri="http://schemas.openxmlformats.org/drawingml/2006/table">
            <a:tbl>
              <a:tblPr>
                <a:noFill/>
                <a:tableStyleId>{BB7116F7-C15E-4CF7-A1A4-3F0B48A09751}</a:tableStyleId>
              </a:tblPr>
              <a:tblGrid>
                <a:gridCol w="896800"/>
                <a:gridCol w="896800"/>
                <a:gridCol w="896800"/>
              </a:tblGrid>
              <a:tr h="62000">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goat1</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Goat</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0x3000</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alpha val="0"/>
                        </a:srgbClr>
                      </a:solidFill>
                      <a:prstDash val="solid"/>
                      <a:round/>
                      <a:headEnd len="sm" w="sm" type="none"/>
                      <a:tailEnd len="sm" w="sm" type="none"/>
                    </a:lnB>
                    <a:noFill/>
                  </a:tcPr>
                </a:tc>
              </a:tr>
            </a:tbl>
          </a:graphicData>
        </a:graphic>
      </p:graphicFrame>
      <p:sp>
        <p:nvSpPr>
          <p:cNvPr id="771" name="Google Shape;771;p93"/>
          <p:cNvSpPr txBox="1"/>
          <p:nvPr/>
        </p:nvSpPr>
        <p:spPr>
          <a:xfrm>
            <a:off x="5714375" y="4169473"/>
            <a:ext cx="1345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FF0000"/>
                </a:solidFill>
                <a:latin typeface="Consolas"/>
                <a:ea typeface="Consolas"/>
                <a:cs typeface="Consolas"/>
                <a:sym typeface="Consolas"/>
              </a:rPr>
              <a:t>0x1000</a:t>
            </a:r>
            <a:endParaRPr sz="1200">
              <a:solidFill>
                <a:srgbClr val="FF0000"/>
              </a:solidFill>
              <a:latin typeface="Consolas"/>
              <a:ea typeface="Consolas"/>
              <a:cs typeface="Consolas"/>
              <a:sym typeface="Consolas"/>
            </a:endParaRPr>
          </a:p>
        </p:txBody>
      </p:sp>
      <p:sp>
        <p:nvSpPr>
          <p:cNvPr id="772" name="Google Shape;772;p93"/>
          <p:cNvSpPr txBox="1"/>
          <p:nvPr/>
        </p:nvSpPr>
        <p:spPr>
          <a:xfrm>
            <a:off x="164875" y="2194209"/>
            <a:ext cx="40719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 type of the new reference is determined by the declared type of the parameter, e.g. the </a:t>
            </a:r>
            <a:r>
              <a:rPr lang="en" sz="1200">
                <a:solidFill>
                  <a:srgbClr val="FF0000"/>
                </a:solidFill>
                <a:latin typeface="Courier New"/>
                <a:ea typeface="Courier New"/>
                <a:cs typeface="Courier New"/>
                <a:sym typeface="Courier New"/>
              </a:rPr>
              <a:t>Goat</a:t>
            </a:r>
            <a:r>
              <a:rPr lang="en" sz="1200"/>
              <a:t> class.</a:t>
            </a:r>
            <a:endParaRPr sz="1200"/>
          </a:p>
        </p:txBody>
      </p:sp>
      <p:sp>
        <p:nvSpPr>
          <p:cNvPr id="773" name="Google Shape;773;p93"/>
          <p:cNvSpPr/>
          <p:nvPr/>
        </p:nvSpPr>
        <p:spPr>
          <a:xfrm>
            <a:off x="5368650" y="2373470"/>
            <a:ext cx="675600" cy="246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74" name="Google Shape;774;p93"/>
          <p:cNvSpPr txBox="1"/>
          <p:nvPr/>
        </p:nvSpPr>
        <p:spPr>
          <a:xfrm>
            <a:off x="164875" y="2847609"/>
            <a:ext cx="40719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Even though the actual object in memory is a </a:t>
            </a:r>
            <a:r>
              <a:rPr lang="en" sz="1200">
                <a:latin typeface="Courier New"/>
                <a:ea typeface="Courier New"/>
                <a:cs typeface="Courier New"/>
                <a:sym typeface="Courier New"/>
              </a:rPr>
              <a:t>Mage</a:t>
            </a:r>
            <a:r>
              <a:rPr lang="en" sz="1200"/>
              <a:t>, the </a:t>
            </a:r>
            <a:r>
              <a:rPr b="1" i="1" lang="en" sz="1200">
                <a:solidFill>
                  <a:srgbClr val="FF0000"/>
                </a:solidFill>
              </a:rPr>
              <a:t>reference type</a:t>
            </a:r>
            <a:r>
              <a:rPr lang="en" sz="1200"/>
              <a:t> (</a:t>
            </a:r>
            <a:r>
              <a:rPr lang="en" sz="1200">
                <a:latin typeface="Courier New"/>
                <a:ea typeface="Courier New"/>
                <a:cs typeface="Courier New"/>
                <a:sym typeface="Courier New"/>
              </a:rPr>
              <a:t>Goat</a:t>
            </a:r>
            <a:r>
              <a:rPr lang="en" sz="1200"/>
              <a:t>) determines the state and behavior that can be accessed through the parameter.</a:t>
            </a:r>
            <a:endParaRPr sz="1200"/>
          </a:p>
        </p:txBody>
      </p:sp>
      <p:sp>
        <p:nvSpPr>
          <p:cNvPr id="775" name="Google Shape;775;p93"/>
          <p:cNvSpPr txBox="1"/>
          <p:nvPr/>
        </p:nvSpPr>
        <p:spPr>
          <a:xfrm>
            <a:off x="164875" y="3685809"/>
            <a:ext cx="40719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Because the </a:t>
            </a:r>
            <a:r>
              <a:rPr lang="en" sz="1200">
                <a:latin typeface="Courier New"/>
                <a:ea typeface="Courier New"/>
                <a:cs typeface="Courier New"/>
                <a:sym typeface="Courier New"/>
              </a:rPr>
              <a:t>attack</a:t>
            </a:r>
            <a:r>
              <a:rPr lang="en" sz="1200"/>
              <a:t> and </a:t>
            </a:r>
            <a:r>
              <a:rPr lang="en" sz="1200">
                <a:latin typeface="Courier New"/>
                <a:ea typeface="Courier New"/>
                <a:cs typeface="Courier New"/>
                <a:sym typeface="Courier New"/>
              </a:rPr>
              <a:t>takeDamage</a:t>
            </a:r>
            <a:r>
              <a:rPr lang="en" sz="1200"/>
              <a:t> methods are defined in the </a:t>
            </a:r>
            <a:r>
              <a:rPr lang="en" sz="1200">
                <a:latin typeface="Courier New"/>
                <a:ea typeface="Courier New"/>
                <a:cs typeface="Courier New"/>
                <a:sym typeface="Courier New"/>
              </a:rPr>
              <a:t>Mage</a:t>
            </a:r>
            <a:r>
              <a:rPr lang="en" sz="1200"/>
              <a:t> class (and not the </a:t>
            </a:r>
            <a:r>
              <a:rPr lang="en" sz="1200">
                <a:latin typeface="Courier New"/>
                <a:ea typeface="Courier New"/>
                <a:cs typeface="Courier New"/>
                <a:sym typeface="Courier New"/>
              </a:rPr>
              <a:t>Goat</a:t>
            </a:r>
            <a:r>
              <a:rPr lang="en" sz="1200"/>
              <a:t> class), they cannot be used with a </a:t>
            </a:r>
            <a:r>
              <a:rPr lang="en" sz="1200">
                <a:latin typeface="Courier New"/>
                <a:ea typeface="Courier New"/>
                <a:cs typeface="Courier New"/>
                <a:sym typeface="Courier New"/>
              </a:rPr>
              <a:t>Goat</a:t>
            </a:r>
            <a:r>
              <a:rPr lang="en" sz="1200"/>
              <a:t> parameter.</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5"/>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70"/>
                                        </p:tgtEl>
                                        <p:attrNameLst>
                                          <p:attrName>style.visibility</p:attrName>
                                        </p:attrNameLst>
                                      </p:cBhvr>
                                      <p:to>
                                        <p:strVal val="visible"/>
                                      </p:to>
                                    </p:set>
                                    <p:animEffect filter="fade" transition="in">
                                      <p:cBhvr>
                                        <p:cTn dur="1000"/>
                                        <p:tgtEl>
                                          <p:spTgt spid="77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71"/>
                                        </p:tgtEl>
                                        <p:attrNameLst>
                                          <p:attrName>style.visibility</p:attrName>
                                        </p:attrNameLst>
                                      </p:cBhvr>
                                      <p:to>
                                        <p:strVal val="visible"/>
                                      </p:to>
                                    </p:set>
                                    <p:animEffect filter="fade" transition="in">
                                      <p:cBhvr>
                                        <p:cTn dur="1000"/>
                                        <p:tgtEl>
                                          <p:spTgt spid="7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2"/>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7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94"/>
          <p:cNvSpPr txBox="1"/>
          <p:nvPr>
            <p:ph idx="1" type="body"/>
          </p:nvPr>
        </p:nvSpPr>
        <p:spPr>
          <a:xfrm>
            <a:off x="65250" y="731625"/>
            <a:ext cx="89559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In order for </a:t>
            </a:r>
            <a:r>
              <a:rPr b="1" i="1" lang="en"/>
              <a:t>polymorphism</a:t>
            </a:r>
            <a:r>
              <a:rPr lang="en"/>
              <a:t> to work the way that we want it to, the </a:t>
            </a:r>
            <a:r>
              <a:rPr b="1" i="1" lang="en"/>
              <a:t>parent</a:t>
            </a:r>
            <a:r>
              <a:rPr lang="en"/>
              <a:t> class must define </a:t>
            </a:r>
            <a:r>
              <a:rPr b="1" i="1" lang="en"/>
              <a:t>all</a:t>
            </a:r>
            <a:r>
              <a:rPr lang="en"/>
              <a:t> of the methods that we want to use (even if those methods don't make a heck of a lot of sense). Let's "fix" the </a:t>
            </a:r>
            <a:r>
              <a:rPr lang="en">
                <a:latin typeface="Courier New"/>
                <a:ea typeface="Courier New"/>
                <a:cs typeface="Courier New"/>
                <a:sym typeface="Courier New"/>
              </a:rPr>
              <a:t>Goat</a:t>
            </a:r>
            <a:r>
              <a:rPr lang="en"/>
              <a:t> class so that it contains everything that we need for the specific goat types to battle each other.</a:t>
            </a:r>
            <a:endParaRPr/>
          </a:p>
        </p:txBody>
      </p:sp>
      <p:sp>
        <p:nvSpPr>
          <p:cNvPr id="781" name="Google Shape;781;p9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82" name="Google Shape;782;p94"/>
          <p:cNvSpPr txBox="1"/>
          <p:nvPr>
            <p:ph idx="2" type="body"/>
          </p:nvPr>
        </p:nvSpPr>
        <p:spPr>
          <a:xfrm>
            <a:off x="3892625" y="2089325"/>
            <a:ext cx="5048400" cy="25974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the "</a:t>
            </a:r>
            <a:r>
              <a:rPr lang="en" sz="1500">
                <a:latin typeface="Courier New"/>
                <a:ea typeface="Courier New"/>
                <a:cs typeface="Courier New"/>
                <a:sym typeface="Courier New"/>
              </a:rPr>
              <a:t>Goat</a:t>
            </a:r>
            <a:r>
              <a:rPr lang="en" sz="1500"/>
              <a:t>" class and stub out the missing methods.</a:t>
            </a:r>
            <a:endParaRPr sz="1500"/>
          </a:p>
          <a:p>
            <a:pPr indent="-311150" lvl="1" marL="914400" rtl="0" algn="l">
              <a:spcBef>
                <a:spcPts val="0"/>
              </a:spcBef>
              <a:spcAft>
                <a:spcPts val="0"/>
              </a:spcAft>
              <a:buSzPts val="1300"/>
              <a:buChar char="○"/>
            </a:pPr>
            <a:r>
              <a:rPr lang="en" sz="1300"/>
              <a:t>The </a:t>
            </a:r>
            <a:r>
              <a:rPr lang="en" sz="1300">
                <a:solidFill>
                  <a:srgbClr val="FF0000"/>
                </a:solidFill>
                <a:latin typeface="Courier New"/>
                <a:ea typeface="Courier New"/>
                <a:cs typeface="Courier New"/>
                <a:sym typeface="Courier New"/>
              </a:rPr>
              <a:t>attack()</a:t>
            </a:r>
            <a:r>
              <a:rPr lang="en" sz="1300"/>
              <a:t> method should just return </a:t>
            </a:r>
            <a:r>
              <a:rPr lang="en" sz="1300">
                <a:solidFill>
                  <a:srgbClr val="FF0000"/>
                </a:solidFill>
                <a:latin typeface="Courier New"/>
                <a:ea typeface="Courier New"/>
                <a:cs typeface="Courier New"/>
                <a:sym typeface="Courier New"/>
              </a:rPr>
              <a:t>null</a:t>
            </a:r>
            <a:r>
              <a:rPr lang="en" sz="1300"/>
              <a:t>.</a:t>
            </a:r>
            <a:endParaRPr sz="1300"/>
          </a:p>
          <a:p>
            <a:pPr indent="-311150" lvl="1" marL="914400" rtl="0" algn="l">
              <a:spcBef>
                <a:spcPts val="0"/>
              </a:spcBef>
              <a:spcAft>
                <a:spcPts val="0"/>
              </a:spcAft>
              <a:buSzPts val="1300"/>
              <a:buChar char="○"/>
            </a:pPr>
            <a:r>
              <a:rPr lang="en" sz="1300"/>
              <a:t>The </a:t>
            </a:r>
            <a:r>
              <a:rPr lang="en" sz="1300">
                <a:solidFill>
                  <a:srgbClr val="FF0000"/>
                </a:solidFill>
                <a:latin typeface="Courier New"/>
                <a:ea typeface="Courier New"/>
                <a:cs typeface="Courier New"/>
                <a:sym typeface="Courier New"/>
              </a:rPr>
              <a:t>takeDamage()</a:t>
            </a:r>
            <a:r>
              <a:rPr lang="en" sz="1300"/>
              <a:t> method should be </a:t>
            </a:r>
            <a:r>
              <a:rPr lang="en" sz="1300">
                <a:solidFill>
                  <a:srgbClr val="FF0000"/>
                </a:solidFill>
              </a:rPr>
              <a:t>empty</a:t>
            </a:r>
            <a:r>
              <a:rPr lang="en" sz="1300"/>
              <a:t>.</a:t>
            </a:r>
            <a:endParaRPr sz="1300"/>
          </a:p>
          <a:p>
            <a:pPr indent="-323850" lvl="0" marL="457200" rtl="0" algn="l">
              <a:spcBef>
                <a:spcPts val="0"/>
              </a:spcBef>
              <a:spcAft>
                <a:spcPts val="0"/>
              </a:spcAft>
              <a:buSzPts val="1500"/>
              <a:buChar char="●"/>
            </a:pPr>
            <a:r>
              <a:rPr lang="en" sz="1500"/>
              <a:t>Open your "</a:t>
            </a:r>
            <a:r>
              <a:rPr lang="en" sz="1500">
                <a:latin typeface="Courier New"/>
                <a:ea typeface="Courier New"/>
                <a:cs typeface="Courier New"/>
                <a:sym typeface="Courier New"/>
              </a:rPr>
              <a:t>GoatArena</a:t>
            </a:r>
            <a:r>
              <a:rPr lang="en" sz="1500"/>
              <a:t>" class. Are there any syntax errors?</a:t>
            </a:r>
            <a:endParaRPr sz="1500"/>
          </a:p>
          <a:p>
            <a:pPr indent="-311150" lvl="1" marL="914400" rtl="0" algn="l">
              <a:spcBef>
                <a:spcPts val="0"/>
              </a:spcBef>
              <a:spcAft>
                <a:spcPts val="0"/>
              </a:spcAft>
              <a:buSzPts val="1300"/>
              <a:buChar char="○"/>
            </a:pPr>
            <a:r>
              <a:rPr lang="en" sz="1300"/>
              <a:t>Modify the </a:t>
            </a:r>
            <a:r>
              <a:rPr lang="en" sz="1300">
                <a:latin typeface="Courier New"/>
                <a:ea typeface="Courier New"/>
                <a:cs typeface="Courier New"/>
                <a:sym typeface="Courier New"/>
              </a:rPr>
              <a:t>main</a:t>
            </a:r>
            <a:r>
              <a:rPr lang="en" sz="1300"/>
              <a:t> method to try battling different combinations of goats against each other.</a:t>
            </a:r>
            <a:endParaRPr sz="1300"/>
          </a:p>
          <a:p>
            <a:pPr indent="-311150" lvl="1" marL="914400" rtl="0" algn="l">
              <a:spcBef>
                <a:spcPts val="0"/>
              </a:spcBef>
              <a:spcAft>
                <a:spcPts val="0"/>
              </a:spcAft>
              <a:buSzPts val="1300"/>
              <a:buChar char="○"/>
            </a:pPr>
            <a:r>
              <a:rPr lang="en" sz="1300"/>
              <a:t>What happens if you try to pit a plain </a:t>
            </a:r>
            <a:r>
              <a:rPr lang="en" sz="1300">
                <a:latin typeface="Courier New"/>
                <a:ea typeface="Courier New"/>
                <a:cs typeface="Courier New"/>
                <a:sym typeface="Courier New"/>
              </a:rPr>
              <a:t>Goat</a:t>
            </a:r>
            <a:r>
              <a:rPr lang="en" sz="1300"/>
              <a:t> against another plain </a:t>
            </a:r>
            <a:r>
              <a:rPr lang="en" sz="1300">
                <a:latin typeface="Courier New"/>
                <a:ea typeface="Courier New"/>
                <a:cs typeface="Courier New"/>
                <a:sym typeface="Courier New"/>
              </a:rPr>
              <a:t>Goat</a:t>
            </a:r>
            <a:r>
              <a:rPr lang="en" sz="1300"/>
              <a:t>?</a:t>
            </a:r>
            <a:endParaRPr sz="1300"/>
          </a:p>
        </p:txBody>
      </p:sp>
      <p:sp>
        <p:nvSpPr>
          <p:cNvPr id="783" name="Google Shape;783;p9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Goat Fight Part 2</a:t>
            </a:r>
            <a:endParaRPr/>
          </a:p>
        </p:txBody>
      </p:sp>
      <p:sp>
        <p:nvSpPr>
          <p:cNvPr id="784" name="Google Shape;784;p9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3.15</a:t>
            </a:r>
            <a:endParaRPr/>
          </a:p>
        </p:txBody>
      </p:sp>
      <p:pic>
        <p:nvPicPr>
          <p:cNvPr id="785" name="Google Shape;785;p94"/>
          <p:cNvPicPr preferRelativeResize="0"/>
          <p:nvPr/>
        </p:nvPicPr>
        <p:blipFill>
          <a:blip r:embed="rId3">
            <a:alphaModFix/>
          </a:blip>
          <a:stretch>
            <a:fillRect/>
          </a:stretch>
        </p:blipFill>
        <p:spPr>
          <a:xfrm>
            <a:off x="152400" y="2067175"/>
            <a:ext cx="3500427" cy="1980499"/>
          </a:xfrm>
          <a:prstGeom prst="rect">
            <a:avLst/>
          </a:prstGeom>
          <a:noFill/>
          <a:ln cap="flat" cmpd="sng" w="19050">
            <a:solidFill>
              <a:schemeClr val="dk2"/>
            </a:solidFill>
            <a:prstDash val="solid"/>
            <a:round/>
            <a:headEnd len="sm" w="sm" type="none"/>
            <a:tailEnd len="sm" w="sm" type="none"/>
          </a:ln>
        </p:spPr>
      </p:pic>
      <p:sp>
        <p:nvSpPr>
          <p:cNvPr id="786" name="Google Shape;786;p94"/>
          <p:cNvSpPr txBox="1"/>
          <p:nvPr/>
        </p:nvSpPr>
        <p:spPr>
          <a:xfrm>
            <a:off x="146000" y="4153875"/>
            <a:ext cx="35004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Wow! One method that works with any kind of goat?</a:t>
            </a:r>
            <a:endParaRPr sz="1200"/>
          </a:p>
        </p:txBody>
      </p:sp>
      <p:pic>
        <p:nvPicPr>
          <p:cNvPr id="787" name="Google Shape;787;p94"/>
          <p:cNvPicPr preferRelativeResize="0"/>
          <p:nvPr/>
        </p:nvPicPr>
        <p:blipFill rotWithShape="1">
          <a:blip r:embed="rId4">
            <a:alphaModFix/>
          </a:blip>
          <a:srcRect b="0" l="0" r="0" t="0"/>
          <a:stretch/>
        </p:blipFill>
        <p:spPr>
          <a:xfrm flipH="1" rot="-915671">
            <a:off x="1911375" y="2648275"/>
            <a:ext cx="657050" cy="818300"/>
          </a:xfrm>
          <a:prstGeom prst="rect">
            <a:avLst/>
          </a:prstGeom>
          <a:noFill/>
          <a:ln>
            <a:noFill/>
          </a:ln>
        </p:spPr>
      </p:pic>
      <p:pic>
        <p:nvPicPr>
          <p:cNvPr id="788" name="Google Shape;788;p94"/>
          <p:cNvPicPr preferRelativeResize="0"/>
          <p:nvPr/>
        </p:nvPicPr>
        <p:blipFill rotWithShape="1">
          <a:blip r:embed="rId4">
            <a:alphaModFix/>
          </a:blip>
          <a:srcRect b="0" l="0" r="0" t="0"/>
          <a:stretch/>
        </p:blipFill>
        <p:spPr>
          <a:xfrm rot="915671">
            <a:off x="1062125" y="2648275"/>
            <a:ext cx="657050" cy="8183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9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New Goat Classes!</a:t>
            </a:r>
            <a:endParaRPr/>
          </a:p>
        </p:txBody>
      </p:sp>
      <p:sp>
        <p:nvSpPr>
          <p:cNvPr id="794" name="Google Shape;794;p95"/>
          <p:cNvSpPr txBox="1"/>
          <p:nvPr>
            <p:ph idx="4294967295" type="body"/>
          </p:nvPr>
        </p:nvSpPr>
        <p:spPr>
          <a:xfrm>
            <a:off x="3342550" y="1322250"/>
            <a:ext cx="5647800" cy="7851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a:solidFill>
                  <a:srgbClr val="000000"/>
                </a:solidFill>
              </a:rPr>
              <a:t>Take a few minutes to think about a Goat class that you would like to play in a game of GvT. If you can't think of one of your own, here are some suggestions.</a:t>
            </a:r>
            <a:endParaRPr sz="1400"/>
          </a:p>
        </p:txBody>
      </p:sp>
      <p:sp>
        <p:nvSpPr>
          <p:cNvPr id="795" name="Google Shape;795;p9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graphicFrame>
        <p:nvGraphicFramePr>
          <p:cNvPr id="796" name="Google Shape;796;p95"/>
          <p:cNvGraphicFramePr/>
          <p:nvPr/>
        </p:nvGraphicFramePr>
        <p:xfrm>
          <a:off x="3342550" y="2093775"/>
          <a:ext cx="3000000" cy="3000000"/>
        </p:xfrm>
        <a:graphic>
          <a:graphicData uri="http://schemas.openxmlformats.org/drawingml/2006/table">
            <a:tbl>
              <a:tblPr>
                <a:noFill/>
                <a:tableStyleId>{BB7116F7-C15E-4CF7-A1A4-3F0B48A09751}</a:tableStyleId>
              </a:tblPr>
              <a:tblGrid>
                <a:gridCol w="1346025"/>
                <a:gridCol w="1056350"/>
                <a:gridCol w="1635725"/>
                <a:gridCol w="1346025"/>
              </a:tblGrid>
              <a:tr h="495475">
                <a:tc>
                  <a:txBody>
                    <a:bodyPr/>
                    <a:lstStyle/>
                    <a:p>
                      <a:pPr indent="0" lvl="0" marL="0" rtl="0" algn="ctr">
                        <a:spcBef>
                          <a:spcPts val="0"/>
                        </a:spcBef>
                        <a:spcAft>
                          <a:spcPts val="0"/>
                        </a:spcAft>
                        <a:buNone/>
                      </a:pPr>
                      <a:r>
                        <a:rPr b="1" lang="en">
                          <a:solidFill>
                            <a:srgbClr val="FFFFFF"/>
                          </a:solidFill>
                        </a:rPr>
                        <a:t>Type</a:t>
                      </a:r>
                      <a:endParaRPr b="1">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a:solidFill>
                            <a:srgbClr val="FFFFFF"/>
                          </a:solidFill>
                        </a:rPr>
                        <a:t>Hit Points</a:t>
                      </a:r>
                      <a:endParaRPr b="1">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a:solidFill>
                            <a:srgbClr val="FFFFFF"/>
                          </a:solidFill>
                        </a:rPr>
                        <a:t>Attack </a:t>
                      </a:r>
                      <a:endParaRPr b="1">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a:solidFill>
                            <a:srgbClr val="FFFFFF"/>
                          </a:solidFill>
                        </a:rPr>
                        <a:t>Special</a:t>
                      </a:r>
                      <a:endParaRPr b="1">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1050900">
                <a:tc>
                  <a:txBody>
                    <a:bodyPr/>
                    <a:lstStyle/>
                    <a:p>
                      <a:pPr indent="0" lvl="0" marL="0" rtl="0" algn="ctr">
                        <a:spcBef>
                          <a:spcPts val="0"/>
                        </a:spcBef>
                        <a:spcAft>
                          <a:spcPts val="0"/>
                        </a:spcAft>
                        <a:buNone/>
                      </a:pPr>
                      <a:r>
                        <a:rPr lang="en"/>
                        <a:t>Thief</a:t>
                      </a:r>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
                        <a:t>125</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b="1" lang="en" sz="1200" u="sng"/>
                        <a:t>Stabbity-Stab</a:t>
                      </a:r>
                      <a:r>
                        <a:rPr lang="en" sz="1200" u="sng"/>
                        <a:t> </a:t>
                      </a:r>
                      <a:r>
                        <a:rPr lang="en" sz="1200"/>
                        <a:t>10-20 (Physical Damage) hits 1-3 times; each hit has a 25% chance to crit</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 sz="1200"/>
                        <a:t>-25% Poison Damage Taken</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050900">
                <a:tc>
                  <a:txBody>
                    <a:bodyPr/>
                    <a:lstStyle/>
                    <a:p>
                      <a:pPr indent="0" lvl="0" marL="0" rtl="0" algn="ctr">
                        <a:spcBef>
                          <a:spcPts val="0"/>
                        </a:spcBef>
                        <a:spcAft>
                          <a:spcPts val="0"/>
                        </a:spcAft>
                        <a:buNone/>
                      </a:pPr>
                      <a:r>
                        <a:rPr lang="en"/>
                        <a:t>Cleric</a:t>
                      </a:r>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
                        <a:t>125</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b="1" lang="en" sz="1200" u="sng"/>
                        <a:t>Bell, Book, &amp; Candle</a:t>
                      </a:r>
                      <a:r>
                        <a:rPr lang="en" sz="1200"/>
                        <a:t> </a:t>
                      </a:r>
                      <a:endParaRPr sz="1200"/>
                    </a:p>
                    <a:p>
                      <a:pPr indent="0" lvl="0" marL="0" rtl="0" algn="ctr">
                        <a:spcBef>
                          <a:spcPts val="0"/>
                        </a:spcBef>
                        <a:spcAft>
                          <a:spcPts val="0"/>
                        </a:spcAft>
                        <a:buNone/>
                      </a:pPr>
                      <a:r>
                        <a:rPr lang="en" sz="1200"/>
                        <a:t>15-25 (Holy Damage)</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 sz="1200"/>
                        <a:t>Holy Damage </a:t>
                      </a:r>
                      <a:r>
                        <a:rPr i="1" lang="en" sz="1200"/>
                        <a:t>heals</a:t>
                      </a:r>
                      <a:r>
                        <a:rPr lang="en" sz="1200"/>
                        <a:t> for 25%</a:t>
                      </a:r>
                      <a:endParaRPr sz="1200"/>
                    </a:p>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sp>
        <p:nvSpPr>
          <p:cNvPr id="797" name="Google Shape;797;p95"/>
          <p:cNvSpPr txBox="1"/>
          <p:nvPr/>
        </p:nvSpPr>
        <p:spPr>
          <a:xfrm>
            <a:off x="181225" y="4145399"/>
            <a:ext cx="30522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Let's see how flexible polymorphism </a:t>
            </a:r>
            <a:r>
              <a:rPr b="1" i="1" lang="en" sz="1200"/>
              <a:t>really</a:t>
            </a:r>
            <a:r>
              <a:rPr lang="en" sz="1200"/>
              <a:t> is </a:t>
            </a:r>
            <a:r>
              <a:rPr lang="en" sz="1200"/>
              <a:t>by</a:t>
            </a:r>
            <a:r>
              <a:rPr lang="en" sz="1200"/>
              <a:t> creating a couple more goat classes to battle in the arena!</a:t>
            </a:r>
            <a:endParaRPr sz="1200"/>
          </a:p>
        </p:txBody>
      </p:sp>
      <p:pic>
        <p:nvPicPr>
          <p:cNvPr id="798" name="Google Shape;798;p95"/>
          <p:cNvPicPr preferRelativeResize="0"/>
          <p:nvPr/>
        </p:nvPicPr>
        <p:blipFill>
          <a:blip r:embed="rId3">
            <a:alphaModFix/>
          </a:blip>
          <a:stretch>
            <a:fillRect/>
          </a:stretch>
        </p:blipFill>
        <p:spPr>
          <a:xfrm>
            <a:off x="3763625" y="2695810"/>
            <a:ext cx="447675" cy="685800"/>
          </a:xfrm>
          <a:prstGeom prst="rect">
            <a:avLst/>
          </a:prstGeom>
          <a:noFill/>
          <a:ln>
            <a:noFill/>
          </a:ln>
        </p:spPr>
      </p:pic>
      <p:pic>
        <p:nvPicPr>
          <p:cNvPr id="799" name="Google Shape;799;p95"/>
          <p:cNvPicPr preferRelativeResize="0"/>
          <p:nvPr/>
        </p:nvPicPr>
        <p:blipFill>
          <a:blip r:embed="rId4">
            <a:alphaModFix/>
          </a:blip>
          <a:stretch>
            <a:fillRect/>
          </a:stretch>
        </p:blipFill>
        <p:spPr>
          <a:xfrm>
            <a:off x="3749325" y="3737985"/>
            <a:ext cx="476250" cy="685800"/>
          </a:xfrm>
          <a:prstGeom prst="rect">
            <a:avLst/>
          </a:prstGeom>
          <a:noFill/>
          <a:ln>
            <a:noFill/>
          </a:ln>
        </p:spPr>
      </p:pic>
      <p:pic>
        <p:nvPicPr>
          <p:cNvPr id="800" name="Google Shape;800;p95"/>
          <p:cNvPicPr preferRelativeResize="0"/>
          <p:nvPr/>
        </p:nvPicPr>
        <p:blipFill>
          <a:blip r:embed="rId5">
            <a:alphaModFix/>
          </a:blip>
          <a:stretch>
            <a:fillRect/>
          </a:stretch>
        </p:blipFill>
        <p:spPr>
          <a:xfrm>
            <a:off x="181225" y="1398460"/>
            <a:ext cx="3052199" cy="2668315"/>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96"/>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Clr>
                <a:srgbClr val="000000"/>
              </a:buClr>
              <a:buSzPts val="1600"/>
              <a:buFont typeface="Arial"/>
              <a:buNone/>
            </a:pPr>
            <a:r>
              <a:rPr lang="en"/>
              <a:t>If we make a new class that </a:t>
            </a:r>
            <a:r>
              <a:rPr i="1" lang="en"/>
              <a:t>also</a:t>
            </a:r>
            <a:r>
              <a:rPr lang="en"/>
              <a:t> </a:t>
            </a:r>
            <a:r>
              <a:rPr lang="en">
                <a:latin typeface="Courier New"/>
                <a:ea typeface="Courier New"/>
                <a:cs typeface="Courier New"/>
                <a:sym typeface="Courier New"/>
              </a:rPr>
              <a:t>extends</a:t>
            </a:r>
            <a:r>
              <a:rPr lang="en"/>
              <a:t> </a:t>
            </a:r>
            <a:r>
              <a:rPr lang="en">
                <a:latin typeface="Courier New"/>
                <a:ea typeface="Courier New"/>
                <a:cs typeface="Courier New"/>
                <a:sym typeface="Courier New"/>
              </a:rPr>
              <a:t>Goat</a:t>
            </a:r>
            <a:r>
              <a:rPr lang="en"/>
              <a:t>, then </a:t>
            </a:r>
            <a:r>
              <a:rPr b="1" i="1" lang="en"/>
              <a:t>polymorphism</a:t>
            </a:r>
            <a:r>
              <a:rPr lang="en"/>
              <a:t> will allow us to send it to battle in the arena without needing to change any other code. AMAZING.</a:t>
            </a:r>
            <a:endParaRPr/>
          </a:p>
        </p:txBody>
      </p:sp>
      <p:sp>
        <p:nvSpPr>
          <p:cNvPr id="806" name="Google Shape;806;p9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07" name="Google Shape;807;p96"/>
          <p:cNvSpPr txBox="1"/>
          <p:nvPr>
            <p:ph idx="2" type="body"/>
          </p:nvPr>
        </p:nvSpPr>
        <p:spPr>
          <a:xfrm>
            <a:off x="2708325" y="1581125"/>
            <a:ext cx="6122700" cy="26460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Create a new Java class for your new Goat character type.</a:t>
            </a:r>
            <a:endParaRPr sz="1700"/>
          </a:p>
          <a:p>
            <a:pPr indent="-323850" lvl="1" marL="914400" rtl="0" algn="l">
              <a:spcBef>
                <a:spcPts val="0"/>
              </a:spcBef>
              <a:spcAft>
                <a:spcPts val="0"/>
              </a:spcAft>
              <a:buSzPts val="1500"/>
              <a:buChar char="○"/>
            </a:pPr>
            <a:r>
              <a:rPr lang="en" sz="1500"/>
              <a:t>Begin by extending </a:t>
            </a:r>
            <a:r>
              <a:rPr lang="en" sz="1500">
                <a:latin typeface="Courier New"/>
                <a:ea typeface="Courier New"/>
                <a:cs typeface="Courier New"/>
                <a:sym typeface="Courier New"/>
              </a:rPr>
              <a:t>Goat</a:t>
            </a:r>
            <a:r>
              <a:rPr lang="en" sz="1500"/>
              <a:t> right away.</a:t>
            </a:r>
            <a:endParaRPr sz="1500"/>
          </a:p>
          <a:p>
            <a:pPr indent="-323850" lvl="1" marL="914400" rtl="0" algn="l">
              <a:spcBef>
                <a:spcPts val="0"/>
              </a:spcBef>
              <a:spcAft>
                <a:spcPts val="0"/>
              </a:spcAft>
              <a:buSzPts val="1500"/>
              <a:buChar char="○"/>
            </a:pPr>
            <a:r>
              <a:rPr lang="en" sz="1500"/>
              <a:t>Add any fields, constants, and constructors.</a:t>
            </a:r>
            <a:endParaRPr sz="1500"/>
          </a:p>
          <a:p>
            <a:pPr indent="-323850" lvl="1" marL="914400" rtl="0" algn="l">
              <a:spcBef>
                <a:spcPts val="0"/>
              </a:spcBef>
              <a:spcAft>
                <a:spcPts val="0"/>
              </a:spcAft>
              <a:buSzPts val="1500"/>
              <a:buChar char="○"/>
            </a:pPr>
            <a:r>
              <a:rPr lang="en" sz="1500"/>
              <a:t>Implement at least the </a:t>
            </a:r>
            <a:r>
              <a:rPr lang="en" sz="1500">
                <a:latin typeface="Courier New"/>
                <a:ea typeface="Courier New"/>
                <a:cs typeface="Courier New"/>
                <a:sym typeface="Courier New"/>
              </a:rPr>
              <a:t>attack</a:t>
            </a:r>
            <a:r>
              <a:rPr lang="en" sz="1500"/>
              <a:t> and </a:t>
            </a:r>
            <a:r>
              <a:rPr lang="en" sz="1500">
                <a:latin typeface="Courier New"/>
                <a:ea typeface="Courier New"/>
                <a:cs typeface="Courier New"/>
                <a:sym typeface="Courier New"/>
              </a:rPr>
              <a:t>takeDamage</a:t>
            </a:r>
            <a:r>
              <a:rPr lang="en" sz="1500"/>
              <a:t> methods.</a:t>
            </a:r>
            <a:endParaRPr sz="1500"/>
          </a:p>
          <a:p>
            <a:pPr indent="-336550" lvl="0" marL="457200" rtl="0" algn="l">
              <a:spcBef>
                <a:spcPts val="0"/>
              </a:spcBef>
              <a:spcAft>
                <a:spcPts val="0"/>
              </a:spcAft>
              <a:buSzPts val="1700"/>
              <a:buChar char="●"/>
            </a:pPr>
            <a:r>
              <a:rPr lang="en" sz="1700"/>
              <a:t>Add a </a:t>
            </a:r>
            <a:r>
              <a:rPr lang="en" sz="1700">
                <a:latin typeface="Courier New"/>
                <a:ea typeface="Courier New"/>
                <a:cs typeface="Courier New"/>
                <a:sym typeface="Courier New"/>
              </a:rPr>
              <a:t>main</a:t>
            </a:r>
            <a:r>
              <a:rPr lang="en" sz="1700"/>
              <a:t> method with the appropriate signature.</a:t>
            </a:r>
            <a:endParaRPr sz="1700"/>
          </a:p>
          <a:p>
            <a:pPr indent="-323850" lvl="1" marL="914400" rtl="0" algn="l">
              <a:spcBef>
                <a:spcPts val="0"/>
              </a:spcBef>
              <a:spcAft>
                <a:spcPts val="0"/>
              </a:spcAft>
              <a:buSzPts val="1500"/>
              <a:buChar char="○"/>
            </a:pPr>
            <a:r>
              <a:rPr lang="en" sz="1500"/>
              <a:t>Create two instances of your new class.</a:t>
            </a:r>
            <a:endParaRPr sz="1500"/>
          </a:p>
          <a:p>
            <a:pPr indent="-323850" lvl="1" marL="914400" rtl="0" algn="l">
              <a:spcBef>
                <a:spcPts val="0"/>
              </a:spcBef>
              <a:spcAft>
                <a:spcPts val="0"/>
              </a:spcAft>
              <a:buSzPts val="1500"/>
              <a:buChar char="○"/>
            </a:pPr>
            <a:r>
              <a:rPr lang="en" sz="1500"/>
              <a:t>Print both to standard output.</a:t>
            </a:r>
            <a:endParaRPr sz="1500"/>
          </a:p>
        </p:txBody>
      </p:sp>
      <p:sp>
        <p:nvSpPr>
          <p:cNvPr id="808" name="Google Shape;808;p9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New Goat</a:t>
            </a:r>
            <a:endParaRPr/>
          </a:p>
        </p:txBody>
      </p:sp>
      <p:sp>
        <p:nvSpPr>
          <p:cNvPr id="809" name="Google Shape;809;p9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3.16</a:t>
            </a:r>
            <a:endParaRPr/>
          </a:p>
        </p:txBody>
      </p:sp>
      <p:pic>
        <p:nvPicPr>
          <p:cNvPr id="810" name="Google Shape;810;p96"/>
          <p:cNvPicPr preferRelativeResize="0"/>
          <p:nvPr/>
        </p:nvPicPr>
        <p:blipFill>
          <a:blip r:embed="rId3">
            <a:alphaModFix/>
          </a:blip>
          <a:stretch>
            <a:fillRect/>
          </a:stretch>
        </p:blipFill>
        <p:spPr>
          <a:xfrm>
            <a:off x="223275" y="1469725"/>
            <a:ext cx="2331875" cy="33578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97"/>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Your Goat Battle Arena should work with Goat or any of its subclasses. Experiment with different combinations of goat fighters. How many different Goat battles are possible?</a:t>
            </a:r>
            <a:endParaRPr/>
          </a:p>
        </p:txBody>
      </p:sp>
      <p:sp>
        <p:nvSpPr>
          <p:cNvPr id="816" name="Google Shape;816;p9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17" name="Google Shape;817;p97"/>
          <p:cNvSpPr txBox="1"/>
          <p:nvPr>
            <p:ph idx="2" type="body"/>
          </p:nvPr>
        </p:nvSpPr>
        <p:spPr>
          <a:xfrm>
            <a:off x="3764125" y="1609925"/>
            <a:ext cx="4947600" cy="13491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Open the "</a:t>
            </a:r>
            <a:r>
              <a:rPr lang="en" sz="1700">
                <a:latin typeface="Courier New"/>
                <a:ea typeface="Courier New"/>
                <a:cs typeface="Courier New"/>
                <a:sym typeface="Courier New"/>
              </a:rPr>
              <a:t>GoatArena</a:t>
            </a:r>
            <a:r>
              <a:rPr lang="en" sz="1700"/>
              <a:t>" and modify the </a:t>
            </a:r>
            <a:r>
              <a:rPr lang="en" sz="1700">
                <a:latin typeface="Courier New"/>
                <a:ea typeface="Courier New"/>
                <a:cs typeface="Courier New"/>
                <a:sym typeface="Courier New"/>
              </a:rPr>
              <a:t>main</a:t>
            </a:r>
            <a:r>
              <a:rPr lang="en" sz="1700"/>
              <a:t> to wage battles against any combination of Goats that you can think of.</a:t>
            </a:r>
            <a:endParaRPr sz="1700"/>
          </a:p>
          <a:p>
            <a:pPr indent="-336550" lvl="1" marL="914400" rtl="0" algn="l">
              <a:spcBef>
                <a:spcPts val="0"/>
              </a:spcBef>
              <a:spcAft>
                <a:spcPts val="0"/>
              </a:spcAft>
              <a:buSzPts val="1700"/>
              <a:buChar char="○"/>
            </a:pPr>
            <a:r>
              <a:rPr lang="en" sz="1700"/>
              <a:t>Do they all work?</a:t>
            </a:r>
            <a:endParaRPr sz="1700"/>
          </a:p>
        </p:txBody>
      </p:sp>
      <p:sp>
        <p:nvSpPr>
          <p:cNvPr id="818" name="Google Shape;818;p9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GOAT RUMBLE!</a:t>
            </a:r>
            <a:endParaRPr/>
          </a:p>
        </p:txBody>
      </p:sp>
      <p:sp>
        <p:nvSpPr>
          <p:cNvPr id="819" name="Google Shape;819;p9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3.17</a:t>
            </a:r>
            <a:endParaRPr/>
          </a:p>
        </p:txBody>
      </p:sp>
      <p:pic>
        <p:nvPicPr>
          <p:cNvPr id="820" name="Google Shape;820;p97"/>
          <p:cNvPicPr preferRelativeResize="0"/>
          <p:nvPr/>
        </p:nvPicPr>
        <p:blipFill>
          <a:blip r:embed="rId3">
            <a:alphaModFix/>
          </a:blip>
          <a:stretch>
            <a:fillRect/>
          </a:stretch>
        </p:blipFill>
        <p:spPr>
          <a:xfrm>
            <a:off x="152400" y="1609975"/>
            <a:ext cx="3500427" cy="1980499"/>
          </a:xfrm>
          <a:prstGeom prst="rect">
            <a:avLst/>
          </a:prstGeom>
          <a:noFill/>
          <a:ln cap="flat" cmpd="sng" w="19050">
            <a:solidFill>
              <a:schemeClr val="dk2"/>
            </a:solidFill>
            <a:prstDash val="solid"/>
            <a:round/>
            <a:headEnd len="sm" w="sm" type="none"/>
            <a:tailEnd len="sm" w="sm" type="none"/>
          </a:ln>
        </p:spPr>
      </p:pic>
      <p:sp>
        <p:nvSpPr>
          <p:cNvPr id="821" name="Google Shape;821;p97"/>
          <p:cNvSpPr txBox="1"/>
          <p:nvPr/>
        </p:nvSpPr>
        <p:spPr>
          <a:xfrm>
            <a:off x="146000" y="3696675"/>
            <a:ext cx="35004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Wow! One method that works with any kind of goat?</a:t>
            </a:r>
            <a:endParaRPr sz="1200"/>
          </a:p>
        </p:txBody>
      </p:sp>
      <p:pic>
        <p:nvPicPr>
          <p:cNvPr id="822" name="Google Shape;822;p97"/>
          <p:cNvPicPr preferRelativeResize="0"/>
          <p:nvPr/>
        </p:nvPicPr>
        <p:blipFill>
          <a:blip r:embed="rId4">
            <a:alphaModFix/>
          </a:blip>
          <a:stretch>
            <a:fillRect/>
          </a:stretch>
        </p:blipFill>
        <p:spPr>
          <a:xfrm rot="745858">
            <a:off x="1942200" y="1858476"/>
            <a:ext cx="591671" cy="852000"/>
          </a:xfrm>
          <a:prstGeom prst="rect">
            <a:avLst/>
          </a:prstGeom>
          <a:noFill/>
          <a:ln>
            <a:noFill/>
          </a:ln>
        </p:spPr>
      </p:pic>
      <p:pic>
        <p:nvPicPr>
          <p:cNvPr id="823" name="Google Shape;823;p97"/>
          <p:cNvPicPr preferRelativeResize="0"/>
          <p:nvPr/>
        </p:nvPicPr>
        <p:blipFill>
          <a:blip r:embed="rId5">
            <a:alphaModFix/>
          </a:blip>
          <a:stretch>
            <a:fillRect/>
          </a:stretch>
        </p:blipFill>
        <p:spPr>
          <a:xfrm flipH="1">
            <a:off x="1354175" y="2419360"/>
            <a:ext cx="476250" cy="685800"/>
          </a:xfrm>
          <a:prstGeom prst="rect">
            <a:avLst/>
          </a:prstGeom>
          <a:noFill/>
          <a:ln>
            <a:noFill/>
          </a:ln>
        </p:spPr>
      </p:pic>
      <p:pic>
        <p:nvPicPr>
          <p:cNvPr id="824" name="Google Shape;824;p97"/>
          <p:cNvPicPr preferRelativeResize="0"/>
          <p:nvPr/>
        </p:nvPicPr>
        <p:blipFill rotWithShape="1">
          <a:blip r:embed="rId6">
            <a:alphaModFix/>
          </a:blip>
          <a:srcRect b="0" l="0" r="0" t="0"/>
          <a:stretch/>
        </p:blipFill>
        <p:spPr>
          <a:xfrm flipH="1" rot="330910">
            <a:off x="1095716" y="2013642"/>
            <a:ext cx="545794" cy="785994"/>
          </a:xfrm>
          <a:prstGeom prst="rect">
            <a:avLst/>
          </a:prstGeom>
          <a:noFill/>
          <a:ln>
            <a:noFill/>
          </a:ln>
        </p:spPr>
      </p:pic>
      <p:pic>
        <p:nvPicPr>
          <p:cNvPr id="825" name="Google Shape;825;p97"/>
          <p:cNvPicPr preferRelativeResize="0"/>
          <p:nvPr/>
        </p:nvPicPr>
        <p:blipFill rotWithShape="1">
          <a:blip r:embed="rId7">
            <a:alphaModFix/>
          </a:blip>
          <a:srcRect b="0" l="0" r="0" t="0"/>
          <a:stretch/>
        </p:blipFill>
        <p:spPr>
          <a:xfrm flipH="1" rot="900000">
            <a:off x="738246" y="2349211"/>
            <a:ext cx="548700" cy="790139"/>
          </a:xfrm>
          <a:prstGeom prst="rect">
            <a:avLst/>
          </a:prstGeom>
          <a:noFill/>
          <a:ln>
            <a:noFill/>
          </a:ln>
        </p:spPr>
      </p:pic>
      <p:pic>
        <p:nvPicPr>
          <p:cNvPr id="826" name="Google Shape;826;p97"/>
          <p:cNvPicPr preferRelativeResize="0"/>
          <p:nvPr/>
        </p:nvPicPr>
        <p:blipFill>
          <a:blip r:embed="rId8">
            <a:alphaModFix/>
          </a:blip>
          <a:stretch>
            <a:fillRect/>
          </a:stretch>
        </p:blipFill>
        <p:spPr>
          <a:xfrm rot="527858">
            <a:off x="1844575" y="2434911"/>
            <a:ext cx="447675" cy="685800"/>
          </a:xfrm>
          <a:prstGeom prst="rect">
            <a:avLst/>
          </a:prstGeom>
          <a:noFill/>
          <a:ln>
            <a:noFill/>
          </a:ln>
        </p:spPr>
      </p:pic>
      <p:pic>
        <p:nvPicPr>
          <p:cNvPr id="827" name="Google Shape;827;p97"/>
          <p:cNvPicPr preferRelativeResize="0"/>
          <p:nvPr/>
        </p:nvPicPr>
        <p:blipFill rotWithShape="1">
          <a:blip r:embed="rId9">
            <a:alphaModFix/>
          </a:blip>
          <a:srcRect b="0" l="0" r="0" t="0"/>
          <a:stretch/>
        </p:blipFill>
        <p:spPr>
          <a:xfrm flipH="1" rot="-915692">
            <a:off x="2226926" y="2465694"/>
            <a:ext cx="498549" cy="62091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98"/>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33" name="Google Shape;833;p98"/>
          <p:cNvSpPr txBox="1"/>
          <p:nvPr>
            <p:ph type="title"/>
          </p:nvPr>
        </p:nvSpPr>
        <p:spPr>
          <a:xfrm>
            <a:off x="5112325" y="119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Abstract Classes</a:t>
            </a:r>
            <a:endParaRPr/>
          </a:p>
        </p:txBody>
      </p:sp>
      <p:sp>
        <p:nvSpPr>
          <p:cNvPr id="834" name="Google Shape;834;p98"/>
          <p:cNvSpPr txBox="1"/>
          <p:nvPr>
            <p:ph idx="2" type="body"/>
          </p:nvPr>
        </p:nvSpPr>
        <p:spPr>
          <a:xfrm>
            <a:off x="5112325" y="1752230"/>
            <a:ext cx="3706500" cy="6945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abstract</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AbstractParent</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abstract</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aMethod</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endParaRPr sz="1000">
              <a:solidFill>
                <a:srgbClr val="999999"/>
              </a:solidFill>
              <a:latin typeface="Consolas"/>
              <a:ea typeface="Consolas"/>
              <a:cs typeface="Consolas"/>
              <a:sym typeface="Consolas"/>
            </a:endParaRPr>
          </a:p>
        </p:txBody>
      </p:sp>
      <p:sp>
        <p:nvSpPr>
          <p:cNvPr id="835" name="Google Shape;835;p98"/>
          <p:cNvSpPr txBox="1"/>
          <p:nvPr>
            <p:ph idx="1" type="body"/>
          </p:nvPr>
        </p:nvSpPr>
        <p:spPr>
          <a:xfrm>
            <a:off x="90450" y="61050"/>
            <a:ext cx="4668900" cy="4836900"/>
          </a:xfrm>
          <a:prstGeom prst="rect">
            <a:avLst/>
          </a:prstGeom>
        </p:spPr>
        <p:txBody>
          <a:bodyPr anchorCtr="0" anchor="ctr" bIns="91425" lIns="91425" spcFirstLastPara="1" rIns="91425" wrap="square" tIns="91425">
            <a:noAutofit/>
          </a:bodyPr>
          <a:lstStyle/>
          <a:p>
            <a:pPr indent="-311150" lvl="0" marL="457200" rtl="0" algn="l">
              <a:lnSpc>
                <a:spcPct val="100000"/>
              </a:lnSpc>
              <a:spcBef>
                <a:spcPts val="0"/>
              </a:spcBef>
              <a:spcAft>
                <a:spcPts val="0"/>
              </a:spcAft>
              <a:buSzPts val="1300"/>
              <a:buChar char="●"/>
            </a:pPr>
            <a:r>
              <a:rPr lang="en"/>
              <a:t>So hopefully at this point you are beginning to grasp that </a:t>
            </a:r>
            <a:r>
              <a:rPr b="1" i="1" lang="en">
                <a:solidFill>
                  <a:srgbClr val="FF0000"/>
                </a:solidFill>
              </a:rPr>
              <a:t>polymorphism</a:t>
            </a:r>
            <a:r>
              <a:rPr lang="en">
                <a:solidFill>
                  <a:srgbClr val="FF0000"/>
                </a:solidFill>
              </a:rPr>
              <a:t> </a:t>
            </a:r>
            <a:r>
              <a:rPr lang="en"/>
              <a:t>is important because it allows us to write code </a:t>
            </a:r>
            <a:r>
              <a:rPr b="1" i="1" lang="en">
                <a:solidFill>
                  <a:srgbClr val="FF0000"/>
                </a:solidFill>
              </a:rPr>
              <a:t>once</a:t>
            </a:r>
            <a:r>
              <a:rPr lang="en">
                <a:solidFill>
                  <a:srgbClr val="FF0000"/>
                </a:solidFill>
              </a:rPr>
              <a:t> </a:t>
            </a:r>
            <a:r>
              <a:rPr lang="en"/>
              <a:t>that will work with lots of different objects as long as they are related by </a:t>
            </a:r>
            <a:r>
              <a:rPr lang="en">
                <a:solidFill>
                  <a:srgbClr val="FF0000"/>
                </a:solidFill>
              </a:rPr>
              <a:t>inheritance</a:t>
            </a:r>
            <a:r>
              <a:rPr lang="en"/>
              <a:t>.</a:t>
            </a:r>
            <a:endParaRPr/>
          </a:p>
          <a:p>
            <a:pPr indent="-311150" lvl="0" marL="457200" rtl="0" algn="l">
              <a:lnSpc>
                <a:spcPct val="100000"/>
              </a:lnSpc>
              <a:spcBef>
                <a:spcPts val="0"/>
              </a:spcBef>
              <a:spcAft>
                <a:spcPts val="0"/>
              </a:spcAft>
              <a:buSzPts val="1300"/>
              <a:buChar char="●"/>
            </a:pPr>
            <a:r>
              <a:rPr lang="en"/>
              <a:t>But this sometimes means that we have to add methods to a parent class that aren't very useful.</a:t>
            </a:r>
            <a:endParaRPr/>
          </a:p>
          <a:p>
            <a:pPr indent="-298450" lvl="1" marL="914400" rtl="0" algn="l">
              <a:lnSpc>
                <a:spcPct val="100000"/>
              </a:lnSpc>
              <a:spcBef>
                <a:spcPts val="0"/>
              </a:spcBef>
              <a:spcAft>
                <a:spcPts val="0"/>
              </a:spcAft>
              <a:buSzPts val="1100"/>
              <a:buChar char="○"/>
            </a:pPr>
            <a:r>
              <a:rPr lang="en"/>
              <a:t>For example, the </a:t>
            </a:r>
            <a:r>
              <a:rPr lang="en">
                <a:solidFill>
                  <a:srgbClr val="FF0000"/>
                </a:solidFill>
                <a:latin typeface="Courier New"/>
                <a:ea typeface="Courier New"/>
                <a:cs typeface="Courier New"/>
                <a:sym typeface="Courier New"/>
              </a:rPr>
              <a:t>attack()</a:t>
            </a:r>
            <a:r>
              <a:rPr lang="en"/>
              <a:t> and </a:t>
            </a:r>
            <a:r>
              <a:rPr lang="en">
                <a:solidFill>
                  <a:srgbClr val="FF0000"/>
                </a:solidFill>
                <a:latin typeface="Courier New"/>
                <a:ea typeface="Courier New"/>
                <a:cs typeface="Courier New"/>
                <a:sym typeface="Courier New"/>
              </a:rPr>
              <a:t>takeDamage()</a:t>
            </a:r>
            <a:r>
              <a:rPr lang="en"/>
              <a:t> methods in our </a:t>
            </a:r>
            <a:r>
              <a:rPr lang="en">
                <a:solidFill>
                  <a:srgbClr val="FF0000"/>
                </a:solidFill>
                <a:latin typeface="Courier New"/>
                <a:ea typeface="Courier New"/>
                <a:cs typeface="Courier New"/>
                <a:sym typeface="Courier New"/>
              </a:rPr>
              <a:t>Goat</a:t>
            </a:r>
            <a:r>
              <a:rPr lang="en"/>
              <a:t> class.</a:t>
            </a:r>
            <a:endParaRPr/>
          </a:p>
          <a:p>
            <a:pPr indent="-311150" lvl="0" marL="457200" rtl="0" algn="l">
              <a:lnSpc>
                <a:spcPct val="100000"/>
              </a:lnSpc>
              <a:spcBef>
                <a:spcPts val="0"/>
              </a:spcBef>
              <a:spcAft>
                <a:spcPts val="0"/>
              </a:spcAft>
              <a:buSzPts val="1300"/>
              <a:buChar char="●"/>
            </a:pPr>
            <a:r>
              <a:rPr lang="en"/>
              <a:t>In order to guarantee that the methods can be used through a variable of the parent's type, they must be </a:t>
            </a:r>
            <a:r>
              <a:rPr b="1" i="1" lang="en">
                <a:solidFill>
                  <a:srgbClr val="FF0000"/>
                </a:solidFill>
              </a:rPr>
              <a:t>defined</a:t>
            </a:r>
            <a:r>
              <a:rPr lang="en">
                <a:solidFill>
                  <a:srgbClr val="FF0000"/>
                </a:solidFill>
              </a:rPr>
              <a:t> </a:t>
            </a:r>
            <a:r>
              <a:rPr lang="en"/>
              <a:t>as part of the parent class.</a:t>
            </a:r>
            <a:endParaRPr/>
          </a:p>
          <a:p>
            <a:pPr indent="-311150" lvl="0" marL="457200" rtl="0" algn="l">
              <a:lnSpc>
                <a:spcPct val="100000"/>
              </a:lnSpc>
              <a:spcBef>
                <a:spcPts val="0"/>
              </a:spcBef>
              <a:spcAft>
                <a:spcPts val="0"/>
              </a:spcAft>
              <a:buSzPts val="1300"/>
              <a:buChar char="●"/>
            </a:pPr>
            <a:r>
              <a:rPr lang="en"/>
              <a:t>But the implementations are pointless and never used.</a:t>
            </a:r>
            <a:endParaRPr/>
          </a:p>
          <a:p>
            <a:pPr indent="-298450" lvl="1" marL="914400" rtl="0" algn="l">
              <a:lnSpc>
                <a:spcPct val="100000"/>
              </a:lnSpc>
              <a:spcBef>
                <a:spcPts val="0"/>
              </a:spcBef>
              <a:spcAft>
                <a:spcPts val="0"/>
              </a:spcAft>
              <a:buSzPts val="1100"/>
              <a:buChar char="○"/>
            </a:pPr>
            <a:r>
              <a:rPr b="1" i="1" lang="en">
                <a:solidFill>
                  <a:srgbClr val="FF0000"/>
                </a:solidFill>
              </a:rPr>
              <a:t>Every </a:t>
            </a:r>
            <a:r>
              <a:rPr lang="en"/>
              <a:t>Goat subclass overrides </a:t>
            </a:r>
            <a:r>
              <a:rPr b="1" i="1" lang="en">
                <a:solidFill>
                  <a:srgbClr val="FF0000"/>
                </a:solidFill>
              </a:rPr>
              <a:t>both</a:t>
            </a:r>
            <a:r>
              <a:rPr lang="en">
                <a:solidFill>
                  <a:srgbClr val="FF0000"/>
                </a:solidFill>
              </a:rPr>
              <a:t> </a:t>
            </a:r>
            <a:r>
              <a:rPr lang="en"/>
              <a:t>methods, and so the parent implementations are never used.</a:t>
            </a:r>
            <a:endParaRPr/>
          </a:p>
          <a:p>
            <a:pPr indent="-311150" lvl="0" marL="457200" rtl="0" algn="l">
              <a:lnSpc>
                <a:spcPct val="100000"/>
              </a:lnSpc>
              <a:spcBef>
                <a:spcPts val="0"/>
              </a:spcBef>
              <a:spcAft>
                <a:spcPts val="0"/>
              </a:spcAft>
              <a:buSzPts val="1300"/>
              <a:buChar char="●"/>
            </a:pPr>
            <a:r>
              <a:rPr lang="en"/>
              <a:t>In Java it is possible to </a:t>
            </a:r>
            <a:r>
              <a:rPr b="1" i="1" lang="en">
                <a:solidFill>
                  <a:srgbClr val="FF0000"/>
                </a:solidFill>
              </a:rPr>
              <a:t>define</a:t>
            </a:r>
            <a:r>
              <a:rPr lang="en">
                <a:solidFill>
                  <a:srgbClr val="FF0000"/>
                </a:solidFill>
              </a:rPr>
              <a:t> </a:t>
            </a:r>
            <a:r>
              <a:rPr lang="en"/>
              <a:t>a method without </a:t>
            </a:r>
            <a:r>
              <a:rPr b="1" i="1" lang="en">
                <a:solidFill>
                  <a:srgbClr val="FF0000"/>
                </a:solidFill>
              </a:rPr>
              <a:t>implementing </a:t>
            </a:r>
            <a:r>
              <a:rPr lang="en"/>
              <a:t>it by making it </a:t>
            </a:r>
            <a:r>
              <a:rPr b="1" i="1" lang="en">
                <a:solidFill>
                  <a:srgbClr val="FF0000"/>
                </a:solidFill>
              </a:rPr>
              <a:t>abstract</a:t>
            </a:r>
            <a:r>
              <a:rPr lang="en"/>
              <a:t>.</a:t>
            </a:r>
            <a:endParaRPr/>
          </a:p>
          <a:p>
            <a:pPr indent="-298450" lvl="1" marL="914400" rtl="0" algn="l">
              <a:lnSpc>
                <a:spcPct val="100000"/>
              </a:lnSpc>
              <a:spcBef>
                <a:spcPts val="0"/>
              </a:spcBef>
              <a:spcAft>
                <a:spcPts val="0"/>
              </a:spcAft>
              <a:buSzPts val="1100"/>
              <a:buChar char="○"/>
            </a:pPr>
            <a:r>
              <a:rPr lang="en"/>
              <a:t>The method signature includes the </a:t>
            </a:r>
            <a:r>
              <a:rPr lang="en">
                <a:solidFill>
                  <a:srgbClr val="FF0000"/>
                </a:solidFill>
                <a:latin typeface="Courier New"/>
                <a:ea typeface="Courier New"/>
                <a:cs typeface="Courier New"/>
                <a:sym typeface="Courier New"/>
              </a:rPr>
              <a:t>abstract</a:t>
            </a:r>
            <a:r>
              <a:rPr lang="en"/>
              <a:t> modifier, e.g. </a:t>
            </a:r>
            <a:r>
              <a:rPr lang="en">
                <a:solidFill>
                  <a:srgbClr val="FF0000"/>
                </a:solidFill>
                <a:latin typeface="Courier New"/>
                <a:ea typeface="Courier New"/>
                <a:cs typeface="Courier New"/>
                <a:sym typeface="Courier New"/>
              </a:rPr>
              <a:t>public abstract Attack attack();</a:t>
            </a:r>
            <a:endParaRPr>
              <a:solidFill>
                <a:srgbClr val="FF0000"/>
              </a:solidFill>
              <a:latin typeface="Courier New"/>
              <a:ea typeface="Courier New"/>
              <a:cs typeface="Courier New"/>
              <a:sym typeface="Courier New"/>
            </a:endParaRPr>
          </a:p>
          <a:p>
            <a:pPr indent="-298450" lvl="1" marL="914400" rtl="0" algn="l">
              <a:lnSpc>
                <a:spcPct val="100000"/>
              </a:lnSpc>
              <a:spcBef>
                <a:spcPts val="0"/>
              </a:spcBef>
              <a:spcAft>
                <a:spcPts val="0"/>
              </a:spcAft>
              <a:buSzPts val="1100"/>
              <a:buChar char="○"/>
            </a:pPr>
            <a:r>
              <a:rPr lang="en"/>
              <a:t>There </a:t>
            </a:r>
            <a:r>
              <a:rPr lang="en"/>
              <a:t>is </a:t>
            </a:r>
            <a:r>
              <a:rPr b="1" i="1" lang="en">
                <a:solidFill>
                  <a:srgbClr val="FF0000"/>
                </a:solidFill>
              </a:rPr>
              <a:t>no implementation</a:t>
            </a:r>
            <a:r>
              <a:rPr lang="en"/>
              <a:t> and </a:t>
            </a:r>
            <a:r>
              <a:rPr b="1" i="1" lang="en">
                <a:solidFill>
                  <a:srgbClr val="FF0000"/>
                </a:solidFill>
              </a:rPr>
              <a:t>no method body</a:t>
            </a:r>
            <a:r>
              <a:rPr lang="en"/>
              <a:t>.</a:t>
            </a:r>
            <a:endParaRPr/>
          </a:p>
          <a:p>
            <a:pPr indent="-311150" lvl="0" marL="457200" rtl="0" algn="l">
              <a:lnSpc>
                <a:spcPct val="100000"/>
              </a:lnSpc>
              <a:spcBef>
                <a:spcPts val="0"/>
              </a:spcBef>
              <a:spcAft>
                <a:spcPts val="0"/>
              </a:spcAft>
              <a:buSzPts val="1300"/>
              <a:buChar char="●"/>
            </a:pPr>
            <a:r>
              <a:rPr lang="en"/>
              <a:t>A class that includes one or more </a:t>
            </a:r>
            <a:r>
              <a:rPr lang="en">
                <a:solidFill>
                  <a:srgbClr val="FF0000"/>
                </a:solidFill>
              </a:rPr>
              <a:t>abstract </a:t>
            </a:r>
            <a:r>
              <a:rPr lang="en"/>
              <a:t>methods must also be </a:t>
            </a:r>
            <a:r>
              <a:rPr lang="en">
                <a:solidFill>
                  <a:srgbClr val="FF0000"/>
                </a:solidFill>
              </a:rPr>
              <a:t>declared abstract</a:t>
            </a:r>
            <a:r>
              <a:rPr lang="en"/>
              <a:t>.</a:t>
            </a:r>
            <a:endParaRPr/>
          </a:p>
          <a:p>
            <a:pPr indent="-298450" lvl="1" marL="914400" rtl="0" algn="l">
              <a:lnSpc>
                <a:spcPct val="100000"/>
              </a:lnSpc>
              <a:spcBef>
                <a:spcPts val="0"/>
              </a:spcBef>
              <a:spcAft>
                <a:spcPts val="0"/>
              </a:spcAft>
              <a:buSzPts val="1100"/>
              <a:buChar char="○"/>
            </a:pPr>
            <a:r>
              <a:rPr lang="en"/>
              <a:t>For example </a:t>
            </a:r>
            <a:r>
              <a:rPr lang="en">
                <a:solidFill>
                  <a:srgbClr val="FF0000"/>
                </a:solidFill>
                <a:latin typeface="Courier New"/>
                <a:ea typeface="Courier New"/>
                <a:cs typeface="Courier New"/>
                <a:sym typeface="Courier New"/>
              </a:rPr>
              <a:t>public abstract class Goat {...}</a:t>
            </a:r>
            <a:endParaRPr>
              <a:solidFill>
                <a:srgbClr val="FF0000"/>
              </a:solidFill>
              <a:latin typeface="Courier New"/>
              <a:ea typeface="Courier New"/>
              <a:cs typeface="Courier New"/>
              <a:sym typeface="Courier New"/>
            </a:endParaRPr>
          </a:p>
          <a:p>
            <a:pPr indent="-298450" lvl="1" marL="914400" rtl="0" algn="l">
              <a:lnSpc>
                <a:spcPct val="100000"/>
              </a:lnSpc>
              <a:spcBef>
                <a:spcPts val="0"/>
              </a:spcBef>
              <a:spcAft>
                <a:spcPts val="0"/>
              </a:spcAft>
              <a:buSzPts val="1100"/>
              <a:buChar char="○"/>
            </a:pPr>
            <a:r>
              <a:rPr lang="en"/>
              <a:t>An </a:t>
            </a:r>
            <a:r>
              <a:rPr lang="en">
                <a:latin typeface="Courier New"/>
                <a:ea typeface="Courier New"/>
                <a:cs typeface="Courier New"/>
                <a:sym typeface="Courier New"/>
              </a:rPr>
              <a:t>abstract</a:t>
            </a:r>
            <a:r>
              <a:rPr lang="en"/>
              <a:t> class </a:t>
            </a:r>
            <a:r>
              <a:rPr b="1" i="1" lang="en">
                <a:solidFill>
                  <a:srgbClr val="FF0000"/>
                </a:solidFill>
              </a:rPr>
              <a:t>cannot be instantiated</a:t>
            </a:r>
            <a:r>
              <a:rPr lang="en"/>
              <a:t> using new.</a:t>
            </a:r>
            <a:endParaRPr/>
          </a:p>
          <a:p>
            <a:pPr indent="-298450" lvl="1" marL="914400" rtl="0" algn="l">
              <a:lnSpc>
                <a:spcPct val="100000"/>
              </a:lnSpc>
              <a:spcBef>
                <a:spcPts val="0"/>
              </a:spcBef>
              <a:spcAft>
                <a:spcPts val="0"/>
              </a:spcAft>
              <a:buSzPts val="1100"/>
              <a:buChar char="○"/>
            </a:pPr>
            <a:r>
              <a:rPr b="1" i="1" lang="en">
                <a:solidFill>
                  <a:srgbClr val="FF0000"/>
                </a:solidFill>
              </a:rPr>
              <a:t>All</a:t>
            </a:r>
            <a:r>
              <a:rPr i="1" lang="en">
                <a:solidFill>
                  <a:srgbClr val="FF0000"/>
                </a:solidFill>
              </a:rPr>
              <a:t> </a:t>
            </a:r>
            <a:r>
              <a:rPr lang="en"/>
              <a:t>subclasses </a:t>
            </a:r>
            <a:r>
              <a:rPr b="1" i="1" lang="en">
                <a:solidFill>
                  <a:srgbClr val="FF0000"/>
                </a:solidFill>
              </a:rPr>
              <a:t>must</a:t>
            </a:r>
            <a:r>
              <a:rPr lang="en">
                <a:solidFill>
                  <a:srgbClr val="FF0000"/>
                </a:solidFill>
              </a:rPr>
              <a:t> </a:t>
            </a:r>
            <a:r>
              <a:rPr lang="en"/>
              <a:t>provide an implementation of any </a:t>
            </a:r>
            <a:r>
              <a:rPr lang="en">
                <a:latin typeface="Courier New"/>
                <a:ea typeface="Courier New"/>
                <a:cs typeface="Courier New"/>
                <a:sym typeface="Courier New"/>
              </a:rPr>
              <a:t>abstract</a:t>
            </a:r>
            <a:r>
              <a:rPr lang="en"/>
              <a:t> methods (or be declared </a:t>
            </a:r>
            <a:r>
              <a:rPr lang="en">
                <a:latin typeface="Courier New"/>
                <a:ea typeface="Courier New"/>
                <a:cs typeface="Courier New"/>
                <a:sym typeface="Courier New"/>
              </a:rPr>
              <a:t>abstract</a:t>
            </a:r>
            <a:r>
              <a:rPr lang="en"/>
              <a:t>).</a:t>
            </a:r>
            <a:endParaRPr/>
          </a:p>
        </p:txBody>
      </p:sp>
      <p:sp>
        <p:nvSpPr>
          <p:cNvPr id="836" name="Google Shape;836;p98"/>
          <p:cNvSpPr/>
          <p:nvPr/>
        </p:nvSpPr>
        <p:spPr>
          <a:xfrm>
            <a:off x="7811324" y="936235"/>
            <a:ext cx="1287825" cy="1182425"/>
          </a:xfrm>
          <a:custGeom>
            <a:rect b="b" l="l" r="r" t="t"/>
            <a:pathLst>
              <a:path extrusionOk="0" h="47297" w="47377">
                <a:moveTo>
                  <a:pt x="36064" y="0"/>
                </a:moveTo>
                <a:cubicBezTo>
                  <a:pt x="37690" y="6503"/>
                  <a:pt x="51829" y="31137"/>
                  <a:pt x="45818" y="39020"/>
                </a:cubicBezTo>
                <a:cubicBezTo>
                  <a:pt x="39807" y="46903"/>
                  <a:pt x="7636" y="45918"/>
                  <a:pt x="0" y="47297"/>
                </a:cubicBezTo>
              </a:path>
            </a:pathLst>
          </a:custGeom>
          <a:noFill/>
          <a:ln cap="flat" cmpd="sng" w="19050">
            <a:solidFill>
              <a:srgbClr val="FF0000"/>
            </a:solidFill>
            <a:prstDash val="solid"/>
            <a:round/>
            <a:headEnd len="med" w="med" type="none"/>
            <a:tailEnd len="med" w="med" type="triangle"/>
          </a:ln>
        </p:spPr>
      </p:sp>
      <p:sp>
        <p:nvSpPr>
          <p:cNvPr id="837" name="Google Shape;837;p98"/>
          <p:cNvSpPr txBox="1"/>
          <p:nvPr>
            <p:ph idx="3" type="body"/>
          </p:nvPr>
        </p:nvSpPr>
        <p:spPr>
          <a:xfrm>
            <a:off x="5112325" y="690700"/>
            <a:ext cx="3706500" cy="4497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100"/>
              <a:t>An abstract method is one that uses the </a:t>
            </a:r>
            <a:r>
              <a:rPr lang="en" sz="1100">
                <a:solidFill>
                  <a:srgbClr val="FF0000"/>
                </a:solidFill>
                <a:latin typeface="Courier New"/>
                <a:ea typeface="Courier New"/>
                <a:cs typeface="Courier New"/>
                <a:sym typeface="Courier New"/>
              </a:rPr>
              <a:t>abstract</a:t>
            </a:r>
            <a:r>
              <a:rPr lang="en" sz="1100">
                <a:solidFill>
                  <a:srgbClr val="FF0000"/>
                </a:solidFill>
              </a:rPr>
              <a:t> </a:t>
            </a:r>
            <a:r>
              <a:rPr lang="en" sz="1100"/>
              <a:t>modifier in its signature and </a:t>
            </a:r>
            <a:r>
              <a:rPr b="1" i="1" lang="en" sz="1100">
                <a:solidFill>
                  <a:srgbClr val="FF0000"/>
                </a:solidFill>
              </a:rPr>
              <a:t>does not have a body</a:t>
            </a:r>
            <a:r>
              <a:rPr lang="en" sz="1100"/>
              <a:t>.</a:t>
            </a:r>
            <a:endParaRPr sz="1100"/>
          </a:p>
        </p:txBody>
      </p:sp>
      <p:sp>
        <p:nvSpPr>
          <p:cNvPr id="838" name="Google Shape;838;p98"/>
          <p:cNvSpPr/>
          <p:nvPr/>
        </p:nvSpPr>
        <p:spPr>
          <a:xfrm>
            <a:off x="5803366" y="1616135"/>
            <a:ext cx="234325" cy="295600"/>
          </a:xfrm>
          <a:custGeom>
            <a:rect b="b" l="l" r="r" t="t"/>
            <a:pathLst>
              <a:path extrusionOk="0" h="11824" w="9373">
                <a:moveTo>
                  <a:pt x="9373" y="0"/>
                </a:moveTo>
                <a:cubicBezTo>
                  <a:pt x="7846" y="985"/>
                  <a:pt x="1047" y="3941"/>
                  <a:pt x="209" y="5912"/>
                </a:cubicBezTo>
                <a:cubicBezTo>
                  <a:pt x="-628" y="7883"/>
                  <a:pt x="3658" y="10839"/>
                  <a:pt x="4348" y="11824"/>
                </a:cubicBezTo>
              </a:path>
            </a:pathLst>
          </a:custGeom>
          <a:noFill/>
          <a:ln cap="flat" cmpd="sng" w="19050">
            <a:solidFill>
              <a:srgbClr val="FF0000"/>
            </a:solidFill>
            <a:prstDash val="solid"/>
            <a:round/>
            <a:headEnd len="med" w="med" type="none"/>
            <a:tailEnd len="med" w="med" type="triangle"/>
          </a:ln>
        </p:spPr>
      </p:sp>
      <p:sp>
        <p:nvSpPr>
          <p:cNvPr id="839" name="Google Shape;839;p98"/>
          <p:cNvSpPr txBox="1"/>
          <p:nvPr>
            <p:ph idx="3" type="body"/>
          </p:nvPr>
        </p:nvSpPr>
        <p:spPr>
          <a:xfrm>
            <a:off x="5112325" y="1214075"/>
            <a:ext cx="3706500" cy="4497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100"/>
              <a:t>A class that includes one or more abstract methods must </a:t>
            </a:r>
            <a:r>
              <a:rPr b="1" i="1" lang="en" sz="1100">
                <a:solidFill>
                  <a:srgbClr val="FF0000"/>
                </a:solidFill>
              </a:rPr>
              <a:t>also be declared </a:t>
            </a:r>
            <a:r>
              <a:rPr lang="en" sz="1100">
                <a:solidFill>
                  <a:srgbClr val="FF0000"/>
                </a:solidFill>
                <a:latin typeface="Courier New"/>
                <a:ea typeface="Courier New"/>
                <a:cs typeface="Courier New"/>
                <a:sym typeface="Courier New"/>
              </a:rPr>
              <a:t>abstract</a:t>
            </a:r>
            <a:r>
              <a:rPr lang="en" sz="1100"/>
              <a:t>.</a:t>
            </a:r>
            <a:endParaRPr sz="1100"/>
          </a:p>
        </p:txBody>
      </p:sp>
      <p:sp>
        <p:nvSpPr>
          <p:cNvPr id="840" name="Google Shape;840;p98"/>
          <p:cNvSpPr txBox="1"/>
          <p:nvPr>
            <p:ph idx="3" type="body"/>
          </p:nvPr>
        </p:nvSpPr>
        <p:spPr>
          <a:xfrm>
            <a:off x="5112325" y="2533593"/>
            <a:ext cx="3706500" cy="4497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100"/>
              <a:t>An abstract class </a:t>
            </a:r>
            <a:r>
              <a:rPr b="1" i="1" lang="en" sz="1100">
                <a:solidFill>
                  <a:srgbClr val="FF0000"/>
                </a:solidFill>
              </a:rPr>
              <a:t>cannot be instantiated</a:t>
            </a:r>
            <a:r>
              <a:rPr b="1" i="1" lang="en" sz="1100"/>
              <a:t> </a:t>
            </a:r>
            <a:r>
              <a:rPr lang="en" sz="1100"/>
              <a:t>using new. Trying to do so will cause a compiler error. </a:t>
            </a:r>
            <a:endParaRPr sz="1100"/>
          </a:p>
        </p:txBody>
      </p:sp>
      <p:sp>
        <p:nvSpPr>
          <p:cNvPr id="841" name="Google Shape;841;p98"/>
          <p:cNvSpPr txBox="1"/>
          <p:nvPr>
            <p:ph idx="2" type="body"/>
          </p:nvPr>
        </p:nvSpPr>
        <p:spPr>
          <a:xfrm>
            <a:off x="5112325" y="3794850"/>
            <a:ext cx="3706500" cy="11823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ConcreteChild</a:t>
            </a:r>
            <a:endParaRPr sz="10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extends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AbstractParent</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aMethod</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"Hi!"</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7</a:t>
            </a:r>
            <a:r>
              <a:rPr lang="en" sz="1000">
                <a:solidFill>
                  <a:srgbClr val="000000"/>
                </a:solidFill>
                <a:latin typeface="Consolas"/>
                <a:ea typeface="Consolas"/>
                <a:cs typeface="Consolas"/>
                <a:sym typeface="Consolas"/>
              </a:rPr>
              <a:t> }</a:t>
            </a:r>
            <a:endParaRPr sz="1000">
              <a:solidFill>
                <a:srgbClr val="999999"/>
              </a:solidFill>
              <a:latin typeface="Consolas"/>
              <a:ea typeface="Consolas"/>
              <a:cs typeface="Consolas"/>
              <a:sym typeface="Consolas"/>
            </a:endParaRPr>
          </a:p>
        </p:txBody>
      </p:sp>
      <p:sp>
        <p:nvSpPr>
          <p:cNvPr id="842" name="Google Shape;842;p98"/>
          <p:cNvSpPr/>
          <p:nvPr/>
        </p:nvSpPr>
        <p:spPr>
          <a:xfrm>
            <a:off x="7386650" y="3627450"/>
            <a:ext cx="224975" cy="420675"/>
          </a:xfrm>
          <a:custGeom>
            <a:rect b="b" l="l" r="r" t="t"/>
            <a:pathLst>
              <a:path extrusionOk="0" h="16827" w="8999">
                <a:moveTo>
                  <a:pt x="7620" y="0"/>
                </a:moveTo>
                <a:cubicBezTo>
                  <a:pt x="7779" y="1640"/>
                  <a:pt x="9842" y="7038"/>
                  <a:pt x="8572" y="9842"/>
                </a:cubicBezTo>
                <a:cubicBezTo>
                  <a:pt x="7302" y="12647"/>
                  <a:pt x="1429" y="15663"/>
                  <a:pt x="0" y="16827"/>
                </a:cubicBezTo>
              </a:path>
            </a:pathLst>
          </a:custGeom>
          <a:noFill/>
          <a:ln cap="flat" cmpd="sng" w="19050">
            <a:solidFill>
              <a:srgbClr val="FF0000"/>
            </a:solidFill>
            <a:prstDash val="solid"/>
            <a:round/>
            <a:headEnd len="med" w="med" type="none"/>
            <a:tailEnd len="med" w="med" type="triangle"/>
          </a:ln>
        </p:spPr>
      </p:sp>
      <p:sp>
        <p:nvSpPr>
          <p:cNvPr id="843" name="Google Shape;843;p98"/>
          <p:cNvSpPr/>
          <p:nvPr/>
        </p:nvSpPr>
        <p:spPr>
          <a:xfrm>
            <a:off x="7119950" y="3643325"/>
            <a:ext cx="1790175" cy="936300"/>
          </a:xfrm>
          <a:custGeom>
            <a:rect b="b" l="l" r="r" t="t"/>
            <a:pathLst>
              <a:path extrusionOk="0" h="37452" w="71607">
                <a:moveTo>
                  <a:pt x="59372" y="0"/>
                </a:moveTo>
                <a:cubicBezTo>
                  <a:pt x="60907" y="5980"/>
                  <a:pt x="78475" y="30744"/>
                  <a:pt x="68580" y="35877"/>
                </a:cubicBezTo>
                <a:cubicBezTo>
                  <a:pt x="58685" y="41010"/>
                  <a:pt x="11430" y="31644"/>
                  <a:pt x="0" y="30797"/>
                </a:cubicBezTo>
              </a:path>
            </a:pathLst>
          </a:custGeom>
          <a:noFill/>
          <a:ln cap="flat" cmpd="sng" w="19050">
            <a:solidFill>
              <a:srgbClr val="FF0000"/>
            </a:solidFill>
            <a:prstDash val="solid"/>
            <a:round/>
            <a:headEnd len="med" w="med" type="none"/>
            <a:tailEnd len="med" w="med" type="triangle"/>
          </a:ln>
        </p:spPr>
      </p:sp>
      <p:sp>
        <p:nvSpPr>
          <p:cNvPr id="844" name="Google Shape;844;p98"/>
          <p:cNvSpPr txBox="1"/>
          <p:nvPr>
            <p:ph idx="3" type="body"/>
          </p:nvPr>
        </p:nvSpPr>
        <p:spPr>
          <a:xfrm>
            <a:off x="5112325" y="3070175"/>
            <a:ext cx="3706500" cy="638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100"/>
              <a:t>If a class extends an abstract class it </a:t>
            </a:r>
            <a:r>
              <a:rPr b="1" i="1" lang="en" sz="1100">
                <a:solidFill>
                  <a:srgbClr val="FF0000"/>
                </a:solidFill>
              </a:rPr>
              <a:t>must</a:t>
            </a:r>
            <a:r>
              <a:rPr lang="en" sz="1100">
                <a:solidFill>
                  <a:srgbClr val="FF0000"/>
                </a:solidFill>
              </a:rPr>
              <a:t> </a:t>
            </a:r>
            <a:r>
              <a:rPr lang="en" sz="1100"/>
              <a:t>provide an implementation of </a:t>
            </a:r>
            <a:r>
              <a:rPr b="1" i="1" lang="en" sz="1100">
                <a:solidFill>
                  <a:srgbClr val="FF0000"/>
                </a:solidFill>
              </a:rPr>
              <a:t>all</a:t>
            </a:r>
            <a:r>
              <a:rPr lang="en" sz="1100">
                <a:solidFill>
                  <a:srgbClr val="FF0000"/>
                </a:solidFill>
              </a:rPr>
              <a:t> </a:t>
            </a:r>
            <a:r>
              <a:rPr lang="en" sz="1100"/>
              <a:t>abstract methods or it also has to be declared abstract.</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
                                        </p:tgtEl>
                                        <p:attrNameLst>
                                          <p:attrName>style.visibility</p:attrName>
                                        </p:attrNameLst>
                                      </p:cBhvr>
                                      <p:to>
                                        <p:strVal val="visible"/>
                                      </p:to>
                                    </p:set>
                                    <p:animEffect filter="fade" transition="in">
                                      <p:cBhvr>
                                        <p:cTn dur="1000"/>
                                        <p:tgtEl>
                                          <p:spTgt spid="837"/>
                                        </p:tgtEl>
                                      </p:cBhvr>
                                    </p:animEffect>
                                  </p:childTnLst>
                                </p:cTn>
                              </p:par>
                              <p:par>
                                <p:cTn fill="hold" nodeType="withEffect" presetClass="entr" presetID="10" presetSubtype="0">
                                  <p:stCondLst>
                                    <p:cond delay="0"/>
                                  </p:stCondLst>
                                  <p:childTnLst>
                                    <p:set>
                                      <p:cBhvr>
                                        <p:cTn dur="1" fill="hold">
                                          <p:stCondLst>
                                            <p:cond delay="0"/>
                                          </p:stCondLst>
                                        </p:cTn>
                                        <p:tgtEl>
                                          <p:spTgt spid="834"/>
                                        </p:tgtEl>
                                        <p:attrNameLst>
                                          <p:attrName>style.visibility</p:attrName>
                                        </p:attrNameLst>
                                      </p:cBhvr>
                                      <p:to>
                                        <p:strVal val="visible"/>
                                      </p:to>
                                    </p:set>
                                    <p:animEffect filter="fade" transition="in">
                                      <p:cBhvr>
                                        <p:cTn dur="1000"/>
                                        <p:tgtEl>
                                          <p:spTgt spid="83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36"/>
                                        </p:tgtEl>
                                        <p:attrNameLst>
                                          <p:attrName>style.visibility</p:attrName>
                                        </p:attrNameLst>
                                      </p:cBhvr>
                                      <p:to>
                                        <p:strVal val="visible"/>
                                      </p:to>
                                    </p:set>
                                    <p:animEffect filter="fade" transition="in">
                                      <p:cBhvr>
                                        <p:cTn dur="1000"/>
                                        <p:tgtEl>
                                          <p:spTgt spid="8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
                                        </p:tgtEl>
                                        <p:attrNameLst>
                                          <p:attrName>style.visibility</p:attrName>
                                        </p:attrNameLst>
                                      </p:cBhvr>
                                      <p:to>
                                        <p:strVal val="visible"/>
                                      </p:to>
                                    </p:set>
                                    <p:animEffect filter="fade" transition="in">
                                      <p:cBhvr>
                                        <p:cTn dur="1000"/>
                                        <p:tgtEl>
                                          <p:spTgt spid="83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38"/>
                                        </p:tgtEl>
                                        <p:attrNameLst>
                                          <p:attrName>style.visibility</p:attrName>
                                        </p:attrNameLst>
                                      </p:cBhvr>
                                      <p:to>
                                        <p:strVal val="visible"/>
                                      </p:to>
                                    </p:set>
                                    <p:animEffect filter="fade" transition="in">
                                      <p:cBhvr>
                                        <p:cTn dur="1000"/>
                                        <p:tgtEl>
                                          <p:spTgt spid="8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gtEl>
                                        <p:attrNameLst>
                                          <p:attrName>style.visibility</p:attrName>
                                        </p:attrNameLst>
                                      </p:cBhvr>
                                      <p:to>
                                        <p:strVal val="visible"/>
                                      </p:to>
                                    </p:set>
                                    <p:animEffect filter="fade" transition="in">
                                      <p:cBhvr>
                                        <p:cTn dur="1000"/>
                                        <p:tgtEl>
                                          <p:spTgt spid="8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4"/>
                                        </p:tgtEl>
                                        <p:attrNameLst>
                                          <p:attrName>style.visibility</p:attrName>
                                        </p:attrNameLst>
                                      </p:cBhvr>
                                      <p:to>
                                        <p:strVal val="visible"/>
                                      </p:to>
                                    </p:set>
                                    <p:animEffect filter="fade" transition="in">
                                      <p:cBhvr>
                                        <p:cTn dur="1000"/>
                                        <p:tgtEl>
                                          <p:spTgt spid="844"/>
                                        </p:tgtEl>
                                      </p:cBhvr>
                                    </p:animEffect>
                                  </p:childTnLst>
                                </p:cTn>
                              </p:par>
                              <p:par>
                                <p:cTn fill="hold" nodeType="withEffect" presetClass="entr" presetID="10" presetSubtype="0">
                                  <p:stCondLst>
                                    <p:cond delay="0"/>
                                  </p:stCondLst>
                                  <p:childTnLst>
                                    <p:set>
                                      <p:cBhvr>
                                        <p:cTn dur="1" fill="hold">
                                          <p:stCondLst>
                                            <p:cond delay="0"/>
                                          </p:stCondLst>
                                        </p:cTn>
                                        <p:tgtEl>
                                          <p:spTgt spid="841"/>
                                        </p:tgtEl>
                                        <p:attrNameLst>
                                          <p:attrName>style.visibility</p:attrName>
                                        </p:attrNameLst>
                                      </p:cBhvr>
                                      <p:to>
                                        <p:strVal val="visible"/>
                                      </p:to>
                                    </p:set>
                                    <p:animEffect filter="fade" transition="in">
                                      <p:cBhvr>
                                        <p:cTn dur="1000"/>
                                        <p:tgtEl>
                                          <p:spTgt spid="84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42"/>
                                        </p:tgtEl>
                                        <p:attrNameLst>
                                          <p:attrName>style.visibility</p:attrName>
                                        </p:attrNameLst>
                                      </p:cBhvr>
                                      <p:to>
                                        <p:strVal val="visible"/>
                                      </p:to>
                                    </p:set>
                                    <p:animEffect filter="fade" transition="in">
                                      <p:cBhvr>
                                        <p:cTn dur="1000"/>
                                        <p:tgtEl>
                                          <p:spTgt spid="84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43"/>
                                        </p:tgtEl>
                                        <p:attrNameLst>
                                          <p:attrName>style.visibility</p:attrName>
                                        </p:attrNameLst>
                                      </p:cBhvr>
                                      <p:to>
                                        <p:strVal val="visible"/>
                                      </p:to>
                                    </p:set>
                                    <p:animEffect filter="fade" transition="in">
                                      <p:cBhvr>
                                        <p:cTn dur="1000"/>
                                        <p:tgtEl>
                                          <p:spTgt spid="8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99"/>
          <p:cNvSpPr txBox="1"/>
          <p:nvPr>
            <p:ph type="title"/>
          </p:nvPr>
        </p:nvSpPr>
        <p:spPr>
          <a:xfrm>
            <a:off x="311700" y="10527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Closer Look at Abstract Classes</a:t>
            </a:r>
            <a:endParaRPr/>
          </a:p>
        </p:txBody>
      </p:sp>
      <p:sp>
        <p:nvSpPr>
          <p:cNvPr id="850" name="Google Shape;850;p99"/>
          <p:cNvSpPr txBox="1"/>
          <p:nvPr>
            <p:ph idx="12" type="sldNum"/>
          </p:nvPr>
        </p:nvSpPr>
        <p:spPr>
          <a:xfrm>
            <a:off x="8594910" y="4808130"/>
            <a:ext cx="548700" cy="3387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fld id="{00000000-1234-1234-1234-123412341234}" type="slidenum">
              <a:rPr lang="en"/>
              <a:t>‹#›</a:t>
            </a:fld>
            <a:endParaRPr/>
          </a:p>
        </p:txBody>
      </p:sp>
      <p:sp>
        <p:nvSpPr>
          <p:cNvPr id="851" name="Google Shape;851;p99"/>
          <p:cNvSpPr txBox="1"/>
          <p:nvPr/>
        </p:nvSpPr>
        <p:spPr>
          <a:xfrm>
            <a:off x="2084825" y="1419975"/>
            <a:ext cx="2987400" cy="35787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abstract</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Thermometer</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solidFill>
                  <a:srgbClr val="0000FF"/>
                </a:solidFill>
                <a:latin typeface="Consolas"/>
                <a:ea typeface="Consolas"/>
                <a:cs typeface="Consolas"/>
                <a:sym typeface="Consolas"/>
              </a:rPr>
              <a:t>  </a:t>
            </a:r>
            <a:r>
              <a:rPr lang="en" sz="900">
                <a:solidFill>
                  <a:srgbClr val="0000FF"/>
                </a:solidFill>
                <a:latin typeface="Consolas"/>
                <a:ea typeface="Consolas"/>
                <a:cs typeface="Consolas"/>
                <a:sym typeface="Consolas"/>
              </a:rPr>
              <a:t>p</a:t>
            </a:r>
            <a:r>
              <a:rPr lang="en" sz="900">
                <a:solidFill>
                  <a:srgbClr val="0000FF"/>
                </a:solidFill>
                <a:latin typeface="Consolas"/>
                <a:ea typeface="Consolas"/>
                <a:cs typeface="Consolas"/>
                <a:sym typeface="Consolas"/>
              </a:rPr>
              <a:t>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10000"/>
              </a:lnSpc>
              <a:spcBef>
                <a:spcPts val="0"/>
              </a:spcBef>
              <a:spcAft>
                <a:spcPts val="0"/>
              </a:spcAft>
              <a:buNone/>
            </a:pPr>
            <a:r>
              <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Thermometer</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10000"/>
              </a:lnSpc>
              <a:spcBef>
                <a:spcPts val="0"/>
              </a:spcBef>
              <a:spcAft>
                <a:spcPts val="0"/>
              </a:spcAft>
              <a:buNone/>
            </a:pPr>
            <a:r>
              <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getTemperature</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10000"/>
              </a:lnSpc>
              <a:spcBef>
                <a:spcPts val="0"/>
              </a:spcBef>
              <a:spcAft>
                <a:spcPts val="0"/>
              </a:spcAft>
              <a:buNone/>
            </a:pPr>
            <a:r>
              <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void</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setTemperature</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solidFill>
                  <a:srgbClr val="267F99"/>
                </a:solidFill>
                <a:latin typeface="Consolas"/>
                <a:ea typeface="Consolas"/>
                <a:cs typeface="Consolas"/>
                <a:sym typeface="Consolas"/>
              </a:rPr>
              <a:t>                          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10000"/>
              </a:lnSpc>
              <a:spcBef>
                <a:spcPts val="0"/>
              </a:spcBef>
              <a:spcAft>
                <a:spcPts val="0"/>
              </a:spcAft>
              <a:buNone/>
            </a:pPr>
            <a:r>
              <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abstract</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getFreezingPoint</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10000"/>
              </a:lnSpc>
              <a:spcBef>
                <a:spcPts val="0"/>
              </a:spcBef>
              <a:spcAft>
                <a:spcPts val="0"/>
              </a:spcAft>
              <a:buNone/>
            </a:pPr>
            <a:r>
              <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abstract</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getBoilingPoint</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10000"/>
              </a:lnSpc>
              <a:spcBef>
                <a:spcPts val="0"/>
              </a:spcBef>
              <a:spcAft>
                <a:spcPts val="0"/>
              </a:spcAft>
              <a:buNone/>
            </a:pPr>
            <a:r>
              <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solidFill>
                  <a:srgbClr val="0000FF"/>
                </a:solidFill>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abstract</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char</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getScale</a:t>
            </a:r>
            <a:r>
              <a:rPr lang="en" sz="900">
                <a:latin typeface="Consolas"/>
                <a:ea typeface="Consolas"/>
                <a:cs typeface="Consolas"/>
                <a:sym typeface="Consolas"/>
              </a:rPr>
              <a:t>();</a:t>
            </a:r>
            <a:endParaRPr b="1"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a:t>
            </a:r>
            <a:endParaRPr sz="900">
              <a:solidFill>
                <a:srgbClr val="0000FF"/>
              </a:solidFill>
              <a:latin typeface="Consolas"/>
              <a:ea typeface="Consolas"/>
              <a:cs typeface="Consolas"/>
              <a:sym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100"/>
          <p:cNvSpPr txBox="1"/>
          <p:nvPr>
            <p:ph type="title"/>
          </p:nvPr>
        </p:nvSpPr>
        <p:spPr>
          <a:xfrm>
            <a:off x="311700" y="10527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Closer Look at Abstract Classes</a:t>
            </a:r>
            <a:endParaRPr/>
          </a:p>
        </p:txBody>
      </p:sp>
      <p:sp>
        <p:nvSpPr>
          <p:cNvPr id="857" name="Google Shape;857;p100"/>
          <p:cNvSpPr txBox="1"/>
          <p:nvPr>
            <p:ph idx="12" type="sldNum"/>
          </p:nvPr>
        </p:nvSpPr>
        <p:spPr>
          <a:xfrm>
            <a:off x="8594910" y="4808130"/>
            <a:ext cx="548700" cy="3387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fld id="{00000000-1234-1234-1234-123412341234}" type="slidenum">
              <a:rPr lang="en"/>
              <a:t>‹#›</a:t>
            </a:fld>
            <a:endParaRPr/>
          </a:p>
        </p:txBody>
      </p:sp>
      <p:sp>
        <p:nvSpPr>
          <p:cNvPr id="858" name="Google Shape;858;p100"/>
          <p:cNvSpPr txBox="1"/>
          <p:nvPr/>
        </p:nvSpPr>
        <p:spPr>
          <a:xfrm>
            <a:off x="2084825" y="1419975"/>
            <a:ext cx="2987400" cy="35787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abstract</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Thermometer</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solidFill>
                  <a:srgbClr val="0000FF"/>
                </a:solidFill>
                <a:latin typeface="Consolas"/>
                <a:ea typeface="Consolas"/>
                <a:cs typeface="Consolas"/>
                <a:sym typeface="Consolas"/>
              </a:rPr>
              <a:t>  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10000"/>
              </a:lnSpc>
              <a:spcBef>
                <a:spcPts val="0"/>
              </a:spcBef>
              <a:spcAft>
                <a:spcPts val="0"/>
              </a:spcAft>
              <a:buNone/>
            </a:pPr>
            <a:r>
              <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Thermometer</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10000"/>
              </a:lnSpc>
              <a:spcBef>
                <a:spcPts val="0"/>
              </a:spcBef>
              <a:spcAft>
                <a:spcPts val="0"/>
              </a:spcAft>
              <a:buNone/>
            </a:pPr>
            <a:r>
              <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getTemperature</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10000"/>
              </a:lnSpc>
              <a:spcBef>
                <a:spcPts val="0"/>
              </a:spcBef>
              <a:spcAft>
                <a:spcPts val="0"/>
              </a:spcAft>
              <a:buNone/>
            </a:pPr>
            <a:r>
              <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void</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setTemperature</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solidFill>
                  <a:srgbClr val="267F99"/>
                </a:solidFill>
                <a:latin typeface="Consolas"/>
                <a:ea typeface="Consolas"/>
                <a:cs typeface="Consolas"/>
                <a:sym typeface="Consolas"/>
              </a:rPr>
              <a:t>                          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10000"/>
              </a:lnSpc>
              <a:spcBef>
                <a:spcPts val="0"/>
              </a:spcBef>
              <a:spcAft>
                <a:spcPts val="0"/>
              </a:spcAft>
              <a:buNone/>
            </a:pPr>
            <a:r>
              <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abstract</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getFreezingPoint</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10000"/>
              </a:lnSpc>
              <a:spcBef>
                <a:spcPts val="0"/>
              </a:spcBef>
              <a:spcAft>
                <a:spcPts val="0"/>
              </a:spcAft>
              <a:buNone/>
            </a:pPr>
            <a:r>
              <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abstract</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getBoilingPoint</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10000"/>
              </a:lnSpc>
              <a:spcBef>
                <a:spcPts val="0"/>
              </a:spcBef>
              <a:spcAft>
                <a:spcPts val="0"/>
              </a:spcAft>
              <a:buNone/>
            </a:pPr>
            <a:r>
              <a:t/>
            </a:r>
            <a:endParaRPr sz="900">
              <a:latin typeface="Consolas"/>
              <a:ea typeface="Consolas"/>
              <a:cs typeface="Consolas"/>
              <a:sym typeface="Consolas"/>
            </a:endParaRPr>
          </a:p>
          <a:p>
            <a:pPr indent="0" lvl="0" marL="0" rtl="0" algn="l">
              <a:lnSpc>
                <a:spcPct val="110000"/>
              </a:lnSpc>
              <a:spcBef>
                <a:spcPts val="0"/>
              </a:spcBef>
              <a:spcAft>
                <a:spcPts val="0"/>
              </a:spcAft>
              <a:buNone/>
            </a:pPr>
            <a:r>
              <a:rPr lang="en" sz="900">
                <a:solidFill>
                  <a:srgbClr val="0000FF"/>
                </a:solidFill>
                <a:latin typeface="Consolas"/>
                <a:ea typeface="Consolas"/>
                <a:cs typeface="Consolas"/>
                <a:sym typeface="Consolas"/>
              </a:rPr>
              <a:t>  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abstract</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char</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getScale</a:t>
            </a:r>
            <a:r>
              <a:rPr lang="en" sz="900">
                <a:latin typeface="Consolas"/>
                <a:ea typeface="Consolas"/>
                <a:cs typeface="Consolas"/>
                <a:sym typeface="Consolas"/>
              </a:rPr>
              <a:t>();</a:t>
            </a:r>
            <a:endParaRPr b="1" sz="900">
              <a:latin typeface="Consolas"/>
              <a:ea typeface="Consolas"/>
              <a:cs typeface="Consolas"/>
              <a:sym typeface="Consolas"/>
            </a:endParaRPr>
          </a:p>
          <a:p>
            <a:pPr indent="0" lvl="0" marL="0" rtl="0" algn="l">
              <a:lnSpc>
                <a:spcPct val="110000"/>
              </a:lnSpc>
              <a:spcBef>
                <a:spcPts val="0"/>
              </a:spcBef>
              <a:spcAft>
                <a:spcPts val="0"/>
              </a:spcAft>
              <a:buNone/>
            </a:pPr>
            <a:r>
              <a:rPr lang="en" sz="900">
                <a:latin typeface="Consolas"/>
                <a:ea typeface="Consolas"/>
                <a:cs typeface="Consolas"/>
                <a:sym typeface="Consolas"/>
              </a:rPr>
              <a:t>}</a:t>
            </a:r>
            <a:endParaRPr sz="900">
              <a:solidFill>
                <a:srgbClr val="0000FF"/>
              </a:solidFill>
              <a:latin typeface="Consolas"/>
              <a:ea typeface="Consolas"/>
              <a:cs typeface="Consolas"/>
              <a:sym typeface="Consolas"/>
            </a:endParaRPr>
          </a:p>
        </p:txBody>
      </p:sp>
      <p:sp>
        <p:nvSpPr>
          <p:cNvPr id="859" name="Google Shape;859;p100"/>
          <p:cNvSpPr txBox="1"/>
          <p:nvPr/>
        </p:nvSpPr>
        <p:spPr>
          <a:xfrm>
            <a:off x="104800" y="808825"/>
            <a:ext cx="32418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An </a:t>
            </a:r>
            <a:r>
              <a:rPr b="1" i="1" lang="en" sz="1100">
                <a:solidFill>
                  <a:srgbClr val="FF0000"/>
                </a:solidFill>
              </a:rPr>
              <a:t>abstract class</a:t>
            </a:r>
            <a:r>
              <a:rPr lang="en" sz="1100"/>
              <a:t> must be declared with the </a:t>
            </a:r>
            <a:r>
              <a:rPr lang="en" sz="1100">
                <a:solidFill>
                  <a:srgbClr val="FF0000"/>
                </a:solidFill>
                <a:latin typeface="Courier New"/>
                <a:ea typeface="Courier New"/>
                <a:cs typeface="Courier New"/>
                <a:sym typeface="Courier New"/>
              </a:rPr>
              <a:t>abstract</a:t>
            </a:r>
            <a:r>
              <a:rPr lang="en" sz="1100"/>
              <a:t> modifier.</a:t>
            </a:r>
            <a:endParaRPr sz="1100"/>
          </a:p>
        </p:txBody>
      </p:sp>
      <p:sp>
        <p:nvSpPr>
          <p:cNvPr id="860" name="Google Shape;860;p100"/>
          <p:cNvSpPr txBox="1"/>
          <p:nvPr/>
        </p:nvSpPr>
        <p:spPr>
          <a:xfrm>
            <a:off x="104800" y="1419975"/>
            <a:ext cx="18567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Abstract classes may contain </a:t>
            </a:r>
            <a:r>
              <a:rPr b="1" i="1" lang="en" sz="1100">
                <a:solidFill>
                  <a:srgbClr val="FF0000"/>
                </a:solidFill>
              </a:rPr>
              <a:t>fields</a:t>
            </a:r>
            <a:r>
              <a:rPr lang="en" sz="1100"/>
              <a:t>...</a:t>
            </a:r>
            <a:endParaRPr sz="1100"/>
          </a:p>
        </p:txBody>
      </p:sp>
      <p:sp>
        <p:nvSpPr>
          <p:cNvPr id="861" name="Google Shape;861;p100"/>
          <p:cNvSpPr txBox="1"/>
          <p:nvPr/>
        </p:nvSpPr>
        <p:spPr>
          <a:xfrm>
            <a:off x="104800" y="4305975"/>
            <a:ext cx="18567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An abstract class may also define </a:t>
            </a:r>
            <a:r>
              <a:rPr b="1" i="1" lang="en" sz="1100">
                <a:solidFill>
                  <a:srgbClr val="FF0000"/>
                </a:solidFill>
              </a:rPr>
              <a:t>zero or more</a:t>
            </a:r>
            <a:r>
              <a:rPr lang="en" sz="1100"/>
              <a:t> </a:t>
            </a:r>
            <a:r>
              <a:rPr lang="en" sz="1100">
                <a:latin typeface="Courier New"/>
                <a:ea typeface="Courier New"/>
                <a:cs typeface="Courier New"/>
                <a:sym typeface="Courier New"/>
              </a:rPr>
              <a:t>abstract</a:t>
            </a:r>
            <a:r>
              <a:rPr lang="en" sz="1100"/>
              <a:t> methods.</a:t>
            </a:r>
            <a:endParaRPr sz="1100"/>
          </a:p>
        </p:txBody>
      </p:sp>
      <p:sp>
        <p:nvSpPr>
          <p:cNvPr id="862" name="Google Shape;862;p100"/>
          <p:cNvSpPr txBox="1"/>
          <p:nvPr/>
        </p:nvSpPr>
        <p:spPr>
          <a:xfrm>
            <a:off x="104800" y="2493338"/>
            <a:ext cx="1856700" cy="354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FF0000"/>
                </a:solidFill>
              </a:rPr>
              <a:t>…</a:t>
            </a:r>
            <a:r>
              <a:rPr b="1" i="1" lang="en" sz="1100">
                <a:solidFill>
                  <a:srgbClr val="FF0000"/>
                </a:solidFill>
              </a:rPr>
              <a:t>constructors</a:t>
            </a:r>
            <a:r>
              <a:rPr lang="en" sz="1100"/>
              <a:t>...</a:t>
            </a:r>
            <a:endParaRPr sz="1100"/>
          </a:p>
        </p:txBody>
      </p:sp>
      <p:sp>
        <p:nvSpPr>
          <p:cNvPr id="863" name="Google Shape;863;p100"/>
          <p:cNvSpPr txBox="1"/>
          <p:nvPr/>
        </p:nvSpPr>
        <p:spPr>
          <a:xfrm>
            <a:off x="104800" y="3397488"/>
            <a:ext cx="1856700" cy="354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…and </a:t>
            </a:r>
            <a:r>
              <a:rPr b="1" i="1" lang="en" sz="1100">
                <a:solidFill>
                  <a:srgbClr val="FF0000"/>
                </a:solidFill>
              </a:rPr>
              <a:t>concrete methods</a:t>
            </a:r>
            <a:r>
              <a:rPr lang="en" sz="1100"/>
              <a:t>.</a:t>
            </a:r>
            <a:endParaRPr sz="1100"/>
          </a:p>
        </p:txBody>
      </p:sp>
      <p:grpSp>
        <p:nvGrpSpPr>
          <p:cNvPr id="864" name="Google Shape;864;p100"/>
          <p:cNvGrpSpPr/>
          <p:nvPr/>
        </p:nvGrpSpPr>
        <p:grpSpPr>
          <a:xfrm>
            <a:off x="2578975" y="1332677"/>
            <a:ext cx="591600" cy="336900"/>
            <a:chOff x="2807575" y="1332677"/>
            <a:chExt cx="591600" cy="336900"/>
          </a:xfrm>
        </p:grpSpPr>
        <p:sp>
          <p:nvSpPr>
            <p:cNvPr id="865" name="Google Shape;865;p100"/>
            <p:cNvSpPr/>
            <p:nvPr/>
          </p:nvSpPr>
          <p:spPr>
            <a:xfrm>
              <a:off x="2807575" y="1504877"/>
              <a:ext cx="591600" cy="164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6" name="Google Shape;866;p100"/>
            <p:cNvCxnSpPr>
              <a:stCxn id="865" idx="0"/>
            </p:cNvCxnSpPr>
            <p:nvPr/>
          </p:nvCxnSpPr>
          <p:spPr>
            <a:xfrm rot="10800000">
              <a:off x="3103375" y="1332677"/>
              <a:ext cx="0" cy="172200"/>
            </a:xfrm>
            <a:prstGeom prst="straightConnector1">
              <a:avLst/>
            </a:prstGeom>
            <a:noFill/>
            <a:ln cap="flat" cmpd="sng" w="19050">
              <a:solidFill>
                <a:srgbClr val="FF0000"/>
              </a:solidFill>
              <a:prstDash val="solid"/>
              <a:round/>
              <a:headEnd len="med" w="med" type="none"/>
              <a:tailEnd len="med" w="med" type="none"/>
            </a:ln>
          </p:spPr>
        </p:cxnSp>
      </p:grpSp>
      <p:grpSp>
        <p:nvGrpSpPr>
          <p:cNvPr id="867" name="Google Shape;867;p100"/>
          <p:cNvGrpSpPr/>
          <p:nvPr/>
        </p:nvGrpSpPr>
        <p:grpSpPr>
          <a:xfrm>
            <a:off x="1969025" y="1718506"/>
            <a:ext cx="1822800" cy="164700"/>
            <a:chOff x="2197625" y="2021975"/>
            <a:chExt cx="1822800" cy="164700"/>
          </a:xfrm>
        </p:grpSpPr>
        <p:sp>
          <p:nvSpPr>
            <p:cNvPr id="868" name="Google Shape;868;p100"/>
            <p:cNvSpPr/>
            <p:nvPr/>
          </p:nvSpPr>
          <p:spPr>
            <a:xfrm>
              <a:off x="2480825" y="2021975"/>
              <a:ext cx="1539600" cy="164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9" name="Google Shape;869;p100"/>
            <p:cNvCxnSpPr/>
            <p:nvPr/>
          </p:nvCxnSpPr>
          <p:spPr>
            <a:xfrm rot="10800000">
              <a:off x="2197625" y="2104325"/>
              <a:ext cx="283200" cy="0"/>
            </a:xfrm>
            <a:prstGeom prst="straightConnector1">
              <a:avLst/>
            </a:prstGeom>
            <a:noFill/>
            <a:ln cap="flat" cmpd="sng" w="19050">
              <a:solidFill>
                <a:srgbClr val="FF0000"/>
              </a:solidFill>
              <a:prstDash val="solid"/>
              <a:round/>
              <a:headEnd len="med" w="med" type="none"/>
              <a:tailEnd len="med" w="med" type="none"/>
            </a:ln>
          </p:spPr>
        </p:cxnSp>
      </p:grpSp>
      <p:grpSp>
        <p:nvGrpSpPr>
          <p:cNvPr id="870" name="Google Shape;870;p100"/>
          <p:cNvGrpSpPr/>
          <p:nvPr/>
        </p:nvGrpSpPr>
        <p:grpSpPr>
          <a:xfrm>
            <a:off x="1961500" y="1998150"/>
            <a:ext cx="2668825" cy="672188"/>
            <a:chOff x="2190100" y="1998150"/>
            <a:chExt cx="2668825" cy="672188"/>
          </a:xfrm>
        </p:grpSpPr>
        <p:sp>
          <p:nvSpPr>
            <p:cNvPr id="871" name="Google Shape;871;p100"/>
            <p:cNvSpPr/>
            <p:nvPr/>
          </p:nvSpPr>
          <p:spPr>
            <a:xfrm>
              <a:off x="2480825" y="1998150"/>
              <a:ext cx="2378100" cy="495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72" name="Google Shape;872;p100"/>
            <p:cNvCxnSpPr>
              <a:stCxn id="862" idx="3"/>
              <a:endCxn id="871" idx="1"/>
            </p:cNvCxnSpPr>
            <p:nvPr/>
          </p:nvCxnSpPr>
          <p:spPr>
            <a:xfrm flipH="1" rot="10800000">
              <a:off x="2190100" y="2245838"/>
              <a:ext cx="290700" cy="424500"/>
            </a:xfrm>
            <a:prstGeom prst="bentConnector3">
              <a:avLst>
                <a:gd fmla="val 72136" name="adj1"/>
              </a:avLst>
            </a:prstGeom>
            <a:noFill/>
            <a:ln cap="flat" cmpd="sng" w="19050">
              <a:solidFill>
                <a:srgbClr val="FF0000"/>
              </a:solidFill>
              <a:prstDash val="solid"/>
              <a:round/>
              <a:headEnd len="med" w="med" type="none"/>
              <a:tailEnd len="med" w="med" type="none"/>
            </a:ln>
          </p:spPr>
        </p:cxnSp>
      </p:grpSp>
      <p:grpSp>
        <p:nvGrpSpPr>
          <p:cNvPr id="873" name="Google Shape;873;p100"/>
          <p:cNvGrpSpPr/>
          <p:nvPr/>
        </p:nvGrpSpPr>
        <p:grpSpPr>
          <a:xfrm>
            <a:off x="1961500" y="2571750"/>
            <a:ext cx="3042666" cy="1306500"/>
            <a:chOff x="2189583" y="2571748"/>
            <a:chExt cx="2978334" cy="1306500"/>
          </a:xfrm>
        </p:grpSpPr>
        <p:sp>
          <p:nvSpPr>
            <p:cNvPr id="874" name="Google Shape;874;p100"/>
            <p:cNvSpPr/>
            <p:nvPr/>
          </p:nvSpPr>
          <p:spPr>
            <a:xfrm>
              <a:off x="2480817" y="2571748"/>
              <a:ext cx="2687100" cy="1306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75" name="Google Shape;875;p100"/>
            <p:cNvCxnSpPr>
              <a:stCxn id="863" idx="3"/>
              <a:endCxn id="874" idx="1"/>
            </p:cNvCxnSpPr>
            <p:nvPr/>
          </p:nvCxnSpPr>
          <p:spPr>
            <a:xfrm flipH="1" rot="10800000">
              <a:off x="2189583" y="3224986"/>
              <a:ext cx="291300" cy="349500"/>
            </a:xfrm>
            <a:prstGeom prst="bentConnector3">
              <a:avLst>
                <a:gd fmla="val 72986" name="adj1"/>
              </a:avLst>
            </a:prstGeom>
            <a:noFill/>
            <a:ln cap="flat" cmpd="sng" w="19050">
              <a:solidFill>
                <a:srgbClr val="FF0000"/>
              </a:solidFill>
              <a:prstDash val="solid"/>
              <a:round/>
              <a:headEnd len="med" w="med" type="none"/>
              <a:tailEnd len="med" w="med" type="none"/>
            </a:ln>
          </p:spPr>
        </p:cxnSp>
      </p:grpSp>
      <p:grpSp>
        <p:nvGrpSpPr>
          <p:cNvPr id="876" name="Google Shape;876;p100"/>
          <p:cNvGrpSpPr/>
          <p:nvPr/>
        </p:nvGrpSpPr>
        <p:grpSpPr>
          <a:xfrm>
            <a:off x="1961500" y="3947625"/>
            <a:ext cx="3035725" cy="807600"/>
            <a:chOff x="2190100" y="3947625"/>
            <a:chExt cx="3035725" cy="807600"/>
          </a:xfrm>
        </p:grpSpPr>
        <p:sp>
          <p:nvSpPr>
            <p:cNvPr id="877" name="Google Shape;877;p100"/>
            <p:cNvSpPr/>
            <p:nvPr/>
          </p:nvSpPr>
          <p:spPr>
            <a:xfrm>
              <a:off x="2480825" y="3947625"/>
              <a:ext cx="2745000" cy="807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78" name="Google Shape;878;p100"/>
            <p:cNvCxnSpPr>
              <a:stCxn id="861" idx="3"/>
              <a:endCxn id="877" idx="1"/>
            </p:cNvCxnSpPr>
            <p:nvPr/>
          </p:nvCxnSpPr>
          <p:spPr>
            <a:xfrm flipH="1" rot="10800000">
              <a:off x="2190100" y="4351425"/>
              <a:ext cx="290700" cy="300900"/>
            </a:xfrm>
            <a:prstGeom prst="bentConnector3">
              <a:avLst>
                <a:gd fmla="val 79859" name="adj1"/>
              </a:avLst>
            </a:prstGeom>
            <a:noFill/>
            <a:ln cap="flat" cmpd="sng" w="19050">
              <a:solidFill>
                <a:srgbClr val="FF0000"/>
              </a:solidFill>
              <a:prstDash val="solid"/>
              <a:round/>
              <a:headEnd len="med" w="med" type="none"/>
              <a:tailEnd len="med" w="med" type="none"/>
            </a:ln>
          </p:spPr>
        </p:cxnSp>
      </p:grpSp>
      <p:sp>
        <p:nvSpPr>
          <p:cNvPr id="879" name="Google Shape;879;p100"/>
          <p:cNvSpPr txBox="1"/>
          <p:nvPr/>
        </p:nvSpPr>
        <p:spPr>
          <a:xfrm>
            <a:off x="5269950" y="1423490"/>
            <a:ext cx="35622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An abstract class cannot be </a:t>
            </a:r>
            <a:r>
              <a:rPr b="1" i="1" lang="en" sz="1100">
                <a:solidFill>
                  <a:srgbClr val="FF0000"/>
                </a:solidFill>
              </a:rPr>
              <a:t>instantiated </a:t>
            </a:r>
            <a:r>
              <a:rPr lang="en" sz="1100"/>
              <a:t>using </a:t>
            </a:r>
            <a:r>
              <a:rPr lang="en" sz="1100">
                <a:latin typeface="Courier New"/>
                <a:ea typeface="Courier New"/>
                <a:cs typeface="Courier New"/>
                <a:sym typeface="Courier New"/>
              </a:rPr>
              <a:t>new</a:t>
            </a:r>
            <a:r>
              <a:rPr lang="en" sz="1100"/>
              <a:t> even if it defines a constructor. Why?</a:t>
            </a:r>
            <a:endParaRPr sz="1100"/>
          </a:p>
        </p:txBody>
      </p:sp>
      <p:pic>
        <p:nvPicPr>
          <p:cNvPr id="880" name="Google Shape;880;p100"/>
          <p:cNvPicPr preferRelativeResize="0"/>
          <p:nvPr/>
        </p:nvPicPr>
        <p:blipFill>
          <a:blip r:embed="rId3">
            <a:alphaModFix/>
          </a:blip>
          <a:stretch>
            <a:fillRect/>
          </a:stretch>
        </p:blipFill>
        <p:spPr>
          <a:xfrm>
            <a:off x="5269950" y="2113116"/>
            <a:ext cx="3562200" cy="1242855"/>
          </a:xfrm>
          <a:prstGeom prst="rect">
            <a:avLst/>
          </a:prstGeom>
          <a:noFill/>
          <a:ln cap="flat" cmpd="sng" w="19050">
            <a:solidFill>
              <a:srgbClr val="000000"/>
            </a:solidFill>
            <a:prstDash val="solid"/>
            <a:round/>
            <a:headEnd len="sm" w="sm" type="none"/>
            <a:tailEnd len="sm" w="sm" type="none"/>
          </a:ln>
        </p:spPr>
      </p:pic>
      <p:grpSp>
        <p:nvGrpSpPr>
          <p:cNvPr id="881" name="Google Shape;881;p100"/>
          <p:cNvGrpSpPr/>
          <p:nvPr/>
        </p:nvGrpSpPr>
        <p:grpSpPr>
          <a:xfrm>
            <a:off x="6813075" y="1940291"/>
            <a:ext cx="1954200" cy="540600"/>
            <a:chOff x="6813075" y="1901525"/>
            <a:chExt cx="1954200" cy="540600"/>
          </a:xfrm>
        </p:grpSpPr>
        <p:sp>
          <p:nvSpPr>
            <p:cNvPr id="882" name="Google Shape;882;p100"/>
            <p:cNvSpPr/>
            <p:nvPr/>
          </p:nvSpPr>
          <p:spPr>
            <a:xfrm>
              <a:off x="6813075" y="2156225"/>
              <a:ext cx="1954200" cy="285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3" name="Google Shape;883;p100"/>
            <p:cNvCxnSpPr>
              <a:stCxn id="882" idx="0"/>
            </p:cNvCxnSpPr>
            <p:nvPr/>
          </p:nvCxnSpPr>
          <p:spPr>
            <a:xfrm rot="10800000">
              <a:off x="7790175" y="1901525"/>
              <a:ext cx="0" cy="254700"/>
            </a:xfrm>
            <a:prstGeom prst="straightConnector1">
              <a:avLst/>
            </a:prstGeom>
            <a:noFill/>
            <a:ln cap="flat" cmpd="sng" w="19050">
              <a:solidFill>
                <a:srgbClr val="FF0000"/>
              </a:solidFill>
              <a:prstDash val="solid"/>
              <a:round/>
              <a:headEnd len="med" w="med" type="none"/>
              <a:tailEnd len="med" w="med" type="none"/>
            </a:ln>
          </p:spPr>
        </p:cxnSp>
      </p:grpSp>
      <p:pic>
        <p:nvPicPr>
          <p:cNvPr id="884" name="Google Shape;884;p100"/>
          <p:cNvPicPr preferRelativeResize="0"/>
          <p:nvPr/>
        </p:nvPicPr>
        <p:blipFill rotWithShape="1">
          <a:blip r:embed="rId4">
            <a:alphaModFix/>
          </a:blip>
          <a:srcRect b="0" l="0" r="2210" t="0"/>
          <a:stretch/>
        </p:blipFill>
        <p:spPr>
          <a:xfrm>
            <a:off x="5340938" y="2620868"/>
            <a:ext cx="3420225" cy="672200"/>
          </a:xfrm>
          <a:prstGeom prst="rect">
            <a:avLst/>
          </a:prstGeom>
          <a:noFill/>
          <a:ln>
            <a:noFill/>
          </a:ln>
        </p:spPr>
      </p:pic>
      <p:sp>
        <p:nvSpPr>
          <p:cNvPr id="885" name="Google Shape;885;p100"/>
          <p:cNvSpPr txBox="1"/>
          <p:nvPr/>
        </p:nvSpPr>
        <p:spPr>
          <a:xfrm>
            <a:off x="5269963" y="3522391"/>
            <a:ext cx="35622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If you could instantiate an abstract class, what would happen when you tried to call one of the abstract methods?</a:t>
            </a:r>
            <a:endParaRPr sz="1100"/>
          </a:p>
        </p:txBody>
      </p:sp>
      <p:sp>
        <p:nvSpPr>
          <p:cNvPr id="886" name="Google Shape;886;p100"/>
          <p:cNvSpPr txBox="1"/>
          <p:nvPr/>
        </p:nvSpPr>
        <p:spPr>
          <a:xfrm>
            <a:off x="5269938" y="4344741"/>
            <a:ext cx="35622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There is </a:t>
            </a:r>
            <a:r>
              <a:rPr b="1" i="1" lang="en" sz="1100">
                <a:solidFill>
                  <a:srgbClr val="FF0000"/>
                </a:solidFill>
              </a:rPr>
              <a:t>no code</a:t>
            </a:r>
            <a:r>
              <a:rPr lang="en" sz="1100"/>
              <a:t> in those methods. What would Java execute? How would it know what to </a:t>
            </a:r>
            <a:r>
              <a:rPr b="1" i="1" lang="en" sz="1100">
                <a:solidFill>
                  <a:srgbClr val="FF0000"/>
                </a:solidFill>
              </a:rPr>
              <a:t>return</a:t>
            </a:r>
            <a:r>
              <a:rPr lang="en" sz="1100"/>
              <a:t>?</a:t>
            </a:r>
            <a:endParaRPr sz="1100"/>
          </a:p>
        </p:txBody>
      </p:sp>
      <p:grpSp>
        <p:nvGrpSpPr>
          <p:cNvPr id="887" name="Google Shape;887;p100"/>
          <p:cNvGrpSpPr/>
          <p:nvPr/>
        </p:nvGrpSpPr>
        <p:grpSpPr>
          <a:xfrm>
            <a:off x="5340950" y="2676816"/>
            <a:ext cx="3426300" cy="845700"/>
            <a:chOff x="5340950" y="2638050"/>
            <a:chExt cx="3426300" cy="845700"/>
          </a:xfrm>
        </p:grpSpPr>
        <p:sp>
          <p:nvSpPr>
            <p:cNvPr id="888" name="Google Shape;888;p100"/>
            <p:cNvSpPr/>
            <p:nvPr/>
          </p:nvSpPr>
          <p:spPr>
            <a:xfrm>
              <a:off x="5340950" y="2638050"/>
              <a:ext cx="3426300" cy="540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9" name="Google Shape;889;p100"/>
            <p:cNvCxnSpPr>
              <a:stCxn id="888" idx="2"/>
              <a:endCxn id="885" idx="0"/>
            </p:cNvCxnSpPr>
            <p:nvPr/>
          </p:nvCxnSpPr>
          <p:spPr>
            <a:xfrm flipH="1">
              <a:off x="7051100" y="3178650"/>
              <a:ext cx="3000" cy="305100"/>
            </a:xfrm>
            <a:prstGeom prst="straightConnector1">
              <a:avLst/>
            </a:prstGeom>
            <a:noFill/>
            <a:ln cap="flat" cmpd="sng" w="19050">
              <a:solidFill>
                <a:srgbClr val="FF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59"/>
                                        </p:tgtEl>
                                        <p:attrNameLst>
                                          <p:attrName>style.visibility</p:attrName>
                                        </p:attrNameLst>
                                      </p:cBhvr>
                                      <p:to>
                                        <p:strVal val="visible"/>
                                      </p:to>
                                    </p:set>
                                    <p:animEffect filter="fade" transition="in">
                                      <p:cBhvr>
                                        <p:cTn dur="1000"/>
                                        <p:tgtEl>
                                          <p:spTgt spid="85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64"/>
                                        </p:tgtEl>
                                        <p:attrNameLst>
                                          <p:attrName>style.visibility</p:attrName>
                                        </p:attrNameLst>
                                      </p:cBhvr>
                                      <p:to>
                                        <p:strVal val="visible"/>
                                      </p:to>
                                    </p:set>
                                    <p:animEffect filter="fade" transition="in">
                                      <p:cBhvr>
                                        <p:cTn dur="1000"/>
                                        <p:tgtEl>
                                          <p:spTgt spid="8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0"/>
                                        </p:tgtEl>
                                        <p:attrNameLst>
                                          <p:attrName>style.visibility</p:attrName>
                                        </p:attrNameLst>
                                      </p:cBhvr>
                                      <p:to>
                                        <p:strVal val="visible"/>
                                      </p:to>
                                    </p:set>
                                    <p:animEffect filter="fade" transition="in">
                                      <p:cBhvr>
                                        <p:cTn dur="1000"/>
                                        <p:tgtEl>
                                          <p:spTgt spid="86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67"/>
                                        </p:tgtEl>
                                        <p:attrNameLst>
                                          <p:attrName>style.visibility</p:attrName>
                                        </p:attrNameLst>
                                      </p:cBhvr>
                                      <p:to>
                                        <p:strVal val="visible"/>
                                      </p:to>
                                    </p:set>
                                    <p:animEffect filter="fade" transition="in">
                                      <p:cBhvr>
                                        <p:cTn dur="1000"/>
                                        <p:tgtEl>
                                          <p:spTgt spid="8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2"/>
                                        </p:tgtEl>
                                        <p:attrNameLst>
                                          <p:attrName>style.visibility</p:attrName>
                                        </p:attrNameLst>
                                      </p:cBhvr>
                                      <p:to>
                                        <p:strVal val="visible"/>
                                      </p:to>
                                    </p:set>
                                    <p:animEffect filter="fade" transition="in">
                                      <p:cBhvr>
                                        <p:cTn dur="1000"/>
                                        <p:tgtEl>
                                          <p:spTgt spid="86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70"/>
                                        </p:tgtEl>
                                        <p:attrNameLst>
                                          <p:attrName>style.visibility</p:attrName>
                                        </p:attrNameLst>
                                      </p:cBhvr>
                                      <p:to>
                                        <p:strVal val="visible"/>
                                      </p:to>
                                    </p:set>
                                    <p:animEffect filter="fade" transition="in">
                                      <p:cBhvr>
                                        <p:cTn dur="1000"/>
                                        <p:tgtEl>
                                          <p:spTgt spid="8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3"/>
                                        </p:tgtEl>
                                        <p:attrNameLst>
                                          <p:attrName>style.visibility</p:attrName>
                                        </p:attrNameLst>
                                      </p:cBhvr>
                                      <p:to>
                                        <p:strVal val="visible"/>
                                      </p:to>
                                    </p:set>
                                    <p:animEffect filter="fade" transition="in">
                                      <p:cBhvr>
                                        <p:cTn dur="1000"/>
                                        <p:tgtEl>
                                          <p:spTgt spid="86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73"/>
                                        </p:tgtEl>
                                        <p:attrNameLst>
                                          <p:attrName>style.visibility</p:attrName>
                                        </p:attrNameLst>
                                      </p:cBhvr>
                                      <p:to>
                                        <p:strVal val="visible"/>
                                      </p:to>
                                    </p:set>
                                    <p:animEffect filter="fade" transition="in">
                                      <p:cBhvr>
                                        <p:cTn dur="1000"/>
                                        <p:tgtEl>
                                          <p:spTgt spid="8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1"/>
                                        </p:tgtEl>
                                        <p:attrNameLst>
                                          <p:attrName>style.visibility</p:attrName>
                                        </p:attrNameLst>
                                      </p:cBhvr>
                                      <p:to>
                                        <p:strVal val="visible"/>
                                      </p:to>
                                    </p:set>
                                    <p:animEffect filter="fade" transition="in">
                                      <p:cBhvr>
                                        <p:cTn dur="1000"/>
                                        <p:tgtEl>
                                          <p:spTgt spid="86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76"/>
                                        </p:tgtEl>
                                        <p:attrNameLst>
                                          <p:attrName>style.visibility</p:attrName>
                                        </p:attrNameLst>
                                      </p:cBhvr>
                                      <p:to>
                                        <p:strVal val="visible"/>
                                      </p:to>
                                    </p:set>
                                    <p:animEffect filter="fade" transition="in">
                                      <p:cBhvr>
                                        <p:cTn dur="1000"/>
                                        <p:tgtEl>
                                          <p:spTgt spid="8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9"/>
                                        </p:tgtEl>
                                        <p:attrNameLst>
                                          <p:attrName>style.visibility</p:attrName>
                                        </p:attrNameLst>
                                      </p:cBhvr>
                                      <p:to>
                                        <p:strVal val="visible"/>
                                      </p:to>
                                    </p:set>
                                    <p:animEffect filter="fade" transition="in">
                                      <p:cBhvr>
                                        <p:cTn dur="1000"/>
                                        <p:tgtEl>
                                          <p:spTgt spid="879"/>
                                        </p:tgtEl>
                                      </p:cBhvr>
                                    </p:animEffect>
                                  </p:childTnLst>
                                </p:cTn>
                              </p:par>
                              <p:par>
                                <p:cTn fill="hold" nodeType="withEffect" presetClass="entr" presetID="10" presetSubtype="0">
                                  <p:stCondLst>
                                    <p:cond delay="0"/>
                                  </p:stCondLst>
                                  <p:childTnLst>
                                    <p:set>
                                      <p:cBhvr>
                                        <p:cTn dur="1" fill="hold">
                                          <p:stCondLst>
                                            <p:cond delay="0"/>
                                          </p:stCondLst>
                                        </p:cTn>
                                        <p:tgtEl>
                                          <p:spTgt spid="880"/>
                                        </p:tgtEl>
                                        <p:attrNameLst>
                                          <p:attrName>style.visibility</p:attrName>
                                        </p:attrNameLst>
                                      </p:cBhvr>
                                      <p:to>
                                        <p:strVal val="visible"/>
                                      </p:to>
                                    </p:set>
                                    <p:animEffect filter="fade" transition="in">
                                      <p:cBhvr>
                                        <p:cTn dur="1000"/>
                                        <p:tgtEl>
                                          <p:spTgt spid="88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1"/>
                                        </p:tgtEl>
                                        <p:attrNameLst>
                                          <p:attrName>style.visibility</p:attrName>
                                        </p:attrNameLst>
                                      </p:cBhvr>
                                      <p:to>
                                        <p:strVal val="visible"/>
                                      </p:to>
                                    </p:set>
                                    <p:animEffect filter="fade" transition="in">
                                      <p:cBhvr>
                                        <p:cTn dur="1000"/>
                                        <p:tgtEl>
                                          <p:spTgt spid="8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5"/>
                                        </p:tgtEl>
                                        <p:attrNameLst>
                                          <p:attrName>style.visibility</p:attrName>
                                        </p:attrNameLst>
                                      </p:cBhvr>
                                      <p:to>
                                        <p:strVal val="visible"/>
                                      </p:to>
                                    </p:set>
                                    <p:animEffect filter="fade" transition="in">
                                      <p:cBhvr>
                                        <p:cTn dur="1000"/>
                                        <p:tgtEl>
                                          <p:spTgt spid="885"/>
                                        </p:tgtEl>
                                      </p:cBhvr>
                                    </p:animEffect>
                                  </p:childTnLst>
                                </p:cTn>
                              </p:par>
                              <p:par>
                                <p:cTn fill="hold" nodeType="withEffect" presetClass="entr" presetID="10" presetSubtype="0">
                                  <p:stCondLst>
                                    <p:cond delay="0"/>
                                  </p:stCondLst>
                                  <p:childTnLst>
                                    <p:set>
                                      <p:cBhvr>
                                        <p:cTn dur="1" fill="hold">
                                          <p:stCondLst>
                                            <p:cond delay="0"/>
                                          </p:stCondLst>
                                        </p:cTn>
                                        <p:tgtEl>
                                          <p:spTgt spid="884"/>
                                        </p:tgtEl>
                                        <p:attrNameLst>
                                          <p:attrName>style.visibility</p:attrName>
                                        </p:attrNameLst>
                                      </p:cBhvr>
                                      <p:to>
                                        <p:strVal val="visible"/>
                                      </p:to>
                                    </p:set>
                                    <p:animEffect filter="fade" transition="in">
                                      <p:cBhvr>
                                        <p:cTn dur="1000"/>
                                        <p:tgtEl>
                                          <p:spTgt spid="88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7"/>
                                        </p:tgtEl>
                                        <p:attrNameLst>
                                          <p:attrName>style.visibility</p:attrName>
                                        </p:attrNameLst>
                                      </p:cBhvr>
                                      <p:to>
                                        <p:strVal val="visible"/>
                                      </p:to>
                                    </p:set>
                                    <p:animEffect filter="fade" transition="in">
                                      <p:cBhvr>
                                        <p:cTn dur="1000"/>
                                        <p:tgtEl>
                                          <p:spTgt spid="8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gtEl>
                                        <p:attrNameLst>
                                          <p:attrName>style.visibility</p:attrName>
                                        </p:attrNameLst>
                                      </p:cBhvr>
                                      <p:to>
                                        <p:strVal val="visible"/>
                                      </p:to>
                                    </p:set>
                                    <p:animEffect filter="fade" transition="in">
                                      <p:cBhvr>
                                        <p:cTn dur="1000"/>
                                        <p:tgtEl>
                                          <p:spTgt spid="8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101"/>
          <p:cNvSpPr txBox="1"/>
          <p:nvPr>
            <p:ph type="title"/>
          </p:nvPr>
        </p:nvSpPr>
        <p:spPr>
          <a:xfrm>
            <a:off x="311700" y="10527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Subclassing an Abstract Class</a:t>
            </a:r>
            <a:endParaRPr/>
          </a:p>
        </p:txBody>
      </p:sp>
      <p:sp>
        <p:nvSpPr>
          <p:cNvPr id="895" name="Google Shape;895;p101"/>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fld id="{00000000-1234-1234-1234-123412341234}" type="slidenum">
              <a:rPr lang="en"/>
              <a:t>‹#›</a:t>
            </a:fld>
            <a:endParaRPr/>
          </a:p>
        </p:txBody>
      </p:sp>
      <p:sp>
        <p:nvSpPr>
          <p:cNvPr id="896" name="Google Shape;896;p101"/>
          <p:cNvSpPr txBox="1"/>
          <p:nvPr/>
        </p:nvSpPr>
        <p:spPr>
          <a:xfrm>
            <a:off x="2077338" y="1419975"/>
            <a:ext cx="2987400" cy="32325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Fahrenheit</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00FF"/>
                </a:solidFill>
                <a:latin typeface="Consolas"/>
                <a:ea typeface="Consolas"/>
                <a:cs typeface="Consolas"/>
                <a:sym typeface="Consolas"/>
              </a:rPr>
              <a:t>                      extends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Thermometer</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Fahrenheit</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super</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getFreezingPoint</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98658"/>
                </a:solidFill>
                <a:latin typeface="Consolas"/>
                <a:ea typeface="Consolas"/>
                <a:cs typeface="Consolas"/>
                <a:sym typeface="Consolas"/>
              </a:rPr>
              <a:t>32</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getBoilingPoint</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98658"/>
                </a:solidFill>
                <a:latin typeface="Consolas"/>
                <a:ea typeface="Consolas"/>
                <a:cs typeface="Consolas"/>
                <a:sym typeface="Consolas"/>
              </a:rPr>
              <a:t>212</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char</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getScale</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A31515"/>
                </a:solidFill>
                <a:latin typeface="Consolas"/>
                <a:ea typeface="Consolas"/>
                <a:cs typeface="Consolas"/>
                <a:sym typeface="Consolas"/>
              </a:rPr>
              <a:t>'F'</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endParaRPr sz="900">
              <a:solidFill>
                <a:srgbClr val="0000FF"/>
              </a:solidFill>
              <a:latin typeface="Consolas"/>
              <a:ea typeface="Consolas"/>
              <a:cs typeface="Consolas"/>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102"/>
          <p:cNvSpPr txBox="1"/>
          <p:nvPr>
            <p:ph type="title"/>
          </p:nvPr>
        </p:nvSpPr>
        <p:spPr>
          <a:xfrm>
            <a:off x="311700" y="10527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Subclassing an Abstract Class</a:t>
            </a:r>
            <a:endParaRPr/>
          </a:p>
        </p:txBody>
      </p:sp>
      <p:sp>
        <p:nvSpPr>
          <p:cNvPr id="902" name="Google Shape;902;p102"/>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fld id="{00000000-1234-1234-1234-123412341234}" type="slidenum">
              <a:rPr lang="en"/>
              <a:t>‹#›</a:t>
            </a:fld>
            <a:endParaRPr/>
          </a:p>
        </p:txBody>
      </p:sp>
      <p:sp>
        <p:nvSpPr>
          <p:cNvPr id="903" name="Google Shape;903;p102"/>
          <p:cNvSpPr txBox="1"/>
          <p:nvPr/>
        </p:nvSpPr>
        <p:spPr>
          <a:xfrm>
            <a:off x="104800" y="808825"/>
            <a:ext cx="32418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A </a:t>
            </a:r>
            <a:r>
              <a:rPr b="1" i="1" lang="en" sz="1100">
                <a:solidFill>
                  <a:srgbClr val="FF0000"/>
                </a:solidFill>
              </a:rPr>
              <a:t>child class</a:t>
            </a:r>
            <a:r>
              <a:rPr lang="en" sz="1100"/>
              <a:t> may subclass an abstract class using the </a:t>
            </a:r>
            <a:r>
              <a:rPr lang="en" sz="1100">
                <a:latin typeface="Courier New"/>
                <a:ea typeface="Courier New"/>
                <a:cs typeface="Courier New"/>
                <a:sym typeface="Courier New"/>
              </a:rPr>
              <a:t>extends</a:t>
            </a:r>
            <a:r>
              <a:rPr lang="en" sz="1100"/>
              <a:t> keyword.</a:t>
            </a:r>
            <a:endParaRPr sz="1100"/>
          </a:p>
        </p:txBody>
      </p:sp>
      <p:sp>
        <p:nvSpPr>
          <p:cNvPr id="904" name="Google Shape;904;p102"/>
          <p:cNvSpPr txBox="1"/>
          <p:nvPr/>
        </p:nvSpPr>
        <p:spPr>
          <a:xfrm>
            <a:off x="2077338" y="1419975"/>
            <a:ext cx="2987400" cy="32325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Fahrenheit</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00FF"/>
                </a:solidFill>
                <a:latin typeface="Consolas"/>
                <a:ea typeface="Consolas"/>
                <a:cs typeface="Consolas"/>
                <a:sym typeface="Consolas"/>
              </a:rPr>
              <a:t>                      extends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Thermometer</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Fahrenheit</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super</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getFreezingPoint</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98658"/>
                </a:solidFill>
                <a:latin typeface="Consolas"/>
                <a:ea typeface="Consolas"/>
                <a:cs typeface="Consolas"/>
                <a:sym typeface="Consolas"/>
              </a:rPr>
              <a:t>32</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getBoilingPoint</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98658"/>
                </a:solidFill>
                <a:latin typeface="Consolas"/>
                <a:ea typeface="Consolas"/>
                <a:cs typeface="Consolas"/>
                <a:sym typeface="Consolas"/>
              </a:rPr>
              <a:t>212</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char</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getScale</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A31515"/>
                </a:solidFill>
                <a:latin typeface="Consolas"/>
                <a:ea typeface="Consolas"/>
                <a:cs typeface="Consolas"/>
                <a:sym typeface="Consolas"/>
              </a:rPr>
              <a:t>'F'</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endParaRPr sz="900">
              <a:solidFill>
                <a:srgbClr val="0000FF"/>
              </a:solidFill>
              <a:latin typeface="Consolas"/>
              <a:ea typeface="Consolas"/>
              <a:cs typeface="Consolas"/>
              <a:sym typeface="Consolas"/>
            </a:endParaRPr>
          </a:p>
        </p:txBody>
      </p:sp>
      <p:sp>
        <p:nvSpPr>
          <p:cNvPr id="905" name="Google Shape;905;p102"/>
          <p:cNvSpPr txBox="1"/>
          <p:nvPr/>
        </p:nvSpPr>
        <p:spPr>
          <a:xfrm>
            <a:off x="104800" y="1419975"/>
            <a:ext cx="1856700" cy="861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If the parent class defines any constructors, one of them must be called using </a:t>
            </a:r>
            <a:r>
              <a:rPr lang="en" sz="1100">
                <a:latin typeface="Courier New"/>
                <a:ea typeface="Courier New"/>
                <a:cs typeface="Courier New"/>
                <a:sym typeface="Courier New"/>
              </a:rPr>
              <a:t>super</a:t>
            </a:r>
            <a:r>
              <a:rPr lang="en" sz="1100"/>
              <a:t>.</a:t>
            </a:r>
            <a:endParaRPr sz="1100"/>
          </a:p>
        </p:txBody>
      </p:sp>
      <p:grpSp>
        <p:nvGrpSpPr>
          <p:cNvPr id="906" name="Google Shape;906;p102"/>
          <p:cNvGrpSpPr/>
          <p:nvPr/>
        </p:nvGrpSpPr>
        <p:grpSpPr>
          <a:xfrm>
            <a:off x="3346650" y="1070575"/>
            <a:ext cx="1579800" cy="771300"/>
            <a:chOff x="3346650" y="1070575"/>
            <a:chExt cx="1579800" cy="771300"/>
          </a:xfrm>
        </p:grpSpPr>
        <p:sp>
          <p:nvSpPr>
            <p:cNvPr id="907" name="Google Shape;907;p102"/>
            <p:cNvSpPr/>
            <p:nvPr/>
          </p:nvSpPr>
          <p:spPr>
            <a:xfrm>
              <a:off x="3518850" y="1624675"/>
              <a:ext cx="1407600" cy="217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08" name="Google Shape;908;p102"/>
            <p:cNvCxnSpPr>
              <a:stCxn id="907" idx="0"/>
              <a:endCxn id="903" idx="3"/>
            </p:cNvCxnSpPr>
            <p:nvPr/>
          </p:nvCxnSpPr>
          <p:spPr>
            <a:xfrm flipH="1" rot="5400000">
              <a:off x="3507600" y="909625"/>
              <a:ext cx="554100" cy="876000"/>
            </a:xfrm>
            <a:prstGeom prst="bentConnector2">
              <a:avLst/>
            </a:prstGeom>
            <a:noFill/>
            <a:ln cap="flat" cmpd="sng" w="19050">
              <a:solidFill>
                <a:srgbClr val="FF0000"/>
              </a:solidFill>
              <a:prstDash val="solid"/>
              <a:round/>
              <a:headEnd len="med" w="med" type="none"/>
              <a:tailEnd len="med" w="med" type="none"/>
            </a:ln>
          </p:spPr>
        </p:cxnSp>
      </p:grpSp>
      <p:grpSp>
        <p:nvGrpSpPr>
          <p:cNvPr id="909" name="Google Shape;909;p102"/>
          <p:cNvGrpSpPr/>
          <p:nvPr/>
        </p:nvGrpSpPr>
        <p:grpSpPr>
          <a:xfrm>
            <a:off x="1969064" y="1911839"/>
            <a:ext cx="2934900" cy="476400"/>
            <a:chOff x="1969064" y="1911839"/>
            <a:chExt cx="2934900" cy="476400"/>
          </a:xfrm>
        </p:grpSpPr>
        <p:sp>
          <p:nvSpPr>
            <p:cNvPr id="910" name="Google Shape;910;p102"/>
            <p:cNvSpPr/>
            <p:nvPr/>
          </p:nvSpPr>
          <p:spPr>
            <a:xfrm>
              <a:off x="2630564" y="1911839"/>
              <a:ext cx="2273400" cy="476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1" name="Google Shape;911;p102"/>
            <p:cNvCxnSpPr>
              <a:stCxn id="910" idx="1"/>
            </p:cNvCxnSpPr>
            <p:nvPr/>
          </p:nvCxnSpPr>
          <p:spPr>
            <a:xfrm rot="10800000">
              <a:off x="1969064" y="2150039"/>
              <a:ext cx="661500" cy="0"/>
            </a:xfrm>
            <a:prstGeom prst="straightConnector1">
              <a:avLst/>
            </a:prstGeom>
            <a:noFill/>
            <a:ln cap="flat" cmpd="sng" w="19050">
              <a:solidFill>
                <a:srgbClr val="FF0000"/>
              </a:solidFill>
              <a:prstDash val="solid"/>
              <a:round/>
              <a:headEnd len="med" w="med" type="none"/>
              <a:tailEnd len="med" w="med" type="none"/>
            </a:ln>
          </p:spPr>
        </p:cxnSp>
      </p:grpSp>
      <p:sp>
        <p:nvSpPr>
          <p:cNvPr id="912" name="Google Shape;912;p102"/>
          <p:cNvSpPr txBox="1"/>
          <p:nvPr/>
        </p:nvSpPr>
        <p:spPr>
          <a:xfrm>
            <a:off x="104800" y="2435775"/>
            <a:ext cx="1856700" cy="1031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The child class </a:t>
            </a:r>
            <a:r>
              <a:rPr b="1" i="1" lang="en" sz="1100">
                <a:solidFill>
                  <a:srgbClr val="FF0000"/>
                </a:solidFill>
              </a:rPr>
              <a:t>must</a:t>
            </a:r>
            <a:r>
              <a:rPr lang="en" sz="1100">
                <a:solidFill>
                  <a:srgbClr val="FF0000"/>
                </a:solidFill>
              </a:rPr>
              <a:t> </a:t>
            </a:r>
            <a:r>
              <a:rPr lang="en" sz="1100"/>
              <a:t>provide an implementation of each of the abstract methods defined by its parent class.</a:t>
            </a:r>
            <a:endParaRPr sz="1100"/>
          </a:p>
        </p:txBody>
      </p:sp>
      <p:grpSp>
        <p:nvGrpSpPr>
          <p:cNvPr id="913" name="Google Shape;913;p102"/>
          <p:cNvGrpSpPr/>
          <p:nvPr/>
        </p:nvGrpSpPr>
        <p:grpSpPr>
          <a:xfrm>
            <a:off x="1961575" y="2458258"/>
            <a:ext cx="2942400" cy="1966500"/>
            <a:chOff x="1961575" y="2458258"/>
            <a:chExt cx="2942400" cy="1966500"/>
          </a:xfrm>
        </p:grpSpPr>
        <p:sp>
          <p:nvSpPr>
            <p:cNvPr id="914" name="Google Shape;914;p102"/>
            <p:cNvSpPr/>
            <p:nvPr/>
          </p:nvSpPr>
          <p:spPr>
            <a:xfrm>
              <a:off x="2630575" y="2458258"/>
              <a:ext cx="2273400" cy="1966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5" name="Google Shape;915;p102"/>
            <p:cNvCxnSpPr>
              <a:endCxn id="914" idx="1"/>
            </p:cNvCxnSpPr>
            <p:nvPr/>
          </p:nvCxnSpPr>
          <p:spPr>
            <a:xfrm>
              <a:off x="1961575" y="2903908"/>
              <a:ext cx="669000" cy="537600"/>
            </a:xfrm>
            <a:prstGeom prst="bentConnector3">
              <a:avLst>
                <a:gd fmla="val 50000" name="adj1"/>
              </a:avLst>
            </a:prstGeom>
            <a:noFill/>
            <a:ln cap="flat" cmpd="sng" w="19050">
              <a:solidFill>
                <a:srgbClr val="FF0000"/>
              </a:solidFill>
              <a:prstDash val="solid"/>
              <a:round/>
              <a:headEnd len="med" w="med" type="none"/>
              <a:tailEnd len="med" w="med" type="none"/>
            </a:ln>
          </p:spPr>
        </p:cxnSp>
      </p:grpSp>
      <p:sp>
        <p:nvSpPr>
          <p:cNvPr id="916" name="Google Shape;916;p102"/>
          <p:cNvSpPr txBox="1"/>
          <p:nvPr/>
        </p:nvSpPr>
        <p:spPr>
          <a:xfrm>
            <a:off x="104800" y="3621075"/>
            <a:ext cx="1856700" cy="1031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If the child class does not implement one or more of the abstract methods, it must also be declared </a:t>
            </a:r>
            <a:r>
              <a:rPr lang="en" sz="1100">
                <a:latin typeface="Courier New"/>
                <a:ea typeface="Courier New"/>
                <a:cs typeface="Courier New"/>
                <a:sym typeface="Courier New"/>
              </a:rPr>
              <a:t>abstract</a:t>
            </a:r>
            <a:r>
              <a:rPr lang="en" sz="1100"/>
              <a:t>.</a:t>
            </a:r>
            <a:endParaRPr sz="1100"/>
          </a:p>
        </p:txBody>
      </p:sp>
      <p:sp>
        <p:nvSpPr>
          <p:cNvPr id="917" name="Google Shape;917;p102"/>
          <p:cNvSpPr txBox="1"/>
          <p:nvPr/>
        </p:nvSpPr>
        <p:spPr>
          <a:xfrm>
            <a:off x="5180588" y="1558575"/>
            <a:ext cx="2987400" cy="30939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Celsius</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extends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Thermometer</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Celsius</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super</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getFreezingPoint</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98658"/>
                </a:solidFill>
                <a:latin typeface="Consolas"/>
                <a:ea typeface="Consolas"/>
                <a:cs typeface="Consolas"/>
                <a:sym typeface="Consolas"/>
              </a:rPr>
              <a:t>0</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getBoilingPoint</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98658"/>
                </a:solidFill>
                <a:latin typeface="Consolas"/>
                <a:ea typeface="Consolas"/>
                <a:cs typeface="Consolas"/>
                <a:sym typeface="Consolas"/>
              </a:rPr>
              <a:t>100</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char</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getScale</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A31515"/>
                </a:solidFill>
                <a:latin typeface="Consolas"/>
                <a:ea typeface="Consolas"/>
                <a:cs typeface="Consolas"/>
                <a:sym typeface="Consolas"/>
              </a:rPr>
              <a:t>'C'</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a:t>
            </a:r>
            <a:endParaRPr sz="900">
              <a:solidFill>
                <a:srgbClr val="0000FF"/>
              </a:solidFill>
              <a:latin typeface="Consolas"/>
              <a:ea typeface="Consolas"/>
              <a:cs typeface="Consolas"/>
              <a:sym typeface="Consolas"/>
            </a:endParaRPr>
          </a:p>
        </p:txBody>
      </p:sp>
      <p:sp>
        <p:nvSpPr>
          <p:cNvPr id="918" name="Google Shape;918;p102"/>
          <p:cNvSpPr txBox="1"/>
          <p:nvPr/>
        </p:nvSpPr>
        <p:spPr>
          <a:xfrm>
            <a:off x="5779350" y="808825"/>
            <a:ext cx="32418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Abstract methods are used when there is no common implementation. Other child classes will implement the methods differently.</a:t>
            </a:r>
            <a:endParaRPr sz="1100"/>
          </a:p>
        </p:txBody>
      </p:sp>
      <p:grpSp>
        <p:nvGrpSpPr>
          <p:cNvPr id="919" name="Google Shape;919;p102"/>
          <p:cNvGrpSpPr/>
          <p:nvPr/>
        </p:nvGrpSpPr>
        <p:grpSpPr>
          <a:xfrm>
            <a:off x="5470775" y="1497375"/>
            <a:ext cx="3041825" cy="2927383"/>
            <a:chOff x="5470775" y="1497375"/>
            <a:chExt cx="3041825" cy="2927383"/>
          </a:xfrm>
        </p:grpSpPr>
        <p:sp>
          <p:nvSpPr>
            <p:cNvPr id="920" name="Google Shape;920;p102"/>
            <p:cNvSpPr/>
            <p:nvPr/>
          </p:nvSpPr>
          <p:spPr>
            <a:xfrm>
              <a:off x="5470775" y="2458258"/>
              <a:ext cx="2273400" cy="1966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02"/>
            <p:cNvSpPr/>
            <p:nvPr/>
          </p:nvSpPr>
          <p:spPr>
            <a:xfrm>
              <a:off x="7741450" y="1497375"/>
              <a:ext cx="771150" cy="1969050"/>
            </a:xfrm>
            <a:custGeom>
              <a:rect b="b" l="l" r="r" t="t"/>
              <a:pathLst>
                <a:path extrusionOk="0" h="78762" w="30846">
                  <a:moveTo>
                    <a:pt x="0" y="78762"/>
                  </a:moveTo>
                  <a:lnTo>
                    <a:pt x="30846" y="78762"/>
                  </a:lnTo>
                  <a:lnTo>
                    <a:pt x="30846" y="0"/>
                  </a:lnTo>
                </a:path>
              </a:pathLst>
            </a:custGeom>
            <a:noFill/>
            <a:ln cap="flat" cmpd="sng" w="19050">
              <a:solidFill>
                <a:srgbClr val="FF0000"/>
              </a:solidFill>
              <a:prstDash val="solid"/>
              <a:round/>
              <a:headEnd len="med" w="med" type="none"/>
              <a:tailEnd len="med" w="med" type="none"/>
            </a:ln>
          </p:spPr>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03"/>
                                        </p:tgtEl>
                                        <p:attrNameLst>
                                          <p:attrName>style.visibility</p:attrName>
                                        </p:attrNameLst>
                                      </p:cBhvr>
                                      <p:to>
                                        <p:strVal val="visible"/>
                                      </p:to>
                                    </p:set>
                                    <p:animEffect filter="fade" transition="in">
                                      <p:cBhvr>
                                        <p:cTn dur="1000"/>
                                        <p:tgtEl>
                                          <p:spTgt spid="90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06"/>
                                        </p:tgtEl>
                                        <p:attrNameLst>
                                          <p:attrName>style.visibility</p:attrName>
                                        </p:attrNameLst>
                                      </p:cBhvr>
                                      <p:to>
                                        <p:strVal val="visible"/>
                                      </p:to>
                                    </p:set>
                                    <p:animEffect filter="fade" transition="in">
                                      <p:cBhvr>
                                        <p:cTn dur="1000"/>
                                        <p:tgtEl>
                                          <p:spTgt spid="9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5"/>
                                        </p:tgtEl>
                                        <p:attrNameLst>
                                          <p:attrName>style.visibility</p:attrName>
                                        </p:attrNameLst>
                                      </p:cBhvr>
                                      <p:to>
                                        <p:strVal val="visible"/>
                                      </p:to>
                                    </p:set>
                                    <p:animEffect filter="fade" transition="in">
                                      <p:cBhvr>
                                        <p:cTn dur="1000"/>
                                        <p:tgtEl>
                                          <p:spTgt spid="90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09"/>
                                        </p:tgtEl>
                                        <p:attrNameLst>
                                          <p:attrName>style.visibility</p:attrName>
                                        </p:attrNameLst>
                                      </p:cBhvr>
                                      <p:to>
                                        <p:strVal val="visible"/>
                                      </p:to>
                                    </p:set>
                                    <p:animEffect filter="fade" transition="in">
                                      <p:cBhvr>
                                        <p:cTn dur="1000"/>
                                        <p:tgtEl>
                                          <p:spTgt spid="9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2"/>
                                        </p:tgtEl>
                                        <p:attrNameLst>
                                          <p:attrName>style.visibility</p:attrName>
                                        </p:attrNameLst>
                                      </p:cBhvr>
                                      <p:to>
                                        <p:strVal val="visible"/>
                                      </p:to>
                                    </p:set>
                                    <p:animEffect filter="fade" transition="in">
                                      <p:cBhvr>
                                        <p:cTn dur="1000"/>
                                        <p:tgtEl>
                                          <p:spTgt spid="91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13"/>
                                        </p:tgtEl>
                                        <p:attrNameLst>
                                          <p:attrName>style.visibility</p:attrName>
                                        </p:attrNameLst>
                                      </p:cBhvr>
                                      <p:to>
                                        <p:strVal val="visible"/>
                                      </p:to>
                                    </p:set>
                                    <p:animEffect filter="fade" transition="in">
                                      <p:cBhvr>
                                        <p:cTn dur="1000"/>
                                        <p:tgtEl>
                                          <p:spTgt spid="9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6"/>
                                        </p:tgtEl>
                                        <p:attrNameLst>
                                          <p:attrName>style.visibility</p:attrName>
                                        </p:attrNameLst>
                                      </p:cBhvr>
                                      <p:to>
                                        <p:strVal val="visible"/>
                                      </p:to>
                                    </p:set>
                                    <p:animEffect filter="fade" transition="in">
                                      <p:cBhvr>
                                        <p:cTn dur="1000"/>
                                        <p:tgtEl>
                                          <p:spTgt spid="9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8"/>
                                        </p:tgtEl>
                                        <p:attrNameLst>
                                          <p:attrName>style.visibility</p:attrName>
                                        </p:attrNameLst>
                                      </p:cBhvr>
                                      <p:to>
                                        <p:strVal val="visible"/>
                                      </p:to>
                                    </p:set>
                                    <p:animEffect filter="fade" transition="in">
                                      <p:cBhvr>
                                        <p:cTn dur="1000"/>
                                        <p:tgtEl>
                                          <p:spTgt spid="918"/>
                                        </p:tgtEl>
                                      </p:cBhvr>
                                    </p:animEffect>
                                  </p:childTnLst>
                                </p:cTn>
                              </p:par>
                              <p:par>
                                <p:cTn fill="hold" nodeType="withEffect" presetClass="entr" presetID="10" presetSubtype="0">
                                  <p:stCondLst>
                                    <p:cond delay="0"/>
                                  </p:stCondLst>
                                  <p:childTnLst>
                                    <p:set>
                                      <p:cBhvr>
                                        <p:cTn dur="1" fill="hold">
                                          <p:stCondLst>
                                            <p:cond delay="0"/>
                                          </p:stCondLst>
                                        </p:cTn>
                                        <p:tgtEl>
                                          <p:spTgt spid="917"/>
                                        </p:tgtEl>
                                        <p:attrNameLst>
                                          <p:attrName>style.visibility</p:attrName>
                                        </p:attrNameLst>
                                      </p:cBhvr>
                                      <p:to>
                                        <p:strVal val="visible"/>
                                      </p:to>
                                    </p:set>
                                    <p:animEffect filter="fade" transition="in">
                                      <p:cBhvr>
                                        <p:cTn dur="1000"/>
                                        <p:tgtEl>
                                          <p:spTgt spid="91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19"/>
                                        </p:tgtEl>
                                        <p:attrNameLst>
                                          <p:attrName>style.visibility</p:attrName>
                                        </p:attrNameLst>
                                      </p:cBhvr>
                                      <p:to>
                                        <p:strVal val="visible"/>
                                      </p:to>
                                    </p:set>
                                    <p:animEffect filter="fade" transition="in">
                                      <p:cBhvr>
                                        <p:cTn dur="1000"/>
                                        <p:tgtEl>
                                          <p:spTgt spid="9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103"/>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Abstract classes allow us to </a:t>
            </a:r>
            <a:r>
              <a:rPr b="1" i="1" lang="en"/>
              <a:t>define</a:t>
            </a:r>
            <a:r>
              <a:rPr lang="en"/>
              <a:t> behavior without </a:t>
            </a:r>
            <a:r>
              <a:rPr b="1" i="1" lang="en"/>
              <a:t>implementing</a:t>
            </a:r>
            <a:r>
              <a:rPr lang="en"/>
              <a:t> it. This seems like a perfect fit for some of the methods in the </a:t>
            </a:r>
            <a:r>
              <a:rPr lang="en">
                <a:latin typeface="Courier New"/>
                <a:ea typeface="Courier New"/>
                <a:cs typeface="Courier New"/>
                <a:sym typeface="Courier New"/>
              </a:rPr>
              <a:t>Goat</a:t>
            </a:r>
            <a:r>
              <a:rPr lang="en"/>
              <a:t> class. </a:t>
            </a:r>
            <a:r>
              <a:rPr lang="en"/>
              <a:t>Modify the </a:t>
            </a:r>
            <a:r>
              <a:rPr lang="en">
                <a:latin typeface="Courier New"/>
                <a:ea typeface="Courier New"/>
                <a:cs typeface="Courier New"/>
                <a:sym typeface="Courier New"/>
              </a:rPr>
              <a:t>Goat</a:t>
            </a:r>
            <a:r>
              <a:rPr lang="en"/>
              <a:t> class so that it is </a:t>
            </a:r>
            <a:r>
              <a:rPr lang="en">
                <a:latin typeface="Courier New"/>
                <a:ea typeface="Courier New"/>
                <a:cs typeface="Courier New"/>
                <a:sym typeface="Courier New"/>
              </a:rPr>
              <a:t>abstract</a:t>
            </a:r>
            <a:r>
              <a:rPr lang="en"/>
              <a:t> and convert any methods that do not have useful implementations into </a:t>
            </a:r>
            <a:r>
              <a:rPr lang="en">
                <a:latin typeface="Courier New"/>
                <a:ea typeface="Courier New"/>
                <a:cs typeface="Courier New"/>
                <a:sym typeface="Courier New"/>
              </a:rPr>
              <a:t>abstract</a:t>
            </a:r>
            <a:r>
              <a:rPr lang="en"/>
              <a:t> methods.</a:t>
            </a:r>
            <a:endParaRPr/>
          </a:p>
        </p:txBody>
      </p:sp>
      <p:sp>
        <p:nvSpPr>
          <p:cNvPr id="927" name="Google Shape;927;p10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28" name="Google Shape;928;p103"/>
          <p:cNvSpPr txBox="1"/>
          <p:nvPr>
            <p:ph idx="2" type="body"/>
          </p:nvPr>
        </p:nvSpPr>
        <p:spPr>
          <a:xfrm>
            <a:off x="3908150" y="1677046"/>
            <a:ext cx="5033100" cy="27366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Open the </a:t>
            </a:r>
            <a:r>
              <a:rPr lang="en" sz="1400">
                <a:solidFill>
                  <a:srgbClr val="FF0000"/>
                </a:solidFill>
                <a:latin typeface="Courier New"/>
                <a:ea typeface="Courier New"/>
                <a:cs typeface="Courier New"/>
                <a:sym typeface="Courier New"/>
              </a:rPr>
              <a:t>Goat</a:t>
            </a:r>
            <a:r>
              <a:rPr lang="en" sz="1400">
                <a:solidFill>
                  <a:srgbClr val="FF0000"/>
                </a:solidFill>
              </a:rPr>
              <a:t> </a:t>
            </a:r>
            <a:r>
              <a:rPr lang="en" sz="1400"/>
              <a:t>class and convert it to an </a:t>
            </a:r>
            <a:r>
              <a:rPr b="1" i="1" lang="en" sz="1400">
                <a:solidFill>
                  <a:srgbClr val="FF0000"/>
                </a:solidFill>
              </a:rPr>
              <a:t>abstract class</a:t>
            </a:r>
            <a:r>
              <a:rPr lang="en" sz="1400"/>
              <a:t>.</a:t>
            </a:r>
            <a:endParaRPr sz="1400"/>
          </a:p>
          <a:p>
            <a:pPr indent="-304800" lvl="1" marL="914400" rtl="0" algn="l">
              <a:spcBef>
                <a:spcPts val="0"/>
              </a:spcBef>
              <a:spcAft>
                <a:spcPts val="0"/>
              </a:spcAft>
              <a:buSzPts val="1200"/>
              <a:buChar char="○"/>
            </a:pPr>
            <a:r>
              <a:rPr lang="en" sz="1200"/>
              <a:t>Add the </a:t>
            </a:r>
            <a:r>
              <a:rPr lang="en" sz="1200">
                <a:solidFill>
                  <a:srgbClr val="FF0000"/>
                </a:solidFill>
                <a:latin typeface="Courier New"/>
                <a:ea typeface="Courier New"/>
                <a:cs typeface="Courier New"/>
                <a:sym typeface="Courier New"/>
              </a:rPr>
              <a:t>abstract</a:t>
            </a:r>
            <a:r>
              <a:rPr lang="en" sz="1200">
                <a:solidFill>
                  <a:srgbClr val="FF0000"/>
                </a:solidFill>
              </a:rPr>
              <a:t> modifier</a:t>
            </a:r>
            <a:r>
              <a:rPr lang="en" sz="1200"/>
              <a:t> to the class declaration.</a:t>
            </a:r>
            <a:endParaRPr sz="1200"/>
          </a:p>
          <a:p>
            <a:pPr indent="-317500" lvl="0" marL="457200" rtl="0" algn="l">
              <a:spcBef>
                <a:spcPts val="0"/>
              </a:spcBef>
              <a:spcAft>
                <a:spcPts val="0"/>
              </a:spcAft>
              <a:buSzPts val="1400"/>
              <a:buChar char="●"/>
            </a:pPr>
            <a:r>
              <a:rPr lang="en" sz="1400"/>
              <a:t>Search through each method in the class and, if the method is not useful as implemented, convert it to an </a:t>
            </a:r>
            <a:r>
              <a:rPr b="1" i="1" lang="en" sz="1400">
                <a:solidFill>
                  <a:srgbClr val="FF0000"/>
                </a:solidFill>
              </a:rPr>
              <a:t>abstract method</a:t>
            </a:r>
            <a:r>
              <a:rPr lang="en" sz="1400"/>
              <a:t>.</a:t>
            </a:r>
            <a:endParaRPr sz="1400"/>
          </a:p>
          <a:p>
            <a:pPr indent="-304800" lvl="1" marL="914400" rtl="0" algn="l">
              <a:spcBef>
                <a:spcPts val="0"/>
              </a:spcBef>
              <a:spcAft>
                <a:spcPts val="0"/>
              </a:spcAft>
              <a:buSzPts val="1200"/>
              <a:buChar char="○"/>
            </a:pPr>
            <a:r>
              <a:rPr lang="en" sz="1200"/>
              <a:t>Add the </a:t>
            </a:r>
            <a:r>
              <a:rPr lang="en" sz="1200">
                <a:solidFill>
                  <a:srgbClr val="FF0000"/>
                </a:solidFill>
                <a:latin typeface="Courier New"/>
                <a:ea typeface="Courier New"/>
                <a:cs typeface="Courier New"/>
                <a:sym typeface="Courier New"/>
              </a:rPr>
              <a:t>abstract</a:t>
            </a:r>
            <a:r>
              <a:rPr lang="en" sz="1200">
                <a:solidFill>
                  <a:srgbClr val="FF0000"/>
                </a:solidFill>
              </a:rPr>
              <a:t> modifier</a:t>
            </a:r>
            <a:r>
              <a:rPr lang="en" sz="1200"/>
              <a:t> to the method declaration.</a:t>
            </a:r>
            <a:endParaRPr sz="1200"/>
          </a:p>
          <a:p>
            <a:pPr indent="-304800" lvl="1" marL="914400" rtl="0" algn="l">
              <a:spcBef>
                <a:spcPts val="0"/>
              </a:spcBef>
              <a:spcAft>
                <a:spcPts val="0"/>
              </a:spcAft>
              <a:buSzPts val="1200"/>
              <a:buChar char="○"/>
            </a:pPr>
            <a:r>
              <a:rPr b="1" i="1" lang="en" sz="1200">
                <a:solidFill>
                  <a:srgbClr val="FF0000"/>
                </a:solidFill>
              </a:rPr>
              <a:t>Delete</a:t>
            </a:r>
            <a:r>
              <a:rPr lang="en" sz="1200">
                <a:solidFill>
                  <a:srgbClr val="FF0000"/>
                </a:solidFill>
              </a:rPr>
              <a:t> </a:t>
            </a:r>
            <a:r>
              <a:rPr lang="en" sz="1200"/>
              <a:t>the body of the method.</a:t>
            </a:r>
            <a:endParaRPr sz="1200"/>
          </a:p>
          <a:p>
            <a:pPr indent="-317500" lvl="0" marL="457200" rtl="0" algn="l">
              <a:spcBef>
                <a:spcPts val="0"/>
              </a:spcBef>
              <a:spcAft>
                <a:spcPts val="0"/>
              </a:spcAft>
              <a:buSzPts val="1400"/>
              <a:buChar char="●"/>
            </a:pPr>
            <a:r>
              <a:rPr lang="en" sz="1400"/>
              <a:t>What changes are necessary in any of the </a:t>
            </a:r>
            <a:r>
              <a:rPr lang="en" sz="1400">
                <a:latin typeface="Courier New"/>
                <a:ea typeface="Courier New"/>
                <a:cs typeface="Courier New"/>
                <a:sym typeface="Courier New"/>
              </a:rPr>
              <a:t>Goat</a:t>
            </a:r>
            <a:r>
              <a:rPr lang="en" sz="1400"/>
              <a:t> child classes?</a:t>
            </a:r>
            <a:endParaRPr sz="1400"/>
          </a:p>
          <a:p>
            <a:pPr indent="-304800" lvl="1" marL="914400" rtl="0" algn="l">
              <a:spcBef>
                <a:spcPts val="0"/>
              </a:spcBef>
              <a:spcAft>
                <a:spcPts val="0"/>
              </a:spcAft>
              <a:buSzPts val="1200"/>
              <a:buChar char="○"/>
            </a:pPr>
            <a:r>
              <a:rPr lang="en" sz="1200"/>
              <a:t>Why?</a:t>
            </a:r>
            <a:endParaRPr sz="1200"/>
          </a:p>
          <a:p>
            <a:pPr indent="-317500" lvl="0" marL="457200" rtl="0" algn="l">
              <a:spcBef>
                <a:spcPts val="0"/>
              </a:spcBef>
              <a:spcAft>
                <a:spcPts val="0"/>
              </a:spcAft>
              <a:buSzPts val="1400"/>
              <a:buChar char="●"/>
            </a:pPr>
            <a:r>
              <a:rPr b="1" i="1" lang="en" sz="1400">
                <a:solidFill>
                  <a:srgbClr val="FF0000"/>
                </a:solidFill>
              </a:rPr>
              <a:t>Run</a:t>
            </a:r>
            <a:r>
              <a:rPr lang="en" sz="1400">
                <a:solidFill>
                  <a:srgbClr val="FF0000"/>
                </a:solidFill>
              </a:rPr>
              <a:t> </a:t>
            </a:r>
            <a:r>
              <a:rPr lang="en" sz="1400"/>
              <a:t>your code to make sure that it still works.</a:t>
            </a:r>
            <a:endParaRPr sz="1400"/>
          </a:p>
        </p:txBody>
      </p:sp>
      <p:sp>
        <p:nvSpPr>
          <p:cNvPr id="929" name="Google Shape;929;p10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An Abstract Goat</a:t>
            </a:r>
            <a:endParaRPr/>
          </a:p>
        </p:txBody>
      </p:sp>
      <p:sp>
        <p:nvSpPr>
          <p:cNvPr id="930" name="Google Shape;930;p10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3.18</a:t>
            </a:r>
            <a:endParaRPr/>
          </a:p>
        </p:txBody>
      </p:sp>
      <p:sp>
        <p:nvSpPr>
          <p:cNvPr id="931" name="Google Shape;931;p103"/>
          <p:cNvSpPr txBox="1"/>
          <p:nvPr>
            <p:ph idx="4" type="body"/>
          </p:nvPr>
        </p:nvSpPr>
        <p:spPr>
          <a:xfrm>
            <a:off x="141600" y="1684355"/>
            <a:ext cx="3706500" cy="6927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abstract</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AbstractParent</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abstract</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aMethod</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endParaRPr sz="1000">
              <a:solidFill>
                <a:srgbClr val="999999"/>
              </a:solidFill>
              <a:latin typeface="Consolas"/>
              <a:ea typeface="Consolas"/>
              <a:cs typeface="Consolas"/>
              <a:sym typeface="Consolas"/>
            </a:endParaRPr>
          </a:p>
        </p:txBody>
      </p:sp>
      <p:pic>
        <p:nvPicPr>
          <p:cNvPr id="932" name="Google Shape;932;p103"/>
          <p:cNvPicPr preferRelativeResize="0"/>
          <p:nvPr/>
        </p:nvPicPr>
        <p:blipFill>
          <a:blip r:embed="rId3">
            <a:alphaModFix/>
          </a:blip>
          <a:stretch>
            <a:fillRect/>
          </a:stretch>
        </p:blipFill>
        <p:spPr>
          <a:xfrm>
            <a:off x="141600" y="2452728"/>
            <a:ext cx="3677566" cy="2451701"/>
          </a:xfrm>
          <a:prstGeom prst="rect">
            <a:avLst/>
          </a:prstGeom>
          <a:noFill/>
          <a:ln cap="flat" cmpd="sng" w="19050">
            <a:solidFill>
              <a:schemeClr val="dk2"/>
            </a:solidFill>
            <a:prstDash val="solid"/>
            <a:round/>
            <a:headEnd len="sm" w="sm" type="none"/>
            <a:tailEnd len="sm" w="sm" type="none"/>
          </a:ln>
        </p:spPr>
      </p:pic>
      <p:sp>
        <p:nvSpPr>
          <p:cNvPr id="933" name="Google Shape;933;p103"/>
          <p:cNvSpPr txBox="1"/>
          <p:nvPr/>
        </p:nvSpPr>
        <p:spPr>
          <a:xfrm>
            <a:off x="7107500" y="4805425"/>
            <a:ext cx="1448400" cy="251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800">
                <a:latin typeface="Roboto"/>
                <a:ea typeface="Roboto"/>
                <a:cs typeface="Roboto"/>
                <a:sym typeface="Roboto"/>
              </a:rPr>
              <a:t>Artwork by Leonid Afremov</a:t>
            </a:r>
            <a:endParaRPr sz="800">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104"/>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Trolls</a:t>
            </a:r>
            <a:endParaRPr/>
          </a:p>
        </p:txBody>
      </p:sp>
      <p:sp>
        <p:nvSpPr>
          <p:cNvPr id="939" name="Google Shape;939;p10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40" name="Google Shape;940;p104"/>
          <p:cNvSpPr txBox="1"/>
          <p:nvPr/>
        </p:nvSpPr>
        <p:spPr>
          <a:xfrm>
            <a:off x="3342550" y="1361500"/>
            <a:ext cx="5647800" cy="62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5E696C"/>
                </a:solidFill>
                <a:latin typeface="Lato"/>
                <a:ea typeface="Lato"/>
                <a:cs typeface="Lato"/>
                <a:sym typeface="Lato"/>
              </a:rPr>
              <a:t>Our Goats need Bad Guys to fight! Let’s make some trolls.</a:t>
            </a:r>
            <a:endParaRPr sz="1800">
              <a:solidFill>
                <a:srgbClr val="5E696C"/>
              </a:solidFill>
              <a:latin typeface="Lato"/>
              <a:ea typeface="Lato"/>
              <a:cs typeface="Lato"/>
              <a:sym typeface="Lato"/>
            </a:endParaRPr>
          </a:p>
          <a:p>
            <a:pPr indent="0" lvl="0" marL="0" rtl="0" algn="l">
              <a:spcBef>
                <a:spcPts val="0"/>
              </a:spcBef>
              <a:spcAft>
                <a:spcPts val="0"/>
              </a:spcAft>
              <a:buNone/>
            </a:pPr>
            <a:r>
              <a:t/>
            </a:r>
            <a:endParaRPr>
              <a:solidFill>
                <a:srgbClr val="5E696C"/>
              </a:solidFill>
              <a:latin typeface="Lato"/>
              <a:ea typeface="Lato"/>
              <a:cs typeface="Lato"/>
              <a:sym typeface="Lato"/>
            </a:endParaRPr>
          </a:p>
        </p:txBody>
      </p:sp>
      <p:graphicFrame>
        <p:nvGraphicFramePr>
          <p:cNvPr id="941" name="Google Shape;941;p104"/>
          <p:cNvGraphicFramePr/>
          <p:nvPr/>
        </p:nvGraphicFramePr>
        <p:xfrm>
          <a:off x="3342550" y="2215325"/>
          <a:ext cx="3000000" cy="3000000"/>
        </p:xfrm>
        <a:graphic>
          <a:graphicData uri="http://schemas.openxmlformats.org/drawingml/2006/table">
            <a:tbl>
              <a:tblPr>
                <a:noFill/>
                <a:tableStyleId>{BB7116F7-C15E-4CF7-A1A4-3F0B48A09751}</a:tableStyleId>
              </a:tblPr>
              <a:tblGrid>
                <a:gridCol w="1346025"/>
                <a:gridCol w="1056350"/>
                <a:gridCol w="1635725"/>
                <a:gridCol w="1346025"/>
              </a:tblGrid>
              <a:tr h="514600">
                <a:tc>
                  <a:txBody>
                    <a:bodyPr/>
                    <a:lstStyle/>
                    <a:p>
                      <a:pPr indent="0" lvl="0" marL="0" rtl="0" algn="ctr">
                        <a:spcBef>
                          <a:spcPts val="0"/>
                        </a:spcBef>
                        <a:spcAft>
                          <a:spcPts val="0"/>
                        </a:spcAft>
                        <a:buNone/>
                      </a:pPr>
                      <a:r>
                        <a:rPr b="1" lang="en">
                          <a:solidFill>
                            <a:srgbClr val="FFFFFF"/>
                          </a:solidFill>
                        </a:rPr>
                        <a:t>Type</a:t>
                      </a:r>
                      <a:endParaRPr b="1">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a:solidFill>
                            <a:srgbClr val="FFFFFF"/>
                          </a:solidFill>
                        </a:rPr>
                        <a:t>Hit Points</a:t>
                      </a:r>
                      <a:endParaRPr b="1">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a:solidFill>
                            <a:srgbClr val="FFFFFF"/>
                          </a:solidFill>
                        </a:rPr>
                        <a:t>Attack </a:t>
                      </a:r>
                      <a:endParaRPr b="1">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1200">
                          <a:solidFill>
                            <a:srgbClr val="FFFFFF"/>
                          </a:solidFill>
                        </a:rPr>
                        <a:t>Special</a:t>
                      </a:r>
                      <a:endParaRPr b="1" sz="1200">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1119125">
                <a:tc>
                  <a:txBody>
                    <a:bodyPr/>
                    <a:lstStyle/>
                    <a:p>
                      <a:pPr indent="0" lvl="0" marL="0" rtl="0" algn="r">
                        <a:spcBef>
                          <a:spcPts val="0"/>
                        </a:spcBef>
                        <a:spcAft>
                          <a:spcPts val="0"/>
                        </a:spcAft>
                        <a:buNone/>
                      </a:pPr>
                      <a:r>
                        <a:rPr lang="en" sz="1200"/>
                        <a:t>Trolling</a:t>
                      </a:r>
                      <a:endParaRPr sz="1200"/>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
                        <a:t>38</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b="1" lang="en" u="sng"/>
                        <a:t>U Mad?</a:t>
                      </a:r>
                      <a:endParaRPr/>
                    </a:p>
                    <a:p>
                      <a:pPr indent="0" lvl="0" marL="0" rtl="0" algn="ctr">
                        <a:spcBef>
                          <a:spcPts val="0"/>
                        </a:spcBef>
                        <a:spcAft>
                          <a:spcPts val="0"/>
                        </a:spcAft>
                        <a:buNone/>
                      </a:pPr>
                      <a:r>
                        <a:rPr lang="en"/>
                        <a:t>15 (Physical Damage)</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 sz="1200"/>
                        <a:t>Takes +25% Magical Damage</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Regenerates 3%</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119125">
                <a:tc>
                  <a:txBody>
                    <a:bodyPr/>
                    <a:lstStyle/>
                    <a:p>
                      <a:pPr indent="0" lvl="0" marL="0" rtl="0" algn="r">
                        <a:spcBef>
                          <a:spcPts val="0"/>
                        </a:spcBef>
                        <a:spcAft>
                          <a:spcPts val="0"/>
                        </a:spcAft>
                        <a:buNone/>
                      </a:pPr>
                      <a:r>
                        <a:rPr lang="en" sz="1200"/>
                        <a:t>Trollzord</a:t>
                      </a:r>
                      <a:endParaRPr sz="1200"/>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
                        <a:t>64</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b="1" lang="en" u="sng"/>
                        <a:t>Flame War</a:t>
                      </a:r>
                      <a:endParaRPr/>
                    </a:p>
                    <a:p>
                      <a:pPr indent="0" lvl="0" marL="0" rtl="0" algn="ctr">
                        <a:spcBef>
                          <a:spcPts val="0"/>
                        </a:spcBef>
                        <a:spcAft>
                          <a:spcPts val="0"/>
                        </a:spcAft>
                        <a:buNone/>
                      </a:pPr>
                      <a:r>
                        <a:rPr lang="en"/>
                        <a:t>25 (Magical Damage)</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 sz="1200"/>
                        <a:t>Takes +25% Holy Damage</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Regenerates 5%</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sp>
        <p:nvSpPr>
          <p:cNvPr id="942" name="Google Shape;942;p104"/>
          <p:cNvSpPr txBox="1"/>
          <p:nvPr/>
        </p:nvSpPr>
        <p:spPr>
          <a:xfrm>
            <a:off x="181225" y="4165675"/>
            <a:ext cx="3052200" cy="802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In GvTV, trolls spawn and attack the party in waves. The number and type of trolls varies.</a:t>
            </a:r>
            <a:endParaRPr>
              <a:latin typeface="Lato"/>
              <a:ea typeface="Lato"/>
              <a:cs typeface="Lato"/>
              <a:sym typeface="Lato"/>
            </a:endParaRPr>
          </a:p>
        </p:txBody>
      </p:sp>
      <p:pic>
        <p:nvPicPr>
          <p:cNvPr id="943" name="Google Shape;943;p104"/>
          <p:cNvPicPr preferRelativeResize="0"/>
          <p:nvPr/>
        </p:nvPicPr>
        <p:blipFill>
          <a:blip r:embed="rId3">
            <a:alphaModFix/>
          </a:blip>
          <a:stretch>
            <a:fillRect/>
          </a:stretch>
        </p:blipFill>
        <p:spPr>
          <a:xfrm>
            <a:off x="3377850" y="3949667"/>
            <a:ext cx="605425" cy="930258"/>
          </a:xfrm>
          <a:prstGeom prst="rect">
            <a:avLst/>
          </a:prstGeom>
          <a:noFill/>
          <a:ln>
            <a:noFill/>
          </a:ln>
        </p:spPr>
      </p:pic>
      <p:pic>
        <p:nvPicPr>
          <p:cNvPr id="944" name="Google Shape;944;p104"/>
          <p:cNvPicPr preferRelativeResize="0"/>
          <p:nvPr/>
        </p:nvPicPr>
        <p:blipFill>
          <a:blip r:embed="rId4">
            <a:alphaModFix/>
          </a:blip>
          <a:stretch>
            <a:fillRect/>
          </a:stretch>
        </p:blipFill>
        <p:spPr>
          <a:xfrm>
            <a:off x="3377848" y="2938344"/>
            <a:ext cx="824468" cy="802500"/>
          </a:xfrm>
          <a:prstGeom prst="rect">
            <a:avLst/>
          </a:prstGeom>
          <a:noFill/>
          <a:ln>
            <a:noFill/>
          </a:ln>
        </p:spPr>
      </p:pic>
      <p:pic>
        <p:nvPicPr>
          <p:cNvPr id="945" name="Google Shape;945;p104"/>
          <p:cNvPicPr preferRelativeResize="0"/>
          <p:nvPr/>
        </p:nvPicPr>
        <p:blipFill>
          <a:blip r:embed="rId5">
            <a:alphaModFix/>
          </a:blip>
          <a:stretch>
            <a:fillRect/>
          </a:stretch>
        </p:blipFill>
        <p:spPr>
          <a:xfrm>
            <a:off x="181225" y="1371710"/>
            <a:ext cx="3052199" cy="2668315"/>
          </a:xfrm>
          <a:prstGeom prst="rect">
            <a:avLst/>
          </a:prstGeom>
          <a:noFill/>
          <a:ln cap="flat" cmpd="sng" w="19050">
            <a:solidFill>
              <a:srgbClr val="000000"/>
            </a:solidFill>
            <a:prstDash val="solid"/>
            <a:round/>
            <a:headEnd len="sm" w="sm" type="none"/>
            <a:tailEnd len="sm" w="sm" type="none"/>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05"/>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We’ll need new classes to represent each of the Trolls. Fill in the table below to identify the state and behavior needed for each of the new enemy classes. </a:t>
            </a:r>
            <a:endParaRPr/>
          </a:p>
        </p:txBody>
      </p:sp>
      <p:sp>
        <p:nvSpPr>
          <p:cNvPr id="951" name="Google Shape;951;p10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52" name="Google Shape;952;p105"/>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Another Simple Domain Analysis</a:t>
            </a:r>
            <a:endParaRPr/>
          </a:p>
        </p:txBody>
      </p:sp>
      <p:sp>
        <p:nvSpPr>
          <p:cNvPr id="953" name="Google Shape;953;p105"/>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3.19</a:t>
            </a:r>
            <a:endParaRPr/>
          </a:p>
        </p:txBody>
      </p:sp>
      <p:graphicFrame>
        <p:nvGraphicFramePr>
          <p:cNvPr id="954" name="Google Shape;954;p105"/>
          <p:cNvGraphicFramePr/>
          <p:nvPr/>
        </p:nvGraphicFramePr>
        <p:xfrm>
          <a:off x="2581425" y="1683600"/>
          <a:ext cx="3000000" cy="3000000"/>
        </p:xfrm>
        <a:graphic>
          <a:graphicData uri="http://schemas.openxmlformats.org/drawingml/2006/table">
            <a:tbl>
              <a:tblPr>
                <a:noFill/>
                <a:tableStyleId>{BB7116F7-C15E-4CF7-A1A4-3F0B48A09751}</a:tableStyleId>
              </a:tblPr>
              <a:tblGrid>
                <a:gridCol w="1157350"/>
                <a:gridCol w="2421650"/>
                <a:gridCol w="2559725"/>
              </a:tblGrid>
              <a:tr h="417050">
                <a:tc>
                  <a:txBody>
                    <a:bodyPr/>
                    <a:lstStyle/>
                    <a:p>
                      <a:pPr indent="0" lvl="0" marL="0" rtl="0" algn="l">
                        <a:spcBef>
                          <a:spcPts val="0"/>
                        </a:spcBef>
                        <a:spcAft>
                          <a:spcPts val="0"/>
                        </a:spcAft>
                        <a:buNone/>
                      </a:pPr>
                      <a:r>
                        <a:rPr lang="en"/>
                        <a:t>Class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t>State</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t>Behavior</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456500">
                <a:tc>
                  <a:txBody>
                    <a:bodyPr/>
                    <a:lstStyle/>
                    <a:p>
                      <a:pPr indent="0" lvl="0" marL="0" rtl="0" algn="ctr">
                        <a:spcBef>
                          <a:spcPts val="0"/>
                        </a:spcBef>
                        <a:spcAft>
                          <a:spcPts val="0"/>
                        </a:spcAft>
                        <a:buNone/>
                      </a:pPr>
                      <a:r>
                        <a:rPr lang="en"/>
                        <a:t>Trolling</a:t>
                      </a:r>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456500">
                <a:tc>
                  <a:txBody>
                    <a:bodyPr/>
                    <a:lstStyle/>
                    <a:p>
                      <a:pPr indent="0" lvl="0" marL="0" rtl="0" algn="ctr">
                        <a:spcBef>
                          <a:spcPts val="0"/>
                        </a:spcBef>
                        <a:spcAft>
                          <a:spcPts val="0"/>
                        </a:spcAft>
                        <a:buNone/>
                      </a:pPr>
                      <a:r>
                        <a:rPr lang="en"/>
                        <a:t>Trollzord</a:t>
                      </a:r>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pic>
        <p:nvPicPr>
          <p:cNvPr id="955" name="Google Shape;955;p105"/>
          <p:cNvPicPr preferRelativeResize="0"/>
          <p:nvPr/>
        </p:nvPicPr>
        <p:blipFill>
          <a:blip r:embed="rId3">
            <a:alphaModFix/>
          </a:blip>
          <a:stretch>
            <a:fillRect/>
          </a:stretch>
        </p:blipFill>
        <p:spPr>
          <a:xfrm>
            <a:off x="2842113" y="3663813"/>
            <a:ext cx="650425" cy="999400"/>
          </a:xfrm>
          <a:prstGeom prst="rect">
            <a:avLst/>
          </a:prstGeom>
          <a:noFill/>
          <a:ln>
            <a:noFill/>
          </a:ln>
        </p:spPr>
      </p:pic>
      <p:pic>
        <p:nvPicPr>
          <p:cNvPr id="956" name="Google Shape;956;p105"/>
          <p:cNvPicPr preferRelativeResize="0"/>
          <p:nvPr/>
        </p:nvPicPr>
        <p:blipFill>
          <a:blip r:embed="rId4">
            <a:alphaModFix/>
          </a:blip>
          <a:stretch>
            <a:fillRect/>
          </a:stretch>
        </p:blipFill>
        <p:spPr>
          <a:xfrm>
            <a:off x="2688322" y="2177142"/>
            <a:ext cx="958000" cy="932450"/>
          </a:xfrm>
          <a:prstGeom prst="rect">
            <a:avLst/>
          </a:prstGeom>
          <a:noFill/>
          <a:ln>
            <a:noFill/>
          </a:ln>
        </p:spPr>
      </p:pic>
      <p:sp>
        <p:nvSpPr>
          <p:cNvPr id="957" name="Google Shape;957;p105"/>
          <p:cNvSpPr txBox="1"/>
          <p:nvPr/>
        </p:nvSpPr>
        <p:spPr>
          <a:xfrm>
            <a:off x="51775" y="1726750"/>
            <a:ext cx="24198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2"/>
                </a:solidFill>
                <a:latin typeface="Roboto"/>
                <a:ea typeface="Roboto"/>
                <a:cs typeface="Roboto"/>
                <a:sym typeface="Roboto"/>
              </a:rPr>
              <a:t>Things to Note:</a:t>
            </a:r>
            <a:endParaRPr sz="1300">
              <a:solidFill>
                <a:schemeClr val="lt2"/>
              </a:solidFill>
              <a:latin typeface="Roboto"/>
              <a:ea typeface="Roboto"/>
              <a:cs typeface="Roboto"/>
              <a:sym typeface="Roboto"/>
            </a:endParaRPr>
          </a:p>
          <a:p>
            <a:pPr indent="-311150" lvl="0" marL="457200" rtl="0" algn="l">
              <a:spcBef>
                <a:spcPts val="0"/>
              </a:spcBef>
              <a:spcAft>
                <a:spcPts val="0"/>
              </a:spcAft>
              <a:buClr>
                <a:schemeClr val="lt2"/>
              </a:buClr>
              <a:buSzPts val="1300"/>
              <a:buFont typeface="Lato"/>
              <a:buChar char="●"/>
            </a:pPr>
            <a:r>
              <a:rPr lang="en" sz="1300">
                <a:solidFill>
                  <a:schemeClr val="lt2"/>
                </a:solidFill>
                <a:latin typeface="Roboto"/>
                <a:ea typeface="Roboto"/>
                <a:cs typeface="Roboto"/>
                <a:sym typeface="Roboto"/>
              </a:rPr>
              <a:t>A troll’s </a:t>
            </a:r>
            <a:r>
              <a:rPr b="1" lang="en" sz="1300" u="sng">
                <a:solidFill>
                  <a:srgbClr val="FF0000"/>
                </a:solidFill>
                <a:latin typeface="Roboto"/>
                <a:ea typeface="Roboto"/>
                <a:cs typeface="Roboto"/>
                <a:sym typeface="Roboto"/>
              </a:rPr>
              <a:t>name</a:t>
            </a:r>
            <a:r>
              <a:rPr lang="en" sz="1300">
                <a:solidFill>
                  <a:srgbClr val="FF0000"/>
                </a:solidFill>
                <a:latin typeface="Roboto"/>
                <a:ea typeface="Roboto"/>
                <a:cs typeface="Roboto"/>
                <a:sym typeface="Roboto"/>
              </a:rPr>
              <a:t> </a:t>
            </a:r>
            <a:r>
              <a:rPr lang="en" sz="1300">
                <a:solidFill>
                  <a:schemeClr val="lt2"/>
                </a:solidFill>
                <a:latin typeface="Roboto"/>
                <a:ea typeface="Roboto"/>
                <a:cs typeface="Roboto"/>
                <a:sym typeface="Roboto"/>
              </a:rPr>
              <a:t>is the same as its class, e.g. "Trolling".</a:t>
            </a:r>
            <a:endParaRPr sz="1300">
              <a:solidFill>
                <a:schemeClr val="lt2"/>
              </a:solidFill>
              <a:latin typeface="Roboto"/>
              <a:ea typeface="Roboto"/>
              <a:cs typeface="Roboto"/>
              <a:sym typeface="Roboto"/>
            </a:endParaRPr>
          </a:p>
          <a:p>
            <a:pPr indent="-311150" lvl="0" marL="457200" rtl="0" algn="l">
              <a:spcBef>
                <a:spcPts val="0"/>
              </a:spcBef>
              <a:spcAft>
                <a:spcPts val="0"/>
              </a:spcAft>
              <a:buClr>
                <a:schemeClr val="lt2"/>
              </a:buClr>
              <a:buSzPts val="1300"/>
              <a:buFont typeface="Lato"/>
              <a:buChar char="●"/>
            </a:pPr>
            <a:r>
              <a:rPr lang="en" sz="1300">
                <a:solidFill>
                  <a:schemeClr val="lt2"/>
                </a:solidFill>
                <a:latin typeface="Roboto"/>
                <a:ea typeface="Roboto"/>
                <a:cs typeface="Roboto"/>
                <a:sym typeface="Roboto"/>
              </a:rPr>
              <a:t>Trolls </a:t>
            </a:r>
            <a:r>
              <a:rPr b="1" lang="en" sz="1300" u="sng">
                <a:solidFill>
                  <a:srgbClr val="FF0000"/>
                </a:solidFill>
                <a:latin typeface="Roboto"/>
                <a:ea typeface="Roboto"/>
                <a:cs typeface="Roboto"/>
                <a:sym typeface="Roboto"/>
              </a:rPr>
              <a:t>regenerate</a:t>
            </a:r>
            <a:r>
              <a:rPr lang="en" sz="1300">
                <a:solidFill>
                  <a:schemeClr val="lt2"/>
                </a:solidFill>
                <a:latin typeface="Roboto"/>
                <a:ea typeface="Roboto"/>
                <a:cs typeface="Roboto"/>
                <a:sym typeface="Roboto"/>
              </a:rPr>
              <a:t> health at the start of each round.</a:t>
            </a:r>
            <a:endParaRPr sz="1300">
              <a:solidFill>
                <a:schemeClr val="lt2"/>
              </a:solidFill>
              <a:latin typeface="Roboto"/>
              <a:ea typeface="Roboto"/>
              <a:cs typeface="Roboto"/>
              <a:sym typeface="Roboto"/>
            </a:endParaRPr>
          </a:p>
          <a:p>
            <a:pPr indent="-311150" lvl="0" marL="457200" rtl="0" algn="l">
              <a:spcBef>
                <a:spcPts val="0"/>
              </a:spcBef>
              <a:spcAft>
                <a:spcPts val="0"/>
              </a:spcAft>
              <a:buClr>
                <a:schemeClr val="lt2"/>
              </a:buClr>
              <a:buSzPts val="1300"/>
              <a:buFont typeface="Lato"/>
              <a:buChar char="●"/>
            </a:pPr>
            <a:r>
              <a:rPr lang="en" sz="1300">
                <a:solidFill>
                  <a:schemeClr val="lt2"/>
                </a:solidFill>
                <a:latin typeface="Roboto"/>
                <a:ea typeface="Roboto"/>
                <a:cs typeface="Roboto"/>
                <a:sym typeface="Roboto"/>
              </a:rPr>
              <a:t>When a troll’s hit points reach 0, the troll is </a:t>
            </a:r>
            <a:r>
              <a:rPr b="1" lang="en" sz="1300" u="sng">
                <a:solidFill>
                  <a:srgbClr val="FF0000"/>
                </a:solidFill>
                <a:latin typeface="Roboto"/>
                <a:ea typeface="Roboto"/>
                <a:cs typeface="Roboto"/>
                <a:sym typeface="Roboto"/>
              </a:rPr>
              <a:t>vanquished</a:t>
            </a:r>
            <a:r>
              <a:rPr lang="en" sz="1300">
                <a:solidFill>
                  <a:srgbClr val="FF0000"/>
                </a:solidFill>
                <a:latin typeface="Roboto"/>
                <a:ea typeface="Roboto"/>
                <a:cs typeface="Roboto"/>
                <a:sym typeface="Roboto"/>
              </a:rPr>
              <a:t> </a:t>
            </a:r>
            <a:r>
              <a:rPr lang="en" sz="1300">
                <a:solidFill>
                  <a:schemeClr val="lt2"/>
                </a:solidFill>
                <a:latin typeface="Roboto"/>
                <a:ea typeface="Roboto"/>
                <a:cs typeface="Roboto"/>
                <a:sym typeface="Roboto"/>
              </a:rPr>
              <a:t>permanently.</a:t>
            </a:r>
            <a:endParaRPr sz="1300">
              <a:latin typeface="Lato"/>
              <a:ea typeface="Lato"/>
              <a:cs typeface="Lato"/>
              <a:sym typeface="La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06"/>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We’ll need new classes to represent each of the Trolls. Fill in the table below to identify the state and behavior needed for each of the new enemy classes. </a:t>
            </a:r>
            <a:endParaRPr/>
          </a:p>
        </p:txBody>
      </p:sp>
      <p:sp>
        <p:nvSpPr>
          <p:cNvPr id="963" name="Google Shape;963;p10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64" name="Google Shape;964;p10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Another Simple Domain Analysis</a:t>
            </a:r>
            <a:endParaRPr/>
          </a:p>
        </p:txBody>
      </p:sp>
      <p:sp>
        <p:nvSpPr>
          <p:cNvPr id="965" name="Google Shape;965;p10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3.19</a:t>
            </a:r>
            <a:endParaRPr/>
          </a:p>
        </p:txBody>
      </p:sp>
      <p:graphicFrame>
        <p:nvGraphicFramePr>
          <p:cNvPr id="966" name="Google Shape;966;p106"/>
          <p:cNvGraphicFramePr/>
          <p:nvPr/>
        </p:nvGraphicFramePr>
        <p:xfrm>
          <a:off x="2581425" y="1683600"/>
          <a:ext cx="3000000" cy="3000000"/>
        </p:xfrm>
        <a:graphic>
          <a:graphicData uri="http://schemas.openxmlformats.org/drawingml/2006/table">
            <a:tbl>
              <a:tblPr>
                <a:noFill/>
                <a:tableStyleId>{BB7116F7-C15E-4CF7-A1A4-3F0B48A09751}</a:tableStyleId>
              </a:tblPr>
              <a:tblGrid>
                <a:gridCol w="1157350"/>
                <a:gridCol w="2421650"/>
                <a:gridCol w="2559725"/>
              </a:tblGrid>
              <a:tr h="417050">
                <a:tc>
                  <a:txBody>
                    <a:bodyPr/>
                    <a:lstStyle/>
                    <a:p>
                      <a:pPr indent="0" lvl="0" marL="0" rtl="0" algn="l">
                        <a:spcBef>
                          <a:spcPts val="0"/>
                        </a:spcBef>
                        <a:spcAft>
                          <a:spcPts val="0"/>
                        </a:spcAft>
                        <a:buNone/>
                      </a:pPr>
                      <a:r>
                        <a:rPr lang="en"/>
                        <a:t>Class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t>State</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t>Behavior</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456500">
                <a:tc>
                  <a:txBody>
                    <a:bodyPr/>
                    <a:lstStyle/>
                    <a:p>
                      <a:pPr indent="0" lvl="0" marL="0" rtl="0" algn="ctr">
                        <a:spcBef>
                          <a:spcPts val="0"/>
                        </a:spcBef>
                        <a:spcAft>
                          <a:spcPts val="0"/>
                        </a:spcAft>
                        <a:buNone/>
                      </a:pPr>
                      <a:r>
                        <a:rPr lang="en"/>
                        <a:t>Trolling</a:t>
                      </a:r>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456500">
                <a:tc>
                  <a:txBody>
                    <a:bodyPr/>
                    <a:lstStyle/>
                    <a:p>
                      <a:pPr indent="0" lvl="0" marL="0" rtl="0" algn="ctr">
                        <a:spcBef>
                          <a:spcPts val="0"/>
                        </a:spcBef>
                        <a:spcAft>
                          <a:spcPts val="0"/>
                        </a:spcAft>
                        <a:buNone/>
                      </a:pPr>
                      <a:r>
                        <a:rPr lang="en"/>
                        <a:t>Trollzord</a:t>
                      </a:r>
                      <a:endParaRPr/>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pic>
        <p:nvPicPr>
          <p:cNvPr id="967" name="Google Shape;967;p106"/>
          <p:cNvPicPr preferRelativeResize="0"/>
          <p:nvPr/>
        </p:nvPicPr>
        <p:blipFill>
          <a:blip r:embed="rId3">
            <a:alphaModFix/>
          </a:blip>
          <a:stretch>
            <a:fillRect/>
          </a:stretch>
        </p:blipFill>
        <p:spPr>
          <a:xfrm>
            <a:off x="2842113" y="3663813"/>
            <a:ext cx="650425" cy="999400"/>
          </a:xfrm>
          <a:prstGeom prst="rect">
            <a:avLst/>
          </a:prstGeom>
          <a:noFill/>
          <a:ln>
            <a:noFill/>
          </a:ln>
        </p:spPr>
      </p:pic>
      <p:pic>
        <p:nvPicPr>
          <p:cNvPr id="968" name="Google Shape;968;p106"/>
          <p:cNvPicPr preferRelativeResize="0"/>
          <p:nvPr/>
        </p:nvPicPr>
        <p:blipFill>
          <a:blip r:embed="rId4">
            <a:alphaModFix/>
          </a:blip>
          <a:stretch>
            <a:fillRect/>
          </a:stretch>
        </p:blipFill>
        <p:spPr>
          <a:xfrm>
            <a:off x="2688322" y="2177142"/>
            <a:ext cx="958000" cy="932450"/>
          </a:xfrm>
          <a:prstGeom prst="rect">
            <a:avLst/>
          </a:prstGeom>
          <a:noFill/>
          <a:ln>
            <a:noFill/>
          </a:ln>
        </p:spPr>
      </p:pic>
      <p:sp>
        <p:nvSpPr>
          <p:cNvPr id="969" name="Google Shape;969;p106"/>
          <p:cNvSpPr txBox="1"/>
          <p:nvPr/>
        </p:nvSpPr>
        <p:spPr>
          <a:xfrm>
            <a:off x="51775" y="1726750"/>
            <a:ext cx="24198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2"/>
                </a:solidFill>
                <a:latin typeface="Roboto"/>
                <a:ea typeface="Roboto"/>
                <a:cs typeface="Roboto"/>
                <a:sym typeface="Roboto"/>
              </a:rPr>
              <a:t>Things to Note:</a:t>
            </a:r>
            <a:endParaRPr sz="1300">
              <a:solidFill>
                <a:schemeClr val="lt2"/>
              </a:solidFill>
              <a:latin typeface="Roboto"/>
              <a:ea typeface="Roboto"/>
              <a:cs typeface="Roboto"/>
              <a:sym typeface="Roboto"/>
            </a:endParaRPr>
          </a:p>
          <a:p>
            <a:pPr indent="-311150" lvl="0" marL="457200" rtl="0" algn="l">
              <a:spcBef>
                <a:spcPts val="0"/>
              </a:spcBef>
              <a:spcAft>
                <a:spcPts val="0"/>
              </a:spcAft>
              <a:buClr>
                <a:schemeClr val="lt2"/>
              </a:buClr>
              <a:buSzPts val="1300"/>
              <a:buFont typeface="Lato"/>
              <a:buChar char="●"/>
            </a:pPr>
            <a:r>
              <a:rPr lang="en" sz="1300">
                <a:solidFill>
                  <a:schemeClr val="lt2"/>
                </a:solidFill>
                <a:latin typeface="Roboto"/>
                <a:ea typeface="Roboto"/>
                <a:cs typeface="Roboto"/>
                <a:sym typeface="Roboto"/>
              </a:rPr>
              <a:t>A troll’s </a:t>
            </a:r>
            <a:r>
              <a:rPr b="1" lang="en" sz="1300" u="sng">
                <a:solidFill>
                  <a:srgbClr val="FF0000"/>
                </a:solidFill>
                <a:latin typeface="Roboto"/>
                <a:ea typeface="Roboto"/>
                <a:cs typeface="Roboto"/>
                <a:sym typeface="Roboto"/>
              </a:rPr>
              <a:t>name</a:t>
            </a:r>
            <a:r>
              <a:rPr lang="en" sz="1300">
                <a:solidFill>
                  <a:srgbClr val="FF0000"/>
                </a:solidFill>
                <a:latin typeface="Roboto"/>
                <a:ea typeface="Roboto"/>
                <a:cs typeface="Roboto"/>
                <a:sym typeface="Roboto"/>
              </a:rPr>
              <a:t> </a:t>
            </a:r>
            <a:r>
              <a:rPr lang="en" sz="1300">
                <a:solidFill>
                  <a:schemeClr val="lt2"/>
                </a:solidFill>
                <a:latin typeface="Roboto"/>
                <a:ea typeface="Roboto"/>
                <a:cs typeface="Roboto"/>
                <a:sym typeface="Roboto"/>
              </a:rPr>
              <a:t>is the same as its class, e.g. "Trolling".</a:t>
            </a:r>
            <a:endParaRPr sz="1300">
              <a:solidFill>
                <a:schemeClr val="lt2"/>
              </a:solidFill>
              <a:latin typeface="Roboto"/>
              <a:ea typeface="Roboto"/>
              <a:cs typeface="Roboto"/>
              <a:sym typeface="Roboto"/>
            </a:endParaRPr>
          </a:p>
          <a:p>
            <a:pPr indent="-311150" lvl="0" marL="457200" rtl="0" algn="l">
              <a:spcBef>
                <a:spcPts val="0"/>
              </a:spcBef>
              <a:spcAft>
                <a:spcPts val="0"/>
              </a:spcAft>
              <a:buClr>
                <a:schemeClr val="lt2"/>
              </a:buClr>
              <a:buSzPts val="1300"/>
              <a:buFont typeface="Lato"/>
              <a:buChar char="●"/>
            </a:pPr>
            <a:r>
              <a:rPr lang="en" sz="1300">
                <a:solidFill>
                  <a:schemeClr val="lt2"/>
                </a:solidFill>
                <a:latin typeface="Roboto"/>
                <a:ea typeface="Roboto"/>
                <a:cs typeface="Roboto"/>
                <a:sym typeface="Roboto"/>
              </a:rPr>
              <a:t>Trolls </a:t>
            </a:r>
            <a:r>
              <a:rPr b="1" lang="en" sz="1300" u="sng">
                <a:solidFill>
                  <a:srgbClr val="FF0000"/>
                </a:solidFill>
                <a:latin typeface="Roboto"/>
                <a:ea typeface="Roboto"/>
                <a:cs typeface="Roboto"/>
                <a:sym typeface="Roboto"/>
              </a:rPr>
              <a:t>regenerate</a:t>
            </a:r>
            <a:r>
              <a:rPr lang="en" sz="1300">
                <a:solidFill>
                  <a:schemeClr val="lt2"/>
                </a:solidFill>
                <a:latin typeface="Roboto"/>
                <a:ea typeface="Roboto"/>
                <a:cs typeface="Roboto"/>
                <a:sym typeface="Roboto"/>
              </a:rPr>
              <a:t> health at the start of each round.</a:t>
            </a:r>
            <a:endParaRPr sz="1300">
              <a:solidFill>
                <a:schemeClr val="lt2"/>
              </a:solidFill>
              <a:latin typeface="Roboto"/>
              <a:ea typeface="Roboto"/>
              <a:cs typeface="Roboto"/>
              <a:sym typeface="Roboto"/>
            </a:endParaRPr>
          </a:p>
          <a:p>
            <a:pPr indent="-311150" lvl="0" marL="457200" rtl="0" algn="l">
              <a:spcBef>
                <a:spcPts val="0"/>
              </a:spcBef>
              <a:spcAft>
                <a:spcPts val="0"/>
              </a:spcAft>
              <a:buClr>
                <a:schemeClr val="lt2"/>
              </a:buClr>
              <a:buSzPts val="1300"/>
              <a:buFont typeface="Lato"/>
              <a:buChar char="●"/>
            </a:pPr>
            <a:r>
              <a:rPr lang="en" sz="1300">
                <a:solidFill>
                  <a:schemeClr val="lt2"/>
                </a:solidFill>
                <a:latin typeface="Roboto"/>
                <a:ea typeface="Roboto"/>
                <a:cs typeface="Roboto"/>
                <a:sym typeface="Roboto"/>
              </a:rPr>
              <a:t>When a troll’s hit points reach 0, the troll is </a:t>
            </a:r>
            <a:r>
              <a:rPr b="1" lang="en" sz="1300" u="sng">
                <a:solidFill>
                  <a:srgbClr val="FF0000"/>
                </a:solidFill>
                <a:latin typeface="Roboto"/>
                <a:ea typeface="Roboto"/>
                <a:cs typeface="Roboto"/>
                <a:sym typeface="Roboto"/>
              </a:rPr>
              <a:t>vanquished</a:t>
            </a:r>
            <a:r>
              <a:rPr lang="en" sz="1300">
                <a:solidFill>
                  <a:srgbClr val="FF0000"/>
                </a:solidFill>
                <a:latin typeface="Roboto"/>
                <a:ea typeface="Roboto"/>
                <a:cs typeface="Roboto"/>
                <a:sym typeface="Roboto"/>
              </a:rPr>
              <a:t> </a:t>
            </a:r>
            <a:r>
              <a:rPr lang="en" sz="1300">
                <a:solidFill>
                  <a:schemeClr val="lt2"/>
                </a:solidFill>
                <a:latin typeface="Roboto"/>
                <a:ea typeface="Roboto"/>
                <a:cs typeface="Roboto"/>
                <a:sym typeface="Roboto"/>
              </a:rPr>
              <a:t>permanently.</a:t>
            </a:r>
            <a:endParaRPr sz="1300">
              <a:latin typeface="Lato"/>
              <a:ea typeface="Lato"/>
              <a:cs typeface="Lato"/>
              <a:sym typeface="Lato"/>
            </a:endParaRPr>
          </a:p>
        </p:txBody>
      </p:sp>
      <p:sp>
        <p:nvSpPr>
          <p:cNvPr id="970" name="Google Shape;970;p106"/>
          <p:cNvSpPr txBox="1"/>
          <p:nvPr/>
        </p:nvSpPr>
        <p:spPr>
          <a:xfrm>
            <a:off x="3738775" y="2123050"/>
            <a:ext cx="2419800" cy="141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NAME (“TROLLING”)</a:t>
            </a:r>
            <a:endParaRPr sz="18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MAX HP</a:t>
            </a:r>
            <a:endParaRPr sz="18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CURRENT HP</a:t>
            </a:r>
            <a:endParaRPr sz="18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t/>
            </a:r>
            <a:endParaRPr>
              <a:solidFill>
                <a:srgbClr val="FF0000"/>
              </a:solidFill>
              <a:latin typeface="Shadows Into Light"/>
              <a:ea typeface="Shadows Into Light"/>
              <a:cs typeface="Shadows Into Light"/>
              <a:sym typeface="Shadows Into Light"/>
            </a:endParaRPr>
          </a:p>
        </p:txBody>
      </p:sp>
      <p:sp>
        <p:nvSpPr>
          <p:cNvPr id="971" name="Google Shape;971;p106"/>
          <p:cNvSpPr txBox="1"/>
          <p:nvPr/>
        </p:nvSpPr>
        <p:spPr>
          <a:xfrm>
            <a:off x="6253375" y="2123050"/>
            <a:ext cx="2419800" cy="141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GETTERS/SETTERS</a:t>
            </a:r>
            <a:endParaRPr sz="18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IS VANQUISHED?</a:t>
            </a:r>
            <a:endParaRPr sz="18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REGENERATE</a:t>
            </a:r>
            <a:endParaRPr sz="18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ATTACK</a:t>
            </a:r>
            <a:endParaRPr sz="18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TAKE DAMAGE</a:t>
            </a:r>
            <a:endParaRPr sz="1800">
              <a:solidFill>
                <a:srgbClr val="FF0000"/>
              </a:solidFill>
              <a:latin typeface="Shadows Into Light"/>
              <a:ea typeface="Shadows Into Light"/>
              <a:cs typeface="Shadows Into Light"/>
              <a:sym typeface="Shadows Into Light"/>
            </a:endParaRPr>
          </a:p>
        </p:txBody>
      </p:sp>
      <p:sp>
        <p:nvSpPr>
          <p:cNvPr id="972" name="Google Shape;972;p106"/>
          <p:cNvSpPr txBox="1"/>
          <p:nvPr/>
        </p:nvSpPr>
        <p:spPr>
          <a:xfrm>
            <a:off x="3738775" y="3585546"/>
            <a:ext cx="2419800" cy="141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NAME (“</a:t>
            </a:r>
            <a:r>
              <a:rPr lang="en" sz="1800">
                <a:solidFill>
                  <a:srgbClr val="FF0000"/>
                </a:solidFill>
                <a:latin typeface="Shadows Into Light"/>
                <a:ea typeface="Shadows Into Light"/>
                <a:cs typeface="Shadows Into Light"/>
                <a:sym typeface="Shadows Into Light"/>
              </a:rPr>
              <a:t>TROLL</a:t>
            </a:r>
            <a:r>
              <a:rPr lang="en" sz="1800">
                <a:solidFill>
                  <a:srgbClr val="FF0000"/>
                </a:solidFill>
                <a:latin typeface="Shadows Into Light"/>
                <a:ea typeface="Shadows Into Light"/>
                <a:cs typeface="Shadows Into Light"/>
                <a:sym typeface="Shadows Into Light"/>
              </a:rPr>
              <a:t>ZORD”)</a:t>
            </a:r>
            <a:endParaRPr sz="18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MAX HP</a:t>
            </a:r>
            <a:endParaRPr sz="18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CURRENT HP</a:t>
            </a:r>
            <a:endParaRPr sz="18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t/>
            </a:r>
            <a:endParaRPr>
              <a:solidFill>
                <a:srgbClr val="FF0000"/>
              </a:solidFill>
              <a:latin typeface="Shadows Into Light"/>
              <a:ea typeface="Shadows Into Light"/>
              <a:cs typeface="Shadows Into Light"/>
              <a:sym typeface="Shadows Into Light"/>
            </a:endParaRPr>
          </a:p>
        </p:txBody>
      </p:sp>
      <p:sp>
        <p:nvSpPr>
          <p:cNvPr id="973" name="Google Shape;973;p106"/>
          <p:cNvSpPr txBox="1"/>
          <p:nvPr/>
        </p:nvSpPr>
        <p:spPr>
          <a:xfrm>
            <a:off x="6253375" y="3585546"/>
            <a:ext cx="2419800" cy="141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GETTERS/SETTERS</a:t>
            </a:r>
            <a:endParaRPr sz="18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IS VANQUISHED?</a:t>
            </a:r>
            <a:endParaRPr sz="18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REGENERATE</a:t>
            </a:r>
            <a:endParaRPr sz="18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ATTACK</a:t>
            </a:r>
            <a:endParaRPr sz="18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TAKE DAMAGE</a:t>
            </a:r>
            <a:endParaRPr sz="1800">
              <a:solidFill>
                <a:srgbClr val="FF0000"/>
              </a:solidFill>
              <a:latin typeface="Shadows Into Light"/>
              <a:ea typeface="Shadows Into Light"/>
              <a:cs typeface="Shadows Into Light"/>
              <a:sym typeface="Shadows In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70"/>
                                        </p:tgtEl>
                                        <p:attrNameLst>
                                          <p:attrName>style.visibility</p:attrName>
                                        </p:attrNameLst>
                                      </p:cBhvr>
                                      <p:to>
                                        <p:strVal val="visible"/>
                                      </p:to>
                                    </p:set>
                                    <p:animEffect filter="fade" transition="in">
                                      <p:cBhvr>
                                        <p:cTn dur="1000"/>
                                        <p:tgtEl>
                                          <p:spTgt spid="9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2"/>
                                        </p:tgtEl>
                                        <p:attrNameLst>
                                          <p:attrName>style.visibility</p:attrName>
                                        </p:attrNameLst>
                                      </p:cBhvr>
                                      <p:to>
                                        <p:strVal val="visible"/>
                                      </p:to>
                                    </p:set>
                                    <p:animEffect filter="fade" transition="in">
                                      <p:cBhvr>
                                        <p:cTn dur="1000"/>
                                        <p:tgtEl>
                                          <p:spTgt spid="9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1"/>
                                        </p:tgtEl>
                                        <p:attrNameLst>
                                          <p:attrName>style.visibility</p:attrName>
                                        </p:attrNameLst>
                                      </p:cBhvr>
                                      <p:to>
                                        <p:strVal val="visible"/>
                                      </p:to>
                                    </p:set>
                                    <p:animEffect filter="fade" transition="in">
                                      <p:cBhvr>
                                        <p:cTn dur="1000"/>
                                        <p:tgtEl>
                                          <p:spTgt spid="9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3"/>
                                        </p:tgtEl>
                                        <p:attrNameLst>
                                          <p:attrName>style.visibility</p:attrName>
                                        </p:attrNameLst>
                                      </p:cBhvr>
                                      <p:to>
                                        <p:strVal val="visible"/>
                                      </p:to>
                                    </p:set>
                                    <p:animEffect filter="fade" transition="in">
                                      <p:cBhvr>
                                        <p:cTn dur="1000"/>
                                        <p:tgtEl>
                                          <p:spTgt spid="9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10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79" name="Google Shape;979;p107"/>
          <p:cNvSpPr txBox="1"/>
          <p:nvPr>
            <p:ph type="title"/>
          </p:nvPr>
        </p:nvSpPr>
        <p:spPr>
          <a:xfrm>
            <a:off x="311725" y="1961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Software Design</a:t>
            </a:r>
            <a:endParaRPr/>
          </a:p>
        </p:txBody>
      </p:sp>
      <p:sp>
        <p:nvSpPr>
          <p:cNvPr id="980" name="Google Shape;980;p107"/>
          <p:cNvSpPr txBox="1"/>
          <p:nvPr>
            <p:ph idx="1" type="body"/>
          </p:nvPr>
        </p:nvSpPr>
        <p:spPr>
          <a:xfrm>
            <a:off x="4467300" y="231025"/>
            <a:ext cx="4422900" cy="4720200"/>
          </a:xfrm>
          <a:prstGeom prst="rect">
            <a:avLst/>
          </a:prstGeom>
        </p:spPr>
        <p:txBody>
          <a:bodyPr anchorCtr="0" anchor="ctr" bIns="91425" lIns="91425" spcFirstLastPara="1" rIns="91425" wrap="square" tIns="91425">
            <a:noAutofit/>
          </a:bodyPr>
          <a:lstStyle/>
          <a:p>
            <a:pPr indent="-311150" lvl="0" marL="457200" rtl="0" algn="l">
              <a:spcBef>
                <a:spcPts val="0"/>
              </a:spcBef>
              <a:spcAft>
                <a:spcPts val="0"/>
              </a:spcAft>
              <a:buSzPts val="1300"/>
              <a:buChar char="●"/>
            </a:pPr>
            <a:r>
              <a:rPr lang="en"/>
              <a:t>Domain analysis is often the first step in </a:t>
            </a:r>
            <a:r>
              <a:rPr b="1" i="1" lang="en">
                <a:solidFill>
                  <a:srgbClr val="FF0000"/>
                </a:solidFill>
              </a:rPr>
              <a:t>software design</a:t>
            </a:r>
            <a:r>
              <a:rPr lang="en"/>
              <a:t>, and we have now performed </a:t>
            </a:r>
            <a:r>
              <a:rPr b="1" i="1" lang="en">
                <a:solidFill>
                  <a:srgbClr val="FF0000"/>
                </a:solidFill>
              </a:rPr>
              <a:t>simple domain analyses</a:t>
            </a:r>
            <a:r>
              <a:rPr lang="en"/>
              <a:t> a number of times.</a:t>
            </a:r>
            <a:endParaRPr/>
          </a:p>
          <a:p>
            <a:pPr indent="-311150" lvl="0" marL="457200" rtl="0" algn="l">
              <a:spcBef>
                <a:spcPts val="0"/>
              </a:spcBef>
              <a:spcAft>
                <a:spcPts val="0"/>
              </a:spcAft>
              <a:buSzPts val="1300"/>
              <a:buChar char="●"/>
            </a:pPr>
            <a:r>
              <a:rPr lang="en"/>
              <a:t>In the past, we forged ahead and immediately began writing classes based on this initial analysis, but we now know that can lead to lots of revision.</a:t>
            </a:r>
            <a:endParaRPr/>
          </a:p>
          <a:p>
            <a:pPr indent="-298450" lvl="1" marL="914400" rtl="0" algn="l">
              <a:spcBef>
                <a:spcPts val="0"/>
              </a:spcBef>
              <a:spcAft>
                <a:spcPts val="0"/>
              </a:spcAft>
              <a:buSzPts val="1100"/>
              <a:buChar char="○"/>
            </a:pPr>
            <a:r>
              <a:rPr lang="en"/>
              <a:t>For example, we ended up doing a lot of copying, pasting, and deleting code while implementing the first few </a:t>
            </a:r>
            <a:r>
              <a:rPr lang="en">
                <a:latin typeface="Courier New"/>
                <a:ea typeface="Courier New"/>
                <a:cs typeface="Courier New"/>
                <a:sym typeface="Courier New"/>
              </a:rPr>
              <a:t>Goat</a:t>
            </a:r>
            <a:r>
              <a:rPr lang="en"/>
              <a:t> classes.</a:t>
            </a:r>
            <a:endParaRPr/>
          </a:p>
          <a:p>
            <a:pPr indent="-311150" lvl="0" marL="457200" rtl="0" algn="l">
              <a:spcBef>
                <a:spcPts val="0"/>
              </a:spcBef>
              <a:spcAft>
                <a:spcPts val="0"/>
              </a:spcAft>
              <a:buSzPts val="1300"/>
              <a:buChar char="●"/>
            </a:pPr>
            <a:r>
              <a:rPr lang="en"/>
              <a:t>Before tackling the Trolls, let's learn from our previous mistakes and try to anticipate a more elegant design before we dive into code.</a:t>
            </a:r>
            <a:endParaRPr/>
          </a:p>
          <a:p>
            <a:pPr indent="-298450" lvl="1" marL="914400" rtl="0" algn="l">
              <a:spcBef>
                <a:spcPts val="0"/>
              </a:spcBef>
              <a:spcAft>
                <a:spcPts val="0"/>
              </a:spcAft>
              <a:buSzPts val="1100"/>
              <a:buChar char="○"/>
            </a:pPr>
            <a:r>
              <a:rPr lang="en"/>
              <a:t>A </a:t>
            </a:r>
            <a:r>
              <a:rPr b="1" i="1" lang="en">
                <a:solidFill>
                  <a:srgbClr val="FF0000"/>
                </a:solidFill>
              </a:rPr>
              <a:t>little more</a:t>
            </a:r>
            <a:r>
              <a:rPr lang="en"/>
              <a:t> time spent on an initial design can save a </a:t>
            </a:r>
            <a:r>
              <a:rPr b="1" i="1" lang="en">
                <a:solidFill>
                  <a:srgbClr val="FF0000"/>
                </a:solidFill>
              </a:rPr>
              <a:t>lot more</a:t>
            </a:r>
            <a:r>
              <a:rPr lang="en"/>
              <a:t> time spent writing, revising, and rewriting code later.</a:t>
            </a:r>
            <a:endParaRPr/>
          </a:p>
          <a:p>
            <a:pPr indent="-311150" lvl="0" marL="457200" rtl="0" algn="l">
              <a:spcBef>
                <a:spcPts val="0"/>
              </a:spcBef>
              <a:spcAft>
                <a:spcPts val="0"/>
              </a:spcAft>
              <a:buSzPts val="1300"/>
              <a:buChar char="●"/>
            </a:pPr>
            <a:r>
              <a:rPr lang="en"/>
              <a:t>Before moving forward, let's try to:</a:t>
            </a:r>
            <a:endParaRPr/>
          </a:p>
          <a:p>
            <a:pPr indent="-298450" lvl="1" marL="914400" rtl="0" algn="l">
              <a:spcBef>
                <a:spcPts val="0"/>
              </a:spcBef>
              <a:spcAft>
                <a:spcPts val="0"/>
              </a:spcAft>
              <a:buSzPts val="1100"/>
              <a:buChar char="○"/>
            </a:pPr>
            <a:r>
              <a:rPr lang="en"/>
              <a:t>Identify potential </a:t>
            </a:r>
            <a:r>
              <a:rPr b="1" i="1" lang="en">
                <a:solidFill>
                  <a:srgbClr val="FF0000"/>
                </a:solidFill>
              </a:rPr>
              <a:t>parent classes</a:t>
            </a:r>
            <a:r>
              <a:rPr lang="en"/>
              <a:t> based on common attributes among the Trolls.</a:t>
            </a:r>
            <a:endParaRPr/>
          </a:p>
          <a:p>
            <a:pPr indent="-298450" lvl="1" marL="914400" rtl="0" algn="l">
              <a:spcBef>
                <a:spcPts val="0"/>
              </a:spcBef>
              <a:spcAft>
                <a:spcPts val="0"/>
              </a:spcAft>
              <a:buSzPts val="1100"/>
              <a:buChar char="○"/>
            </a:pPr>
            <a:r>
              <a:rPr lang="en"/>
              <a:t>Identify possible </a:t>
            </a:r>
            <a:r>
              <a:rPr b="1" i="1" lang="en">
                <a:solidFill>
                  <a:srgbClr val="FF0000"/>
                </a:solidFill>
              </a:rPr>
              <a:t>abstract methods</a:t>
            </a:r>
            <a:r>
              <a:rPr lang="en">
                <a:solidFill>
                  <a:srgbClr val="FF0000"/>
                </a:solidFill>
              </a:rPr>
              <a:t> </a:t>
            </a:r>
            <a:r>
              <a:rPr lang="en"/>
              <a:t>where there is a method that every Troll needs, but there is no common implementation of the method.</a:t>
            </a:r>
            <a:endParaRPr/>
          </a:p>
          <a:p>
            <a:pPr indent="-311150" lvl="0" marL="457200" rtl="0" algn="l">
              <a:spcBef>
                <a:spcPts val="0"/>
              </a:spcBef>
              <a:spcAft>
                <a:spcPts val="0"/>
              </a:spcAft>
              <a:buSzPts val="1300"/>
              <a:buChar char="●"/>
            </a:pPr>
            <a:r>
              <a:rPr lang="en"/>
              <a:t>How will this extra effort </a:t>
            </a:r>
            <a:r>
              <a:rPr b="1" i="1" lang="en">
                <a:solidFill>
                  <a:srgbClr val="FF0000"/>
                </a:solidFill>
              </a:rPr>
              <a:t>now</a:t>
            </a:r>
            <a:r>
              <a:rPr lang="en">
                <a:solidFill>
                  <a:srgbClr val="FF0000"/>
                </a:solidFill>
              </a:rPr>
              <a:t> </a:t>
            </a:r>
            <a:r>
              <a:rPr lang="en"/>
              <a:t>save us time and effort </a:t>
            </a:r>
            <a:r>
              <a:rPr b="1" i="1" lang="en">
                <a:solidFill>
                  <a:srgbClr val="FF0000"/>
                </a:solidFill>
              </a:rPr>
              <a:t>later</a:t>
            </a:r>
            <a:r>
              <a:rPr lang="en"/>
              <a:t>?</a:t>
            </a:r>
            <a:endParaRPr/>
          </a:p>
        </p:txBody>
      </p:sp>
      <p:sp>
        <p:nvSpPr>
          <p:cNvPr id="981" name="Google Shape;981;p107"/>
          <p:cNvSpPr txBox="1"/>
          <p:nvPr>
            <p:ph idx="3" type="body"/>
          </p:nvPr>
        </p:nvSpPr>
        <p:spPr>
          <a:xfrm>
            <a:off x="311725" y="852800"/>
            <a:ext cx="3706500" cy="8247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Many novice programmers (and some who are experienced) use</a:t>
            </a:r>
            <a:r>
              <a:rPr lang="en" sz="1200">
                <a:solidFill>
                  <a:srgbClr val="FF0000"/>
                </a:solidFill>
              </a:rPr>
              <a:t> </a:t>
            </a:r>
            <a:r>
              <a:rPr b="1" i="1" lang="en" sz="1200">
                <a:solidFill>
                  <a:srgbClr val="FF0000"/>
                </a:solidFill>
              </a:rPr>
              <a:t>"clean sheet coding"</a:t>
            </a:r>
            <a:r>
              <a:rPr lang="en" sz="1200"/>
              <a:t> in which they simply start writing code in an empty file with </a:t>
            </a:r>
            <a:r>
              <a:rPr b="1" i="1" lang="en" sz="1200">
                <a:solidFill>
                  <a:srgbClr val="FF0000"/>
                </a:solidFill>
              </a:rPr>
              <a:t>little thought</a:t>
            </a:r>
            <a:r>
              <a:rPr lang="en" sz="1200">
                <a:solidFill>
                  <a:srgbClr val="FF0000"/>
                </a:solidFill>
              </a:rPr>
              <a:t> </a:t>
            </a:r>
            <a:r>
              <a:rPr lang="en" sz="1200"/>
              <a:t>put into an up front design.</a:t>
            </a:r>
            <a:r>
              <a:rPr lang="en"/>
              <a:t> </a:t>
            </a:r>
            <a:endParaRPr/>
          </a:p>
        </p:txBody>
      </p:sp>
      <p:sp>
        <p:nvSpPr>
          <p:cNvPr id="982" name="Google Shape;982;p107"/>
          <p:cNvSpPr txBox="1"/>
          <p:nvPr>
            <p:ph idx="3" type="body"/>
          </p:nvPr>
        </p:nvSpPr>
        <p:spPr>
          <a:xfrm>
            <a:off x="311725" y="1774601"/>
            <a:ext cx="3706500" cy="8859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This kind of software development is perfectly fine for</a:t>
            </a:r>
            <a:r>
              <a:rPr lang="en" sz="1200">
                <a:solidFill>
                  <a:srgbClr val="FF0000"/>
                </a:solidFill>
              </a:rPr>
              <a:t> </a:t>
            </a:r>
            <a:r>
              <a:rPr b="1" i="1" lang="en" sz="1200">
                <a:solidFill>
                  <a:srgbClr val="FF0000"/>
                </a:solidFill>
              </a:rPr>
              <a:t>throwaway code</a:t>
            </a:r>
            <a:r>
              <a:rPr lang="en" sz="1200"/>
              <a:t>; rapid prototypes or solutions to toy problems. In those circumstances, spending a lot of time on a design </a:t>
            </a:r>
            <a:r>
              <a:rPr b="1" i="1" lang="en" sz="1200">
                <a:solidFill>
                  <a:srgbClr val="FF0000"/>
                </a:solidFill>
              </a:rPr>
              <a:t>probably </a:t>
            </a:r>
            <a:r>
              <a:rPr lang="en" sz="1200"/>
              <a:t>isn't worth it.</a:t>
            </a:r>
            <a:endParaRPr/>
          </a:p>
        </p:txBody>
      </p:sp>
      <p:sp>
        <p:nvSpPr>
          <p:cNvPr id="983" name="Google Shape;983;p107"/>
          <p:cNvSpPr txBox="1"/>
          <p:nvPr>
            <p:ph idx="3" type="body"/>
          </p:nvPr>
        </p:nvSpPr>
        <p:spPr>
          <a:xfrm>
            <a:off x="311725" y="2757601"/>
            <a:ext cx="3706500" cy="8859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But any code that you plan to spend more than a few minutes on is worth designing </a:t>
            </a:r>
            <a:r>
              <a:rPr b="1" i="1" lang="en" sz="1200">
                <a:solidFill>
                  <a:srgbClr val="FF0000"/>
                </a:solidFill>
              </a:rPr>
              <a:t>up front</a:t>
            </a:r>
            <a:r>
              <a:rPr lang="en" sz="1200"/>
              <a:t>. This can (and will) save you a </a:t>
            </a:r>
            <a:r>
              <a:rPr b="1" i="1" lang="en" sz="1200">
                <a:solidFill>
                  <a:srgbClr val="FF0000"/>
                </a:solidFill>
              </a:rPr>
              <a:t>lot</a:t>
            </a:r>
            <a:r>
              <a:rPr lang="en" sz="1200">
                <a:solidFill>
                  <a:srgbClr val="FF0000"/>
                </a:solidFill>
              </a:rPr>
              <a:t> </a:t>
            </a:r>
            <a:r>
              <a:rPr lang="en" sz="1200"/>
              <a:t>of time, especially with OO programs that include lots of little classes.</a:t>
            </a:r>
            <a:endParaRPr/>
          </a:p>
        </p:txBody>
      </p:sp>
      <p:sp>
        <p:nvSpPr>
          <p:cNvPr id="984" name="Google Shape;984;p107"/>
          <p:cNvSpPr txBox="1"/>
          <p:nvPr>
            <p:ph idx="3" type="body"/>
          </p:nvPr>
        </p:nvSpPr>
        <p:spPr>
          <a:xfrm>
            <a:off x="311725" y="3748200"/>
            <a:ext cx="3706500" cy="5232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The good news is that, over time and with practice, you will get </a:t>
            </a:r>
            <a:r>
              <a:rPr b="1" i="1" lang="en" sz="1200">
                <a:solidFill>
                  <a:srgbClr val="FF0000"/>
                </a:solidFill>
              </a:rPr>
              <a:t>better</a:t>
            </a:r>
            <a:r>
              <a:rPr lang="en" sz="1200">
                <a:solidFill>
                  <a:srgbClr val="FF0000"/>
                </a:solidFill>
              </a:rPr>
              <a:t> </a:t>
            </a:r>
            <a:r>
              <a:rPr lang="en" sz="1200"/>
              <a:t>and </a:t>
            </a:r>
            <a:r>
              <a:rPr b="1" i="1" lang="en" sz="1200">
                <a:solidFill>
                  <a:srgbClr val="FF0000"/>
                </a:solidFill>
              </a:rPr>
              <a:t>faster</a:t>
            </a:r>
            <a:r>
              <a:rPr lang="en" sz="1200">
                <a:solidFill>
                  <a:srgbClr val="FF0000"/>
                </a:solidFill>
              </a:rPr>
              <a:t> </a:t>
            </a:r>
            <a:r>
              <a:rPr lang="en" sz="1200"/>
              <a:t>at designing software.</a:t>
            </a:r>
            <a:endParaRPr/>
          </a:p>
        </p:txBody>
      </p:sp>
      <p:sp>
        <p:nvSpPr>
          <p:cNvPr id="985" name="Google Shape;985;p107"/>
          <p:cNvSpPr txBox="1"/>
          <p:nvPr>
            <p:ph idx="3" type="body"/>
          </p:nvPr>
        </p:nvSpPr>
        <p:spPr>
          <a:xfrm>
            <a:off x="311725" y="4376100"/>
            <a:ext cx="3706500" cy="5232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And you will learn about </a:t>
            </a:r>
            <a:r>
              <a:rPr b="1" i="1" lang="en" sz="1200">
                <a:solidFill>
                  <a:srgbClr val="FF0000"/>
                </a:solidFill>
              </a:rPr>
              <a:t>design patterns</a:t>
            </a:r>
            <a:r>
              <a:rPr lang="en" sz="1200"/>
              <a:t> that can act like shortcuts to a design for common problems.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1"/>
                                        </p:tgtEl>
                                        <p:attrNameLst>
                                          <p:attrName>style.visibility</p:attrName>
                                        </p:attrNameLst>
                                      </p:cBhvr>
                                      <p:to>
                                        <p:strVal val="visible"/>
                                      </p:to>
                                    </p:set>
                                    <p:animEffect filter="fade" transition="in">
                                      <p:cBhvr>
                                        <p:cTn dur="1000"/>
                                        <p:tgtEl>
                                          <p:spTgt spid="9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2"/>
                                        </p:tgtEl>
                                        <p:attrNameLst>
                                          <p:attrName>style.visibility</p:attrName>
                                        </p:attrNameLst>
                                      </p:cBhvr>
                                      <p:to>
                                        <p:strVal val="visible"/>
                                      </p:to>
                                    </p:set>
                                    <p:animEffect filter="fade" transition="in">
                                      <p:cBhvr>
                                        <p:cTn dur="1000"/>
                                        <p:tgtEl>
                                          <p:spTgt spid="9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3"/>
                                        </p:tgtEl>
                                        <p:attrNameLst>
                                          <p:attrName>style.visibility</p:attrName>
                                        </p:attrNameLst>
                                      </p:cBhvr>
                                      <p:to>
                                        <p:strVal val="visible"/>
                                      </p:to>
                                    </p:set>
                                    <p:animEffect filter="fade" transition="in">
                                      <p:cBhvr>
                                        <p:cTn dur="1000"/>
                                        <p:tgtEl>
                                          <p:spTgt spid="9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
                                        </p:tgtEl>
                                        <p:attrNameLst>
                                          <p:attrName>style.visibility</p:attrName>
                                        </p:attrNameLst>
                                      </p:cBhvr>
                                      <p:to>
                                        <p:strVal val="visible"/>
                                      </p:to>
                                    </p:set>
                                    <p:animEffect filter="fade" transition="in">
                                      <p:cBhvr>
                                        <p:cTn dur="1000"/>
                                        <p:tgtEl>
                                          <p:spTgt spid="9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5"/>
                                        </p:tgtEl>
                                        <p:attrNameLst>
                                          <p:attrName>style.visibility</p:attrName>
                                        </p:attrNameLst>
                                      </p:cBhvr>
                                      <p:to>
                                        <p:strVal val="visible"/>
                                      </p:to>
                                    </p:set>
                                    <p:animEffect filter="fade" transition="in">
                                      <p:cBhvr>
                                        <p:cTn dur="1000"/>
                                        <p:tgtEl>
                                          <p:spTgt spid="9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08"/>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Let's iterate on our domain analysis again and try to identify common attributes between the two different types of Trolls. This will help us make the decision about whether or not we need a common parent.</a:t>
            </a:r>
            <a:endParaRPr/>
          </a:p>
        </p:txBody>
      </p:sp>
      <p:sp>
        <p:nvSpPr>
          <p:cNvPr id="991" name="Google Shape;991;p108"/>
          <p:cNvSpPr txBox="1"/>
          <p:nvPr>
            <p:ph idx="12" type="sldNum"/>
          </p:nvPr>
        </p:nvSpPr>
        <p:spPr>
          <a:xfrm>
            <a:off x="8578605"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92" name="Google Shape;992;p10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Identifying Common Attributes</a:t>
            </a:r>
            <a:endParaRPr/>
          </a:p>
        </p:txBody>
      </p:sp>
      <p:sp>
        <p:nvSpPr>
          <p:cNvPr id="993" name="Google Shape;993;p10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3.20</a:t>
            </a:r>
            <a:endParaRPr/>
          </a:p>
        </p:txBody>
      </p:sp>
      <p:graphicFrame>
        <p:nvGraphicFramePr>
          <p:cNvPr id="994" name="Google Shape;994;p108"/>
          <p:cNvGraphicFramePr/>
          <p:nvPr/>
        </p:nvGraphicFramePr>
        <p:xfrm>
          <a:off x="2490850" y="1650550"/>
          <a:ext cx="3000000" cy="3000000"/>
        </p:xfrm>
        <a:graphic>
          <a:graphicData uri="http://schemas.openxmlformats.org/drawingml/2006/table">
            <a:tbl>
              <a:tblPr>
                <a:noFill/>
                <a:tableStyleId>{BB7116F7-C15E-4CF7-A1A4-3F0B48A09751}</a:tableStyleId>
              </a:tblPr>
              <a:tblGrid>
                <a:gridCol w="900075"/>
                <a:gridCol w="1785900"/>
                <a:gridCol w="1785900"/>
                <a:gridCol w="1785900"/>
              </a:tblGrid>
              <a:tr h="4170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t>Common to Both</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t>Unique to Trollzord</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t>Unique to Trolling</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456500">
                <a:tc>
                  <a:txBody>
                    <a:bodyPr/>
                    <a:lstStyle/>
                    <a:p>
                      <a:pPr indent="0" lvl="0" marL="0" rtl="0" algn="l">
                        <a:spcBef>
                          <a:spcPts val="0"/>
                        </a:spcBef>
                        <a:spcAft>
                          <a:spcPts val="0"/>
                        </a:spcAft>
                        <a:buNone/>
                      </a:pPr>
                      <a:r>
                        <a:rPr lang="en"/>
                        <a:t>State</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456500">
                <a:tc>
                  <a:txBody>
                    <a:bodyPr/>
                    <a:lstStyle/>
                    <a:p>
                      <a:pPr indent="0" lvl="0" marL="0" rtl="0" algn="l">
                        <a:spcBef>
                          <a:spcPts val="0"/>
                        </a:spcBef>
                        <a:spcAft>
                          <a:spcPts val="0"/>
                        </a:spcAft>
                        <a:buNone/>
                      </a:pPr>
                      <a:r>
                        <a:rPr lang="en"/>
                        <a:t>Behavior</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pic>
        <p:nvPicPr>
          <p:cNvPr id="995" name="Google Shape;995;p108"/>
          <p:cNvPicPr preferRelativeResize="0"/>
          <p:nvPr/>
        </p:nvPicPr>
        <p:blipFill>
          <a:blip r:embed="rId3">
            <a:alphaModFix/>
          </a:blip>
          <a:stretch>
            <a:fillRect/>
          </a:stretch>
        </p:blipFill>
        <p:spPr>
          <a:xfrm>
            <a:off x="209877" y="1824496"/>
            <a:ext cx="998775" cy="1534781"/>
          </a:xfrm>
          <a:prstGeom prst="rect">
            <a:avLst/>
          </a:prstGeom>
          <a:noFill/>
          <a:ln>
            <a:noFill/>
          </a:ln>
        </p:spPr>
      </p:pic>
      <p:pic>
        <p:nvPicPr>
          <p:cNvPr id="996" name="Google Shape;996;p108"/>
          <p:cNvPicPr preferRelativeResize="0"/>
          <p:nvPr/>
        </p:nvPicPr>
        <p:blipFill>
          <a:blip r:embed="rId4">
            <a:alphaModFix/>
          </a:blip>
          <a:stretch>
            <a:fillRect/>
          </a:stretch>
        </p:blipFill>
        <p:spPr>
          <a:xfrm>
            <a:off x="1005281" y="2806579"/>
            <a:ext cx="1124740" cy="1098517"/>
          </a:xfrm>
          <a:prstGeom prst="rect">
            <a:avLst/>
          </a:prstGeom>
          <a:noFill/>
          <a:ln>
            <a:noFill/>
          </a:ln>
        </p:spPr>
      </p:pic>
      <p:sp>
        <p:nvSpPr>
          <p:cNvPr id="997" name="Google Shape;997;p108"/>
          <p:cNvSpPr/>
          <p:nvPr/>
        </p:nvSpPr>
        <p:spPr>
          <a:xfrm>
            <a:off x="1237000" y="2366120"/>
            <a:ext cx="1027200" cy="322800"/>
          </a:xfrm>
          <a:prstGeom prst="wedgeRoundRectCallout">
            <a:avLst>
              <a:gd fmla="val -21700" name="adj1"/>
              <a:gd fmla="val 79949"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98" name="Google Shape;998;p108"/>
          <p:cNvPicPr preferRelativeResize="0"/>
          <p:nvPr/>
        </p:nvPicPr>
        <p:blipFill>
          <a:blip r:embed="rId5">
            <a:alphaModFix/>
          </a:blip>
          <a:stretch>
            <a:fillRect/>
          </a:stretch>
        </p:blipFill>
        <p:spPr>
          <a:xfrm>
            <a:off x="1281969" y="2455807"/>
            <a:ext cx="933088" cy="14455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109"/>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Let's iterate on our domain analysis again and try to identify common attributes between the two different types of Trolls. This will help us make the decision about whether or not we need a common parent.</a:t>
            </a:r>
            <a:endParaRPr/>
          </a:p>
        </p:txBody>
      </p:sp>
      <p:sp>
        <p:nvSpPr>
          <p:cNvPr id="1004" name="Google Shape;1004;p109"/>
          <p:cNvSpPr txBox="1"/>
          <p:nvPr>
            <p:ph idx="12" type="sldNum"/>
          </p:nvPr>
        </p:nvSpPr>
        <p:spPr>
          <a:xfrm>
            <a:off x="8578605"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05" name="Google Shape;1005;p10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Identifying Common Attributes</a:t>
            </a:r>
            <a:endParaRPr/>
          </a:p>
        </p:txBody>
      </p:sp>
      <p:sp>
        <p:nvSpPr>
          <p:cNvPr id="1006" name="Google Shape;1006;p10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3.20</a:t>
            </a:r>
            <a:endParaRPr/>
          </a:p>
        </p:txBody>
      </p:sp>
      <p:graphicFrame>
        <p:nvGraphicFramePr>
          <p:cNvPr id="1007" name="Google Shape;1007;p109"/>
          <p:cNvGraphicFramePr/>
          <p:nvPr/>
        </p:nvGraphicFramePr>
        <p:xfrm>
          <a:off x="2490850" y="1650550"/>
          <a:ext cx="3000000" cy="3000000"/>
        </p:xfrm>
        <a:graphic>
          <a:graphicData uri="http://schemas.openxmlformats.org/drawingml/2006/table">
            <a:tbl>
              <a:tblPr>
                <a:noFill/>
                <a:tableStyleId>{BB7116F7-C15E-4CF7-A1A4-3F0B48A09751}</a:tableStyleId>
              </a:tblPr>
              <a:tblGrid>
                <a:gridCol w="900075"/>
                <a:gridCol w="1785900"/>
                <a:gridCol w="1785900"/>
                <a:gridCol w="1785900"/>
              </a:tblGrid>
              <a:tr h="4170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t>Common to Both</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t>Unique to Trollzord</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t>Unique to Trolling</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456500">
                <a:tc>
                  <a:txBody>
                    <a:bodyPr/>
                    <a:lstStyle/>
                    <a:p>
                      <a:pPr indent="0" lvl="0" marL="0" rtl="0" algn="l">
                        <a:spcBef>
                          <a:spcPts val="0"/>
                        </a:spcBef>
                        <a:spcAft>
                          <a:spcPts val="0"/>
                        </a:spcAft>
                        <a:buNone/>
                      </a:pPr>
                      <a:r>
                        <a:rPr lang="en"/>
                        <a:t>State</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456500">
                <a:tc>
                  <a:txBody>
                    <a:bodyPr/>
                    <a:lstStyle/>
                    <a:p>
                      <a:pPr indent="0" lvl="0" marL="0" rtl="0" algn="l">
                        <a:spcBef>
                          <a:spcPts val="0"/>
                        </a:spcBef>
                        <a:spcAft>
                          <a:spcPts val="0"/>
                        </a:spcAft>
                        <a:buNone/>
                      </a:pPr>
                      <a:r>
                        <a:rPr lang="en"/>
                        <a:t>Behavior</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pic>
        <p:nvPicPr>
          <p:cNvPr id="1008" name="Google Shape;1008;p109"/>
          <p:cNvPicPr preferRelativeResize="0"/>
          <p:nvPr/>
        </p:nvPicPr>
        <p:blipFill>
          <a:blip r:embed="rId3">
            <a:alphaModFix/>
          </a:blip>
          <a:stretch>
            <a:fillRect/>
          </a:stretch>
        </p:blipFill>
        <p:spPr>
          <a:xfrm>
            <a:off x="209877" y="1824496"/>
            <a:ext cx="998775" cy="1534781"/>
          </a:xfrm>
          <a:prstGeom prst="rect">
            <a:avLst/>
          </a:prstGeom>
          <a:noFill/>
          <a:ln>
            <a:noFill/>
          </a:ln>
        </p:spPr>
      </p:pic>
      <p:pic>
        <p:nvPicPr>
          <p:cNvPr id="1009" name="Google Shape;1009;p109"/>
          <p:cNvPicPr preferRelativeResize="0"/>
          <p:nvPr/>
        </p:nvPicPr>
        <p:blipFill>
          <a:blip r:embed="rId4">
            <a:alphaModFix/>
          </a:blip>
          <a:stretch>
            <a:fillRect/>
          </a:stretch>
        </p:blipFill>
        <p:spPr>
          <a:xfrm>
            <a:off x="1005281" y="2806579"/>
            <a:ext cx="1124740" cy="1098517"/>
          </a:xfrm>
          <a:prstGeom prst="rect">
            <a:avLst/>
          </a:prstGeom>
          <a:noFill/>
          <a:ln>
            <a:noFill/>
          </a:ln>
        </p:spPr>
      </p:pic>
      <p:sp>
        <p:nvSpPr>
          <p:cNvPr id="1010" name="Google Shape;1010;p109"/>
          <p:cNvSpPr/>
          <p:nvPr/>
        </p:nvSpPr>
        <p:spPr>
          <a:xfrm>
            <a:off x="1237000" y="2366120"/>
            <a:ext cx="1027200" cy="322800"/>
          </a:xfrm>
          <a:prstGeom prst="wedgeRoundRectCallout">
            <a:avLst>
              <a:gd fmla="val -21700" name="adj1"/>
              <a:gd fmla="val 79949"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11" name="Google Shape;1011;p109"/>
          <p:cNvPicPr preferRelativeResize="0"/>
          <p:nvPr/>
        </p:nvPicPr>
        <p:blipFill>
          <a:blip r:embed="rId5">
            <a:alphaModFix/>
          </a:blip>
          <a:stretch>
            <a:fillRect/>
          </a:stretch>
        </p:blipFill>
        <p:spPr>
          <a:xfrm>
            <a:off x="1281969" y="2455807"/>
            <a:ext cx="933088" cy="144552"/>
          </a:xfrm>
          <a:prstGeom prst="rect">
            <a:avLst/>
          </a:prstGeom>
          <a:noFill/>
          <a:ln>
            <a:noFill/>
          </a:ln>
        </p:spPr>
      </p:pic>
      <p:sp>
        <p:nvSpPr>
          <p:cNvPr id="1012" name="Google Shape;1012;p109"/>
          <p:cNvSpPr txBox="1"/>
          <p:nvPr/>
        </p:nvSpPr>
        <p:spPr>
          <a:xfrm>
            <a:off x="3406825" y="2054450"/>
            <a:ext cx="1773600" cy="1469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NAME</a:t>
            </a:r>
            <a:endParaRPr sz="18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MAX HP</a:t>
            </a:r>
            <a:endParaRPr sz="18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CURRENT HP</a:t>
            </a:r>
            <a:endParaRPr sz="18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REGEN %</a:t>
            </a:r>
            <a:endParaRPr sz="1800">
              <a:solidFill>
                <a:srgbClr val="FF0000"/>
              </a:solidFill>
              <a:latin typeface="Shadows Into Light"/>
              <a:ea typeface="Shadows Into Light"/>
              <a:cs typeface="Shadows Into Light"/>
              <a:sym typeface="Shadows Into Light"/>
            </a:endParaRPr>
          </a:p>
        </p:txBody>
      </p:sp>
      <p:sp>
        <p:nvSpPr>
          <p:cNvPr id="1013" name="Google Shape;1013;p109"/>
          <p:cNvSpPr txBox="1"/>
          <p:nvPr/>
        </p:nvSpPr>
        <p:spPr>
          <a:xfrm>
            <a:off x="3406825" y="3509640"/>
            <a:ext cx="1773600" cy="1469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FF0000"/>
                </a:solidFill>
                <a:latin typeface="Shadows Into Light"/>
                <a:ea typeface="Shadows Into Light"/>
                <a:cs typeface="Shadows Into Light"/>
                <a:sym typeface="Shadows Into Light"/>
              </a:rPr>
              <a:t>CONSTRUCTOR?</a:t>
            </a:r>
            <a:endParaRPr sz="16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600">
                <a:solidFill>
                  <a:srgbClr val="FF0000"/>
                </a:solidFill>
                <a:latin typeface="Shadows Into Light"/>
                <a:ea typeface="Shadows Into Light"/>
                <a:cs typeface="Shadows Into Light"/>
                <a:sym typeface="Shadows Into Light"/>
              </a:rPr>
              <a:t>GETTERS/SETTERS</a:t>
            </a:r>
            <a:endParaRPr sz="16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600">
                <a:solidFill>
                  <a:srgbClr val="FF0000"/>
                </a:solidFill>
                <a:latin typeface="Shadows Into Light"/>
                <a:ea typeface="Shadows Into Light"/>
                <a:cs typeface="Shadows Into Light"/>
                <a:sym typeface="Shadows Into Light"/>
              </a:rPr>
              <a:t>REGENERATE</a:t>
            </a:r>
            <a:r>
              <a:rPr lang="en" sz="1600">
                <a:solidFill>
                  <a:srgbClr val="FF0000"/>
                </a:solidFill>
                <a:latin typeface="Shadows Into Light"/>
                <a:ea typeface="Shadows Into Light"/>
                <a:cs typeface="Shadows Into Light"/>
                <a:sym typeface="Shadows Into Light"/>
              </a:rPr>
              <a:t>?</a:t>
            </a:r>
            <a:endParaRPr sz="16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600">
                <a:solidFill>
                  <a:srgbClr val="FF0000"/>
                </a:solidFill>
                <a:latin typeface="Shadows Into Light"/>
                <a:ea typeface="Shadows Into Light"/>
                <a:cs typeface="Shadows Into Light"/>
                <a:sym typeface="Shadows Into Light"/>
              </a:rPr>
              <a:t>VANQUISHED?</a:t>
            </a:r>
            <a:endParaRPr sz="1600">
              <a:solidFill>
                <a:srgbClr val="FF0000"/>
              </a:solidFill>
              <a:latin typeface="Shadows Into Light"/>
              <a:ea typeface="Shadows Into Light"/>
              <a:cs typeface="Shadows Into Light"/>
              <a:sym typeface="Shadows Into Light"/>
            </a:endParaRPr>
          </a:p>
        </p:txBody>
      </p:sp>
      <p:sp>
        <p:nvSpPr>
          <p:cNvPr id="1014" name="Google Shape;1014;p109"/>
          <p:cNvSpPr txBox="1"/>
          <p:nvPr/>
        </p:nvSpPr>
        <p:spPr>
          <a:xfrm>
            <a:off x="5181595" y="2054450"/>
            <a:ext cx="1773600" cy="1469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a:t>
            </a:r>
            <a:endParaRPr sz="1800">
              <a:solidFill>
                <a:srgbClr val="FF0000"/>
              </a:solidFill>
              <a:latin typeface="Shadows Into Light"/>
              <a:ea typeface="Shadows Into Light"/>
              <a:cs typeface="Shadows Into Light"/>
              <a:sym typeface="Shadows Into Light"/>
            </a:endParaRPr>
          </a:p>
        </p:txBody>
      </p:sp>
      <p:sp>
        <p:nvSpPr>
          <p:cNvPr id="1015" name="Google Shape;1015;p109"/>
          <p:cNvSpPr txBox="1"/>
          <p:nvPr/>
        </p:nvSpPr>
        <p:spPr>
          <a:xfrm>
            <a:off x="5181595" y="3509640"/>
            <a:ext cx="1773600" cy="1469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FF0000"/>
                </a:solidFill>
                <a:latin typeface="Shadows Into Light"/>
                <a:ea typeface="Shadows Into Light"/>
                <a:cs typeface="Shadows Into Light"/>
                <a:sym typeface="Shadows Into Light"/>
              </a:rPr>
              <a:t>CONSTRUCTOR</a:t>
            </a:r>
            <a:endParaRPr sz="16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600">
                <a:solidFill>
                  <a:srgbClr val="FF0000"/>
                </a:solidFill>
                <a:latin typeface="Shadows Into Light"/>
                <a:ea typeface="Shadows Into Light"/>
                <a:cs typeface="Shadows Into Light"/>
                <a:sym typeface="Shadows Into Light"/>
              </a:rPr>
              <a:t>ATTACK</a:t>
            </a:r>
            <a:endParaRPr sz="16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600">
                <a:solidFill>
                  <a:srgbClr val="FF0000"/>
                </a:solidFill>
                <a:latin typeface="Shadows Into Light"/>
                <a:ea typeface="Shadows Into Light"/>
                <a:cs typeface="Shadows Into Light"/>
                <a:sym typeface="Shadows Into Light"/>
              </a:rPr>
              <a:t>REGENERATE</a:t>
            </a:r>
            <a:r>
              <a:rPr lang="en" sz="1600">
                <a:solidFill>
                  <a:srgbClr val="FF0000"/>
                </a:solidFill>
                <a:latin typeface="Shadows Into Light"/>
                <a:ea typeface="Shadows Into Light"/>
                <a:cs typeface="Shadows Into Light"/>
                <a:sym typeface="Shadows Into Light"/>
              </a:rPr>
              <a:t>?</a:t>
            </a:r>
            <a:endParaRPr sz="16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600">
                <a:solidFill>
                  <a:srgbClr val="FF0000"/>
                </a:solidFill>
                <a:latin typeface="Shadows Into Light"/>
                <a:ea typeface="Shadows Into Light"/>
                <a:cs typeface="Shadows Into Light"/>
                <a:sym typeface="Shadows Into Light"/>
              </a:rPr>
              <a:t>TAKE DAMAGE</a:t>
            </a:r>
            <a:endParaRPr sz="1600">
              <a:solidFill>
                <a:srgbClr val="FF0000"/>
              </a:solidFill>
              <a:latin typeface="Shadows Into Light"/>
              <a:ea typeface="Shadows Into Light"/>
              <a:cs typeface="Shadows Into Light"/>
              <a:sym typeface="Shadows Into Light"/>
            </a:endParaRPr>
          </a:p>
        </p:txBody>
      </p:sp>
      <p:sp>
        <p:nvSpPr>
          <p:cNvPr id="1016" name="Google Shape;1016;p109"/>
          <p:cNvSpPr txBox="1"/>
          <p:nvPr/>
        </p:nvSpPr>
        <p:spPr>
          <a:xfrm>
            <a:off x="6956366" y="2054450"/>
            <a:ext cx="1773600" cy="1469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0000"/>
                </a:solidFill>
                <a:latin typeface="Shadows Into Light"/>
                <a:ea typeface="Shadows Into Light"/>
                <a:cs typeface="Shadows Into Light"/>
                <a:sym typeface="Shadows Into Light"/>
              </a:rPr>
              <a:t>?</a:t>
            </a:r>
            <a:endParaRPr sz="1800">
              <a:solidFill>
                <a:srgbClr val="FF0000"/>
              </a:solidFill>
              <a:latin typeface="Shadows Into Light"/>
              <a:ea typeface="Shadows Into Light"/>
              <a:cs typeface="Shadows Into Light"/>
              <a:sym typeface="Shadows Into Light"/>
            </a:endParaRPr>
          </a:p>
        </p:txBody>
      </p:sp>
      <p:sp>
        <p:nvSpPr>
          <p:cNvPr id="1017" name="Google Shape;1017;p109"/>
          <p:cNvSpPr txBox="1"/>
          <p:nvPr/>
        </p:nvSpPr>
        <p:spPr>
          <a:xfrm>
            <a:off x="6956366" y="3509640"/>
            <a:ext cx="1773600" cy="1469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FF0000"/>
                </a:solidFill>
                <a:latin typeface="Shadows Into Light"/>
                <a:ea typeface="Shadows Into Light"/>
                <a:cs typeface="Shadows Into Light"/>
                <a:sym typeface="Shadows Into Light"/>
              </a:rPr>
              <a:t>CONSTRUCTOR</a:t>
            </a:r>
            <a:endParaRPr sz="16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600">
                <a:solidFill>
                  <a:srgbClr val="FF0000"/>
                </a:solidFill>
                <a:latin typeface="Shadows Into Light"/>
                <a:ea typeface="Shadows Into Light"/>
                <a:cs typeface="Shadows Into Light"/>
                <a:sym typeface="Shadows Into Light"/>
              </a:rPr>
              <a:t>ATTACK</a:t>
            </a:r>
            <a:endParaRPr sz="16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600">
                <a:solidFill>
                  <a:srgbClr val="FF0000"/>
                </a:solidFill>
                <a:latin typeface="Shadows Into Light"/>
                <a:ea typeface="Shadows Into Light"/>
                <a:cs typeface="Shadows Into Light"/>
                <a:sym typeface="Shadows Into Light"/>
              </a:rPr>
              <a:t>REGENERATE</a:t>
            </a:r>
            <a:r>
              <a:rPr lang="en" sz="1600">
                <a:solidFill>
                  <a:srgbClr val="FF0000"/>
                </a:solidFill>
                <a:latin typeface="Shadows Into Light"/>
                <a:ea typeface="Shadows Into Light"/>
                <a:cs typeface="Shadows Into Light"/>
                <a:sym typeface="Shadows Into Light"/>
              </a:rPr>
              <a:t>?</a:t>
            </a:r>
            <a:endParaRPr sz="1600">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sz="1600">
                <a:solidFill>
                  <a:srgbClr val="FF0000"/>
                </a:solidFill>
                <a:latin typeface="Shadows Into Light"/>
                <a:ea typeface="Shadows Into Light"/>
                <a:cs typeface="Shadows Into Light"/>
                <a:sym typeface="Shadows Into Light"/>
              </a:rPr>
              <a:t>TAKE DAMAGE</a:t>
            </a:r>
            <a:endParaRPr sz="1600">
              <a:solidFill>
                <a:srgbClr val="FF0000"/>
              </a:solidFill>
              <a:latin typeface="Shadows Into Light"/>
              <a:ea typeface="Shadows Into Light"/>
              <a:cs typeface="Shadows Into Light"/>
              <a:sym typeface="Shadows In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12"/>
                                        </p:tgtEl>
                                        <p:attrNameLst>
                                          <p:attrName>style.visibility</p:attrName>
                                        </p:attrNameLst>
                                      </p:cBhvr>
                                      <p:to>
                                        <p:strVal val="visible"/>
                                      </p:to>
                                    </p:set>
                                    <p:animEffect filter="fade" transition="in">
                                      <p:cBhvr>
                                        <p:cTn dur="1000"/>
                                        <p:tgtEl>
                                          <p:spTgt spid="10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3"/>
                                        </p:tgtEl>
                                        <p:attrNameLst>
                                          <p:attrName>style.visibility</p:attrName>
                                        </p:attrNameLst>
                                      </p:cBhvr>
                                      <p:to>
                                        <p:strVal val="visible"/>
                                      </p:to>
                                    </p:set>
                                    <p:animEffect filter="fade" transition="in">
                                      <p:cBhvr>
                                        <p:cTn dur="1000"/>
                                        <p:tgtEl>
                                          <p:spTgt spid="10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4"/>
                                        </p:tgtEl>
                                        <p:attrNameLst>
                                          <p:attrName>style.visibility</p:attrName>
                                        </p:attrNameLst>
                                      </p:cBhvr>
                                      <p:to>
                                        <p:strVal val="visible"/>
                                      </p:to>
                                    </p:set>
                                    <p:animEffect filter="fade" transition="in">
                                      <p:cBhvr>
                                        <p:cTn dur="1000"/>
                                        <p:tgtEl>
                                          <p:spTgt spid="10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5"/>
                                        </p:tgtEl>
                                        <p:attrNameLst>
                                          <p:attrName>style.visibility</p:attrName>
                                        </p:attrNameLst>
                                      </p:cBhvr>
                                      <p:to>
                                        <p:strVal val="visible"/>
                                      </p:to>
                                    </p:set>
                                    <p:animEffect filter="fade" transition="in">
                                      <p:cBhvr>
                                        <p:cTn dur="1000"/>
                                        <p:tgtEl>
                                          <p:spTgt spid="10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gtEl>
                                        <p:attrNameLst>
                                          <p:attrName>style.visibility</p:attrName>
                                        </p:attrNameLst>
                                      </p:cBhvr>
                                      <p:to>
                                        <p:strVal val="visible"/>
                                      </p:to>
                                    </p:set>
                                    <p:animEffect filter="fade" transition="in">
                                      <p:cBhvr>
                                        <p:cTn dur="1000"/>
                                        <p:tgtEl>
                                          <p:spTgt spid="10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7"/>
                                        </p:tgtEl>
                                        <p:attrNameLst>
                                          <p:attrName>style.visibility</p:attrName>
                                        </p:attrNameLst>
                                      </p:cBhvr>
                                      <p:to>
                                        <p:strVal val="visible"/>
                                      </p:to>
                                    </p:set>
                                    <p:animEffect filter="fade" transition="in">
                                      <p:cBhvr>
                                        <p:cTn dur="1000"/>
                                        <p:tgtEl>
                                          <p:spTgt spid="10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110"/>
          <p:cNvSpPr txBox="1"/>
          <p:nvPr>
            <p:ph type="title"/>
          </p:nvPr>
        </p:nvSpPr>
        <p:spPr>
          <a:xfrm>
            <a:off x="311700" y="10527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Abstract Classes in UML</a:t>
            </a:r>
            <a:endParaRPr/>
          </a:p>
        </p:txBody>
      </p:sp>
      <p:sp>
        <p:nvSpPr>
          <p:cNvPr id="1023" name="Google Shape;1023;p110"/>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fld id="{00000000-1234-1234-1234-123412341234}" type="slidenum">
              <a:rPr lang="en"/>
              <a:t>‹#›</a:t>
            </a:fld>
            <a:endParaRPr/>
          </a:p>
        </p:txBody>
      </p:sp>
      <p:pic>
        <p:nvPicPr>
          <p:cNvPr id="1024" name="Google Shape;1024;p110"/>
          <p:cNvPicPr preferRelativeResize="0"/>
          <p:nvPr/>
        </p:nvPicPr>
        <p:blipFill>
          <a:blip r:embed="rId3">
            <a:alphaModFix/>
          </a:blip>
          <a:stretch>
            <a:fillRect/>
          </a:stretch>
        </p:blipFill>
        <p:spPr>
          <a:xfrm>
            <a:off x="1675125" y="948175"/>
            <a:ext cx="5793751" cy="393809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111"/>
          <p:cNvSpPr txBox="1"/>
          <p:nvPr>
            <p:ph type="title"/>
          </p:nvPr>
        </p:nvSpPr>
        <p:spPr>
          <a:xfrm>
            <a:off x="311700" y="10527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Abstract Classes in UML</a:t>
            </a:r>
            <a:endParaRPr/>
          </a:p>
        </p:txBody>
      </p:sp>
      <p:sp>
        <p:nvSpPr>
          <p:cNvPr id="1030" name="Google Shape;1030;p111"/>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fld id="{00000000-1234-1234-1234-123412341234}" type="slidenum">
              <a:rPr lang="en"/>
              <a:t>‹#›</a:t>
            </a:fld>
            <a:endParaRPr/>
          </a:p>
        </p:txBody>
      </p:sp>
      <p:pic>
        <p:nvPicPr>
          <p:cNvPr id="1031" name="Google Shape;1031;p111"/>
          <p:cNvPicPr preferRelativeResize="0"/>
          <p:nvPr/>
        </p:nvPicPr>
        <p:blipFill>
          <a:blip r:embed="rId3">
            <a:alphaModFix/>
          </a:blip>
          <a:stretch>
            <a:fillRect/>
          </a:stretch>
        </p:blipFill>
        <p:spPr>
          <a:xfrm>
            <a:off x="1675125" y="948175"/>
            <a:ext cx="5793751" cy="3938099"/>
          </a:xfrm>
          <a:prstGeom prst="rect">
            <a:avLst/>
          </a:prstGeom>
          <a:noFill/>
          <a:ln>
            <a:noFill/>
          </a:ln>
        </p:spPr>
      </p:pic>
      <p:sp>
        <p:nvSpPr>
          <p:cNvPr id="1032" name="Google Shape;1032;p111"/>
          <p:cNvSpPr txBox="1"/>
          <p:nvPr/>
        </p:nvSpPr>
        <p:spPr>
          <a:xfrm>
            <a:off x="344311" y="967201"/>
            <a:ext cx="25557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An abstract class in a UML diagram is indicated using the </a:t>
            </a:r>
            <a:r>
              <a:rPr b="1" i="1" lang="en" sz="1100">
                <a:solidFill>
                  <a:srgbClr val="FF0000"/>
                </a:solidFill>
              </a:rPr>
              <a:t>&lt;&lt;abstract&gt;&gt;</a:t>
            </a:r>
            <a:r>
              <a:rPr lang="en" sz="1100"/>
              <a:t> annotation (in </a:t>
            </a:r>
            <a:r>
              <a:rPr b="1" i="1" lang="en" sz="1100">
                <a:solidFill>
                  <a:srgbClr val="FF0000"/>
                </a:solidFill>
              </a:rPr>
              <a:t>guillemets</a:t>
            </a:r>
            <a:r>
              <a:rPr lang="en" sz="1100"/>
              <a:t>).</a:t>
            </a:r>
            <a:endParaRPr sz="1100"/>
          </a:p>
        </p:txBody>
      </p:sp>
      <p:grpSp>
        <p:nvGrpSpPr>
          <p:cNvPr id="1033" name="Google Shape;1033;p111"/>
          <p:cNvGrpSpPr/>
          <p:nvPr/>
        </p:nvGrpSpPr>
        <p:grpSpPr>
          <a:xfrm>
            <a:off x="2900011" y="982174"/>
            <a:ext cx="2131251" cy="331377"/>
            <a:chOff x="2900011" y="982174"/>
            <a:chExt cx="2131251" cy="331377"/>
          </a:xfrm>
        </p:grpSpPr>
        <p:sp>
          <p:nvSpPr>
            <p:cNvPr id="1034" name="Google Shape;1034;p111"/>
            <p:cNvSpPr/>
            <p:nvPr/>
          </p:nvSpPr>
          <p:spPr>
            <a:xfrm>
              <a:off x="4132762" y="982174"/>
              <a:ext cx="898500" cy="17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35" name="Google Shape;1035;p111"/>
            <p:cNvCxnSpPr>
              <a:stCxn id="1032" idx="3"/>
              <a:endCxn id="1034" idx="1"/>
            </p:cNvCxnSpPr>
            <p:nvPr/>
          </p:nvCxnSpPr>
          <p:spPr>
            <a:xfrm flipH="1" rot="10800000">
              <a:off x="2900011" y="1067551"/>
              <a:ext cx="1232700" cy="246000"/>
            </a:xfrm>
            <a:prstGeom prst="bentConnector3">
              <a:avLst>
                <a:gd fmla="val 50002" name="adj1"/>
              </a:avLst>
            </a:prstGeom>
            <a:noFill/>
            <a:ln cap="flat" cmpd="sng" w="19050">
              <a:solidFill>
                <a:srgbClr val="FF0000"/>
              </a:solidFill>
              <a:prstDash val="solid"/>
              <a:round/>
              <a:headEnd len="med" w="med" type="none"/>
              <a:tailEnd len="med" w="med" type="none"/>
            </a:ln>
          </p:spPr>
        </p:cxnSp>
      </p:grpSp>
      <p:sp>
        <p:nvSpPr>
          <p:cNvPr id="1036" name="Google Shape;1036;p111"/>
          <p:cNvSpPr txBox="1"/>
          <p:nvPr/>
        </p:nvSpPr>
        <p:spPr>
          <a:xfrm>
            <a:off x="344311" y="1808401"/>
            <a:ext cx="25557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i="1" lang="en" sz="1100">
                <a:solidFill>
                  <a:srgbClr val="FF0000"/>
                </a:solidFill>
              </a:rPr>
              <a:t>Italics</a:t>
            </a:r>
            <a:r>
              <a:rPr lang="en" sz="1100">
                <a:solidFill>
                  <a:srgbClr val="FF0000"/>
                </a:solidFill>
              </a:rPr>
              <a:t> </a:t>
            </a:r>
            <a:r>
              <a:rPr lang="en" sz="1100"/>
              <a:t>are used to indicate that a method in the class is abstract.</a:t>
            </a:r>
            <a:endParaRPr sz="1100"/>
          </a:p>
        </p:txBody>
      </p:sp>
      <p:grpSp>
        <p:nvGrpSpPr>
          <p:cNvPr id="1037" name="Google Shape;1037;p111"/>
          <p:cNvGrpSpPr/>
          <p:nvPr/>
        </p:nvGrpSpPr>
        <p:grpSpPr>
          <a:xfrm>
            <a:off x="2900011" y="2070001"/>
            <a:ext cx="2019029" cy="591672"/>
            <a:chOff x="2900011" y="2070001"/>
            <a:chExt cx="2019029" cy="591672"/>
          </a:xfrm>
        </p:grpSpPr>
        <p:sp>
          <p:nvSpPr>
            <p:cNvPr id="1038" name="Google Shape;1038;p111"/>
            <p:cNvSpPr/>
            <p:nvPr/>
          </p:nvSpPr>
          <p:spPr>
            <a:xfrm>
              <a:off x="3251940" y="2138473"/>
              <a:ext cx="1667100" cy="523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39" name="Google Shape;1039;p111"/>
            <p:cNvCxnSpPr>
              <a:stCxn id="1036" idx="3"/>
              <a:endCxn id="1038" idx="1"/>
            </p:cNvCxnSpPr>
            <p:nvPr/>
          </p:nvCxnSpPr>
          <p:spPr>
            <a:xfrm>
              <a:off x="2900011" y="2070001"/>
              <a:ext cx="351900" cy="330000"/>
            </a:xfrm>
            <a:prstGeom prst="bentConnector3">
              <a:avLst>
                <a:gd fmla="val 50004" name="adj1"/>
              </a:avLst>
            </a:prstGeom>
            <a:noFill/>
            <a:ln cap="flat" cmpd="sng" w="19050">
              <a:solidFill>
                <a:srgbClr val="FF0000"/>
              </a:solidFill>
              <a:prstDash val="solid"/>
              <a:round/>
              <a:headEnd len="med" w="med" type="none"/>
              <a:tailEnd len="med" w="med" type="none"/>
            </a:ln>
          </p:spPr>
        </p:cxnSp>
      </p:grpSp>
      <p:sp>
        <p:nvSpPr>
          <p:cNvPr id="1040" name="Google Shape;1040;p111"/>
          <p:cNvSpPr txBox="1"/>
          <p:nvPr/>
        </p:nvSpPr>
        <p:spPr>
          <a:xfrm>
            <a:off x="344311" y="2480101"/>
            <a:ext cx="25557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The same arrow used to indicate that one class subclasses another is used when subclassing an abstract class.</a:t>
            </a:r>
            <a:endParaRPr sz="1100"/>
          </a:p>
        </p:txBody>
      </p:sp>
      <p:cxnSp>
        <p:nvCxnSpPr>
          <p:cNvPr id="1041" name="Google Shape;1041;p111"/>
          <p:cNvCxnSpPr>
            <a:stCxn id="1040" idx="3"/>
          </p:cNvCxnSpPr>
          <p:nvPr/>
        </p:nvCxnSpPr>
        <p:spPr>
          <a:xfrm>
            <a:off x="2900011" y="2826451"/>
            <a:ext cx="1569600" cy="0"/>
          </a:xfrm>
          <a:prstGeom prst="straightConnector1">
            <a:avLst/>
          </a:prstGeom>
          <a:noFill/>
          <a:ln cap="flat" cmpd="sng" w="19050">
            <a:solidFill>
              <a:srgbClr val="FF0000"/>
            </a:solidFill>
            <a:prstDash val="solid"/>
            <a:round/>
            <a:headEnd len="med" w="med" type="none"/>
            <a:tailEnd len="med" w="med" type="triangle"/>
          </a:ln>
        </p:spPr>
      </p:cxnSp>
      <p:sp>
        <p:nvSpPr>
          <p:cNvPr id="1042" name="Google Shape;1042;p111"/>
          <p:cNvSpPr txBox="1"/>
          <p:nvPr/>
        </p:nvSpPr>
        <p:spPr>
          <a:xfrm>
            <a:off x="6276611" y="2277401"/>
            <a:ext cx="25557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If a child implements one or more of the abstract methods, they are repeated in the child class.</a:t>
            </a:r>
            <a:endParaRPr sz="1100"/>
          </a:p>
        </p:txBody>
      </p:sp>
      <p:grpSp>
        <p:nvGrpSpPr>
          <p:cNvPr id="1043" name="Google Shape;1043;p111"/>
          <p:cNvGrpSpPr/>
          <p:nvPr/>
        </p:nvGrpSpPr>
        <p:grpSpPr>
          <a:xfrm>
            <a:off x="4811865" y="2970101"/>
            <a:ext cx="2742596" cy="1835497"/>
            <a:chOff x="4811865" y="2970101"/>
            <a:chExt cx="2742596" cy="1835497"/>
          </a:xfrm>
        </p:grpSpPr>
        <p:sp>
          <p:nvSpPr>
            <p:cNvPr id="1044" name="Google Shape;1044;p111"/>
            <p:cNvSpPr/>
            <p:nvPr/>
          </p:nvSpPr>
          <p:spPr>
            <a:xfrm>
              <a:off x="4811865" y="4282398"/>
              <a:ext cx="1667100" cy="523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5" name="Google Shape;1045;p111"/>
            <p:cNvCxnSpPr>
              <a:stCxn id="1042" idx="2"/>
              <a:endCxn id="1044" idx="3"/>
            </p:cNvCxnSpPr>
            <p:nvPr/>
          </p:nvCxnSpPr>
          <p:spPr>
            <a:xfrm rot="5400000">
              <a:off x="6229811" y="3219251"/>
              <a:ext cx="1573800" cy="1075500"/>
            </a:xfrm>
            <a:prstGeom prst="bentConnector2">
              <a:avLst/>
            </a:prstGeom>
            <a:noFill/>
            <a:ln cap="flat" cmpd="sng" w="19050">
              <a:solidFill>
                <a:srgbClr val="FF0000"/>
              </a:solidFill>
              <a:prstDash val="solid"/>
              <a:round/>
              <a:headEnd len="med" w="med" type="none"/>
              <a:tailEnd len="med" w="med" type="none"/>
            </a:ln>
          </p:spPr>
        </p:cxnSp>
      </p:grpSp>
      <p:grpSp>
        <p:nvGrpSpPr>
          <p:cNvPr id="1046" name="Google Shape;1046;p111"/>
          <p:cNvGrpSpPr/>
          <p:nvPr/>
        </p:nvGrpSpPr>
        <p:grpSpPr>
          <a:xfrm>
            <a:off x="1722453" y="3331675"/>
            <a:ext cx="5831822" cy="1466436"/>
            <a:chOff x="1722453" y="3331675"/>
            <a:chExt cx="5831822" cy="1466436"/>
          </a:xfrm>
        </p:grpSpPr>
        <p:sp>
          <p:nvSpPr>
            <p:cNvPr id="1047" name="Google Shape;1047;p111"/>
            <p:cNvSpPr/>
            <p:nvPr/>
          </p:nvSpPr>
          <p:spPr>
            <a:xfrm>
              <a:off x="1722453" y="4274911"/>
              <a:ext cx="1667100" cy="523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111"/>
            <p:cNvSpPr/>
            <p:nvPr/>
          </p:nvSpPr>
          <p:spPr>
            <a:xfrm>
              <a:off x="2545550" y="3331675"/>
              <a:ext cx="5008725" cy="943350"/>
            </a:xfrm>
            <a:custGeom>
              <a:rect b="b" l="l" r="r" t="t"/>
              <a:pathLst>
                <a:path extrusionOk="0" h="37734" w="200349">
                  <a:moveTo>
                    <a:pt x="200349" y="0"/>
                  </a:moveTo>
                  <a:lnTo>
                    <a:pt x="0" y="0"/>
                  </a:lnTo>
                  <a:lnTo>
                    <a:pt x="0" y="37734"/>
                  </a:lnTo>
                </a:path>
              </a:pathLst>
            </a:custGeom>
            <a:noFill/>
            <a:ln cap="flat" cmpd="sng" w="19050">
              <a:solidFill>
                <a:srgbClr val="FF0000"/>
              </a:solidFill>
              <a:prstDash val="solid"/>
              <a:round/>
              <a:headEnd len="med" w="med" type="none"/>
              <a:tailEnd len="med" w="med" type="none"/>
            </a:ln>
          </p:spPr>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32"/>
                                        </p:tgtEl>
                                        <p:attrNameLst>
                                          <p:attrName>style.visibility</p:attrName>
                                        </p:attrNameLst>
                                      </p:cBhvr>
                                      <p:to>
                                        <p:strVal val="visible"/>
                                      </p:to>
                                    </p:set>
                                    <p:animEffect filter="fade" transition="in">
                                      <p:cBhvr>
                                        <p:cTn dur="1000"/>
                                        <p:tgtEl>
                                          <p:spTgt spid="103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33"/>
                                        </p:tgtEl>
                                        <p:attrNameLst>
                                          <p:attrName>style.visibility</p:attrName>
                                        </p:attrNameLst>
                                      </p:cBhvr>
                                      <p:to>
                                        <p:strVal val="visible"/>
                                      </p:to>
                                    </p:set>
                                    <p:animEffect filter="fade" transition="in">
                                      <p:cBhvr>
                                        <p:cTn dur="1000"/>
                                        <p:tgtEl>
                                          <p:spTgt spid="10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6"/>
                                        </p:tgtEl>
                                        <p:attrNameLst>
                                          <p:attrName>style.visibility</p:attrName>
                                        </p:attrNameLst>
                                      </p:cBhvr>
                                      <p:to>
                                        <p:strVal val="visible"/>
                                      </p:to>
                                    </p:set>
                                    <p:animEffect filter="fade" transition="in">
                                      <p:cBhvr>
                                        <p:cTn dur="1000"/>
                                        <p:tgtEl>
                                          <p:spTgt spid="103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37"/>
                                        </p:tgtEl>
                                        <p:attrNameLst>
                                          <p:attrName>style.visibility</p:attrName>
                                        </p:attrNameLst>
                                      </p:cBhvr>
                                      <p:to>
                                        <p:strVal val="visible"/>
                                      </p:to>
                                    </p:set>
                                    <p:animEffect filter="fade" transition="in">
                                      <p:cBhvr>
                                        <p:cTn dur="1000"/>
                                        <p:tgtEl>
                                          <p:spTgt spid="10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0"/>
                                        </p:tgtEl>
                                        <p:attrNameLst>
                                          <p:attrName>style.visibility</p:attrName>
                                        </p:attrNameLst>
                                      </p:cBhvr>
                                      <p:to>
                                        <p:strVal val="visible"/>
                                      </p:to>
                                    </p:set>
                                    <p:animEffect filter="fade" transition="in">
                                      <p:cBhvr>
                                        <p:cTn dur="1000"/>
                                        <p:tgtEl>
                                          <p:spTgt spid="104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41"/>
                                        </p:tgtEl>
                                        <p:attrNameLst>
                                          <p:attrName>style.visibility</p:attrName>
                                        </p:attrNameLst>
                                      </p:cBhvr>
                                      <p:to>
                                        <p:strVal val="visible"/>
                                      </p:to>
                                    </p:set>
                                    <p:animEffect filter="fade" transition="in">
                                      <p:cBhvr>
                                        <p:cTn dur="1000"/>
                                        <p:tgtEl>
                                          <p:spTgt spid="10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2"/>
                                        </p:tgtEl>
                                        <p:attrNameLst>
                                          <p:attrName>style.visibility</p:attrName>
                                        </p:attrNameLst>
                                      </p:cBhvr>
                                      <p:to>
                                        <p:strVal val="visible"/>
                                      </p:to>
                                    </p:set>
                                    <p:animEffect filter="fade" transition="in">
                                      <p:cBhvr>
                                        <p:cTn dur="1000"/>
                                        <p:tgtEl>
                                          <p:spTgt spid="104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43"/>
                                        </p:tgtEl>
                                        <p:attrNameLst>
                                          <p:attrName>style.visibility</p:attrName>
                                        </p:attrNameLst>
                                      </p:cBhvr>
                                      <p:to>
                                        <p:strVal val="visible"/>
                                      </p:to>
                                    </p:set>
                                    <p:animEffect filter="fade" transition="in">
                                      <p:cBhvr>
                                        <p:cTn dur="1000"/>
                                        <p:tgtEl>
                                          <p:spTgt spid="104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046"/>
                                        </p:tgtEl>
                                        <p:attrNameLst>
                                          <p:attrName>style.visibility</p:attrName>
                                        </p:attrNameLst>
                                      </p:cBhvr>
                                      <p:to>
                                        <p:strVal val="visible"/>
                                      </p:to>
                                    </p:set>
                                    <p:animEffect filter="fade" transition="in">
                                      <p:cBhvr>
                                        <p:cTn dur="1000"/>
                                        <p:tgtEl>
                                          <p:spTgt spid="10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112"/>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It is considered best practice to attempt to design your software before you start implementing it. Putting thought into the different classes that you will need, and how they are related to or </a:t>
            </a:r>
            <a:r>
              <a:rPr lang="en"/>
              <a:t>associated</a:t>
            </a:r>
            <a:r>
              <a:rPr lang="en"/>
              <a:t> with each other can help speed up development and save time in the long run.</a:t>
            </a:r>
            <a:endParaRPr/>
          </a:p>
        </p:txBody>
      </p:sp>
      <p:sp>
        <p:nvSpPr>
          <p:cNvPr id="1054" name="Google Shape;1054;p1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5" name="Google Shape;1055;p112"/>
          <p:cNvSpPr txBox="1"/>
          <p:nvPr>
            <p:ph idx="2" type="body"/>
          </p:nvPr>
        </p:nvSpPr>
        <p:spPr>
          <a:xfrm>
            <a:off x="3833275" y="1784525"/>
            <a:ext cx="5107800" cy="30093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Using the drawing tool of your choice, create a UML class diagram representing the Troll classes that you are about to implement.</a:t>
            </a:r>
            <a:endParaRPr/>
          </a:p>
          <a:p>
            <a:pPr indent="-311150" lvl="0" marL="457200" rtl="0" algn="l">
              <a:spcBef>
                <a:spcPts val="0"/>
              </a:spcBef>
              <a:spcAft>
                <a:spcPts val="0"/>
              </a:spcAft>
              <a:buSzPts val="1300"/>
              <a:buChar char="●"/>
            </a:pPr>
            <a:r>
              <a:rPr lang="en"/>
              <a:t>You will need an </a:t>
            </a:r>
            <a:r>
              <a:rPr b="1" i="1" lang="en">
                <a:solidFill>
                  <a:srgbClr val="FF0000"/>
                </a:solidFill>
              </a:rPr>
              <a:t>abstract class</a:t>
            </a:r>
            <a:r>
              <a:rPr lang="en"/>
              <a:t> to represent the common Troll state and behavior.</a:t>
            </a:r>
            <a:endParaRPr/>
          </a:p>
          <a:p>
            <a:pPr indent="-298450" lvl="1" marL="914400" rtl="0" algn="l">
              <a:spcBef>
                <a:spcPts val="0"/>
              </a:spcBef>
              <a:spcAft>
                <a:spcPts val="0"/>
              </a:spcAft>
              <a:buSzPts val="1100"/>
              <a:buChar char="○"/>
            </a:pPr>
            <a:r>
              <a:rPr lang="en"/>
              <a:t>Which methods will you be able to implement?</a:t>
            </a:r>
            <a:endParaRPr/>
          </a:p>
          <a:p>
            <a:pPr indent="-298450" lvl="1" marL="914400" rtl="0" algn="l">
              <a:spcBef>
                <a:spcPts val="0"/>
              </a:spcBef>
              <a:spcAft>
                <a:spcPts val="0"/>
              </a:spcAft>
              <a:buSzPts val="1100"/>
              <a:buChar char="○"/>
            </a:pPr>
            <a:r>
              <a:rPr lang="en"/>
              <a:t>Which should be abstract?</a:t>
            </a:r>
            <a:endParaRPr/>
          </a:p>
          <a:p>
            <a:pPr indent="-311150" lvl="0" marL="457200" rtl="0" algn="l">
              <a:spcBef>
                <a:spcPts val="0"/>
              </a:spcBef>
              <a:spcAft>
                <a:spcPts val="0"/>
              </a:spcAft>
              <a:buSzPts val="1300"/>
              <a:buChar char="●"/>
            </a:pPr>
            <a:r>
              <a:rPr lang="en"/>
              <a:t>You will also need classes for the </a:t>
            </a:r>
            <a:r>
              <a:rPr i="1" lang="en"/>
              <a:t>Trolling </a:t>
            </a:r>
            <a:r>
              <a:rPr lang="en"/>
              <a:t>and </a:t>
            </a:r>
            <a:r>
              <a:rPr i="1" lang="en"/>
              <a:t>Trollzord</a:t>
            </a:r>
            <a:r>
              <a:rPr lang="en"/>
              <a:t> classes.</a:t>
            </a:r>
            <a:endParaRPr/>
          </a:p>
          <a:p>
            <a:pPr indent="-311150" lvl="0" marL="457200" rtl="0" algn="l">
              <a:spcBef>
                <a:spcPts val="0"/>
              </a:spcBef>
              <a:spcAft>
                <a:spcPts val="0"/>
              </a:spcAft>
              <a:buSzPts val="1300"/>
              <a:buChar char="●"/>
            </a:pPr>
            <a:r>
              <a:rPr b="1" i="1" lang="en">
                <a:solidFill>
                  <a:srgbClr val="FF0000"/>
                </a:solidFill>
              </a:rPr>
              <a:t>Challenge</a:t>
            </a:r>
            <a:r>
              <a:rPr lang="en"/>
              <a:t>: add the </a:t>
            </a:r>
            <a:r>
              <a:rPr lang="en">
                <a:latin typeface="Courier New"/>
                <a:ea typeface="Courier New"/>
                <a:cs typeface="Courier New"/>
                <a:sym typeface="Courier New"/>
              </a:rPr>
              <a:t>DamageType</a:t>
            </a:r>
            <a:r>
              <a:rPr lang="en"/>
              <a:t> enum and the </a:t>
            </a:r>
            <a:r>
              <a:rPr lang="en">
                <a:latin typeface="Courier New"/>
                <a:ea typeface="Courier New"/>
                <a:cs typeface="Courier New"/>
                <a:sym typeface="Courier New"/>
              </a:rPr>
              <a:t>Attack</a:t>
            </a:r>
            <a:r>
              <a:rPr lang="en"/>
              <a:t> class to your diagram.</a:t>
            </a:r>
            <a:endParaRPr/>
          </a:p>
          <a:p>
            <a:pPr indent="-298450" lvl="1" marL="914400" rtl="0" algn="l">
              <a:spcBef>
                <a:spcPts val="0"/>
              </a:spcBef>
              <a:spcAft>
                <a:spcPts val="0"/>
              </a:spcAft>
              <a:buSzPts val="1100"/>
              <a:buChar char="○"/>
            </a:pPr>
            <a:r>
              <a:rPr lang="en"/>
              <a:t>Be sure to connect them to the other class(es) with appropriate UML relationships.</a:t>
            </a:r>
            <a:endParaRPr/>
          </a:p>
        </p:txBody>
      </p:sp>
      <p:sp>
        <p:nvSpPr>
          <p:cNvPr id="1056" name="Google Shape;1056;p11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Diagramming Trolls</a:t>
            </a:r>
            <a:endParaRPr/>
          </a:p>
        </p:txBody>
      </p:sp>
      <p:sp>
        <p:nvSpPr>
          <p:cNvPr id="1057" name="Google Shape;1057;p11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3.21</a:t>
            </a:r>
            <a:endParaRPr/>
          </a:p>
        </p:txBody>
      </p:sp>
      <p:pic>
        <p:nvPicPr>
          <p:cNvPr id="1058" name="Google Shape;1058;p112"/>
          <p:cNvPicPr preferRelativeResize="0"/>
          <p:nvPr/>
        </p:nvPicPr>
        <p:blipFill>
          <a:blip r:embed="rId3">
            <a:alphaModFix/>
          </a:blip>
          <a:stretch>
            <a:fillRect/>
          </a:stretch>
        </p:blipFill>
        <p:spPr>
          <a:xfrm>
            <a:off x="155275" y="1814150"/>
            <a:ext cx="3678001" cy="2500001"/>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62" name="Shape 1062"/>
        <p:cNvGrpSpPr/>
        <p:nvPr/>
      </p:nvGrpSpPr>
      <p:grpSpPr>
        <a:xfrm>
          <a:off x="0" y="0"/>
          <a:ext cx="0" cy="0"/>
          <a:chOff x="0" y="0"/>
          <a:chExt cx="0" cy="0"/>
        </a:xfrm>
      </p:grpSpPr>
      <p:sp>
        <p:nvSpPr>
          <p:cNvPr id="1063" name="Google Shape;1063;p113"/>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fld id="{00000000-1234-1234-1234-123412341234}" type="slidenum">
              <a:rPr lang="en"/>
              <a:t>‹#›</a:t>
            </a:fld>
            <a:endParaRPr/>
          </a:p>
        </p:txBody>
      </p:sp>
      <p:pic>
        <p:nvPicPr>
          <p:cNvPr id="1064" name="Google Shape;1064;p113"/>
          <p:cNvPicPr preferRelativeResize="0"/>
          <p:nvPr/>
        </p:nvPicPr>
        <p:blipFill>
          <a:blip r:embed="rId3">
            <a:alphaModFix/>
          </a:blip>
          <a:stretch>
            <a:fillRect/>
          </a:stretch>
        </p:blipFill>
        <p:spPr>
          <a:xfrm>
            <a:off x="1212800" y="152400"/>
            <a:ext cx="6718408" cy="4838697"/>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114"/>
          <p:cNvSpPr txBox="1"/>
          <p:nvPr/>
        </p:nvSpPr>
        <p:spPr>
          <a:xfrm>
            <a:off x="279875" y="2978800"/>
            <a:ext cx="2724300" cy="1982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abstract</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class</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Thermometer</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10000"/>
              </a:lnSpc>
              <a:spcBef>
                <a:spcPts val="0"/>
              </a:spcBef>
              <a:spcAft>
                <a:spcPts val="0"/>
              </a:spcAft>
              <a:buNone/>
            </a:pPr>
            <a:r>
              <a:rPr lang="en" sz="800">
                <a:solidFill>
                  <a:srgbClr val="0000FF"/>
                </a:solidFill>
                <a:latin typeface="Consolas"/>
                <a:ea typeface="Consolas"/>
                <a:cs typeface="Consolas"/>
                <a:sym typeface="Consolas"/>
              </a:rPr>
              <a:t>  private</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degrees</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10000"/>
              </a:lnSpc>
              <a:spcBef>
                <a:spcPts val="0"/>
              </a:spcBef>
              <a:spcAft>
                <a:spcPts val="0"/>
              </a:spcAft>
              <a:buNone/>
            </a:pPr>
            <a:r>
              <a:t/>
            </a:r>
            <a:endParaRPr sz="800">
              <a:latin typeface="Consolas"/>
              <a:ea typeface="Consolas"/>
              <a:cs typeface="Consolas"/>
              <a:sym typeface="Consolas"/>
            </a:endParaRPr>
          </a:p>
          <a:p>
            <a:pPr indent="0" lvl="0" marL="0" rtl="0" algn="l">
              <a:lnSpc>
                <a:spcPct val="11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Thermometer</a:t>
            </a:r>
            <a:r>
              <a:rPr lang="en" sz="800">
                <a:latin typeface="Consolas"/>
                <a:ea typeface="Consolas"/>
                <a:cs typeface="Consolas"/>
                <a:sym typeface="Consolas"/>
              </a:rPr>
              <a:t>(</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degrees</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1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this</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degrees</a:t>
            </a:r>
            <a:r>
              <a:rPr lang="en" sz="800">
                <a:latin typeface="Consolas"/>
                <a:ea typeface="Consolas"/>
                <a:cs typeface="Consolas"/>
                <a:sym typeface="Consolas"/>
              </a:rPr>
              <a:t> = </a:t>
            </a:r>
            <a:r>
              <a:rPr lang="en" sz="800">
                <a:solidFill>
                  <a:srgbClr val="001080"/>
                </a:solidFill>
                <a:latin typeface="Consolas"/>
                <a:ea typeface="Consolas"/>
                <a:cs typeface="Consolas"/>
                <a:sym typeface="Consolas"/>
              </a:rPr>
              <a:t>degrees</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10000"/>
              </a:lnSpc>
              <a:spcBef>
                <a:spcPts val="0"/>
              </a:spcBef>
              <a:spcAft>
                <a:spcPts val="0"/>
              </a:spcAft>
              <a:buNone/>
            </a:pP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10000"/>
              </a:lnSpc>
              <a:spcBef>
                <a:spcPts val="0"/>
              </a:spcBef>
              <a:spcAft>
                <a:spcPts val="0"/>
              </a:spcAft>
              <a:buNone/>
            </a:pPr>
            <a:r>
              <a:t/>
            </a:r>
            <a:endParaRPr sz="800">
              <a:latin typeface="Consolas"/>
              <a:ea typeface="Consolas"/>
              <a:cs typeface="Consolas"/>
              <a:sym typeface="Consolas"/>
            </a:endParaRPr>
          </a:p>
          <a:p>
            <a:pPr indent="0" lvl="0" marL="0" rtl="0" algn="l">
              <a:lnSpc>
                <a:spcPct val="11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abstract</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getFreezingPoint</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10000"/>
              </a:lnSpc>
              <a:spcBef>
                <a:spcPts val="0"/>
              </a:spcBef>
              <a:spcAft>
                <a:spcPts val="0"/>
              </a:spcAft>
              <a:buNone/>
            </a:pPr>
            <a:r>
              <a:t/>
            </a:r>
            <a:endParaRPr sz="800">
              <a:latin typeface="Consolas"/>
              <a:ea typeface="Consolas"/>
              <a:cs typeface="Consolas"/>
              <a:sym typeface="Consolas"/>
            </a:endParaRPr>
          </a:p>
          <a:p>
            <a:pPr indent="0" lvl="0" marL="0" rtl="0" algn="l">
              <a:lnSpc>
                <a:spcPct val="11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abstract</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getBoilingPoint</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10000"/>
              </a:lnSpc>
              <a:spcBef>
                <a:spcPts val="0"/>
              </a:spcBef>
              <a:spcAft>
                <a:spcPts val="0"/>
              </a:spcAft>
              <a:buNone/>
            </a:pPr>
            <a:r>
              <a:t/>
            </a:r>
            <a:endParaRPr sz="800">
              <a:latin typeface="Consolas"/>
              <a:ea typeface="Consolas"/>
              <a:cs typeface="Consolas"/>
              <a:sym typeface="Consolas"/>
            </a:endParaRPr>
          </a:p>
          <a:p>
            <a:pPr indent="0" lvl="0" marL="0" rtl="0" algn="l">
              <a:lnSpc>
                <a:spcPct val="110000"/>
              </a:lnSpc>
              <a:spcBef>
                <a:spcPts val="0"/>
              </a:spcBef>
              <a:spcAft>
                <a:spcPts val="0"/>
              </a:spcAft>
              <a:buNone/>
            </a:pPr>
            <a:r>
              <a:rPr lang="en" sz="800">
                <a:solidFill>
                  <a:srgbClr val="0000FF"/>
                </a:solidFill>
                <a:latin typeface="Consolas"/>
                <a:ea typeface="Consolas"/>
                <a:cs typeface="Consolas"/>
                <a:sym typeface="Consolas"/>
              </a:rPr>
              <a:t>  public</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abstract</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char</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getScale</a:t>
            </a:r>
            <a:r>
              <a:rPr lang="en" sz="800">
                <a:latin typeface="Consolas"/>
                <a:ea typeface="Consolas"/>
                <a:cs typeface="Consolas"/>
                <a:sym typeface="Consolas"/>
              </a:rPr>
              <a:t>();</a:t>
            </a:r>
            <a:endParaRPr b="1" sz="800">
              <a:latin typeface="Consolas"/>
              <a:ea typeface="Consolas"/>
              <a:cs typeface="Consolas"/>
              <a:sym typeface="Consolas"/>
            </a:endParaRPr>
          </a:p>
          <a:p>
            <a:pPr indent="0" lvl="0" marL="0" rtl="0" algn="l">
              <a:lnSpc>
                <a:spcPct val="110000"/>
              </a:lnSpc>
              <a:spcBef>
                <a:spcPts val="0"/>
              </a:spcBef>
              <a:spcAft>
                <a:spcPts val="0"/>
              </a:spcAft>
              <a:buNone/>
            </a:pPr>
            <a:r>
              <a:rPr lang="en" sz="800">
                <a:latin typeface="Consolas"/>
                <a:ea typeface="Consolas"/>
                <a:cs typeface="Consolas"/>
                <a:sym typeface="Consolas"/>
              </a:rPr>
              <a:t>}</a:t>
            </a:r>
            <a:endParaRPr sz="800">
              <a:solidFill>
                <a:srgbClr val="0000FF"/>
              </a:solidFill>
              <a:latin typeface="Consolas"/>
              <a:ea typeface="Consolas"/>
              <a:cs typeface="Consolas"/>
              <a:sym typeface="Consolas"/>
            </a:endParaRPr>
          </a:p>
        </p:txBody>
      </p:sp>
      <p:sp>
        <p:nvSpPr>
          <p:cNvPr id="1070" name="Google Shape;1070;p114"/>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You now have enough of a design put together to begin implementing the </a:t>
            </a:r>
            <a:r>
              <a:rPr lang="en"/>
              <a:t>common </a:t>
            </a:r>
            <a:r>
              <a:rPr lang="en">
                <a:latin typeface="Courier New"/>
                <a:ea typeface="Courier New"/>
                <a:cs typeface="Courier New"/>
                <a:sym typeface="Courier New"/>
              </a:rPr>
              <a:t>Troll</a:t>
            </a:r>
            <a:r>
              <a:rPr lang="en"/>
              <a:t> class. Use your UML diagram as a guide to create the class now.</a:t>
            </a:r>
            <a:endParaRPr/>
          </a:p>
        </p:txBody>
      </p:sp>
      <p:sp>
        <p:nvSpPr>
          <p:cNvPr id="1071" name="Google Shape;1071;p1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2" name="Google Shape;1072;p114"/>
          <p:cNvSpPr txBox="1"/>
          <p:nvPr>
            <p:ph idx="2" type="body"/>
          </p:nvPr>
        </p:nvSpPr>
        <p:spPr>
          <a:xfrm>
            <a:off x="3218625" y="1616525"/>
            <a:ext cx="5685000" cy="28761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Use your UML class diagram to guide you in creating </a:t>
            </a:r>
            <a:r>
              <a:rPr lang="en" sz="1700"/>
              <a:t>a new Java class named "</a:t>
            </a:r>
            <a:r>
              <a:rPr lang="en" sz="1700">
                <a:solidFill>
                  <a:srgbClr val="FF0000"/>
                </a:solidFill>
                <a:latin typeface="Courier New"/>
                <a:ea typeface="Courier New"/>
                <a:cs typeface="Courier New"/>
                <a:sym typeface="Courier New"/>
              </a:rPr>
              <a:t>Troll</a:t>
            </a:r>
            <a:r>
              <a:rPr lang="en" sz="1700"/>
              <a:t>".</a:t>
            </a:r>
            <a:endParaRPr sz="1700"/>
          </a:p>
          <a:p>
            <a:pPr indent="-323850" lvl="1" marL="914400" rtl="0" algn="l">
              <a:spcBef>
                <a:spcPts val="0"/>
              </a:spcBef>
              <a:spcAft>
                <a:spcPts val="0"/>
              </a:spcAft>
              <a:buSzPts val="1500"/>
              <a:buChar char="○"/>
            </a:pPr>
            <a:r>
              <a:rPr lang="en" sz="1500"/>
              <a:t>Don't forget to use the </a:t>
            </a:r>
            <a:r>
              <a:rPr lang="en" sz="1500">
                <a:solidFill>
                  <a:srgbClr val="FF0000"/>
                </a:solidFill>
                <a:latin typeface="Courier New"/>
                <a:ea typeface="Courier New"/>
                <a:cs typeface="Courier New"/>
                <a:sym typeface="Courier New"/>
              </a:rPr>
              <a:t>abstract</a:t>
            </a:r>
            <a:r>
              <a:rPr lang="en" sz="1500">
                <a:solidFill>
                  <a:srgbClr val="FF0000"/>
                </a:solidFill>
              </a:rPr>
              <a:t> </a:t>
            </a:r>
            <a:r>
              <a:rPr lang="en" sz="1500"/>
              <a:t>modifier in the class declaration.</a:t>
            </a:r>
            <a:endParaRPr sz="1500"/>
          </a:p>
          <a:p>
            <a:pPr indent="-323850" lvl="1" marL="914400" rtl="0" algn="l">
              <a:spcBef>
                <a:spcPts val="0"/>
              </a:spcBef>
              <a:spcAft>
                <a:spcPts val="0"/>
              </a:spcAft>
              <a:buSzPts val="1500"/>
              <a:buChar char="○"/>
            </a:pPr>
            <a:r>
              <a:rPr lang="en" sz="1500"/>
              <a:t>Add any common state as </a:t>
            </a:r>
            <a:r>
              <a:rPr b="1" i="1" lang="en" sz="1500">
                <a:solidFill>
                  <a:srgbClr val="FF0000"/>
                </a:solidFill>
              </a:rPr>
              <a:t>fields</a:t>
            </a:r>
            <a:r>
              <a:rPr lang="en" sz="1500"/>
              <a:t>.</a:t>
            </a:r>
            <a:endParaRPr sz="1500"/>
          </a:p>
          <a:p>
            <a:pPr indent="-323850" lvl="1" marL="914400" rtl="0" algn="l">
              <a:spcBef>
                <a:spcPts val="0"/>
              </a:spcBef>
              <a:spcAft>
                <a:spcPts val="0"/>
              </a:spcAft>
              <a:buSzPts val="1500"/>
              <a:buChar char="○"/>
            </a:pPr>
            <a:r>
              <a:rPr lang="en" sz="1500"/>
              <a:t>Add an appropriate </a:t>
            </a:r>
            <a:r>
              <a:rPr b="1" i="1" lang="en" sz="1500">
                <a:solidFill>
                  <a:srgbClr val="FF0000"/>
                </a:solidFill>
              </a:rPr>
              <a:t>constructor</a:t>
            </a:r>
            <a:r>
              <a:rPr lang="en" sz="1500"/>
              <a:t>.</a:t>
            </a:r>
            <a:endParaRPr sz="1500"/>
          </a:p>
          <a:p>
            <a:pPr indent="-323850" lvl="1" marL="914400" rtl="0" algn="l">
              <a:spcBef>
                <a:spcPts val="0"/>
              </a:spcBef>
              <a:spcAft>
                <a:spcPts val="0"/>
              </a:spcAft>
              <a:buSzPts val="1500"/>
              <a:buChar char="○"/>
            </a:pPr>
            <a:r>
              <a:rPr lang="en" sz="1500"/>
              <a:t>Implement any common </a:t>
            </a:r>
            <a:r>
              <a:rPr b="1" i="1" lang="en" sz="1500">
                <a:solidFill>
                  <a:srgbClr val="FF0000"/>
                </a:solidFill>
              </a:rPr>
              <a:t>methods</a:t>
            </a:r>
            <a:r>
              <a:rPr lang="en" sz="1500"/>
              <a:t>.</a:t>
            </a:r>
            <a:endParaRPr sz="1500"/>
          </a:p>
          <a:p>
            <a:pPr indent="-323850" lvl="1" marL="914400" rtl="0" algn="l">
              <a:spcBef>
                <a:spcPts val="0"/>
              </a:spcBef>
              <a:spcAft>
                <a:spcPts val="0"/>
              </a:spcAft>
              <a:buSzPts val="1500"/>
              <a:buChar char="○"/>
            </a:pPr>
            <a:r>
              <a:rPr lang="en" sz="1500"/>
              <a:t>Be sure to define any </a:t>
            </a:r>
            <a:r>
              <a:rPr lang="en" sz="1500">
                <a:solidFill>
                  <a:srgbClr val="FF0000"/>
                </a:solidFill>
                <a:latin typeface="Courier New"/>
                <a:ea typeface="Courier New"/>
                <a:cs typeface="Courier New"/>
                <a:sym typeface="Courier New"/>
              </a:rPr>
              <a:t>abstract</a:t>
            </a:r>
            <a:r>
              <a:rPr lang="en" sz="1500">
                <a:solidFill>
                  <a:srgbClr val="FF0000"/>
                </a:solidFill>
              </a:rPr>
              <a:t> </a:t>
            </a:r>
            <a:r>
              <a:rPr b="1" i="1" lang="en" sz="1500">
                <a:solidFill>
                  <a:srgbClr val="FF0000"/>
                </a:solidFill>
              </a:rPr>
              <a:t>methods</a:t>
            </a:r>
            <a:r>
              <a:rPr b="1" i="1" lang="en" sz="1500"/>
              <a:t> </a:t>
            </a:r>
            <a:r>
              <a:rPr lang="en" sz="1500"/>
              <a:t>that are needed by all Trolls but do not have a common implementation.</a:t>
            </a:r>
            <a:endParaRPr sz="2100"/>
          </a:p>
        </p:txBody>
      </p:sp>
      <p:sp>
        <p:nvSpPr>
          <p:cNvPr id="1073" name="Google Shape;1073;p11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Common Troll</a:t>
            </a:r>
            <a:endParaRPr/>
          </a:p>
        </p:txBody>
      </p:sp>
      <p:sp>
        <p:nvSpPr>
          <p:cNvPr id="1074" name="Google Shape;1074;p11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3.22</a:t>
            </a:r>
            <a:endParaRPr/>
          </a:p>
        </p:txBody>
      </p:sp>
      <p:grpSp>
        <p:nvGrpSpPr>
          <p:cNvPr id="1075" name="Google Shape;1075;p114"/>
          <p:cNvGrpSpPr/>
          <p:nvPr/>
        </p:nvGrpSpPr>
        <p:grpSpPr>
          <a:xfrm>
            <a:off x="2057075" y="1479725"/>
            <a:ext cx="1107326" cy="1417676"/>
            <a:chOff x="6784800" y="258225"/>
            <a:chExt cx="1107326" cy="1417676"/>
          </a:xfrm>
        </p:grpSpPr>
        <p:pic>
          <p:nvPicPr>
            <p:cNvPr id="1076" name="Google Shape;1076;p114"/>
            <p:cNvPicPr preferRelativeResize="0"/>
            <p:nvPr/>
          </p:nvPicPr>
          <p:blipFill>
            <a:blip r:embed="rId3">
              <a:alphaModFix/>
            </a:blip>
            <a:stretch>
              <a:fillRect/>
            </a:stretch>
          </p:blipFill>
          <p:spPr>
            <a:xfrm>
              <a:off x="6874685" y="258225"/>
              <a:ext cx="895202" cy="1417676"/>
            </a:xfrm>
            <a:prstGeom prst="rect">
              <a:avLst/>
            </a:prstGeom>
            <a:noFill/>
            <a:ln>
              <a:noFill/>
            </a:ln>
          </p:spPr>
        </p:pic>
        <p:pic>
          <p:nvPicPr>
            <p:cNvPr id="1077" name="Google Shape;1077;p114"/>
            <p:cNvPicPr preferRelativeResize="0"/>
            <p:nvPr/>
          </p:nvPicPr>
          <p:blipFill>
            <a:blip r:embed="rId4">
              <a:alphaModFix/>
            </a:blip>
            <a:stretch>
              <a:fillRect/>
            </a:stretch>
          </p:blipFill>
          <p:spPr>
            <a:xfrm>
              <a:off x="6784800" y="306830"/>
              <a:ext cx="1107326" cy="706083"/>
            </a:xfrm>
            <a:prstGeom prst="rect">
              <a:avLst/>
            </a:prstGeom>
            <a:noFill/>
            <a:ln>
              <a:noFill/>
            </a:ln>
          </p:spPr>
        </p:pic>
      </p:grpSp>
      <p:sp>
        <p:nvSpPr>
          <p:cNvPr id="1078" name="Google Shape;1078;p114"/>
          <p:cNvSpPr/>
          <p:nvPr/>
        </p:nvSpPr>
        <p:spPr>
          <a:xfrm>
            <a:off x="224600" y="1619825"/>
            <a:ext cx="1572300" cy="983100"/>
          </a:xfrm>
          <a:prstGeom prst="wedgeRectCallout">
            <a:avLst>
              <a:gd fmla="val 68091" name="adj1"/>
              <a:gd fmla="val -10918" name="adj2"/>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T</a:t>
            </a:r>
            <a:r>
              <a:rPr lang="en" sz="1300"/>
              <a:t>rolls are commonly found on apps like Twitter and Reddit.</a:t>
            </a:r>
            <a:endParaRPr sz="13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115"/>
          <p:cNvSpPr txBox="1"/>
          <p:nvPr>
            <p:ph idx="1" type="body"/>
          </p:nvPr>
        </p:nvSpPr>
        <p:spPr>
          <a:xfrm>
            <a:off x="65250" y="731625"/>
            <a:ext cx="742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Now that you have a common Troll class that provides common implementations of concrete methods and defines common behavior without implementing it, you're ready to create your first subclass: the Trollzord!</a:t>
            </a:r>
            <a:endParaRPr/>
          </a:p>
        </p:txBody>
      </p:sp>
      <p:sp>
        <p:nvSpPr>
          <p:cNvPr id="1084" name="Google Shape;1084;p1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85" name="Google Shape;1085;p115"/>
          <p:cNvSpPr txBox="1"/>
          <p:nvPr>
            <p:ph idx="2" type="body"/>
          </p:nvPr>
        </p:nvSpPr>
        <p:spPr>
          <a:xfrm>
            <a:off x="3076125" y="1872875"/>
            <a:ext cx="5645700" cy="24843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sz="1800"/>
              <a:t>Create a new Java class named "</a:t>
            </a:r>
            <a:r>
              <a:rPr lang="en" sz="1800">
                <a:latin typeface="Courier New"/>
                <a:ea typeface="Courier New"/>
                <a:cs typeface="Courier New"/>
                <a:sym typeface="Courier New"/>
              </a:rPr>
              <a:t>Trollzord</a:t>
            </a:r>
            <a:r>
              <a:rPr lang="en" sz="1800"/>
              <a:t>". Remember that a </a:t>
            </a:r>
            <a:r>
              <a:rPr lang="en" sz="1800">
                <a:latin typeface="Courier New"/>
                <a:ea typeface="Courier New"/>
                <a:cs typeface="Courier New"/>
                <a:sym typeface="Courier New"/>
              </a:rPr>
              <a:t>Trollzord</a:t>
            </a:r>
            <a:r>
              <a:rPr lang="en" sz="1800"/>
              <a:t>:</a:t>
            </a:r>
            <a:endParaRPr sz="1800"/>
          </a:p>
          <a:p>
            <a:pPr indent="-330200" lvl="1" marL="914400" rtl="0" algn="l">
              <a:spcBef>
                <a:spcPts val="0"/>
              </a:spcBef>
              <a:spcAft>
                <a:spcPts val="0"/>
              </a:spcAft>
              <a:buSzPts val="1600"/>
              <a:buChar char="○"/>
            </a:pPr>
            <a:r>
              <a:rPr lang="en" sz="1600"/>
              <a:t>Is named </a:t>
            </a:r>
            <a:r>
              <a:rPr lang="en" sz="1600">
                <a:solidFill>
                  <a:srgbClr val="FF0000"/>
                </a:solidFill>
                <a:latin typeface="Courier New"/>
                <a:ea typeface="Courier New"/>
                <a:cs typeface="Courier New"/>
                <a:sym typeface="Courier New"/>
              </a:rPr>
              <a:t>"Trollzord"</a:t>
            </a:r>
            <a:endParaRPr sz="1600">
              <a:solidFill>
                <a:srgbClr val="FF0000"/>
              </a:solidFill>
              <a:latin typeface="Courier New"/>
              <a:ea typeface="Courier New"/>
              <a:cs typeface="Courier New"/>
              <a:sym typeface="Courier New"/>
            </a:endParaRPr>
          </a:p>
          <a:p>
            <a:pPr indent="-330200" lvl="1" marL="914400" rtl="0" algn="l">
              <a:spcBef>
                <a:spcPts val="0"/>
              </a:spcBef>
              <a:spcAft>
                <a:spcPts val="0"/>
              </a:spcAft>
              <a:buSzPts val="1600"/>
              <a:buChar char="○"/>
            </a:pPr>
            <a:r>
              <a:rPr lang="en" sz="1600"/>
              <a:t>Has </a:t>
            </a:r>
            <a:r>
              <a:rPr b="1" i="1" lang="en" sz="1600">
                <a:solidFill>
                  <a:srgbClr val="FF0000"/>
                </a:solidFill>
              </a:rPr>
              <a:t>64 hit points</a:t>
            </a:r>
            <a:endParaRPr b="1" i="1" sz="1600">
              <a:solidFill>
                <a:srgbClr val="FF0000"/>
              </a:solidFill>
            </a:endParaRPr>
          </a:p>
          <a:p>
            <a:pPr indent="-330200" lvl="1" marL="914400" rtl="0" algn="l">
              <a:spcBef>
                <a:spcPts val="0"/>
              </a:spcBef>
              <a:spcAft>
                <a:spcPts val="0"/>
              </a:spcAft>
              <a:buSzPts val="1600"/>
              <a:buChar char="○"/>
            </a:pPr>
            <a:r>
              <a:rPr lang="en" sz="1600"/>
              <a:t>Attacks with </a:t>
            </a:r>
            <a:r>
              <a:rPr b="1" lang="en" sz="1600" u="sng">
                <a:solidFill>
                  <a:srgbClr val="FF0000"/>
                </a:solidFill>
              </a:rPr>
              <a:t>Flame War</a:t>
            </a:r>
            <a:r>
              <a:rPr lang="en" sz="1600"/>
              <a:t> which does </a:t>
            </a:r>
            <a:r>
              <a:rPr b="1" i="1" lang="en" sz="1600">
                <a:solidFill>
                  <a:srgbClr val="FF0000"/>
                </a:solidFill>
              </a:rPr>
              <a:t>25 magical damage</a:t>
            </a:r>
            <a:endParaRPr b="1" i="1" sz="1600">
              <a:solidFill>
                <a:srgbClr val="FF0000"/>
              </a:solidFill>
            </a:endParaRPr>
          </a:p>
          <a:p>
            <a:pPr indent="-330200" lvl="1" marL="914400" rtl="0" algn="l">
              <a:spcBef>
                <a:spcPts val="0"/>
              </a:spcBef>
              <a:spcAft>
                <a:spcPts val="0"/>
              </a:spcAft>
              <a:buSzPts val="1600"/>
              <a:buChar char="○"/>
            </a:pPr>
            <a:r>
              <a:rPr lang="en" sz="1600"/>
              <a:t>Takes </a:t>
            </a:r>
            <a:r>
              <a:rPr b="1" i="1" lang="en" sz="1600">
                <a:solidFill>
                  <a:srgbClr val="FF0000"/>
                </a:solidFill>
              </a:rPr>
              <a:t>+25% holy damage</a:t>
            </a:r>
            <a:endParaRPr b="1" i="1" sz="1600">
              <a:solidFill>
                <a:srgbClr val="FF0000"/>
              </a:solidFill>
            </a:endParaRPr>
          </a:p>
          <a:p>
            <a:pPr indent="-330200" lvl="1" marL="914400" rtl="0" algn="l">
              <a:spcBef>
                <a:spcPts val="0"/>
              </a:spcBef>
              <a:spcAft>
                <a:spcPts val="0"/>
              </a:spcAft>
              <a:buSzPts val="1600"/>
              <a:buChar char="○"/>
            </a:pPr>
            <a:r>
              <a:rPr lang="en" sz="1600"/>
              <a:t>Regenerates </a:t>
            </a:r>
            <a:r>
              <a:rPr b="1" i="1" lang="en" sz="1600">
                <a:solidFill>
                  <a:srgbClr val="FF0000"/>
                </a:solidFill>
              </a:rPr>
              <a:t>5% max health</a:t>
            </a:r>
            <a:r>
              <a:rPr lang="en" sz="1600"/>
              <a:t> at the start of a round</a:t>
            </a:r>
            <a:endParaRPr sz="1600"/>
          </a:p>
        </p:txBody>
      </p:sp>
      <p:sp>
        <p:nvSpPr>
          <p:cNvPr id="1086" name="Google Shape;1086;p115"/>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Trollzord</a:t>
            </a:r>
            <a:endParaRPr/>
          </a:p>
        </p:txBody>
      </p:sp>
      <p:sp>
        <p:nvSpPr>
          <p:cNvPr id="1087" name="Google Shape;1087;p115"/>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3.23</a:t>
            </a:r>
            <a:endParaRPr/>
          </a:p>
        </p:txBody>
      </p:sp>
      <p:sp>
        <p:nvSpPr>
          <p:cNvPr id="1088" name="Google Shape;1088;p115"/>
          <p:cNvSpPr txBox="1"/>
          <p:nvPr/>
        </p:nvSpPr>
        <p:spPr>
          <a:xfrm>
            <a:off x="120923" y="1872875"/>
            <a:ext cx="2618100" cy="28938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class</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Fahrenheit</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000FF"/>
                </a:solidFill>
                <a:latin typeface="Consolas"/>
                <a:ea typeface="Consolas"/>
                <a:cs typeface="Consolas"/>
                <a:sym typeface="Consolas"/>
              </a:rPr>
              <a:t>                      </a:t>
            </a:r>
            <a:r>
              <a:rPr lang="en" sz="800">
                <a:solidFill>
                  <a:srgbClr val="0000FF"/>
                </a:solidFill>
                <a:highlight>
                  <a:srgbClr val="FFFF00"/>
                </a:highlight>
                <a:latin typeface="Consolas"/>
                <a:ea typeface="Consolas"/>
                <a:cs typeface="Consolas"/>
                <a:sym typeface="Consolas"/>
              </a:rPr>
              <a:t>extends</a:t>
            </a:r>
            <a:r>
              <a:rPr lang="en" sz="800">
                <a:highlight>
                  <a:srgbClr val="FFFF00"/>
                </a:highlight>
                <a:latin typeface="Consolas"/>
                <a:ea typeface="Consolas"/>
                <a:cs typeface="Consolas"/>
                <a:sym typeface="Consolas"/>
              </a:rPr>
              <a:t> </a:t>
            </a:r>
            <a:r>
              <a:rPr lang="en" sz="800">
                <a:solidFill>
                  <a:srgbClr val="267F99"/>
                </a:solidFill>
                <a:highlight>
                  <a:srgbClr val="FFFF00"/>
                </a:highlight>
                <a:latin typeface="Consolas"/>
                <a:ea typeface="Consolas"/>
                <a:cs typeface="Consolas"/>
                <a:sym typeface="Consolas"/>
              </a:rPr>
              <a:t>Thermometer</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Fahrenheit</a:t>
            </a:r>
            <a:r>
              <a:rPr lang="en" sz="800">
                <a:latin typeface="Consolas"/>
                <a:ea typeface="Consolas"/>
                <a:cs typeface="Consolas"/>
                <a:sym typeface="Consolas"/>
              </a:rPr>
              <a:t>(</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degrees</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super</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degrees</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Override</a:t>
            </a:r>
            <a:endParaRPr sz="8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getFreezingPoint</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098658"/>
                </a:solidFill>
                <a:latin typeface="Consolas"/>
                <a:ea typeface="Consolas"/>
                <a:cs typeface="Consolas"/>
                <a:sym typeface="Consolas"/>
              </a:rPr>
              <a:t>32</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Override</a:t>
            </a:r>
            <a:endParaRPr sz="8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getBoilingPoint</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098658"/>
                </a:solidFill>
                <a:latin typeface="Consolas"/>
                <a:ea typeface="Consolas"/>
                <a:cs typeface="Consolas"/>
                <a:sym typeface="Consolas"/>
              </a:rPr>
              <a:t>212</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Override</a:t>
            </a:r>
            <a:endParaRPr sz="8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char</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getScale</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A31515"/>
                </a:solidFill>
                <a:latin typeface="Consolas"/>
                <a:ea typeface="Consolas"/>
                <a:cs typeface="Consolas"/>
                <a:sym typeface="Consolas"/>
              </a:rPr>
              <a:t>'F'</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endParaRPr sz="800">
              <a:solidFill>
                <a:srgbClr val="0000FF"/>
              </a:solidFill>
              <a:latin typeface="Consolas"/>
              <a:ea typeface="Consolas"/>
              <a:cs typeface="Consolas"/>
              <a:sym typeface="Consolas"/>
            </a:endParaRPr>
          </a:p>
        </p:txBody>
      </p:sp>
      <p:pic>
        <p:nvPicPr>
          <p:cNvPr id="1089" name="Google Shape;1089;p115"/>
          <p:cNvPicPr preferRelativeResize="0"/>
          <p:nvPr/>
        </p:nvPicPr>
        <p:blipFill>
          <a:blip r:embed="rId3">
            <a:alphaModFix/>
          </a:blip>
          <a:stretch>
            <a:fillRect/>
          </a:stretch>
        </p:blipFill>
        <p:spPr>
          <a:xfrm>
            <a:off x="7438025" y="87900"/>
            <a:ext cx="1283800" cy="17021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pic>
        <p:nvPicPr>
          <p:cNvPr id="1094" name="Google Shape;1094;p116"/>
          <p:cNvPicPr preferRelativeResize="0"/>
          <p:nvPr/>
        </p:nvPicPr>
        <p:blipFill>
          <a:blip r:embed="rId3">
            <a:alphaModFix/>
          </a:blip>
          <a:stretch>
            <a:fillRect/>
          </a:stretch>
        </p:blipFill>
        <p:spPr>
          <a:xfrm>
            <a:off x="7346050" y="157000"/>
            <a:ext cx="1441050" cy="1622750"/>
          </a:xfrm>
          <a:prstGeom prst="rect">
            <a:avLst/>
          </a:prstGeom>
          <a:noFill/>
          <a:ln>
            <a:noFill/>
          </a:ln>
        </p:spPr>
      </p:pic>
      <p:sp>
        <p:nvSpPr>
          <p:cNvPr id="1095" name="Google Shape;1095;p116"/>
          <p:cNvSpPr txBox="1"/>
          <p:nvPr>
            <p:ph idx="1" type="body"/>
          </p:nvPr>
        </p:nvSpPr>
        <p:spPr>
          <a:xfrm>
            <a:off x="65250" y="731625"/>
            <a:ext cx="742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Now that you have a common Troll class that provides common implementations of concrete methods and defines common behavior without implementing it, you're ready to create another subclass: the Trolling!</a:t>
            </a:r>
            <a:endParaRPr/>
          </a:p>
        </p:txBody>
      </p:sp>
      <p:sp>
        <p:nvSpPr>
          <p:cNvPr id="1096" name="Google Shape;1096;p1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97" name="Google Shape;1097;p116"/>
          <p:cNvSpPr txBox="1"/>
          <p:nvPr>
            <p:ph idx="2" type="body"/>
          </p:nvPr>
        </p:nvSpPr>
        <p:spPr>
          <a:xfrm>
            <a:off x="2827350" y="1872875"/>
            <a:ext cx="5894400" cy="22011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sz="1800"/>
              <a:t>Create a new Java class named "</a:t>
            </a:r>
            <a:r>
              <a:rPr lang="en" sz="1800">
                <a:latin typeface="Courier New"/>
                <a:ea typeface="Courier New"/>
                <a:cs typeface="Courier New"/>
                <a:sym typeface="Courier New"/>
              </a:rPr>
              <a:t>Trolling</a:t>
            </a:r>
            <a:r>
              <a:rPr lang="en" sz="1800"/>
              <a:t>". Remember that a </a:t>
            </a:r>
            <a:r>
              <a:rPr lang="en" sz="1800">
                <a:latin typeface="Courier New"/>
                <a:ea typeface="Courier New"/>
                <a:cs typeface="Courier New"/>
                <a:sym typeface="Courier New"/>
              </a:rPr>
              <a:t>Trolling</a:t>
            </a:r>
            <a:r>
              <a:rPr lang="en" sz="1800"/>
              <a:t>:</a:t>
            </a:r>
            <a:endParaRPr sz="1800"/>
          </a:p>
          <a:p>
            <a:pPr indent="-330200" lvl="1" marL="914400" rtl="0" algn="l">
              <a:spcBef>
                <a:spcPts val="0"/>
              </a:spcBef>
              <a:spcAft>
                <a:spcPts val="0"/>
              </a:spcAft>
              <a:buSzPts val="1600"/>
              <a:buChar char="○"/>
            </a:pPr>
            <a:r>
              <a:rPr lang="en" sz="1600"/>
              <a:t>Is named </a:t>
            </a:r>
            <a:r>
              <a:rPr lang="en" sz="1600">
                <a:solidFill>
                  <a:srgbClr val="FF0000"/>
                </a:solidFill>
                <a:latin typeface="Courier New"/>
                <a:ea typeface="Courier New"/>
                <a:cs typeface="Courier New"/>
                <a:sym typeface="Courier New"/>
              </a:rPr>
              <a:t>"Trolling"</a:t>
            </a:r>
            <a:endParaRPr sz="1600">
              <a:solidFill>
                <a:srgbClr val="FF0000"/>
              </a:solidFill>
              <a:latin typeface="Courier New"/>
              <a:ea typeface="Courier New"/>
              <a:cs typeface="Courier New"/>
              <a:sym typeface="Courier New"/>
            </a:endParaRPr>
          </a:p>
          <a:p>
            <a:pPr indent="-330200" lvl="1" marL="914400" rtl="0" algn="l">
              <a:spcBef>
                <a:spcPts val="0"/>
              </a:spcBef>
              <a:spcAft>
                <a:spcPts val="0"/>
              </a:spcAft>
              <a:buSzPts val="1600"/>
              <a:buChar char="○"/>
            </a:pPr>
            <a:r>
              <a:rPr lang="en" sz="1600"/>
              <a:t>Has </a:t>
            </a:r>
            <a:r>
              <a:rPr b="1" i="1" lang="en" sz="1600">
                <a:solidFill>
                  <a:srgbClr val="FF0000"/>
                </a:solidFill>
              </a:rPr>
              <a:t>38 hit points</a:t>
            </a:r>
            <a:endParaRPr b="1" i="1" sz="1600">
              <a:solidFill>
                <a:srgbClr val="FF0000"/>
              </a:solidFill>
            </a:endParaRPr>
          </a:p>
          <a:p>
            <a:pPr indent="-330200" lvl="1" marL="914400" rtl="0" algn="l">
              <a:spcBef>
                <a:spcPts val="0"/>
              </a:spcBef>
              <a:spcAft>
                <a:spcPts val="0"/>
              </a:spcAft>
              <a:buSzPts val="1600"/>
              <a:buChar char="○"/>
            </a:pPr>
            <a:r>
              <a:rPr lang="en" sz="1600"/>
              <a:t>Attacks with </a:t>
            </a:r>
            <a:r>
              <a:rPr b="1" i="1" lang="en" sz="1600" u="sng">
                <a:solidFill>
                  <a:srgbClr val="FF0000"/>
                </a:solidFill>
              </a:rPr>
              <a:t>U Mad</a:t>
            </a:r>
            <a:r>
              <a:rPr lang="en" sz="1600"/>
              <a:t> which does  </a:t>
            </a:r>
            <a:r>
              <a:rPr b="1" i="1" lang="en" sz="1600">
                <a:solidFill>
                  <a:srgbClr val="FF0000"/>
                </a:solidFill>
              </a:rPr>
              <a:t>25 physical damage</a:t>
            </a:r>
            <a:endParaRPr b="1" i="1" sz="1600">
              <a:solidFill>
                <a:srgbClr val="FF0000"/>
              </a:solidFill>
            </a:endParaRPr>
          </a:p>
          <a:p>
            <a:pPr indent="-330200" lvl="1" marL="914400" rtl="0" algn="l">
              <a:spcBef>
                <a:spcPts val="0"/>
              </a:spcBef>
              <a:spcAft>
                <a:spcPts val="0"/>
              </a:spcAft>
              <a:buSzPts val="1600"/>
              <a:buChar char="○"/>
            </a:pPr>
            <a:r>
              <a:rPr lang="en" sz="1600"/>
              <a:t>Takes </a:t>
            </a:r>
            <a:r>
              <a:rPr b="1" i="1" lang="en" sz="1600">
                <a:solidFill>
                  <a:srgbClr val="FF0000"/>
                </a:solidFill>
              </a:rPr>
              <a:t>+25% magical damage</a:t>
            </a:r>
            <a:endParaRPr b="1" i="1" sz="1600">
              <a:solidFill>
                <a:srgbClr val="FF0000"/>
              </a:solidFill>
            </a:endParaRPr>
          </a:p>
          <a:p>
            <a:pPr indent="-330200" lvl="1" marL="914400" rtl="0" algn="l">
              <a:spcBef>
                <a:spcPts val="0"/>
              </a:spcBef>
              <a:spcAft>
                <a:spcPts val="0"/>
              </a:spcAft>
              <a:buSzPts val="1600"/>
              <a:buChar char="○"/>
            </a:pPr>
            <a:r>
              <a:rPr lang="en" sz="1600"/>
              <a:t>Regenerates </a:t>
            </a:r>
            <a:r>
              <a:rPr b="1" i="1" lang="en" sz="1600">
                <a:solidFill>
                  <a:srgbClr val="FF0000"/>
                </a:solidFill>
              </a:rPr>
              <a:t>3% max health</a:t>
            </a:r>
            <a:r>
              <a:rPr lang="en" sz="1600"/>
              <a:t> at the start of a round</a:t>
            </a:r>
            <a:endParaRPr sz="1600"/>
          </a:p>
        </p:txBody>
      </p:sp>
      <p:sp>
        <p:nvSpPr>
          <p:cNvPr id="1098" name="Google Shape;1098;p11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Trolling</a:t>
            </a:r>
            <a:endParaRPr/>
          </a:p>
        </p:txBody>
      </p:sp>
      <p:sp>
        <p:nvSpPr>
          <p:cNvPr id="1099" name="Google Shape;1099;p11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3.24</a:t>
            </a:r>
            <a:endParaRPr/>
          </a:p>
        </p:txBody>
      </p:sp>
      <p:sp>
        <p:nvSpPr>
          <p:cNvPr id="1100" name="Google Shape;1100;p116"/>
          <p:cNvSpPr txBox="1"/>
          <p:nvPr/>
        </p:nvSpPr>
        <p:spPr>
          <a:xfrm>
            <a:off x="120923" y="1872875"/>
            <a:ext cx="2618100" cy="28938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class</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Fahrenheit</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000FF"/>
                </a:solidFill>
                <a:latin typeface="Consolas"/>
                <a:ea typeface="Consolas"/>
                <a:cs typeface="Consolas"/>
                <a:sym typeface="Consolas"/>
              </a:rPr>
              <a:t>                      </a:t>
            </a:r>
            <a:r>
              <a:rPr lang="en" sz="800">
                <a:solidFill>
                  <a:srgbClr val="0000FF"/>
                </a:solidFill>
                <a:highlight>
                  <a:srgbClr val="FFFF00"/>
                </a:highlight>
                <a:latin typeface="Consolas"/>
                <a:ea typeface="Consolas"/>
                <a:cs typeface="Consolas"/>
                <a:sym typeface="Consolas"/>
              </a:rPr>
              <a:t>extends</a:t>
            </a:r>
            <a:r>
              <a:rPr lang="en" sz="800">
                <a:highlight>
                  <a:srgbClr val="FFFF00"/>
                </a:highlight>
                <a:latin typeface="Consolas"/>
                <a:ea typeface="Consolas"/>
                <a:cs typeface="Consolas"/>
                <a:sym typeface="Consolas"/>
              </a:rPr>
              <a:t> </a:t>
            </a:r>
            <a:r>
              <a:rPr lang="en" sz="800">
                <a:solidFill>
                  <a:srgbClr val="267F99"/>
                </a:solidFill>
                <a:highlight>
                  <a:srgbClr val="FFFF00"/>
                </a:highlight>
                <a:latin typeface="Consolas"/>
                <a:ea typeface="Consolas"/>
                <a:cs typeface="Consolas"/>
                <a:sym typeface="Consolas"/>
              </a:rPr>
              <a:t>Thermometer</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Fahrenheit</a:t>
            </a:r>
            <a:r>
              <a:rPr lang="en" sz="800">
                <a:latin typeface="Consolas"/>
                <a:ea typeface="Consolas"/>
                <a:cs typeface="Consolas"/>
                <a:sym typeface="Consolas"/>
              </a:rPr>
              <a:t>(</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degrees</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super</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degrees</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Override</a:t>
            </a:r>
            <a:endParaRPr sz="8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getFreezingPoint</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098658"/>
                </a:solidFill>
                <a:latin typeface="Consolas"/>
                <a:ea typeface="Consolas"/>
                <a:cs typeface="Consolas"/>
                <a:sym typeface="Consolas"/>
              </a:rPr>
              <a:t>32</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Override</a:t>
            </a:r>
            <a:endParaRPr sz="8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getBoilingPoint</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098658"/>
                </a:solidFill>
                <a:latin typeface="Consolas"/>
                <a:ea typeface="Consolas"/>
                <a:cs typeface="Consolas"/>
                <a:sym typeface="Consolas"/>
              </a:rPr>
              <a:t>212</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Override</a:t>
            </a:r>
            <a:endParaRPr sz="8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char</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getScale</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A31515"/>
                </a:solidFill>
                <a:latin typeface="Consolas"/>
                <a:ea typeface="Consolas"/>
                <a:cs typeface="Consolas"/>
                <a:sym typeface="Consolas"/>
              </a:rPr>
              <a:t>'F'</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latin typeface="Consolas"/>
                <a:ea typeface="Consolas"/>
                <a:cs typeface="Consolas"/>
                <a:sym typeface="Consolas"/>
              </a:rPr>
              <a:t>    }</a:t>
            </a:r>
            <a:endParaRPr sz="800">
              <a:solidFill>
                <a:srgbClr val="0000FF"/>
              </a:solidFill>
              <a:latin typeface="Consolas"/>
              <a:ea typeface="Consolas"/>
              <a:cs typeface="Consolas"/>
              <a:sym typeface="Consola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117"/>
          <p:cNvSpPr txBox="1"/>
          <p:nvPr>
            <p:ph type="title"/>
          </p:nvPr>
        </p:nvSpPr>
        <p:spPr>
          <a:xfrm>
            <a:off x="311725" y="1961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An Expression Parser</a:t>
            </a:r>
            <a:endParaRPr sz="2600"/>
          </a:p>
        </p:txBody>
      </p:sp>
      <p:sp>
        <p:nvSpPr>
          <p:cNvPr id="1106" name="Google Shape;1106;p117"/>
          <p:cNvSpPr txBox="1"/>
          <p:nvPr>
            <p:ph idx="1" type="body"/>
          </p:nvPr>
        </p:nvSpPr>
        <p:spPr>
          <a:xfrm>
            <a:off x="4389400" y="196125"/>
            <a:ext cx="4589400" cy="4608900"/>
          </a:xfrm>
          <a:prstGeom prst="rect">
            <a:avLst/>
          </a:prstGeom>
        </p:spPr>
        <p:txBody>
          <a:bodyPr anchorCtr="0" anchor="ctr" bIns="91425" lIns="91425" spcFirstLastPara="1" rIns="91425" wrap="square" tIns="91425">
            <a:noAutofit/>
          </a:bodyPr>
          <a:lstStyle/>
          <a:p>
            <a:pPr indent="-311150" lvl="0" marL="457200" rtl="0" algn="l">
              <a:lnSpc>
                <a:spcPct val="100000"/>
              </a:lnSpc>
              <a:spcBef>
                <a:spcPts val="0"/>
              </a:spcBef>
              <a:spcAft>
                <a:spcPts val="0"/>
              </a:spcAft>
              <a:buSzPts val="1300"/>
              <a:buChar char="●"/>
            </a:pPr>
            <a:r>
              <a:rPr lang="en"/>
              <a:t>Today we will be switching gears and implementing an </a:t>
            </a:r>
            <a:r>
              <a:rPr b="1" i="1" lang="en">
                <a:solidFill>
                  <a:srgbClr val="FF0000"/>
                </a:solidFill>
              </a:rPr>
              <a:t>expression parser</a:t>
            </a:r>
            <a:r>
              <a:rPr lang="en"/>
              <a:t>.</a:t>
            </a:r>
            <a:endParaRPr/>
          </a:p>
          <a:p>
            <a:pPr indent="-298450" lvl="1" marL="914400" rtl="0" algn="l">
              <a:lnSpc>
                <a:spcPct val="100000"/>
              </a:lnSpc>
              <a:spcBef>
                <a:spcPts val="0"/>
              </a:spcBef>
              <a:spcAft>
                <a:spcPts val="0"/>
              </a:spcAft>
              <a:buSzPts val="1100"/>
              <a:buChar char="○"/>
            </a:pPr>
            <a:r>
              <a:rPr lang="en"/>
              <a:t>The user is prompted to type an arithmetic expression using </a:t>
            </a:r>
            <a:r>
              <a:rPr b="1" i="1" lang="en">
                <a:solidFill>
                  <a:srgbClr val="FF0000"/>
                </a:solidFill>
              </a:rPr>
              <a:t>prefix notation</a:t>
            </a:r>
            <a:r>
              <a:rPr lang="en"/>
              <a:t>.</a:t>
            </a:r>
            <a:endParaRPr/>
          </a:p>
          <a:p>
            <a:pPr indent="-298450" lvl="1" marL="914400" rtl="0" algn="l">
              <a:lnSpc>
                <a:spcPct val="100000"/>
              </a:lnSpc>
              <a:spcBef>
                <a:spcPts val="0"/>
              </a:spcBef>
              <a:spcAft>
                <a:spcPts val="0"/>
              </a:spcAft>
              <a:buSzPts val="1100"/>
              <a:buChar char="○"/>
            </a:pPr>
            <a:r>
              <a:rPr lang="en"/>
              <a:t>The expression parser prints the results of evaluating the expression.</a:t>
            </a:r>
            <a:endParaRPr/>
          </a:p>
          <a:p>
            <a:pPr indent="-311150" lvl="0" marL="457200" rtl="0" algn="l">
              <a:lnSpc>
                <a:spcPct val="100000"/>
              </a:lnSpc>
              <a:spcBef>
                <a:spcPts val="0"/>
              </a:spcBef>
              <a:spcAft>
                <a:spcPts val="0"/>
              </a:spcAft>
              <a:buSzPts val="1300"/>
              <a:buChar char="●"/>
            </a:pPr>
            <a:r>
              <a:rPr lang="en"/>
              <a:t>An </a:t>
            </a:r>
            <a:r>
              <a:rPr b="1" i="1" lang="en">
                <a:solidFill>
                  <a:srgbClr val="FF0000"/>
                </a:solidFill>
              </a:rPr>
              <a:t>expression </a:t>
            </a:r>
            <a:r>
              <a:rPr lang="en"/>
              <a:t>may be a </a:t>
            </a:r>
            <a:r>
              <a:rPr b="1" i="1" lang="en">
                <a:solidFill>
                  <a:srgbClr val="FF0000"/>
                </a:solidFill>
              </a:rPr>
              <a:t>constant</a:t>
            </a:r>
            <a:r>
              <a:rPr lang="en">
                <a:solidFill>
                  <a:srgbClr val="FF0000"/>
                </a:solidFill>
              </a:rPr>
              <a:t> </a:t>
            </a:r>
            <a:r>
              <a:rPr lang="en"/>
              <a:t>or an </a:t>
            </a:r>
            <a:r>
              <a:rPr b="1" i="1" lang="en">
                <a:solidFill>
                  <a:srgbClr val="FF0000"/>
                </a:solidFill>
              </a:rPr>
              <a:t>operator</a:t>
            </a:r>
            <a:r>
              <a:rPr lang="en">
                <a:solidFill>
                  <a:srgbClr val="FF0000"/>
                </a:solidFill>
              </a:rPr>
              <a:t> </a:t>
            </a:r>
            <a:r>
              <a:rPr lang="en"/>
              <a:t>performed on one or more </a:t>
            </a:r>
            <a:r>
              <a:rPr b="1" i="1" lang="en">
                <a:solidFill>
                  <a:srgbClr val="FF0000"/>
                </a:solidFill>
              </a:rPr>
              <a:t>operands</a:t>
            </a:r>
            <a:r>
              <a:rPr lang="en"/>
              <a:t>.</a:t>
            </a:r>
            <a:endParaRPr/>
          </a:p>
          <a:p>
            <a:pPr indent="-298450" lvl="1" marL="914400" rtl="0" algn="l">
              <a:lnSpc>
                <a:spcPct val="100000"/>
              </a:lnSpc>
              <a:spcBef>
                <a:spcPts val="0"/>
              </a:spcBef>
              <a:spcAft>
                <a:spcPts val="0"/>
              </a:spcAft>
              <a:buSzPts val="1100"/>
              <a:buChar char="○"/>
            </a:pPr>
            <a:r>
              <a:rPr lang="en"/>
              <a:t>Each operand is another expression.</a:t>
            </a:r>
            <a:endParaRPr/>
          </a:p>
          <a:p>
            <a:pPr indent="-311150" lvl="0" marL="457200" rtl="0" algn="l">
              <a:lnSpc>
                <a:spcPct val="100000"/>
              </a:lnSpc>
              <a:spcBef>
                <a:spcPts val="0"/>
              </a:spcBef>
              <a:spcAft>
                <a:spcPts val="0"/>
              </a:spcAft>
              <a:buSzPts val="1300"/>
              <a:buChar char="●"/>
            </a:pPr>
            <a:r>
              <a:rPr lang="en"/>
              <a:t>The parser should support the following </a:t>
            </a:r>
            <a:r>
              <a:rPr b="1" i="1" lang="en">
                <a:solidFill>
                  <a:srgbClr val="FF0000"/>
                </a:solidFill>
              </a:rPr>
              <a:t>unary</a:t>
            </a:r>
            <a:r>
              <a:rPr lang="en">
                <a:solidFill>
                  <a:srgbClr val="FF0000"/>
                </a:solidFill>
              </a:rPr>
              <a:t> </a:t>
            </a:r>
            <a:r>
              <a:rPr lang="en"/>
              <a:t>operations (meaning that there is </a:t>
            </a:r>
            <a:r>
              <a:rPr b="1" i="1" lang="en">
                <a:solidFill>
                  <a:srgbClr val="FF0000"/>
                </a:solidFill>
              </a:rPr>
              <a:t>one</a:t>
            </a:r>
            <a:r>
              <a:rPr lang="en">
                <a:solidFill>
                  <a:srgbClr val="FF0000"/>
                </a:solidFill>
              </a:rPr>
              <a:t> </a:t>
            </a:r>
            <a:r>
              <a:rPr lang="en"/>
              <a:t>operand):</a:t>
            </a:r>
            <a:endParaRPr/>
          </a:p>
          <a:p>
            <a:pPr indent="-298450" lvl="1" marL="914400" rtl="0" algn="l">
              <a:lnSpc>
                <a:spcPct val="100000"/>
              </a:lnSpc>
              <a:spcBef>
                <a:spcPts val="0"/>
              </a:spcBef>
              <a:spcAft>
                <a:spcPts val="0"/>
              </a:spcAft>
              <a:buSzPts val="1100"/>
              <a:buChar char="○"/>
            </a:pPr>
            <a:r>
              <a:rPr lang="en"/>
              <a:t>Increment (</a:t>
            </a:r>
            <a:r>
              <a:rPr lang="en">
                <a:solidFill>
                  <a:srgbClr val="FF0000"/>
                </a:solidFill>
                <a:latin typeface="Courier New"/>
                <a:ea typeface="Courier New"/>
                <a:cs typeface="Courier New"/>
                <a:sym typeface="Courier New"/>
              </a:rPr>
              <a:t>++</a:t>
            </a:r>
            <a:r>
              <a:rPr lang="en"/>
              <a:t>)</a:t>
            </a:r>
            <a:endParaRPr/>
          </a:p>
          <a:p>
            <a:pPr indent="-298450" lvl="1" marL="914400" rtl="0" algn="l">
              <a:lnSpc>
                <a:spcPct val="100000"/>
              </a:lnSpc>
              <a:spcBef>
                <a:spcPts val="0"/>
              </a:spcBef>
              <a:spcAft>
                <a:spcPts val="0"/>
              </a:spcAft>
              <a:buSzPts val="1100"/>
              <a:buChar char="○"/>
            </a:pPr>
            <a:r>
              <a:rPr lang="en"/>
              <a:t>Decrement (</a:t>
            </a:r>
            <a:r>
              <a:rPr lang="en">
                <a:solidFill>
                  <a:srgbClr val="FF0000"/>
                </a:solidFill>
                <a:latin typeface="Courier New"/>
                <a:ea typeface="Courier New"/>
                <a:cs typeface="Courier New"/>
                <a:sym typeface="Courier New"/>
              </a:rPr>
              <a:t>--</a:t>
            </a:r>
            <a:r>
              <a:rPr lang="en"/>
              <a:t>)</a:t>
            </a:r>
            <a:endParaRPr/>
          </a:p>
          <a:p>
            <a:pPr indent="-311150" lvl="0" marL="457200" rtl="0" algn="l">
              <a:lnSpc>
                <a:spcPct val="100000"/>
              </a:lnSpc>
              <a:spcBef>
                <a:spcPts val="0"/>
              </a:spcBef>
              <a:spcAft>
                <a:spcPts val="0"/>
              </a:spcAft>
              <a:buSzPts val="1300"/>
              <a:buChar char="●"/>
            </a:pPr>
            <a:r>
              <a:rPr lang="en"/>
              <a:t>The parser should also support the following </a:t>
            </a:r>
            <a:r>
              <a:rPr b="1" i="1" lang="en">
                <a:solidFill>
                  <a:srgbClr val="FF0000"/>
                </a:solidFill>
              </a:rPr>
              <a:t>binary</a:t>
            </a:r>
            <a:r>
              <a:rPr lang="en">
                <a:solidFill>
                  <a:srgbClr val="FF0000"/>
                </a:solidFill>
              </a:rPr>
              <a:t> </a:t>
            </a:r>
            <a:r>
              <a:rPr lang="en"/>
              <a:t>operations (meaning that there are </a:t>
            </a:r>
            <a:r>
              <a:rPr b="1" i="1" lang="en">
                <a:solidFill>
                  <a:srgbClr val="FF0000"/>
                </a:solidFill>
              </a:rPr>
              <a:t>two</a:t>
            </a:r>
            <a:r>
              <a:rPr lang="en">
                <a:solidFill>
                  <a:srgbClr val="FF0000"/>
                </a:solidFill>
              </a:rPr>
              <a:t> </a:t>
            </a:r>
            <a:r>
              <a:rPr lang="en"/>
              <a:t>operands):</a:t>
            </a:r>
            <a:endParaRPr/>
          </a:p>
          <a:p>
            <a:pPr indent="-298450" lvl="1" marL="914400" rtl="0" algn="l">
              <a:lnSpc>
                <a:spcPct val="100000"/>
              </a:lnSpc>
              <a:spcBef>
                <a:spcPts val="0"/>
              </a:spcBef>
              <a:spcAft>
                <a:spcPts val="0"/>
              </a:spcAft>
              <a:buSzPts val="1100"/>
              <a:buChar char="○"/>
            </a:pPr>
            <a:r>
              <a:rPr lang="en"/>
              <a:t>Addition (</a:t>
            </a:r>
            <a:r>
              <a:rPr lang="en">
                <a:solidFill>
                  <a:srgbClr val="FF0000"/>
                </a:solidFill>
                <a:latin typeface="Courier New"/>
                <a:ea typeface="Courier New"/>
                <a:cs typeface="Courier New"/>
                <a:sym typeface="Courier New"/>
              </a:rPr>
              <a:t>+</a:t>
            </a:r>
            <a:r>
              <a:rPr lang="en"/>
              <a:t>)</a:t>
            </a:r>
            <a:endParaRPr/>
          </a:p>
          <a:p>
            <a:pPr indent="-298450" lvl="1" marL="914400" rtl="0" algn="l">
              <a:lnSpc>
                <a:spcPct val="100000"/>
              </a:lnSpc>
              <a:spcBef>
                <a:spcPts val="0"/>
              </a:spcBef>
              <a:spcAft>
                <a:spcPts val="0"/>
              </a:spcAft>
              <a:buSzPts val="1100"/>
              <a:buChar char="○"/>
            </a:pPr>
            <a:r>
              <a:rPr lang="en"/>
              <a:t>Subtraction (</a:t>
            </a:r>
            <a:r>
              <a:rPr lang="en">
                <a:solidFill>
                  <a:srgbClr val="FF0000"/>
                </a:solidFill>
                <a:latin typeface="Courier New"/>
                <a:ea typeface="Courier New"/>
                <a:cs typeface="Courier New"/>
                <a:sym typeface="Courier New"/>
              </a:rPr>
              <a:t>-</a:t>
            </a:r>
            <a:r>
              <a:rPr lang="en"/>
              <a:t>)</a:t>
            </a:r>
            <a:endParaRPr/>
          </a:p>
          <a:p>
            <a:pPr indent="-298450" lvl="1" marL="914400" rtl="0" algn="l">
              <a:lnSpc>
                <a:spcPct val="100000"/>
              </a:lnSpc>
              <a:spcBef>
                <a:spcPts val="0"/>
              </a:spcBef>
              <a:spcAft>
                <a:spcPts val="0"/>
              </a:spcAft>
              <a:buSzPts val="1100"/>
              <a:buChar char="○"/>
            </a:pPr>
            <a:r>
              <a:rPr lang="en"/>
              <a:t>Multiplication (</a:t>
            </a:r>
            <a:r>
              <a:rPr lang="en">
                <a:solidFill>
                  <a:srgbClr val="FF0000"/>
                </a:solidFill>
                <a:latin typeface="Courier New"/>
                <a:ea typeface="Courier New"/>
                <a:cs typeface="Courier New"/>
                <a:sym typeface="Courier New"/>
              </a:rPr>
              <a:t>*</a:t>
            </a:r>
            <a:r>
              <a:rPr lang="en"/>
              <a:t>)</a:t>
            </a:r>
            <a:endParaRPr/>
          </a:p>
          <a:p>
            <a:pPr indent="-298450" lvl="1" marL="914400" rtl="0" algn="l">
              <a:lnSpc>
                <a:spcPct val="100000"/>
              </a:lnSpc>
              <a:spcBef>
                <a:spcPts val="0"/>
              </a:spcBef>
              <a:spcAft>
                <a:spcPts val="0"/>
              </a:spcAft>
              <a:buSzPts val="1100"/>
              <a:buChar char="○"/>
            </a:pPr>
            <a:r>
              <a:rPr lang="en"/>
              <a:t>Division (</a:t>
            </a:r>
            <a:r>
              <a:rPr lang="en">
                <a:solidFill>
                  <a:srgbClr val="FF0000"/>
                </a:solidFill>
                <a:latin typeface="Courier New"/>
                <a:ea typeface="Courier New"/>
                <a:cs typeface="Courier New"/>
                <a:sym typeface="Courier New"/>
              </a:rPr>
              <a:t>/</a:t>
            </a:r>
            <a:r>
              <a:rPr lang="en"/>
              <a:t>)</a:t>
            </a:r>
            <a:endParaRPr/>
          </a:p>
          <a:p>
            <a:pPr indent="-298450" lvl="1" marL="914400" rtl="0" algn="l">
              <a:lnSpc>
                <a:spcPct val="100000"/>
              </a:lnSpc>
              <a:spcBef>
                <a:spcPts val="0"/>
              </a:spcBef>
              <a:spcAft>
                <a:spcPts val="0"/>
              </a:spcAft>
              <a:buSzPts val="1100"/>
              <a:buChar char="○"/>
            </a:pPr>
            <a:r>
              <a:rPr lang="en"/>
              <a:t>Integer Division (</a:t>
            </a:r>
            <a:r>
              <a:rPr lang="en">
                <a:solidFill>
                  <a:srgbClr val="FF0000"/>
                </a:solidFill>
                <a:latin typeface="Courier New"/>
                <a:ea typeface="Courier New"/>
                <a:cs typeface="Courier New"/>
                <a:sym typeface="Courier New"/>
              </a:rPr>
              <a:t>//</a:t>
            </a:r>
            <a:r>
              <a:rPr lang="en"/>
              <a:t>)</a:t>
            </a:r>
            <a:endParaRPr/>
          </a:p>
          <a:p>
            <a:pPr indent="-298450" lvl="1" marL="914400" rtl="0" algn="l">
              <a:lnSpc>
                <a:spcPct val="100000"/>
              </a:lnSpc>
              <a:spcBef>
                <a:spcPts val="0"/>
              </a:spcBef>
              <a:spcAft>
                <a:spcPts val="0"/>
              </a:spcAft>
              <a:buSzPts val="1100"/>
              <a:buChar char="○"/>
            </a:pPr>
            <a:r>
              <a:rPr lang="en"/>
              <a:t>Exponent (</a:t>
            </a:r>
            <a:r>
              <a:rPr lang="en">
                <a:solidFill>
                  <a:srgbClr val="FF0000"/>
                </a:solidFill>
                <a:latin typeface="Courier New"/>
                <a:ea typeface="Courier New"/>
                <a:cs typeface="Courier New"/>
                <a:sym typeface="Courier New"/>
              </a:rPr>
              <a:t>**</a:t>
            </a:r>
            <a:r>
              <a:rPr lang="en"/>
              <a:t>)</a:t>
            </a:r>
            <a:endParaRPr/>
          </a:p>
          <a:p>
            <a:pPr indent="-311150" lvl="0" marL="457200" rtl="0" algn="l">
              <a:lnSpc>
                <a:spcPct val="100000"/>
              </a:lnSpc>
              <a:spcBef>
                <a:spcPts val="0"/>
              </a:spcBef>
              <a:spcAft>
                <a:spcPts val="0"/>
              </a:spcAft>
              <a:buSzPts val="1300"/>
              <a:buChar char="●"/>
            </a:pPr>
            <a:r>
              <a:rPr lang="en"/>
              <a:t>The operand(s) for any supported operation may be </a:t>
            </a:r>
            <a:r>
              <a:rPr b="1" i="1" lang="en">
                <a:solidFill>
                  <a:srgbClr val="FF0000"/>
                </a:solidFill>
              </a:rPr>
              <a:t>any </a:t>
            </a:r>
            <a:r>
              <a:rPr lang="en"/>
              <a:t>expression, including </a:t>
            </a:r>
            <a:r>
              <a:rPr b="1" i="1" lang="en">
                <a:solidFill>
                  <a:srgbClr val="FF0000"/>
                </a:solidFill>
              </a:rPr>
              <a:t>constants</a:t>
            </a:r>
            <a:r>
              <a:rPr lang="en"/>
              <a:t>, e.g.:</a:t>
            </a:r>
            <a:endParaRPr/>
          </a:p>
          <a:p>
            <a:pPr indent="-298450" lvl="1" marL="914400" rtl="0" algn="l">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 4 5</a:t>
            </a:r>
            <a:r>
              <a:rPr lang="en"/>
              <a:t> (equivalent to </a:t>
            </a:r>
            <a:r>
              <a:rPr lang="en">
                <a:solidFill>
                  <a:srgbClr val="FF0000"/>
                </a:solidFill>
                <a:latin typeface="Courier New"/>
                <a:ea typeface="Courier New"/>
                <a:cs typeface="Courier New"/>
                <a:sym typeface="Courier New"/>
              </a:rPr>
              <a:t>4 * 5</a:t>
            </a:r>
            <a:r>
              <a:rPr lang="en"/>
              <a:t>).</a:t>
            </a:r>
            <a:endParaRPr/>
          </a:p>
          <a:p>
            <a:pPr indent="-298450" lvl="1" marL="914400" rtl="0" algn="l">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 * 3 2 - 4 5</a:t>
            </a:r>
            <a:r>
              <a:rPr lang="en"/>
              <a:t> (equivalent to </a:t>
            </a:r>
            <a:r>
              <a:rPr lang="en">
                <a:solidFill>
                  <a:srgbClr val="FF0000"/>
                </a:solidFill>
                <a:latin typeface="Courier New"/>
                <a:ea typeface="Courier New"/>
                <a:cs typeface="Courier New"/>
                <a:sym typeface="Courier New"/>
              </a:rPr>
              <a:t>(3</a:t>
            </a:r>
            <a:r>
              <a:rPr lang="en">
                <a:solidFill>
                  <a:srgbClr val="FF0000"/>
                </a:solidFill>
              </a:rPr>
              <a:t> </a:t>
            </a:r>
            <a:r>
              <a:rPr lang="en">
                <a:solidFill>
                  <a:srgbClr val="FF0000"/>
                </a:solidFill>
                <a:latin typeface="Courier New"/>
                <a:ea typeface="Courier New"/>
                <a:cs typeface="Courier New"/>
                <a:sym typeface="Courier New"/>
              </a:rPr>
              <a:t>*</a:t>
            </a:r>
            <a:r>
              <a:rPr lang="en">
                <a:solidFill>
                  <a:srgbClr val="FF0000"/>
                </a:solidFill>
              </a:rPr>
              <a:t> </a:t>
            </a:r>
            <a:r>
              <a:rPr lang="en">
                <a:solidFill>
                  <a:srgbClr val="FF0000"/>
                </a:solidFill>
                <a:latin typeface="Courier New"/>
                <a:ea typeface="Courier New"/>
                <a:cs typeface="Courier New"/>
                <a:sym typeface="Courier New"/>
              </a:rPr>
              <a:t>2)</a:t>
            </a:r>
            <a:r>
              <a:rPr lang="en">
                <a:solidFill>
                  <a:srgbClr val="FF0000"/>
                </a:solidFill>
              </a:rPr>
              <a:t> </a:t>
            </a:r>
            <a:r>
              <a:rPr lang="en">
                <a:solidFill>
                  <a:srgbClr val="FF0000"/>
                </a:solidFill>
                <a:latin typeface="Courier New"/>
                <a:ea typeface="Courier New"/>
                <a:cs typeface="Courier New"/>
                <a:sym typeface="Courier New"/>
              </a:rPr>
              <a:t>+</a:t>
            </a:r>
            <a:r>
              <a:rPr lang="en">
                <a:solidFill>
                  <a:srgbClr val="FF0000"/>
                </a:solidFill>
              </a:rPr>
              <a:t> </a:t>
            </a:r>
            <a:r>
              <a:rPr lang="en">
                <a:solidFill>
                  <a:srgbClr val="FF0000"/>
                </a:solidFill>
                <a:latin typeface="Courier New"/>
                <a:ea typeface="Courier New"/>
                <a:cs typeface="Courier New"/>
                <a:sym typeface="Courier New"/>
              </a:rPr>
              <a:t>(4</a:t>
            </a:r>
            <a:r>
              <a:rPr lang="en">
                <a:solidFill>
                  <a:srgbClr val="FF0000"/>
                </a:solidFill>
              </a:rPr>
              <a:t> </a:t>
            </a:r>
            <a:r>
              <a:rPr lang="en">
                <a:solidFill>
                  <a:srgbClr val="FF0000"/>
                </a:solidFill>
                <a:latin typeface="Courier New"/>
                <a:ea typeface="Courier New"/>
                <a:cs typeface="Courier New"/>
                <a:sym typeface="Courier New"/>
              </a:rPr>
              <a:t>-</a:t>
            </a:r>
            <a:r>
              <a:rPr lang="en">
                <a:solidFill>
                  <a:srgbClr val="FF0000"/>
                </a:solidFill>
              </a:rPr>
              <a:t> </a:t>
            </a:r>
            <a:r>
              <a:rPr lang="en">
                <a:solidFill>
                  <a:srgbClr val="FF0000"/>
                </a:solidFill>
                <a:latin typeface="Courier New"/>
                <a:ea typeface="Courier New"/>
                <a:cs typeface="Courier New"/>
                <a:sym typeface="Courier New"/>
              </a:rPr>
              <a:t>5)</a:t>
            </a:r>
            <a:r>
              <a:rPr lang="en"/>
              <a:t>)</a:t>
            </a:r>
            <a:endParaRPr/>
          </a:p>
        </p:txBody>
      </p:sp>
      <p:sp>
        <p:nvSpPr>
          <p:cNvPr id="1107" name="Google Shape;1107;p1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08" name="Google Shape;1108;p117"/>
          <p:cNvSpPr txBox="1"/>
          <p:nvPr>
            <p:ph idx="3" type="body"/>
          </p:nvPr>
        </p:nvSpPr>
        <p:spPr>
          <a:xfrm>
            <a:off x="311725" y="2455258"/>
            <a:ext cx="3706500" cy="7245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Our expression parser will handle expressions written using </a:t>
            </a:r>
            <a:r>
              <a:rPr b="1" i="1" lang="en" sz="1200">
                <a:solidFill>
                  <a:srgbClr val="FF0000"/>
                </a:solidFill>
              </a:rPr>
              <a:t>prefix notation</a:t>
            </a:r>
            <a:r>
              <a:rPr lang="en" sz="1200"/>
              <a:t>, using which the operator </a:t>
            </a:r>
            <a:r>
              <a:rPr b="1" i="1" lang="en" sz="1200">
                <a:solidFill>
                  <a:srgbClr val="FF0000"/>
                </a:solidFill>
              </a:rPr>
              <a:t>precedes</a:t>
            </a:r>
            <a:r>
              <a:rPr lang="en" sz="1200">
                <a:solidFill>
                  <a:srgbClr val="FF0000"/>
                </a:solidFill>
              </a:rPr>
              <a:t> </a:t>
            </a:r>
            <a:r>
              <a:rPr lang="en" sz="1200"/>
              <a:t>its operand(s), e.g. </a:t>
            </a:r>
            <a:r>
              <a:rPr b="1" i="1" lang="en" sz="1200">
                <a:solidFill>
                  <a:srgbClr val="FF0000"/>
                </a:solidFill>
              </a:rPr>
              <a:t>+ 2 2</a:t>
            </a:r>
            <a:r>
              <a:rPr lang="en" sz="1200"/>
              <a:t>.</a:t>
            </a:r>
            <a:endParaRPr sz="1200"/>
          </a:p>
        </p:txBody>
      </p:sp>
      <p:sp>
        <p:nvSpPr>
          <p:cNvPr id="1109" name="Google Shape;1109;p117"/>
          <p:cNvSpPr txBox="1"/>
          <p:nvPr>
            <p:ph idx="3" type="body"/>
          </p:nvPr>
        </p:nvSpPr>
        <p:spPr>
          <a:xfrm>
            <a:off x="315425" y="910425"/>
            <a:ext cx="3706500" cy="6750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Most people are more familiar with </a:t>
            </a:r>
            <a:r>
              <a:rPr b="1" i="1" lang="en" sz="1200">
                <a:solidFill>
                  <a:srgbClr val="FF0000"/>
                </a:solidFill>
              </a:rPr>
              <a:t>infix notation</a:t>
            </a:r>
            <a:r>
              <a:rPr lang="en" sz="1200"/>
              <a:t>, using which the operator is situated between operands, e.g. </a:t>
            </a:r>
            <a:r>
              <a:rPr b="1" i="1" lang="en" sz="1200">
                <a:solidFill>
                  <a:srgbClr val="FF0000"/>
                </a:solidFill>
              </a:rPr>
              <a:t>2 + 2</a:t>
            </a:r>
            <a:r>
              <a:rPr lang="en" sz="1200"/>
              <a:t>.</a:t>
            </a:r>
            <a:endParaRPr sz="1200"/>
          </a:p>
        </p:txBody>
      </p:sp>
      <p:sp>
        <p:nvSpPr>
          <p:cNvPr id="1110" name="Google Shape;1110;p117"/>
          <p:cNvSpPr txBox="1"/>
          <p:nvPr>
            <p:ph idx="3" type="body"/>
          </p:nvPr>
        </p:nvSpPr>
        <p:spPr>
          <a:xfrm>
            <a:off x="315425" y="1682841"/>
            <a:ext cx="3706500" cy="6750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However, parsing such expressions is very challenging. One technique is the </a:t>
            </a:r>
            <a:r>
              <a:rPr b="1" i="1" lang="en" sz="1200" u="sng">
                <a:solidFill>
                  <a:srgbClr val="4A86E8"/>
                </a:solidFill>
                <a:hlinkClick r:id="rId3">
                  <a:extLst>
                    <a:ext uri="{A12FA001-AC4F-418D-AE19-62706E023703}">
                      <ahyp:hlinkClr val="tx"/>
                    </a:ext>
                  </a:extLst>
                </a:hlinkClick>
              </a:rPr>
              <a:t>Shunting- Yard Algorithm</a:t>
            </a:r>
            <a:r>
              <a:rPr lang="en" sz="1200"/>
              <a:t>.</a:t>
            </a:r>
            <a:endParaRPr sz="1200"/>
          </a:p>
        </p:txBody>
      </p:sp>
      <p:sp>
        <p:nvSpPr>
          <p:cNvPr id="1111" name="Google Shape;1111;p117"/>
          <p:cNvSpPr txBox="1"/>
          <p:nvPr>
            <p:ph idx="3" type="body"/>
          </p:nvPr>
        </p:nvSpPr>
        <p:spPr>
          <a:xfrm>
            <a:off x="311725" y="3280892"/>
            <a:ext cx="3706500" cy="7245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Parsing expressions written using prefix notation is </a:t>
            </a:r>
            <a:r>
              <a:rPr b="1" i="1" lang="en" sz="1200">
                <a:solidFill>
                  <a:srgbClr val="FF0000"/>
                </a:solidFill>
              </a:rPr>
              <a:t>significantly </a:t>
            </a:r>
            <a:r>
              <a:rPr lang="en" sz="1200"/>
              <a:t>easier, even though they can be a little harder for humans to read.</a:t>
            </a:r>
            <a:endParaRPr sz="1200"/>
          </a:p>
        </p:txBody>
      </p:sp>
      <p:sp>
        <p:nvSpPr>
          <p:cNvPr id="1112" name="Google Shape;1112;p117"/>
          <p:cNvSpPr txBox="1"/>
          <p:nvPr/>
        </p:nvSpPr>
        <p:spPr>
          <a:xfrm>
            <a:off x="311725" y="4126725"/>
            <a:ext cx="3706500" cy="7563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&gt;&gt;&gt; + 2 * + 3 1 - 5 2</a:t>
            </a:r>
            <a:endParaRPr sz="1600">
              <a:latin typeface="Consolas"/>
              <a:ea typeface="Consolas"/>
              <a:cs typeface="Consolas"/>
              <a:sym typeface="Consolas"/>
            </a:endParaRPr>
          </a:p>
          <a:p>
            <a:pPr indent="0" lvl="0" marL="0" rtl="0" algn="l">
              <a:spcBef>
                <a:spcPts val="0"/>
              </a:spcBef>
              <a:spcAft>
                <a:spcPts val="0"/>
              </a:spcAft>
              <a:buNone/>
            </a:pPr>
            <a:r>
              <a:rPr lang="en" sz="1600">
                <a:latin typeface="Consolas"/>
                <a:ea typeface="Consolas"/>
                <a:cs typeface="Consolas"/>
                <a:sym typeface="Consolas"/>
              </a:rPr>
              <a:t>14</a:t>
            </a:r>
            <a:endParaRPr sz="1600">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9"/>
                                        </p:tgtEl>
                                        <p:attrNameLst>
                                          <p:attrName>style.visibility</p:attrName>
                                        </p:attrNameLst>
                                      </p:cBhvr>
                                      <p:to>
                                        <p:strVal val="visible"/>
                                      </p:to>
                                    </p:set>
                                    <p:animEffect filter="fade" transition="in">
                                      <p:cBhvr>
                                        <p:cTn dur="1000"/>
                                        <p:tgtEl>
                                          <p:spTgt spid="11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0"/>
                                        </p:tgtEl>
                                        <p:attrNameLst>
                                          <p:attrName>style.visibility</p:attrName>
                                        </p:attrNameLst>
                                      </p:cBhvr>
                                      <p:to>
                                        <p:strVal val="visible"/>
                                      </p:to>
                                    </p:set>
                                    <p:animEffect filter="fade" transition="in">
                                      <p:cBhvr>
                                        <p:cTn dur="1000"/>
                                        <p:tgtEl>
                                          <p:spTgt spid="1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8"/>
                                        </p:tgtEl>
                                        <p:attrNameLst>
                                          <p:attrName>style.visibility</p:attrName>
                                        </p:attrNameLst>
                                      </p:cBhvr>
                                      <p:to>
                                        <p:strVal val="visible"/>
                                      </p:to>
                                    </p:set>
                                    <p:animEffect filter="fade" transition="in">
                                      <p:cBhvr>
                                        <p:cTn dur="1000"/>
                                        <p:tgtEl>
                                          <p:spTgt spid="1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1"/>
                                        </p:tgtEl>
                                        <p:attrNameLst>
                                          <p:attrName>style.visibility</p:attrName>
                                        </p:attrNameLst>
                                      </p:cBhvr>
                                      <p:to>
                                        <p:strVal val="visible"/>
                                      </p:to>
                                    </p:set>
                                    <p:animEffect filter="fade" transition="in">
                                      <p:cBhvr>
                                        <p:cTn dur="1000"/>
                                        <p:tgtEl>
                                          <p:spTgt spid="111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12"/>
                                        </p:tgtEl>
                                        <p:attrNameLst>
                                          <p:attrName>style.visibility</p:attrName>
                                        </p:attrNameLst>
                                      </p:cBhvr>
                                      <p:to>
                                        <p:strVal val="visible"/>
                                      </p:to>
                                    </p:set>
                                    <p:animEffect filter="fade" transition="in">
                                      <p:cBhvr>
                                        <p:cTn dur="1000"/>
                                        <p:tgtEl>
                                          <p:spTgt spid="1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118"/>
          <p:cNvSpPr txBox="1"/>
          <p:nvPr>
            <p:ph type="title"/>
          </p:nvPr>
        </p:nvSpPr>
        <p:spPr>
          <a:xfrm>
            <a:off x="5264725" y="437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Expressions</a:t>
            </a:r>
            <a:endParaRPr/>
          </a:p>
        </p:txBody>
      </p:sp>
      <p:sp>
        <p:nvSpPr>
          <p:cNvPr id="1118" name="Google Shape;1118;p118"/>
          <p:cNvSpPr txBox="1"/>
          <p:nvPr>
            <p:ph idx="1" type="body"/>
          </p:nvPr>
        </p:nvSpPr>
        <p:spPr>
          <a:xfrm>
            <a:off x="301275" y="272325"/>
            <a:ext cx="4166400" cy="4432200"/>
          </a:xfrm>
          <a:prstGeom prst="rect">
            <a:avLst/>
          </a:prstGeom>
        </p:spPr>
        <p:txBody>
          <a:bodyPr anchorCtr="0" anchor="ctr" bIns="91425" lIns="91425" spcFirstLastPara="1" rIns="91425" wrap="square" tIns="91425">
            <a:noAutofit/>
          </a:bodyPr>
          <a:lstStyle/>
          <a:p>
            <a:pPr indent="-311150" lvl="0" marL="457200" rtl="0" algn="l">
              <a:lnSpc>
                <a:spcPct val="100000"/>
              </a:lnSpc>
              <a:spcBef>
                <a:spcPts val="0"/>
              </a:spcBef>
              <a:spcAft>
                <a:spcPts val="0"/>
              </a:spcAft>
              <a:buSzPts val="1300"/>
              <a:buChar char="●"/>
            </a:pPr>
            <a:r>
              <a:rPr lang="en"/>
              <a:t>Let's start by focusing on the </a:t>
            </a:r>
            <a:r>
              <a:rPr b="1" i="1" lang="en">
                <a:solidFill>
                  <a:srgbClr val="FF0000"/>
                </a:solidFill>
              </a:rPr>
              <a:t>expressions</a:t>
            </a:r>
            <a:r>
              <a:rPr lang="en">
                <a:solidFill>
                  <a:srgbClr val="FF0000"/>
                </a:solidFill>
              </a:rPr>
              <a:t> </a:t>
            </a:r>
            <a:r>
              <a:rPr lang="en"/>
              <a:t>that our expression parser will create.</a:t>
            </a:r>
            <a:endParaRPr/>
          </a:p>
          <a:p>
            <a:pPr indent="-311150" lvl="0" marL="457200" rtl="0" algn="l">
              <a:lnSpc>
                <a:spcPct val="100000"/>
              </a:lnSpc>
              <a:spcBef>
                <a:spcPts val="0"/>
              </a:spcBef>
              <a:spcAft>
                <a:spcPts val="0"/>
              </a:spcAft>
              <a:buSzPts val="1300"/>
              <a:buChar char="●"/>
            </a:pPr>
            <a:r>
              <a:rPr lang="en"/>
              <a:t>When an </a:t>
            </a:r>
            <a:r>
              <a:rPr b="1" i="1" lang="en">
                <a:solidFill>
                  <a:srgbClr val="FF0000"/>
                </a:solidFill>
              </a:rPr>
              <a:t>expression</a:t>
            </a:r>
            <a:r>
              <a:rPr lang="en">
                <a:solidFill>
                  <a:srgbClr val="FF0000"/>
                </a:solidFill>
              </a:rPr>
              <a:t> </a:t>
            </a:r>
            <a:r>
              <a:rPr lang="en"/>
              <a:t>is evaluated, the result is a single, floating point value.</a:t>
            </a:r>
            <a:endParaRPr/>
          </a:p>
          <a:p>
            <a:pPr indent="-311150" lvl="0" marL="457200" rtl="0" algn="l">
              <a:lnSpc>
                <a:spcPct val="100000"/>
              </a:lnSpc>
              <a:spcBef>
                <a:spcPts val="0"/>
              </a:spcBef>
              <a:spcAft>
                <a:spcPts val="0"/>
              </a:spcAft>
              <a:buSzPts val="1300"/>
              <a:buChar char="●"/>
            </a:pPr>
            <a:r>
              <a:rPr lang="en"/>
              <a:t>There are </a:t>
            </a:r>
            <a:r>
              <a:rPr b="1" i="1" lang="en">
                <a:solidFill>
                  <a:srgbClr val="FF0000"/>
                </a:solidFill>
              </a:rPr>
              <a:t>three </a:t>
            </a:r>
            <a:r>
              <a:rPr lang="en"/>
              <a:t>basic types of expressions that our expression parser will support.</a:t>
            </a:r>
            <a:endParaRPr/>
          </a:p>
          <a:p>
            <a:pPr indent="-311150" lvl="0" marL="457200" rtl="0" algn="l">
              <a:lnSpc>
                <a:spcPct val="100000"/>
              </a:lnSpc>
              <a:spcBef>
                <a:spcPts val="0"/>
              </a:spcBef>
              <a:spcAft>
                <a:spcPts val="0"/>
              </a:spcAft>
              <a:buSzPts val="1300"/>
              <a:buChar char="●"/>
            </a:pPr>
            <a:r>
              <a:rPr lang="en"/>
              <a:t>A </a:t>
            </a:r>
            <a:r>
              <a:rPr b="1" i="1" lang="en">
                <a:solidFill>
                  <a:srgbClr val="FF0000"/>
                </a:solidFill>
              </a:rPr>
              <a:t>constant</a:t>
            </a:r>
            <a:r>
              <a:rPr lang="en">
                <a:solidFill>
                  <a:srgbClr val="FF0000"/>
                </a:solidFill>
              </a:rPr>
              <a:t> </a:t>
            </a:r>
            <a:r>
              <a:rPr lang="en"/>
              <a:t>is a literal value, eg. </a:t>
            </a:r>
            <a:r>
              <a:rPr lang="en">
                <a:solidFill>
                  <a:srgbClr val="FF0000"/>
                </a:solidFill>
                <a:latin typeface="Courier New"/>
                <a:ea typeface="Courier New"/>
                <a:cs typeface="Courier New"/>
                <a:sym typeface="Courier New"/>
              </a:rPr>
              <a:t>3.14159</a:t>
            </a:r>
            <a:r>
              <a:rPr lang="en"/>
              <a:t>.</a:t>
            </a:r>
            <a:endParaRPr/>
          </a:p>
          <a:p>
            <a:pPr indent="-298450" lvl="1" marL="914400" rtl="0" algn="l">
              <a:lnSpc>
                <a:spcPct val="100000"/>
              </a:lnSpc>
              <a:spcBef>
                <a:spcPts val="0"/>
              </a:spcBef>
              <a:spcAft>
                <a:spcPts val="0"/>
              </a:spcAft>
              <a:buSzPts val="1100"/>
              <a:buChar char="○"/>
            </a:pPr>
            <a:r>
              <a:rPr lang="en"/>
              <a:t>When a</a:t>
            </a:r>
            <a:r>
              <a:rPr lang="en">
                <a:solidFill>
                  <a:srgbClr val="FF0000"/>
                </a:solidFill>
              </a:rPr>
              <a:t> </a:t>
            </a:r>
            <a:r>
              <a:rPr b="1" i="1" lang="en">
                <a:solidFill>
                  <a:srgbClr val="FF0000"/>
                </a:solidFill>
              </a:rPr>
              <a:t>constant expression</a:t>
            </a:r>
            <a:r>
              <a:rPr lang="en"/>
              <a:t> is evaluated, it always just returns its value.</a:t>
            </a:r>
            <a:endParaRPr/>
          </a:p>
          <a:p>
            <a:pPr indent="-311150" lvl="0" marL="457200" rtl="0" algn="l">
              <a:lnSpc>
                <a:spcPct val="100000"/>
              </a:lnSpc>
              <a:spcBef>
                <a:spcPts val="0"/>
              </a:spcBef>
              <a:spcAft>
                <a:spcPts val="0"/>
              </a:spcAft>
              <a:buSzPts val="1300"/>
              <a:buChar char="●"/>
            </a:pPr>
            <a:r>
              <a:rPr lang="en"/>
              <a:t>A </a:t>
            </a:r>
            <a:r>
              <a:rPr b="1" i="1" lang="en">
                <a:solidFill>
                  <a:srgbClr val="FF0000"/>
                </a:solidFill>
              </a:rPr>
              <a:t>unary expression</a:t>
            </a:r>
            <a:r>
              <a:rPr lang="en"/>
              <a:t> is an operator and exactly </a:t>
            </a:r>
            <a:r>
              <a:rPr b="1" i="1" lang="en">
                <a:solidFill>
                  <a:srgbClr val="FF0000"/>
                </a:solidFill>
              </a:rPr>
              <a:t>one </a:t>
            </a:r>
            <a:r>
              <a:rPr lang="en"/>
              <a:t>other expression.</a:t>
            </a:r>
            <a:endParaRPr/>
          </a:p>
          <a:p>
            <a:pPr indent="-298450" lvl="1" marL="914400" rtl="0" algn="l">
              <a:lnSpc>
                <a:spcPct val="100000"/>
              </a:lnSpc>
              <a:spcBef>
                <a:spcPts val="0"/>
              </a:spcBef>
              <a:spcAft>
                <a:spcPts val="0"/>
              </a:spcAft>
              <a:buSzPts val="1100"/>
              <a:buChar char="○"/>
            </a:pPr>
            <a:r>
              <a:rPr lang="en"/>
              <a:t>The other expression must be evaluated </a:t>
            </a:r>
            <a:r>
              <a:rPr b="1" i="1" lang="en">
                <a:solidFill>
                  <a:srgbClr val="FF0000"/>
                </a:solidFill>
              </a:rPr>
              <a:t>first</a:t>
            </a:r>
            <a:r>
              <a:rPr lang="en"/>
              <a:t>.</a:t>
            </a:r>
            <a:endParaRPr/>
          </a:p>
          <a:p>
            <a:pPr indent="-298450" lvl="1" marL="914400" rtl="0" algn="l">
              <a:lnSpc>
                <a:spcPct val="100000"/>
              </a:lnSpc>
              <a:spcBef>
                <a:spcPts val="0"/>
              </a:spcBef>
              <a:spcAft>
                <a:spcPts val="0"/>
              </a:spcAft>
              <a:buSzPts val="1100"/>
              <a:buChar char="○"/>
            </a:pPr>
            <a:r>
              <a:rPr lang="en"/>
              <a:t>Then the operator is applied to the result.</a:t>
            </a:r>
            <a:endParaRPr/>
          </a:p>
          <a:p>
            <a:pPr indent="-298450" lvl="1" marL="914400" rtl="0" algn="l">
              <a:lnSpc>
                <a:spcPct val="100000"/>
              </a:lnSpc>
              <a:spcBef>
                <a:spcPts val="0"/>
              </a:spcBef>
              <a:spcAft>
                <a:spcPts val="0"/>
              </a:spcAft>
              <a:buSzPts val="1100"/>
              <a:buChar char="○"/>
            </a:pPr>
            <a:r>
              <a:rPr lang="en"/>
              <a:t>For example </a:t>
            </a:r>
            <a:r>
              <a:rPr lang="en">
                <a:solidFill>
                  <a:srgbClr val="FF0000"/>
                </a:solidFill>
              </a:rPr>
              <a:t>++ 5</a:t>
            </a:r>
            <a:r>
              <a:rPr lang="en"/>
              <a:t> is a unary expression that evaluates the constant expression </a:t>
            </a:r>
            <a:r>
              <a:rPr lang="en">
                <a:solidFill>
                  <a:srgbClr val="FF0000"/>
                </a:solidFill>
              </a:rPr>
              <a:t>5</a:t>
            </a:r>
            <a:r>
              <a:rPr lang="en"/>
              <a:t>, and then adds one.</a:t>
            </a:r>
            <a:endParaRPr/>
          </a:p>
          <a:p>
            <a:pPr indent="-311150" lvl="0" marL="457200" rtl="0" algn="l">
              <a:lnSpc>
                <a:spcPct val="100000"/>
              </a:lnSpc>
              <a:spcBef>
                <a:spcPts val="0"/>
              </a:spcBef>
              <a:spcAft>
                <a:spcPts val="0"/>
              </a:spcAft>
              <a:buSzPts val="1300"/>
              <a:buChar char="●"/>
            </a:pPr>
            <a:r>
              <a:rPr lang="en"/>
              <a:t>A </a:t>
            </a:r>
            <a:r>
              <a:rPr b="1" i="1" lang="en">
                <a:solidFill>
                  <a:srgbClr val="FF0000"/>
                </a:solidFill>
              </a:rPr>
              <a:t>binary expression</a:t>
            </a:r>
            <a:r>
              <a:rPr lang="en"/>
              <a:t> is an operator and exactly </a:t>
            </a:r>
            <a:r>
              <a:rPr b="1" i="1" lang="en">
                <a:solidFill>
                  <a:srgbClr val="FF0000"/>
                </a:solidFill>
              </a:rPr>
              <a:t>two</a:t>
            </a:r>
            <a:r>
              <a:rPr lang="en">
                <a:solidFill>
                  <a:srgbClr val="FF0000"/>
                </a:solidFill>
              </a:rPr>
              <a:t> </a:t>
            </a:r>
            <a:r>
              <a:rPr lang="en"/>
              <a:t>other expressions.</a:t>
            </a:r>
            <a:endParaRPr/>
          </a:p>
          <a:p>
            <a:pPr indent="-298450" lvl="1" marL="914400" rtl="0" algn="l">
              <a:lnSpc>
                <a:spcPct val="100000"/>
              </a:lnSpc>
              <a:spcBef>
                <a:spcPts val="0"/>
              </a:spcBef>
              <a:spcAft>
                <a:spcPts val="0"/>
              </a:spcAft>
              <a:buSzPts val="1100"/>
              <a:buChar char="○"/>
            </a:pPr>
            <a:r>
              <a:rPr b="1" i="1" lang="en">
                <a:solidFill>
                  <a:srgbClr val="FF0000"/>
                </a:solidFill>
              </a:rPr>
              <a:t>Both</a:t>
            </a:r>
            <a:r>
              <a:rPr lang="en">
                <a:solidFill>
                  <a:srgbClr val="FF0000"/>
                </a:solidFill>
              </a:rPr>
              <a:t> </a:t>
            </a:r>
            <a:r>
              <a:rPr lang="en"/>
              <a:t>of the other expressions must be evaluated </a:t>
            </a:r>
            <a:r>
              <a:rPr b="1" i="1" lang="en">
                <a:solidFill>
                  <a:srgbClr val="FF0000"/>
                </a:solidFill>
              </a:rPr>
              <a:t>first</a:t>
            </a:r>
            <a:r>
              <a:rPr lang="en"/>
              <a:t>.</a:t>
            </a:r>
            <a:endParaRPr/>
          </a:p>
          <a:p>
            <a:pPr indent="-298450" lvl="1" marL="914400" rtl="0" algn="l">
              <a:lnSpc>
                <a:spcPct val="100000"/>
              </a:lnSpc>
              <a:spcBef>
                <a:spcPts val="0"/>
              </a:spcBef>
              <a:spcAft>
                <a:spcPts val="0"/>
              </a:spcAft>
              <a:buSzPts val="1100"/>
              <a:buChar char="○"/>
            </a:pPr>
            <a:r>
              <a:rPr lang="en"/>
              <a:t>Then the operator is applied to both results.</a:t>
            </a:r>
            <a:endParaRPr/>
          </a:p>
          <a:p>
            <a:pPr indent="-298450" lvl="1" marL="914400" rtl="0" algn="l">
              <a:lnSpc>
                <a:spcPct val="100000"/>
              </a:lnSpc>
              <a:spcBef>
                <a:spcPts val="0"/>
              </a:spcBef>
              <a:spcAft>
                <a:spcPts val="0"/>
              </a:spcAft>
              <a:buSzPts val="1100"/>
              <a:buChar char="○"/>
            </a:pPr>
            <a:r>
              <a:rPr lang="en"/>
              <a:t>For example</a:t>
            </a:r>
            <a:r>
              <a:rPr lang="en">
                <a:solidFill>
                  <a:srgbClr val="FF0000"/>
                </a:solidFill>
              </a:rPr>
              <a:t> + 4 5</a:t>
            </a:r>
            <a:r>
              <a:rPr lang="en"/>
              <a:t> is a binary expression that evaluates two constant expressions and then adds the results together.</a:t>
            </a:r>
            <a:endParaRPr/>
          </a:p>
        </p:txBody>
      </p:sp>
      <p:sp>
        <p:nvSpPr>
          <p:cNvPr id="1119" name="Google Shape;1119;p118"/>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20" name="Google Shape;1120;p118"/>
          <p:cNvSpPr txBox="1"/>
          <p:nvPr>
            <p:ph idx="3" type="body"/>
          </p:nvPr>
        </p:nvSpPr>
        <p:spPr>
          <a:xfrm>
            <a:off x="5246050" y="782900"/>
            <a:ext cx="3706500" cy="6888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It can be helpful to visualize expressions as a </a:t>
            </a:r>
            <a:r>
              <a:rPr b="1" i="1" lang="en" sz="1200">
                <a:solidFill>
                  <a:srgbClr val="FF0000"/>
                </a:solidFill>
              </a:rPr>
              <a:t>tree</a:t>
            </a:r>
            <a:r>
              <a:rPr lang="en" sz="1200"/>
              <a:t>. For example, take the example expression shown previously. </a:t>
            </a:r>
            <a:endParaRPr sz="1200"/>
          </a:p>
        </p:txBody>
      </p:sp>
      <p:sp>
        <p:nvSpPr>
          <p:cNvPr id="1121" name="Google Shape;1121;p118"/>
          <p:cNvSpPr txBox="1"/>
          <p:nvPr/>
        </p:nvSpPr>
        <p:spPr>
          <a:xfrm>
            <a:off x="5246050" y="1572775"/>
            <a:ext cx="3706500" cy="353100"/>
          </a:xfrm>
          <a:prstGeom prst="rect">
            <a:avLst/>
          </a:prstGeom>
          <a:solidFill>
            <a:schemeClr val="l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+ 2 * + 3 1 - 5 2</a:t>
            </a:r>
            <a:endParaRPr sz="1600">
              <a:latin typeface="Consolas"/>
              <a:ea typeface="Consolas"/>
              <a:cs typeface="Consolas"/>
              <a:sym typeface="Consolas"/>
            </a:endParaRPr>
          </a:p>
        </p:txBody>
      </p:sp>
      <p:sp>
        <p:nvSpPr>
          <p:cNvPr id="1122" name="Google Shape;1122;p118"/>
          <p:cNvSpPr txBox="1"/>
          <p:nvPr>
            <p:ph idx="3" type="body"/>
          </p:nvPr>
        </p:nvSpPr>
        <p:spPr>
          <a:xfrm>
            <a:off x="5246050" y="4390000"/>
            <a:ext cx="3706500" cy="5154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Each </a:t>
            </a:r>
            <a:r>
              <a:rPr b="1" i="1" lang="en" sz="1200">
                <a:solidFill>
                  <a:srgbClr val="FF0000"/>
                </a:solidFill>
              </a:rPr>
              <a:t>binary expression</a:t>
            </a:r>
            <a:r>
              <a:rPr lang="en" sz="1200"/>
              <a:t> in this tree must evaluate both of its expressions before applying the operator.</a:t>
            </a:r>
            <a:endParaRPr sz="1200"/>
          </a:p>
        </p:txBody>
      </p:sp>
      <p:sp>
        <p:nvSpPr>
          <p:cNvPr id="1123" name="Google Shape;1123;p118"/>
          <p:cNvSpPr/>
          <p:nvPr/>
        </p:nvSpPr>
        <p:spPr>
          <a:xfrm>
            <a:off x="6659588" y="2063025"/>
            <a:ext cx="393600" cy="393600"/>
          </a:xfrm>
          <a:prstGeom prst="ellipse">
            <a:avLst/>
          </a:prstGeom>
          <a:solidFill>
            <a:srgbClr val="FF0000"/>
          </a:solidFill>
          <a:ln cap="flat" cmpd="sng" w="2857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grpSp>
        <p:nvGrpSpPr>
          <p:cNvPr id="1124" name="Google Shape;1124;p118"/>
          <p:cNvGrpSpPr/>
          <p:nvPr/>
        </p:nvGrpSpPr>
        <p:grpSpPr>
          <a:xfrm>
            <a:off x="5975375" y="2259825"/>
            <a:ext cx="684213" cy="787350"/>
            <a:chOff x="5975375" y="2259825"/>
            <a:chExt cx="684213" cy="787350"/>
          </a:xfrm>
        </p:grpSpPr>
        <p:sp>
          <p:nvSpPr>
            <p:cNvPr id="1125" name="Google Shape;1125;p118"/>
            <p:cNvSpPr/>
            <p:nvPr/>
          </p:nvSpPr>
          <p:spPr>
            <a:xfrm>
              <a:off x="5975375" y="2653575"/>
              <a:ext cx="393600" cy="393600"/>
            </a:xfrm>
            <a:prstGeom prst="ellipse">
              <a:avLst/>
            </a:prstGeom>
            <a:solidFill>
              <a:srgbClr val="38761D"/>
            </a:solidFill>
            <a:ln cap="flat" cmpd="sng" w="2857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2</a:t>
              </a:r>
              <a:endParaRPr>
                <a:solidFill>
                  <a:srgbClr val="FFFFFF"/>
                </a:solidFill>
                <a:latin typeface="Consolas"/>
                <a:ea typeface="Consolas"/>
                <a:cs typeface="Consolas"/>
                <a:sym typeface="Consolas"/>
              </a:endParaRPr>
            </a:p>
          </p:txBody>
        </p:sp>
        <p:cxnSp>
          <p:nvCxnSpPr>
            <p:cNvPr id="1126" name="Google Shape;1126;p118"/>
            <p:cNvCxnSpPr>
              <a:stCxn id="1123" idx="2"/>
              <a:endCxn id="1125" idx="0"/>
            </p:cNvCxnSpPr>
            <p:nvPr/>
          </p:nvCxnSpPr>
          <p:spPr>
            <a:xfrm flipH="1">
              <a:off x="6172088" y="2259825"/>
              <a:ext cx="487500" cy="393900"/>
            </a:xfrm>
            <a:prstGeom prst="curvedConnector2">
              <a:avLst/>
            </a:prstGeom>
            <a:noFill/>
            <a:ln cap="flat" cmpd="sng" w="28575">
              <a:solidFill>
                <a:srgbClr val="FFFFFF"/>
              </a:solidFill>
              <a:prstDash val="solid"/>
              <a:round/>
              <a:headEnd len="med" w="med" type="none"/>
              <a:tailEnd len="med" w="med" type="none"/>
            </a:ln>
          </p:spPr>
        </p:cxnSp>
      </p:grpSp>
      <p:grpSp>
        <p:nvGrpSpPr>
          <p:cNvPr id="1127" name="Google Shape;1127;p118"/>
          <p:cNvGrpSpPr/>
          <p:nvPr/>
        </p:nvGrpSpPr>
        <p:grpSpPr>
          <a:xfrm>
            <a:off x="7053100" y="2259825"/>
            <a:ext cx="684300" cy="806400"/>
            <a:chOff x="7053100" y="2259825"/>
            <a:chExt cx="684300" cy="806400"/>
          </a:xfrm>
        </p:grpSpPr>
        <p:sp>
          <p:nvSpPr>
            <p:cNvPr id="1128" name="Google Shape;1128;p118"/>
            <p:cNvSpPr/>
            <p:nvPr/>
          </p:nvSpPr>
          <p:spPr>
            <a:xfrm>
              <a:off x="7343800" y="2672625"/>
              <a:ext cx="393600" cy="393600"/>
            </a:xfrm>
            <a:prstGeom prst="ellipse">
              <a:avLst/>
            </a:prstGeom>
            <a:solidFill>
              <a:srgbClr val="FF0000"/>
            </a:solidFill>
            <a:ln cap="flat" cmpd="sng" w="2857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cxnSp>
          <p:nvCxnSpPr>
            <p:cNvPr id="1129" name="Google Shape;1129;p118"/>
            <p:cNvCxnSpPr>
              <a:endCxn id="1128" idx="0"/>
            </p:cNvCxnSpPr>
            <p:nvPr/>
          </p:nvCxnSpPr>
          <p:spPr>
            <a:xfrm>
              <a:off x="7053100" y="2259825"/>
              <a:ext cx="487500" cy="412800"/>
            </a:xfrm>
            <a:prstGeom prst="curvedConnector2">
              <a:avLst/>
            </a:prstGeom>
            <a:noFill/>
            <a:ln cap="flat" cmpd="sng" w="28575">
              <a:solidFill>
                <a:srgbClr val="FFFFFF"/>
              </a:solidFill>
              <a:prstDash val="solid"/>
              <a:round/>
              <a:headEnd len="med" w="med" type="none"/>
              <a:tailEnd len="med" w="med" type="none"/>
            </a:ln>
          </p:spPr>
        </p:cxnSp>
      </p:grpSp>
      <p:grpSp>
        <p:nvGrpSpPr>
          <p:cNvPr id="1130" name="Google Shape;1130;p118"/>
          <p:cNvGrpSpPr/>
          <p:nvPr/>
        </p:nvGrpSpPr>
        <p:grpSpPr>
          <a:xfrm>
            <a:off x="6658000" y="2869425"/>
            <a:ext cx="685800" cy="806400"/>
            <a:chOff x="6658000" y="2869425"/>
            <a:chExt cx="685800" cy="806400"/>
          </a:xfrm>
        </p:grpSpPr>
        <p:sp>
          <p:nvSpPr>
            <p:cNvPr id="1131" name="Google Shape;1131;p118"/>
            <p:cNvSpPr/>
            <p:nvPr/>
          </p:nvSpPr>
          <p:spPr>
            <a:xfrm>
              <a:off x="6658000" y="3282225"/>
              <a:ext cx="393600" cy="393600"/>
            </a:xfrm>
            <a:prstGeom prst="ellipse">
              <a:avLst/>
            </a:prstGeom>
            <a:solidFill>
              <a:srgbClr val="FF0000"/>
            </a:solidFill>
            <a:ln cap="flat" cmpd="sng" w="2857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cxnSp>
          <p:nvCxnSpPr>
            <p:cNvPr id="1132" name="Google Shape;1132;p118"/>
            <p:cNvCxnSpPr>
              <a:stCxn id="1128" idx="2"/>
              <a:endCxn id="1131" idx="0"/>
            </p:cNvCxnSpPr>
            <p:nvPr/>
          </p:nvCxnSpPr>
          <p:spPr>
            <a:xfrm flipH="1">
              <a:off x="6854800" y="2869425"/>
              <a:ext cx="489000" cy="412800"/>
            </a:xfrm>
            <a:prstGeom prst="curvedConnector2">
              <a:avLst/>
            </a:prstGeom>
            <a:noFill/>
            <a:ln cap="flat" cmpd="sng" w="28575">
              <a:solidFill>
                <a:srgbClr val="FFFFFF"/>
              </a:solidFill>
              <a:prstDash val="solid"/>
              <a:round/>
              <a:headEnd len="med" w="med" type="none"/>
              <a:tailEnd len="med" w="med" type="none"/>
            </a:ln>
          </p:spPr>
        </p:cxnSp>
      </p:grpSp>
      <p:grpSp>
        <p:nvGrpSpPr>
          <p:cNvPr id="1133" name="Google Shape;1133;p118"/>
          <p:cNvGrpSpPr/>
          <p:nvPr/>
        </p:nvGrpSpPr>
        <p:grpSpPr>
          <a:xfrm>
            <a:off x="7737400" y="2869425"/>
            <a:ext cx="685800" cy="806400"/>
            <a:chOff x="7737400" y="2869425"/>
            <a:chExt cx="685800" cy="806400"/>
          </a:xfrm>
        </p:grpSpPr>
        <p:sp>
          <p:nvSpPr>
            <p:cNvPr id="1134" name="Google Shape;1134;p118"/>
            <p:cNvSpPr/>
            <p:nvPr/>
          </p:nvSpPr>
          <p:spPr>
            <a:xfrm>
              <a:off x="8029600" y="3282225"/>
              <a:ext cx="393600" cy="393600"/>
            </a:xfrm>
            <a:prstGeom prst="ellipse">
              <a:avLst/>
            </a:prstGeom>
            <a:solidFill>
              <a:srgbClr val="FF0000"/>
            </a:solidFill>
            <a:ln cap="flat" cmpd="sng" w="2857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cxnSp>
          <p:nvCxnSpPr>
            <p:cNvPr id="1135" name="Google Shape;1135;p118"/>
            <p:cNvCxnSpPr>
              <a:endCxn id="1134" idx="0"/>
            </p:cNvCxnSpPr>
            <p:nvPr/>
          </p:nvCxnSpPr>
          <p:spPr>
            <a:xfrm>
              <a:off x="7737400" y="2869425"/>
              <a:ext cx="489000" cy="412800"/>
            </a:xfrm>
            <a:prstGeom prst="curvedConnector2">
              <a:avLst/>
            </a:prstGeom>
            <a:noFill/>
            <a:ln cap="flat" cmpd="sng" w="28575">
              <a:solidFill>
                <a:srgbClr val="FFFFFF"/>
              </a:solidFill>
              <a:prstDash val="solid"/>
              <a:round/>
              <a:headEnd len="med" w="med" type="none"/>
              <a:tailEnd len="med" w="med" type="none"/>
            </a:ln>
          </p:spPr>
        </p:cxnSp>
      </p:grpSp>
      <p:grpSp>
        <p:nvGrpSpPr>
          <p:cNvPr id="1136" name="Google Shape;1136;p118"/>
          <p:cNvGrpSpPr/>
          <p:nvPr/>
        </p:nvGrpSpPr>
        <p:grpSpPr>
          <a:xfrm>
            <a:off x="6264400" y="3479025"/>
            <a:ext cx="393600" cy="689450"/>
            <a:chOff x="6264400" y="3479025"/>
            <a:chExt cx="393600" cy="689450"/>
          </a:xfrm>
        </p:grpSpPr>
        <p:sp>
          <p:nvSpPr>
            <p:cNvPr id="1137" name="Google Shape;1137;p118"/>
            <p:cNvSpPr/>
            <p:nvPr/>
          </p:nvSpPr>
          <p:spPr>
            <a:xfrm>
              <a:off x="6264400" y="3774875"/>
              <a:ext cx="393600" cy="393600"/>
            </a:xfrm>
            <a:prstGeom prst="ellipse">
              <a:avLst/>
            </a:prstGeom>
            <a:solidFill>
              <a:srgbClr val="38761D"/>
            </a:solidFill>
            <a:ln cap="flat" cmpd="sng" w="2857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3</a:t>
              </a:r>
              <a:endParaRPr>
                <a:solidFill>
                  <a:srgbClr val="FFFFFF"/>
                </a:solidFill>
                <a:latin typeface="Consolas"/>
                <a:ea typeface="Consolas"/>
                <a:cs typeface="Consolas"/>
                <a:sym typeface="Consolas"/>
              </a:endParaRPr>
            </a:p>
          </p:txBody>
        </p:sp>
        <p:cxnSp>
          <p:nvCxnSpPr>
            <p:cNvPr id="1138" name="Google Shape;1138;p118"/>
            <p:cNvCxnSpPr>
              <a:stCxn id="1131" idx="2"/>
              <a:endCxn id="1137" idx="0"/>
            </p:cNvCxnSpPr>
            <p:nvPr/>
          </p:nvCxnSpPr>
          <p:spPr>
            <a:xfrm flipH="1">
              <a:off x="6461200" y="3479025"/>
              <a:ext cx="196800" cy="295800"/>
            </a:xfrm>
            <a:prstGeom prst="curvedConnector2">
              <a:avLst/>
            </a:prstGeom>
            <a:noFill/>
            <a:ln cap="flat" cmpd="sng" w="28575">
              <a:solidFill>
                <a:srgbClr val="FFFFFF"/>
              </a:solidFill>
              <a:prstDash val="solid"/>
              <a:round/>
              <a:headEnd len="med" w="med" type="none"/>
              <a:tailEnd len="med" w="med" type="none"/>
            </a:ln>
          </p:spPr>
        </p:cxnSp>
      </p:grpSp>
      <p:grpSp>
        <p:nvGrpSpPr>
          <p:cNvPr id="1139" name="Google Shape;1139;p118"/>
          <p:cNvGrpSpPr/>
          <p:nvPr/>
        </p:nvGrpSpPr>
        <p:grpSpPr>
          <a:xfrm>
            <a:off x="7026400" y="3479025"/>
            <a:ext cx="393600" cy="689450"/>
            <a:chOff x="7026400" y="3479025"/>
            <a:chExt cx="393600" cy="689450"/>
          </a:xfrm>
        </p:grpSpPr>
        <p:sp>
          <p:nvSpPr>
            <p:cNvPr id="1140" name="Google Shape;1140;p118"/>
            <p:cNvSpPr/>
            <p:nvPr/>
          </p:nvSpPr>
          <p:spPr>
            <a:xfrm>
              <a:off x="7026400" y="3774875"/>
              <a:ext cx="393600" cy="393600"/>
            </a:xfrm>
            <a:prstGeom prst="ellipse">
              <a:avLst/>
            </a:prstGeom>
            <a:solidFill>
              <a:srgbClr val="38761D"/>
            </a:solidFill>
            <a:ln cap="flat" cmpd="sng" w="2857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1</a:t>
              </a:r>
              <a:endParaRPr>
                <a:solidFill>
                  <a:srgbClr val="FFFFFF"/>
                </a:solidFill>
                <a:latin typeface="Consolas"/>
                <a:ea typeface="Consolas"/>
                <a:cs typeface="Consolas"/>
                <a:sym typeface="Consolas"/>
              </a:endParaRPr>
            </a:p>
          </p:txBody>
        </p:sp>
        <p:cxnSp>
          <p:nvCxnSpPr>
            <p:cNvPr id="1141" name="Google Shape;1141;p118"/>
            <p:cNvCxnSpPr>
              <a:stCxn id="1131" idx="6"/>
              <a:endCxn id="1140" idx="0"/>
            </p:cNvCxnSpPr>
            <p:nvPr/>
          </p:nvCxnSpPr>
          <p:spPr>
            <a:xfrm>
              <a:off x="7051600" y="3479025"/>
              <a:ext cx="171600" cy="295800"/>
            </a:xfrm>
            <a:prstGeom prst="curvedConnector2">
              <a:avLst/>
            </a:prstGeom>
            <a:noFill/>
            <a:ln cap="flat" cmpd="sng" w="28575">
              <a:solidFill>
                <a:srgbClr val="FFFFFF"/>
              </a:solidFill>
              <a:prstDash val="solid"/>
              <a:round/>
              <a:headEnd len="med" w="med" type="none"/>
              <a:tailEnd len="med" w="med" type="none"/>
            </a:ln>
          </p:spPr>
        </p:cxnSp>
      </p:grpSp>
      <p:grpSp>
        <p:nvGrpSpPr>
          <p:cNvPr id="1142" name="Google Shape;1142;p118"/>
          <p:cNvGrpSpPr/>
          <p:nvPr/>
        </p:nvGrpSpPr>
        <p:grpSpPr>
          <a:xfrm>
            <a:off x="7636000" y="3479025"/>
            <a:ext cx="393600" cy="689450"/>
            <a:chOff x="7636000" y="3479025"/>
            <a:chExt cx="393600" cy="689450"/>
          </a:xfrm>
        </p:grpSpPr>
        <p:sp>
          <p:nvSpPr>
            <p:cNvPr id="1143" name="Google Shape;1143;p118"/>
            <p:cNvSpPr/>
            <p:nvPr/>
          </p:nvSpPr>
          <p:spPr>
            <a:xfrm>
              <a:off x="7636000" y="3774875"/>
              <a:ext cx="393600" cy="393600"/>
            </a:xfrm>
            <a:prstGeom prst="ellipse">
              <a:avLst/>
            </a:prstGeom>
            <a:solidFill>
              <a:srgbClr val="38761D"/>
            </a:solidFill>
            <a:ln cap="flat" cmpd="sng" w="2857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5</a:t>
              </a:r>
              <a:endParaRPr>
                <a:solidFill>
                  <a:srgbClr val="FFFFFF"/>
                </a:solidFill>
                <a:latin typeface="Consolas"/>
                <a:ea typeface="Consolas"/>
                <a:cs typeface="Consolas"/>
                <a:sym typeface="Consolas"/>
              </a:endParaRPr>
            </a:p>
          </p:txBody>
        </p:sp>
        <p:cxnSp>
          <p:nvCxnSpPr>
            <p:cNvPr id="1144" name="Google Shape;1144;p118"/>
            <p:cNvCxnSpPr>
              <a:stCxn id="1134" idx="2"/>
              <a:endCxn id="1143" idx="0"/>
            </p:cNvCxnSpPr>
            <p:nvPr/>
          </p:nvCxnSpPr>
          <p:spPr>
            <a:xfrm flipH="1">
              <a:off x="7832800" y="3479025"/>
              <a:ext cx="196800" cy="295800"/>
            </a:xfrm>
            <a:prstGeom prst="curvedConnector2">
              <a:avLst/>
            </a:prstGeom>
            <a:noFill/>
            <a:ln cap="flat" cmpd="sng" w="28575">
              <a:solidFill>
                <a:srgbClr val="FFFFFF"/>
              </a:solidFill>
              <a:prstDash val="solid"/>
              <a:round/>
              <a:headEnd len="med" w="med" type="none"/>
              <a:tailEnd len="med" w="med" type="none"/>
            </a:ln>
          </p:spPr>
        </p:cxnSp>
      </p:grpSp>
      <p:grpSp>
        <p:nvGrpSpPr>
          <p:cNvPr id="1145" name="Google Shape;1145;p118"/>
          <p:cNvGrpSpPr/>
          <p:nvPr/>
        </p:nvGrpSpPr>
        <p:grpSpPr>
          <a:xfrm>
            <a:off x="8398000" y="3479025"/>
            <a:ext cx="393600" cy="689450"/>
            <a:chOff x="8398000" y="3479025"/>
            <a:chExt cx="393600" cy="689450"/>
          </a:xfrm>
        </p:grpSpPr>
        <p:sp>
          <p:nvSpPr>
            <p:cNvPr id="1146" name="Google Shape;1146;p118"/>
            <p:cNvSpPr/>
            <p:nvPr/>
          </p:nvSpPr>
          <p:spPr>
            <a:xfrm>
              <a:off x="8398000" y="3774875"/>
              <a:ext cx="393600" cy="393600"/>
            </a:xfrm>
            <a:prstGeom prst="ellipse">
              <a:avLst/>
            </a:prstGeom>
            <a:solidFill>
              <a:srgbClr val="38761D"/>
            </a:solidFill>
            <a:ln cap="flat" cmpd="sng" w="2857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2</a:t>
              </a:r>
              <a:endParaRPr>
                <a:solidFill>
                  <a:srgbClr val="FFFFFF"/>
                </a:solidFill>
                <a:latin typeface="Consolas"/>
                <a:ea typeface="Consolas"/>
                <a:cs typeface="Consolas"/>
                <a:sym typeface="Consolas"/>
              </a:endParaRPr>
            </a:p>
          </p:txBody>
        </p:sp>
        <p:cxnSp>
          <p:nvCxnSpPr>
            <p:cNvPr id="1147" name="Google Shape;1147;p118"/>
            <p:cNvCxnSpPr>
              <a:stCxn id="1134" idx="6"/>
              <a:endCxn id="1146" idx="0"/>
            </p:cNvCxnSpPr>
            <p:nvPr/>
          </p:nvCxnSpPr>
          <p:spPr>
            <a:xfrm>
              <a:off x="8423200" y="3479025"/>
              <a:ext cx="171600" cy="295800"/>
            </a:xfrm>
            <a:prstGeom prst="curvedConnector2">
              <a:avLst/>
            </a:prstGeom>
            <a:noFill/>
            <a:ln cap="flat" cmpd="sng" w="28575">
              <a:solidFill>
                <a:srgbClr val="FFFFFF"/>
              </a:solidFill>
              <a:prstDash val="solid"/>
              <a:round/>
              <a:headEnd len="med" w="med" type="none"/>
              <a:tailEnd len="med" w="med" type="none"/>
            </a:ln>
          </p:spPr>
        </p:cxnSp>
      </p:grpSp>
      <p:sp>
        <p:nvSpPr>
          <p:cNvPr id="1148" name="Google Shape;1148;p118"/>
          <p:cNvSpPr txBox="1"/>
          <p:nvPr/>
        </p:nvSpPr>
        <p:spPr>
          <a:xfrm>
            <a:off x="6437325" y="3009913"/>
            <a:ext cx="393600" cy="35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Shadows Into Light"/>
                <a:ea typeface="Shadows Into Light"/>
                <a:cs typeface="Shadows Into Light"/>
                <a:sym typeface="Shadows Into Light"/>
              </a:rPr>
              <a:t>4</a:t>
            </a:r>
            <a:endParaRPr sz="1800">
              <a:solidFill>
                <a:srgbClr val="FFFFFF"/>
              </a:solidFill>
              <a:latin typeface="Shadows Into Light"/>
              <a:ea typeface="Shadows Into Light"/>
              <a:cs typeface="Shadows Into Light"/>
              <a:sym typeface="Shadows Into Light"/>
            </a:endParaRPr>
          </a:p>
        </p:txBody>
      </p:sp>
      <p:sp>
        <p:nvSpPr>
          <p:cNvPr id="1149" name="Google Shape;1149;p118"/>
          <p:cNvSpPr txBox="1"/>
          <p:nvPr/>
        </p:nvSpPr>
        <p:spPr>
          <a:xfrm>
            <a:off x="8266125" y="3009913"/>
            <a:ext cx="393600" cy="35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Shadows Into Light"/>
                <a:ea typeface="Shadows Into Light"/>
                <a:cs typeface="Shadows Into Light"/>
                <a:sym typeface="Shadows Into Light"/>
              </a:rPr>
              <a:t>3</a:t>
            </a:r>
            <a:endParaRPr sz="1800">
              <a:solidFill>
                <a:srgbClr val="FFFFFF"/>
              </a:solidFill>
              <a:latin typeface="Shadows Into Light"/>
              <a:ea typeface="Shadows Into Light"/>
              <a:cs typeface="Shadows Into Light"/>
              <a:sym typeface="Shadows Into Light"/>
            </a:endParaRPr>
          </a:p>
        </p:txBody>
      </p:sp>
      <p:sp>
        <p:nvSpPr>
          <p:cNvPr id="1150" name="Google Shape;1150;p118"/>
          <p:cNvSpPr txBox="1"/>
          <p:nvPr/>
        </p:nvSpPr>
        <p:spPr>
          <a:xfrm>
            <a:off x="7504125" y="2324113"/>
            <a:ext cx="393600" cy="35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Shadows Into Light"/>
                <a:ea typeface="Shadows Into Light"/>
                <a:cs typeface="Shadows Into Light"/>
                <a:sym typeface="Shadows Into Light"/>
              </a:rPr>
              <a:t>12</a:t>
            </a:r>
            <a:endParaRPr sz="1800">
              <a:solidFill>
                <a:srgbClr val="FFFFFF"/>
              </a:solidFill>
              <a:latin typeface="Shadows Into Light"/>
              <a:ea typeface="Shadows Into Light"/>
              <a:cs typeface="Shadows Into Light"/>
              <a:sym typeface="Shadows Into Light"/>
            </a:endParaRPr>
          </a:p>
        </p:txBody>
      </p:sp>
      <p:sp>
        <p:nvSpPr>
          <p:cNvPr id="1151" name="Google Shape;1151;p118"/>
          <p:cNvSpPr txBox="1"/>
          <p:nvPr/>
        </p:nvSpPr>
        <p:spPr>
          <a:xfrm>
            <a:off x="7023113" y="1919300"/>
            <a:ext cx="393600" cy="35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Shadows Into Light"/>
                <a:ea typeface="Shadows Into Light"/>
                <a:cs typeface="Shadows Into Light"/>
                <a:sym typeface="Shadows Into Light"/>
              </a:rPr>
              <a:t>14</a:t>
            </a:r>
            <a:endParaRPr sz="1800">
              <a:solidFill>
                <a:srgbClr val="FFFFFF"/>
              </a:solidFill>
              <a:latin typeface="Shadows Into Light"/>
              <a:ea typeface="Shadows Into Light"/>
              <a:cs typeface="Shadows Into Light"/>
              <a:sym typeface="Shadows In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0"/>
                                        </p:tgtEl>
                                        <p:attrNameLst>
                                          <p:attrName>style.visibility</p:attrName>
                                        </p:attrNameLst>
                                      </p:cBhvr>
                                      <p:to>
                                        <p:strVal val="visible"/>
                                      </p:to>
                                    </p:set>
                                    <p:animEffect filter="fade" transition="in">
                                      <p:cBhvr>
                                        <p:cTn dur="1000"/>
                                        <p:tgtEl>
                                          <p:spTgt spid="1120"/>
                                        </p:tgtEl>
                                      </p:cBhvr>
                                    </p:animEffect>
                                  </p:childTnLst>
                                </p:cTn>
                              </p:par>
                              <p:par>
                                <p:cTn fill="hold" nodeType="withEffect" presetClass="entr" presetID="10" presetSubtype="0">
                                  <p:stCondLst>
                                    <p:cond delay="0"/>
                                  </p:stCondLst>
                                  <p:childTnLst>
                                    <p:set>
                                      <p:cBhvr>
                                        <p:cTn dur="1" fill="hold">
                                          <p:stCondLst>
                                            <p:cond delay="0"/>
                                          </p:stCondLst>
                                        </p:cTn>
                                        <p:tgtEl>
                                          <p:spTgt spid="1121"/>
                                        </p:tgtEl>
                                        <p:attrNameLst>
                                          <p:attrName>style.visibility</p:attrName>
                                        </p:attrNameLst>
                                      </p:cBhvr>
                                      <p:to>
                                        <p:strVal val="visible"/>
                                      </p:to>
                                    </p:set>
                                    <p:animEffect filter="fade" transition="in">
                                      <p:cBhvr>
                                        <p:cTn dur="1000"/>
                                        <p:tgtEl>
                                          <p:spTgt spid="11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3"/>
                                        </p:tgtEl>
                                        <p:attrNameLst>
                                          <p:attrName>style.visibility</p:attrName>
                                        </p:attrNameLst>
                                      </p:cBhvr>
                                      <p:to>
                                        <p:strVal val="visible"/>
                                      </p:to>
                                    </p:set>
                                    <p:animEffect filter="fade" transition="in">
                                      <p:cBhvr>
                                        <p:cTn dur="1000"/>
                                        <p:tgtEl>
                                          <p:spTgt spid="11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4"/>
                                        </p:tgtEl>
                                        <p:attrNameLst>
                                          <p:attrName>style.visibility</p:attrName>
                                        </p:attrNameLst>
                                      </p:cBhvr>
                                      <p:to>
                                        <p:strVal val="visible"/>
                                      </p:to>
                                    </p:set>
                                    <p:animEffect filter="fade" transition="in">
                                      <p:cBhvr>
                                        <p:cTn dur="1000"/>
                                        <p:tgtEl>
                                          <p:spTgt spid="112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27"/>
                                        </p:tgtEl>
                                        <p:attrNameLst>
                                          <p:attrName>style.visibility</p:attrName>
                                        </p:attrNameLst>
                                      </p:cBhvr>
                                      <p:to>
                                        <p:strVal val="visible"/>
                                      </p:to>
                                    </p:set>
                                    <p:animEffect filter="fade" transition="in">
                                      <p:cBhvr>
                                        <p:cTn dur="1000"/>
                                        <p:tgtEl>
                                          <p:spTgt spid="11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0"/>
                                        </p:tgtEl>
                                        <p:attrNameLst>
                                          <p:attrName>style.visibility</p:attrName>
                                        </p:attrNameLst>
                                      </p:cBhvr>
                                      <p:to>
                                        <p:strVal val="visible"/>
                                      </p:to>
                                    </p:set>
                                    <p:animEffect filter="fade" transition="in">
                                      <p:cBhvr>
                                        <p:cTn dur="1000"/>
                                        <p:tgtEl>
                                          <p:spTgt spid="1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6"/>
                                        </p:tgtEl>
                                        <p:attrNameLst>
                                          <p:attrName>style.visibility</p:attrName>
                                        </p:attrNameLst>
                                      </p:cBhvr>
                                      <p:to>
                                        <p:strVal val="visible"/>
                                      </p:to>
                                    </p:set>
                                    <p:animEffect filter="fade" transition="in">
                                      <p:cBhvr>
                                        <p:cTn dur="1000"/>
                                        <p:tgtEl>
                                          <p:spTgt spid="113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39"/>
                                        </p:tgtEl>
                                        <p:attrNameLst>
                                          <p:attrName>style.visibility</p:attrName>
                                        </p:attrNameLst>
                                      </p:cBhvr>
                                      <p:to>
                                        <p:strVal val="visible"/>
                                      </p:to>
                                    </p:set>
                                    <p:animEffect filter="fade" transition="in">
                                      <p:cBhvr>
                                        <p:cTn dur="1000"/>
                                        <p:tgtEl>
                                          <p:spTgt spid="1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3"/>
                                        </p:tgtEl>
                                        <p:attrNameLst>
                                          <p:attrName>style.visibility</p:attrName>
                                        </p:attrNameLst>
                                      </p:cBhvr>
                                      <p:to>
                                        <p:strVal val="visible"/>
                                      </p:to>
                                    </p:set>
                                    <p:animEffect filter="fade" transition="in">
                                      <p:cBhvr>
                                        <p:cTn dur="1000"/>
                                        <p:tgtEl>
                                          <p:spTgt spid="1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2"/>
                                        </p:tgtEl>
                                        <p:attrNameLst>
                                          <p:attrName>style.visibility</p:attrName>
                                        </p:attrNameLst>
                                      </p:cBhvr>
                                      <p:to>
                                        <p:strVal val="visible"/>
                                      </p:to>
                                    </p:set>
                                    <p:animEffect filter="fade" transition="in">
                                      <p:cBhvr>
                                        <p:cTn dur="1000"/>
                                        <p:tgtEl>
                                          <p:spTgt spid="114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45"/>
                                        </p:tgtEl>
                                        <p:attrNameLst>
                                          <p:attrName>style.visibility</p:attrName>
                                        </p:attrNameLst>
                                      </p:cBhvr>
                                      <p:to>
                                        <p:strVal val="visible"/>
                                      </p:to>
                                    </p:set>
                                    <p:animEffect filter="fade" transition="in">
                                      <p:cBhvr>
                                        <p:cTn dur="1000"/>
                                        <p:tgtEl>
                                          <p:spTgt spid="1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2"/>
                                        </p:tgtEl>
                                        <p:attrNameLst>
                                          <p:attrName>style.visibility</p:attrName>
                                        </p:attrNameLst>
                                      </p:cBhvr>
                                      <p:to>
                                        <p:strVal val="visible"/>
                                      </p:to>
                                    </p:set>
                                    <p:animEffect filter="fade" transition="in">
                                      <p:cBhvr>
                                        <p:cTn dur="1000"/>
                                        <p:tgtEl>
                                          <p:spTgt spid="11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8"/>
                                        </p:tgtEl>
                                        <p:attrNameLst>
                                          <p:attrName>style.visibility</p:attrName>
                                        </p:attrNameLst>
                                      </p:cBhvr>
                                      <p:to>
                                        <p:strVal val="visible"/>
                                      </p:to>
                                    </p:set>
                                    <p:animEffect filter="fade" transition="in">
                                      <p:cBhvr>
                                        <p:cTn dur="1000"/>
                                        <p:tgtEl>
                                          <p:spTgt spid="1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9"/>
                                        </p:tgtEl>
                                        <p:attrNameLst>
                                          <p:attrName>style.visibility</p:attrName>
                                        </p:attrNameLst>
                                      </p:cBhvr>
                                      <p:to>
                                        <p:strVal val="visible"/>
                                      </p:to>
                                    </p:set>
                                    <p:animEffect filter="fade" transition="in">
                                      <p:cBhvr>
                                        <p:cTn dur="1000"/>
                                        <p:tgtEl>
                                          <p:spTgt spid="1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0"/>
                                        </p:tgtEl>
                                        <p:attrNameLst>
                                          <p:attrName>style.visibility</p:attrName>
                                        </p:attrNameLst>
                                      </p:cBhvr>
                                      <p:to>
                                        <p:strVal val="visible"/>
                                      </p:to>
                                    </p:set>
                                    <p:animEffect filter="fade" transition="in">
                                      <p:cBhvr>
                                        <p:cTn dur="1000"/>
                                        <p:tgtEl>
                                          <p:spTgt spid="11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1"/>
                                        </p:tgtEl>
                                        <p:attrNameLst>
                                          <p:attrName>style.visibility</p:attrName>
                                        </p:attrNameLst>
                                      </p:cBhvr>
                                      <p:to>
                                        <p:strVal val="visible"/>
                                      </p:to>
                                    </p:set>
                                    <p:animEffect filter="fade" transition="in">
                                      <p:cBhvr>
                                        <p:cTn dur="1000"/>
                                        <p:tgtEl>
                                          <p:spTgt spid="1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graphicFrame>
        <p:nvGraphicFramePr>
          <p:cNvPr id="1156" name="Google Shape;1156;p119"/>
          <p:cNvGraphicFramePr/>
          <p:nvPr/>
        </p:nvGraphicFramePr>
        <p:xfrm>
          <a:off x="2507450" y="1521650"/>
          <a:ext cx="3000000" cy="3000000"/>
        </p:xfrm>
        <a:graphic>
          <a:graphicData uri="http://schemas.openxmlformats.org/drawingml/2006/table">
            <a:tbl>
              <a:tblPr>
                <a:noFill/>
                <a:tableStyleId>{BB7116F7-C15E-4CF7-A1A4-3F0B48A09751}</a:tableStyleId>
              </a:tblPr>
              <a:tblGrid>
                <a:gridCol w="3073800"/>
                <a:gridCol w="3073800"/>
              </a:tblGrid>
              <a:tr h="381000">
                <a:tc>
                  <a:txBody>
                    <a:bodyPr/>
                    <a:lstStyle/>
                    <a:p>
                      <a:pPr indent="0" lvl="0" marL="0" rtl="0" algn="l">
                        <a:spcBef>
                          <a:spcPts val="0"/>
                        </a:spcBef>
                        <a:spcAft>
                          <a:spcPts val="0"/>
                        </a:spcAft>
                        <a:buNone/>
                      </a:pPr>
                      <a:r>
                        <a:rPr lang="en">
                          <a:solidFill>
                            <a:srgbClr val="FFFFFF"/>
                          </a:solidFill>
                        </a:rPr>
                        <a:t>Expression</a:t>
                      </a:r>
                      <a:endParaRPr>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l">
                        <a:spcBef>
                          <a:spcPts val="0"/>
                        </a:spcBef>
                        <a:spcAft>
                          <a:spcPts val="0"/>
                        </a:spcAft>
                        <a:buNone/>
                      </a:pPr>
                      <a:r>
                        <a:rPr lang="en">
                          <a:solidFill>
                            <a:srgbClr val="FFFFFF"/>
                          </a:solidFill>
                        </a:rPr>
                        <a:t>Final Result</a:t>
                      </a:r>
                      <a:endParaRPr>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381000">
                <a:tc>
                  <a:txBody>
                    <a:bodyPr/>
                    <a:lstStyle/>
                    <a:p>
                      <a:pPr indent="0" lvl="0" marL="0" rtl="0" algn="l">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solidFill>
                          <a:srgbClr val="FF0000"/>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rtl="0" algn="l">
                        <a:spcBef>
                          <a:spcPts val="0"/>
                        </a:spcBef>
                        <a:spcAft>
                          <a:spcPts val="0"/>
                        </a:spcAft>
                        <a:buNone/>
                      </a:pPr>
                      <a:r>
                        <a:rPr lang="en">
                          <a:latin typeface="Consolas"/>
                          <a:ea typeface="Consolas"/>
                          <a:cs typeface="Consolas"/>
                          <a:sym typeface="Consolas"/>
                        </a:rPr>
                        <a:t>++ 5.6</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solidFill>
                          <a:srgbClr val="FF0000"/>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rtl="0" algn="l">
                        <a:spcBef>
                          <a:spcPts val="0"/>
                        </a:spcBef>
                        <a:spcAft>
                          <a:spcPts val="0"/>
                        </a:spcAft>
                        <a:buNone/>
                      </a:pPr>
                      <a:r>
                        <a:rPr lang="en">
                          <a:latin typeface="Consolas"/>
                          <a:ea typeface="Consolas"/>
                          <a:cs typeface="Consolas"/>
                          <a:sym typeface="Consolas"/>
                        </a:rPr>
                        <a:t>+ 2 3</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solidFill>
                          <a:srgbClr val="FF0000"/>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rtl="0" algn="l">
                        <a:spcBef>
                          <a:spcPts val="0"/>
                        </a:spcBef>
                        <a:spcAft>
                          <a:spcPts val="0"/>
                        </a:spcAft>
                        <a:buNone/>
                      </a:pPr>
                      <a:r>
                        <a:rPr lang="en">
                          <a:latin typeface="Consolas"/>
                          <a:ea typeface="Consolas"/>
                          <a:cs typeface="Consolas"/>
                          <a:sym typeface="Consolas"/>
                        </a:rPr>
                        <a:t>+ </a:t>
                      </a:r>
                      <a:r>
                        <a:rPr lang="en">
                          <a:latin typeface="Consolas"/>
                          <a:ea typeface="Consolas"/>
                          <a:cs typeface="Consolas"/>
                          <a:sym typeface="Consolas"/>
                        </a:rPr>
                        <a:t>++ 2 ++ 3</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solidFill>
                          <a:srgbClr val="FF0000"/>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rtl="0" algn="l">
                        <a:spcBef>
                          <a:spcPts val="0"/>
                        </a:spcBef>
                        <a:spcAft>
                          <a:spcPts val="0"/>
                        </a:spcAft>
                        <a:buNone/>
                      </a:pPr>
                      <a:r>
                        <a:rPr lang="en">
                          <a:latin typeface="Consolas"/>
                          <a:ea typeface="Consolas"/>
                          <a:cs typeface="Consolas"/>
                          <a:sym typeface="Consolas"/>
                        </a:rPr>
                        <a:t>+ 2 - 4 2</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solidFill>
                          <a:srgbClr val="FF0000"/>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rtl="0" algn="l">
                        <a:spcBef>
                          <a:spcPts val="0"/>
                        </a:spcBef>
                        <a:spcAft>
                          <a:spcPts val="0"/>
                        </a:spcAft>
                        <a:buNone/>
                      </a:pPr>
                      <a:r>
                        <a:rPr lang="en">
                          <a:latin typeface="Consolas"/>
                          <a:ea typeface="Consolas"/>
                          <a:cs typeface="Consolas"/>
                          <a:sym typeface="Consolas"/>
                        </a:rPr>
                        <a:t>* + 2 3 - 5 3</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solidFill>
                          <a:srgbClr val="FF0000"/>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rtl="0" algn="l">
                        <a:spcBef>
                          <a:spcPts val="0"/>
                        </a:spcBef>
                        <a:spcAft>
                          <a:spcPts val="0"/>
                        </a:spcAft>
                        <a:buNone/>
                      </a:pPr>
                      <a:r>
                        <a:rPr lang="en">
                          <a:latin typeface="Consolas"/>
                          <a:ea typeface="Consolas"/>
                          <a:cs typeface="Consolas"/>
                          <a:sym typeface="Consolas"/>
                        </a:rPr>
                        <a:t>+ - * 3 + 4 2 7 5</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solidFill>
                          <a:srgbClr val="FF0000"/>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sp>
        <p:nvSpPr>
          <p:cNvPr id="1157" name="Google Shape;1157;p119"/>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Before we start implementing our expression parser, let's practice </a:t>
            </a:r>
            <a:r>
              <a:rPr lang="en"/>
              <a:t>evaluating</a:t>
            </a:r>
            <a:r>
              <a:rPr lang="en"/>
              <a:t> prefix expressions by hand.</a:t>
            </a:r>
            <a:endParaRPr/>
          </a:p>
        </p:txBody>
      </p:sp>
      <p:sp>
        <p:nvSpPr>
          <p:cNvPr id="1158" name="Google Shape;1158;p1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59" name="Google Shape;1159;p11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Expression Practice</a:t>
            </a:r>
            <a:endParaRPr/>
          </a:p>
        </p:txBody>
      </p:sp>
      <p:sp>
        <p:nvSpPr>
          <p:cNvPr id="1160" name="Google Shape;1160;p11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3.25</a:t>
            </a:r>
            <a:endParaRPr/>
          </a:p>
        </p:txBody>
      </p:sp>
      <p:pic>
        <p:nvPicPr>
          <p:cNvPr id="1161" name="Google Shape;1161;p119"/>
          <p:cNvPicPr preferRelativeResize="0"/>
          <p:nvPr/>
        </p:nvPicPr>
        <p:blipFill rotWithShape="1">
          <a:blip r:embed="rId3">
            <a:alphaModFix/>
          </a:blip>
          <a:srcRect b="0" l="6938" r="8651" t="0"/>
          <a:stretch/>
        </p:blipFill>
        <p:spPr>
          <a:xfrm>
            <a:off x="71438" y="1521650"/>
            <a:ext cx="2412200" cy="2571876"/>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graphicFrame>
        <p:nvGraphicFramePr>
          <p:cNvPr id="1166" name="Google Shape;1166;p120"/>
          <p:cNvGraphicFramePr/>
          <p:nvPr/>
        </p:nvGraphicFramePr>
        <p:xfrm>
          <a:off x="2507450" y="1521650"/>
          <a:ext cx="3000000" cy="3000000"/>
        </p:xfrm>
        <a:graphic>
          <a:graphicData uri="http://schemas.openxmlformats.org/drawingml/2006/table">
            <a:tbl>
              <a:tblPr>
                <a:noFill/>
                <a:tableStyleId>{BB7116F7-C15E-4CF7-A1A4-3F0B48A09751}</a:tableStyleId>
              </a:tblPr>
              <a:tblGrid>
                <a:gridCol w="3073800"/>
                <a:gridCol w="3073800"/>
              </a:tblGrid>
              <a:tr h="381000">
                <a:tc>
                  <a:txBody>
                    <a:bodyPr/>
                    <a:lstStyle/>
                    <a:p>
                      <a:pPr indent="0" lvl="0" marL="0" rtl="0" algn="l">
                        <a:spcBef>
                          <a:spcPts val="0"/>
                        </a:spcBef>
                        <a:spcAft>
                          <a:spcPts val="0"/>
                        </a:spcAft>
                        <a:buNone/>
                      </a:pPr>
                      <a:r>
                        <a:rPr lang="en">
                          <a:solidFill>
                            <a:srgbClr val="FFFFFF"/>
                          </a:solidFill>
                        </a:rPr>
                        <a:t>Expression</a:t>
                      </a:r>
                      <a:endParaRPr>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l">
                        <a:spcBef>
                          <a:spcPts val="0"/>
                        </a:spcBef>
                        <a:spcAft>
                          <a:spcPts val="0"/>
                        </a:spcAft>
                        <a:buNone/>
                      </a:pPr>
                      <a:r>
                        <a:rPr lang="en">
                          <a:solidFill>
                            <a:srgbClr val="FFFFFF"/>
                          </a:solidFill>
                        </a:rPr>
                        <a:t>Final Result</a:t>
                      </a:r>
                      <a:endParaRPr>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381000">
                <a:tc>
                  <a:txBody>
                    <a:bodyPr/>
                    <a:lstStyle/>
                    <a:p>
                      <a:pPr indent="0" lvl="0" marL="0" rtl="0" algn="l">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solidFill>
                          <a:srgbClr val="FF0000"/>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rtl="0" algn="l">
                        <a:spcBef>
                          <a:spcPts val="0"/>
                        </a:spcBef>
                        <a:spcAft>
                          <a:spcPts val="0"/>
                        </a:spcAft>
                        <a:buNone/>
                      </a:pPr>
                      <a:r>
                        <a:rPr lang="en">
                          <a:latin typeface="Consolas"/>
                          <a:ea typeface="Consolas"/>
                          <a:cs typeface="Consolas"/>
                          <a:sym typeface="Consolas"/>
                        </a:rPr>
                        <a:t>++ 5.6</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solidFill>
                          <a:srgbClr val="FF0000"/>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rtl="0" algn="l">
                        <a:spcBef>
                          <a:spcPts val="0"/>
                        </a:spcBef>
                        <a:spcAft>
                          <a:spcPts val="0"/>
                        </a:spcAft>
                        <a:buNone/>
                      </a:pPr>
                      <a:r>
                        <a:rPr lang="en">
                          <a:latin typeface="Consolas"/>
                          <a:ea typeface="Consolas"/>
                          <a:cs typeface="Consolas"/>
                          <a:sym typeface="Consolas"/>
                        </a:rPr>
                        <a:t>+ 2 3</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solidFill>
                          <a:srgbClr val="FF0000"/>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rtl="0" algn="l">
                        <a:spcBef>
                          <a:spcPts val="0"/>
                        </a:spcBef>
                        <a:spcAft>
                          <a:spcPts val="0"/>
                        </a:spcAft>
                        <a:buNone/>
                      </a:pPr>
                      <a:r>
                        <a:rPr lang="en">
                          <a:latin typeface="Consolas"/>
                          <a:ea typeface="Consolas"/>
                          <a:cs typeface="Consolas"/>
                          <a:sym typeface="Consolas"/>
                        </a:rPr>
                        <a:t>+ </a:t>
                      </a:r>
                      <a:r>
                        <a:rPr lang="en">
                          <a:latin typeface="Consolas"/>
                          <a:ea typeface="Consolas"/>
                          <a:cs typeface="Consolas"/>
                          <a:sym typeface="Consolas"/>
                        </a:rPr>
                        <a:t>++ 2 ++ 3</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solidFill>
                          <a:srgbClr val="FF0000"/>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rtl="0" algn="l">
                        <a:spcBef>
                          <a:spcPts val="0"/>
                        </a:spcBef>
                        <a:spcAft>
                          <a:spcPts val="0"/>
                        </a:spcAft>
                        <a:buNone/>
                      </a:pPr>
                      <a:r>
                        <a:rPr lang="en">
                          <a:latin typeface="Consolas"/>
                          <a:ea typeface="Consolas"/>
                          <a:cs typeface="Consolas"/>
                          <a:sym typeface="Consolas"/>
                        </a:rPr>
                        <a:t>+ 2 - 4 2</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solidFill>
                          <a:srgbClr val="FF0000"/>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rtl="0" algn="l">
                        <a:spcBef>
                          <a:spcPts val="0"/>
                        </a:spcBef>
                        <a:spcAft>
                          <a:spcPts val="0"/>
                        </a:spcAft>
                        <a:buNone/>
                      </a:pPr>
                      <a:r>
                        <a:rPr lang="en">
                          <a:latin typeface="Consolas"/>
                          <a:ea typeface="Consolas"/>
                          <a:cs typeface="Consolas"/>
                          <a:sym typeface="Consolas"/>
                        </a:rPr>
                        <a:t>* + 2 3 - 5 3</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solidFill>
                          <a:srgbClr val="FF0000"/>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rtl="0" algn="l">
                        <a:spcBef>
                          <a:spcPts val="0"/>
                        </a:spcBef>
                        <a:spcAft>
                          <a:spcPts val="0"/>
                        </a:spcAft>
                        <a:buNone/>
                      </a:pPr>
                      <a:r>
                        <a:rPr lang="en">
                          <a:latin typeface="Consolas"/>
                          <a:ea typeface="Consolas"/>
                          <a:cs typeface="Consolas"/>
                          <a:sym typeface="Consolas"/>
                        </a:rPr>
                        <a:t>+ - * 3 + 4 2 7 5</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a:solidFill>
                          <a:srgbClr val="FF0000"/>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sp>
        <p:nvSpPr>
          <p:cNvPr id="1167" name="Google Shape;1167;p120"/>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Before we start implementing our expression parser, let's practice evaluating prefix expressions by hand.</a:t>
            </a:r>
            <a:endParaRPr/>
          </a:p>
        </p:txBody>
      </p:sp>
      <p:sp>
        <p:nvSpPr>
          <p:cNvPr id="1168" name="Google Shape;1168;p1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69" name="Google Shape;1169;p120"/>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Expression Practice</a:t>
            </a:r>
            <a:endParaRPr/>
          </a:p>
        </p:txBody>
      </p:sp>
      <p:sp>
        <p:nvSpPr>
          <p:cNvPr id="1170" name="Google Shape;1170;p12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3.25</a:t>
            </a:r>
            <a:endParaRPr/>
          </a:p>
        </p:txBody>
      </p:sp>
      <p:pic>
        <p:nvPicPr>
          <p:cNvPr id="1171" name="Google Shape;1171;p120"/>
          <p:cNvPicPr preferRelativeResize="0"/>
          <p:nvPr/>
        </p:nvPicPr>
        <p:blipFill rotWithShape="1">
          <a:blip r:embed="rId3">
            <a:alphaModFix/>
          </a:blip>
          <a:srcRect b="0" l="6938" r="8651" t="0"/>
          <a:stretch/>
        </p:blipFill>
        <p:spPr>
          <a:xfrm>
            <a:off x="71438" y="1521650"/>
            <a:ext cx="2412200" cy="2571876"/>
          </a:xfrm>
          <a:prstGeom prst="rect">
            <a:avLst/>
          </a:prstGeom>
          <a:noFill/>
          <a:ln>
            <a:noFill/>
          </a:ln>
        </p:spPr>
      </p:pic>
      <p:sp>
        <p:nvSpPr>
          <p:cNvPr id="1172" name="Google Shape;1172;p120"/>
          <p:cNvSpPr txBox="1"/>
          <p:nvPr/>
        </p:nvSpPr>
        <p:spPr>
          <a:xfrm>
            <a:off x="5591577" y="1880234"/>
            <a:ext cx="3063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7</a:t>
            </a:r>
            <a:endParaRPr sz="2000">
              <a:solidFill>
                <a:srgbClr val="FF0000"/>
              </a:solidFill>
              <a:latin typeface="Shadows Into Light"/>
              <a:ea typeface="Shadows Into Light"/>
              <a:cs typeface="Shadows Into Light"/>
              <a:sym typeface="Shadows Into Light"/>
            </a:endParaRPr>
          </a:p>
        </p:txBody>
      </p:sp>
      <p:sp>
        <p:nvSpPr>
          <p:cNvPr id="1173" name="Google Shape;1173;p120"/>
          <p:cNvSpPr txBox="1"/>
          <p:nvPr/>
        </p:nvSpPr>
        <p:spPr>
          <a:xfrm>
            <a:off x="5591577" y="2261234"/>
            <a:ext cx="3063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6.6</a:t>
            </a:r>
            <a:endParaRPr sz="2000">
              <a:solidFill>
                <a:srgbClr val="FF0000"/>
              </a:solidFill>
              <a:latin typeface="Shadows Into Light"/>
              <a:ea typeface="Shadows Into Light"/>
              <a:cs typeface="Shadows Into Light"/>
              <a:sym typeface="Shadows Into Light"/>
            </a:endParaRPr>
          </a:p>
        </p:txBody>
      </p:sp>
      <p:sp>
        <p:nvSpPr>
          <p:cNvPr id="1174" name="Google Shape;1174;p120"/>
          <p:cNvSpPr txBox="1"/>
          <p:nvPr/>
        </p:nvSpPr>
        <p:spPr>
          <a:xfrm>
            <a:off x="5591577" y="2661167"/>
            <a:ext cx="3063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5</a:t>
            </a:r>
            <a:endParaRPr sz="2000">
              <a:solidFill>
                <a:srgbClr val="FF0000"/>
              </a:solidFill>
              <a:latin typeface="Shadows Into Light"/>
              <a:ea typeface="Shadows Into Light"/>
              <a:cs typeface="Shadows Into Light"/>
              <a:sym typeface="Shadows Into Light"/>
            </a:endParaRPr>
          </a:p>
        </p:txBody>
      </p:sp>
      <p:sp>
        <p:nvSpPr>
          <p:cNvPr id="1175" name="Google Shape;1175;p120"/>
          <p:cNvSpPr txBox="1"/>
          <p:nvPr/>
        </p:nvSpPr>
        <p:spPr>
          <a:xfrm>
            <a:off x="5591577" y="3061100"/>
            <a:ext cx="3063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7</a:t>
            </a:r>
            <a:endParaRPr sz="2000">
              <a:solidFill>
                <a:srgbClr val="FF0000"/>
              </a:solidFill>
              <a:latin typeface="Shadows Into Light"/>
              <a:ea typeface="Shadows Into Light"/>
              <a:cs typeface="Shadows Into Light"/>
              <a:sym typeface="Shadows Into Light"/>
            </a:endParaRPr>
          </a:p>
        </p:txBody>
      </p:sp>
      <p:sp>
        <p:nvSpPr>
          <p:cNvPr id="1176" name="Google Shape;1176;p120"/>
          <p:cNvSpPr txBox="1"/>
          <p:nvPr/>
        </p:nvSpPr>
        <p:spPr>
          <a:xfrm>
            <a:off x="5591577" y="3448411"/>
            <a:ext cx="3063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4</a:t>
            </a:r>
            <a:endParaRPr sz="2000">
              <a:solidFill>
                <a:srgbClr val="FF0000"/>
              </a:solidFill>
              <a:latin typeface="Shadows Into Light"/>
              <a:ea typeface="Shadows Into Light"/>
              <a:cs typeface="Shadows Into Light"/>
              <a:sym typeface="Shadows Into Light"/>
            </a:endParaRPr>
          </a:p>
        </p:txBody>
      </p:sp>
      <p:sp>
        <p:nvSpPr>
          <p:cNvPr id="1177" name="Google Shape;1177;p120"/>
          <p:cNvSpPr txBox="1"/>
          <p:nvPr/>
        </p:nvSpPr>
        <p:spPr>
          <a:xfrm>
            <a:off x="5591577" y="3848344"/>
            <a:ext cx="3063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10</a:t>
            </a:r>
            <a:endParaRPr sz="2000">
              <a:solidFill>
                <a:srgbClr val="FF0000"/>
              </a:solidFill>
              <a:latin typeface="Shadows Into Light"/>
              <a:ea typeface="Shadows Into Light"/>
              <a:cs typeface="Shadows Into Light"/>
              <a:sym typeface="Shadows Into Light"/>
            </a:endParaRPr>
          </a:p>
        </p:txBody>
      </p:sp>
      <p:sp>
        <p:nvSpPr>
          <p:cNvPr id="1178" name="Google Shape;1178;p120"/>
          <p:cNvSpPr txBox="1"/>
          <p:nvPr/>
        </p:nvSpPr>
        <p:spPr>
          <a:xfrm>
            <a:off x="5591577" y="4235655"/>
            <a:ext cx="3063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16</a:t>
            </a:r>
            <a:endParaRPr sz="2000">
              <a:solidFill>
                <a:srgbClr val="FF0000"/>
              </a:solidFill>
              <a:latin typeface="Shadows Into Light"/>
              <a:ea typeface="Shadows Into Light"/>
              <a:cs typeface="Shadows Into Light"/>
              <a:sym typeface="Shadows In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172"/>
                                        </p:tgtEl>
                                        <p:attrNameLst>
                                          <p:attrName>style.visibility</p:attrName>
                                        </p:attrNameLst>
                                      </p:cBhvr>
                                      <p:to>
                                        <p:strVal val="visible"/>
                                      </p:to>
                                    </p:set>
                                    <p:animEffect filter="fade" transition="in">
                                      <p:cBhvr>
                                        <p:cTn dur="1000"/>
                                        <p:tgtEl>
                                          <p:spTgt spid="11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3"/>
                                        </p:tgtEl>
                                        <p:attrNameLst>
                                          <p:attrName>style.visibility</p:attrName>
                                        </p:attrNameLst>
                                      </p:cBhvr>
                                      <p:to>
                                        <p:strVal val="visible"/>
                                      </p:to>
                                    </p:set>
                                    <p:animEffect filter="fade" transition="in">
                                      <p:cBhvr>
                                        <p:cTn dur="1000"/>
                                        <p:tgtEl>
                                          <p:spTgt spid="1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4"/>
                                        </p:tgtEl>
                                        <p:attrNameLst>
                                          <p:attrName>style.visibility</p:attrName>
                                        </p:attrNameLst>
                                      </p:cBhvr>
                                      <p:to>
                                        <p:strVal val="visible"/>
                                      </p:to>
                                    </p:set>
                                    <p:animEffect filter="fade" transition="in">
                                      <p:cBhvr>
                                        <p:cTn dur="1000"/>
                                        <p:tgtEl>
                                          <p:spTgt spid="11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5"/>
                                        </p:tgtEl>
                                        <p:attrNameLst>
                                          <p:attrName>style.visibility</p:attrName>
                                        </p:attrNameLst>
                                      </p:cBhvr>
                                      <p:to>
                                        <p:strVal val="visible"/>
                                      </p:to>
                                    </p:set>
                                    <p:animEffect filter="fade" transition="in">
                                      <p:cBhvr>
                                        <p:cTn dur="1000"/>
                                        <p:tgtEl>
                                          <p:spTgt spid="1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gtEl>
                                        <p:attrNameLst>
                                          <p:attrName>style.visibility</p:attrName>
                                        </p:attrNameLst>
                                      </p:cBhvr>
                                      <p:to>
                                        <p:strVal val="visible"/>
                                      </p:to>
                                    </p:set>
                                    <p:animEffect filter="fade" transition="in">
                                      <p:cBhvr>
                                        <p:cTn dur="1000"/>
                                        <p:tgtEl>
                                          <p:spTgt spid="11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7"/>
                                        </p:tgtEl>
                                        <p:attrNameLst>
                                          <p:attrName>style.visibility</p:attrName>
                                        </p:attrNameLst>
                                      </p:cBhvr>
                                      <p:to>
                                        <p:strVal val="visible"/>
                                      </p:to>
                                    </p:set>
                                    <p:animEffect filter="fade" transition="in">
                                      <p:cBhvr>
                                        <p:cTn dur="1000"/>
                                        <p:tgtEl>
                                          <p:spTgt spid="1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8"/>
                                        </p:tgtEl>
                                        <p:attrNameLst>
                                          <p:attrName>style.visibility</p:attrName>
                                        </p:attrNameLst>
                                      </p:cBhvr>
                                      <p:to>
                                        <p:strVal val="visible"/>
                                      </p:to>
                                    </p:set>
                                    <p:animEffect filter="fade" transition="in">
                                      <p:cBhvr>
                                        <p:cTn dur="1000"/>
                                        <p:tgtEl>
                                          <p:spTgt spid="1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121"/>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Let's start with a focused simple domain analysis and concentrate first on </a:t>
            </a:r>
            <a:r>
              <a:rPr b="1" i="1" lang="en">
                <a:solidFill>
                  <a:srgbClr val="FF0000"/>
                </a:solidFill>
              </a:rPr>
              <a:t>constants</a:t>
            </a:r>
            <a:r>
              <a:rPr lang="en">
                <a:solidFill>
                  <a:srgbClr val="FF0000"/>
                </a:solidFill>
              </a:rPr>
              <a:t> </a:t>
            </a:r>
            <a:r>
              <a:rPr lang="en"/>
              <a:t>and the two </a:t>
            </a:r>
            <a:r>
              <a:rPr b="1" i="1" lang="en">
                <a:solidFill>
                  <a:srgbClr val="FF0000"/>
                </a:solidFill>
              </a:rPr>
              <a:t>unary expressions</a:t>
            </a:r>
            <a:r>
              <a:rPr lang="en"/>
              <a:t>: </a:t>
            </a:r>
            <a:r>
              <a:rPr b="1" i="1" lang="en">
                <a:solidFill>
                  <a:srgbClr val="FF0000"/>
                </a:solidFill>
              </a:rPr>
              <a:t>increment </a:t>
            </a:r>
            <a:r>
              <a:rPr lang="en"/>
              <a:t>and </a:t>
            </a:r>
            <a:r>
              <a:rPr b="1" i="1" lang="en">
                <a:solidFill>
                  <a:srgbClr val="FF0000"/>
                </a:solidFill>
              </a:rPr>
              <a:t>decrement</a:t>
            </a:r>
            <a:r>
              <a:rPr lang="en"/>
              <a:t>.</a:t>
            </a:r>
            <a:endParaRPr/>
          </a:p>
        </p:txBody>
      </p:sp>
      <p:sp>
        <p:nvSpPr>
          <p:cNvPr id="1184" name="Google Shape;1184;p1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85" name="Google Shape;1185;p12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Another Simple Domain Analysis</a:t>
            </a:r>
            <a:endParaRPr/>
          </a:p>
        </p:txBody>
      </p:sp>
      <p:sp>
        <p:nvSpPr>
          <p:cNvPr id="1186" name="Google Shape;1186;p12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3.26</a:t>
            </a:r>
            <a:endParaRPr/>
          </a:p>
        </p:txBody>
      </p:sp>
      <p:graphicFrame>
        <p:nvGraphicFramePr>
          <p:cNvPr id="1187" name="Google Shape;1187;p121"/>
          <p:cNvGraphicFramePr/>
          <p:nvPr/>
        </p:nvGraphicFramePr>
        <p:xfrm>
          <a:off x="1558150" y="1574350"/>
          <a:ext cx="3000000" cy="3000000"/>
        </p:xfrm>
        <a:graphic>
          <a:graphicData uri="http://schemas.openxmlformats.org/drawingml/2006/table">
            <a:tbl>
              <a:tblPr>
                <a:noFill/>
                <a:tableStyleId>{BB7116F7-C15E-4CF7-A1A4-3F0B48A09751}</a:tableStyleId>
              </a:tblPr>
              <a:tblGrid>
                <a:gridCol w="977525"/>
                <a:gridCol w="1242575"/>
                <a:gridCol w="1242575"/>
                <a:gridCol w="1242575"/>
                <a:gridCol w="1242575"/>
                <a:gridCol w="1242575"/>
              </a:tblGrid>
              <a:tr h="563200">
                <a:tc>
                  <a:txBody>
                    <a:bodyPr/>
                    <a:lstStyle/>
                    <a:p>
                      <a:pPr indent="0" lvl="0" marL="0" rtl="0" algn="l">
                        <a:spcBef>
                          <a:spcPts val="0"/>
                        </a:spcBef>
                        <a:spcAft>
                          <a:spcPts val="0"/>
                        </a:spcAft>
                        <a:buNone/>
                      </a:pPr>
                      <a:r>
                        <a:rPr lang="en"/>
                        <a:t>Class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362750">
                <a:tc>
                  <a:txBody>
                    <a:bodyPr/>
                    <a:lstStyle/>
                    <a:p>
                      <a:pPr indent="0" lvl="0" marL="0" rtl="0" algn="l">
                        <a:spcBef>
                          <a:spcPts val="0"/>
                        </a:spcBef>
                        <a:spcAft>
                          <a:spcPts val="0"/>
                        </a:spcAft>
                        <a:buNone/>
                      </a:pPr>
                      <a:r>
                        <a:rPr lang="en"/>
                        <a:t>State</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362750">
                <a:tc>
                  <a:txBody>
                    <a:bodyPr/>
                    <a:lstStyle/>
                    <a:p>
                      <a:pPr indent="0" lvl="0" marL="0" rtl="0" algn="l">
                        <a:spcBef>
                          <a:spcPts val="0"/>
                        </a:spcBef>
                        <a:spcAft>
                          <a:spcPts val="0"/>
                        </a:spcAft>
                        <a:buNone/>
                      </a:pPr>
                      <a:r>
                        <a:rPr lang="en"/>
                        <a:t>Behavior</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122"/>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Let's start with a focused simple domain analysis and concentrate first on </a:t>
            </a:r>
            <a:r>
              <a:rPr b="1" i="1" lang="en">
                <a:solidFill>
                  <a:srgbClr val="FF0000"/>
                </a:solidFill>
              </a:rPr>
              <a:t>constants</a:t>
            </a:r>
            <a:r>
              <a:rPr lang="en">
                <a:solidFill>
                  <a:srgbClr val="FF0000"/>
                </a:solidFill>
              </a:rPr>
              <a:t> </a:t>
            </a:r>
            <a:r>
              <a:rPr lang="en"/>
              <a:t>and the two </a:t>
            </a:r>
            <a:r>
              <a:rPr b="1" i="1" lang="en">
                <a:solidFill>
                  <a:srgbClr val="FF0000"/>
                </a:solidFill>
              </a:rPr>
              <a:t>unary expressions</a:t>
            </a:r>
            <a:r>
              <a:rPr lang="en"/>
              <a:t>: </a:t>
            </a:r>
            <a:r>
              <a:rPr b="1" i="1" lang="en">
                <a:solidFill>
                  <a:srgbClr val="FF0000"/>
                </a:solidFill>
              </a:rPr>
              <a:t>increment </a:t>
            </a:r>
            <a:r>
              <a:rPr lang="en"/>
              <a:t>and </a:t>
            </a:r>
            <a:r>
              <a:rPr b="1" i="1" lang="en">
                <a:solidFill>
                  <a:srgbClr val="FF0000"/>
                </a:solidFill>
              </a:rPr>
              <a:t>decrement</a:t>
            </a:r>
            <a:r>
              <a:rPr lang="en"/>
              <a:t>.</a:t>
            </a:r>
            <a:endParaRPr/>
          </a:p>
        </p:txBody>
      </p:sp>
      <p:sp>
        <p:nvSpPr>
          <p:cNvPr id="1193" name="Google Shape;1193;p1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94" name="Google Shape;1194;p12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Another Simple Domain Analysis</a:t>
            </a:r>
            <a:endParaRPr/>
          </a:p>
        </p:txBody>
      </p:sp>
      <p:sp>
        <p:nvSpPr>
          <p:cNvPr id="1195" name="Google Shape;1195;p12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3.26</a:t>
            </a:r>
            <a:endParaRPr/>
          </a:p>
        </p:txBody>
      </p:sp>
      <p:graphicFrame>
        <p:nvGraphicFramePr>
          <p:cNvPr id="1196" name="Google Shape;1196;p122"/>
          <p:cNvGraphicFramePr/>
          <p:nvPr/>
        </p:nvGraphicFramePr>
        <p:xfrm>
          <a:off x="1558150" y="1574350"/>
          <a:ext cx="3000000" cy="3000000"/>
        </p:xfrm>
        <a:graphic>
          <a:graphicData uri="http://schemas.openxmlformats.org/drawingml/2006/table">
            <a:tbl>
              <a:tblPr>
                <a:noFill/>
                <a:tableStyleId>{BB7116F7-C15E-4CF7-A1A4-3F0B48A09751}</a:tableStyleId>
              </a:tblPr>
              <a:tblGrid>
                <a:gridCol w="977525"/>
                <a:gridCol w="1242575"/>
                <a:gridCol w="1242575"/>
                <a:gridCol w="1242575"/>
                <a:gridCol w="1242575"/>
                <a:gridCol w="1242575"/>
              </a:tblGrid>
              <a:tr h="563200">
                <a:tc>
                  <a:txBody>
                    <a:bodyPr/>
                    <a:lstStyle/>
                    <a:p>
                      <a:pPr indent="0" lvl="0" marL="0" rtl="0" algn="l">
                        <a:spcBef>
                          <a:spcPts val="0"/>
                        </a:spcBef>
                        <a:spcAft>
                          <a:spcPts val="0"/>
                        </a:spcAft>
                        <a:buNone/>
                      </a:pPr>
                      <a:r>
                        <a:rPr lang="en"/>
                        <a:t>Class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362750">
                <a:tc>
                  <a:txBody>
                    <a:bodyPr/>
                    <a:lstStyle/>
                    <a:p>
                      <a:pPr indent="0" lvl="0" marL="0" rtl="0" algn="l">
                        <a:spcBef>
                          <a:spcPts val="0"/>
                        </a:spcBef>
                        <a:spcAft>
                          <a:spcPts val="0"/>
                        </a:spcAft>
                        <a:buNone/>
                      </a:pPr>
                      <a:r>
                        <a:rPr lang="en"/>
                        <a:t>State</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362750">
                <a:tc>
                  <a:txBody>
                    <a:bodyPr/>
                    <a:lstStyle/>
                    <a:p>
                      <a:pPr indent="0" lvl="0" marL="0" rtl="0" algn="l">
                        <a:spcBef>
                          <a:spcPts val="0"/>
                        </a:spcBef>
                        <a:spcAft>
                          <a:spcPts val="0"/>
                        </a:spcAft>
                        <a:buNone/>
                      </a:pPr>
                      <a:r>
                        <a:rPr lang="en"/>
                        <a:t>Behavior</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sp>
        <p:nvSpPr>
          <p:cNvPr id="1197" name="Google Shape;1197;p122"/>
          <p:cNvSpPr txBox="1"/>
          <p:nvPr/>
        </p:nvSpPr>
        <p:spPr>
          <a:xfrm>
            <a:off x="2524575" y="1581350"/>
            <a:ext cx="1253700" cy="55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EXPRESSION</a:t>
            </a:r>
            <a:endParaRPr>
              <a:solidFill>
                <a:srgbClr val="FF0000"/>
              </a:solidFill>
              <a:latin typeface="Shadows Into Light"/>
              <a:ea typeface="Shadows Into Light"/>
              <a:cs typeface="Shadows Into Light"/>
              <a:sym typeface="Shadows Into Light"/>
            </a:endParaRPr>
          </a:p>
        </p:txBody>
      </p:sp>
      <p:sp>
        <p:nvSpPr>
          <p:cNvPr id="1198" name="Google Shape;1198;p122"/>
          <p:cNvSpPr txBox="1"/>
          <p:nvPr/>
        </p:nvSpPr>
        <p:spPr>
          <a:xfrm>
            <a:off x="2524575" y="2137550"/>
            <a:ext cx="1253700" cy="136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a:t>
            </a:r>
            <a:endParaRPr>
              <a:solidFill>
                <a:srgbClr val="FF0000"/>
              </a:solidFill>
              <a:latin typeface="Shadows Into Light"/>
              <a:ea typeface="Shadows Into Light"/>
              <a:cs typeface="Shadows Into Light"/>
              <a:sym typeface="Shadows Into Light"/>
            </a:endParaRPr>
          </a:p>
        </p:txBody>
      </p:sp>
      <p:sp>
        <p:nvSpPr>
          <p:cNvPr id="1199" name="Google Shape;1199;p122"/>
          <p:cNvSpPr txBox="1"/>
          <p:nvPr/>
        </p:nvSpPr>
        <p:spPr>
          <a:xfrm>
            <a:off x="2524575" y="3500450"/>
            <a:ext cx="1253700" cy="136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EVALUATE</a:t>
            </a:r>
            <a:endParaRPr>
              <a:solidFill>
                <a:srgbClr val="FF0000"/>
              </a:solidFill>
              <a:latin typeface="Shadows Into Light"/>
              <a:ea typeface="Shadows Into Light"/>
              <a:cs typeface="Shadows Into Light"/>
              <a:sym typeface="Shadows Into Light"/>
            </a:endParaRPr>
          </a:p>
        </p:txBody>
      </p:sp>
      <p:sp>
        <p:nvSpPr>
          <p:cNvPr id="1200" name="Google Shape;1200;p122"/>
          <p:cNvSpPr txBox="1"/>
          <p:nvPr/>
        </p:nvSpPr>
        <p:spPr>
          <a:xfrm>
            <a:off x="3780380" y="1581350"/>
            <a:ext cx="1253700" cy="55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CONSTANT</a:t>
            </a:r>
            <a:endParaRPr>
              <a:solidFill>
                <a:srgbClr val="FF0000"/>
              </a:solidFill>
              <a:latin typeface="Shadows Into Light"/>
              <a:ea typeface="Shadows Into Light"/>
              <a:cs typeface="Shadows Into Light"/>
              <a:sym typeface="Shadows Into Light"/>
            </a:endParaRPr>
          </a:p>
        </p:txBody>
      </p:sp>
      <p:sp>
        <p:nvSpPr>
          <p:cNvPr id="1201" name="Google Shape;1201;p122"/>
          <p:cNvSpPr txBox="1"/>
          <p:nvPr/>
        </p:nvSpPr>
        <p:spPr>
          <a:xfrm>
            <a:off x="3780380" y="2137550"/>
            <a:ext cx="1253700" cy="136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VALUE</a:t>
            </a:r>
            <a:endParaRPr>
              <a:solidFill>
                <a:srgbClr val="FF0000"/>
              </a:solidFill>
              <a:latin typeface="Shadows Into Light"/>
              <a:ea typeface="Shadows Into Light"/>
              <a:cs typeface="Shadows Into Light"/>
              <a:sym typeface="Shadows Into Light"/>
            </a:endParaRPr>
          </a:p>
        </p:txBody>
      </p:sp>
      <p:sp>
        <p:nvSpPr>
          <p:cNvPr id="1202" name="Google Shape;1202;p122"/>
          <p:cNvSpPr txBox="1"/>
          <p:nvPr/>
        </p:nvSpPr>
        <p:spPr>
          <a:xfrm>
            <a:off x="3780380" y="3500450"/>
            <a:ext cx="1253700" cy="136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CONSTRUCTOR</a:t>
            </a:r>
            <a:endParaRPr>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EVALUATE</a:t>
            </a:r>
            <a:endParaRPr>
              <a:solidFill>
                <a:srgbClr val="FF0000"/>
              </a:solidFill>
              <a:latin typeface="Shadows Into Light"/>
              <a:ea typeface="Shadows Into Light"/>
              <a:cs typeface="Shadows Into Light"/>
              <a:sym typeface="Shadows Into Light"/>
            </a:endParaRPr>
          </a:p>
        </p:txBody>
      </p:sp>
      <p:sp>
        <p:nvSpPr>
          <p:cNvPr id="1203" name="Google Shape;1203;p122"/>
          <p:cNvSpPr txBox="1"/>
          <p:nvPr/>
        </p:nvSpPr>
        <p:spPr>
          <a:xfrm>
            <a:off x="4999580" y="1581350"/>
            <a:ext cx="1253700" cy="55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UNARY EXPRESSION?</a:t>
            </a:r>
            <a:endParaRPr>
              <a:solidFill>
                <a:srgbClr val="FF0000"/>
              </a:solidFill>
              <a:latin typeface="Shadows Into Light"/>
              <a:ea typeface="Shadows Into Light"/>
              <a:cs typeface="Shadows Into Light"/>
              <a:sym typeface="Shadows Into Light"/>
            </a:endParaRPr>
          </a:p>
        </p:txBody>
      </p:sp>
      <p:sp>
        <p:nvSpPr>
          <p:cNvPr id="1204" name="Google Shape;1204;p122"/>
          <p:cNvSpPr txBox="1"/>
          <p:nvPr/>
        </p:nvSpPr>
        <p:spPr>
          <a:xfrm>
            <a:off x="4999580" y="2137550"/>
            <a:ext cx="1253700" cy="136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EXPRESSION</a:t>
            </a:r>
            <a:endParaRPr>
              <a:solidFill>
                <a:srgbClr val="FF0000"/>
              </a:solidFill>
              <a:latin typeface="Shadows Into Light"/>
              <a:ea typeface="Shadows Into Light"/>
              <a:cs typeface="Shadows Into Light"/>
              <a:sym typeface="Shadows Into Light"/>
            </a:endParaRPr>
          </a:p>
        </p:txBody>
      </p:sp>
      <p:sp>
        <p:nvSpPr>
          <p:cNvPr id="1205" name="Google Shape;1205;p122"/>
          <p:cNvSpPr txBox="1"/>
          <p:nvPr/>
        </p:nvSpPr>
        <p:spPr>
          <a:xfrm>
            <a:off x="4999580" y="3500450"/>
            <a:ext cx="1253700" cy="136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CONSTRUCTOR</a:t>
            </a:r>
            <a:endParaRPr>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EVALUATE</a:t>
            </a:r>
            <a:endParaRPr>
              <a:solidFill>
                <a:srgbClr val="FF0000"/>
              </a:solidFill>
              <a:latin typeface="Shadows Into Light"/>
              <a:ea typeface="Shadows Into Light"/>
              <a:cs typeface="Shadows Into Light"/>
              <a:sym typeface="Shadows Into Light"/>
            </a:endParaRPr>
          </a:p>
        </p:txBody>
      </p:sp>
      <p:sp>
        <p:nvSpPr>
          <p:cNvPr id="1206" name="Google Shape;1206;p122"/>
          <p:cNvSpPr txBox="1"/>
          <p:nvPr/>
        </p:nvSpPr>
        <p:spPr>
          <a:xfrm>
            <a:off x="6255386" y="1581350"/>
            <a:ext cx="1253700" cy="55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INCREMENT</a:t>
            </a:r>
            <a:endParaRPr>
              <a:solidFill>
                <a:srgbClr val="FF0000"/>
              </a:solidFill>
              <a:latin typeface="Shadows Into Light"/>
              <a:ea typeface="Shadows Into Light"/>
              <a:cs typeface="Shadows Into Light"/>
              <a:sym typeface="Shadows Into Light"/>
            </a:endParaRPr>
          </a:p>
        </p:txBody>
      </p:sp>
      <p:sp>
        <p:nvSpPr>
          <p:cNvPr id="1207" name="Google Shape;1207;p122"/>
          <p:cNvSpPr txBox="1"/>
          <p:nvPr/>
        </p:nvSpPr>
        <p:spPr>
          <a:xfrm>
            <a:off x="6255386" y="2137550"/>
            <a:ext cx="1253700" cy="136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EXPRESSION</a:t>
            </a:r>
            <a:endParaRPr>
              <a:solidFill>
                <a:srgbClr val="FF0000"/>
              </a:solidFill>
              <a:latin typeface="Shadows Into Light"/>
              <a:ea typeface="Shadows Into Light"/>
              <a:cs typeface="Shadows Into Light"/>
              <a:sym typeface="Shadows Into Light"/>
            </a:endParaRPr>
          </a:p>
        </p:txBody>
      </p:sp>
      <p:sp>
        <p:nvSpPr>
          <p:cNvPr id="1208" name="Google Shape;1208;p122"/>
          <p:cNvSpPr txBox="1"/>
          <p:nvPr/>
        </p:nvSpPr>
        <p:spPr>
          <a:xfrm>
            <a:off x="6255386" y="3500450"/>
            <a:ext cx="1253700" cy="136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CONSTRUCTOR</a:t>
            </a:r>
            <a:endParaRPr>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EVALUATE</a:t>
            </a:r>
            <a:endParaRPr>
              <a:solidFill>
                <a:srgbClr val="FF0000"/>
              </a:solidFill>
              <a:latin typeface="Shadows Into Light"/>
              <a:ea typeface="Shadows Into Light"/>
              <a:cs typeface="Shadows Into Light"/>
              <a:sym typeface="Shadows Into Light"/>
            </a:endParaRPr>
          </a:p>
        </p:txBody>
      </p:sp>
      <p:sp>
        <p:nvSpPr>
          <p:cNvPr id="1209" name="Google Shape;1209;p122"/>
          <p:cNvSpPr txBox="1"/>
          <p:nvPr/>
        </p:nvSpPr>
        <p:spPr>
          <a:xfrm>
            <a:off x="7514180" y="1581350"/>
            <a:ext cx="1253700" cy="55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DECREMENT</a:t>
            </a:r>
            <a:endParaRPr>
              <a:solidFill>
                <a:srgbClr val="FF0000"/>
              </a:solidFill>
              <a:latin typeface="Shadows Into Light"/>
              <a:ea typeface="Shadows Into Light"/>
              <a:cs typeface="Shadows Into Light"/>
              <a:sym typeface="Shadows Into Light"/>
            </a:endParaRPr>
          </a:p>
        </p:txBody>
      </p:sp>
      <p:sp>
        <p:nvSpPr>
          <p:cNvPr id="1210" name="Google Shape;1210;p122"/>
          <p:cNvSpPr txBox="1"/>
          <p:nvPr/>
        </p:nvSpPr>
        <p:spPr>
          <a:xfrm>
            <a:off x="7514180" y="2137550"/>
            <a:ext cx="1253700" cy="136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EXPRESSION</a:t>
            </a:r>
            <a:endParaRPr>
              <a:solidFill>
                <a:srgbClr val="FF0000"/>
              </a:solidFill>
              <a:latin typeface="Shadows Into Light"/>
              <a:ea typeface="Shadows Into Light"/>
              <a:cs typeface="Shadows Into Light"/>
              <a:sym typeface="Shadows Into Light"/>
            </a:endParaRPr>
          </a:p>
        </p:txBody>
      </p:sp>
      <p:sp>
        <p:nvSpPr>
          <p:cNvPr id="1211" name="Google Shape;1211;p122"/>
          <p:cNvSpPr txBox="1"/>
          <p:nvPr/>
        </p:nvSpPr>
        <p:spPr>
          <a:xfrm>
            <a:off x="7514180" y="3500450"/>
            <a:ext cx="1253700" cy="136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CONSTRUCTOR</a:t>
            </a:r>
            <a:endParaRPr>
              <a:solidFill>
                <a:srgbClr val="FF0000"/>
              </a:solidFill>
              <a:latin typeface="Shadows Into Light"/>
              <a:ea typeface="Shadows Into Light"/>
              <a:cs typeface="Shadows Into Light"/>
              <a:sym typeface="Shadows Into Light"/>
            </a:endParaRPr>
          </a:p>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EVALUATE</a:t>
            </a:r>
            <a:endParaRPr>
              <a:solidFill>
                <a:srgbClr val="FF0000"/>
              </a:solidFill>
              <a:latin typeface="Shadows Into Light"/>
              <a:ea typeface="Shadows Into Light"/>
              <a:cs typeface="Shadows Into Light"/>
              <a:sym typeface="Shadows In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197"/>
                                        </p:tgtEl>
                                        <p:attrNameLst>
                                          <p:attrName>style.visibility</p:attrName>
                                        </p:attrNameLst>
                                      </p:cBhvr>
                                      <p:to>
                                        <p:strVal val="visible"/>
                                      </p:to>
                                    </p:set>
                                    <p:animEffect filter="fade" transition="in">
                                      <p:cBhvr>
                                        <p:cTn dur="1000"/>
                                        <p:tgtEl>
                                          <p:spTgt spid="1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gtEl>
                                        <p:attrNameLst>
                                          <p:attrName>style.visibility</p:attrName>
                                        </p:attrNameLst>
                                      </p:cBhvr>
                                      <p:to>
                                        <p:strVal val="visible"/>
                                      </p:to>
                                    </p:set>
                                    <p:animEffect filter="fade" transition="in">
                                      <p:cBhvr>
                                        <p:cTn dur="1000"/>
                                        <p:tgtEl>
                                          <p:spTgt spid="1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gtEl>
                                        <p:attrNameLst>
                                          <p:attrName>style.visibility</p:attrName>
                                        </p:attrNameLst>
                                      </p:cBhvr>
                                      <p:to>
                                        <p:strVal val="visible"/>
                                      </p:to>
                                    </p:set>
                                    <p:animEffect filter="fade" transition="in">
                                      <p:cBhvr>
                                        <p:cTn dur="1000"/>
                                        <p:tgtEl>
                                          <p:spTgt spid="11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0"/>
                                        </p:tgtEl>
                                        <p:attrNameLst>
                                          <p:attrName>style.visibility</p:attrName>
                                        </p:attrNameLst>
                                      </p:cBhvr>
                                      <p:to>
                                        <p:strVal val="visible"/>
                                      </p:to>
                                    </p:set>
                                    <p:animEffect filter="fade" transition="in">
                                      <p:cBhvr>
                                        <p:cTn dur="1000"/>
                                        <p:tgtEl>
                                          <p:spTgt spid="12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1"/>
                                        </p:tgtEl>
                                        <p:attrNameLst>
                                          <p:attrName>style.visibility</p:attrName>
                                        </p:attrNameLst>
                                      </p:cBhvr>
                                      <p:to>
                                        <p:strVal val="visible"/>
                                      </p:to>
                                    </p:set>
                                    <p:animEffect filter="fade" transition="in">
                                      <p:cBhvr>
                                        <p:cTn dur="1000"/>
                                        <p:tgtEl>
                                          <p:spTgt spid="12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2"/>
                                        </p:tgtEl>
                                        <p:attrNameLst>
                                          <p:attrName>style.visibility</p:attrName>
                                        </p:attrNameLst>
                                      </p:cBhvr>
                                      <p:to>
                                        <p:strVal val="visible"/>
                                      </p:to>
                                    </p:set>
                                    <p:animEffect filter="fade" transition="in">
                                      <p:cBhvr>
                                        <p:cTn dur="1000"/>
                                        <p:tgtEl>
                                          <p:spTgt spid="1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3"/>
                                        </p:tgtEl>
                                        <p:attrNameLst>
                                          <p:attrName>style.visibility</p:attrName>
                                        </p:attrNameLst>
                                      </p:cBhvr>
                                      <p:to>
                                        <p:strVal val="visible"/>
                                      </p:to>
                                    </p:set>
                                    <p:animEffect filter="fade" transition="in">
                                      <p:cBhvr>
                                        <p:cTn dur="1000"/>
                                        <p:tgtEl>
                                          <p:spTgt spid="1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4"/>
                                        </p:tgtEl>
                                        <p:attrNameLst>
                                          <p:attrName>style.visibility</p:attrName>
                                        </p:attrNameLst>
                                      </p:cBhvr>
                                      <p:to>
                                        <p:strVal val="visible"/>
                                      </p:to>
                                    </p:set>
                                    <p:animEffect filter="fade" transition="in">
                                      <p:cBhvr>
                                        <p:cTn dur="1000"/>
                                        <p:tgtEl>
                                          <p:spTgt spid="1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5"/>
                                        </p:tgtEl>
                                        <p:attrNameLst>
                                          <p:attrName>style.visibility</p:attrName>
                                        </p:attrNameLst>
                                      </p:cBhvr>
                                      <p:to>
                                        <p:strVal val="visible"/>
                                      </p:to>
                                    </p:set>
                                    <p:animEffect filter="fade" transition="in">
                                      <p:cBhvr>
                                        <p:cTn dur="1000"/>
                                        <p:tgtEl>
                                          <p:spTgt spid="12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6"/>
                                        </p:tgtEl>
                                        <p:attrNameLst>
                                          <p:attrName>style.visibility</p:attrName>
                                        </p:attrNameLst>
                                      </p:cBhvr>
                                      <p:to>
                                        <p:strVal val="visible"/>
                                      </p:to>
                                    </p:set>
                                    <p:animEffect filter="fade" transition="in">
                                      <p:cBhvr>
                                        <p:cTn dur="1000"/>
                                        <p:tgtEl>
                                          <p:spTgt spid="1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7"/>
                                        </p:tgtEl>
                                        <p:attrNameLst>
                                          <p:attrName>style.visibility</p:attrName>
                                        </p:attrNameLst>
                                      </p:cBhvr>
                                      <p:to>
                                        <p:strVal val="visible"/>
                                      </p:to>
                                    </p:set>
                                    <p:animEffect filter="fade" transition="in">
                                      <p:cBhvr>
                                        <p:cTn dur="1000"/>
                                        <p:tgtEl>
                                          <p:spTgt spid="1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8"/>
                                        </p:tgtEl>
                                        <p:attrNameLst>
                                          <p:attrName>style.visibility</p:attrName>
                                        </p:attrNameLst>
                                      </p:cBhvr>
                                      <p:to>
                                        <p:strVal val="visible"/>
                                      </p:to>
                                    </p:set>
                                    <p:animEffect filter="fade" transition="in">
                                      <p:cBhvr>
                                        <p:cTn dur="1000"/>
                                        <p:tgtEl>
                                          <p:spTgt spid="1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9"/>
                                        </p:tgtEl>
                                        <p:attrNameLst>
                                          <p:attrName>style.visibility</p:attrName>
                                        </p:attrNameLst>
                                      </p:cBhvr>
                                      <p:to>
                                        <p:strVal val="visible"/>
                                      </p:to>
                                    </p:set>
                                    <p:animEffect filter="fade" transition="in">
                                      <p:cBhvr>
                                        <p:cTn dur="1000"/>
                                        <p:tgtEl>
                                          <p:spTgt spid="12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gtEl>
                                        <p:attrNameLst>
                                          <p:attrName>style.visibility</p:attrName>
                                        </p:attrNameLst>
                                      </p:cBhvr>
                                      <p:to>
                                        <p:strVal val="visible"/>
                                      </p:to>
                                    </p:set>
                                    <p:animEffect filter="fade" transition="in">
                                      <p:cBhvr>
                                        <p:cTn dur="1000"/>
                                        <p:tgtEl>
                                          <p:spTgt spid="12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1"/>
                                        </p:tgtEl>
                                        <p:attrNameLst>
                                          <p:attrName>style.visibility</p:attrName>
                                        </p:attrNameLst>
                                      </p:cBhvr>
                                      <p:to>
                                        <p:strVal val="visible"/>
                                      </p:to>
                                    </p:set>
                                    <p:animEffect filter="fade" transition="in">
                                      <p:cBhvr>
                                        <p:cTn dur="1000"/>
                                        <p:tgtEl>
                                          <p:spTgt spid="1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123"/>
          <p:cNvSpPr txBox="1"/>
          <p:nvPr>
            <p:ph idx="1" type="body"/>
          </p:nvPr>
        </p:nvSpPr>
        <p:spPr>
          <a:xfrm>
            <a:off x="4414500" y="127050"/>
            <a:ext cx="4531200" cy="4754400"/>
          </a:xfrm>
          <a:prstGeom prst="rect">
            <a:avLst/>
          </a:prstGeom>
        </p:spPr>
        <p:txBody>
          <a:bodyPr anchorCtr="0" anchor="ctr" bIns="91425" lIns="91425" spcFirstLastPara="1" rIns="91425" wrap="square" tIns="91425">
            <a:noAutofit/>
          </a:bodyPr>
          <a:lstStyle/>
          <a:p>
            <a:pPr indent="-311150" lvl="0" marL="457200" rtl="0" algn="l">
              <a:spcBef>
                <a:spcPts val="0"/>
              </a:spcBef>
              <a:spcAft>
                <a:spcPts val="0"/>
              </a:spcAft>
              <a:buSzPts val="1300"/>
              <a:buChar char="●"/>
            </a:pPr>
            <a:r>
              <a:rPr lang="en"/>
              <a:t>For many inexperienced </a:t>
            </a:r>
            <a:r>
              <a:rPr b="1" i="1" lang="en">
                <a:solidFill>
                  <a:srgbClr val="FF0000"/>
                </a:solidFill>
              </a:rPr>
              <a:t>object-oriented programmers</a:t>
            </a:r>
            <a:r>
              <a:rPr lang="en"/>
              <a:t> thinking in terms of </a:t>
            </a:r>
            <a:r>
              <a:rPr b="1" i="1" lang="en">
                <a:solidFill>
                  <a:srgbClr val="FF0000"/>
                </a:solidFill>
              </a:rPr>
              <a:t>inheritance</a:t>
            </a:r>
            <a:r>
              <a:rPr lang="en">
                <a:solidFill>
                  <a:srgbClr val="FF0000"/>
                </a:solidFill>
              </a:rPr>
              <a:t> </a:t>
            </a:r>
            <a:r>
              <a:rPr lang="en"/>
              <a:t>is not yet </a:t>
            </a:r>
            <a:r>
              <a:rPr b="1" i="1" lang="en">
                <a:solidFill>
                  <a:srgbClr val="FF0000"/>
                </a:solidFill>
              </a:rPr>
              <a:t>natural </a:t>
            </a:r>
            <a:r>
              <a:rPr lang="en"/>
              <a:t>or </a:t>
            </a:r>
            <a:r>
              <a:rPr b="1" i="1" lang="en">
                <a:solidFill>
                  <a:srgbClr val="FF0000"/>
                </a:solidFill>
              </a:rPr>
              <a:t>automatic</a:t>
            </a:r>
            <a:r>
              <a:rPr lang="en"/>
              <a:t>.</a:t>
            </a:r>
            <a:endParaRPr/>
          </a:p>
          <a:p>
            <a:pPr indent="-311150" lvl="0" marL="457200" rtl="0" algn="l">
              <a:spcBef>
                <a:spcPts val="0"/>
              </a:spcBef>
              <a:spcAft>
                <a:spcPts val="0"/>
              </a:spcAft>
              <a:buSzPts val="1300"/>
              <a:buChar char="●"/>
            </a:pPr>
            <a:r>
              <a:rPr lang="en"/>
              <a:t>Nevertheless, it may seem clear that some kind of common parent class is needed to represent all </a:t>
            </a:r>
            <a:r>
              <a:rPr b="1" i="1" lang="en">
                <a:solidFill>
                  <a:srgbClr val="FF0000"/>
                </a:solidFill>
              </a:rPr>
              <a:t>expressions</a:t>
            </a:r>
            <a:r>
              <a:rPr lang="en"/>
              <a:t>.</a:t>
            </a:r>
            <a:endParaRPr/>
          </a:p>
          <a:p>
            <a:pPr indent="-298450" lvl="1" marL="914400" rtl="0" algn="l">
              <a:spcBef>
                <a:spcPts val="0"/>
              </a:spcBef>
              <a:spcAft>
                <a:spcPts val="0"/>
              </a:spcAft>
              <a:buSzPts val="1100"/>
              <a:buChar char="○"/>
            </a:pPr>
            <a:r>
              <a:rPr lang="en"/>
              <a:t>This will enable us to use </a:t>
            </a:r>
            <a:r>
              <a:rPr b="1" i="1" lang="en">
                <a:solidFill>
                  <a:srgbClr val="FF0000"/>
                </a:solidFill>
              </a:rPr>
              <a:t>polymorphism</a:t>
            </a:r>
            <a:r>
              <a:rPr lang="en">
                <a:solidFill>
                  <a:srgbClr val="FF0000"/>
                </a:solidFill>
              </a:rPr>
              <a:t> </a:t>
            </a:r>
            <a:r>
              <a:rPr lang="en"/>
              <a:t>in our </a:t>
            </a:r>
            <a:r>
              <a:rPr b="1" i="1" lang="en">
                <a:solidFill>
                  <a:srgbClr val="FF0000"/>
                </a:solidFill>
              </a:rPr>
              <a:t>unary</a:t>
            </a:r>
            <a:r>
              <a:rPr lang="en">
                <a:solidFill>
                  <a:srgbClr val="FF0000"/>
                </a:solidFill>
              </a:rPr>
              <a:t> </a:t>
            </a:r>
            <a:r>
              <a:rPr lang="en"/>
              <a:t>and</a:t>
            </a:r>
            <a:r>
              <a:rPr lang="en">
                <a:solidFill>
                  <a:srgbClr val="FF0000"/>
                </a:solidFill>
              </a:rPr>
              <a:t> </a:t>
            </a:r>
            <a:r>
              <a:rPr b="1" i="1" lang="en">
                <a:solidFill>
                  <a:srgbClr val="FF0000"/>
                </a:solidFill>
              </a:rPr>
              <a:t>binary expression</a:t>
            </a:r>
            <a:r>
              <a:rPr lang="en"/>
              <a:t> classes so that they will work with </a:t>
            </a:r>
            <a:r>
              <a:rPr b="1" i="1" lang="en">
                <a:solidFill>
                  <a:srgbClr val="FF0000"/>
                </a:solidFill>
              </a:rPr>
              <a:t>any</a:t>
            </a:r>
            <a:r>
              <a:rPr lang="en">
                <a:solidFill>
                  <a:srgbClr val="FF0000"/>
                </a:solidFill>
              </a:rPr>
              <a:t> </a:t>
            </a:r>
            <a:r>
              <a:rPr lang="en"/>
              <a:t>kind of expression.</a:t>
            </a:r>
            <a:endParaRPr/>
          </a:p>
          <a:p>
            <a:pPr indent="-311150" lvl="0" marL="457200" rtl="0" algn="l">
              <a:spcBef>
                <a:spcPts val="0"/>
              </a:spcBef>
              <a:spcAft>
                <a:spcPts val="0"/>
              </a:spcAft>
              <a:buSzPts val="1300"/>
              <a:buChar char="●"/>
            </a:pPr>
            <a:r>
              <a:rPr lang="en"/>
              <a:t>However, let's take a moment and imagine a world where polymorphism doesn't exist. What would our expression classes look like then? </a:t>
            </a:r>
            <a:endParaRPr/>
          </a:p>
          <a:p>
            <a:pPr indent="-298450" lvl="1" marL="914400" rtl="0" algn="l">
              <a:spcBef>
                <a:spcPts val="0"/>
              </a:spcBef>
              <a:spcAft>
                <a:spcPts val="0"/>
              </a:spcAft>
              <a:buSzPts val="1100"/>
              <a:buChar char="○"/>
            </a:pPr>
            <a:r>
              <a:rPr lang="en"/>
              <a:t>What would we need to do in order to make the </a:t>
            </a:r>
            <a:r>
              <a:rPr b="1" i="1" lang="en">
                <a:solidFill>
                  <a:srgbClr val="FF0000"/>
                </a:solidFill>
              </a:rPr>
              <a:t>increment</a:t>
            </a:r>
            <a:r>
              <a:rPr lang="en">
                <a:solidFill>
                  <a:srgbClr val="FF0000"/>
                </a:solidFill>
              </a:rPr>
              <a:t> </a:t>
            </a:r>
            <a:r>
              <a:rPr lang="en"/>
              <a:t>expression work with </a:t>
            </a:r>
            <a:r>
              <a:rPr b="1" i="1" lang="en">
                <a:solidFill>
                  <a:srgbClr val="FF0000"/>
                </a:solidFill>
              </a:rPr>
              <a:t>any</a:t>
            </a:r>
            <a:r>
              <a:rPr lang="en">
                <a:solidFill>
                  <a:srgbClr val="FF0000"/>
                </a:solidFill>
              </a:rPr>
              <a:t> </a:t>
            </a:r>
            <a:r>
              <a:rPr lang="en"/>
              <a:t>of our other expressions?</a:t>
            </a:r>
            <a:endParaRPr/>
          </a:p>
          <a:p>
            <a:pPr indent="-298450" lvl="1" marL="914400" rtl="0" algn="l">
              <a:spcBef>
                <a:spcPts val="0"/>
              </a:spcBef>
              <a:spcAft>
                <a:spcPts val="0"/>
              </a:spcAft>
              <a:buSzPts val="1100"/>
              <a:buChar char="○"/>
            </a:pPr>
            <a:r>
              <a:rPr lang="en"/>
              <a:t>We would have no choice but to create fields for every type of expression, including constant, increment, and decrement.</a:t>
            </a:r>
            <a:endParaRPr/>
          </a:p>
          <a:p>
            <a:pPr indent="-311150" lvl="0" marL="457200" rtl="0" algn="l">
              <a:spcBef>
                <a:spcPts val="0"/>
              </a:spcBef>
              <a:spcAft>
                <a:spcPts val="0"/>
              </a:spcAft>
              <a:buSzPts val="1300"/>
              <a:buChar char="●"/>
            </a:pPr>
            <a:r>
              <a:rPr lang="en"/>
              <a:t>Our solution would only get worse as we added new expressions to the system, e.g. addition, exponent, etc.</a:t>
            </a:r>
            <a:endParaRPr/>
          </a:p>
          <a:p>
            <a:pPr indent="-298450" lvl="1" marL="914400" rtl="0" algn="l">
              <a:spcBef>
                <a:spcPts val="0"/>
              </a:spcBef>
              <a:spcAft>
                <a:spcPts val="0"/>
              </a:spcAft>
              <a:buSzPts val="1100"/>
              <a:buChar char="○"/>
            </a:pPr>
            <a:r>
              <a:rPr b="1" i="1" lang="en">
                <a:solidFill>
                  <a:srgbClr val="FF0000"/>
                </a:solidFill>
              </a:rPr>
              <a:t>Every</a:t>
            </a:r>
            <a:r>
              <a:rPr lang="en">
                <a:solidFill>
                  <a:srgbClr val="FF0000"/>
                </a:solidFill>
              </a:rPr>
              <a:t> </a:t>
            </a:r>
            <a:r>
              <a:rPr lang="en"/>
              <a:t>expression class would need to have fields for </a:t>
            </a:r>
            <a:r>
              <a:rPr b="1" i="1" lang="en">
                <a:solidFill>
                  <a:srgbClr val="FF0000"/>
                </a:solidFill>
              </a:rPr>
              <a:t>every </a:t>
            </a:r>
            <a:r>
              <a:rPr lang="en"/>
              <a:t>type of expression!</a:t>
            </a:r>
            <a:endParaRPr/>
          </a:p>
        </p:txBody>
      </p:sp>
      <p:sp>
        <p:nvSpPr>
          <p:cNvPr id="1217" name="Google Shape;1217;p123"/>
          <p:cNvSpPr txBox="1"/>
          <p:nvPr>
            <p:ph type="title"/>
          </p:nvPr>
        </p:nvSpPr>
        <p:spPr>
          <a:xfrm>
            <a:off x="311725" y="43725"/>
            <a:ext cx="3706500" cy="88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t>A World Without Polymorphism</a:t>
            </a:r>
            <a:endParaRPr sz="2400"/>
          </a:p>
        </p:txBody>
      </p:sp>
      <p:sp>
        <p:nvSpPr>
          <p:cNvPr id="1218" name="Google Shape;1218;p123"/>
          <p:cNvSpPr txBox="1"/>
          <p:nvPr/>
        </p:nvSpPr>
        <p:spPr>
          <a:xfrm>
            <a:off x="288025" y="935925"/>
            <a:ext cx="3706500" cy="3540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1</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class</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Increment</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2</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private</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Constant</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constant</a:t>
            </a:r>
            <a:r>
              <a:rPr lang="en" sz="800">
                <a:latin typeface="Consolas"/>
                <a:ea typeface="Consolas"/>
                <a:cs typeface="Consolas"/>
                <a:sym typeface="Consolas"/>
              </a:rPr>
              <a:t> = </a:t>
            </a:r>
            <a:r>
              <a:rPr lang="en" sz="800">
                <a:solidFill>
                  <a:srgbClr val="0000FF"/>
                </a:solidFill>
                <a:latin typeface="Consolas"/>
                <a:ea typeface="Consolas"/>
                <a:cs typeface="Consolas"/>
                <a:sym typeface="Consolas"/>
              </a:rPr>
              <a:t>null</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3</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private</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Increment</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increment</a:t>
            </a:r>
            <a:r>
              <a:rPr lang="en" sz="800">
                <a:latin typeface="Consolas"/>
                <a:ea typeface="Consolas"/>
                <a:cs typeface="Consolas"/>
                <a:sym typeface="Consolas"/>
              </a:rPr>
              <a:t> = </a:t>
            </a:r>
            <a:r>
              <a:rPr lang="en" sz="800">
                <a:solidFill>
                  <a:srgbClr val="0000FF"/>
                </a:solidFill>
                <a:latin typeface="Consolas"/>
                <a:ea typeface="Consolas"/>
                <a:cs typeface="Consolas"/>
                <a:sym typeface="Consolas"/>
              </a:rPr>
              <a:t>null</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4</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private</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Decrement</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decrement</a:t>
            </a:r>
            <a:r>
              <a:rPr lang="en" sz="800">
                <a:latin typeface="Consolas"/>
                <a:ea typeface="Consolas"/>
                <a:cs typeface="Consolas"/>
                <a:sym typeface="Consolas"/>
              </a:rPr>
              <a:t> = </a:t>
            </a:r>
            <a:r>
              <a:rPr lang="en" sz="800">
                <a:solidFill>
                  <a:srgbClr val="0000FF"/>
                </a:solidFill>
                <a:latin typeface="Consolas"/>
                <a:ea typeface="Consolas"/>
                <a:cs typeface="Consolas"/>
                <a:sym typeface="Consolas"/>
              </a:rPr>
              <a:t>null</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5</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6</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Increment</a:t>
            </a:r>
            <a:r>
              <a:rPr lang="en" sz="800">
                <a:latin typeface="Consolas"/>
                <a:ea typeface="Consolas"/>
                <a:cs typeface="Consolas"/>
                <a:sym typeface="Consolas"/>
              </a:rPr>
              <a:t>(</a:t>
            </a:r>
            <a:r>
              <a:rPr lang="en" sz="800">
                <a:solidFill>
                  <a:srgbClr val="267F99"/>
                </a:solidFill>
                <a:latin typeface="Consolas"/>
                <a:ea typeface="Consolas"/>
                <a:cs typeface="Consolas"/>
                <a:sym typeface="Consolas"/>
              </a:rPr>
              <a:t>Constant</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constant</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7</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this</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constant</a:t>
            </a:r>
            <a:r>
              <a:rPr lang="en" sz="800">
                <a:latin typeface="Consolas"/>
                <a:ea typeface="Consolas"/>
                <a:cs typeface="Consolas"/>
                <a:sym typeface="Consolas"/>
              </a:rPr>
              <a:t> = </a:t>
            </a:r>
            <a:r>
              <a:rPr lang="en" sz="800">
                <a:solidFill>
                  <a:srgbClr val="001080"/>
                </a:solidFill>
                <a:latin typeface="Consolas"/>
                <a:ea typeface="Consolas"/>
                <a:cs typeface="Consolas"/>
                <a:sym typeface="Consolas"/>
              </a:rPr>
              <a:t>constant</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8</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9</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10 </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Increment</a:t>
            </a:r>
            <a:r>
              <a:rPr lang="en" sz="800">
                <a:latin typeface="Consolas"/>
                <a:ea typeface="Consolas"/>
                <a:cs typeface="Consolas"/>
                <a:sym typeface="Consolas"/>
              </a:rPr>
              <a:t>(</a:t>
            </a:r>
            <a:r>
              <a:rPr lang="en" sz="800">
                <a:solidFill>
                  <a:srgbClr val="267F99"/>
                </a:solidFill>
                <a:latin typeface="Consolas"/>
                <a:ea typeface="Consolas"/>
                <a:cs typeface="Consolas"/>
                <a:sym typeface="Consolas"/>
              </a:rPr>
              <a:t>Increment</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increment</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11</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this</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increment</a:t>
            </a:r>
            <a:r>
              <a:rPr lang="en" sz="800">
                <a:latin typeface="Consolas"/>
                <a:ea typeface="Consolas"/>
                <a:cs typeface="Consolas"/>
                <a:sym typeface="Consolas"/>
              </a:rPr>
              <a:t> = </a:t>
            </a:r>
            <a:r>
              <a:rPr lang="en" sz="800">
                <a:solidFill>
                  <a:srgbClr val="001080"/>
                </a:solidFill>
                <a:latin typeface="Consolas"/>
                <a:ea typeface="Consolas"/>
                <a:cs typeface="Consolas"/>
                <a:sym typeface="Consolas"/>
              </a:rPr>
              <a:t>increment</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12</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13</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14</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Increment</a:t>
            </a:r>
            <a:r>
              <a:rPr lang="en" sz="800">
                <a:latin typeface="Consolas"/>
                <a:ea typeface="Consolas"/>
                <a:cs typeface="Consolas"/>
                <a:sym typeface="Consolas"/>
              </a:rPr>
              <a:t>(</a:t>
            </a:r>
            <a:r>
              <a:rPr lang="en" sz="800">
                <a:solidFill>
                  <a:srgbClr val="267F99"/>
                </a:solidFill>
                <a:latin typeface="Consolas"/>
                <a:ea typeface="Consolas"/>
                <a:cs typeface="Consolas"/>
                <a:sym typeface="Consolas"/>
              </a:rPr>
              <a:t>Decrement</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decrement</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15</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this</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decrement</a:t>
            </a:r>
            <a:r>
              <a:rPr lang="en" sz="800">
                <a:latin typeface="Consolas"/>
                <a:ea typeface="Consolas"/>
                <a:cs typeface="Consolas"/>
                <a:sym typeface="Consolas"/>
              </a:rPr>
              <a:t> = </a:t>
            </a:r>
            <a:r>
              <a:rPr lang="en" sz="800">
                <a:solidFill>
                  <a:srgbClr val="001080"/>
                </a:solidFill>
                <a:latin typeface="Consolas"/>
                <a:ea typeface="Consolas"/>
                <a:cs typeface="Consolas"/>
                <a:sym typeface="Consolas"/>
              </a:rPr>
              <a:t>decrement</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16</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17</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18</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evaluate</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19</a:t>
            </a: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if</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constant</a:t>
            </a:r>
            <a:r>
              <a:rPr lang="en" sz="800">
                <a:latin typeface="Consolas"/>
                <a:ea typeface="Consolas"/>
                <a:cs typeface="Consolas"/>
                <a:sym typeface="Consolas"/>
              </a:rPr>
              <a:t> != </a:t>
            </a:r>
            <a:r>
              <a:rPr lang="en" sz="800">
                <a:solidFill>
                  <a:srgbClr val="0000FF"/>
                </a:solidFill>
                <a:latin typeface="Consolas"/>
                <a:ea typeface="Consolas"/>
                <a:cs typeface="Consolas"/>
                <a:sym typeface="Consolas"/>
              </a:rPr>
              <a:t>null</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20</a:t>
            </a: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constant</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evaluate</a:t>
            </a:r>
            <a:r>
              <a:rPr lang="en" sz="800">
                <a:latin typeface="Consolas"/>
                <a:ea typeface="Consolas"/>
                <a:cs typeface="Consolas"/>
                <a:sym typeface="Consolas"/>
              </a:rPr>
              <a:t>() + </a:t>
            </a:r>
            <a:r>
              <a:rPr lang="en" sz="800">
                <a:solidFill>
                  <a:srgbClr val="098658"/>
                </a:solidFill>
                <a:latin typeface="Consolas"/>
                <a:ea typeface="Consolas"/>
                <a:cs typeface="Consolas"/>
                <a:sym typeface="Consolas"/>
              </a:rPr>
              <a:t>1</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21</a:t>
            </a:r>
            <a:r>
              <a:rPr lang="en" sz="800">
                <a:latin typeface="Consolas"/>
                <a:ea typeface="Consolas"/>
                <a:cs typeface="Consolas"/>
                <a:sym typeface="Consolas"/>
              </a:rPr>
              <a:t>         } </a:t>
            </a:r>
            <a:r>
              <a:rPr lang="en" sz="800">
                <a:solidFill>
                  <a:srgbClr val="AF00DB"/>
                </a:solidFill>
                <a:latin typeface="Consolas"/>
                <a:ea typeface="Consolas"/>
                <a:cs typeface="Consolas"/>
                <a:sym typeface="Consolas"/>
              </a:rPr>
              <a:t>else</a:t>
            </a: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if</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increment</a:t>
            </a:r>
            <a:r>
              <a:rPr lang="en" sz="800">
                <a:latin typeface="Consolas"/>
                <a:ea typeface="Consolas"/>
                <a:cs typeface="Consolas"/>
                <a:sym typeface="Consolas"/>
              </a:rPr>
              <a:t> != </a:t>
            </a:r>
            <a:r>
              <a:rPr lang="en" sz="800">
                <a:solidFill>
                  <a:srgbClr val="0000FF"/>
                </a:solidFill>
                <a:latin typeface="Consolas"/>
                <a:ea typeface="Consolas"/>
                <a:cs typeface="Consolas"/>
                <a:sym typeface="Consolas"/>
              </a:rPr>
              <a:t>null</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22</a:t>
            </a: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increment</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evaluate</a:t>
            </a:r>
            <a:r>
              <a:rPr lang="en" sz="800">
                <a:latin typeface="Consolas"/>
                <a:ea typeface="Consolas"/>
                <a:cs typeface="Consolas"/>
                <a:sym typeface="Consolas"/>
              </a:rPr>
              <a:t>() + </a:t>
            </a:r>
            <a:r>
              <a:rPr lang="en" sz="800">
                <a:solidFill>
                  <a:srgbClr val="098658"/>
                </a:solidFill>
                <a:latin typeface="Consolas"/>
                <a:ea typeface="Consolas"/>
                <a:cs typeface="Consolas"/>
                <a:sym typeface="Consolas"/>
              </a:rPr>
              <a:t>1</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23</a:t>
            </a:r>
            <a:r>
              <a:rPr lang="en" sz="800">
                <a:latin typeface="Consolas"/>
                <a:ea typeface="Consolas"/>
                <a:cs typeface="Consolas"/>
                <a:sym typeface="Consolas"/>
              </a:rPr>
              <a:t>         } </a:t>
            </a:r>
            <a:r>
              <a:rPr lang="en" sz="800">
                <a:solidFill>
                  <a:srgbClr val="AF00DB"/>
                </a:solidFill>
                <a:latin typeface="Consolas"/>
                <a:ea typeface="Consolas"/>
                <a:cs typeface="Consolas"/>
                <a:sym typeface="Consolas"/>
              </a:rPr>
              <a:t>else</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24</a:t>
            </a: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decrement</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evaluate</a:t>
            </a:r>
            <a:r>
              <a:rPr lang="en" sz="800">
                <a:latin typeface="Consolas"/>
                <a:ea typeface="Consolas"/>
                <a:cs typeface="Consolas"/>
                <a:sym typeface="Consolas"/>
              </a:rPr>
              <a:t>() + </a:t>
            </a:r>
            <a:r>
              <a:rPr lang="en" sz="800">
                <a:solidFill>
                  <a:srgbClr val="098658"/>
                </a:solidFill>
                <a:latin typeface="Consolas"/>
                <a:ea typeface="Consolas"/>
                <a:cs typeface="Consolas"/>
                <a:sym typeface="Consolas"/>
              </a:rPr>
              <a:t>1</a:t>
            </a:r>
            <a:r>
              <a:rPr lang="en" sz="800">
                <a:latin typeface="Consolas"/>
                <a:ea typeface="Consolas"/>
                <a:cs typeface="Consolas"/>
                <a:sym typeface="Consolas"/>
              </a:rPr>
              <a:t>;</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25</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26</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098658"/>
                </a:solidFill>
                <a:latin typeface="Consolas"/>
                <a:ea typeface="Consolas"/>
                <a:cs typeface="Consolas"/>
                <a:sym typeface="Consolas"/>
              </a:rPr>
              <a:t>27</a:t>
            </a:r>
            <a:r>
              <a:rPr lang="en" sz="800">
                <a:latin typeface="Consolas"/>
                <a:ea typeface="Consolas"/>
                <a:cs typeface="Consolas"/>
                <a:sym typeface="Consolas"/>
              </a:rPr>
              <a:t> }</a:t>
            </a:r>
            <a:endParaRPr sz="800">
              <a:latin typeface="Consolas"/>
              <a:ea typeface="Consolas"/>
              <a:cs typeface="Consolas"/>
              <a:sym typeface="Consolas"/>
            </a:endParaRPr>
          </a:p>
          <a:p>
            <a:pPr indent="0" lvl="0" marL="0" rtl="0" algn="l">
              <a:lnSpc>
                <a:spcPct val="100000"/>
              </a:lnSpc>
              <a:spcBef>
                <a:spcPts val="0"/>
              </a:spcBef>
              <a:spcAft>
                <a:spcPts val="0"/>
              </a:spcAft>
              <a:buNone/>
            </a:pPr>
            <a:r>
              <a:t/>
            </a:r>
            <a:endParaRPr sz="800">
              <a:solidFill>
                <a:srgbClr val="999999"/>
              </a:solidFill>
              <a:latin typeface="Consolas"/>
              <a:ea typeface="Consolas"/>
              <a:cs typeface="Consolas"/>
              <a:sym typeface="Consolas"/>
            </a:endParaRPr>
          </a:p>
        </p:txBody>
      </p:sp>
      <p:sp>
        <p:nvSpPr>
          <p:cNvPr id="1219" name="Google Shape;1219;p1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20" name="Google Shape;1220;p123"/>
          <p:cNvSpPr txBox="1"/>
          <p:nvPr>
            <p:ph idx="3" type="body"/>
          </p:nvPr>
        </p:nvSpPr>
        <p:spPr>
          <a:xfrm>
            <a:off x="287925" y="4550575"/>
            <a:ext cx="3706500" cy="486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Clearly this is not scalable. So let's make sure to use </a:t>
            </a:r>
            <a:r>
              <a:rPr b="1" i="1" lang="en" sz="1200">
                <a:solidFill>
                  <a:srgbClr val="FF0000"/>
                </a:solidFill>
              </a:rPr>
              <a:t>inheritance</a:t>
            </a:r>
            <a:r>
              <a:rPr lang="en" sz="1200">
                <a:solidFill>
                  <a:srgbClr val="FF0000"/>
                </a:solidFill>
              </a:rPr>
              <a:t> </a:t>
            </a:r>
            <a:r>
              <a:rPr lang="en" sz="1200"/>
              <a:t>and </a:t>
            </a:r>
            <a:r>
              <a:rPr b="1" i="1" lang="en" sz="1200">
                <a:solidFill>
                  <a:srgbClr val="FF0000"/>
                </a:solidFill>
              </a:rPr>
              <a:t>polymorphism</a:t>
            </a:r>
            <a:r>
              <a:rPr lang="en" sz="1200">
                <a:solidFill>
                  <a:srgbClr val="FF0000"/>
                </a:solidFill>
              </a:rPr>
              <a:t> </a:t>
            </a:r>
            <a:r>
              <a:rPr lang="en" sz="1200"/>
              <a:t>in our design.</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0"/>
                                        </p:tgtEl>
                                        <p:attrNameLst>
                                          <p:attrName>style.visibility</p:attrName>
                                        </p:attrNameLst>
                                      </p:cBhvr>
                                      <p:to>
                                        <p:strVal val="visible"/>
                                      </p:to>
                                    </p:set>
                                    <p:animEffect filter="fade" transition="in">
                                      <p:cBhvr>
                                        <p:cTn dur="1000"/>
                                        <p:tgtEl>
                                          <p:spTgt spid="1220"/>
                                        </p:tgtEl>
                                      </p:cBhvr>
                                    </p:animEffect>
                                  </p:childTnLst>
                                </p:cTn>
                              </p:par>
                              <p:par>
                                <p:cTn fill="hold" nodeType="withEffect" presetClass="entr" presetID="10" presetSubtype="0">
                                  <p:stCondLst>
                                    <p:cond delay="0"/>
                                  </p:stCondLst>
                                  <p:childTnLst>
                                    <p:set>
                                      <p:cBhvr>
                                        <p:cTn dur="1" fill="hold">
                                          <p:stCondLst>
                                            <p:cond delay="0"/>
                                          </p:stCondLst>
                                        </p:cTn>
                                        <p:tgtEl>
                                          <p:spTgt spid="1218"/>
                                        </p:tgtEl>
                                        <p:attrNameLst>
                                          <p:attrName>style.visibility</p:attrName>
                                        </p:attrNameLst>
                                      </p:cBhvr>
                                      <p:to>
                                        <p:strVal val="visible"/>
                                      </p:to>
                                    </p:set>
                                    <p:animEffect filter="fade" transition="in">
                                      <p:cBhvr>
                                        <p:cTn dur="1000"/>
                                        <p:tgtEl>
                                          <p:spTgt spid="1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124"/>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Both constants and unary expressions are types of </a:t>
            </a:r>
            <a:r>
              <a:rPr b="1" i="1" lang="en">
                <a:solidFill>
                  <a:srgbClr val="FF0000"/>
                </a:solidFill>
              </a:rPr>
              <a:t>expressions</a:t>
            </a:r>
            <a:r>
              <a:rPr lang="en">
                <a:solidFill>
                  <a:srgbClr val="FF0000"/>
                </a:solidFill>
              </a:rPr>
              <a:t> </a:t>
            </a:r>
            <a:r>
              <a:rPr lang="en"/>
              <a:t>that evaluate to a single value. This implies that they have some common behavior, even if the implementation of that behavior is going to be different. Create a common parent class to represent an expression.</a:t>
            </a:r>
            <a:endParaRPr/>
          </a:p>
        </p:txBody>
      </p:sp>
      <p:sp>
        <p:nvSpPr>
          <p:cNvPr id="1226" name="Google Shape;1226;p1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27" name="Google Shape;1227;p124"/>
          <p:cNvSpPr txBox="1"/>
          <p:nvPr>
            <p:ph idx="2" type="body"/>
          </p:nvPr>
        </p:nvSpPr>
        <p:spPr>
          <a:xfrm>
            <a:off x="3367675" y="1784525"/>
            <a:ext cx="5573400" cy="25950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Create a new package named "</a:t>
            </a:r>
            <a:r>
              <a:rPr lang="en" sz="1600">
                <a:solidFill>
                  <a:srgbClr val="FF0000"/>
                </a:solidFill>
                <a:latin typeface="Courier New"/>
                <a:ea typeface="Courier New"/>
                <a:cs typeface="Courier New"/>
                <a:sym typeface="Courier New"/>
              </a:rPr>
              <a:t>parser</a:t>
            </a:r>
            <a:r>
              <a:rPr lang="en" sz="1600"/>
              <a:t>" and use it for all of the code that you write for the "expression parser" problem.</a:t>
            </a:r>
            <a:endParaRPr sz="1600"/>
          </a:p>
          <a:p>
            <a:pPr indent="-330200" lvl="0" marL="457200" rtl="0" algn="l">
              <a:spcBef>
                <a:spcPts val="0"/>
              </a:spcBef>
              <a:spcAft>
                <a:spcPts val="0"/>
              </a:spcAft>
              <a:buSzPts val="1600"/>
              <a:buChar char="●"/>
            </a:pPr>
            <a:r>
              <a:rPr lang="en" sz="1600"/>
              <a:t>Create a new Java class name "</a:t>
            </a:r>
            <a:r>
              <a:rPr lang="en" sz="1600">
                <a:solidFill>
                  <a:srgbClr val="FF0000"/>
                </a:solidFill>
                <a:latin typeface="Courier New"/>
                <a:ea typeface="Courier New"/>
                <a:cs typeface="Courier New"/>
                <a:sym typeface="Courier New"/>
              </a:rPr>
              <a:t>Expression</a:t>
            </a:r>
            <a:r>
              <a:rPr lang="en" sz="1600"/>
              <a:t>" in the </a:t>
            </a:r>
            <a:r>
              <a:rPr lang="en" sz="1600">
                <a:latin typeface="Courier New"/>
                <a:ea typeface="Courier New"/>
                <a:cs typeface="Courier New"/>
                <a:sym typeface="Courier New"/>
              </a:rPr>
              <a:t>parser</a:t>
            </a:r>
            <a:r>
              <a:rPr lang="en" sz="1600"/>
              <a:t> package and define a method named </a:t>
            </a:r>
            <a:r>
              <a:rPr lang="en" sz="1600">
                <a:solidFill>
                  <a:srgbClr val="FF0000"/>
                </a:solidFill>
                <a:latin typeface="Courier New"/>
                <a:ea typeface="Courier New"/>
                <a:cs typeface="Courier New"/>
                <a:sym typeface="Courier New"/>
              </a:rPr>
              <a:t>evaluate</a:t>
            </a:r>
            <a:r>
              <a:rPr lang="en" sz="1600">
                <a:solidFill>
                  <a:srgbClr val="FF0000"/>
                </a:solidFill>
              </a:rPr>
              <a:t> </a:t>
            </a:r>
            <a:r>
              <a:rPr lang="en" sz="1600"/>
              <a:t>that returns a </a:t>
            </a:r>
            <a:r>
              <a:rPr lang="en" sz="1600">
                <a:solidFill>
                  <a:srgbClr val="FF0000"/>
                </a:solidFill>
                <a:latin typeface="Courier New"/>
                <a:ea typeface="Courier New"/>
                <a:cs typeface="Courier New"/>
                <a:sym typeface="Courier New"/>
              </a:rPr>
              <a:t>double</a:t>
            </a:r>
            <a:r>
              <a:rPr lang="en" sz="1600"/>
              <a:t>.</a:t>
            </a:r>
            <a:endParaRPr sz="1600"/>
          </a:p>
          <a:p>
            <a:pPr indent="-317500" lvl="1" marL="914400" rtl="0" algn="l">
              <a:spcBef>
                <a:spcPts val="0"/>
              </a:spcBef>
              <a:spcAft>
                <a:spcPts val="0"/>
              </a:spcAft>
              <a:buSzPts val="1400"/>
              <a:buChar char="○"/>
            </a:pPr>
            <a:r>
              <a:rPr lang="en" sz="1400"/>
              <a:t>There is no possible common implementation of this method, and so it should probably be declared </a:t>
            </a:r>
            <a:r>
              <a:rPr lang="en" sz="1400">
                <a:solidFill>
                  <a:srgbClr val="FF0000"/>
                </a:solidFill>
                <a:latin typeface="Courier New"/>
                <a:ea typeface="Courier New"/>
                <a:cs typeface="Courier New"/>
                <a:sym typeface="Courier New"/>
              </a:rPr>
              <a:t>abstract</a:t>
            </a:r>
            <a:r>
              <a:rPr lang="en" sz="1400"/>
              <a:t>.</a:t>
            </a:r>
            <a:endParaRPr sz="1400"/>
          </a:p>
        </p:txBody>
      </p:sp>
      <p:sp>
        <p:nvSpPr>
          <p:cNvPr id="1228" name="Google Shape;1228;p12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An Expression Class</a:t>
            </a:r>
            <a:endParaRPr/>
          </a:p>
        </p:txBody>
      </p:sp>
      <p:sp>
        <p:nvSpPr>
          <p:cNvPr id="1229" name="Google Shape;1229;p12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3.27</a:t>
            </a:r>
            <a:endParaRPr/>
          </a:p>
        </p:txBody>
      </p:sp>
      <p:sp>
        <p:nvSpPr>
          <p:cNvPr id="1230" name="Google Shape;1230;p124"/>
          <p:cNvSpPr txBox="1"/>
          <p:nvPr>
            <p:ph idx="4" type="body"/>
          </p:nvPr>
        </p:nvSpPr>
        <p:spPr>
          <a:xfrm>
            <a:off x="256200" y="2802200"/>
            <a:ext cx="30237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Ultimately, we'd like our expression parser to be able to work with any kind of expression. </a:t>
            </a:r>
            <a:endParaRPr/>
          </a:p>
        </p:txBody>
      </p:sp>
      <p:sp>
        <p:nvSpPr>
          <p:cNvPr id="1231" name="Google Shape;1231;p124"/>
          <p:cNvSpPr txBox="1"/>
          <p:nvPr/>
        </p:nvSpPr>
        <p:spPr>
          <a:xfrm>
            <a:off x="256200" y="1909875"/>
            <a:ext cx="3023700" cy="800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abstract</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class</a:t>
            </a:r>
            <a:r>
              <a:rPr lang="en" sz="1000">
                <a:highlight>
                  <a:srgbClr val="FFFFFF"/>
                </a:highlight>
                <a:latin typeface="Courier New"/>
                <a:ea typeface="Courier New"/>
                <a:cs typeface="Courier New"/>
                <a:sym typeface="Courier New"/>
              </a:rPr>
              <a:t> Animal {</a:t>
            </a:r>
            <a:endParaRPr sz="1000">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abstract</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void</a:t>
            </a:r>
            <a:r>
              <a:rPr lang="en" sz="1000">
                <a:highlight>
                  <a:srgbClr val="FFFFFF"/>
                </a:highlight>
                <a:latin typeface="Courier New"/>
                <a:ea typeface="Courier New"/>
                <a:cs typeface="Courier New"/>
                <a:sym typeface="Courier New"/>
              </a:rPr>
              <a:t> speak();</a:t>
            </a:r>
            <a:endParaRPr sz="1000">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highlight>
                  <a:srgbClr val="FFFFFF"/>
                </a:highlight>
                <a:latin typeface="Courier New"/>
                <a:ea typeface="Courier New"/>
                <a:cs typeface="Courier New"/>
                <a:sym typeface="Courier New"/>
              </a:rPr>
              <a:t>}</a:t>
            </a:r>
            <a:endParaRPr sz="1000">
              <a:highlight>
                <a:srgbClr val="FFFFFF"/>
              </a:highlight>
              <a:latin typeface="Courier New"/>
              <a:ea typeface="Courier New"/>
              <a:cs typeface="Courier New"/>
              <a:sym typeface="Courier New"/>
            </a:endParaRPr>
          </a:p>
        </p:txBody>
      </p:sp>
      <p:sp>
        <p:nvSpPr>
          <p:cNvPr id="1232" name="Google Shape;1232;p124"/>
          <p:cNvSpPr txBox="1"/>
          <p:nvPr>
            <p:ph idx="4" type="body"/>
          </p:nvPr>
        </p:nvSpPr>
        <p:spPr>
          <a:xfrm>
            <a:off x="256200" y="3640400"/>
            <a:ext cx="30237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common expression class will allow us to use </a:t>
            </a:r>
            <a:r>
              <a:rPr b="1" i="1" lang="en">
                <a:solidFill>
                  <a:srgbClr val="FF0000"/>
                </a:solidFill>
              </a:rPr>
              <a:t>polymorphism</a:t>
            </a:r>
            <a:r>
              <a:rPr lang="en">
                <a:solidFill>
                  <a:srgbClr val="FF0000"/>
                </a:solidFill>
              </a:rPr>
              <a:t> </a:t>
            </a:r>
            <a:r>
              <a:rPr lang="en"/>
              <a:t>when implementing the parser.</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125"/>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A </a:t>
            </a:r>
            <a:r>
              <a:rPr lang="en"/>
              <a:t>constant</a:t>
            </a:r>
            <a:r>
              <a:rPr lang="en"/>
              <a:t> is the simplest kind of expression: it always evaluates to the same value. Create a new class that implements a Constant expression.</a:t>
            </a:r>
            <a:endParaRPr/>
          </a:p>
        </p:txBody>
      </p:sp>
      <p:sp>
        <p:nvSpPr>
          <p:cNvPr id="1238" name="Google Shape;1238;p1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39" name="Google Shape;1239;p125"/>
          <p:cNvSpPr txBox="1"/>
          <p:nvPr>
            <p:ph idx="2" type="body"/>
          </p:nvPr>
        </p:nvSpPr>
        <p:spPr>
          <a:xfrm>
            <a:off x="3177350" y="1479725"/>
            <a:ext cx="5763900" cy="29775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Create a new Java class named "</a:t>
            </a:r>
            <a:r>
              <a:rPr lang="en" sz="1700">
                <a:solidFill>
                  <a:srgbClr val="FF0000"/>
                </a:solidFill>
                <a:latin typeface="Courier New"/>
                <a:ea typeface="Courier New"/>
                <a:cs typeface="Courier New"/>
                <a:sym typeface="Courier New"/>
              </a:rPr>
              <a:t>Constant</a:t>
            </a:r>
            <a:r>
              <a:rPr lang="en" sz="1700"/>
              <a:t>". When a constant expression is evaluated, it always returns its constant value.</a:t>
            </a:r>
            <a:endParaRPr sz="1700"/>
          </a:p>
          <a:p>
            <a:pPr indent="-323850" lvl="1" marL="914400" rtl="0" algn="l">
              <a:spcBef>
                <a:spcPts val="0"/>
              </a:spcBef>
              <a:spcAft>
                <a:spcPts val="0"/>
              </a:spcAft>
              <a:buSzPts val="1500"/>
              <a:buChar char="○"/>
            </a:pPr>
            <a:r>
              <a:rPr lang="en" sz="1500"/>
              <a:t>Don't forget to </a:t>
            </a:r>
            <a:r>
              <a:rPr b="1" i="1" lang="en" sz="1500">
                <a:solidFill>
                  <a:srgbClr val="FF0000"/>
                </a:solidFill>
              </a:rPr>
              <a:t>extend </a:t>
            </a:r>
            <a:r>
              <a:rPr lang="en" sz="1500"/>
              <a:t>your </a:t>
            </a:r>
            <a:r>
              <a:rPr lang="en" sz="1500">
                <a:latin typeface="Courier New"/>
                <a:ea typeface="Courier New"/>
                <a:cs typeface="Courier New"/>
                <a:sym typeface="Courier New"/>
              </a:rPr>
              <a:t>Expression</a:t>
            </a:r>
            <a:r>
              <a:rPr lang="en" sz="1500"/>
              <a:t> class.</a:t>
            </a:r>
            <a:endParaRPr sz="1500"/>
          </a:p>
          <a:p>
            <a:pPr indent="-323850" lvl="1" marL="914400" rtl="0" algn="l">
              <a:spcBef>
                <a:spcPts val="0"/>
              </a:spcBef>
              <a:spcAft>
                <a:spcPts val="0"/>
              </a:spcAft>
              <a:buSzPts val="1500"/>
              <a:buChar char="○"/>
            </a:pPr>
            <a:r>
              <a:rPr lang="en" sz="1500"/>
              <a:t>Declare a </a:t>
            </a:r>
            <a:r>
              <a:rPr b="1" i="1" lang="en" sz="1500">
                <a:solidFill>
                  <a:srgbClr val="FF0000"/>
                </a:solidFill>
              </a:rPr>
              <a:t>field </a:t>
            </a:r>
            <a:r>
              <a:rPr lang="en" sz="1500"/>
              <a:t>to hold the constant value.</a:t>
            </a:r>
            <a:endParaRPr sz="1500"/>
          </a:p>
          <a:p>
            <a:pPr indent="-323850" lvl="1" marL="914400" rtl="0" algn="l">
              <a:spcBef>
                <a:spcPts val="0"/>
              </a:spcBef>
              <a:spcAft>
                <a:spcPts val="0"/>
              </a:spcAft>
              <a:buSzPts val="1500"/>
              <a:buChar char="○"/>
            </a:pPr>
            <a:r>
              <a:rPr lang="en" sz="1500"/>
              <a:t>Implement a </a:t>
            </a:r>
            <a:r>
              <a:rPr b="1" i="1" lang="en" sz="1500">
                <a:solidFill>
                  <a:srgbClr val="FF0000"/>
                </a:solidFill>
              </a:rPr>
              <a:t>constructor </a:t>
            </a:r>
            <a:r>
              <a:rPr lang="en" sz="1500"/>
              <a:t>to set the value.</a:t>
            </a:r>
            <a:endParaRPr sz="1500"/>
          </a:p>
          <a:p>
            <a:pPr indent="-323850" lvl="1" marL="914400" rtl="0" algn="l">
              <a:spcBef>
                <a:spcPts val="0"/>
              </a:spcBef>
              <a:spcAft>
                <a:spcPts val="0"/>
              </a:spcAft>
              <a:buSzPts val="1500"/>
              <a:buChar char="○"/>
            </a:pPr>
            <a:r>
              <a:rPr b="1" i="1" lang="en" sz="1500">
                <a:solidFill>
                  <a:srgbClr val="FF0000"/>
                </a:solidFill>
              </a:rPr>
              <a:t>Implement </a:t>
            </a:r>
            <a:r>
              <a:rPr lang="en" sz="1500"/>
              <a:t>the </a:t>
            </a:r>
            <a:r>
              <a:rPr lang="en" sz="1500">
                <a:latin typeface="Courier New"/>
                <a:ea typeface="Courier New"/>
                <a:cs typeface="Courier New"/>
                <a:sym typeface="Courier New"/>
              </a:rPr>
              <a:t>evaluate</a:t>
            </a:r>
            <a:r>
              <a:rPr lang="en" sz="1500"/>
              <a:t> method. Hint: it just returns the constant value!</a:t>
            </a:r>
            <a:endParaRPr sz="1500"/>
          </a:p>
          <a:p>
            <a:pPr indent="-336550" lvl="0" marL="457200" rtl="0" algn="l">
              <a:spcBef>
                <a:spcPts val="0"/>
              </a:spcBef>
              <a:spcAft>
                <a:spcPts val="0"/>
              </a:spcAft>
              <a:buSzPts val="1700"/>
              <a:buChar char="●"/>
            </a:pPr>
            <a:r>
              <a:rPr lang="en" sz="1700"/>
              <a:t>Define a </a:t>
            </a:r>
            <a:r>
              <a:rPr lang="en" sz="1700">
                <a:latin typeface="Courier New"/>
                <a:ea typeface="Courier New"/>
                <a:cs typeface="Courier New"/>
                <a:sym typeface="Courier New"/>
              </a:rPr>
              <a:t>main</a:t>
            </a:r>
            <a:r>
              <a:rPr lang="en" sz="1700"/>
              <a:t> method with the appropriate signature, and test your new </a:t>
            </a:r>
            <a:r>
              <a:rPr lang="en" sz="1700">
                <a:latin typeface="Courier New"/>
                <a:ea typeface="Courier New"/>
                <a:cs typeface="Courier New"/>
                <a:sym typeface="Courier New"/>
              </a:rPr>
              <a:t>Constant</a:t>
            </a:r>
            <a:r>
              <a:rPr lang="en" sz="1700"/>
              <a:t> class.</a:t>
            </a:r>
            <a:endParaRPr sz="1700"/>
          </a:p>
        </p:txBody>
      </p:sp>
      <p:sp>
        <p:nvSpPr>
          <p:cNvPr id="1240" name="Google Shape;1240;p125"/>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Constant Expression</a:t>
            </a:r>
            <a:endParaRPr/>
          </a:p>
        </p:txBody>
      </p:sp>
      <p:sp>
        <p:nvSpPr>
          <p:cNvPr id="1241" name="Google Shape;1241;p125"/>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3.28</a:t>
            </a:r>
            <a:endParaRPr/>
          </a:p>
        </p:txBody>
      </p:sp>
      <p:sp>
        <p:nvSpPr>
          <p:cNvPr id="1242" name="Google Shape;1242;p125"/>
          <p:cNvSpPr txBox="1"/>
          <p:nvPr/>
        </p:nvSpPr>
        <p:spPr>
          <a:xfrm>
            <a:off x="177325" y="1463625"/>
            <a:ext cx="2794500" cy="800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abstract</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class</a:t>
            </a:r>
            <a:r>
              <a:rPr lang="en" sz="1000">
                <a:highlight>
                  <a:srgbClr val="FFFFFF"/>
                </a:highlight>
                <a:latin typeface="Courier New"/>
                <a:ea typeface="Courier New"/>
                <a:cs typeface="Courier New"/>
                <a:sym typeface="Courier New"/>
              </a:rPr>
              <a:t> Animal {</a:t>
            </a:r>
            <a:endParaRPr sz="1000">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abstract</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void</a:t>
            </a:r>
            <a:r>
              <a:rPr lang="en" sz="1000">
                <a:highlight>
                  <a:srgbClr val="FFFFFF"/>
                </a:highlight>
                <a:latin typeface="Courier New"/>
                <a:ea typeface="Courier New"/>
                <a:cs typeface="Courier New"/>
                <a:sym typeface="Courier New"/>
              </a:rPr>
              <a:t> speak();</a:t>
            </a:r>
            <a:endParaRPr sz="1000">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highlight>
                  <a:srgbClr val="FFFFFF"/>
                </a:highlight>
                <a:latin typeface="Courier New"/>
                <a:ea typeface="Courier New"/>
                <a:cs typeface="Courier New"/>
                <a:sym typeface="Courier New"/>
              </a:rPr>
              <a:t>}</a:t>
            </a:r>
            <a:endParaRPr sz="1000">
              <a:highlight>
                <a:srgbClr val="FFFFFF"/>
              </a:highlight>
              <a:latin typeface="Courier New"/>
              <a:ea typeface="Courier New"/>
              <a:cs typeface="Courier New"/>
              <a:sym typeface="Courier New"/>
            </a:endParaRPr>
          </a:p>
        </p:txBody>
      </p:sp>
      <p:sp>
        <p:nvSpPr>
          <p:cNvPr id="1243" name="Google Shape;1243;p125"/>
          <p:cNvSpPr txBox="1"/>
          <p:nvPr/>
        </p:nvSpPr>
        <p:spPr>
          <a:xfrm>
            <a:off x="177325" y="2568825"/>
            <a:ext cx="2794500" cy="2416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class</a:t>
            </a:r>
            <a:r>
              <a:rPr lang="en" sz="1000">
                <a:highlight>
                  <a:srgbClr val="FFFFFF"/>
                </a:highlight>
                <a:latin typeface="Courier New"/>
                <a:ea typeface="Courier New"/>
                <a:cs typeface="Courier New"/>
                <a:sym typeface="Courier New"/>
              </a:rPr>
              <a:t> Dog </a:t>
            </a:r>
            <a:r>
              <a:rPr lang="en" sz="1000">
                <a:solidFill>
                  <a:srgbClr val="0000FF"/>
                </a:solidFill>
                <a:highlight>
                  <a:srgbClr val="FFFFFF"/>
                </a:highlight>
                <a:latin typeface="Courier New"/>
                <a:ea typeface="Courier New"/>
                <a:cs typeface="Courier New"/>
                <a:sym typeface="Courier New"/>
              </a:rPr>
              <a:t>extends</a:t>
            </a:r>
            <a:r>
              <a:rPr lang="en" sz="1000">
                <a:highlight>
                  <a:srgbClr val="FFFFFF"/>
                </a:highlight>
                <a:latin typeface="Courier New"/>
                <a:ea typeface="Courier New"/>
                <a:cs typeface="Courier New"/>
                <a:sym typeface="Courier New"/>
              </a:rPr>
              <a:t> Animal{</a:t>
            </a:r>
            <a:endParaRPr sz="1000">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private</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String</a:t>
            </a:r>
            <a:r>
              <a:rPr lang="en" sz="1000">
                <a:highlight>
                  <a:srgbClr val="FFFFFF"/>
                </a:highlight>
                <a:latin typeface="Courier New"/>
                <a:ea typeface="Courier New"/>
                <a:cs typeface="Courier New"/>
                <a:sym typeface="Courier New"/>
              </a:rPr>
              <a:t> name;</a:t>
            </a:r>
            <a:endParaRPr sz="1000">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Dog(</a:t>
            </a:r>
            <a:r>
              <a:rPr lang="en" sz="1000">
                <a:solidFill>
                  <a:srgbClr val="0000FF"/>
                </a:solidFill>
                <a:highlight>
                  <a:srgbClr val="FFFFFF"/>
                </a:highlight>
                <a:latin typeface="Courier New"/>
                <a:ea typeface="Courier New"/>
                <a:cs typeface="Courier New"/>
                <a:sym typeface="Courier New"/>
              </a:rPr>
              <a:t>String</a:t>
            </a:r>
            <a:r>
              <a:rPr lang="en" sz="1000">
                <a:highlight>
                  <a:srgbClr val="FFFFFF"/>
                </a:highlight>
                <a:latin typeface="Courier New"/>
                <a:ea typeface="Courier New"/>
                <a:cs typeface="Courier New"/>
                <a:sym typeface="Courier New"/>
              </a:rPr>
              <a:t> name){</a:t>
            </a:r>
            <a:endParaRPr sz="1000">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this</a:t>
            </a:r>
            <a:r>
              <a:rPr lang="en" sz="1000">
                <a:highlight>
                  <a:srgbClr val="FFFFFF"/>
                </a:highlight>
                <a:latin typeface="Courier New"/>
                <a:ea typeface="Courier New"/>
                <a:cs typeface="Courier New"/>
                <a:sym typeface="Courier New"/>
              </a:rPr>
              <a:t>.name = name;</a:t>
            </a:r>
            <a:endParaRPr sz="1000">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endParaRPr sz="1000">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Override</a:t>
            </a:r>
            <a:endParaRPr sz="1000">
              <a:solidFill>
                <a:srgbClr val="0000FF"/>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void</a:t>
            </a:r>
            <a:r>
              <a:rPr lang="en" sz="1000">
                <a:highlight>
                  <a:srgbClr val="FFFFFF"/>
                </a:highlight>
                <a:latin typeface="Courier New"/>
                <a:ea typeface="Courier New"/>
                <a:cs typeface="Courier New"/>
                <a:sym typeface="Courier New"/>
              </a:rPr>
              <a:t> speak(){</a:t>
            </a:r>
            <a:endParaRPr sz="1000">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highlight>
                  <a:srgbClr val="FFFFFF"/>
                </a:highlight>
                <a:latin typeface="Courier New"/>
                <a:ea typeface="Courier New"/>
                <a:cs typeface="Courier New"/>
                <a:sym typeface="Courier New"/>
              </a:rPr>
              <a:t>       System.out.println(</a:t>
            </a:r>
            <a:r>
              <a:rPr lang="en" sz="1000">
                <a:solidFill>
                  <a:srgbClr val="A31515"/>
                </a:solidFill>
                <a:highlight>
                  <a:srgbClr val="FFFFFF"/>
                </a:highlight>
                <a:latin typeface="Courier New"/>
                <a:ea typeface="Courier New"/>
                <a:cs typeface="Courier New"/>
                <a:sym typeface="Courier New"/>
              </a:rPr>
              <a:t>"Woof"</a:t>
            </a:r>
            <a:r>
              <a:rPr lang="en" sz="1000">
                <a:highlight>
                  <a:srgbClr val="FFFFFF"/>
                </a:highlight>
                <a:latin typeface="Courier New"/>
                <a:ea typeface="Courier New"/>
                <a:cs typeface="Courier New"/>
                <a:sym typeface="Courier New"/>
              </a:rPr>
              <a:t>);</a:t>
            </a:r>
            <a:endParaRPr sz="1000">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endParaRPr sz="1000">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highlight>
                  <a:srgbClr val="FFFFFF"/>
                </a:highlight>
                <a:latin typeface="Courier New"/>
                <a:ea typeface="Courier New"/>
                <a:cs typeface="Courier New"/>
                <a:sym typeface="Courier New"/>
              </a:rPr>
              <a:t>}</a:t>
            </a:r>
            <a:endParaRPr sz="1000">
              <a:highlight>
                <a:srgbClr val="FFFFFF"/>
              </a:highlight>
              <a:latin typeface="Courier New"/>
              <a:ea typeface="Courier New"/>
              <a:cs typeface="Courier New"/>
              <a:sym typeface="Courier New"/>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126"/>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Increment and decrement are both </a:t>
            </a:r>
            <a:r>
              <a:rPr b="1" i="1" lang="en">
                <a:solidFill>
                  <a:srgbClr val="FF0000"/>
                </a:solidFill>
              </a:rPr>
              <a:t>unary expressions</a:t>
            </a:r>
            <a:r>
              <a:rPr lang="en"/>
              <a:t>, </a:t>
            </a:r>
            <a:r>
              <a:rPr lang="en"/>
              <a:t>meaning that each is created with </a:t>
            </a:r>
            <a:r>
              <a:rPr b="1" i="1" lang="en">
                <a:solidFill>
                  <a:srgbClr val="FF0000"/>
                </a:solidFill>
              </a:rPr>
              <a:t>one</a:t>
            </a:r>
            <a:r>
              <a:rPr lang="en">
                <a:solidFill>
                  <a:srgbClr val="FF0000"/>
                </a:solidFill>
              </a:rPr>
              <a:t> </a:t>
            </a:r>
            <a:r>
              <a:rPr lang="en"/>
              <a:t>operand (another expression) that must be evaluated before the final result is computed. </a:t>
            </a:r>
            <a:endParaRPr/>
          </a:p>
        </p:txBody>
      </p:sp>
      <p:sp>
        <p:nvSpPr>
          <p:cNvPr id="1249" name="Google Shape;1249;p1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50" name="Google Shape;1250;p126"/>
          <p:cNvSpPr txBox="1"/>
          <p:nvPr>
            <p:ph idx="2" type="body"/>
          </p:nvPr>
        </p:nvSpPr>
        <p:spPr>
          <a:xfrm>
            <a:off x="3306125" y="1555925"/>
            <a:ext cx="5558700" cy="25929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Create a new Java class named "</a:t>
            </a:r>
            <a:r>
              <a:rPr lang="en" sz="1500">
                <a:solidFill>
                  <a:srgbClr val="FF0000"/>
                </a:solidFill>
                <a:latin typeface="Courier New"/>
                <a:ea typeface="Courier New"/>
                <a:cs typeface="Courier New"/>
                <a:sym typeface="Courier New"/>
              </a:rPr>
              <a:t>Increment</a:t>
            </a:r>
            <a:r>
              <a:rPr lang="en" sz="1500"/>
              <a:t>" and implement the </a:t>
            </a:r>
            <a:r>
              <a:rPr b="1" i="1" lang="en" sz="1500">
                <a:solidFill>
                  <a:srgbClr val="FF0000"/>
                </a:solidFill>
              </a:rPr>
              <a:t>increment </a:t>
            </a:r>
            <a:r>
              <a:rPr lang="en" sz="1500"/>
              <a:t>expression.</a:t>
            </a:r>
            <a:endParaRPr sz="1500"/>
          </a:p>
          <a:p>
            <a:pPr indent="-311150" lvl="1" marL="914400" rtl="0" algn="l">
              <a:spcBef>
                <a:spcPts val="0"/>
              </a:spcBef>
              <a:spcAft>
                <a:spcPts val="0"/>
              </a:spcAft>
              <a:buSzPts val="1300"/>
              <a:buChar char="○"/>
            </a:pPr>
            <a:r>
              <a:rPr lang="en" sz="1300"/>
              <a:t>Do not forget to </a:t>
            </a:r>
            <a:r>
              <a:rPr b="1" i="1" lang="en" sz="1300">
                <a:solidFill>
                  <a:srgbClr val="FF0000"/>
                </a:solidFill>
              </a:rPr>
              <a:t>extend</a:t>
            </a:r>
            <a:r>
              <a:rPr lang="en" sz="1300">
                <a:solidFill>
                  <a:srgbClr val="FF0000"/>
                </a:solidFill>
              </a:rPr>
              <a:t> </a:t>
            </a:r>
            <a:r>
              <a:rPr lang="en" sz="1300"/>
              <a:t>your </a:t>
            </a:r>
            <a:r>
              <a:rPr lang="en" sz="1300">
                <a:latin typeface="Courier New"/>
                <a:ea typeface="Courier New"/>
                <a:cs typeface="Courier New"/>
                <a:sym typeface="Courier New"/>
              </a:rPr>
              <a:t>Expression</a:t>
            </a:r>
            <a:r>
              <a:rPr lang="en" sz="1300"/>
              <a:t> class.</a:t>
            </a:r>
            <a:endParaRPr sz="1300"/>
          </a:p>
          <a:p>
            <a:pPr indent="-311150" lvl="1" marL="914400" rtl="0" algn="l">
              <a:spcBef>
                <a:spcPts val="0"/>
              </a:spcBef>
              <a:spcAft>
                <a:spcPts val="0"/>
              </a:spcAft>
              <a:buSzPts val="1300"/>
              <a:buChar char="○"/>
            </a:pPr>
            <a:r>
              <a:rPr lang="en" sz="1300"/>
              <a:t>An increment expression is created with an </a:t>
            </a:r>
            <a:r>
              <a:rPr b="1" i="1" lang="en" sz="1300">
                <a:solidFill>
                  <a:srgbClr val="FF0000"/>
                </a:solidFill>
              </a:rPr>
              <a:t>operand</a:t>
            </a:r>
            <a:r>
              <a:rPr lang="en" sz="1300">
                <a:solidFill>
                  <a:srgbClr val="FF0000"/>
                </a:solidFill>
              </a:rPr>
              <a:t> </a:t>
            </a:r>
            <a:r>
              <a:rPr lang="en" sz="1300"/>
              <a:t>that may be any other kind of expression.</a:t>
            </a:r>
            <a:endParaRPr sz="1300"/>
          </a:p>
          <a:p>
            <a:pPr indent="-311150" lvl="1" marL="914400" rtl="0" algn="l">
              <a:spcBef>
                <a:spcPts val="0"/>
              </a:spcBef>
              <a:spcAft>
                <a:spcPts val="0"/>
              </a:spcAft>
              <a:buSzPts val="1300"/>
              <a:buChar char="○"/>
            </a:pPr>
            <a:r>
              <a:rPr lang="en" sz="1300"/>
              <a:t>When an increment is evaluated, it </a:t>
            </a:r>
            <a:r>
              <a:rPr b="1" i="1" lang="en" sz="1300">
                <a:solidFill>
                  <a:srgbClr val="FF0000"/>
                </a:solidFill>
              </a:rPr>
              <a:t>evaluates </a:t>
            </a:r>
            <a:r>
              <a:rPr lang="en" sz="1300"/>
              <a:t>its operand expression and then </a:t>
            </a:r>
            <a:r>
              <a:rPr b="1" i="1" lang="en" sz="1300">
                <a:solidFill>
                  <a:srgbClr val="FF0000"/>
                </a:solidFill>
              </a:rPr>
              <a:t>adds 1</a:t>
            </a:r>
            <a:r>
              <a:rPr lang="en" sz="1300"/>
              <a:t>.</a:t>
            </a:r>
            <a:endParaRPr sz="1300"/>
          </a:p>
          <a:p>
            <a:pPr indent="-311150" lvl="1" marL="914400" rtl="0" algn="l">
              <a:spcBef>
                <a:spcPts val="0"/>
              </a:spcBef>
              <a:spcAft>
                <a:spcPts val="0"/>
              </a:spcAft>
              <a:buSzPts val="1300"/>
              <a:buChar char="○"/>
            </a:pPr>
            <a:r>
              <a:rPr lang="en" sz="1300"/>
              <a:t>Add a </a:t>
            </a:r>
            <a:r>
              <a:rPr lang="en" sz="1300">
                <a:solidFill>
                  <a:srgbClr val="FF0000"/>
                </a:solidFill>
                <a:latin typeface="Courier New"/>
                <a:ea typeface="Courier New"/>
                <a:cs typeface="Courier New"/>
                <a:sym typeface="Courier New"/>
              </a:rPr>
              <a:t>main</a:t>
            </a:r>
            <a:r>
              <a:rPr lang="en" sz="1300">
                <a:solidFill>
                  <a:srgbClr val="FF0000"/>
                </a:solidFill>
              </a:rPr>
              <a:t> </a:t>
            </a:r>
            <a:r>
              <a:rPr lang="en" sz="1300"/>
              <a:t>method to test your new </a:t>
            </a:r>
            <a:r>
              <a:rPr lang="en" sz="1300">
                <a:latin typeface="Courier New"/>
                <a:ea typeface="Courier New"/>
                <a:cs typeface="Courier New"/>
                <a:sym typeface="Courier New"/>
              </a:rPr>
              <a:t>Increment</a:t>
            </a:r>
            <a:r>
              <a:rPr lang="en" sz="1300"/>
              <a:t> class.</a:t>
            </a:r>
            <a:endParaRPr sz="1300"/>
          </a:p>
          <a:p>
            <a:pPr indent="-323850" lvl="0" marL="457200" rtl="0" algn="l">
              <a:spcBef>
                <a:spcPts val="0"/>
              </a:spcBef>
              <a:spcAft>
                <a:spcPts val="0"/>
              </a:spcAft>
              <a:buSzPts val="1500"/>
              <a:buChar char="●"/>
            </a:pPr>
            <a:r>
              <a:rPr lang="en" sz="1500"/>
              <a:t>Repeat the above steps to create a new class that implements the </a:t>
            </a:r>
            <a:r>
              <a:rPr b="1" i="1" lang="en" sz="1500">
                <a:solidFill>
                  <a:srgbClr val="FF0000"/>
                </a:solidFill>
              </a:rPr>
              <a:t>decrement </a:t>
            </a:r>
            <a:r>
              <a:rPr lang="en" sz="1500"/>
              <a:t>expression.</a:t>
            </a:r>
            <a:endParaRPr b="1" sz="1500"/>
          </a:p>
        </p:txBody>
      </p:sp>
      <p:sp>
        <p:nvSpPr>
          <p:cNvPr id="1251" name="Google Shape;1251;p12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Increment &amp; Decrement</a:t>
            </a:r>
            <a:endParaRPr/>
          </a:p>
        </p:txBody>
      </p:sp>
      <p:sp>
        <p:nvSpPr>
          <p:cNvPr id="1252" name="Google Shape;1252;p12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3.29</a:t>
            </a:r>
            <a:endParaRPr/>
          </a:p>
        </p:txBody>
      </p:sp>
      <p:sp>
        <p:nvSpPr>
          <p:cNvPr id="1253" name="Google Shape;1253;p126"/>
          <p:cNvSpPr txBox="1"/>
          <p:nvPr>
            <p:ph idx="4" type="body"/>
          </p:nvPr>
        </p:nvSpPr>
        <p:spPr>
          <a:xfrm>
            <a:off x="141600" y="3495000"/>
            <a:ext cx="3023700" cy="92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Unary expressions </a:t>
            </a:r>
            <a:r>
              <a:rPr lang="en"/>
              <a:t>are</a:t>
            </a:r>
            <a:r>
              <a:rPr lang="en"/>
              <a:t> created with some other expression. When evaluated, the unary expression first evaluates the other expression, then applies its operator.</a:t>
            </a:r>
            <a:endParaRPr/>
          </a:p>
        </p:txBody>
      </p:sp>
      <p:sp>
        <p:nvSpPr>
          <p:cNvPr id="1254" name="Google Shape;1254;p126"/>
          <p:cNvSpPr txBox="1"/>
          <p:nvPr>
            <p:ph idx="4" type="body"/>
          </p:nvPr>
        </p:nvSpPr>
        <p:spPr>
          <a:xfrm>
            <a:off x="141600" y="1454750"/>
            <a:ext cx="3023700" cy="21549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lang="en" sz="6400">
                <a:solidFill>
                  <a:srgbClr val="FF0000"/>
                </a:solidFill>
                <a:latin typeface="Consolas"/>
                <a:ea typeface="Consolas"/>
                <a:cs typeface="Consolas"/>
                <a:sym typeface="Consolas"/>
              </a:rPr>
              <a:t>++</a:t>
            </a:r>
            <a:endParaRPr sz="6400">
              <a:solidFill>
                <a:srgbClr val="FF0000"/>
              </a:solidFill>
              <a:latin typeface="Consolas"/>
              <a:ea typeface="Consolas"/>
              <a:cs typeface="Consolas"/>
              <a:sym typeface="Consolas"/>
            </a:endParaRPr>
          </a:p>
          <a:p>
            <a:pPr indent="0" lvl="0" marL="0" rtl="0" algn="ctr">
              <a:spcBef>
                <a:spcPts val="0"/>
              </a:spcBef>
              <a:spcAft>
                <a:spcPts val="0"/>
              </a:spcAft>
              <a:buNone/>
            </a:pPr>
            <a:r>
              <a:rPr lang="en" sz="6400">
                <a:solidFill>
                  <a:srgbClr val="FF0000"/>
                </a:solidFill>
                <a:latin typeface="Consolas"/>
                <a:ea typeface="Consolas"/>
                <a:cs typeface="Consolas"/>
                <a:sym typeface="Consolas"/>
              </a:rPr>
              <a:t>--</a:t>
            </a:r>
            <a:endParaRPr sz="6400">
              <a:solidFill>
                <a:srgbClr val="FF0000"/>
              </a:solidFill>
              <a:latin typeface="Consolas"/>
              <a:ea typeface="Consolas"/>
              <a:cs typeface="Consolas"/>
              <a:sym typeface="Consola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8" name="Shape 1258"/>
        <p:cNvGrpSpPr/>
        <p:nvPr/>
      </p:nvGrpSpPr>
      <p:grpSpPr>
        <a:xfrm>
          <a:off x="0" y="0"/>
          <a:ext cx="0" cy="0"/>
          <a:chOff x="0" y="0"/>
          <a:chExt cx="0" cy="0"/>
        </a:xfrm>
      </p:grpSpPr>
      <p:sp>
        <p:nvSpPr>
          <p:cNvPr id="1259" name="Google Shape;1259;p127"/>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Addition and subtraction are </a:t>
            </a:r>
            <a:r>
              <a:rPr b="1" i="1" lang="en"/>
              <a:t>binary expressions</a:t>
            </a:r>
            <a:r>
              <a:rPr lang="en"/>
              <a:t>. Each is created with </a:t>
            </a:r>
            <a:r>
              <a:rPr b="1" i="1" lang="en"/>
              <a:t>two </a:t>
            </a:r>
            <a:r>
              <a:rPr lang="en"/>
              <a:t>other expressions. </a:t>
            </a:r>
            <a:r>
              <a:rPr b="1" i="1" lang="en"/>
              <a:t>Both</a:t>
            </a:r>
            <a:r>
              <a:rPr lang="en"/>
              <a:t> expressions are evaluated before the operator is applied. Let's create classes to represent each of these binary expressions.</a:t>
            </a:r>
            <a:endParaRPr/>
          </a:p>
        </p:txBody>
      </p:sp>
      <p:sp>
        <p:nvSpPr>
          <p:cNvPr id="1260" name="Google Shape;1260;p1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61" name="Google Shape;1261;p127"/>
          <p:cNvSpPr txBox="1"/>
          <p:nvPr>
            <p:ph idx="2" type="body"/>
          </p:nvPr>
        </p:nvSpPr>
        <p:spPr>
          <a:xfrm>
            <a:off x="3345700" y="1669025"/>
            <a:ext cx="5566200" cy="30885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Implement a new Java class in a file named "</a:t>
            </a:r>
            <a:r>
              <a:rPr lang="en" sz="1500">
                <a:solidFill>
                  <a:srgbClr val="FF0000"/>
                </a:solidFill>
                <a:latin typeface="Courier New"/>
                <a:ea typeface="Courier New"/>
                <a:cs typeface="Courier New"/>
                <a:sym typeface="Courier New"/>
              </a:rPr>
              <a:t>Addition.java</a:t>
            </a:r>
            <a:r>
              <a:rPr lang="en" sz="1500"/>
              <a:t>" and implement the </a:t>
            </a:r>
            <a:r>
              <a:rPr b="1" i="1" lang="en" sz="1500">
                <a:solidFill>
                  <a:srgbClr val="FF0000"/>
                </a:solidFill>
              </a:rPr>
              <a:t>addition</a:t>
            </a:r>
            <a:r>
              <a:rPr lang="en" sz="1500">
                <a:solidFill>
                  <a:srgbClr val="FF0000"/>
                </a:solidFill>
              </a:rPr>
              <a:t> </a:t>
            </a:r>
            <a:r>
              <a:rPr lang="en" sz="1500"/>
              <a:t>expression.</a:t>
            </a:r>
            <a:endParaRPr sz="1500"/>
          </a:p>
          <a:p>
            <a:pPr indent="-311150" lvl="1" marL="914400" rtl="0" algn="l">
              <a:spcBef>
                <a:spcPts val="0"/>
              </a:spcBef>
              <a:spcAft>
                <a:spcPts val="0"/>
              </a:spcAft>
              <a:buSzPts val="1300"/>
              <a:buChar char="○"/>
            </a:pPr>
            <a:r>
              <a:rPr lang="en" sz="1300"/>
              <a:t>Do not forget to </a:t>
            </a:r>
            <a:r>
              <a:rPr b="1" i="1" lang="en" sz="1300">
                <a:solidFill>
                  <a:srgbClr val="FF0000"/>
                </a:solidFill>
              </a:rPr>
              <a:t>extend</a:t>
            </a:r>
            <a:r>
              <a:rPr lang="en" sz="1300">
                <a:solidFill>
                  <a:srgbClr val="FF0000"/>
                </a:solidFill>
              </a:rPr>
              <a:t> </a:t>
            </a:r>
            <a:r>
              <a:rPr lang="en" sz="1300"/>
              <a:t>your </a:t>
            </a:r>
            <a:r>
              <a:rPr lang="en" sz="1300">
                <a:latin typeface="Courier New"/>
                <a:ea typeface="Courier New"/>
                <a:cs typeface="Courier New"/>
                <a:sym typeface="Courier New"/>
              </a:rPr>
              <a:t>Expression</a:t>
            </a:r>
            <a:r>
              <a:rPr lang="en" sz="1300"/>
              <a:t> class.</a:t>
            </a:r>
            <a:endParaRPr sz="1300"/>
          </a:p>
          <a:p>
            <a:pPr indent="-311150" lvl="1" marL="914400" rtl="0" algn="l">
              <a:spcBef>
                <a:spcPts val="0"/>
              </a:spcBef>
              <a:spcAft>
                <a:spcPts val="0"/>
              </a:spcAft>
              <a:buSzPts val="1300"/>
              <a:buChar char="○"/>
            </a:pPr>
            <a:r>
              <a:rPr lang="en" sz="1300"/>
              <a:t>An addition expression is created with </a:t>
            </a:r>
            <a:r>
              <a:rPr b="1" i="1" lang="en" sz="1300">
                <a:solidFill>
                  <a:srgbClr val="FF0000"/>
                </a:solidFill>
              </a:rPr>
              <a:t>two</a:t>
            </a:r>
            <a:r>
              <a:rPr lang="en" sz="1300">
                <a:solidFill>
                  <a:srgbClr val="FF0000"/>
                </a:solidFill>
              </a:rPr>
              <a:t> </a:t>
            </a:r>
            <a:r>
              <a:rPr lang="en" sz="1300"/>
              <a:t>expressions that it uses as its operands.</a:t>
            </a:r>
            <a:endParaRPr sz="1300"/>
          </a:p>
          <a:p>
            <a:pPr indent="-311150" lvl="1" marL="914400" rtl="0" algn="l">
              <a:spcBef>
                <a:spcPts val="0"/>
              </a:spcBef>
              <a:spcAft>
                <a:spcPts val="0"/>
              </a:spcAft>
              <a:buSzPts val="1300"/>
              <a:buChar char="○"/>
            </a:pPr>
            <a:r>
              <a:rPr lang="en" sz="1300"/>
              <a:t>When evaluated, the addition expression must first evaluate </a:t>
            </a:r>
            <a:r>
              <a:rPr b="1" i="1" lang="en" sz="1300">
                <a:solidFill>
                  <a:srgbClr val="FF0000"/>
                </a:solidFill>
              </a:rPr>
              <a:t>both</a:t>
            </a:r>
            <a:r>
              <a:rPr lang="en" sz="1300">
                <a:solidFill>
                  <a:srgbClr val="FF0000"/>
                </a:solidFill>
              </a:rPr>
              <a:t> </a:t>
            </a:r>
            <a:r>
              <a:rPr lang="en" sz="1300"/>
              <a:t>of its operand expressions before </a:t>
            </a:r>
            <a:r>
              <a:rPr b="1" i="1" lang="en" sz="1300">
                <a:solidFill>
                  <a:srgbClr val="FF0000"/>
                </a:solidFill>
              </a:rPr>
              <a:t>adding</a:t>
            </a:r>
            <a:r>
              <a:rPr lang="en" sz="1300">
                <a:solidFill>
                  <a:srgbClr val="FF0000"/>
                </a:solidFill>
              </a:rPr>
              <a:t> </a:t>
            </a:r>
            <a:r>
              <a:rPr lang="en" sz="1300"/>
              <a:t>the results together.</a:t>
            </a:r>
            <a:endParaRPr sz="1300"/>
          </a:p>
          <a:p>
            <a:pPr indent="-311150" lvl="1" marL="914400" rtl="0" algn="l">
              <a:spcBef>
                <a:spcPts val="0"/>
              </a:spcBef>
              <a:spcAft>
                <a:spcPts val="0"/>
              </a:spcAft>
              <a:buSzPts val="1300"/>
              <a:buChar char="○"/>
            </a:pPr>
            <a:r>
              <a:rPr lang="en" sz="1300"/>
              <a:t>Add a </a:t>
            </a:r>
            <a:r>
              <a:rPr lang="en" sz="1300">
                <a:solidFill>
                  <a:srgbClr val="FF0000"/>
                </a:solidFill>
                <a:latin typeface="Courier New"/>
                <a:ea typeface="Courier New"/>
                <a:cs typeface="Courier New"/>
                <a:sym typeface="Courier New"/>
              </a:rPr>
              <a:t>main</a:t>
            </a:r>
            <a:r>
              <a:rPr lang="en" sz="1300">
                <a:solidFill>
                  <a:srgbClr val="FF0000"/>
                </a:solidFill>
              </a:rPr>
              <a:t> </a:t>
            </a:r>
            <a:r>
              <a:rPr lang="en" sz="1300"/>
              <a:t>method to test your new </a:t>
            </a:r>
            <a:r>
              <a:rPr lang="en" sz="1300">
                <a:latin typeface="Courier New"/>
                <a:ea typeface="Courier New"/>
                <a:cs typeface="Courier New"/>
                <a:sym typeface="Courier New"/>
              </a:rPr>
              <a:t>Addition</a:t>
            </a:r>
            <a:r>
              <a:rPr lang="en" sz="1300"/>
              <a:t> class.</a:t>
            </a:r>
            <a:endParaRPr sz="1300"/>
          </a:p>
          <a:p>
            <a:pPr indent="-323850" lvl="0" marL="457200" rtl="0" algn="l">
              <a:spcBef>
                <a:spcPts val="0"/>
              </a:spcBef>
              <a:spcAft>
                <a:spcPts val="0"/>
              </a:spcAft>
              <a:buSzPts val="1500"/>
              <a:buChar char="●"/>
            </a:pPr>
            <a:r>
              <a:rPr lang="en" sz="1500"/>
              <a:t>Repeat the above steps to create a new class that implements the </a:t>
            </a:r>
            <a:r>
              <a:rPr b="1" i="1" lang="en" sz="1500">
                <a:solidFill>
                  <a:srgbClr val="FF0000"/>
                </a:solidFill>
              </a:rPr>
              <a:t>subtraction</a:t>
            </a:r>
            <a:r>
              <a:rPr lang="en" sz="1500">
                <a:solidFill>
                  <a:srgbClr val="FF0000"/>
                </a:solidFill>
              </a:rPr>
              <a:t> </a:t>
            </a:r>
            <a:r>
              <a:rPr lang="en" sz="1500"/>
              <a:t>expression.</a:t>
            </a:r>
            <a:endParaRPr sz="1500"/>
          </a:p>
        </p:txBody>
      </p:sp>
      <p:sp>
        <p:nvSpPr>
          <p:cNvPr id="1262" name="Google Shape;1262;p12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Addition &amp; Subtraction</a:t>
            </a:r>
            <a:endParaRPr/>
          </a:p>
        </p:txBody>
      </p:sp>
      <p:sp>
        <p:nvSpPr>
          <p:cNvPr id="1263" name="Google Shape;1263;p12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3.30</a:t>
            </a:r>
            <a:endParaRPr/>
          </a:p>
        </p:txBody>
      </p:sp>
      <p:sp>
        <p:nvSpPr>
          <p:cNvPr id="1264" name="Google Shape;1264;p127"/>
          <p:cNvSpPr txBox="1"/>
          <p:nvPr>
            <p:ph idx="4" type="body"/>
          </p:nvPr>
        </p:nvSpPr>
        <p:spPr>
          <a:xfrm>
            <a:off x="141600" y="4080700"/>
            <a:ext cx="30237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binary expression must evaluate </a:t>
            </a:r>
            <a:r>
              <a:rPr b="1" i="1" lang="en"/>
              <a:t>both</a:t>
            </a:r>
            <a:r>
              <a:rPr lang="en"/>
              <a:t> of is expression before it can compute its result.</a:t>
            </a:r>
            <a:endParaRPr/>
          </a:p>
        </p:txBody>
      </p:sp>
      <p:sp>
        <p:nvSpPr>
          <p:cNvPr id="1265" name="Google Shape;1265;p127"/>
          <p:cNvSpPr/>
          <p:nvPr/>
        </p:nvSpPr>
        <p:spPr>
          <a:xfrm>
            <a:off x="1033288" y="1833075"/>
            <a:ext cx="393600" cy="393600"/>
          </a:xfrm>
          <a:prstGeom prst="ellipse">
            <a:avLst/>
          </a:prstGeom>
          <a:solidFill>
            <a:srgbClr val="FF0000"/>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grpSp>
        <p:nvGrpSpPr>
          <p:cNvPr id="1266" name="Google Shape;1266;p127"/>
          <p:cNvGrpSpPr/>
          <p:nvPr/>
        </p:nvGrpSpPr>
        <p:grpSpPr>
          <a:xfrm>
            <a:off x="349075" y="2029875"/>
            <a:ext cx="684213" cy="787350"/>
            <a:chOff x="5975375" y="2259825"/>
            <a:chExt cx="684213" cy="787350"/>
          </a:xfrm>
        </p:grpSpPr>
        <p:sp>
          <p:nvSpPr>
            <p:cNvPr id="1267" name="Google Shape;1267;p127"/>
            <p:cNvSpPr/>
            <p:nvPr/>
          </p:nvSpPr>
          <p:spPr>
            <a:xfrm>
              <a:off x="5975375" y="2653575"/>
              <a:ext cx="393600" cy="393600"/>
            </a:xfrm>
            <a:prstGeom prst="ellipse">
              <a:avLst/>
            </a:prstGeom>
            <a:solidFill>
              <a:srgbClr val="38761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2</a:t>
              </a:r>
              <a:endParaRPr>
                <a:solidFill>
                  <a:srgbClr val="FFFFFF"/>
                </a:solidFill>
                <a:latin typeface="Consolas"/>
                <a:ea typeface="Consolas"/>
                <a:cs typeface="Consolas"/>
                <a:sym typeface="Consolas"/>
              </a:endParaRPr>
            </a:p>
          </p:txBody>
        </p:sp>
        <p:cxnSp>
          <p:nvCxnSpPr>
            <p:cNvPr id="1268" name="Google Shape;1268;p127"/>
            <p:cNvCxnSpPr>
              <a:stCxn id="1265" idx="2"/>
              <a:endCxn id="1267" idx="0"/>
            </p:cNvCxnSpPr>
            <p:nvPr/>
          </p:nvCxnSpPr>
          <p:spPr>
            <a:xfrm flipH="1">
              <a:off x="6172088" y="2259825"/>
              <a:ext cx="487500" cy="393900"/>
            </a:xfrm>
            <a:prstGeom prst="curvedConnector2">
              <a:avLst/>
            </a:prstGeom>
            <a:noFill/>
            <a:ln cap="flat" cmpd="sng" w="28575">
              <a:solidFill>
                <a:srgbClr val="000000"/>
              </a:solidFill>
              <a:prstDash val="solid"/>
              <a:round/>
              <a:headEnd len="med" w="med" type="none"/>
              <a:tailEnd len="med" w="med" type="none"/>
            </a:ln>
          </p:spPr>
        </p:cxnSp>
      </p:grpSp>
      <p:grpSp>
        <p:nvGrpSpPr>
          <p:cNvPr id="1269" name="Google Shape;1269;p127"/>
          <p:cNvGrpSpPr/>
          <p:nvPr/>
        </p:nvGrpSpPr>
        <p:grpSpPr>
          <a:xfrm>
            <a:off x="1426800" y="2029875"/>
            <a:ext cx="684300" cy="806400"/>
            <a:chOff x="7053100" y="2259825"/>
            <a:chExt cx="684300" cy="806400"/>
          </a:xfrm>
        </p:grpSpPr>
        <p:sp>
          <p:nvSpPr>
            <p:cNvPr id="1270" name="Google Shape;1270;p127"/>
            <p:cNvSpPr/>
            <p:nvPr/>
          </p:nvSpPr>
          <p:spPr>
            <a:xfrm>
              <a:off x="7343800" y="2672625"/>
              <a:ext cx="393600" cy="393600"/>
            </a:xfrm>
            <a:prstGeom prst="ellipse">
              <a:avLst/>
            </a:prstGeom>
            <a:solidFill>
              <a:srgbClr val="FF0000"/>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cxnSp>
          <p:nvCxnSpPr>
            <p:cNvPr id="1271" name="Google Shape;1271;p127"/>
            <p:cNvCxnSpPr>
              <a:endCxn id="1270" idx="0"/>
            </p:cNvCxnSpPr>
            <p:nvPr/>
          </p:nvCxnSpPr>
          <p:spPr>
            <a:xfrm>
              <a:off x="7053100" y="2259825"/>
              <a:ext cx="487500" cy="412800"/>
            </a:xfrm>
            <a:prstGeom prst="curvedConnector2">
              <a:avLst/>
            </a:prstGeom>
            <a:noFill/>
            <a:ln cap="flat" cmpd="sng" w="28575">
              <a:solidFill>
                <a:srgbClr val="000000"/>
              </a:solidFill>
              <a:prstDash val="solid"/>
              <a:round/>
              <a:headEnd len="med" w="med" type="none"/>
              <a:tailEnd len="med" w="med" type="none"/>
            </a:ln>
          </p:spPr>
        </p:cxnSp>
      </p:grpSp>
      <p:grpSp>
        <p:nvGrpSpPr>
          <p:cNvPr id="1272" name="Google Shape;1272;p127"/>
          <p:cNvGrpSpPr/>
          <p:nvPr/>
        </p:nvGrpSpPr>
        <p:grpSpPr>
          <a:xfrm>
            <a:off x="1031700" y="2639475"/>
            <a:ext cx="685800" cy="806400"/>
            <a:chOff x="6658000" y="2869425"/>
            <a:chExt cx="685800" cy="806400"/>
          </a:xfrm>
        </p:grpSpPr>
        <p:sp>
          <p:nvSpPr>
            <p:cNvPr id="1273" name="Google Shape;1273;p127"/>
            <p:cNvSpPr/>
            <p:nvPr/>
          </p:nvSpPr>
          <p:spPr>
            <a:xfrm>
              <a:off x="6658000" y="3282225"/>
              <a:ext cx="393600" cy="393600"/>
            </a:xfrm>
            <a:prstGeom prst="ellipse">
              <a:avLst/>
            </a:prstGeom>
            <a:solidFill>
              <a:srgbClr val="FF0000"/>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cxnSp>
          <p:nvCxnSpPr>
            <p:cNvPr id="1274" name="Google Shape;1274;p127"/>
            <p:cNvCxnSpPr>
              <a:stCxn id="1270" idx="2"/>
              <a:endCxn id="1273" idx="0"/>
            </p:cNvCxnSpPr>
            <p:nvPr/>
          </p:nvCxnSpPr>
          <p:spPr>
            <a:xfrm flipH="1">
              <a:off x="6854800" y="2869425"/>
              <a:ext cx="489000" cy="412800"/>
            </a:xfrm>
            <a:prstGeom prst="curvedConnector2">
              <a:avLst/>
            </a:prstGeom>
            <a:noFill/>
            <a:ln cap="flat" cmpd="sng" w="28575">
              <a:solidFill>
                <a:srgbClr val="000000"/>
              </a:solidFill>
              <a:prstDash val="solid"/>
              <a:round/>
              <a:headEnd len="med" w="med" type="none"/>
              <a:tailEnd len="med" w="med" type="none"/>
            </a:ln>
          </p:spPr>
        </p:cxnSp>
      </p:grpSp>
      <p:grpSp>
        <p:nvGrpSpPr>
          <p:cNvPr id="1275" name="Google Shape;1275;p127"/>
          <p:cNvGrpSpPr/>
          <p:nvPr/>
        </p:nvGrpSpPr>
        <p:grpSpPr>
          <a:xfrm>
            <a:off x="2111100" y="2639475"/>
            <a:ext cx="685800" cy="806400"/>
            <a:chOff x="7737400" y="2869425"/>
            <a:chExt cx="685800" cy="806400"/>
          </a:xfrm>
        </p:grpSpPr>
        <p:sp>
          <p:nvSpPr>
            <p:cNvPr id="1276" name="Google Shape;1276;p127"/>
            <p:cNvSpPr/>
            <p:nvPr/>
          </p:nvSpPr>
          <p:spPr>
            <a:xfrm>
              <a:off x="8029600" y="3282225"/>
              <a:ext cx="393600" cy="393600"/>
            </a:xfrm>
            <a:prstGeom prst="ellipse">
              <a:avLst/>
            </a:prstGeom>
            <a:solidFill>
              <a:srgbClr val="FF0000"/>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cxnSp>
          <p:nvCxnSpPr>
            <p:cNvPr id="1277" name="Google Shape;1277;p127"/>
            <p:cNvCxnSpPr>
              <a:endCxn id="1276" idx="0"/>
            </p:cNvCxnSpPr>
            <p:nvPr/>
          </p:nvCxnSpPr>
          <p:spPr>
            <a:xfrm>
              <a:off x="7737400" y="2869425"/>
              <a:ext cx="489000" cy="412800"/>
            </a:xfrm>
            <a:prstGeom prst="curvedConnector2">
              <a:avLst/>
            </a:prstGeom>
            <a:noFill/>
            <a:ln cap="flat" cmpd="sng" w="28575">
              <a:solidFill>
                <a:srgbClr val="000000"/>
              </a:solidFill>
              <a:prstDash val="solid"/>
              <a:round/>
              <a:headEnd len="med" w="med" type="none"/>
              <a:tailEnd len="med" w="med" type="none"/>
            </a:ln>
          </p:spPr>
        </p:cxnSp>
      </p:grpSp>
      <p:grpSp>
        <p:nvGrpSpPr>
          <p:cNvPr id="1278" name="Google Shape;1278;p127"/>
          <p:cNvGrpSpPr/>
          <p:nvPr/>
        </p:nvGrpSpPr>
        <p:grpSpPr>
          <a:xfrm>
            <a:off x="638100" y="3249075"/>
            <a:ext cx="393600" cy="689450"/>
            <a:chOff x="6264400" y="3479025"/>
            <a:chExt cx="393600" cy="689450"/>
          </a:xfrm>
        </p:grpSpPr>
        <p:sp>
          <p:nvSpPr>
            <p:cNvPr id="1279" name="Google Shape;1279;p127"/>
            <p:cNvSpPr/>
            <p:nvPr/>
          </p:nvSpPr>
          <p:spPr>
            <a:xfrm>
              <a:off x="6264400" y="3774875"/>
              <a:ext cx="393600" cy="393600"/>
            </a:xfrm>
            <a:prstGeom prst="ellipse">
              <a:avLst/>
            </a:prstGeom>
            <a:solidFill>
              <a:srgbClr val="38761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3</a:t>
              </a:r>
              <a:endParaRPr>
                <a:solidFill>
                  <a:srgbClr val="FFFFFF"/>
                </a:solidFill>
                <a:latin typeface="Consolas"/>
                <a:ea typeface="Consolas"/>
                <a:cs typeface="Consolas"/>
                <a:sym typeface="Consolas"/>
              </a:endParaRPr>
            </a:p>
          </p:txBody>
        </p:sp>
        <p:cxnSp>
          <p:nvCxnSpPr>
            <p:cNvPr id="1280" name="Google Shape;1280;p127"/>
            <p:cNvCxnSpPr>
              <a:stCxn id="1273" idx="2"/>
              <a:endCxn id="1279" idx="0"/>
            </p:cNvCxnSpPr>
            <p:nvPr/>
          </p:nvCxnSpPr>
          <p:spPr>
            <a:xfrm flipH="1">
              <a:off x="6461200" y="3479025"/>
              <a:ext cx="196800" cy="295800"/>
            </a:xfrm>
            <a:prstGeom prst="curvedConnector2">
              <a:avLst/>
            </a:prstGeom>
            <a:noFill/>
            <a:ln cap="flat" cmpd="sng" w="28575">
              <a:solidFill>
                <a:srgbClr val="000000"/>
              </a:solidFill>
              <a:prstDash val="solid"/>
              <a:round/>
              <a:headEnd len="med" w="med" type="none"/>
              <a:tailEnd len="med" w="med" type="none"/>
            </a:ln>
          </p:spPr>
        </p:cxnSp>
      </p:grpSp>
      <p:grpSp>
        <p:nvGrpSpPr>
          <p:cNvPr id="1281" name="Google Shape;1281;p127"/>
          <p:cNvGrpSpPr/>
          <p:nvPr/>
        </p:nvGrpSpPr>
        <p:grpSpPr>
          <a:xfrm>
            <a:off x="1400100" y="3249075"/>
            <a:ext cx="393600" cy="689450"/>
            <a:chOff x="7026400" y="3479025"/>
            <a:chExt cx="393600" cy="689450"/>
          </a:xfrm>
        </p:grpSpPr>
        <p:sp>
          <p:nvSpPr>
            <p:cNvPr id="1282" name="Google Shape;1282;p127"/>
            <p:cNvSpPr/>
            <p:nvPr/>
          </p:nvSpPr>
          <p:spPr>
            <a:xfrm>
              <a:off x="7026400" y="3774875"/>
              <a:ext cx="393600" cy="393600"/>
            </a:xfrm>
            <a:prstGeom prst="ellipse">
              <a:avLst/>
            </a:prstGeom>
            <a:solidFill>
              <a:srgbClr val="38761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1</a:t>
              </a:r>
              <a:endParaRPr>
                <a:solidFill>
                  <a:srgbClr val="FFFFFF"/>
                </a:solidFill>
                <a:latin typeface="Consolas"/>
                <a:ea typeface="Consolas"/>
                <a:cs typeface="Consolas"/>
                <a:sym typeface="Consolas"/>
              </a:endParaRPr>
            </a:p>
          </p:txBody>
        </p:sp>
        <p:cxnSp>
          <p:nvCxnSpPr>
            <p:cNvPr id="1283" name="Google Shape;1283;p127"/>
            <p:cNvCxnSpPr>
              <a:stCxn id="1273" idx="6"/>
              <a:endCxn id="1282" idx="0"/>
            </p:cNvCxnSpPr>
            <p:nvPr/>
          </p:nvCxnSpPr>
          <p:spPr>
            <a:xfrm>
              <a:off x="7051600" y="3479025"/>
              <a:ext cx="171600" cy="295800"/>
            </a:xfrm>
            <a:prstGeom prst="curvedConnector2">
              <a:avLst/>
            </a:prstGeom>
            <a:noFill/>
            <a:ln cap="flat" cmpd="sng" w="28575">
              <a:solidFill>
                <a:srgbClr val="000000"/>
              </a:solidFill>
              <a:prstDash val="solid"/>
              <a:round/>
              <a:headEnd len="med" w="med" type="none"/>
              <a:tailEnd len="med" w="med" type="none"/>
            </a:ln>
          </p:spPr>
        </p:cxnSp>
      </p:grpSp>
      <p:grpSp>
        <p:nvGrpSpPr>
          <p:cNvPr id="1284" name="Google Shape;1284;p127"/>
          <p:cNvGrpSpPr/>
          <p:nvPr/>
        </p:nvGrpSpPr>
        <p:grpSpPr>
          <a:xfrm>
            <a:off x="2009700" y="3249075"/>
            <a:ext cx="393600" cy="689450"/>
            <a:chOff x="7636000" y="3479025"/>
            <a:chExt cx="393600" cy="689450"/>
          </a:xfrm>
        </p:grpSpPr>
        <p:sp>
          <p:nvSpPr>
            <p:cNvPr id="1285" name="Google Shape;1285;p127"/>
            <p:cNvSpPr/>
            <p:nvPr/>
          </p:nvSpPr>
          <p:spPr>
            <a:xfrm>
              <a:off x="7636000" y="3774875"/>
              <a:ext cx="393600" cy="393600"/>
            </a:xfrm>
            <a:prstGeom prst="ellipse">
              <a:avLst/>
            </a:prstGeom>
            <a:solidFill>
              <a:srgbClr val="38761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5</a:t>
              </a:r>
              <a:endParaRPr>
                <a:solidFill>
                  <a:srgbClr val="FFFFFF"/>
                </a:solidFill>
                <a:latin typeface="Consolas"/>
                <a:ea typeface="Consolas"/>
                <a:cs typeface="Consolas"/>
                <a:sym typeface="Consolas"/>
              </a:endParaRPr>
            </a:p>
          </p:txBody>
        </p:sp>
        <p:cxnSp>
          <p:nvCxnSpPr>
            <p:cNvPr id="1286" name="Google Shape;1286;p127"/>
            <p:cNvCxnSpPr>
              <a:stCxn id="1276" idx="2"/>
              <a:endCxn id="1285" idx="0"/>
            </p:cNvCxnSpPr>
            <p:nvPr/>
          </p:nvCxnSpPr>
          <p:spPr>
            <a:xfrm flipH="1">
              <a:off x="7832800" y="3479025"/>
              <a:ext cx="196800" cy="295800"/>
            </a:xfrm>
            <a:prstGeom prst="curvedConnector2">
              <a:avLst/>
            </a:prstGeom>
            <a:noFill/>
            <a:ln cap="flat" cmpd="sng" w="28575">
              <a:solidFill>
                <a:srgbClr val="000000"/>
              </a:solidFill>
              <a:prstDash val="solid"/>
              <a:round/>
              <a:headEnd len="med" w="med" type="none"/>
              <a:tailEnd len="med" w="med" type="none"/>
            </a:ln>
          </p:spPr>
        </p:cxnSp>
      </p:grpSp>
      <p:grpSp>
        <p:nvGrpSpPr>
          <p:cNvPr id="1287" name="Google Shape;1287;p127"/>
          <p:cNvGrpSpPr/>
          <p:nvPr/>
        </p:nvGrpSpPr>
        <p:grpSpPr>
          <a:xfrm>
            <a:off x="2771700" y="3249075"/>
            <a:ext cx="393600" cy="689450"/>
            <a:chOff x="8398000" y="3479025"/>
            <a:chExt cx="393600" cy="689450"/>
          </a:xfrm>
        </p:grpSpPr>
        <p:sp>
          <p:nvSpPr>
            <p:cNvPr id="1288" name="Google Shape;1288;p127"/>
            <p:cNvSpPr/>
            <p:nvPr/>
          </p:nvSpPr>
          <p:spPr>
            <a:xfrm>
              <a:off x="8398000" y="3774875"/>
              <a:ext cx="393600" cy="393600"/>
            </a:xfrm>
            <a:prstGeom prst="ellipse">
              <a:avLst/>
            </a:prstGeom>
            <a:solidFill>
              <a:srgbClr val="38761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2</a:t>
              </a:r>
              <a:endParaRPr>
                <a:solidFill>
                  <a:srgbClr val="FFFFFF"/>
                </a:solidFill>
                <a:latin typeface="Consolas"/>
                <a:ea typeface="Consolas"/>
                <a:cs typeface="Consolas"/>
                <a:sym typeface="Consolas"/>
              </a:endParaRPr>
            </a:p>
          </p:txBody>
        </p:sp>
        <p:cxnSp>
          <p:nvCxnSpPr>
            <p:cNvPr id="1289" name="Google Shape;1289;p127"/>
            <p:cNvCxnSpPr>
              <a:stCxn id="1276" idx="6"/>
              <a:endCxn id="1288" idx="0"/>
            </p:cNvCxnSpPr>
            <p:nvPr/>
          </p:nvCxnSpPr>
          <p:spPr>
            <a:xfrm>
              <a:off x="8423200" y="3479025"/>
              <a:ext cx="171600" cy="295800"/>
            </a:xfrm>
            <a:prstGeom prst="curvedConnector2">
              <a:avLst/>
            </a:prstGeom>
            <a:noFill/>
            <a:ln cap="flat" cmpd="sng" w="28575">
              <a:solidFill>
                <a:srgbClr val="000000"/>
              </a:solidFill>
              <a:prstDash val="solid"/>
              <a:round/>
              <a:headEnd len="med" w="med" type="none"/>
              <a:tailEnd len="med" w="med" type="none"/>
            </a:ln>
          </p:spPr>
        </p:cxnSp>
      </p:gr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3" name="Shape 1293"/>
        <p:cNvGrpSpPr/>
        <p:nvPr/>
      </p:nvGrpSpPr>
      <p:grpSpPr>
        <a:xfrm>
          <a:off x="0" y="0"/>
          <a:ext cx="0" cy="0"/>
          <a:chOff x="0" y="0"/>
          <a:chExt cx="0" cy="0"/>
        </a:xfrm>
      </p:grpSpPr>
      <p:sp>
        <p:nvSpPr>
          <p:cNvPr id="1294" name="Google Shape;1294;p128"/>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95" name="Google Shape;1295;p128"/>
          <p:cNvSpPr txBox="1"/>
          <p:nvPr>
            <p:ph type="title"/>
          </p:nvPr>
        </p:nvSpPr>
        <p:spPr>
          <a:xfrm>
            <a:off x="5192250" y="119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Interfaces</a:t>
            </a:r>
            <a:endParaRPr/>
          </a:p>
        </p:txBody>
      </p:sp>
      <p:sp>
        <p:nvSpPr>
          <p:cNvPr id="1296" name="Google Shape;1296;p128"/>
          <p:cNvSpPr txBox="1"/>
          <p:nvPr>
            <p:ph idx="1" type="body"/>
          </p:nvPr>
        </p:nvSpPr>
        <p:spPr>
          <a:xfrm>
            <a:off x="225075" y="119925"/>
            <a:ext cx="4521600" cy="46347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We now have </a:t>
            </a:r>
            <a:r>
              <a:rPr b="1" i="1" lang="en">
                <a:solidFill>
                  <a:srgbClr val="FF0000"/>
                </a:solidFill>
              </a:rPr>
              <a:t>five</a:t>
            </a:r>
            <a:r>
              <a:rPr lang="en">
                <a:solidFill>
                  <a:srgbClr val="FF0000"/>
                </a:solidFill>
              </a:rPr>
              <a:t> </a:t>
            </a:r>
            <a:r>
              <a:rPr lang="en"/>
              <a:t>different expression classes: </a:t>
            </a:r>
            <a:r>
              <a:rPr lang="en">
                <a:solidFill>
                  <a:srgbClr val="FF0000"/>
                </a:solidFill>
                <a:latin typeface="Courier New"/>
                <a:ea typeface="Courier New"/>
                <a:cs typeface="Courier New"/>
                <a:sym typeface="Courier New"/>
              </a:rPr>
              <a:t>Constant</a:t>
            </a:r>
            <a:r>
              <a:rPr lang="en"/>
              <a:t>, </a:t>
            </a:r>
            <a:r>
              <a:rPr lang="en">
                <a:solidFill>
                  <a:srgbClr val="FF0000"/>
                </a:solidFill>
                <a:latin typeface="Courier New"/>
                <a:ea typeface="Courier New"/>
                <a:cs typeface="Courier New"/>
                <a:sym typeface="Courier New"/>
              </a:rPr>
              <a:t>Increment</a:t>
            </a:r>
            <a:r>
              <a:rPr lang="en"/>
              <a:t>, </a:t>
            </a:r>
            <a:r>
              <a:rPr lang="en">
                <a:solidFill>
                  <a:srgbClr val="FF0000"/>
                </a:solidFill>
                <a:latin typeface="Courier New"/>
                <a:ea typeface="Courier New"/>
                <a:cs typeface="Courier New"/>
                <a:sym typeface="Courier New"/>
              </a:rPr>
              <a:t>Decrement</a:t>
            </a:r>
            <a:r>
              <a:rPr lang="en"/>
              <a:t>, </a:t>
            </a:r>
            <a:r>
              <a:rPr lang="en">
                <a:solidFill>
                  <a:srgbClr val="FF0000"/>
                </a:solidFill>
                <a:latin typeface="Courier New"/>
                <a:ea typeface="Courier New"/>
                <a:cs typeface="Courier New"/>
                <a:sym typeface="Courier New"/>
              </a:rPr>
              <a:t>Addition</a:t>
            </a:r>
            <a:r>
              <a:rPr lang="en"/>
              <a:t>, and </a:t>
            </a:r>
            <a:r>
              <a:rPr lang="en">
                <a:solidFill>
                  <a:srgbClr val="FF0000"/>
                </a:solidFill>
                <a:latin typeface="Courier New"/>
                <a:ea typeface="Courier New"/>
                <a:cs typeface="Courier New"/>
                <a:sym typeface="Courier New"/>
              </a:rPr>
              <a:t>Subtraction</a:t>
            </a:r>
            <a:r>
              <a:rPr lang="en"/>
              <a:t>.</a:t>
            </a:r>
            <a:endParaRPr/>
          </a:p>
          <a:p>
            <a:pPr indent="-311150" lvl="0" marL="457200" rtl="0" algn="l">
              <a:spcBef>
                <a:spcPts val="0"/>
              </a:spcBef>
              <a:spcAft>
                <a:spcPts val="0"/>
              </a:spcAft>
              <a:buSzPts val="1300"/>
              <a:buChar char="●"/>
            </a:pPr>
            <a:r>
              <a:rPr lang="en"/>
              <a:t>All five classes </a:t>
            </a:r>
            <a:r>
              <a:rPr b="1" i="1" lang="en">
                <a:solidFill>
                  <a:srgbClr val="FF0000"/>
                </a:solidFill>
              </a:rPr>
              <a:t>define</a:t>
            </a:r>
            <a:r>
              <a:rPr lang="en">
                <a:solidFill>
                  <a:srgbClr val="FF0000"/>
                </a:solidFill>
              </a:rPr>
              <a:t> </a:t>
            </a:r>
            <a:r>
              <a:rPr lang="en"/>
              <a:t>the same behavior, but </a:t>
            </a:r>
            <a:r>
              <a:rPr b="1" i="1" lang="en">
                <a:solidFill>
                  <a:srgbClr val="FF0000"/>
                </a:solidFill>
              </a:rPr>
              <a:t>implement</a:t>
            </a:r>
            <a:r>
              <a:rPr lang="en">
                <a:solidFill>
                  <a:srgbClr val="FF0000"/>
                </a:solidFill>
              </a:rPr>
              <a:t> </a:t>
            </a:r>
            <a:r>
              <a:rPr lang="en"/>
              <a:t>it differently: the </a:t>
            </a:r>
            <a:r>
              <a:rPr lang="en">
                <a:solidFill>
                  <a:srgbClr val="FF0000"/>
                </a:solidFill>
                <a:latin typeface="Courier New"/>
                <a:ea typeface="Courier New"/>
                <a:cs typeface="Courier New"/>
                <a:sym typeface="Courier New"/>
              </a:rPr>
              <a:t>evaluate</a:t>
            </a:r>
            <a:r>
              <a:rPr lang="en">
                <a:solidFill>
                  <a:srgbClr val="FF0000"/>
                </a:solidFill>
              </a:rPr>
              <a:t> </a:t>
            </a:r>
            <a:r>
              <a:rPr lang="en"/>
              <a:t>method.</a:t>
            </a:r>
            <a:endParaRPr/>
          </a:p>
          <a:p>
            <a:pPr indent="-311150" lvl="0" marL="457200" rtl="0" algn="l">
              <a:spcBef>
                <a:spcPts val="0"/>
              </a:spcBef>
              <a:spcAft>
                <a:spcPts val="0"/>
              </a:spcAft>
              <a:buSzPts val="1300"/>
              <a:buChar char="●"/>
            </a:pPr>
            <a:r>
              <a:rPr lang="en"/>
              <a:t>As with the examples in the previous parts of this unit, we recognized the need for a parent class to </a:t>
            </a:r>
            <a:r>
              <a:rPr b="1" i="1" lang="en">
                <a:solidFill>
                  <a:srgbClr val="FF0000"/>
                </a:solidFill>
              </a:rPr>
              <a:t>define</a:t>
            </a:r>
            <a:r>
              <a:rPr lang="en">
                <a:solidFill>
                  <a:srgbClr val="FF0000"/>
                </a:solidFill>
              </a:rPr>
              <a:t> </a:t>
            </a:r>
            <a:r>
              <a:rPr lang="en"/>
              <a:t>this behavior so that we could leverage </a:t>
            </a:r>
            <a:r>
              <a:rPr b="1" i="1" lang="en">
                <a:solidFill>
                  <a:srgbClr val="FF0000"/>
                </a:solidFill>
              </a:rPr>
              <a:t>polymorphism</a:t>
            </a:r>
            <a:r>
              <a:rPr lang="en">
                <a:solidFill>
                  <a:srgbClr val="FF0000"/>
                </a:solidFill>
              </a:rPr>
              <a:t> </a:t>
            </a:r>
            <a:r>
              <a:rPr lang="en"/>
              <a:t>to use the different types of expressions </a:t>
            </a:r>
            <a:r>
              <a:rPr b="1" i="1" lang="en">
                <a:solidFill>
                  <a:srgbClr val="FF0000"/>
                </a:solidFill>
              </a:rPr>
              <a:t>interchangeably</a:t>
            </a:r>
            <a:r>
              <a:rPr lang="en"/>
              <a:t>.</a:t>
            </a:r>
            <a:endParaRPr/>
          </a:p>
          <a:p>
            <a:pPr indent="-298450" lvl="1" marL="914400" rtl="0" algn="l">
              <a:spcBef>
                <a:spcPts val="0"/>
              </a:spcBef>
              <a:spcAft>
                <a:spcPts val="0"/>
              </a:spcAft>
              <a:buSzPts val="1100"/>
              <a:buChar char="○"/>
            </a:pPr>
            <a:r>
              <a:rPr lang="en"/>
              <a:t>But because there is no common implementation of the </a:t>
            </a:r>
            <a:r>
              <a:rPr lang="en">
                <a:latin typeface="Courier New"/>
                <a:ea typeface="Courier New"/>
                <a:cs typeface="Courier New"/>
                <a:sym typeface="Courier New"/>
              </a:rPr>
              <a:t>evaluate</a:t>
            </a:r>
            <a:r>
              <a:rPr lang="en"/>
              <a:t> method that is shared by two or more classes, we declared the method </a:t>
            </a:r>
            <a:r>
              <a:rPr lang="en">
                <a:solidFill>
                  <a:srgbClr val="FF0000"/>
                </a:solidFill>
                <a:latin typeface="Courier New"/>
                <a:ea typeface="Courier New"/>
                <a:cs typeface="Courier New"/>
                <a:sym typeface="Courier New"/>
              </a:rPr>
              <a:t>abstract</a:t>
            </a:r>
            <a:r>
              <a:rPr lang="en"/>
              <a:t>.</a:t>
            </a:r>
            <a:endParaRPr/>
          </a:p>
          <a:p>
            <a:pPr indent="-311150" lvl="0" marL="457200" rtl="0" algn="l">
              <a:spcBef>
                <a:spcPts val="0"/>
              </a:spcBef>
              <a:spcAft>
                <a:spcPts val="0"/>
              </a:spcAft>
              <a:buSzPts val="1300"/>
              <a:buChar char="●"/>
            </a:pPr>
            <a:r>
              <a:rPr lang="en"/>
              <a:t>But the </a:t>
            </a:r>
            <a:r>
              <a:rPr lang="en">
                <a:latin typeface="Courier New"/>
                <a:ea typeface="Courier New"/>
                <a:cs typeface="Courier New"/>
                <a:sym typeface="Courier New"/>
              </a:rPr>
              <a:t>Expression</a:t>
            </a:r>
            <a:r>
              <a:rPr lang="en"/>
              <a:t> class has no other state or behavior; </a:t>
            </a:r>
            <a:r>
              <a:rPr lang="en"/>
              <a:t>it's</a:t>
            </a:r>
            <a:r>
              <a:rPr lang="en"/>
              <a:t> </a:t>
            </a:r>
            <a:r>
              <a:rPr b="1" i="1" lang="en">
                <a:solidFill>
                  <a:srgbClr val="FF0000"/>
                </a:solidFill>
              </a:rPr>
              <a:t>only </a:t>
            </a:r>
            <a:r>
              <a:rPr lang="en"/>
              <a:t>method is abstract.</a:t>
            </a:r>
            <a:endParaRPr/>
          </a:p>
          <a:p>
            <a:pPr indent="-298450" lvl="1" marL="914400" rtl="0" algn="l">
              <a:spcBef>
                <a:spcPts val="0"/>
              </a:spcBef>
              <a:spcAft>
                <a:spcPts val="0"/>
              </a:spcAft>
              <a:buSzPts val="1100"/>
              <a:buChar char="○"/>
            </a:pPr>
            <a:r>
              <a:rPr lang="en"/>
              <a:t>Unlike the </a:t>
            </a:r>
            <a:r>
              <a:rPr lang="en">
                <a:latin typeface="Courier New"/>
                <a:ea typeface="Courier New"/>
                <a:cs typeface="Courier New"/>
                <a:sym typeface="Courier New"/>
              </a:rPr>
              <a:t>Goat</a:t>
            </a:r>
            <a:r>
              <a:rPr lang="en"/>
              <a:t> class, which had a </a:t>
            </a:r>
            <a:r>
              <a:rPr b="1" i="1" lang="en">
                <a:solidFill>
                  <a:srgbClr val="FF0000"/>
                </a:solidFill>
              </a:rPr>
              <a:t>mix </a:t>
            </a:r>
            <a:r>
              <a:rPr lang="en"/>
              <a:t>of </a:t>
            </a:r>
            <a:r>
              <a:rPr b="1" i="1" lang="en">
                <a:solidFill>
                  <a:srgbClr val="FF0000"/>
                </a:solidFill>
              </a:rPr>
              <a:t>state</a:t>
            </a:r>
            <a:r>
              <a:rPr lang="en"/>
              <a:t>, and </a:t>
            </a:r>
            <a:r>
              <a:rPr b="1" i="1" lang="en">
                <a:solidFill>
                  <a:srgbClr val="FF0000"/>
                </a:solidFill>
              </a:rPr>
              <a:t>both</a:t>
            </a:r>
            <a:r>
              <a:rPr lang="en">
                <a:solidFill>
                  <a:srgbClr val="FF0000"/>
                </a:solidFill>
              </a:rPr>
              <a:t> </a:t>
            </a:r>
            <a:r>
              <a:rPr lang="en"/>
              <a:t>concrete and abstract behavior.</a:t>
            </a:r>
            <a:endParaRPr/>
          </a:p>
          <a:p>
            <a:pPr indent="-311150" lvl="0" marL="457200" rtl="0" algn="l">
              <a:spcBef>
                <a:spcPts val="0"/>
              </a:spcBef>
              <a:spcAft>
                <a:spcPts val="0"/>
              </a:spcAft>
              <a:buSzPts val="1300"/>
              <a:buChar char="●"/>
            </a:pPr>
            <a:r>
              <a:rPr lang="en"/>
              <a:t>In Java, there is an alternative to abstract classes when there is no state and </a:t>
            </a:r>
            <a:r>
              <a:rPr b="1" i="1" lang="en">
                <a:solidFill>
                  <a:srgbClr val="FF0000"/>
                </a:solidFill>
              </a:rPr>
              <a:t>only abstract behavior</a:t>
            </a:r>
            <a:r>
              <a:rPr lang="en"/>
              <a:t>: the </a:t>
            </a:r>
            <a:r>
              <a:rPr b="1" i="1" lang="en">
                <a:solidFill>
                  <a:srgbClr val="FF0000"/>
                </a:solidFill>
              </a:rPr>
              <a:t>interface</a:t>
            </a:r>
            <a:r>
              <a:rPr lang="en"/>
              <a:t>.</a:t>
            </a:r>
            <a:endParaRPr/>
          </a:p>
        </p:txBody>
      </p:sp>
      <p:sp>
        <p:nvSpPr>
          <p:cNvPr id="1297" name="Google Shape;1297;p128"/>
          <p:cNvSpPr txBox="1"/>
          <p:nvPr/>
        </p:nvSpPr>
        <p:spPr>
          <a:xfrm>
            <a:off x="5192250" y="2017375"/>
            <a:ext cx="3706500" cy="713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098658"/>
                </a:solidFill>
                <a:latin typeface="Consolas"/>
                <a:ea typeface="Consolas"/>
                <a:cs typeface="Consolas"/>
                <a:sym typeface="Consolas"/>
              </a:rPr>
              <a:t>1</a:t>
            </a:r>
            <a:r>
              <a:rPr lang="en" sz="1200">
                <a:latin typeface="Consolas"/>
                <a:ea typeface="Consolas"/>
                <a:cs typeface="Consolas"/>
                <a:sym typeface="Consolas"/>
              </a:rPr>
              <a:t>  </a:t>
            </a:r>
            <a:r>
              <a:rPr lang="en" sz="1200">
                <a:solidFill>
                  <a:srgbClr val="0000FF"/>
                </a:solidFill>
                <a:latin typeface="Consolas"/>
                <a:ea typeface="Consolas"/>
                <a:cs typeface="Consolas"/>
                <a:sym typeface="Consolas"/>
              </a:rPr>
              <a:t>public</a:t>
            </a:r>
            <a:r>
              <a:rPr lang="en" sz="1200">
                <a:latin typeface="Consolas"/>
                <a:ea typeface="Consolas"/>
                <a:cs typeface="Consolas"/>
                <a:sym typeface="Consolas"/>
              </a:rPr>
              <a:t> </a:t>
            </a:r>
            <a:r>
              <a:rPr lang="en" sz="1200">
                <a:solidFill>
                  <a:srgbClr val="0000FF"/>
                </a:solidFill>
                <a:latin typeface="Consolas"/>
                <a:ea typeface="Consolas"/>
                <a:cs typeface="Consolas"/>
                <a:sym typeface="Consolas"/>
              </a:rPr>
              <a:t>interface</a:t>
            </a:r>
            <a:r>
              <a:rPr lang="en" sz="1200">
                <a:latin typeface="Consolas"/>
                <a:ea typeface="Consolas"/>
                <a:cs typeface="Consolas"/>
                <a:sym typeface="Consolas"/>
              </a:rPr>
              <a:t> </a:t>
            </a:r>
            <a:r>
              <a:rPr lang="en" sz="1200">
                <a:solidFill>
                  <a:srgbClr val="267F99"/>
                </a:solidFill>
                <a:latin typeface="Consolas"/>
                <a:ea typeface="Consolas"/>
                <a:cs typeface="Consolas"/>
                <a:sym typeface="Consolas"/>
              </a:rPr>
              <a:t>Animal</a:t>
            </a:r>
            <a:r>
              <a:rPr lang="en" sz="1200">
                <a:latin typeface="Consolas"/>
                <a:ea typeface="Consolas"/>
                <a:cs typeface="Consolas"/>
                <a:sym typeface="Consolas"/>
              </a:rPr>
              <a:t> {</a:t>
            </a:r>
            <a:endParaRPr sz="1200">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98658"/>
                </a:solidFill>
                <a:latin typeface="Consolas"/>
                <a:ea typeface="Consolas"/>
                <a:cs typeface="Consolas"/>
                <a:sym typeface="Consolas"/>
              </a:rPr>
              <a:t>2</a:t>
            </a:r>
            <a:r>
              <a:rPr lang="en" sz="1200">
                <a:latin typeface="Consolas"/>
                <a:ea typeface="Consolas"/>
                <a:cs typeface="Consolas"/>
                <a:sym typeface="Consolas"/>
              </a:rPr>
              <a:t>     </a:t>
            </a:r>
            <a:r>
              <a:rPr lang="en" sz="1200">
                <a:solidFill>
                  <a:srgbClr val="0000FF"/>
                </a:solidFill>
                <a:latin typeface="Consolas"/>
                <a:ea typeface="Consolas"/>
                <a:cs typeface="Consolas"/>
                <a:sym typeface="Consolas"/>
              </a:rPr>
              <a:t>public</a:t>
            </a:r>
            <a:r>
              <a:rPr lang="en" sz="1200">
                <a:latin typeface="Consolas"/>
                <a:ea typeface="Consolas"/>
                <a:cs typeface="Consolas"/>
                <a:sym typeface="Consolas"/>
              </a:rPr>
              <a:t> </a:t>
            </a:r>
            <a:r>
              <a:rPr lang="en" sz="1200">
                <a:solidFill>
                  <a:srgbClr val="0000FF"/>
                </a:solidFill>
                <a:latin typeface="Consolas"/>
                <a:ea typeface="Consolas"/>
                <a:cs typeface="Consolas"/>
                <a:sym typeface="Consolas"/>
              </a:rPr>
              <a:t>abstract</a:t>
            </a:r>
            <a:r>
              <a:rPr lang="en" sz="1200">
                <a:latin typeface="Consolas"/>
                <a:ea typeface="Consolas"/>
                <a:cs typeface="Consolas"/>
                <a:sym typeface="Consolas"/>
              </a:rPr>
              <a:t> </a:t>
            </a:r>
            <a:r>
              <a:rPr lang="en" sz="1200">
                <a:solidFill>
                  <a:srgbClr val="267F99"/>
                </a:solidFill>
                <a:latin typeface="Consolas"/>
                <a:ea typeface="Consolas"/>
                <a:cs typeface="Consolas"/>
                <a:sym typeface="Consolas"/>
              </a:rPr>
              <a:t>void</a:t>
            </a:r>
            <a:r>
              <a:rPr lang="en" sz="1200">
                <a:latin typeface="Consolas"/>
                <a:ea typeface="Consolas"/>
                <a:cs typeface="Consolas"/>
                <a:sym typeface="Consolas"/>
              </a:rPr>
              <a:t> </a:t>
            </a:r>
            <a:r>
              <a:rPr lang="en" sz="1200">
                <a:solidFill>
                  <a:srgbClr val="795E26"/>
                </a:solidFill>
                <a:latin typeface="Consolas"/>
                <a:ea typeface="Consolas"/>
                <a:cs typeface="Consolas"/>
                <a:sym typeface="Consolas"/>
              </a:rPr>
              <a:t>speak</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98658"/>
                </a:solidFill>
                <a:latin typeface="Consolas"/>
                <a:ea typeface="Consolas"/>
                <a:cs typeface="Consolas"/>
                <a:sym typeface="Consolas"/>
              </a:rPr>
              <a:t>3</a:t>
            </a:r>
            <a:r>
              <a:rPr lang="en" sz="1200">
                <a:latin typeface="Consolas"/>
                <a:ea typeface="Consolas"/>
                <a:cs typeface="Consolas"/>
                <a:sym typeface="Consolas"/>
              </a:rPr>
              <a:t>  }</a:t>
            </a:r>
            <a:endParaRPr sz="1200">
              <a:solidFill>
                <a:srgbClr val="999999"/>
              </a:solidFill>
              <a:latin typeface="Consolas"/>
              <a:ea typeface="Consolas"/>
              <a:cs typeface="Consolas"/>
              <a:sym typeface="Consolas"/>
            </a:endParaRPr>
          </a:p>
        </p:txBody>
      </p:sp>
      <p:sp>
        <p:nvSpPr>
          <p:cNvPr id="1298" name="Google Shape;1298;p128"/>
          <p:cNvSpPr/>
          <p:nvPr/>
        </p:nvSpPr>
        <p:spPr>
          <a:xfrm>
            <a:off x="7609325" y="1783796"/>
            <a:ext cx="439125" cy="507613"/>
          </a:xfrm>
          <a:custGeom>
            <a:rect b="b" l="l" r="r" t="t"/>
            <a:pathLst>
              <a:path extrusionOk="0" h="15075" w="17565">
                <a:moveTo>
                  <a:pt x="0" y="0"/>
                </a:moveTo>
                <a:cubicBezTo>
                  <a:pt x="2858" y="1478"/>
                  <a:pt x="15125" y="6356"/>
                  <a:pt x="17145" y="8868"/>
                </a:cubicBezTo>
                <a:cubicBezTo>
                  <a:pt x="19165" y="11381"/>
                  <a:pt x="12958" y="14041"/>
                  <a:pt x="12120" y="15075"/>
                </a:cubicBezTo>
              </a:path>
            </a:pathLst>
          </a:custGeom>
          <a:noFill/>
          <a:ln cap="flat" cmpd="sng" w="19050">
            <a:solidFill>
              <a:srgbClr val="FF0000"/>
            </a:solidFill>
            <a:prstDash val="solid"/>
            <a:round/>
            <a:headEnd len="med" w="med" type="none"/>
            <a:tailEnd len="med" w="med" type="triangle"/>
          </a:ln>
        </p:spPr>
      </p:sp>
      <p:sp>
        <p:nvSpPr>
          <p:cNvPr id="1299" name="Google Shape;1299;p128"/>
          <p:cNvSpPr txBox="1"/>
          <p:nvPr/>
        </p:nvSpPr>
        <p:spPr>
          <a:xfrm>
            <a:off x="5192250" y="3410800"/>
            <a:ext cx="3706500" cy="8091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100">
                <a:solidFill>
                  <a:srgbClr val="098658"/>
                </a:solidFill>
                <a:latin typeface="Consolas"/>
                <a:ea typeface="Consolas"/>
                <a:cs typeface="Consolas"/>
                <a:sym typeface="Consolas"/>
              </a:rPr>
              <a:t>1</a:t>
            </a:r>
            <a:r>
              <a:rPr lang="en" sz="1100">
                <a:latin typeface="Consolas"/>
                <a:ea typeface="Consolas"/>
                <a:cs typeface="Consolas"/>
                <a:sym typeface="Consolas"/>
              </a:rPr>
              <a:t> </a:t>
            </a:r>
            <a:r>
              <a:rPr lang="en" sz="1100">
                <a:solidFill>
                  <a:srgbClr val="0000FF"/>
                </a:solidFill>
                <a:latin typeface="Consolas"/>
                <a:ea typeface="Consolas"/>
                <a:cs typeface="Consolas"/>
                <a:sym typeface="Consolas"/>
              </a:rPr>
              <a:t>public</a:t>
            </a:r>
            <a:r>
              <a:rPr lang="en" sz="1100">
                <a:latin typeface="Consolas"/>
                <a:ea typeface="Consolas"/>
                <a:cs typeface="Consolas"/>
                <a:sym typeface="Consolas"/>
              </a:rPr>
              <a:t> </a:t>
            </a:r>
            <a:r>
              <a:rPr lang="en" sz="1100">
                <a:solidFill>
                  <a:srgbClr val="0000FF"/>
                </a:solidFill>
                <a:latin typeface="Consolas"/>
                <a:ea typeface="Consolas"/>
                <a:cs typeface="Consolas"/>
                <a:sym typeface="Consolas"/>
              </a:rPr>
              <a:t>class</a:t>
            </a:r>
            <a:r>
              <a:rPr lang="en" sz="1100">
                <a:latin typeface="Consolas"/>
                <a:ea typeface="Consolas"/>
                <a:cs typeface="Consolas"/>
                <a:sym typeface="Consolas"/>
              </a:rPr>
              <a:t> </a:t>
            </a:r>
            <a:r>
              <a:rPr lang="en" sz="1100">
                <a:solidFill>
                  <a:srgbClr val="267F99"/>
                </a:solidFill>
                <a:latin typeface="Consolas"/>
                <a:ea typeface="Consolas"/>
                <a:cs typeface="Consolas"/>
                <a:sym typeface="Consolas"/>
              </a:rPr>
              <a:t>Dog</a:t>
            </a:r>
            <a:r>
              <a:rPr lang="en" sz="1100">
                <a:latin typeface="Consolas"/>
                <a:ea typeface="Consolas"/>
                <a:cs typeface="Consolas"/>
                <a:sym typeface="Consolas"/>
              </a:rPr>
              <a:t> </a:t>
            </a:r>
            <a:r>
              <a:rPr lang="en" sz="1100">
                <a:solidFill>
                  <a:srgbClr val="0000FF"/>
                </a:solidFill>
                <a:latin typeface="Consolas"/>
                <a:ea typeface="Consolas"/>
                <a:cs typeface="Consolas"/>
                <a:sym typeface="Consolas"/>
              </a:rPr>
              <a:t>implements</a:t>
            </a:r>
            <a:r>
              <a:rPr lang="en" sz="1100">
                <a:latin typeface="Consolas"/>
                <a:ea typeface="Consolas"/>
                <a:cs typeface="Consolas"/>
                <a:sym typeface="Consolas"/>
              </a:rPr>
              <a:t> </a:t>
            </a:r>
            <a:r>
              <a:rPr lang="en" sz="1100">
                <a:solidFill>
                  <a:srgbClr val="267F99"/>
                </a:solidFill>
                <a:latin typeface="Consolas"/>
                <a:ea typeface="Consolas"/>
                <a:cs typeface="Consolas"/>
                <a:sym typeface="Consolas"/>
              </a:rPr>
              <a:t>Canus</a:t>
            </a:r>
            <a:r>
              <a:rPr lang="en" sz="1100">
                <a:latin typeface="Consolas"/>
                <a:ea typeface="Consolas"/>
                <a:cs typeface="Consolas"/>
                <a:sym typeface="Consolas"/>
              </a:rPr>
              <a:t>, </a:t>
            </a:r>
            <a:r>
              <a:rPr lang="en" sz="1100">
                <a:solidFill>
                  <a:srgbClr val="267F99"/>
                </a:solidFill>
                <a:latin typeface="Consolas"/>
                <a:ea typeface="Consolas"/>
                <a:cs typeface="Consolas"/>
                <a:sym typeface="Consolas"/>
              </a:rPr>
              <a:t>Animal</a:t>
            </a:r>
            <a:r>
              <a:rPr lang="en" sz="1100">
                <a:latin typeface="Consolas"/>
                <a:ea typeface="Consolas"/>
                <a:cs typeface="Consolas"/>
                <a:sym typeface="Consolas"/>
              </a:rPr>
              <a:t> {</a:t>
            </a:r>
            <a:endParaRPr sz="1100">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98658"/>
                </a:solidFill>
                <a:latin typeface="Consolas"/>
                <a:ea typeface="Consolas"/>
                <a:cs typeface="Consolas"/>
                <a:sym typeface="Consolas"/>
              </a:rPr>
              <a:t>2</a:t>
            </a:r>
            <a:r>
              <a:rPr lang="en" sz="1100">
                <a:latin typeface="Consolas"/>
                <a:ea typeface="Consolas"/>
                <a:cs typeface="Consolas"/>
                <a:sym typeface="Consolas"/>
              </a:rPr>
              <a:t>    </a:t>
            </a:r>
            <a:r>
              <a:rPr lang="en" sz="1100">
                <a:solidFill>
                  <a:srgbClr val="0000FF"/>
                </a:solidFill>
                <a:latin typeface="Consolas"/>
                <a:ea typeface="Consolas"/>
                <a:cs typeface="Consolas"/>
                <a:sym typeface="Consolas"/>
              </a:rPr>
              <a:t>public</a:t>
            </a:r>
            <a:r>
              <a:rPr lang="en" sz="1100">
                <a:latin typeface="Consolas"/>
                <a:ea typeface="Consolas"/>
                <a:cs typeface="Consolas"/>
                <a:sym typeface="Consolas"/>
              </a:rPr>
              <a:t> </a:t>
            </a:r>
            <a:r>
              <a:rPr lang="en" sz="1100">
                <a:solidFill>
                  <a:srgbClr val="267F99"/>
                </a:solidFill>
                <a:latin typeface="Consolas"/>
                <a:ea typeface="Consolas"/>
                <a:cs typeface="Consolas"/>
                <a:sym typeface="Consolas"/>
              </a:rPr>
              <a:t>void</a:t>
            </a:r>
            <a:r>
              <a:rPr lang="en" sz="1100">
                <a:latin typeface="Consolas"/>
                <a:ea typeface="Consolas"/>
                <a:cs typeface="Consolas"/>
                <a:sym typeface="Consolas"/>
              </a:rPr>
              <a:t> </a:t>
            </a:r>
            <a:r>
              <a:rPr lang="en" sz="1100">
                <a:solidFill>
                  <a:srgbClr val="795E26"/>
                </a:solidFill>
                <a:latin typeface="Consolas"/>
                <a:ea typeface="Consolas"/>
                <a:cs typeface="Consolas"/>
                <a:sym typeface="Consolas"/>
              </a:rPr>
              <a:t>speak</a:t>
            </a:r>
            <a:r>
              <a:rPr lang="en" sz="1100">
                <a:latin typeface="Consolas"/>
                <a:ea typeface="Consolas"/>
                <a:cs typeface="Consolas"/>
                <a:sym typeface="Consolas"/>
              </a:rPr>
              <a:t>() { ... }</a:t>
            </a:r>
            <a:endParaRPr sz="1100">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98658"/>
                </a:solidFill>
                <a:latin typeface="Consolas"/>
                <a:ea typeface="Consolas"/>
                <a:cs typeface="Consolas"/>
                <a:sym typeface="Consolas"/>
              </a:rPr>
              <a:t>3</a:t>
            </a:r>
            <a:r>
              <a:rPr lang="en" sz="1100">
                <a:latin typeface="Consolas"/>
                <a:ea typeface="Consolas"/>
                <a:cs typeface="Consolas"/>
                <a:sym typeface="Consolas"/>
              </a:rPr>
              <a:t>    </a:t>
            </a:r>
            <a:r>
              <a:rPr lang="en" sz="1100">
                <a:solidFill>
                  <a:srgbClr val="0000FF"/>
                </a:solidFill>
                <a:latin typeface="Consolas"/>
                <a:ea typeface="Consolas"/>
                <a:cs typeface="Consolas"/>
                <a:sym typeface="Consolas"/>
              </a:rPr>
              <a:t>public</a:t>
            </a:r>
            <a:r>
              <a:rPr lang="en" sz="1100">
                <a:latin typeface="Consolas"/>
                <a:ea typeface="Consolas"/>
                <a:cs typeface="Consolas"/>
                <a:sym typeface="Consolas"/>
              </a:rPr>
              <a:t> </a:t>
            </a:r>
            <a:r>
              <a:rPr lang="en" sz="1100">
                <a:solidFill>
                  <a:srgbClr val="267F99"/>
                </a:solidFill>
                <a:latin typeface="Consolas"/>
                <a:ea typeface="Consolas"/>
                <a:cs typeface="Consolas"/>
                <a:sym typeface="Consolas"/>
              </a:rPr>
              <a:t>void</a:t>
            </a:r>
            <a:r>
              <a:rPr lang="en" sz="1100">
                <a:latin typeface="Consolas"/>
                <a:ea typeface="Consolas"/>
                <a:cs typeface="Consolas"/>
                <a:sym typeface="Consolas"/>
              </a:rPr>
              <a:t> </a:t>
            </a:r>
            <a:r>
              <a:rPr lang="en" sz="1100">
                <a:solidFill>
                  <a:srgbClr val="795E26"/>
                </a:solidFill>
                <a:latin typeface="Consolas"/>
                <a:ea typeface="Consolas"/>
                <a:cs typeface="Consolas"/>
                <a:sym typeface="Consolas"/>
              </a:rPr>
              <a:t>buryBone</a:t>
            </a:r>
            <a:r>
              <a:rPr lang="en" sz="1100">
                <a:latin typeface="Consolas"/>
                <a:ea typeface="Consolas"/>
                <a:cs typeface="Consolas"/>
                <a:sym typeface="Consolas"/>
              </a:rPr>
              <a:t>() { ... }</a:t>
            </a:r>
            <a:endParaRPr sz="1100">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98658"/>
                </a:solidFill>
                <a:latin typeface="Consolas"/>
                <a:ea typeface="Consolas"/>
                <a:cs typeface="Consolas"/>
                <a:sym typeface="Consolas"/>
              </a:rPr>
              <a:t>4</a:t>
            </a:r>
            <a:r>
              <a:rPr lang="en" sz="1100">
                <a:latin typeface="Consolas"/>
                <a:ea typeface="Consolas"/>
                <a:cs typeface="Consolas"/>
                <a:sym typeface="Consolas"/>
              </a:rPr>
              <a:t> }</a:t>
            </a:r>
            <a:endParaRPr sz="1100">
              <a:solidFill>
                <a:srgbClr val="999999"/>
              </a:solidFill>
              <a:latin typeface="Consolas"/>
              <a:ea typeface="Consolas"/>
              <a:cs typeface="Consolas"/>
              <a:sym typeface="Consolas"/>
            </a:endParaRPr>
          </a:p>
        </p:txBody>
      </p:sp>
      <p:sp>
        <p:nvSpPr>
          <p:cNvPr id="1300" name="Google Shape;1300;p128"/>
          <p:cNvSpPr/>
          <p:nvPr/>
        </p:nvSpPr>
        <p:spPr>
          <a:xfrm>
            <a:off x="7124050" y="3178230"/>
            <a:ext cx="284475" cy="347325"/>
          </a:xfrm>
          <a:custGeom>
            <a:rect b="b" l="l" r="r" t="t"/>
            <a:pathLst>
              <a:path extrusionOk="0" h="13893" w="11379">
                <a:moveTo>
                  <a:pt x="0" y="0"/>
                </a:moveTo>
                <a:cubicBezTo>
                  <a:pt x="1872" y="739"/>
                  <a:pt x="10248" y="2119"/>
                  <a:pt x="11233" y="4434"/>
                </a:cubicBezTo>
                <a:cubicBezTo>
                  <a:pt x="12218" y="6750"/>
                  <a:pt x="6799" y="12317"/>
                  <a:pt x="5912" y="13893"/>
                </a:cubicBezTo>
              </a:path>
            </a:pathLst>
          </a:custGeom>
          <a:noFill/>
          <a:ln cap="flat" cmpd="sng" w="19050">
            <a:solidFill>
              <a:srgbClr val="FF0000"/>
            </a:solidFill>
            <a:prstDash val="solid"/>
            <a:round/>
            <a:headEnd len="med" w="med" type="none"/>
            <a:tailEnd len="med" w="med" type="triangle"/>
          </a:ln>
        </p:spPr>
      </p:sp>
      <p:sp>
        <p:nvSpPr>
          <p:cNvPr id="1301" name="Google Shape;1301;p128"/>
          <p:cNvSpPr/>
          <p:nvPr/>
        </p:nvSpPr>
        <p:spPr>
          <a:xfrm>
            <a:off x="7597000" y="3259035"/>
            <a:ext cx="301150" cy="273425"/>
          </a:xfrm>
          <a:custGeom>
            <a:rect b="b" l="l" r="r" t="t"/>
            <a:pathLst>
              <a:path extrusionOk="0" h="10937" w="12046">
                <a:moveTo>
                  <a:pt x="0" y="0"/>
                </a:moveTo>
                <a:cubicBezTo>
                  <a:pt x="1922" y="690"/>
                  <a:pt x="9903" y="2315"/>
                  <a:pt x="11529" y="4138"/>
                </a:cubicBezTo>
                <a:cubicBezTo>
                  <a:pt x="13155" y="5961"/>
                  <a:pt x="10051" y="9804"/>
                  <a:pt x="9755" y="10937"/>
                </a:cubicBezTo>
              </a:path>
            </a:pathLst>
          </a:custGeom>
          <a:noFill/>
          <a:ln cap="flat" cmpd="sng" w="19050">
            <a:solidFill>
              <a:srgbClr val="FF0000"/>
            </a:solidFill>
            <a:prstDash val="solid"/>
            <a:round/>
            <a:headEnd len="med" w="med" type="none"/>
            <a:tailEnd len="med" w="med" type="triangle"/>
          </a:ln>
        </p:spPr>
      </p:sp>
      <p:sp>
        <p:nvSpPr>
          <p:cNvPr id="1302" name="Google Shape;1302;p128"/>
          <p:cNvSpPr/>
          <p:nvPr/>
        </p:nvSpPr>
        <p:spPr>
          <a:xfrm>
            <a:off x="7648750" y="3259035"/>
            <a:ext cx="802500" cy="273423"/>
          </a:xfrm>
          <a:custGeom>
            <a:rect b="b" l="l" r="r" t="t"/>
            <a:pathLst>
              <a:path extrusionOk="0" h="13302" w="32100">
                <a:moveTo>
                  <a:pt x="0" y="0"/>
                </a:moveTo>
                <a:cubicBezTo>
                  <a:pt x="4877" y="788"/>
                  <a:pt x="24091" y="2513"/>
                  <a:pt x="29264" y="4730"/>
                </a:cubicBezTo>
                <a:cubicBezTo>
                  <a:pt x="34437" y="6947"/>
                  <a:pt x="30742" y="11873"/>
                  <a:pt x="31038" y="13302"/>
                </a:cubicBezTo>
              </a:path>
            </a:pathLst>
          </a:custGeom>
          <a:noFill/>
          <a:ln cap="flat" cmpd="sng" w="19050">
            <a:solidFill>
              <a:srgbClr val="FF0000"/>
            </a:solidFill>
            <a:prstDash val="solid"/>
            <a:round/>
            <a:headEnd len="med" w="med" type="none"/>
            <a:tailEnd len="med" w="med" type="triangle"/>
          </a:ln>
        </p:spPr>
      </p:sp>
      <p:sp>
        <p:nvSpPr>
          <p:cNvPr id="1303" name="Google Shape;1303;p128"/>
          <p:cNvSpPr txBox="1"/>
          <p:nvPr>
            <p:ph idx="3" type="body"/>
          </p:nvPr>
        </p:nvSpPr>
        <p:spPr>
          <a:xfrm>
            <a:off x="5192250" y="2807863"/>
            <a:ext cx="3706500" cy="507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A class may only extend </a:t>
            </a:r>
            <a:r>
              <a:rPr b="1" i="1" lang="en" sz="1200">
                <a:solidFill>
                  <a:srgbClr val="FF0000"/>
                </a:solidFill>
              </a:rPr>
              <a:t>one</a:t>
            </a:r>
            <a:r>
              <a:rPr lang="en" sz="1200">
                <a:solidFill>
                  <a:srgbClr val="FF0000"/>
                </a:solidFill>
              </a:rPr>
              <a:t> </a:t>
            </a:r>
            <a:r>
              <a:rPr lang="en" sz="1200"/>
              <a:t>class, but may </a:t>
            </a:r>
            <a:r>
              <a:rPr b="1" i="1" lang="en" sz="1200">
                <a:solidFill>
                  <a:srgbClr val="FF0000"/>
                </a:solidFill>
              </a:rPr>
              <a:t>implement</a:t>
            </a:r>
            <a:r>
              <a:rPr lang="en" sz="1200">
                <a:solidFill>
                  <a:srgbClr val="FF0000"/>
                </a:solidFill>
              </a:rPr>
              <a:t> </a:t>
            </a:r>
            <a:r>
              <a:rPr lang="en" sz="1200"/>
              <a:t>many interfaces.</a:t>
            </a:r>
            <a:endParaRPr sz="1200"/>
          </a:p>
        </p:txBody>
      </p:sp>
      <p:sp>
        <p:nvSpPr>
          <p:cNvPr id="1304" name="Google Shape;1304;p128"/>
          <p:cNvSpPr txBox="1"/>
          <p:nvPr>
            <p:ph idx="3" type="body"/>
          </p:nvPr>
        </p:nvSpPr>
        <p:spPr>
          <a:xfrm>
            <a:off x="5192250" y="1425445"/>
            <a:ext cx="3706500" cy="507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A Java </a:t>
            </a:r>
            <a:r>
              <a:rPr b="1" i="1" lang="en" sz="1200">
                <a:solidFill>
                  <a:srgbClr val="FF0000"/>
                </a:solidFill>
              </a:rPr>
              <a:t>interface</a:t>
            </a:r>
            <a:r>
              <a:rPr lang="en" sz="1200"/>
              <a:t> is very much like an abstract class that </a:t>
            </a:r>
            <a:r>
              <a:rPr b="1" i="1" lang="en" sz="1200">
                <a:solidFill>
                  <a:srgbClr val="FF0000"/>
                </a:solidFill>
              </a:rPr>
              <a:t>only</a:t>
            </a:r>
            <a:r>
              <a:rPr lang="en" sz="1200">
                <a:solidFill>
                  <a:srgbClr val="FF0000"/>
                </a:solidFill>
              </a:rPr>
              <a:t> </a:t>
            </a:r>
            <a:r>
              <a:rPr lang="en" sz="1200"/>
              <a:t>has abstract methods.</a:t>
            </a:r>
            <a:endParaRPr sz="1200"/>
          </a:p>
        </p:txBody>
      </p:sp>
      <p:sp>
        <p:nvSpPr>
          <p:cNvPr id="1305" name="Google Shape;1305;p128"/>
          <p:cNvSpPr/>
          <p:nvPr/>
        </p:nvSpPr>
        <p:spPr>
          <a:xfrm>
            <a:off x="4898100" y="931145"/>
            <a:ext cx="1220875" cy="1285875"/>
          </a:xfrm>
          <a:custGeom>
            <a:rect b="b" l="l" r="r" t="t"/>
            <a:pathLst>
              <a:path extrusionOk="0" h="51435" w="48835">
                <a:moveTo>
                  <a:pt x="14545" y="0"/>
                </a:moveTo>
                <a:cubicBezTo>
                  <a:pt x="12328" y="6602"/>
                  <a:pt x="-4472" y="31039"/>
                  <a:pt x="1243" y="39611"/>
                </a:cubicBezTo>
                <a:cubicBezTo>
                  <a:pt x="6958" y="48184"/>
                  <a:pt x="40903" y="49464"/>
                  <a:pt x="48835" y="51435"/>
                </a:cubicBezTo>
              </a:path>
            </a:pathLst>
          </a:custGeom>
          <a:noFill/>
          <a:ln cap="flat" cmpd="sng" w="19050">
            <a:solidFill>
              <a:srgbClr val="FF0000"/>
            </a:solidFill>
            <a:prstDash val="solid"/>
            <a:round/>
            <a:headEnd len="med" w="med" type="none"/>
            <a:tailEnd len="med" w="med" type="triangle"/>
          </a:ln>
        </p:spPr>
      </p:sp>
      <p:sp>
        <p:nvSpPr>
          <p:cNvPr id="1306" name="Google Shape;1306;p128"/>
          <p:cNvSpPr txBox="1"/>
          <p:nvPr>
            <p:ph idx="3" type="body"/>
          </p:nvPr>
        </p:nvSpPr>
        <p:spPr>
          <a:xfrm>
            <a:off x="5192250" y="722141"/>
            <a:ext cx="3706500" cy="638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Like a class, an interface is declared in a </a:t>
            </a:r>
            <a:r>
              <a:rPr lang="en" sz="1200">
                <a:latin typeface="Courier New"/>
                <a:ea typeface="Courier New"/>
                <a:cs typeface="Courier New"/>
                <a:sym typeface="Courier New"/>
              </a:rPr>
              <a:t>.java</a:t>
            </a:r>
            <a:r>
              <a:rPr lang="en" sz="1200"/>
              <a:t> file with the same name, but uses the </a:t>
            </a:r>
            <a:r>
              <a:rPr lang="en" sz="1200">
                <a:solidFill>
                  <a:srgbClr val="FF0000"/>
                </a:solidFill>
                <a:latin typeface="Courier New"/>
                <a:ea typeface="Courier New"/>
                <a:cs typeface="Courier New"/>
                <a:sym typeface="Courier New"/>
              </a:rPr>
              <a:t>interface</a:t>
            </a:r>
            <a:r>
              <a:rPr lang="en" sz="1200">
                <a:solidFill>
                  <a:srgbClr val="FF0000"/>
                </a:solidFill>
              </a:rPr>
              <a:t> </a:t>
            </a:r>
            <a:r>
              <a:rPr b="1" i="1" lang="en" sz="1200">
                <a:solidFill>
                  <a:srgbClr val="FF0000"/>
                </a:solidFill>
              </a:rPr>
              <a:t>keyword </a:t>
            </a:r>
            <a:r>
              <a:rPr lang="en" sz="1200"/>
              <a:t>(rather than </a:t>
            </a:r>
            <a:r>
              <a:rPr lang="en" sz="1200">
                <a:latin typeface="Courier New"/>
                <a:ea typeface="Courier New"/>
                <a:cs typeface="Courier New"/>
                <a:sym typeface="Courier New"/>
              </a:rPr>
              <a:t>class</a:t>
            </a:r>
            <a:r>
              <a:rPr lang="en" sz="1200"/>
              <a:t>).</a:t>
            </a:r>
            <a:endParaRPr sz="1200"/>
          </a:p>
        </p:txBody>
      </p:sp>
      <p:sp>
        <p:nvSpPr>
          <p:cNvPr id="1307" name="Google Shape;1307;p128"/>
          <p:cNvSpPr/>
          <p:nvPr/>
        </p:nvSpPr>
        <p:spPr>
          <a:xfrm>
            <a:off x="8025625" y="3946300"/>
            <a:ext cx="447125" cy="480350"/>
          </a:xfrm>
          <a:custGeom>
            <a:rect b="b" l="l" r="r" t="t"/>
            <a:pathLst>
              <a:path extrusionOk="0" h="19214" w="17885">
                <a:moveTo>
                  <a:pt x="7095" y="19214"/>
                </a:moveTo>
                <a:cubicBezTo>
                  <a:pt x="8869" y="16899"/>
                  <a:pt x="18920" y="8523"/>
                  <a:pt x="17737" y="5321"/>
                </a:cubicBezTo>
                <a:cubicBezTo>
                  <a:pt x="16555" y="2119"/>
                  <a:pt x="2956" y="887"/>
                  <a:pt x="0" y="0"/>
                </a:cubicBezTo>
              </a:path>
            </a:pathLst>
          </a:custGeom>
          <a:noFill/>
          <a:ln cap="flat" cmpd="sng" w="19050">
            <a:solidFill>
              <a:srgbClr val="FF0000"/>
            </a:solidFill>
            <a:prstDash val="solid"/>
            <a:round/>
            <a:headEnd len="med" w="med" type="none"/>
            <a:tailEnd len="med" w="med" type="triangle"/>
          </a:ln>
        </p:spPr>
      </p:sp>
      <p:sp>
        <p:nvSpPr>
          <p:cNvPr id="1308" name="Google Shape;1308;p128"/>
          <p:cNvSpPr/>
          <p:nvPr/>
        </p:nvSpPr>
        <p:spPr>
          <a:xfrm>
            <a:off x="7796550" y="3724600"/>
            <a:ext cx="1001975" cy="687275"/>
          </a:xfrm>
          <a:custGeom>
            <a:rect b="b" l="l" r="r" t="t"/>
            <a:pathLst>
              <a:path extrusionOk="0" h="27491" w="40079">
                <a:moveTo>
                  <a:pt x="21283" y="27491"/>
                </a:moveTo>
                <a:cubicBezTo>
                  <a:pt x="24338" y="24289"/>
                  <a:pt x="43157" y="12859"/>
                  <a:pt x="39610" y="8277"/>
                </a:cubicBezTo>
                <a:cubicBezTo>
                  <a:pt x="36063" y="3695"/>
                  <a:pt x="6602" y="1380"/>
                  <a:pt x="0" y="0"/>
                </a:cubicBezTo>
              </a:path>
            </a:pathLst>
          </a:custGeom>
          <a:noFill/>
          <a:ln cap="flat" cmpd="sng" w="19050">
            <a:solidFill>
              <a:srgbClr val="FF0000"/>
            </a:solidFill>
            <a:prstDash val="solid"/>
            <a:round/>
            <a:headEnd len="med" w="med" type="none"/>
            <a:tailEnd len="med" w="med" type="triangle"/>
          </a:ln>
        </p:spPr>
      </p:sp>
      <p:sp>
        <p:nvSpPr>
          <p:cNvPr id="1309" name="Google Shape;1309;p128"/>
          <p:cNvSpPr txBox="1"/>
          <p:nvPr>
            <p:ph idx="3" type="body"/>
          </p:nvPr>
        </p:nvSpPr>
        <p:spPr>
          <a:xfrm>
            <a:off x="5192250" y="4315213"/>
            <a:ext cx="3706500" cy="507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The class </a:t>
            </a:r>
            <a:r>
              <a:rPr b="1" i="1" lang="en" sz="1200">
                <a:solidFill>
                  <a:srgbClr val="FF0000"/>
                </a:solidFill>
              </a:rPr>
              <a:t>must</a:t>
            </a:r>
            <a:r>
              <a:rPr lang="en" sz="1200">
                <a:solidFill>
                  <a:srgbClr val="FF0000"/>
                </a:solidFill>
              </a:rPr>
              <a:t> </a:t>
            </a:r>
            <a:r>
              <a:rPr lang="en" sz="1200"/>
              <a:t>implement </a:t>
            </a:r>
            <a:r>
              <a:rPr b="1" i="1" lang="en" sz="1200">
                <a:solidFill>
                  <a:srgbClr val="FF0000"/>
                </a:solidFill>
              </a:rPr>
              <a:t>all</a:t>
            </a:r>
            <a:r>
              <a:rPr lang="en" sz="1200">
                <a:solidFill>
                  <a:srgbClr val="FF0000"/>
                </a:solidFill>
              </a:rPr>
              <a:t> </a:t>
            </a:r>
            <a:r>
              <a:rPr lang="en" sz="1200"/>
              <a:t>of the abstract methods in </a:t>
            </a:r>
            <a:r>
              <a:rPr b="1" i="1" lang="en" sz="1200">
                <a:solidFill>
                  <a:srgbClr val="FF0000"/>
                </a:solidFill>
              </a:rPr>
              <a:t>all</a:t>
            </a:r>
            <a:r>
              <a:rPr lang="en" sz="1200">
                <a:solidFill>
                  <a:srgbClr val="FF0000"/>
                </a:solidFill>
              </a:rPr>
              <a:t> </a:t>
            </a:r>
            <a:r>
              <a:rPr lang="en" sz="1200"/>
              <a:t>of the interfaces that it implements.</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6"/>
                                        </p:tgtEl>
                                        <p:attrNameLst>
                                          <p:attrName>style.visibility</p:attrName>
                                        </p:attrNameLst>
                                      </p:cBhvr>
                                      <p:to>
                                        <p:strVal val="visible"/>
                                      </p:to>
                                    </p:set>
                                    <p:animEffect filter="fade" transition="in">
                                      <p:cBhvr>
                                        <p:cTn dur="1000"/>
                                        <p:tgtEl>
                                          <p:spTgt spid="1306"/>
                                        </p:tgtEl>
                                      </p:cBhvr>
                                    </p:animEffect>
                                  </p:childTnLst>
                                </p:cTn>
                              </p:par>
                              <p:par>
                                <p:cTn fill="hold" nodeType="withEffect" presetClass="entr" presetID="10" presetSubtype="0">
                                  <p:stCondLst>
                                    <p:cond delay="0"/>
                                  </p:stCondLst>
                                  <p:childTnLst>
                                    <p:set>
                                      <p:cBhvr>
                                        <p:cTn dur="1" fill="hold">
                                          <p:stCondLst>
                                            <p:cond delay="0"/>
                                          </p:stCondLst>
                                        </p:cTn>
                                        <p:tgtEl>
                                          <p:spTgt spid="1297"/>
                                        </p:tgtEl>
                                        <p:attrNameLst>
                                          <p:attrName>style.visibility</p:attrName>
                                        </p:attrNameLst>
                                      </p:cBhvr>
                                      <p:to>
                                        <p:strVal val="visible"/>
                                      </p:to>
                                    </p:set>
                                    <p:animEffect filter="fade" transition="in">
                                      <p:cBhvr>
                                        <p:cTn dur="1000"/>
                                        <p:tgtEl>
                                          <p:spTgt spid="129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05"/>
                                        </p:tgtEl>
                                        <p:attrNameLst>
                                          <p:attrName>style.visibility</p:attrName>
                                        </p:attrNameLst>
                                      </p:cBhvr>
                                      <p:to>
                                        <p:strVal val="visible"/>
                                      </p:to>
                                    </p:set>
                                    <p:animEffect filter="fade" transition="in">
                                      <p:cBhvr>
                                        <p:cTn dur="1000"/>
                                        <p:tgtEl>
                                          <p:spTgt spid="13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4"/>
                                        </p:tgtEl>
                                        <p:attrNameLst>
                                          <p:attrName>style.visibility</p:attrName>
                                        </p:attrNameLst>
                                      </p:cBhvr>
                                      <p:to>
                                        <p:strVal val="visible"/>
                                      </p:to>
                                    </p:set>
                                    <p:animEffect filter="fade" transition="in">
                                      <p:cBhvr>
                                        <p:cTn dur="1000"/>
                                        <p:tgtEl>
                                          <p:spTgt spid="130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98"/>
                                        </p:tgtEl>
                                        <p:attrNameLst>
                                          <p:attrName>style.visibility</p:attrName>
                                        </p:attrNameLst>
                                      </p:cBhvr>
                                      <p:to>
                                        <p:strVal val="visible"/>
                                      </p:to>
                                    </p:set>
                                    <p:animEffect filter="fade" transition="in">
                                      <p:cBhvr>
                                        <p:cTn dur="1000"/>
                                        <p:tgtEl>
                                          <p:spTgt spid="12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3"/>
                                        </p:tgtEl>
                                        <p:attrNameLst>
                                          <p:attrName>style.visibility</p:attrName>
                                        </p:attrNameLst>
                                      </p:cBhvr>
                                      <p:to>
                                        <p:strVal val="visible"/>
                                      </p:to>
                                    </p:set>
                                    <p:animEffect filter="fade" transition="in">
                                      <p:cBhvr>
                                        <p:cTn dur="1000"/>
                                        <p:tgtEl>
                                          <p:spTgt spid="1303"/>
                                        </p:tgtEl>
                                      </p:cBhvr>
                                    </p:animEffect>
                                  </p:childTnLst>
                                </p:cTn>
                              </p:par>
                              <p:par>
                                <p:cTn fill="hold" nodeType="withEffect" presetClass="entr" presetID="10" presetSubtype="0">
                                  <p:stCondLst>
                                    <p:cond delay="0"/>
                                  </p:stCondLst>
                                  <p:childTnLst>
                                    <p:set>
                                      <p:cBhvr>
                                        <p:cTn dur="1" fill="hold">
                                          <p:stCondLst>
                                            <p:cond delay="0"/>
                                          </p:stCondLst>
                                        </p:cTn>
                                        <p:tgtEl>
                                          <p:spTgt spid="1299"/>
                                        </p:tgtEl>
                                        <p:attrNameLst>
                                          <p:attrName>style.visibility</p:attrName>
                                        </p:attrNameLst>
                                      </p:cBhvr>
                                      <p:to>
                                        <p:strVal val="visible"/>
                                      </p:to>
                                    </p:set>
                                    <p:animEffect filter="fade" transition="in">
                                      <p:cBhvr>
                                        <p:cTn dur="1000"/>
                                        <p:tgtEl>
                                          <p:spTgt spid="129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00"/>
                                        </p:tgtEl>
                                        <p:attrNameLst>
                                          <p:attrName>style.visibility</p:attrName>
                                        </p:attrNameLst>
                                      </p:cBhvr>
                                      <p:to>
                                        <p:strVal val="visible"/>
                                      </p:to>
                                    </p:set>
                                    <p:animEffect filter="fade" transition="in">
                                      <p:cBhvr>
                                        <p:cTn dur="1100"/>
                                        <p:tgtEl>
                                          <p:spTgt spid="1300"/>
                                        </p:tgtEl>
                                      </p:cBhvr>
                                    </p:animEffect>
                                  </p:childTnLst>
                                </p:cTn>
                              </p:par>
                            </p:childTnLst>
                          </p:cTn>
                        </p:par>
                        <p:par>
                          <p:cTn fill="hold">
                            <p:stCondLst>
                              <p:cond delay="2100"/>
                            </p:stCondLst>
                            <p:childTnLst>
                              <p:par>
                                <p:cTn fill="hold" nodeType="afterEffect" presetClass="entr" presetID="10" presetSubtype="0">
                                  <p:stCondLst>
                                    <p:cond delay="0"/>
                                  </p:stCondLst>
                                  <p:childTnLst>
                                    <p:set>
                                      <p:cBhvr>
                                        <p:cTn dur="1" fill="hold">
                                          <p:stCondLst>
                                            <p:cond delay="0"/>
                                          </p:stCondLst>
                                        </p:cTn>
                                        <p:tgtEl>
                                          <p:spTgt spid="1301"/>
                                        </p:tgtEl>
                                        <p:attrNameLst>
                                          <p:attrName>style.visibility</p:attrName>
                                        </p:attrNameLst>
                                      </p:cBhvr>
                                      <p:to>
                                        <p:strVal val="visible"/>
                                      </p:to>
                                    </p:set>
                                    <p:animEffect filter="fade" transition="in">
                                      <p:cBhvr>
                                        <p:cTn dur="1000"/>
                                        <p:tgtEl>
                                          <p:spTgt spid="1301"/>
                                        </p:tgtEl>
                                      </p:cBhvr>
                                    </p:animEffect>
                                  </p:childTnLst>
                                </p:cTn>
                              </p:par>
                              <p:par>
                                <p:cTn fill="hold" nodeType="withEffect" presetClass="entr" presetID="10" presetSubtype="0">
                                  <p:stCondLst>
                                    <p:cond delay="0"/>
                                  </p:stCondLst>
                                  <p:childTnLst>
                                    <p:set>
                                      <p:cBhvr>
                                        <p:cTn dur="1" fill="hold">
                                          <p:stCondLst>
                                            <p:cond delay="0"/>
                                          </p:stCondLst>
                                        </p:cTn>
                                        <p:tgtEl>
                                          <p:spTgt spid="1302"/>
                                        </p:tgtEl>
                                        <p:attrNameLst>
                                          <p:attrName>style.visibility</p:attrName>
                                        </p:attrNameLst>
                                      </p:cBhvr>
                                      <p:to>
                                        <p:strVal val="visible"/>
                                      </p:to>
                                    </p:set>
                                    <p:animEffect filter="fade" transition="in">
                                      <p:cBhvr>
                                        <p:cTn dur="1000"/>
                                        <p:tgtEl>
                                          <p:spTgt spid="13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9"/>
                                        </p:tgtEl>
                                        <p:attrNameLst>
                                          <p:attrName>style.visibility</p:attrName>
                                        </p:attrNameLst>
                                      </p:cBhvr>
                                      <p:to>
                                        <p:strVal val="visible"/>
                                      </p:to>
                                    </p:set>
                                    <p:animEffect filter="fade" transition="in">
                                      <p:cBhvr>
                                        <p:cTn dur="1000"/>
                                        <p:tgtEl>
                                          <p:spTgt spid="130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08"/>
                                        </p:tgtEl>
                                        <p:attrNameLst>
                                          <p:attrName>style.visibility</p:attrName>
                                        </p:attrNameLst>
                                      </p:cBhvr>
                                      <p:to>
                                        <p:strVal val="visible"/>
                                      </p:to>
                                    </p:set>
                                    <p:animEffect filter="fade" transition="in">
                                      <p:cBhvr>
                                        <p:cTn dur="1000"/>
                                        <p:tgtEl>
                                          <p:spTgt spid="130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07"/>
                                        </p:tgtEl>
                                        <p:attrNameLst>
                                          <p:attrName>style.visibility</p:attrName>
                                        </p:attrNameLst>
                                      </p:cBhvr>
                                      <p:to>
                                        <p:strVal val="visible"/>
                                      </p:to>
                                    </p:set>
                                    <p:animEffect filter="fade" transition="in">
                                      <p:cBhvr>
                                        <p:cTn dur="1000"/>
                                        <p:tgtEl>
                                          <p:spTgt spid="13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1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15" name="Google Shape;1315;p129"/>
          <p:cNvSpPr txBox="1"/>
          <p:nvPr>
            <p:ph type="title"/>
          </p:nvPr>
        </p:nvSpPr>
        <p:spPr>
          <a:xfrm>
            <a:off x="311725" y="437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Java Interfaces</a:t>
            </a:r>
            <a:endParaRPr/>
          </a:p>
        </p:txBody>
      </p:sp>
      <p:sp>
        <p:nvSpPr>
          <p:cNvPr id="1316" name="Google Shape;1316;p129"/>
          <p:cNvSpPr txBox="1"/>
          <p:nvPr>
            <p:ph idx="1" type="body"/>
          </p:nvPr>
        </p:nvSpPr>
        <p:spPr>
          <a:xfrm>
            <a:off x="4341800" y="119925"/>
            <a:ext cx="4487700" cy="4854000"/>
          </a:xfrm>
          <a:prstGeom prst="rect">
            <a:avLst/>
          </a:prstGeom>
        </p:spPr>
        <p:txBody>
          <a:bodyPr anchorCtr="0" anchor="ctr" bIns="91425" lIns="91425" spcFirstLastPara="1" rIns="91425" wrap="square" tIns="91425">
            <a:noAutofit/>
          </a:bodyPr>
          <a:lstStyle/>
          <a:p>
            <a:pPr indent="-311150" lvl="0" marL="457200" rtl="0" algn="l">
              <a:lnSpc>
                <a:spcPct val="100000"/>
              </a:lnSpc>
              <a:spcBef>
                <a:spcPts val="0"/>
              </a:spcBef>
              <a:spcAft>
                <a:spcPts val="0"/>
              </a:spcAft>
              <a:buSzPts val="1300"/>
              <a:buChar char="●"/>
            </a:pPr>
            <a:r>
              <a:rPr lang="en"/>
              <a:t>A Java </a:t>
            </a:r>
            <a:r>
              <a:rPr b="1" i="1" lang="en">
                <a:solidFill>
                  <a:srgbClr val="FF0000"/>
                </a:solidFill>
              </a:rPr>
              <a:t>interface </a:t>
            </a:r>
            <a:r>
              <a:rPr lang="en"/>
              <a:t>is very much </a:t>
            </a:r>
            <a:r>
              <a:rPr b="1" i="1" lang="en">
                <a:solidFill>
                  <a:srgbClr val="FF0000"/>
                </a:solidFill>
              </a:rPr>
              <a:t>like </a:t>
            </a:r>
            <a:r>
              <a:rPr lang="en"/>
              <a:t>an abstract class that contains </a:t>
            </a:r>
            <a:r>
              <a:rPr b="1" i="1" lang="en">
                <a:solidFill>
                  <a:srgbClr val="FF0000"/>
                </a:solidFill>
              </a:rPr>
              <a:t>only</a:t>
            </a:r>
            <a:r>
              <a:rPr lang="en">
                <a:solidFill>
                  <a:srgbClr val="FF0000"/>
                </a:solidFill>
              </a:rPr>
              <a:t> </a:t>
            </a:r>
            <a:r>
              <a:rPr lang="en"/>
              <a:t>abstract methods.</a:t>
            </a:r>
            <a:endParaRPr/>
          </a:p>
          <a:p>
            <a:pPr indent="-298450" lvl="1" marL="914400" rtl="0" algn="l">
              <a:lnSpc>
                <a:spcPct val="100000"/>
              </a:lnSpc>
              <a:spcBef>
                <a:spcPts val="0"/>
              </a:spcBef>
              <a:spcAft>
                <a:spcPts val="0"/>
              </a:spcAft>
              <a:buSzPts val="1100"/>
              <a:buChar char="○"/>
            </a:pPr>
            <a:r>
              <a:rPr lang="en"/>
              <a:t>An interface </a:t>
            </a:r>
            <a:r>
              <a:rPr b="1" i="1" lang="en">
                <a:solidFill>
                  <a:srgbClr val="FF0000"/>
                </a:solidFill>
              </a:rPr>
              <a:t>may</a:t>
            </a:r>
            <a:r>
              <a:rPr lang="en">
                <a:solidFill>
                  <a:srgbClr val="FF0000"/>
                </a:solidFill>
              </a:rPr>
              <a:t> </a:t>
            </a:r>
            <a:r>
              <a:rPr lang="en"/>
              <a:t>include </a:t>
            </a:r>
            <a:r>
              <a:rPr lang="en">
                <a:latin typeface="Courier New"/>
                <a:ea typeface="Courier New"/>
                <a:cs typeface="Courier New"/>
                <a:sym typeface="Courier New"/>
              </a:rPr>
              <a:t>static</a:t>
            </a:r>
            <a:r>
              <a:rPr lang="en"/>
              <a:t> state and behavior as well.</a:t>
            </a:r>
            <a:endParaRPr/>
          </a:p>
          <a:p>
            <a:pPr indent="-311150" lvl="0" marL="457200" rtl="0" algn="l">
              <a:lnSpc>
                <a:spcPct val="100000"/>
              </a:lnSpc>
              <a:spcBef>
                <a:spcPts val="0"/>
              </a:spcBef>
              <a:spcAft>
                <a:spcPts val="0"/>
              </a:spcAft>
              <a:buSzPts val="1300"/>
              <a:buChar char="●"/>
            </a:pPr>
            <a:r>
              <a:rPr lang="en"/>
              <a:t>An interface </a:t>
            </a:r>
            <a:r>
              <a:rPr b="1" i="1" lang="en">
                <a:solidFill>
                  <a:srgbClr val="FF0000"/>
                </a:solidFill>
              </a:rPr>
              <a:t>may not</a:t>
            </a:r>
            <a:r>
              <a:rPr lang="en"/>
              <a:t>:</a:t>
            </a:r>
            <a:endParaRPr/>
          </a:p>
          <a:p>
            <a:pPr indent="-298450" lvl="1" marL="914400" rtl="0" algn="l">
              <a:lnSpc>
                <a:spcPct val="100000"/>
              </a:lnSpc>
              <a:spcBef>
                <a:spcPts val="0"/>
              </a:spcBef>
              <a:spcAft>
                <a:spcPts val="0"/>
              </a:spcAft>
              <a:buSzPts val="1100"/>
              <a:buChar char="○"/>
            </a:pPr>
            <a:r>
              <a:rPr lang="en"/>
              <a:t>Include any </a:t>
            </a:r>
            <a:r>
              <a:rPr b="1" i="1" lang="en">
                <a:solidFill>
                  <a:srgbClr val="FF0000"/>
                </a:solidFill>
              </a:rPr>
              <a:t>non-</a:t>
            </a:r>
            <a:r>
              <a:rPr lang="en">
                <a:solidFill>
                  <a:srgbClr val="FF0000"/>
                </a:solidFill>
                <a:latin typeface="Courier New"/>
                <a:ea typeface="Courier New"/>
                <a:cs typeface="Courier New"/>
                <a:sym typeface="Courier New"/>
              </a:rPr>
              <a:t>static</a:t>
            </a:r>
            <a:r>
              <a:rPr lang="en">
                <a:solidFill>
                  <a:srgbClr val="FF0000"/>
                </a:solidFill>
              </a:rPr>
              <a:t> </a:t>
            </a:r>
            <a:r>
              <a:rPr b="1" i="1" lang="en">
                <a:solidFill>
                  <a:srgbClr val="FF0000"/>
                </a:solidFill>
              </a:rPr>
              <a:t>state</a:t>
            </a:r>
            <a:r>
              <a:rPr lang="en"/>
              <a:t>.</a:t>
            </a:r>
            <a:endParaRPr/>
          </a:p>
          <a:p>
            <a:pPr indent="-298450" lvl="1" marL="914400" rtl="0" algn="l">
              <a:lnSpc>
                <a:spcPct val="100000"/>
              </a:lnSpc>
              <a:spcBef>
                <a:spcPts val="0"/>
              </a:spcBef>
              <a:spcAft>
                <a:spcPts val="0"/>
              </a:spcAft>
              <a:buSzPts val="1100"/>
              <a:buChar char="○"/>
            </a:pPr>
            <a:r>
              <a:rPr lang="en"/>
              <a:t>Include any </a:t>
            </a:r>
            <a:r>
              <a:rPr b="1" i="1" lang="en">
                <a:solidFill>
                  <a:srgbClr val="FF0000"/>
                </a:solidFill>
              </a:rPr>
              <a:t>concrete methods</a:t>
            </a:r>
            <a:r>
              <a:rPr lang="en"/>
              <a:t>.</a:t>
            </a:r>
            <a:endParaRPr/>
          </a:p>
          <a:p>
            <a:pPr indent="-298450" lvl="1" marL="914400" rtl="0" algn="l">
              <a:lnSpc>
                <a:spcPct val="100000"/>
              </a:lnSpc>
              <a:spcBef>
                <a:spcPts val="0"/>
              </a:spcBef>
              <a:spcAft>
                <a:spcPts val="0"/>
              </a:spcAft>
              <a:buSzPts val="1100"/>
              <a:buChar char="○"/>
            </a:pPr>
            <a:r>
              <a:rPr b="1" i="1" lang="en">
                <a:solidFill>
                  <a:srgbClr val="FF0000"/>
                </a:solidFill>
              </a:rPr>
              <a:t>Be instantiated</a:t>
            </a:r>
            <a:r>
              <a:rPr lang="en"/>
              <a:t> using </a:t>
            </a:r>
            <a:r>
              <a:rPr lang="en">
                <a:latin typeface="Courier New"/>
                <a:ea typeface="Courier New"/>
                <a:cs typeface="Courier New"/>
                <a:sym typeface="Courier New"/>
              </a:rPr>
              <a:t>new</a:t>
            </a:r>
            <a:r>
              <a:rPr lang="en"/>
              <a:t>.</a:t>
            </a:r>
            <a:endParaRPr/>
          </a:p>
          <a:p>
            <a:pPr indent="-311150" lvl="0" marL="457200" rtl="0" algn="l">
              <a:lnSpc>
                <a:spcPct val="100000"/>
              </a:lnSpc>
              <a:spcBef>
                <a:spcPts val="0"/>
              </a:spcBef>
              <a:spcAft>
                <a:spcPts val="0"/>
              </a:spcAft>
              <a:buSzPts val="1300"/>
              <a:buChar char="●"/>
            </a:pPr>
            <a:r>
              <a:rPr lang="en"/>
              <a:t>Creating an interface creates </a:t>
            </a:r>
            <a:r>
              <a:rPr b="1" i="1" lang="en">
                <a:solidFill>
                  <a:srgbClr val="FF0000"/>
                </a:solidFill>
              </a:rPr>
              <a:t>a new type</a:t>
            </a:r>
            <a:r>
              <a:rPr lang="en"/>
              <a:t>.</a:t>
            </a:r>
            <a:endParaRPr/>
          </a:p>
          <a:p>
            <a:pPr indent="-298450" lvl="1" marL="914400" rtl="0" algn="l">
              <a:lnSpc>
                <a:spcPct val="100000"/>
              </a:lnSpc>
              <a:spcBef>
                <a:spcPts val="0"/>
              </a:spcBef>
              <a:spcAft>
                <a:spcPts val="0"/>
              </a:spcAft>
              <a:buSzPts val="1100"/>
              <a:buChar char="○"/>
            </a:pPr>
            <a:r>
              <a:rPr lang="en"/>
              <a:t>This means that an interface may be used as a </a:t>
            </a:r>
            <a:r>
              <a:rPr lang="en">
                <a:solidFill>
                  <a:srgbClr val="FF0000"/>
                </a:solidFill>
              </a:rPr>
              <a:t>variable</a:t>
            </a:r>
            <a:r>
              <a:rPr lang="en"/>
              <a:t>, </a:t>
            </a:r>
            <a:r>
              <a:rPr lang="en">
                <a:solidFill>
                  <a:srgbClr val="FF0000"/>
                </a:solidFill>
              </a:rPr>
              <a:t>field</a:t>
            </a:r>
            <a:r>
              <a:rPr lang="en"/>
              <a:t>, or </a:t>
            </a:r>
            <a:r>
              <a:rPr lang="en">
                <a:solidFill>
                  <a:srgbClr val="FF0000"/>
                </a:solidFill>
              </a:rPr>
              <a:t>parameter</a:t>
            </a:r>
            <a:r>
              <a:rPr lang="en"/>
              <a:t>.</a:t>
            </a:r>
            <a:endParaRPr/>
          </a:p>
          <a:p>
            <a:pPr indent="-311150" lvl="0" marL="457200" rtl="0" algn="l">
              <a:lnSpc>
                <a:spcPct val="100000"/>
              </a:lnSpc>
              <a:spcBef>
                <a:spcPts val="0"/>
              </a:spcBef>
              <a:spcAft>
                <a:spcPts val="0"/>
              </a:spcAft>
              <a:buSzPts val="1300"/>
              <a:buChar char="●"/>
            </a:pPr>
            <a:r>
              <a:rPr lang="en"/>
              <a:t>A class that </a:t>
            </a:r>
            <a:r>
              <a:rPr b="1" i="1" lang="en">
                <a:solidFill>
                  <a:srgbClr val="FF0000"/>
                </a:solidFill>
              </a:rPr>
              <a:t>implements </a:t>
            </a:r>
            <a:r>
              <a:rPr lang="en"/>
              <a:t>an interface establishes an inheritance relationship with the interface.</a:t>
            </a:r>
            <a:endParaRPr/>
          </a:p>
          <a:p>
            <a:pPr indent="-298450" lvl="1" marL="914400" rtl="0" algn="l">
              <a:lnSpc>
                <a:spcPct val="100000"/>
              </a:lnSpc>
              <a:spcBef>
                <a:spcPts val="0"/>
              </a:spcBef>
              <a:spcAft>
                <a:spcPts val="0"/>
              </a:spcAft>
              <a:buSzPts val="1100"/>
              <a:buChar char="○"/>
            </a:pPr>
            <a:r>
              <a:rPr lang="en"/>
              <a:t>The class </a:t>
            </a:r>
            <a:r>
              <a:rPr b="1" i="1" lang="en">
                <a:solidFill>
                  <a:srgbClr val="FF0000"/>
                </a:solidFill>
              </a:rPr>
              <a:t>is a</a:t>
            </a:r>
            <a:r>
              <a:rPr lang="en"/>
              <a:t> instance of the interface.</a:t>
            </a:r>
            <a:endParaRPr/>
          </a:p>
          <a:p>
            <a:pPr indent="-298450" lvl="1" marL="914400" rtl="0" algn="l">
              <a:lnSpc>
                <a:spcPct val="100000"/>
              </a:lnSpc>
              <a:spcBef>
                <a:spcPts val="0"/>
              </a:spcBef>
              <a:spcAft>
                <a:spcPts val="0"/>
              </a:spcAft>
              <a:buSzPts val="1100"/>
              <a:buChar char="○"/>
            </a:pPr>
            <a:r>
              <a:rPr lang="en"/>
              <a:t>This means that any code written to use the interface will work with the class! </a:t>
            </a:r>
            <a:r>
              <a:rPr b="1" i="1" lang="en">
                <a:solidFill>
                  <a:srgbClr val="FF0000"/>
                </a:solidFill>
              </a:rPr>
              <a:t>Polymorphism!</a:t>
            </a:r>
            <a:endParaRPr b="1" i="1">
              <a:solidFill>
                <a:srgbClr val="FF0000"/>
              </a:solidFill>
            </a:endParaRPr>
          </a:p>
          <a:p>
            <a:pPr indent="-311150" lvl="0" marL="457200" rtl="0" algn="l">
              <a:lnSpc>
                <a:spcPct val="100000"/>
              </a:lnSpc>
              <a:spcBef>
                <a:spcPts val="0"/>
              </a:spcBef>
              <a:spcAft>
                <a:spcPts val="0"/>
              </a:spcAft>
              <a:buSzPts val="1300"/>
              <a:buChar char="●"/>
            </a:pPr>
            <a:r>
              <a:rPr lang="en"/>
              <a:t>Java only supports </a:t>
            </a:r>
            <a:r>
              <a:rPr b="1" i="1" lang="en">
                <a:solidFill>
                  <a:srgbClr val="FF0000"/>
                </a:solidFill>
              </a:rPr>
              <a:t>single inheritance</a:t>
            </a:r>
            <a:r>
              <a:rPr lang="en">
                <a:solidFill>
                  <a:srgbClr val="FF0000"/>
                </a:solidFill>
              </a:rPr>
              <a:t> </a:t>
            </a:r>
            <a:r>
              <a:rPr lang="en"/>
              <a:t>with respect to classes.</a:t>
            </a:r>
            <a:endParaRPr/>
          </a:p>
          <a:p>
            <a:pPr indent="-298450" lvl="1" marL="914400" rtl="0" algn="l">
              <a:lnSpc>
                <a:spcPct val="100000"/>
              </a:lnSpc>
              <a:spcBef>
                <a:spcPts val="0"/>
              </a:spcBef>
              <a:spcAft>
                <a:spcPts val="0"/>
              </a:spcAft>
              <a:buSzPts val="1100"/>
              <a:buChar char="○"/>
            </a:pPr>
            <a:r>
              <a:rPr lang="en"/>
              <a:t>A class may extend </a:t>
            </a:r>
            <a:r>
              <a:rPr b="1" i="1" lang="en">
                <a:solidFill>
                  <a:srgbClr val="FF0000"/>
                </a:solidFill>
              </a:rPr>
              <a:t>at most one</a:t>
            </a:r>
            <a:r>
              <a:rPr lang="en"/>
              <a:t> other class.</a:t>
            </a:r>
            <a:endParaRPr/>
          </a:p>
          <a:p>
            <a:pPr indent="-298450" lvl="1" marL="914400" rtl="0" algn="l">
              <a:lnSpc>
                <a:spcPct val="100000"/>
              </a:lnSpc>
              <a:spcBef>
                <a:spcPts val="0"/>
              </a:spcBef>
              <a:spcAft>
                <a:spcPts val="0"/>
              </a:spcAft>
              <a:buSzPts val="1100"/>
              <a:buChar char="○"/>
            </a:pPr>
            <a:r>
              <a:rPr lang="en"/>
              <a:t>If the class already extends some other class, it </a:t>
            </a:r>
            <a:r>
              <a:rPr b="1" i="1" lang="en">
                <a:solidFill>
                  <a:srgbClr val="FF0000"/>
                </a:solidFill>
              </a:rPr>
              <a:t>cannot</a:t>
            </a:r>
            <a:r>
              <a:rPr lang="en">
                <a:solidFill>
                  <a:srgbClr val="FF0000"/>
                </a:solidFill>
              </a:rPr>
              <a:t> </a:t>
            </a:r>
            <a:r>
              <a:rPr lang="en"/>
              <a:t>extend a second class.</a:t>
            </a:r>
            <a:endParaRPr/>
          </a:p>
          <a:p>
            <a:pPr indent="-311150" lvl="0" marL="457200" rtl="0" algn="l">
              <a:lnSpc>
                <a:spcPct val="100000"/>
              </a:lnSpc>
              <a:spcBef>
                <a:spcPts val="0"/>
              </a:spcBef>
              <a:spcAft>
                <a:spcPts val="0"/>
              </a:spcAft>
              <a:buSzPts val="1300"/>
              <a:buChar char="●"/>
            </a:pPr>
            <a:r>
              <a:rPr lang="en"/>
              <a:t>But a class may implement </a:t>
            </a:r>
            <a:r>
              <a:rPr b="1" i="1" lang="en">
                <a:solidFill>
                  <a:srgbClr val="FF0000"/>
                </a:solidFill>
              </a:rPr>
              <a:t>any number</a:t>
            </a:r>
            <a:r>
              <a:rPr lang="en"/>
              <a:t> of interfaces.</a:t>
            </a:r>
            <a:endParaRPr/>
          </a:p>
          <a:p>
            <a:pPr indent="-298450" lvl="1" marL="914400" rtl="0" algn="l">
              <a:lnSpc>
                <a:spcPct val="100000"/>
              </a:lnSpc>
              <a:spcBef>
                <a:spcPts val="0"/>
              </a:spcBef>
              <a:spcAft>
                <a:spcPts val="0"/>
              </a:spcAft>
              <a:buSzPts val="1100"/>
              <a:buChar char="○"/>
            </a:pPr>
            <a:r>
              <a:rPr lang="en"/>
              <a:t>This means that, if an abstract class has </a:t>
            </a:r>
            <a:r>
              <a:rPr b="1" i="1" lang="en">
                <a:solidFill>
                  <a:srgbClr val="FF0000"/>
                </a:solidFill>
              </a:rPr>
              <a:t>only abstract methods</a:t>
            </a:r>
            <a:r>
              <a:rPr lang="en"/>
              <a:t>, it is better to use an interface instead.</a:t>
            </a:r>
            <a:endParaRPr/>
          </a:p>
        </p:txBody>
      </p:sp>
      <p:sp>
        <p:nvSpPr>
          <p:cNvPr id="1317" name="Google Shape;1317;p129"/>
          <p:cNvSpPr txBox="1"/>
          <p:nvPr>
            <p:ph idx="3" type="body"/>
          </p:nvPr>
        </p:nvSpPr>
        <p:spPr>
          <a:xfrm>
            <a:off x="311725" y="685650"/>
            <a:ext cx="3706500" cy="5205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When one class extends another, it is </a:t>
            </a:r>
            <a:r>
              <a:rPr b="1" i="1" lang="en" sz="1200">
                <a:solidFill>
                  <a:srgbClr val="FF0000"/>
                </a:solidFill>
              </a:rPr>
              <a:t>locked in</a:t>
            </a:r>
            <a:r>
              <a:rPr lang="en" sz="1200"/>
              <a:t> to that relationship; it </a:t>
            </a:r>
            <a:r>
              <a:rPr b="1" i="1" lang="en" sz="1200">
                <a:solidFill>
                  <a:srgbClr val="FF0000"/>
                </a:solidFill>
              </a:rPr>
              <a:t>cannot </a:t>
            </a:r>
            <a:r>
              <a:rPr lang="en" sz="1200"/>
              <a:t>extend any other class.</a:t>
            </a:r>
            <a:endParaRPr sz="1200"/>
          </a:p>
        </p:txBody>
      </p:sp>
      <p:sp>
        <p:nvSpPr>
          <p:cNvPr id="1318" name="Google Shape;1318;p129"/>
          <p:cNvSpPr txBox="1"/>
          <p:nvPr>
            <p:ph idx="3" type="body"/>
          </p:nvPr>
        </p:nvSpPr>
        <p:spPr>
          <a:xfrm>
            <a:off x="311725" y="1295250"/>
            <a:ext cx="3706500" cy="5205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This means that </a:t>
            </a:r>
            <a:r>
              <a:rPr b="1" i="1" lang="en" sz="1200">
                <a:solidFill>
                  <a:srgbClr val="FF0000"/>
                </a:solidFill>
              </a:rPr>
              <a:t>polymorphism </a:t>
            </a:r>
            <a:r>
              <a:rPr lang="en" sz="1200"/>
              <a:t>can't be used with any other Java class.</a:t>
            </a:r>
            <a:endParaRPr sz="1200"/>
          </a:p>
        </p:txBody>
      </p:sp>
      <p:sp>
        <p:nvSpPr>
          <p:cNvPr id="1319" name="Google Shape;1319;p129"/>
          <p:cNvSpPr txBox="1"/>
          <p:nvPr/>
        </p:nvSpPr>
        <p:spPr>
          <a:xfrm>
            <a:off x="311725" y="2514450"/>
            <a:ext cx="3706500" cy="6381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35714"/>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Implementor</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A</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B</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D</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35714"/>
              </a:lnSpc>
              <a:spcBef>
                <a:spcPts val="0"/>
              </a:spcBef>
              <a:spcAft>
                <a:spcPts val="0"/>
              </a:spcAft>
              <a:buNone/>
            </a:pPr>
            <a:r>
              <a:rPr lang="en" sz="1000">
                <a:latin typeface="Consolas"/>
                <a:ea typeface="Consolas"/>
                <a:cs typeface="Consolas"/>
                <a:sym typeface="Consolas"/>
              </a:rPr>
              <a:t>    </a:t>
            </a:r>
            <a:r>
              <a:rPr lang="en" sz="1000">
                <a:solidFill>
                  <a:srgbClr val="008000"/>
                </a:solidFill>
                <a:latin typeface="Consolas"/>
                <a:ea typeface="Consolas"/>
                <a:cs typeface="Consolas"/>
                <a:sym typeface="Consolas"/>
              </a:rPr>
              <a:t>// ...</a:t>
            </a:r>
            <a:endParaRPr sz="1000">
              <a:solidFill>
                <a:srgbClr val="008000"/>
              </a:solidFill>
              <a:latin typeface="Consolas"/>
              <a:ea typeface="Consolas"/>
              <a:cs typeface="Consolas"/>
              <a:sym typeface="Consolas"/>
            </a:endParaRPr>
          </a:p>
          <a:p>
            <a:pPr indent="0" lvl="0" marL="0" rtl="0" algn="l">
              <a:lnSpc>
                <a:spcPct val="135714"/>
              </a:lnSpc>
              <a:spcBef>
                <a:spcPts val="0"/>
              </a:spcBef>
              <a:spcAft>
                <a:spcPts val="0"/>
              </a:spcAft>
              <a:buNone/>
            </a:pPr>
            <a:r>
              <a:rPr lang="en" sz="1000">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1320" name="Google Shape;1320;p129"/>
          <p:cNvSpPr txBox="1"/>
          <p:nvPr>
            <p:ph idx="3" type="body"/>
          </p:nvPr>
        </p:nvSpPr>
        <p:spPr>
          <a:xfrm>
            <a:off x="311725" y="1904850"/>
            <a:ext cx="3706500" cy="5205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But a class may implement </a:t>
            </a:r>
            <a:r>
              <a:rPr b="1" i="1" lang="en" sz="1200">
                <a:solidFill>
                  <a:srgbClr val="FF0000"/>
                </a:solidFill>
              </a:rPr>
              <a:t>any number</a:t>
            </a:r>
            <a:r>
              <a:rPr lang="en" sz="1200"/>
              <a:t> of interfaces (specified as a comma-separated list)...</a:t>
            </a:r>
            <a:endParaRPr sz="1200"/>
          </a:p>
        </p:txBody>
      </p:sp>
      <p:sp>
        <p:nvSpPr>
          <p:cNvPr id="1321" name="Google Shape;1321;p129"/>
          <p:cNvSpPr txBox="1"/>
          <p:nvPr>
            <p:ph idx="3" type="body"/>
          </p:nvPr>
        </p:nvSpPr>
        <p:spPr>
          <a:xfrm>
            <a:off x="311725" y="3241650"/>
            <a:ext cx="3706500" cy="8358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When a class implements an interface, it establishes an </a:t>
            </a:r>
            <a:r>
              <a:rPr b="1" i="1" lang="en" sz="1200">
                <a:solidFill>
                  <a:srgbClr val="FF0000"/>
                </a:solidFill>
              </a:rPr>
              <a:t>inheritance relationship</a:t>
            </a:r>
            <a:r>
              <a:rPr lang="en" sz="1200"/>
              <a:t> with the interface, meaning that the class can be used in place of </a:t>
            </a:r>
            <a:r>
              <a:rPr b="1" i="1" lang="en" sz="1200">
                <a:solidFill>
                  <a:srgbClr val="FF0000"/>
                </a:solidFill>
              </a:rPr>
              <a:t>any</a:t>
            </a:r>
            <a:r>
              <a:rPr lang="en" sz="1200">
                <a:solidFill>
                  <a:srgbClr val="FF0000"/>
                </a:solidFill>
              </a:rPr>
              <a:t> </a:t>
            </a:r>
            <a:r>
              <a:rPr lang="en" sz="1200"/>
              <a:t>interface that it implements.</a:t>
            </a:r>
            <a:endParaRPr sz="1200"/>
          </a:p>
        </p:txBody>
      </p:sp>
      <p:sp>
        <p:nvSpPr>
          <p:cNvPr id="1322" name="Google Shape;1322;p129"/>
          <p:cNvSpPr txBox="1"/>
          <p:nvPr>
            <p:ph idx="3" type="body"/>
          </p:nvPr>
        </p:nvSpPr>
        <p:spPr>
          <a:xfrm>
            <a:off x="311725" y="4166550"/>
            <a:ext cx="3706500" cy="8358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Given the choice, using an interface instead of an abstract class makes your design </a:t>
            </a:r>
            <a:r>
              <a:rPr b="1" i="1" lang="en" sz="1200">
                <a:solidFill>
                  <a:srgbClr val="FF0000"/>
                </a:solidFill>
              </a:rPr>
              <a:t>much more flexible</a:t>
            </a:r>
            <a:r>
              <a:rPr lang="en" sz="1200"/>
              <a:t> and dramatically improves the potential for </a:t>
            </a:r>
            <a:r>
              <a:rPr b="1" i="1" lang="en" sz="1200">
                <a:solidFill>
                  <a:srgbClr val="FF0000"/>
                </a:solidFill>
              </a:rPr>
              <a:t>polymorphism</a:t>
            </a:r>
            <a:r>
              <a:rPr lang="en" sz="1200"/>
              <a:t>.</a:t>
            </a:r>
            <a:endParaRPr sz="1200"/>
          </a:p>
        </p:txBody>
      </p:sp>
      <p:grpSp>
        <p:nvGrpSpPr>
          <p:cNvPr id="1323" name="Google Shape;1323;p129"/>
          <p:cNvGrpSpPr/>
          <p:nvPr/>
        </p:nvGrpSpPr>
        <p:grpSpPr>
          <a:xfrm>
            <a:off x="2126275" y="2165200"/>
            <a:ext cx="1892100" cy="537600"/>
            <a:chOff x="2126275" y="2165200"/>
            <a:chExt cx="1892100" cy="537600"/>
          </a:xfrm>
        </p:grpSpPr>
        <p:sp>
          <p:nvSpPr>
            <p:cNvPr id="1324" name="Google Shape;1324;p129"/>
            <p:cNvSpPr/>
            <p:nvPr/>
          </p:nvSpPr>
          <p:spPr>
            <a:xfrm>
              <a:off x="2126275" y="2515600"/>
              <a:ext cx="1557300" cy="187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25" name="Google Shape;1325;p129"/>
            <p:cNvCxnSpPr>
              <a:stCxn id="1324" idx="3"/>
              <a:endCxn id="1320" idx="3"/>
            </p:cNvCxnSpPr>
            <p:nvPr/>
          </p:nvCxnSpPr>
          <p:spPr>
            <a:xfrm flipH="1" rot="10800000">
              <a:off x="3683575" y="2165200"/>
              <a:ext cx="334800" cy="444000"/>
            </a:xfrm>
            <a:prstGeom prst="bentConnector3">
              <a:avLst>
                <a:gd fmla="val 171080" name="adj1"/>
              </a:avLst>
            </a:prstGeom>
            <a:noFill/>
            <a:ln cap="flat" cmpd="sng" w="19050">
              <a:solidFill>
                <a:srgbClr val="FF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7"/>
                                        </p:tgtEl>
                                        <p:attrNameLst>
                                          <p:attrName>style.visibility</p:attrName>
                                        </p:attrNameLst>
                                      </p:cBhvr>
                                      <p:to>
                                        <p:strVal val="visible"/>
                                      </p:to>
                                    </p:set>
                                    <p:animEffect filter="fade" transition="in">
                                      <p:cBhvr>
                                        <p:cTn dur="1000"/>
                                        <p:tgtEl>
                                          <p:spTgt spid="1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gtEl>
                                        <p:attrNameLst>
                                          <p:attrName>style.visibility</p:attrName>
                                        </p:attrNameLst>
                                      </p:cBhvr>
                                      <p:to>
                                        <p:strVal val="visible"/>
                                      </p:to>
                                    </p:set>
                                    <p:animEffect filter="fade" transition="in">
                                      <p:cBhvr>
                                        <p:cTn dur="1000"/>
                                        <p:tgtEl>
                                          <p:spTgt spid="13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0"/>
                                        </p:tgtEl>
                                        <p:attrNameLst>
                                          <p:attrName>style.visibility</p:attrName>
                                        </p:attrNameLst>
                                      </p:cBhvr>
                                      <p:to>
                                        <p:strVal val="visible"/>
                                      </p:to>
                                    </p:set>
                                    <p:animEffect filter="fade" transition="in">
                                      <p:cBhvr>
                                        <p:cTn dur="1000"/>
                                        <p:tgtEl>
                                          <p:spTgt spid="1320"/>
                                        </p:tgtEl>
                                      </p:cBhvr>
                                    </p:animEffect>
                                  </p:childTnLst>
                                </p:cTn>
                              </p:par>
                              <p:par>
                                <p:cTn fill="hold" nodeType="withEffect" presetClass="entr" presetID="10" presetSubtype="0">
                                  <p:stCondLst>
                                    <p:cond delay="0"/>
                                  </p:stCondLst>
                                  <p:childTnLst>
                                    <p:set>
                                      <p:cBhvr>
                                        <p:cTn dur="1" fill="hold">
                                          <p:stCondLst>
                                            <p:cond delay="0"/>
                                          </p:stCondLst>
                                        </p:cTn>
                                        <p:tgtEl>
                                          <p:spTgt spid="1319"/>
                                        </p:tgtEl>
                                        <p:attrNameLst>
                                          <p:attrName>style.visibility</p:attrName>
                                        </p:attrNameLst>
                                      </p:cBhvr>
                                      <p:to>
                                        <p:strVal val="visible"/>
                                      </p:to>
                                    </p:set>
                                    <p:animEffect filter="fade" transition="in">
                                      <p:cBhvr>
                                        <p:cTn dur="1000"/>
                                        <p:tgtEl>
                                          <p:spTgt spid="131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23"/>
                                        </p:tgtEl>
                                        <p:attrNameLst>
                                          <p:attrName>style.visibility</p:attrName>
                                        </p:attrNameLst>
                                      </p:cBhvr>
                                      <p:to>
                                        <p:strVal val="visible"/>
                                      </p:to>
                                    </p:set>
                                    <p:animEffect filter="fade" transition="in">
                                      <p:cBhvr>
                                        <p:cTn dur="1000"/>
                                        <p:tgtEl>
                                          <p:spTgt spid="1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1"/>
                                        </p:tgtEl>
                                        <p:attrNameLst>
                                          <p:attrName>style.visibility</p:attrName>
                                        </p:attrNameLst>
                                      </p:cBhvr>
                                      <p:to>
                                        <p:strVal val="visible"/>
                                      </p:to>
                                    </p:set>
                                    <p:animEffect filter="fade" transition="in">
                                      <p:cBhvr>
                                        <p:cTn dur="1000"/>
                                        <p:tgtEl>
                                          <p:spTgt spid="13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2"/>
                                        </p:tgtEl>
                                        <p:attrNameLst>
                                          <p:attrName>style.visibility</p:attrName>
                                        </p:attrNameLst>
                                      </p:cBhvr>
                                      <p:to>
                                        <p:strVal val="visible"/>
                                      </p:to>
                                    </p:set>
                                    <p:animEffect filter="fade" transition="in">
                                      <p:cBhvr>
                                        <p:cTn dur="1000"/>
                                        <p:tgtEl>
                                          <p:spTgt spid="13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sp>
        <p:nvSpPr>
          <p:cNvPr id="1330" name="Google Shape;1330;p1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31" name="Google Shape;1331;p130"/>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Interfaces</a:t>
            </a:r>
            <a:endParaRPr/>
          </a:p>
        </p:txBody>
      </p:sp>
      <p:sp>
        <p:nvSpPr>
          <p:cNvPr id="1332" name="Google Shape;1332;p130"/>
          <p:cNvSpPr txBox="1"/>
          <p:nvPr/>
        </p:nvSpPr>
        <p:spPr>
          <a:xfrm>
            <a:off x="2512640" y="2155125"/>
            <a:ext cx="4059600" cy="1532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highlight>
                  <a:srgbClr val="FFFFFF"/>
                </a:highlight>
                <a:latin typeface="Consolas"/>
                <a:ea typeface="Consolas"/>
                <a:cs typeface="Consolas"/>
                <a:sym typeface="Consolas"/>
              </a:rPr>
              <a:t>1  </a:t>
            </a:r>
            <a:r>
              <a:rPr lang="en" sz="1000">
                <a:solidFill>
                  <a:srgbClr val="0000FF"/>
                </a:solidFill>
                <a:highlight>
                  <a:srgbClr val="FFFFFF"/>
                </a:highlight>
                <a:latin typeface="Consolas"/>
                <a:ea typeface="Consolas"/>
                <a:cs typeface="Consolas"/>
                <a:sym typeface="Consolas"/>
              </a:rPr>
              <a:t>public</a:t>
            </a:r>
            <a:r>
              <a:rPr lang="en" sz="1000">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interface</a:t>
            </a:r>
            <a:r>
              <a:rPr lang="en" sz="1000">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Animal</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2</a:t>
            </a:r>
            <a:r>
              <a:rPr lang="en" sz="1000">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private</a:t>
            </a:r>
            <a:r>
              <a:rPr lang="en" sz="1000">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static</a:t>
            </a:r>
            <a:r>
              <a:rPr lang="en" sz="1000">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final</a:t>
            </a:r>
            <a:r>
              <a:rPr lang="en" sz="1000">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String</a:t>
            </a:r>
            <a:r>
              <a:rPr lang="en" sz="1000">
                <a:highlight>
                  <a:srgbClr val="FFFFFF"/>
                </a:highlight>
                <a:latin typeface="Consolas"/>
                <a:ea typeface="Consolas"/>
                <a:cs typeface="Consolas"/>
                <a:sym typeface="Consolas"/>
              </a:rPr>
              <a:t> </a:t>
            </a:r>
            <a:r>
              <a:rPr lang="en" sz="1000">
                <a:solidFill>
                  <a:srgbClr val="0070C1"/>
                </a:solidFill>
                <a:highlight>
                  <a:srgbClr val="FFFFFF"/>
                </a:highlight>
                <a:latin typeface="Consolas"/>
                <a:ea typeface="Consolas"/>
                <a:cs typeface="Consolas"/>
                <a:sym typeface="Consolas"/>
              </a:rPr>
              <a:t>KINGDOM</a:t>
            </a:r>
            <a:r>
              <a:rPr lang="en" sz="1000">
                <a:highlight>
                  <a:srgbClr val="FFFFFF"/>
                </a:highlight>
                <a:latin typeface="Consolas"/>
                <a:ea typeface="Consolas"/>
                <a:cs typeface="Consolas"/>
                <a:sym typeface="Consolas"/>
              </a:rPr>
              <a:t> = </a:t>
            </a:r>
            <a:r>
              <a:rPr lang="en" sz="1000">
                <a:solidFill>
                  <a:srgbClr val="A31515"/>
                </a:solidFill>
                <a:highlight>
                  <a:srgbClr val="FFFFFF"/>
                </a:highlight>
                <a:latin typeface="Consolas"/>
                <a:ea typeface="Consolas"/>
                <a:cs typeface="Consolas"/>
                <a:sym typeface="Consolas"/>
              </a:rPr>
              <a:t>"Animalia"</a:t>
            </a:r>
            <a:r>
              <a:rPr lang="en" sz="1000">
                <a:highlight>
                  <a:srgbClr val="FFFFFF"/>
                </a:highlight>
                <a:latin typeface="Consolas"/>
                <a:ea typeface="Consolas"/>
                <a:cs typeface="Consolas"/>
                <a:sym typeface="Consolas"/>
              </a:rPr>
              <a:t>;</a:t>
            </a:r>
            <a:endParaRPr sz="10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3</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highlight>
                  <a:srgbClr val="FFFFFF"/>
                </a:highlight>
                <a:latin typeface="Consolas"/>
                <a:ea typeface="Consolas"/>
                <a:cs typeface="Consolas"/>
                <a:sym typeface="Consolas"/>
              </a:rPr>
              <a:t>4     </a:t>
            </a:r>
            <a:r>
              <a:rPr lang="en" sz="1000">
                <a:solidFill>
                  <a:srgbClr val="0000FF"/>
                </a:solidFill>
                <a:highlight>
                  <a:srgbClr val="FFFFFF"/>
                </a:highlight>
                <a:latin typeface="Consolas"/>
                <a:ea typeface="Consolas"/>
                <a:cs typeface="Consolas"/>
                <a:sym typeface="Consolas"/>
              </a:rPr>
              <a:t>public</a:t>
            </a:r>
            <a:r>
              <a:rPr lang="en" sz="1000">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static</a:t>
            </a:r>
            <a:r>
              <a:rPr lang="en" sz="1000">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String</a:t>
            </a:r>
            <a:r>
              <a:rPr lang="en" sz="1000">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getKingdom</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5</a:t>
            </a:r>
            <a:r>
              <a:rPr lang="en" sz="1000">
                <a:highlight>
                  <a:srgbClr val="FFFFFF"/>
                </a:highlight>
                <a:latin typeface="Consolas"/>
                <a:ea typeface="Consolas"/>
                <a:cs typeface="Consolas"/>
                <a:sym typeface="Consolas"/>
              </a:rPr>
              <a:t>        </a:t>
            </a:r>
            <a:r>
              <a:rPr lang="en" sz="1000">
                <a:solidFill>
                  <a:srgbClr val="AF00DB"/>
                </a:solidFill>
                <a:highlight>
                  <a:srgbClr val="FFFFFF"/>
                </a:highlight>
                <a:latin typeface="Consolas"/>
                <a:ea typeface="Consolas"/>
                <a:cs typeface="Consolas"/>
                <a:sym typeface="Consolas"/>
              </a:rPr>
              <a:t>return</a:t>
            </a:r>
            <a:r>
              <a:rPr lang="en" sz="1000">
                <a:highlight>
                  <a:srgbClr val="FFFFFF"/>
                </a:highlight>
                <a:latin typeface="Consolas"/>
                <a:ea typeface="Consolas"/>
                <a:cs typeface="Consolas"/>
                <a:sym typeface="Consolas"/>
              </a:rPr>
              <a:t> </a:t>
            </a:r>
            <a:r>
              <a:rPr lang="en" sz="1000">
                <a:solidFill>
                  <a:srgbClr val="0070C1"/>
                </a:solidFill>
                <a:highlight>
                  <a:srgbClr val="FFFFFF"/>
                </a:highlight>
                <a:latin typeface="Consolas"/>
                <a:ea typeface="Consolas"/>
                <a:cs typeface="Consolas"/>
                <a:sym typeface="Consolas"/>
              </a:rPr>
              <a:t>KINGDOM</a:t>
            </a:r>
            <a:r>
              <a:rPr lang="en" sz="1000">
                <a:highlight>
                  <a:srgbClr val="FFFFFF"/>
                </a:highlight>
                <a:latin typeface="Consolas"/>
                <a:ea typeface="Consolas"/>
                <a:cs typeface="Consolas"/>
                <a:sym typeface="Consolas"/>
              </a:rPr>
              <a:t>;</a:t>
            </a:r>
            <a:endParaRPr sz="10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6</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7</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highlight>
                  <a:srgbClr val="FFFFFF"/>
                </a:highlight>
                <a:latin typeface="Consolas"/>
                <a:ea typeface="Consolas"/>
                <a:cs typeface="Consolas"/>
                <a:sym typeface="Consolas"/>
              </a:rPr>
              <a:t>8                     </a:t>
            </a:r>
            <a:r>
              <a:rPr lang="en" sz="1000">
                <a:solidFill>
                  <a:srgbClr val="267F99"/>
                </a:solidFill>
                <a:highlight>
                  <a:srgbClr val="FFFFFF"/>
                </a:highlight>
                <a:latin typeface="Consolas"/>
                <a:ea typeface="Consolas"/>
                <a:cs typeface="Consolas"/>
                <a:sym typeface="Consolas"/>
              </a:rPr>
              <a:t>void</a:t>
            </a:r>
            <a:r>
              <a:rPr lang="en" sz="1000">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speak</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9</a:t>
            </a:r>
            <a:r>
              <a:rPr lang="en" sz="1000">
                <a:highlight>
                  <a:srgbClr val="FFFFFF"/>
                </a:highlight>
                <a:latin typeface="Consolas"/>
                <a:ea typeface="Consolas"/>
                <a:cs typeface="Consolas"/>
                <a:sym typeface="Consolas"/>
              </a:rPr>
              <a:t>  }</a:t>
            </a:r>
            <a:endParaRPr sz="1000">
              <a:solidFill>
                <a:srgbClr val="999999"/>
              </a:solidFill>
              <a:latin typeface="Consolas"/>
              <a:ea typeface="Consolas"/>
              <a:cs typeface="Consolas"/>
              <a:sym typeface="Consolas"/>
            </a:endParaRPr>
          </a:p>
        </p:txBody>
      </p:sp>
      <p:sp>
        <p:nvSpPr>
          <p:cNvPr id="1333" name="Google Shape;1333;p130"/>
          <p:cNvSpPr/>
          <p:nvPr/>
        </p:nvSpPr>
        <p:spPr>
          <a:xfrm>
            <a:off x="3026873" y="1847525"/>
            <a:ext cx="593383" cy="406450"/>
          </a:xfrm>
          <a:custGeom>
            <a:rect b="b" l="l" r="r" t="t"/>
            <a:pathLst>
              <a:path extrusionOk="0" h="16258" w="20988">
                <a:moveTo>
                  <a:pt x="0" y="0"/>
                </a:moveTo>
                <a:cubicBezTo>
                  <a:pt x="2907" y="739"/>
                  <a:pt x="13943" y="1724"/>
                  <a:pt x="17441" y="4434"/>
                </a:cubicBezTo>
                <a:cubicBezTo>
                  <a:pt x="20939" y="7144"/>
                  <a:pt x="20397" y="14287"/>
                  <a:pt x="20988" y="16258"/>
                </a:cubicBezTo>
              </a:path>
            </a:pathLst>
          </a:custGeom>
          <a:noFill/>
          <a:ln cap="flat" cmpd="sng" w="19050">
            <a:solidFill>
              <a:srgbClr val="FF0000"/>
            </a:solidFill>
            <a:prstDash val="solid"/>
            <a:round/>
            <a:headEnd len="med" w="med" type="none"/>
            <a:tailEnd len="med" w="med" type="triangle"/>
          </a:ln>
        </p:spPr>
      </p:sp>
      <p:sp>
        <p:nvSpPr>
          <p:cNvPr id="1334" name="Google Shape;1334;p130"/>
          <p:cNvSpPr txBox="1"/>
          <p:nvPr/>
        </p:nvSpPr>
        <p:spPr>
          <a:xfrm>
            <a:off x="129765" y="1359770"/>
            <a:ext cx="2897100" cy="672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The first step to creating an </a:t>
            </a:r>
            <a:r>
              <a:rPr b="1" i="1" lang="en" sz="1200">
                <a:solidFill>
                  <a:srgbClr val="FF0000"/>
                </a:solidFill>
              </a:rPr>
              <a:t>interface</a:t>
            </a:r>
            <a:r>
              <a:rPr lang="en" sz="1200">
                <a:solidFill>
                  <a:srgbClr val="FF0000"/>
                </a:solidFill>
              </a:rPr>
              <a:t> </a:t>
            </a:r>
            <a:r>
              <a:rPr lang="en" sz="1200"/>
              <a:t>is to declare it as such (rather than a class) using the </a:t>
            </a:r>
            <a:r>
              <a:rPr lang="en" sz="1200">
                <a:solidFill>
                  <a:srgbClr val="FF0000"/>
                </a:solidFill>
                <a:latin typeface="Courier New"/>
                <a:ea typeface="Courier New"/>
                <a:cs typeface="Courier New"/>
                <a:sym typeface="Courier New"/>
              </a:rPr>
              <a:t>interface</a:t>
            </a:r>
            <a:r>
              <a:rPr lang="en" sz="1200"/>
              <a:t> keyword.</a:t>
            </a:r>
            <a:endParaRPr sz="1200"/>
          </a:p>
        </p:txBody>
      </p:sp>
      <p:sp>
        <p:nvSpPr>
          <p:cNvPr id="1335" name="Google Shape;1335;p130"/>
          <p:cNvSpPr/>
          <p:nvPr/>
        </p:nvSpPr>
        <p:spPr>
          <a:xfrm>
            <a:off x="5254340" y="2008175"/>
            <a:ext cx="1851648" cy="393621"/>
          </a:xfrm>
          <a:custGeom>
            <a:rect b="b" l="l" r="r" t="t"/>
            <a:pathLst>
              <a:path extrusionOk="0" h="17440" w="45523">
                <a:moveTo>
                  <a:pt x="45523" y="0"/>
                </a:moveTo>
                <a:cubicBezTo>
                  <a:pt x="38872" y="788"/>
                  <a:pt x="13203" y="1822"/>
                  <a:pt x="5616" y="4729"/>
                </a:cubicBezTo>
                <a:cubicBezTo>
                  <a:pt x="-1971" y="7636"/>
                  <a:pt x="936" y="15322"/>
                  <a:pt x="0" y="17440"/>
                </a:cubicBezTo>
              </a:path>
            </a:pathLst>
          </a:custGeom>
          <a:noFill/>
          <a:ln cap="flat" cmpd="sng" w="19050">
            <a:solidFill>
              <a:srgbClr val="FF0000"/>
            </a:solidFill>
            <a:prstDash val="solid"/>
            <a:round/>
            <a:headEnd len="med" w="med" type="none"/>
            <a:tailEnd len="med" w="med" type="triangle"/>
          </a:ln>
        </p:spPr>
      </p:sp>
      <p:sp>
        <p:nvSpPr>
          <p:cNvPr id="1336" name="Google Shape;1336;p130"/>
          <p:cNvSpPr/>
          <p:nvPr/>
        </p:nvSpPr>
        <p:spPr>
          <a:xfrm>
            <a:off x="5527790" y="1958375"/>
            <a:ext cx="2368992" cy="913475"/>
          </a:xfrm>
          <a:custGeom>
            <a:rect b="b" l="l" r="r" t="t"/>
            <a:pathLst>
              <a:path extrusionOk="0" h="36539" w="61781">
                <a:moveTo>
                  <a:pt x="61781" y="0"/>
                </a:moveTo>
                <a:cubicBezTo>
                  <a:pt x="59909" y="5666"/>
                  <a:pt x="60845" y="28328"/>
                  <a:pt x="50548" y="33994"/>
                </a:cubicBezTo>
                <a:cubicBezTo>
                  <a:pt x="40251" y="39660"/>
                  <a:pt x="8425" y="33994"/>
                  <a:pt x="0" y="33994"/>
                </a:cubicBezTo>
              </a:path>
            </a:pathLst>
          </a:custGeom>
          <a:noFill/>
          <a:ln cap="flat" cmpd="sng" w="19050">
            <a:solidFill>
              <a:srgbClr val="FF0000"/>
            </a:solidFill>
            <a:prstDash val="solid"/>
            <a:round/>
            <a:headEnd len="med" w="med" type="none"/>
            <a:tailEnd len="med" w="med" type="triangle"/>
          </a:ln>
        </p:spPr>
      </p:sp>
      <p:sp>
        <p:nvSpPr>
          <p:cNvPr id="1337" name="Google Shape;1337;p130"/>
          <p:cNvSpPr txBox="1"/>
          <p:nvPr/>
        </p:nvSpPr>
        <p:spPr>
          <a:xfrm>
            <a:off x="5819165" y="1337600"/>
            <a:ext cx="2897100" cy="672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An interface </a:t>
            </a:r>
            <a:r>
              <a:rPr b="1" i="1" lang="en" sz="1200">
                <a:solidFill>
                  <a:srgbClr val="FF0000"/>
                </a:solidFill>
              </a:rPr>
              <a:t>may </a:t>
            </a:r>
            <a:r>
              <a:rPr lang="en" sz="1200"/>
              <a:t>declare </a:t>
            </a:r>
            <a:r>
              <a:rPr lang="en" sz="1200">
                <a:solidFill>
                  <a:srgbClr val="FF0000"/>
                </a:solidFill>
                <a:latin typeface="Courier New"/>
                <a:ea typeface="Courier New"/>
                <a:cs typeface="Courier New"/>
                <a:sym typeface="Courier New"/>
              </a:rPr>
              <a:t>static</a:t>
            </a:r>
            <a:r>
              <a:rPr lang="en" sz="1200"/>
              <a:t> state or behavior that is used through the interface, e.g. </a:t>
            </a:r>
            <a:r>
              <a:rPr lang="en" sz="1200">
                <a:solidFill>
                  <a:srgbClr val="FF0000"/>
                </a:solidFill>
                <a:latin typeface="Courier New"/>
                <a:ea typeface="Courier New"/>
                <a:cs typeface="Courier New"/>
                <a:sym typeface="Courier New"/>
              </a:rPr>
              <a:t>Animal.</a:t>
            </a:r>
            <a:r>
              <a:rPr i="1" lang="en" sz="1200">
                <a:solidFill>
                  <a:srgbClr val="FF0000"/>
                </a:solidFill>
                <a:latin typeface="Courier New"/>
                <a:ea typeface="Courier New"/>
                <a:cs typeface="Courier New"/>
                <a:sym typeface="Courier New"/>
              </a:rPr>
              <a:t>getKingdom()</a:t>
            </a:r>
            <a:endParaRPr sz="1200">
              <a:solidFill>
                <a:srgbClr val="FF0000"/>
              </a:solidFill>
              <a:latin typeface="Courier New"/>
              <a:ea typeface="Courier New"/>
              <a:cs typeface="Courier New"/>
              <a:sym typeface="Courier New"/>
            </a:endParaRPr>
          </a:p>
        </p:txBody>
      </p:sp>
      <p:sp>
        <p:nvSpPr>
          <p:cNvPr id="1338" name="Google Shape;1338;p130"/>
          <p:cNvSpPr/>
          <p:nvPr/>
        </p:nvSpPr>
        <p:spPr>
          <a:xfrm>
            <a:off x="3259040" y="3020857"/>
            <a:ext cx="2645650" cy="289900"/>
          </a:xfrm>
          <a:custGeom>
            <a:rect b="b" l="l" r="r" t="t"/>
            <a:pathLst>
              <a:path extrusionOk="0" h="11596" w="105826">
                <a:moveTo>
                  <a:pt x="105826" y="8345"/>
                </a:moveTo>
                <a:cubicBezTo>
                  <a:pt x="91243" y="6966"/>
                  <a:pt x="35965" y="-474"/>
                  <a:pt x="18327" y="68"/>
                </a:cubicBezTo>
                <a:cubicBezTo>
                  <a:pt x="689" y="610"/>
                  <a:pt x="3055" y="9675"/>
                  <a:pt x="0" y="11596"/>
                </a:cubicBezTo>
              </a:path>
            </a:pathLst>
          </a:custGeom>
          <a:noFill/>
          <a:ln cap="flat" cmpd="sng" w="19050">
            <a:solidFill>
              <a:srgbClr val="FF0000"/>
            </a:solidFill>
            <a:prstDash val="solid"/>
            <a:round/>
            <a:headEnd len="med" w="med" type="none"/>
            <a:tailEnd len="med" w="med" type="triangle"/>
          </a:ln>
        </p:spPr>
      </p:sp>
      <p:sp>
        <p:nvSpPr>
          <p:cNvPr id="1339" name="Google Shape;1339;p130"/>
          <p:cNvSpPr/>
          <p:nvPr/>
        </p:nvSpPr>
        <p:spPr>
          <a:xfrm>
            <a:off x="3724615" y="3155575"/>
            <a:ext cx="2150500" cy="169975"/>
          </a:xfrm>
          <a:custGeom>
            <a:rect b="b" l="l" r="r" t="t"/>
            <a:pathLst>
              <a:path extrusionOk="0" h="6799" w="86020">
                <a:moveTo>
                  <a:pt x="86020" y="6799"/>
                </a:moveTo>
                <a:cubicBezTo>
                  <a:pt x="73703" y="5666"/>
                  <a:pt x="26456" y="0"/>
                  <a:pt x="12119" y="0"/>
                </a:cubicBezTo>
                <a:cubicBezTo>
                  <a:pt x="-2218" y="0"/>
                  <a:pt x="2020" y="5666"/>
                  <a:pt x="0" y="6799"/>
                </a:cubicBezTo>
              </a:path>
            </a:pathLst>
          </a:custGeom>
          <a:noFill/>
          <a:ln cap="flat" cmpd="sng" w="19050">
            <a:solidFill>
              <a:srgbClr val="FF0000"/>
            </a:solidFill>
            <a:prstDash val="solid"/>
            <a:round/>
            <a:headEnd len="med" w="med" type="none"/>
            <a:tailEnd len="med" w="med" type="triangle"/>
          </a:ln>
        </p:spPr>
      </p:sp>
      <p:sp>
        <p:nvSpPr>
          <p:cNvPr id="1340" name="Google Shape;1340;p130"/>
          <p:cNvSpPr txBox="1"/>
          <p:nvPr/>
        </p:nvSpPr>
        <p:spPr>
          <a:xfrm>
            <a:off x="5819165" y="3196208"/>
            <a:ext cx="2897100" cy="672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Any non-static behavior </a:t>
            </a:r>
            <a:r>
              <a:rPr b="1" i="1" lang="en" sz="1200">
                <a:solidFill>
                  <a:srgbClr val="FF0000"/>
                </a:solidFill>
              </a:rPr>
              <a:t>must</a:t>
            </a:r>
            <a:r>
              <a:rPr lang="en" sz="1200">
                <a:solidFill>
                  <a:srgbClr val="FF0000"/>
                </a:solidFill>
              </a:rPr>
              <a:t> </a:t>
            </a:r>
            <a:r>
              <a:rPr lang="en" sz="1200"/>
              <a:t>be both </a:t>
            </a:r>
            <a:r>
              <a:rPr lang="en" sz="1200">
                <a:solidFill>
                  <a:srgbClr val="FF0000"/>
                </a:solidFill>
                <a:latin typeface="Courier New"/>
                <a:ea typeface="Courier New"/>
                <a:cs typeface="Courier New"/>
                <a:sym typeface="Courier New"/>
              </a:rPr>
              <a:t>public</a:t>
            </a:r>
            <a:r>
              <a:rPr lang="en" sz="1200">
                <a:solidFill>
                  <a:srgbClr val="FF0000"/>
                </a:solidFill>
              </a:rPr>
              <a:t> </a:t>
            </a:r>
            <a:r>
              <a:rPr lang="en" sz="1200"/>
              <a:t>and </a:t>
            </a:r>
            <a:r>
              <a:rPr lang="en" sz="1200">
                <a:solidFill>
                  <a:srgbClr val="FF0000"/>
                </a:solidFill>
                <a:latin typeface="Courier New"/>
                <a:ea typeface="Courier New"/>
                <a:cs typeface="Courier New"/>
                <a:sym typeface="Courier New"/>
              </a:rPr>
              <a:t>abstract</a:t>
            </a:r>
            <a:r>
              <a:rPr lang="en" sz="1200"/>
              <a:t>. Because of this, </a:t>
            </a:r>
            <a:r>
              <a:rPr b="1" i="1" lang="en" sz="1200">
                <a:solidFill>
                  <a:srgbClr val="FF0000"/>
                </a:solidFill>
              </a:rPr>
              <a:t>both</a:t>
            </a:r>
            <a:r>
              <a:rPr lang="en" sz="1200">
                <a:solidFill>
                  <a:srgbClr val="FF0000"/>
                </a:solidFill>
              </a:rPr>
              <a:t> </a:t>
            </a:r>
            <a:r>
              <a:rPr lang="en" sz="1200"/>
              <a:t>modifiers are </a:t>
            </a:r>
            <a:r>
              <a:rPr b="1" i="1" lang="en" sz="1200">
                <a:solidFill>
                  <a:srgbClr val="FF0000"/>
                </a:solidFill>
              </a:rPr>
              <a:t>optional</a:t>
            </a:r>
            <a:r>
              <a:rPr lang="en" sz="1200"/>
              <a:t>.</a:t>
            </a:r>
            <a:endParaRPr sz="1200"/>
          </a:p>
        </p:txBody>
      </p:sp>
      <p:sp>
        <p:nvSpPr>
          <p:cNvPr id="1341" name="Google Shape;1341;p130"/>
          <p:cNvSpPr txBox="1"/>
          <p:nvPr/>
        </p:nvSpPr>
        <p:spPr>
          <a:xfrm>
            <a:off x="2879334" y="3177745"/>
            <a:ext cx="1347900" cy="406500"/>
          </a:xfrm>
          <a:prstGeom prst="rect">
            <a:avLst/>
          </a:prstGeom>
          <a:noFill/>
          <a:ln>
            <a:noFill/>
          </a:ln>
        </p:spPr>
        <p:txBody>
          <a:bodyPr anchorCtr="0" anchor="ctr" bIns="91425" lIns="91425" spcFirstLastPara="1" rIns="91425" wrap="square" tIns="91425">
            <a:noAutofit/>
          </a:bodyPr>
          <a:lstStyle/>
          <a:p>
            <a:pPr indent="0" lvl="0" marL="0" rtl="0" algn="ctr">
              <a:lnSpc>
                <a:spcPct val="135714"/>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abstract</a:t>
            </a:r>
            <a:endParaRPr sz="1000">
              <a:solidFill>
                <a:srgbClr val="569CD6"/>
              </a:solidFill>
              <a:latin typeface="Consolas"/>
              <a:ea typeface="Consolas"/>
              <a:cs typeface="Consolas"/>
              <a:sym typeface="Consolas"/>
            </a:endParaRPr>
          </a:p>
        </p:txBody>
      </p:sp>
      <p:sp>
        <p:nvSpPr>
          <p:cNvPr id="1342" name="Google Shape;1342;p130"/>
          <p:cNvSpPr txBox="1"/>
          <p:nvPr/>
        </p:nvSpPr>
        <p:spPr>
          <a:xfrm>
            <a:off x="129765" y="3938125"/>
            <a:ext cx="3000000" cy="11139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Dog</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Animal</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speak</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latin typeface="Consolas"/>
                <a:ea typeface="Consolas"/>
                <a:cs typeface="Consolas"/>
                <a:sym typeface="Consolas"/>
              </a:rPr>
              <a:t>(</a:t>
            </a:r>
            <a:r>
              <a:rPr lang="en" sz="1000">
                <a:solidFill>
                  <a:srgbClr val="A31515"/>
                </a:solidFill>
                <a:latin typeface="Consolas"/>
                <a:ea typeface="Consolas"/>
                <a:cs typeface="Consolas"/>
                <a:sym typeface="Consolas"/>
              </a:rPr>
              <a:t>"Woof!"</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1343" name="Google Shape;1343;p130"/>
          <p:cNvSpPr txBox="1"/>
          <p:nvPr/>
        </p:nvSpPr>
        <p:spPr>
          <a:xfrm>
            <a:off x="3253965" y="3938125"/>
            <a:ext cx="3000000" cy="11139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Cat</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Animal</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speak</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latin typeface="Consolas"/>
                <a:ea typeface="Consolas"/>
                <a:cs typeface="Consolas"/>
                <a:sym typeface="Consolas"/>
              </a:rPr>
              <a:t>(</a:t>
            </a:r>
            <a:r>
              <a:rPr lang="en" sz="1000">
                <a:solidFill>
                  <a:srgbClr val="A31515"/>
                </a:solidFill>
                <a:latin typeface="Consolas"/>
                <a:ea typeface="Consolas"/>
                <a:cs typeface="Consolas"/>
                <a:sym typeface="Consolas"/>
              </a:rPr>
              <a:t>"Meow!"</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1344" name="Google Shape;1344;p130"/>
          <p:cNvSpPr/>
          <p:nvPr/>
        </p:nvSpPr>
        <p:spPr>
          <a:xfrm>
            <a:off x="1529740" y="3665425"/>
            <a:ext cx="365575" cy="406519"/>
          </a:xfrm>
          <a:custGeom>
            <a:rect b="b" l="l" r="r" t="t"/>
            <a:pathLst>
              <a:path extrusionOk="0" h="19509" w="14623">
                <a:moveTo>
                  <a:pt x="0" y="0"/>
                </a:moveTo>
                <a:cubicBezTo>
                  <a:pt x="2217" y="1527"/>
                  <a:pt x="10937" y="5912"/>
                  <a:pt x="13302" y="9163"/>
                </a:cubicBezTo>
                <a:cubicBezTo>
                  <a:pt x="15667" y="12415"/>
                  <a:pt x="14041" y="17785"/>
                  <a:pt x="14189" y="19509"/>
                </a:cubicBezTo>
              </a:path>
            </a:pathLst>
          </a:custGeom>
          <a:noFill/>
          <a:ln cap="flat" cmpd="sng" w="19050">
            <a:solidFill>
              <a:srgbClr val="FF0000"/>
            </a:solidFill>
            <a:prstDash val="solid"/>
            <a:round/>
            <a:headEnd len="med" w="med" type="none"/>
            <a:tailEnd len="med" w="med" type="triangle"/>
          </a:ln>
        </p:spPr>
      </p:sp>
      <p:sp>
        <p:nvSpPr>
          <p:cNvPr id="1345" name="Google Shape;1345;p130"/>
          <p:cNvSpPr/>
          <p:nvPr/>
        </p:nvSpPr>
        <p:spPr>
          <a:xfrm>
            <a:off x="1825340" y="3700100"/>
            <a:ext cx="2999885" cy="357070"/>
          </a:xfrm>
          <a:custGeom>
            <a:rect b="b" l="l" r="r" t="t"/>
            <a:pathLst>
              <a:path extrusionOk="0" h="16554" w="130657">
                <a:moveTo>
                  <a:pt x="0" y="0"/>
                </a:moveTo>
                <a:cubicBezTo>
                  <a:pt x="18968" y="1133"/>
                  <a:pt x="92032" y="4040"/>
                  <a:pt x="113808" y="6799"/>
                </a:cubicBezTo>
                <a:cubicBezTo>
                  <a:pt x="135584" y="9558"/>
                  <a:pt x="127849" y="14928"/>
                  <a:pt x="130657" y="16554"/>
                </a:cubicBezTo>
              </a:path>
            </a:pathLst>
          </a:custGeom>
          <a:noFill/>
          <a:ln cap="flat" cmpd="sng" w="19050">
            <a:solidFill>
              <a:srgbClr val="FF0000"/>
            </a:solidFill>
            <a:prstDash val="solid"/>
            <a:round/>
            <a:headEnd len="med" w="med" type="none"/>
            <a:tailEnd len="med" w="med" type="triangle"/>
          </a:ln>
        </p:spPr>
      </p:sp>
      <p:sp>
        <p:nvSpPr>
          <p:cNvPr id="1346" name="Google Shape;1346;p130"/>
          <p:cNvSpPr txBox="1"/>
          <p:nvPr/>
        </p:nvSpPr>
        <p:spPr>
          <a:xfrm>
            <a:off x="129765" y="2963426"/>
            <a:ext cx="2250000" cy="736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A class uses </a:t>
            </a:r>
            <a:r>
              <a:rPr lang="en" sz="1200">
                <a:solidFill>
                  <a:srgbClr val="FF0000"/>
                </a:solidFill>
                <a:latin typeface="Courier New"/>
                <a:ea typeface="Courier New"/>
                <a:cs typeface="Courier New"/>
                <a:sym typeface="Courier New"/>
              </a:rPr>
              <a:t>implements</a:t>
            </a:r>
            <a:r>
              <a:rPr lang="en" sz="1200">
                <a:solidFill>
                  <a:srgbClr val="FF0000"/>
                </a:solidFill>
              </a:rPr>
              <a:t> </a:t>
            </a:r>
            <a:r>
              <a:rPr lang="en" sz="1200"/>
              <a:t>(rather than </a:t>
            </a:r>
            <a:r>
              <a:rPr lang="en" sz="1200">
                <a:solidFill>
                  <a:srgbClr val="FF0000"/>
                </a:solidFill>
                <a:latin typeface="Courier New"/>
                <a:ea typeface="Courier New"/>
                <a:cs typeface="Courier New"/>
                <a:sym typeface="Courier New"/>
              </a:rPr>
              <a:t>extends</a:t>
            </a:r>
            <a:r>
              <a:rPr lang="en" sz="1200"/>
              <a:t>) to </a:t>
            </a:r>
            <a:r>
              <a:rPr b="1" i="1" lang="en" sz="1200">
                <a:solidFill>
                  <a:srgbClr val="FF0000"/>
                </a:solidFill>
              </a:rPr>
              <a:t>implement </a:t>
            </a:r>
            <a:r>
              <a:rPr lang="en" sz="1200"/>
              <a:t>an interface...</a:t>
            </a:r>
            <a:endParaRPr sz="1200"/>
          </a:p>
        </p:txBody>
      </p:sp>
      <p:sp>
        <p:nvSpPr>
          <p:cNvPr id="1347" name="Google Shape;1347;p130"/>
          <p:cNvSpPr/>
          <p:nvPr/>
        </p:nvSpPr>
        <p:spPr>
          <a:xfrm>
            <a:off x="5150900" y="4379540"/>
            <a:ext cx="1337600" cy="254025"/>
          </a:xfrm>
          <a:custGeom>
            <a:rect b="b" l="l" r="r" t="t"/>
            <a:pathLst>
              <a:path extrusionOk="0" h="10161" w="53504">
                <a:moveTo>
                  <a:pt x="53504" y="10161"/>
                </a:moveTo>
                <a:cubicBezTo>
                  <a:pt x="50893" y="8535"/>
                  <a:pt x="46754" y="1736"/>
                  <a:pt x="37837" y="406"/>
                </a:cubicBezTo>
                <a:cubicBezTo>
                  <a:pt x="28920" y="-924"/>
                  <a:pt x="6306" y="1884"/>
                  <a:pt x="0" y="2180"/>
                </a:cubicBezTo>
              </a:path>
            </a:pathLst>
          </a:custGeom>
          <a:noFill/>
          <a:ln cap="flat" cmpd="sng" w="19050">
            <a:solidFill>
              <a:srgbClr val="FF0000"/>
            </a:solidFill>
            <a:prstDash val="solid"/>
            <a:round/>
            <a:headEnd len="med" w="med" type="none"/>
            <a:tailEnd len="med" w="med" type="triangle"/>
          </a:ln>
        </p:spPr>
      </p:sp>
      <p:sp>
        <p:nvSpPr>
          <p:cNvPr id="1348" name="Google Shape;1348;p130"/>
          <p:cNvSpPr/>
          <p:nvPr/>
        </p:nvSpPr>
        <p:spPr>
          <a:xfrm>
            <a:off x="2069225" y="4692700"/>
            <a:ext cx="4434050" cy="306000"/>
          </a:xfrm>
          <a:custGeom>
            <a:rect b="b" l="l" r="r" t="t"/>
            <a:pathLst>
              <a:path extrusionOk="0" h="12240" w="177362">
                <a:moveTo>
                  <a:pt x="177362" y="5617"/>
                </a:moveTo>
                <a:cubicBezTo>
                  <a:pt x="154305" y="6701"/>
                  <a:pt x="68580" y="13056"/>
                  <a:pt x="39020" y="12120"/>
                </a:cubicBezTo>
                <a:cubicBezTo>
                  <a:pt x="9460" y="11184"/>
                  <a:pt x="6503" y="2020"/>
                  <a:pt x="0" y="0"/>
                </a:cubicBezTo>
              </a:path>
            </a:pathLst>
          </a:custGeom>
          <a:noFill/>
          <a:ln cap="flat" cmpd="sng" w="19050">
            <a:solidFill>
              <a:srgbClr val="FF0000"/>
            </a:solidFill>
            <a:prstDash val="solid"/>
            <a:round/>
            <a:headEnd len="med" w="med" type="none"/>
            <a:tailEnd len="med" w="med" type="triangle"/>
          </a:ln>
        </p:spPr>
      </p:sp>
      <p:sp>
        <p:nvSpPr>
          <p:cNvPr id="1349" name="Google Shape;1349;p130"/>
          <p:cNvSpPr txBox="1"/>
          <p:nvPr/>
        </p:nvSpPr>
        <p:spPr>
          <a:xfrm>
            <a:off x="6466265" y="4054396"/>
            <a:ext cx="2250000" cy="999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...and the implementing class </a:t>
            </a:r>
            <a:r>
              <a:rPr b="1" i="1" lang="en" sz="1200">
                <a:solidFill>
                  <a:srgbClr val="FF0000"/>
                </a:solidFill>
              </a:rPr>
              <a:t>must</a:t>
            </a:r>
            <a:r>
              <a:rPr lang="en" sz="1200">
                <a:solidFill>
                  <a:srgbClr val="FF0000"/>
                </a:solidFill>
              </a:rPr>
              <a:t> </a:t>
            </a:r>
            <a:r>
              <a:rPr lang="en" sz="1200"/>
              <a:t>implement any abstract methods defined by the interface (or be declared </a:t>
            </a:r>
            <a:r>
              <a:rPr lang="en" sz="1200">
                <a:solidFill>
                  <a:srgbClr val="FF0000"/>
                </a:solidFill>
                <a:latin typeface="Courier New"/>
                <a:ea typeface="Courier New"/>
                <a:cs typeface="Courier New"/>
                <a:sym typeface="Courier New"/>
              </a:rPr>
              <a:t>abstract</a:t>
            </a:r>
            <a:r>
              <a:rPr lang="en" sz="1200"/>
              <a:t>).</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4"/>
                                        </p:tgtEl>
                                        <p:attrNameLst>
                                          <p:attrName>style.visibility</p:attrName>
                                        </p:attrNameLst>
                                      </p:cBhvr>
                                      <p:to>
                                        <p:strVal val="visible"/>
                                      </p:to>
                                    </p:set>
                                    <p:animEffect filter="fade" transition="in">
                                      <p:cBhvr>
                                        <p:cTn dur="1000"/>
                                        <p:tgtEl>
                                          <p:spTgt spid="133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33"/>
                                        </p:tgtEl>
                                        <p:attrNameLst>
                                          <p:attrName>style.visibility</p:attrName>
                                        </p:attrNameLst>
                                      </p:cBhvr>
                                      <p:to>
                                        <p:strVal val="visible"/>
                                      </p:to>
                                    </p:set>
                                    <p:animEffect filter="fade" transition="in">
                                      <p:cBhvr>
                                        <p:cTn dur="1000"/>
                                        <p:tgtEl>
                                          <p:spTgt spid="13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7"/>
                                        </p:tgtEl>
                                        <p:attrNameLst>
                                          <p:attrName>style.visibility</p:attrName>
                                        </p:attrNameLst>
                                      </p:cBhvr>
                                      <p:to>
                                        <p:strVal val="visible"/>
                                      </p:to>
                                    </p:set>
                                    <p:animEffect filter="fade" transition="in">
                                      <p:cBhvr>
                                        <p:cTn dur="1000"/>
                                        <p:tgtEl>
                                          <p:spTgt spid="133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35"/>
                                        </p:tgtEl>
                                        <p:attrNameLst>
                                          <p:attrName>style.visibility</p:attrName>
                                        </p:attrNameLst>
                                      </p:cBhvr>
                                      <p:to>
                                        <p:strVal val="visible"/>
                                      </p:to>
                                    </p:set>
                                    <p:animEffect filter="fade" transition="in">
                                      <p:cBhvr>
                                        <p:cTn dur="1000"/>
                                        <p:tgtEl>
                                          <p:spTgt spid="133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36"/>
                                        </p:tgtEl>
                                        <p:attrNameLst>
                                          <p:attrName>style.visibility</p:attrName>
                                        </p:attrNameLst>
                                      </p:cBhvr>
                                      <p:to>
                                        <p:strVal val="visible"/>
                                      </p:to>
                                    </p:set>
                                    <p:animEffect filter="fade" transition="in">
                                      <p:cBhvr>
                                        <p:cTn dur="1000"/>
                                        <p:tgtEl>
                                          <p:spTgt spid="13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0"/>
                                        </p:tgtEl>
                                        <p:attrNameLst>
                                          <p:attrName>style.visibility</p:attrName>
                                        </p:attrNameLst>
                                      </p:cBhvr>
                                      <p:to>
                                        <p:strVal val="visible"/>
                                      </p:to>
                                    </p:set>
                                    <p:animEffect filter="fade" transition="in">
                                      <p:cBhvr>
                                        <p:cTn dur="1000"/>
                                        <p:tgtEl>
                                          <p:spTgt spid="134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38"/>
                                        </p:tgtEl>
                                        <p:attrNameLst>
                                          <p:attrName>style.visibility</p:attrName>
                                        </p:attrNameLst>
                                      </p:cBhvr>
                                      <p:to>
                                        <p:strVal val="visible"/>
                                      </p:to>
                                    </p:set>
                                    <p:animEffect filter="fade" transition="in">
                                      <p:cBhvr>
                                        <p:cTn dur="1000"/>
                                        <p:tgtEl>
                                          <p:spTgt spid="133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39"/>
                                        </p:tgtEl>
                                        <p:attrNameLst>
                                          <p:attrName>style.visibility</p:attrName>
                                        </p:attrNameLst>
                                      </p:cBhvr>
                                      <p:to>
                                        <p:strVal val="visible"/>
                                      </p:to>
                                    </p:set>
                                    <p:animEffect filter="fade" transition="in">
                                      <p:cBhvr>
                                        <p:cTn dur="1000"/>
                                        <p:tgtEl>
                                          <p:spTgt spid="1339"/>
                                        </p:tgtEl>
                                      </p:cBhvr>
                                    </p:animEffect>
                                  </p:childTnLst>
                                </p:cTn>
                              </p:par>
                            </p:childTnLst>
                          </p:cTn>
                        </p:par>
                        <p:par>
                          <p:cTn fill="hold">
                            <p:stCondLst>
                              <p:cond delay="3000"/>
                            </p:stCondLst>
                            <p:childTnLst>
                              <p:par>
                                <p:cTn fill="hold" nodeType="afterEffect" presetClass="exit" presetID="10" presetSubtype="0">
                                  <p:stCondLst>
                                    <p:cond delay="0"/>
                                  </p:stCondLst>
                                  <p:childTnLst>
                                    <p:animEffect filter="fade" transition="out">
                                      <p:cBhvr>
                                        <p:cTn dur="1000"/>
                                        <p:tgtEl>
                                          <p:spTgt spid="1341"/>
                                        </p:tgtEl>
                                      </p:cBhvr>
                                    </p:animEffect>
                                    <p:set>
                                      <p:cBhvr>
                                        <p:cTn dur="1" fill="hold">
                                          <p:stCondLst>
                                            <p:cond delay="1000"/>
                                          </p:stCondLst>
                                        </p:cTn>
                                        <p:tgtEl>
                                          <p:spTgt spid="134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6"/>
                                        </p:tgtEl>
                                        <p:attrNameLst>
                                          <p:attrName>style.visibility</p:attrName>
                                        </p:attrNameLst>
                                      </p:cBhvr>
                                      <p:to>
                                        <p:strVal val="visible"/>
                                      </p:to>
                                    </p:set>
                                    <p:animEffect filter="fade" transition="in">
                                      <p:cBhvr>
                                        <p:cTn dur="1000"/>
                                        <p:tgtEl>
                                          <p:spTgt spid="134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44"/>
                                        </p:tgtEl>
                                        <p:attrNameLst>
                                          <p:attrName>style.visibility</p:attrName>
                                        </p:attrNameLst>
                                      </p:cBhvr>
                                      <p:to>
                                        <p:strVal val="visible"/>
                                      </p:to>
                                    </p:set>
                                    <p:animEffect filter="fade" transition="in">
                                      <p:cBhvr>
                                        <p:cTn dur="1000"/>
                                        <p:tgtEl>
                                          <p:spTgt spid="1344"/>
                                        </p:tgtEl>
                                      </p:cBhvr>
                                    </p:animEffect>
                                  </p:childTnLst>
                                </p:cTn>
                              </p:par>
                              <p:par>
                                <p:cTn fill="hold" nodeType="withEffect" presetClass="entr" presetID="10" presetSubtype="0">
                                  <p:stCondLst>
                                    <p:cond delay="0"/>
                                  </p:stCondLst>
                                  <p:childTnLst>
                                    <p:set>
                                      <p:cBhvr>
                                        <p:cTn dur="1" fill="hold">
                                          <p:stCondLst>
                                            <p:cond delay="0"/>
                                          </p:stCondLst>
                                        </p:cTn>
                                        <p:tgtEl>
                                          <p:spTgt spid="1342"/>
                                        </p:tgtEl>
                                        <p:attrNameLst>
                                          <p:attrName>style.visibility</p:attrName>
                                        </p:attrNameLst>
                                      </p:cBhvr>
                                      <p:to>
                                        <p:strVal val="visible"/>
                                      </p:to>
                                    </p:set>
                                    <p:animEffect filter="fade" transition="in">
                                      <p:cBhvr>
                                        <p:cTn dur="1000"/>
                                        <p:tgtEl>
                                          <p:spTgt spid="134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45"/>
                                        </p:tgtEl>
                                        <p:attrNameLst>
                                          <p:attrName>style.visibility</p:attrName>
                                        </p:attrNameLst>
                                      </p:cBhvr>
                                      <p:to>
                                        <p:strVal val="visible"/>
                                      </p:to>
                                    </p:set>
                                    <p:animEffect filter="fade" transition="in">
                                      <p:cBhvr>
                                        <p:cTn dur="1000"/>
                                        <p:tgtEl>
                                          <p:spTgt spid="1345"/>
                                        </p:tgtEl>
                                      </p:cBhvr>
                                    </p:animEffect>
                                  </p:childTnLst>
                                </p:cTn>
                              </p:par>
                              <p:par>
                                <p:cTn fill="hold" nodeType="withEffect" presetClass="entr" presetID="10" presetSubtype="0">
                                  <p:stCondLst>
                                    <p:cond delay="0"/>
                                  </p:stCondLst>
                                  <p:childTnLst>
                                    <p:set>
                                      <p:cBhvr>
                                        <p:cTn dur="1" fill="hold">
                                          <p:stCondLst>
                                            <p:cond delay="0"/>
                                          </p:stCondLst>
                                        </p:cTn>
                                        <p:tgtEl>
                                          <p:spTgt spid="1343"/>
                                        </p:tgtEl>
                                        <p:attrNameLst>
                                          <p:attrName>style.visibility</p:attrName>
                                        </p:attrNameLst>
                                      </p:cBhvr>
                                      <p:to>
                                        <p:strVal val="visible"/>
                                      </p:to>
                                    </p:set>
                                    <p:animEffect filter="fade" transition="in">
                                      <p:cBhvr>
                                        <p:cTn dur="1000"/>
                                        <p:tgtEl>
                                          <p:spTgt spid="1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9"/>
                                        </p:tgtEl>
                                        <p:attrNameLst>
                                          <p:attrName>style.visibility</p:attrName>
                                        </p:attrNameLst>
                                      </p:cBhvr>
                                      <p:to>
                                        <p:strVal val="visible"/>
                                      </p:to>
                                    </p:set>
                                    <p:animEffect filter="fade" transition="in">
                                      <p:cBhvr>
                                        <p:cTn dur="1000"/>
                                        <p:tgtEl>
                                          <p:spTgt spid="134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47"/>
                                        </p:tgtEl>
                                        <p:attrNameLst>
                                          <p:attrName>style.visibility</p:attrName>
                                        </p:attrNameLst>
                                      </p:cBhvr>
                                      <p:to>
                                        <p:strVal val="visible"/>
                                      </p:to>
                                    </p:set>
                                    <p:animEffect filter="fade" transition="in">
                                      <p:cBhvr>
                                        <p:cTn dur="1000"/>
                                        <p:tgtEl>
                                          <p:spTgt spid="134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48"/>
                                        </p:tgtEl>
                                        <p:attrNameLst>
                                          <p:attrName>style.visibility</p:attrName>
                                        </p:attrNameLst>
                                      </p:cBhvr>
                                      <p:to>
                                        <p:strVal val="visible"/>
                                      </p:to>
                                    </p:set>
                                    <p:animEffect filter="fade" transition="in">
                                      <p:cBhvr>
                                        <p:cTn dur="1000"/>
                                        <p:tgtEl>
                                          <p:spTgt spid="13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131"/>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a:t>
            </a:r>
            <a:r>
              <a:rPr lang="en">
                <a:latin typeface="Courier New"/>
                <a:ea typeface="Courier New"/>
                <a:cs typeface="Courier New"/>
                <a:sym typeface="Courier New"/>
              </a:rPr>
              <a:t>Expression</a:t>
            </a:r>
            <a:r>
              <a:rPr lang="en"/>
              <a:t> class defines only a single, abstract method. It does not have any fields, constructors, or concrete methods. There is no reason not to make it into an interface!</a:t>
            </a:r>
            <a:endParaRPr/>
          </a:p>
        </p:txBody>
      </p:sp>
      <p:sp>
        <p:nvSpPr>
          <p:cNvPr id="1355" name="Google Shape;1355;p1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56" name="Google Shape;1356;p131"/>
          <p:cNvSpPr txBox="1"/>
          <p:nvPr>
            <p:ph idx="2" type="body"/>
          </p:nvPr>
        </p:nvSpPr>
        <p:spPr>
          <a:xfrm>
            <a:off x="3698525" y="1709625"/>
            <a:ext cx="5242500" cy="28275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your </a:t>
            </a:r>
            <a:r>
              <a:rPr lang="en" sz="1500">
                <a:latin typeface="Courier New"/>
                <a:ea typeface="Courier New"/>
                <a:cs typeface="Courier New"/>
                <a:sym typeface="Courier New"/>
              </a:rPr>
              <a:t>Expression</a:t>
            </a:r>
            <a:r>
              <a:rPr lang="en" sz="1500"/>
              <a:t> class and change it so that it is an </a:t>
            </a:r>
            <a:r>
              <a:rPr b="1" i="1" lang="en" sz="1500">
                <a:solidFill>
                  <a:srgbClr val="FF0000"/>
                </a:solidFill>
              </a:rPr>
              <a:t>interface </a:t>
            </a:r>
            <a:r>
              <a:rPr lang="en" sz="1500"/>
              <a:t>rather than a class.</a:t>
            </a:r>
            <a:endParaRPr sz="1500"/>
          </a:p>
          <a:p>
            <a:pPr indent="-311150" lvl="1" marL="914400" rtl="0" algn="l">
              <a:spcBef>
                <a:spcPts val="0"/>
              </a:spcBef>
              <a:spcAft>
                <a:spcPts val="0"/>
              </a:spcAft>
              <a:buSzPts val="1300"/>
              <a:buChar char="○"/>
            </a:pPr>
            <a:r>
              <a:rPr lang="en" sz="1300"/>
              <a:t>Change the "</a:t>
            </a:r>
            <a:r>
              <a:rPr lang="en" sz="1300">
                <a:latin typeface="Courier New"/>
                <a:ea typeface="Courier New"/>
                <a:cs typeface="Courier New"/>
                <a:sym typeface="Courier New"/>
              </a:rPr>
              <a:t>class</a:t>
            </a:r>
            <a:r>
              <a:rPr lang="en" sz="1300"/>
              <a:t>" keyword to "</a:t>
            </a:r>
            <a:r>
              <a:rPr lang="en" sz="1300">
                <a:solidFill>
                  <a:srgbClr val="FF0000"/>
                </a:solidFill>
                <a:latin typeface="Courier New"/>
                <a:ea typeface="Courier New"/>
                <a:cs typeface="Courier New"/>
                <a:sym typeface="Courier New"/>
              </a:rPr>
              <a:t>interface</a:t>
            </a:r>
            <a:r>
              <a:rPr lang="en" sz="1300"/>
              <a:t>".</a:t>
            </a:r>
            <a:endParaRPr sz="1300"/>
          </a:p>
          <a:p>
            <a:pPr indent="-311150" lvl="1" marL="914400" rtl="0" algn="l">
              <a:spcBef>
                <a:spcPts val="0"/>
              </a:spcBef>
              <a:spcAft>
                <a:spcPts val="0"/>
              </a:spcAft>
              <a:buSzPts val="1300"/>
              <a:buChar char="○"/>
            </a:pPr>
            <a:r>
              <a:rPr lang="en" sz="1300"/>
              <a:t>Note that, because </a:t>
            </a:r>
            <a:r>
              <a:rPr b="1" i="1" lang="en" sz="1300">
                <a:solidFill>
                  <a:srgbClr val="FF0000"/>
                </a:solidFill>
              </a:rPr>
              <a:t>all</a:t>
            </a:r>
            <a:r>
              <a:rPr lang="en" sz="1300">
                <a:solidFill>
                  <a:srgbClr val="FF0000"/>
                </a:solidFill>
              </a:rPr>
              <a:t> </a:t>
            </a:r>
            <a:r>
              <a:rPr lang="en" sz="1300"/>
              <a:t>methods in an interface </a:t>
            </a:r>
            <a:r>
              <a:rPr b="1" i="1" lang="en" sz="1300">
                <a:solidFill>
                  <a:srgbClr val="FF0000"/>
                </a:solidFill>
              </a:rPr>
              <a:t>must</a:t>
            </a:r>
            <a:r>
              <a:rPr lang="en" sz="1300">
                <a:solidFill>
                  <a:srgbClr val="FF0000"/>
                </a:solidFill>
              </a:rPr>
              <a:t> </a:t>
            </a:r>
            <a:r>
              <a:rPr lang="en" sz="1300"/>
              <a:t>be both </a:t>
            </a:r>
            <a:r>
              <a:rPr lang="en" sz="1300">
                <a:solidFill>
                  <a:srgbClr val="FF0000"/>
                </a:solidFill>
                <a:latin typeface="Courier New"/>
                <a:ea typeface="Courier New"/>
                <a:cs typeface="Courier New"/>
                <a:sym typeface="Courier New"/>
              </a:rPr>
              <a:t>public</a:t>
            </a:r>
            <a:r>
              <a:rPr lang="en" sz="1300">
                <a:solidFill>
                  <a:srgbClr val="FF0000"/>
                </a:solidFill>
              </a:rPr>
              <a:t> </a:t>
            </a:r>
            <a:r>
              <a:rPr lang="en" sz="1300"/>
              <a:t>and </a:t>
            </a:r>
            <a:r>
              <a:rPr lang="en" sz="1300">
                <a:solidFill>
                  <a:srgbClr val="FF0000"/>
                </a:solidFill>
                <a:latin typeface="Courier New"/>
                <a:ea typeface="Courier New"/>
                <a:cs typeface="Courier New"/>
                <a:sym typeface="Courier New"/>
              </a:rPr>
              <a:t>abstract</a:t>
            </a:r>
            <a:r>
              <a:rPr lang="en" sz="1300">
                <a:solidFill>
                  <a:srgbClr val="FF0000"/>
                </a:solidFill>
              </a:rPr>
              <a:t> </a:t>
            </a:r>
            <a:r>
              <a:rPr lang="en" sz="1300"/>
              <a:t>that those modifiers are optional. You may remove them from your method declaration. This is a purely stylistic choice.</a:t>
            </a:r>
            <a:endParaRPr sz="1300"/>
          </a:p>
          <a:p>
            <a:pPr indent="-323850" lvl="0" marL="457200" rtl="0" algn="l">
              <a:spcBef>
                <a:spcPts val="0"/>
              </a:spcBef>
              <a:spcAft>
                <a:spcPts val="0"/>
              </a:spcAft>
              <a:buSzPts val="1500"/>
              <a:buChar char="●"/>
            </a:pPr>
            <a:r>
              <a:rPr lang="en" sz="1500"/>
              <a:t>You should notice that all of your other expression classes are now flagged by VSCode as having errors.</a:t>
            </a:r>
            <a:endParaRPr sz="1500">
              <a:solidFill>
                <a:srgbClr val="FF0000"/>
              </a:solidFill>
            </a:endParaRPr>
          </a:p>
          <a:p>
            <a:pPr indent="-311150" lvl="1" marL="914400" rtl="0" algn="l">
              <a:spcBef>
                <a:spcPts val="0"/>
              </a:spcBef>
              <a:spcAft>
                <a:spcPts val="0"/>
              </a:spcAft>
              <a:buSzPts val="1300"/>
              <a:buChar char="○"/>
            </a:pPr>
            <a:r>
              <a:rPr lang="en" sz="1300"/>
              <a:t>Update your concrete expressions so that they all </a:t>
            </a:r>
            <a:r>
              <a:rPr b="1" i="1" lang="en" sz="1300">
                <a:solidFill>
                  <a:srgbClr val="FF0000"/>
                </a:solidFill>
              </a:rPr>
              <a:t>implement </a:t>
            </a:r>
            <a:r>
              <a:rPr lang="en" sz="1300"/>
              <a:t>your </a:t>
            </a:r>
            <a:r>
              <a:rPr lang="en" sz="1300">
                <a:latin typeface="Courier New"/>
                <a:ea typeface="Courier New"/>
                <a:cs typeface="Courier New"/>
                <a:sym typeface="Courier New"/>
              </a:rPr>
              <a:t>Expression</a:t>
            </a:r>
            <a:r>
              <a:rPr lang="en" sz="1300"/>
              <a:t> interface.</a:t>
            </a:r>
            <a:endParaRPr sz="1300"/>
          </a:p>
        </p:txBody>
      </p:sp>
      <p:sp>
        <p:nvSpPr>
          <p:cNvPr id="1357" name="Google Shape;1357;p13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An Expression Interface</a:t>
            </a:r>
            <a:endParaRPr/>
          </a:p>
        </p:txBody>
      </p:sp>
      <p:sp>
        <p:nvSpPr>
          <p:cNvPr id="1358" name="Google Shape;1358;p13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3.31</a:t>
            </a:r>
            <a:endParaRPr/>
          </a:p>
        </p:txBody>
      </p:sp>
      <p:sp>
        <p:nvSpPr>
          <p:cNvPr id="1359" name="Google Shape;1359;p131"/>
          <p:cNvSpPr txBox="1"/>
          <p:nvPr>
            <p:ph idx="4" type="body"/>
          </p:nvPr>
        </p:nvSpPr>
        <p:spPr>
          <a:xfrm>
            <a:off x="251075" y="2592575"/>
            <a:ext cx="32274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a:t>
            </a:r>
            <a:r>
              <a:rPr lang="en">
                <a:latin typeface="Courier New"/>
                <a:ea typeface="Courier New"/>
                <a:cs typeface="Courier New"/>
                <a:sym typeface="Courier New"/>
              </a:rPr>
              <a:t>public</a:t>
            </a:r>
            <a:r>
              <a:rPr lang="en"/>
              <a:t> and </a:t>
            </a:r>
            <a:r>
              <a:rPr lang="en">
                <a:latin typeface="Courier New"/>
                <a:ea typeface="Courier New"/>
                <a:cs typeface="Courier New"/>
                <a:sym typeface="Courier New"/>
              </a:rPr>
              <a:t>abstract</a:t>
            </a:r>
            <a:r>
              <a:rPr lang="en"/>
              <a:t> modifiers are optional in interfaces. It's a stylistic choice whether or not to include them.</a:t>
            </a:r>
            <a:endParaRPr/>
          </a:p>
        </p:txBody>
      </p:sp>
      <p:pic>
        <p:nvPicPr>
          <p:cNvPr id="1360" name="Google Shape;1360;p131"/>
          <p:cNvPicPr preferRelativeResize="0"/>
          <p:nvPr/>
        </p:nvPicPr>
        <p:blipFill>
          <a:blip r:embed="rId3">
            <a:alphaModFix/>
          </a:blip>
          <a:stretch>
            <a:fillRect/>
          </a:stretch>
        </p:blipFill>
        <p:spPr>
          <a:xfrm>
            <a:off x="251075" y="1709625"/>
            <a:ext cx="3227560" cy="70260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sp>
        <p:nvSpPr>
          <p:cNvPr id="1365" name="Google Shape;1365;p132"/>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urier New"/>
                <a:ea typeface="Courier New"/>
                <a:cs typeface="Courier New"/>
                <a:sym typeface="Courier New"/>
              </a:rPr>
              <a:t>class</a:t>
            </a:r>
            <a:r>
              <a:rPr lang="en"/>
              <a:t> vs. </a:t>
            </a:r>
            <a:r>
              <a:rPr lang="en">
                <a:latin typeface="Courier New"/>
                <a:ea typeface="Courier New"/>
                <a:cs typeface="Courier New"/>
                <a:sym typeface="Courier New"/>
              </a:rPr>
              <a:t>abstract class</a:t>
            </a:r>
            <a:r>
              <a:rPr lang="en"/>
              <a:t> vs. </a:t>
            </a:r>
            <a:r>
              <a:rPr lang="en">
                <a:latin typeface="Courier New"/>
                <a:ea typeface="Courier New"/>
                <a:cs typeface="Courier New"/>
                <a:sym typeface="Courier New"/>
              </a:rPr>
              <a:t>interface</a:t>
            </a:r>
            <a:endParaRPr>
              <a:latin typeface="Courier New"/>
              <a:ea typeface="Courier New"/>
              <a:cs typeface="Courier New"/>
              <a:sym typeface="Courier New"/>
            </a:endParaRPr>
          </a:p>
        </p:txBody>
      </p:sp>
      <p:sp>
        <p:nvSpPr>
          <p:cNvPr id="1366" name="Google Shape;1366;p1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367" name="Google Shape;1367;p132"/>
          <p:cNvGraphicFramePr/>
          <p:nvPr/>
        </p:nvGraphicFramePr>
        <p:xfrm>
          <a:off x="952500" y="1352550"/>
          <a:ext cx="3000000" cy="3000000"/>
        </p:xfrm>
        <a:graphic>
          <a:graphicData uri="http://schemas.openxmlformats.org/drawingml/2006/table">
            <a:tbl>
              <a:tblPr>
                <a:noFill/>
                <a:tableStyleId>{BB7116F7-C15E-4CF7-A1A4-3F0B48A09751}</a:tableStyleId>
              </a:tblPr>
              <a:tblGrid>
                <a:gridCol w="3879575"/>
                <a:gridCol w="1119800"/>
                <a:gridCol w="1119800"/>
                <a:gridCol w="1119800"/>
              </a:tblGrid>
              <a:tr h="381000">
                <a:tc>
                  <a:txBody>
                    <a:bodyPr/>
                    <a:lstStyle/>
                    <a:p>
                      <a:pPr indent="0" lvl="0" marL="0" rtl="0" algn="l">
                        <a:spcBef>
                          <a:spcPts val="0"/>
                        </a:spcBef>
                        <a:spcAft>
                          <a:spcPts val="0"/>
                        </a:spcAft>
                        <a:buNone/>
                      </a:pPr>
                      <a:r>
                        <a:rPr lang="en" sz="1300">
                          <a:solidFill>
                            <a:srgbClr val="FFFFFF"/>
                          </a:solidFill>
                        </a:rPr>
                        <a:t>Feature</a:t>
                      </a:r>
                      <a:endParaRPr sz="1300">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300">
                          <a:solidFill>
                            <a:srgbClr val="FFFFFF"/>
                          </a:solidFill>
                        </a:rPr>
                        <a:t>Class</a:t>
                      </a:r>
                      <a:endParaRPr sz="1300">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300">
                          <a:solidFill>
                            <a:srgbClr val="FFFFFF"/>
                          </a:solidFill>
                        </a:rPr>
                        <a:t>Abstract Class</a:t>
                      </a:r>
                      <a:endParaRPr sz="1300">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300">
                          <a:solidFill>
                            <a:srgbClr val="FFFFFF"/>
                          </a:solidFill>
                        </a:rPr>
                        <a:t>Interface</a:t>
                      </a:r>
                      <a:endParaRPr sz="1300">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381000">
                <a:tc>
                  <a:txBody>
                    <a:bodyPr/>
                    <a:lstStyle/>
                    <a:p>
                      <a:pPr indent="0" lvl="0" marL="0" rtl="0" algn="l">
                        <a:spcBef>
                          <a:spcPts val="0"/>
                        </a:spcBef>
                        <a:spcAft>
                          <a:spcPts val="0"/>
                        </a:spcAft>
                        <a:buNone/>
                      </a:pPr>
                      <a:r>
                        <a:rPr b="1" i="1" lang="en" sz="1100">
                          <a:solidFill>
                            <a:srgbClr val="FF0000"/>
                          </a:solidFill>
                        </a:rPr>
                        <a:t>May</a:t>
                      </a:r>
                      <a:r>
                        <a:rPr lang="en" sz="1100">
                          <a:solidFill>
                            <a:srgbClr val="FF0000"/>
                          </a:solidFill>
                        </a:rPr>
                        <a:t> </a:t>
                      </a:r>
                      <a:r>
                        <a:rPr lang="en" sz="1100"/>
                        <a:t>be instantiated using </a:t>
                      </a:r>
                      <a:r>
                        <a:rPr lang="en" sz="1100">
                          <a:latin typeface="Courier New"/>
                          <a:ea typeface="Courier New"/>
                          <a:cs typeface="Courier New"/>
                          <a:sym typeface="Courier New"/>
                        </a:rPr>
                        <a:t>new</a:t>
                      </a:r>
                      <a:r>
                        <a:rPr lang="en" sz="1100"/>
                        <a:t>.</a:t>
                      </a:r>
                      <a:endParaRPr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rtl="0" algn="l">
                        <a:spcBef>
                          <a:spcPts val="0"/>
                        </a:spcBef>
                        <a:spcAft>
                          <a:spcPts val="0"/>
                        </a:spcAft>
                        <a:buNone/>
                      </a:pPr>
                      <a:r>
                        <a:rPr b="1" i="1" lang="en" sz="1100">
                          <a:solidFill>
                            <a:srgbClr val="FF0000"/>
                          </a:solidFill>
                        </a:rPr>
                        <a:t>May</a:t>
                      </a:r>
                      <a:r>
                        <a:rPr lang="en" sz="1100">
                          <a:solidFill>
                            <a:srgbClr val="FF0000"/>
                          </a:solidFill>
                        </a:rPr>
                        <a:t> </a:t>
                      </a:r>
                      <a:r>
                        <a:rPr lang="en" sz="1100"/>
                        <a:t>include </a:t>
                      </a:r>
                      <a:r>
                        <a:rPr lang="en" sz="1100">
                          <a:latin typeface="Courier New"/>
                          <a:ea typeface="Courier New"/>
                          <a:cs typeface="Courier New"/>
                          <a:sym typeface="Courier New"/>
                        </a:rPr>
                        <a:t>static</a:t>
                      </a:r>
                      <a:r>
                        <a:rPr lang="en" sz="1100"/>
                        <a:t> state and behavior.</a:t>
                      </a:r>
                      <a:endParaRPr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rtl="0" algn="l">
                        <a:spcBef>
                          <a:spcPts val="0"/>
                        </a:spcBef>
                        <a:spcAft>
                          <a:spcPts val="0"/>
                        </a:spcAft>
                        <a:buNone/>
                      </a:pPr>
                      <a:r>
                        <a:rPr b="1" i="1" lang="en" sz="1100">
                          <a:solidFill>
                            <a:srgbClr val="FF0000"/>
                          </a:solidFill>
                        </a:rPr>
                        <a:t>May</a:t>
                      </a:r>
                      <a:r>
                        <a:rPr lang="en" sz="1100">
                          <a:solidFill>
                            <a:srgbClr val="FF0000"/>
                          </a:solidFill>
                        </a:rPr>
                        <a:t> </a:t>
                      </a:r>
                      <a:r>
                        <a:rPr lang="en" sz="1100"/>
                        <a:t>include non-</a:t>
                      </a:r>
                      <a:r>
                        <a:rPr lang="en" sz="1100">
                          <a:latin typeface="Courier New"/>
                          <a:ea typeface="Courier New"/>
                          <a:cs typeface="Courier New"/>
                          <a:sym typeface="Courier New"/>
                        </a:rPr>
                        <a:t>static</a:t>
                      </a:r>
                      <a:r>
                        <a:rPr lang="en" sz="1100"/>
                        <a:t> state.</a:t>
                      </a:r>
                      <a:endParaRPr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rtl="0" algn="l">
                        <a:spcBef>
                          <a:spcPts val="0"/>
                        </a:spcBef>
                        <a:spcAft>
                          <a:spcPts val="0"/>
                        </a:spcAft>
                        <a:buNone/>
                      </a:pPr>
                      <a:r>
                        <a:rPr b="1" i="1" lang="en" sz="1100">
                          <a:solidFill>
                            <a:srgbClr val="FF0000"/>
                          </a:solidFill>
                        </a:rPr>
                        <a:t>May</a:t>
                      </a:r>
                      <a:r>
                        <a:rPr lang="en" sz="1100">
                          <a:solidFill>
                            <a:srgbClr val="FF0000"/>
                          </a:solidFill>
                        </a:rPr>
                        <a:t> </a:t>
                      </a:r>
                      <a:r>
                        <a:rPr lang="en" sz="1100"/>
                        <a:t>define one</a:t>
                      </a:r>
                      <a:r>
                        <a:rPr lang="en" sz="1100"/>
                        <a:t> </a:t>
                      </a:r>
                      <a:r>
                        <a:rPr lang="en" sz="1100"/>
                        <a:t>or more </a:t>
                      </a:r>
                      <a:r>
                        <a:rPr lang="en" sz="1100">
                          <a:latin typeface="Courier New"/>
                          <a:ea typeface="Courier New"/>
                          <a:cs typeface="Courier New"/>
                          <a:sym typeface="Courier New"/>
                        </a:rPr>
                        <a:t>abstract</a:t>
                      </a:r>
                      <a:r>
                        <a:rPr lang="en" sz="1100"/>
                        <a:t> methods.</a:t>
                      </a:r>
                      <a:endParaRPr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rtl="0" algn="l">
                        <a:spcBef>
                          <a:spcPts val="0"/>
                        </a:spcBef>
                        <a:spcAft>
                          <a:spcPts val="0"/>
                        </a:spcAft>
                        <a:buNone/>
                      </a:pPr>
                      <a:r>
                        <a:rPr b="1" i="1" lang="en" sz="1100">
                          <a:solidFill>
                            <a:srgbClr val="FF0000"/>
                          </a:solidFill>
                        </a:rPr>
                        <a:t>Must</a:t>
                      </a:r>
                      <a:r>
                        <a:rPr lang="en" sz="1100">
                          <a:solidFill>
                            <a:srgbClr val="FF0000"/>
                          </a:solidFill>
                        </a:rPr>
                        <a:t> </a:t>
                      </a:r>
                      <a:r>
                        <a:rPr lang="en" sz="1100"/>
                        <a:t>implement inherited </a:t>
                      </a:r>
                      <a:r>
                        <a:rPr lang="en" sz="1100">
                          <a:latin typeface="Courier New"/>
                          <a:ea typeface="Courier New"/>
                          <a:cs typeface="Courier New"/>
                          <a:sym typeface="Courier New"/>
                        </a:rPr>
                        <a:t>abstract</a:t>
                      </a:r>
                      <a:r>
                        <a:rPr lang="en" sz="1100"/>
                        <a:t> methods.</a:t>
                      </a:r>
                      <a:endParaRPr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rtl="0" algn="l">
                        <a:spcBef>
                          <a:spcPts val="0"/>
                        </a:spcBef>
                        <a:spcAft>
                          <a:spcPts val="0"/>
                        </a:spcAft>
                        <a:buNone/>
                      </a:pPr>
                      <a:r>
                        <a:rPr b="1" i="1" lang="en" sz="1100">
                          <a:solidFill>
                            <a:srgbClr val="FF0000"/>
                          </a:solidFill>
                        </a:rPr>
                        <a:t>May</a:t>
                      </a:r>
                      <a:r>
                        <a:rPr lang="en" sz="1100">
                          <a:solidFill>
                            <a:srgbClr val="FF0000"/>
                          </a:solidFill>
                        </a:rPr>
                        <a:t> </a:t>
                      </a:r>
                      <a:r>
                        <a:rPr lang="en" sz="1100"/>
                        <a:t>implement concrete methods.</a:t>
                      </a:r>
                      <a:endParaRPr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rtl="0" algn="l">
                        <a:spcBef>
                          <a:spcPts val="0"/>
                        </a:spcBef>
                        <a:spcAft>
                          <a:spcPts val="0"/>
                        </a:spcAft>
                        <a:buNone/>
                      </a:pPr>
                      <a:r>
                        <a:rPr b="1" i="1" lang="en" sz="1100">
                          <a:solidFill>
                            <a:srgbClr val="FF0000"/>
                          </a:solidFill>
                        </a:rPr>
                        <a:t>May</a:t>
                      </a:r>
                      <a:r>
                        <a:rPr lang="en" sz="1100">
                          <a:solidFill>
                            <a:srgbClr val="FF0000"/>
                          </a:solidFill>
                        </a:rPr>
                        <a:t> </a:t>
                      </a:r>
                      <a:r>
                        <a:rPr b="1" i="1" lang="en" sz="1100">
                          <a:solidFill>
                            <a:srgbClr val="FF0000"/>
                          </a:solidFill>
                        </a:rPr>
                        <a:t>extend </a:t>
                      </a:r>
                      <a:r>
                        <a:rPr lang="en" sz="1100"/>
                        <a:t>exactly one other class.</a:t>
                      </a:r>
                      <a:endParaRPr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81000">
                <a:tc>
                  <a:txBody>
                    <a:bodyPr/>
                    <a:lstStyle/>
                    <a:p>
                      <a:pPr indent="0" lvl="0" marL="0" rtl="0" algn="l">
                        <a:spcBef>
                          <a:spcPts val="0"/>
                        </a:spcBef>
                        <a:spcAft>
                          <a:spcPts val="0"/>
                        </a:spcAft>
                        <a:buNone/>
                      </a:pPr>
                      <a:r>
                        <a:rPr b="1" i="1" lang="en" sz="1100">
                          <a:solidFill>
                            <a:srgbClr val="FF0000"/>
                          </a:solidFill>
                        </a:rPr>
                        <a:t>May</a:t>
                      </a:r>
                      <a:r>
                        <a:rPr lang="en" sz="1100">
                          <a:solidFill>
                            <a:srgbClr val="FF0000"/>
                          </a:solidFill>
                        </a:rPr>
                        <a:t> </a:t>
                      </a:r>
                      <a:r>
                        <a:rPr b="1" i="1" lang="en" sz="1100">
                          <a:solidFill>
                            <a:srgbClr val="FF0000"/>
                          </a:solidFill>
                        </a:rPr>
                        <a:t>implement </a:t>
                      </a:r>
                      <a:r>
                        <a:rPr lang="en" sz="1100"/>
                        <a:t>zero or more interfaces. </a:t>
                      </a:r>
                      <a:endParaRPr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graphicFrame>
        <p:nvGraphicFramePr>
          <p:cNvPr id="1368" name="Google Shape;1368;p132"/>
          <p:cNvGraphicFramePr/>
          <p:nvPr/>
        </p:nvGraphicFramePr>
        <p:xfrm>
          <a:off x="4832100" y="2299573"/>
          <a:ext cx="3000000" cy="3000000"/>
        </p:xfrm>
        <a:graphic>
          <a:graphicData uri="http://schemas.openxmlformats.org/drawingml/2006/table">
            <a:tbl>
              <a:tblPr>
                <a:noFill/>
                <a:tableStyleId>{BB7116F7-C15E-4CF7-A1A4-3F0B48A09751}</a:tableStyleId>
              </a:tblPr>
              <a:tblGrid>
                <a:gridCol w="1119800"/>
                <a:gridCol w="1119800"/>
                <a:gridCol w="1119800"/>
              </a:tblGrid>
              <a:tr h="381000">
                <a:tc>
                  <a:txBody>
                    <a:bodyPr/>
                    <a:lstStyle/>
                    <a:p>
                      <a:pPr indent="0" lvl="0" marL="0" rtl="0" algn="ctr">
                        <a:spcBef>
                          <a:spcPts val="0"/>
                        </a:spcBef>
                        <a:spcAft>
                          <a:spcPts val="0"/>
                        </a:spcAft>
                        <a:buNone/>
                      </a:pPr>
                      <a:r>
                        <a:rPr lang="en" sz="1300">
                          <a:solidFill>
                            <a:srgbClr val="6AA84F"/>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300">
                          <a:solidFill>
                            <a:srgbClr val="6AA84F"/>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300">
                          <a:solidFill>
                            <a:srgbClr val="6AA84F"/>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r>
            </a:tbl>
          </a:graphicData>
        </a:graphic>
      </p:graphicFrame>
      <p:graphicFrame>
        <p:nvGraphicFramePr>
          <p:cNvPr id="1369" name="Google Shape;1369;p132"/>
          <p:cNvGraphicFramePr/>
          <p:nvPr/>
        </p:nvGraphicFramePr>
        <p:xfrm>
          <a:off x="4832100" y="2687003"/>
          <a:ext cx="3000000" cy="3000000"/>
        </p:xfrm>
        <a:graphic>
          <a:graphicData uri="http://schemas.openxmlformats.org/drawingml/2006/table">
            <a:tbl>
              <a:tblPr>
                <a:noFill/>
                <a:tableStyleId>{BB7116F7-C15E-4CF7-A1A4-3F0B48A09751}</a:tableStyleId>
              </a:tblPr>
              <a:tblGrid>
                <a:gridCol w="1119800"/>
                <a:gridCol w="1119800"/>
                <a:gridCol w="1119800"/>
              </a:tblGrid>
              <a:tr h="381000">
                <a:tc>
                  <a:txBody>
                    <a:bodyPr/>
                    <a:lstStyle/>
                    <a:p>
                      <a:pPr indent="0" lvl="0" marL="0" rtl="0" algn="ctr">
                        <a:spcBef>
                          <a:spcPts val="0"/>
                        </a:spcBef>
                        <a:spcAft>
                          <a:spcPts val="0"/>
                        </a:spcAft>
                        <a:buNone/>
                      </a:pPr>
                      <a:r>
                        <a:rPr lang="en" sz="1300">
                          <a:solidFill>
                            <a:srgbClr val="6AA84F"/>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300">
                          <a:solidFill>
                            <a:srgbClr val="6AA84F"/>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300">
                          <a:solidFill>
                            <a:srgbClr val="FF0000"/>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r>
            </a:tbl>
          </a:graphicData>
        </a:graphic>
      </p:graphicFrame>
      <p:graphicFrame>
        <p:nvGraphicFramePr>
          <p:cNvPr id="1370" name="Google Shape;1370;p132"/>
          <p:cNvGraphicFramePr/>
          <p:nvPr/>
        </p:nvGraphicFramePr>
        <p:xfrm>
          <a:off x="4832100" y="3087291"/>
          <a:ext cx="3000000" cy="3000000"/>
        </p:xfrm>
        <a:graphic>
          <a:graphicData uri="http://schemas.openxmlformats.org/drawingml/2006/table">
            <a:tbl>
              <a:tblPr>
                <a:noFill/>
                <a:tableStyleId>{BB7116F7-C15E-4CF7-A1A4-3F0B48A09751}</a:tableStyleId>
              </a:tblPr>
              <a:tblGrid>
                <a:gridCol w="1119800"/>
                <a:gridCol w="1119800"/>
                <a:gridCol w="1119800"/>
              </a:tblGrid>
              <a:tr h="381000">
                <a:tc>
                  <a:txBody>
                    <a:bodyPr/>
                    <a:lstStyle/>
                    <a:p>
                      <a:pPr indent="0" lvl="0" marL="0" rtl="0" algn="ctr">
                        <a:spcBef>
                          <a:spcPts val="0"/>
                        </a:spcBef>
                        <a:spcAft>
                          <a:spcPts val="0"/>
                        </a:spcAft>
                        <a:buNone/>
                      </a:pPr>
                      <a:r>
                        <a:rPr lang="en" sz="1300">
                          <a:solidFill>
                            <a:srgbClr val="FF0000"/>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300">
                          <a:solidFill>
                            <a:srgbClr val="6AA84F"/>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300">
                          <a:solidFill>
                            <a:srgbClr val="6AA84F"/>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r>
            </a:tbl>
          </a:graphicData>
        </a:graphic>
      </p:graphicFrame>
      <p:graphicFrame>
        <p:nvGraphicFramePr>
          <p:cNvPr id="1371" name="Google Shape;1371;p132"/>
          <p:cNvGraphicFramePr/>
          <p:nvPr/>
        </p:nvGraphicFramePr>
        <p:xfrm>
          <a:off x="4832100" y="3455432"/>
          <a:ext cx="3000000" cy="3000000"/>
        </p:xfrm>
        <a:graphic>
          <a:graphicData uri="http://schemas.openxmlformats.org/drawingml/2006/table">
            <a:tbl>
              <a:tblPr>
                <a:noFill/>
                <a:tableStyleId>{BB7116F7-C15E-4CF7-A1A4-3F0B48A09751}</a:tableStyleId>
              </a:tblPr>
              <a:tblGrid>
                <a:gridCol w="1119800"/>
                <a:gridCol w="1119800"/>
                <a:gridCol w="1119800"/>
              </a:tblGrid>
              <a:tr h="381000">
                <a:tc>
                  <a:txBody>
                    <a:bodyPr/>
                    <a:lstStyle/>
                    <a:p>
                      <a:pPr indent="0" lvl="0" marL="0" rtl="0" algn="ctr">
                        <a:spcBef>
                          <a:spcPts val="0"/>
                        </a:spcBef>
                        <a:spcAft>
                          <a:spcPts val="0"/>
                        </a:spcAft>
                        <a:buNone/>
                      </a:pPr>
                      <a:r>
                        <a:rPr lang="en" sz="1300">
                          <a:solidFill>
                            <a:srgbClr val="6AA84F"/>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300">
                          <a:solidFill>
                            <a:srgbClr val="FF0000"/>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300">
                          <a:solidFill>
                            <a:srgbClr val="FF0000"/>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r>
            </a:tbl>
          </a:graphicData>
        </a:graphic>
      </p:graphicFrame>
      <p:graphicFrame>
        <p:nvGraphicFramePr>
          <p:cNvPr id="1372" name="Google Shape;1372;p132"/>
          <p:cNvGraphicFramePr/>
          <p:nvPr/>
        </p:nvGraphicFramePr>
        <p:xfrm>
          <a:off x="4832100" y="3830003"/>
          <a:ext cx="3000000" cy="3000000"/>
        </p:xfrm>
        <a:graphic>
          <a:graphicData uri="http://schemas.openxmlformats.org/drawingml/2006/table">
            <a:tbl>
              <a:tblPr>
                <a:noFill/>
                <a:tableStyleId>{BB7116F7-C15E-4CF7-A1A4-3F0B48A09751}</a:tableStyleId>
              </a:tblPr>
              <a:tblGrid>
                <a:gridCol w="1119800"/>
                <a:gridCol w="1119800"/>
                <a:gridCol w="1119800"/>
              </a:tblGrid>
              <a:tr h="381000">
                <a:tc>
                  <a:txBody>
                    <a:bodyPr/>
                    <a:lstStyle/>
                    <a:p>
                      <a:pPr indent="0" lvl="0" marL="0" rtl="0" algn="ctr">
                        <a:spcBef>
                          <a:spcPts val="0"/>
                        </a:spcBef>
                        <a:spcAft>
                          <a:spcPts val="0"/>
                        </a:spcAft>
                        <a:buNone/>
                      </a:pPr>
                      <a:r>
                        <a:rPr lang="en" sz="1300">
                          <a:solidFill>
                            <a:srgbClr val="6AA84F"/>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300">
                          <a:solidFill>
                            <a:srgbClr val="6AA84F"/>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300">
                          <a:solidFill>
                            <a:srgbClr val="FF0000"/>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r>
            </a:tbl>
          </a:graphicData>
        </a:graphic>
      </p:graphicFrame>
      <p:graphicFrame>
        <p:nvGraphicFramePr>
          <p:cNvPr id="1373" name="Google Shape;1373;p132"/>
          <p:cNvGraphicFramePr/>
          <p:nvPr/>
        </p:nvGraphicFramePr>
        <p:xfrm>
          <a:off x="4832100" y="4223861"/>
          <a:ext cx="3000000" cy="3000000"/>
        </p:xfrm>
        <a:graphic>
          <a:graphicData uri="http://schemas.openxmlformats.org/drawingml/2006/table">
            <a:tbl>
              <a:tblPr>
                <a:noFill/>
                <a:tableStyleId>{BB7116F7-C15E-4CF7-A1A4-3F0B48A09751}</a:tableStyleId>
              </a:tblPr>
              <a:tblGrid>
                <a:gridCol w="1119800"/>
                <a:gridCol w="1119800"/>
                <a:gridCol w="1119800"/>
              </a:tblGrid>
              <a:tr h="381000">
                <a:tc>
                  <a:txBody>
                    <a:bodyPr/>
                    <a:lstStyle/>
                    <a:p>
                      <a:pPr indent="0" lvl="0" marL="0" rtl="0" algn="ctr">
                        <a:spcBef>
                          <a:spcPts val="0"/>
                        </a:spcBef>
                        <a:spcAft>
                          <a:spcPts val="0"/>
                        </a:spcAft>
                        <a:buNone/>
                      </a:pPr>
                      <a:r>
                        <a:rPr lang="en" sz="1300">
                          <a:solidFill>
                            <a:srgbClr val="6AA84F"/>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300">
                          <a:solidFill>
                            <a:srgbClr val="6AA84F"/>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300">
                          <a:solidFill>
                            <a:srgbClr val="FF0000"/>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r>
            </a:tbl>
          </a:graphicData>
        </a:graphic>
      </p:graphicFrame>
      <p:graphicFrame>
        <p:nvGraphicFramePr>
          <p:cNvPr id="1374" name="Google Shape;1374;p132"/>
          <p:cNvGraphicFramePr/>
          <p:nvPr/>
        </p:nvGraphicFramePr>
        <p:xfrm>
          <a:off x="4832100" y="4604861"/>
          <a:ext cx="3000000" cy="3000000"/>
        </p:xfrm>
        <a:graphic>
          <a:graphicData uri="http://schemas.openxmlformats.org/drawingml/2006/table">
            <a:tbl>
              <a:tblPr>
                <a:noFill/>
                <a:tableStyleId>{BB7116F7-C15E-4CF7-A1A4-3F0B48A09751}</a:tableStyleId>
              </a:tblPr>
              <a:tblGrid>
                <a:gridCol w="1119800"/>
                <a:gridCol w="1119800"/>
                <a:gridCol w="1119800"/>
              </a:tblGrid>
              <a:tr h="381000">
                <a:tc>
                  <a:txBody>
                    <a:bodyPr/>
                    <a:lstStyle/>
                    <a:p>
                      <a:pPr indent="0" lvl="0" marL="0" rtl="0" algn="ctr">
                        <a:spcBef>
                          <a:spcPts val="0"/>
                        </a:spcBef>
                        <a:spcAft>
                          <a:spcPts val="0"/>
                        </a:spcAft>
                        <a:buNone/>
                      </a:pPr>
                      <a:r>
                        <a:rPr lang="en" sz="1300">
                          <a:solidFill>
                            <a:srgbClr val="6AA84F"/>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300">
                          <a:solidFill>
                            <a:srgbClr val="6AA84F"/>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300">
                          <a:solidFill>
                            <a:srgbClr val="FF0000"/>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r>
            </a:tbl>
          </a:graphicData>
        </a:graphic>
      </p:graphicFrame>
      <p:graphicFrame>
        <p:nvGraphicFramePr>
          <p:cNvPr id="1375" name="Google Shape;1375;p132"/>
          <p:cNvGraphicFramePr/>
          <p:nvPr/>
        </p:nvGraphicFramePr>
        <p:xfrm>
          <a:off x="4832100" y="1931432"/>
          <a:ext cx="3000000" cy="3000000"/>
        </p:xfrm>
        <a:graphic>
          <a:graphicData uri="http://schemas.openxmlformats.org/drawingml/2006/table">
            <a:tbl>
              <a:tblPr>
                <a:noFill/>
                <a:tableStyleId>{BB7116F7-C15E-4CF7-A1A4-3F0B48A09751}</a:tableStyleId>
              </a:tblPr>
              <a:tblGrid>
                <a:gridCol w="1119800"/>
                <a:gridCol w="1119800"/>
                <a:gridCol w="1119800"/>
              </a:tblGrid>
              <a:tr h="381000">
                <a:tc>
                  <a:txBody>
                    <a:bodyPr/>
                    <a:lstStyle/>
                    <a:p>
                      <a:pPr indent="0" lvl="0" marL="0" rtl="0" algn="ctr">
                        <a:spcBef>
                          <a:spcPts val="0"/>
                        </a:spcBef>
                        <a:spcAft>
                          <a:spcPts val="0"/>
                        </a:spcAft>
                        <a:buNone/>
                      </a:pPr>
                      <a:r>
                        <a:rPr lang="en" sz="1300">
                          <a:solidFill>
                            <a:srgbClr val="6AA84F"/>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300">
                          <a:solidFill>
                            <a:srgbClr val="FF0000"/>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c>
                  <a:txBody>
                    <a:bodyPr/>
                    <a:lstStyle/>
                    <a:p>
                      <a:pPr indent="0" lvl="0" marL="0" rtl="0" algn="ctr">
                        <a:spcBef>
                          <a:spcPts val="0"/>
                        </a:spcBef>
                        <a:spcAft>
                          <a:spcPts val="0"/>
                        </a:spcAft>
                        <a:buNone/>
                      </a:pPr>
                      <a:r>
                        <a:rPr lang="en" sz="1300">
                          <a:solidFill>
                            <a:srgbClr val="FF0000"/>
                          </a:solidFill>
                        </a:rPr>
                        <a:t>✘</a:t>
                      </a:r>
                      <a:endParaRPr sz="13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no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5"/>
                                        </p:tgtEl>
                                        <p:attrNameLst>
                                          <p:attrName>style.visibility</p:attrName>
                                        </p:attrNameLst>
                                      </p:cBhvr>
                                      <p:to>
                                        <p:strVal val="visible"/>
                                      </p:to>
                                    </p:set>
                                    <p:animEffect filter="fade" transition="in">
                                      <p:cBhvr>
                                        <p:cTn dur="1000"/>
                                        <p:tgtEl>
                                          <p:spTgt spid="13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8"/>
                                        </p:tgtEl>
                                        <p:attrNameLst>
                                          <p:attrName>style.visibility</p:attrName>
                                        </p:attrNameLst>
                                      </p:cBhvr>
                                      <p:to>
                                        <p:strVal val="visible"/>
                                      </p:to>
                                    </p:set>
                                    <p:animEffect filter="fade" transition="in">
                                      <p:cBhvr>
                                        <p:cTn dur="1000"/>
                                        <p:tgtEl>
                                          <p:spTgt spid="13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9"/>
                                        </p:tgtEl>
                                        <p:attrNameLst>
                                          <p:attrName>style.visibility</p:attrName>
                                        </p:attrNameLst>
                                      </p:cBhvr>
                                      <p:to>
                                        <p:strVal val="visible"/>
                                      </p:to>
                                    </p:set>
                                    <p:animEffect filter="fade" transition="in">
                                      <p:cBhvr>
                                        <p:cTn dur="1000"/>
                                        <p:tgtEl>
                                          <p:spTgt spid="13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0"/>
                                        </p:tgtEl>
                                        <p:attrNameLst>
                                          <p:attrName>style.visibility</p:attrName>
                                        </p:attrNameLst>
                                      </p:cBhvr>
                                      <p:to>
                                        <p:strVal val="visible"/>
                                      </p:to>
                                    </p:set>
                                    <p:animEffect filter="fade" transition="in">
                                      <p:cBhvr>
                                        <p:cTn dur="1000"/>
                                        <p:tgtEl>
                                          <p:spTgt spid="13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1"/>
                                        </p:tgtEl>
                                        <p:attrNameLst>
                                          <p:attrName>style.visibility</p:attrName>
                                        </p:attrNameLst>
                                      </p:cBhvr>
                                      <p:to>
                                        <p:strVal val="visible"/>
                                      </p:to>
                                    </p:set>
                                    <p:animEffect filter="fade" transition="in">
                                      <p:cBhvr>
                                        <p:cTn dur="1000"/>
                                        <p:tgtEl>
                                          <p:spTgt spid="13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2"/>
                                        </p:tgtEl>
                                        <p:attrNameLst>
                                          <p:attrName>style.visibility</p:attrName>
                                        </p:attrNameLst>
                                      </p:cBhvr>
                                      <p:to>
                                        <p:strVal val="visible"/>
                                      </p:to>
                                    </p:set>
                                    <p:animEffect filter="fade" transition="in">
                                      <p:cBhvr>
                                        <p:cTn dur="1000"/>
                                        <p:tgtEl>
                                          <p:spTgt spid="13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3"/>
                                        </p:tgtEl>
                                        <p:attrNameLst>
                                          <p:attrName>style.visibility</p:attrName>
                                        </p:attrNameLst>
                                      </p:cBhvr>
                                      <p:to>
                                        <p:strVal val="visible"/>
                                      </p:to>
                                    </p:set>
                                    <p:animEffect filter="fade" transition="in">
                                      <p:cBhvr>
                                        <p:cTn dur="1000"/>
                                        <p:tgtEl>
                                          <p:spTgt spid="13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4"/>
                                        </p:tgtEl>
                                        <p:attrNameLst>
                                          <p:attrName>style.visibility</p:attrName>
                                        </p:attrNameLst>
                                      </p:cBhvr>
                                      <p:to>
                                        <p:strVal val="visible"/>
                                      </p:to>
                                    </p:set>
                                    <p:animEffect filter="fade" transition="in">
                                      <p:cBhvr>
                                        <p:cTn dur="1000"/>
                                        <p:tgtEl>
                                          <p:spTgt spid="13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9" name="Shape 1379"/>
        <p:cNvGrpSpPr/>
        <p:nvPr/>
      </p:nvGrpSpPr>
      <p:grpSpPr>
        <a:xfrm>
          <a:off x="0" y="0"/>
          <a:ext cx="0" cy="0"/>
          <a:chOff x="0" y="0"/>
          <a:chExt cx="0" cy="0"/>
        </a:xfrm>
      </p:grpSpPr>
      <p:pic>
        <p:nvPicPr>
          <p:cNvPr id="1380" name="Google Shape;1380;p133"/>
          <p:cNvPicPr preferRelativeResize="0"/>
          <p:nvPr/>
        </p:nvPicPr>
        <p:blipFill>
          <a:blip r:embed="rId3">
            <a:alphaModFix/>
          </a:blip>
          <a:stretch>
            <a:fillRect/>
          </a:stretch>
        </p:blipFill>
        <p:spPr>
          <a:xfrm>
            <a:off x="2429321" y="2184354"/>
            <a:ext cx="4338712" cy="2374075"/>
          </a:xfrm>
          <a:prstGeom prst="rect">
            <a:avLst/>
          </a:prstGeom>
          <a:noFill/>
          <a:ln>
            <a:noFill/>
          </a:ln>
        </p:spPr>
      </p:pic>
      <p:sp>
        <p:nvSpPr>
          <p:cNvPr id="1381" name="Google Shape;1381;p1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82" name="Google Shape;1382;p133"/>
          <p:cNvSpPr txBox="1"/>
          <p:nvPr>
            <p:ph type="title"/>
          </p:nvPr>
        </p:nvSpPr>
        <p:spPr>
          <a:xfrm>
            <a:off x="311725" y="500925"/>
            <a:ext cx="8520600" cy="623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UML</a:t>
            </a:r>
            <a:endParaRPr/>
          </a:p>
          <a:p>
            <a:pPr indent="0" lvl="0" marL="0" rtl="0" algn="l">
              <a:spcBef>
                <a:spcPts val="0"/>
              </a:spcBef>
              <a:spcAft>
                <a:spcPts val="0"/>
              </a:spcAft>
              <a:buNone/>
            </a:pPr>
            <a:r>
              <a:rPr lang="en" sz="2000"/>
              <a:t>(with Interfaces)</a:t>
            </a:r>
            <a:endParaRPr sz="2000"/>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6" name="Shape 1386"/>
        <p:cNvGrpSpPr/>
        <p:nvPr/>
      </p:nvGrpSpPr>
      <p:grpSpPr>
        <a:xfrm>
          <a:off x="0" y="0"/>
          <a:ext cx="0" cy="0"/>
          <a:chOff x="0" y="0"/>
          <a:chExt cx="0" cy="0"/>
        </a:xfrm>
      </p:grpSpPr>
      <p:pic>
        <p:nvPicPr>
          <p:cNvPr id="1387" name="Google Shape;1387;p134"/>
          <p:cNvPicPr preferRelativeResize="0"/>
          <p:nvPr/>
        </p:nvPicPr>
        <p:blipFill>
          <a:blip r:embed="rId3">
            <a:alphaModFix/>
          </a:blip>
          <a:stretch>
            <a:fillRect/>
          </a:stretch>
        </p:blipFill>
        <p:spPr>
          <a:xfrm>
            <a:off x="2429321" y="2184354"/>
            <a:ext cx="4338712" cy="2374075"/>
          </a:xfrm>
          <a:prstGeom prst="rect">
            <a:avLst/>
          </a:prstGeom>
          <a:noFill/>
          <a:ln>
            <a:noFill/>
          </a:ln>
        </p:spPr>
      </p:pic>
      <p:sp>
        <p:nvSpPr>
          <p:cNvPr id="1388" name="Google Shape;1388;p1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89" name="Google Shape;1389;p134"/>
          <p:cNvSpPr txBox="1"/>
          <p:nvPr>
            <p:ph type="title"/>
          </p:nvPr>
        </p:nvSpPr>
        <p:spPr>
          <a:xfrm>
            <a:off x="311725" y="500925"/>
            <a:ext cx="8520600" cy="623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UML</a:t>
            </a:r>
            <a:endParaRPr/>
          </a:p>
          <a:p>
            <a:pPr indent="0" lvl="0" marL="0" rtl="0" algn="l">
              <a:spcBef>
                <a:spcPts val="0"/>
              </a:spcBef>
              <a:spcAft>
                <a:spcPts val="0"/>
              </a:spcAft>
              <a:buNone/>
            </a:pPr>
            <a:r>
              <a:rPr lang="en" sz="2000"/>
              <a:t>(with Interfaces)</a:t>
            </a:r>
            <a:endParaRPr sz="2000"/>
          </a:p>
        </p:txBody>
      </p:sp>
      <p:sp>
        <p:nvSpPr>
          <p:cNvPr id="1390" name="Google Shape;1390;p134"/>
          <p:cNvSpPr txBox="1"/>
          <p:nvPr/>
        </p:nvSpPr>
        <p:spPr>
          <a:xfrm>
            <a:off x="6750916" y="1426500"/>
            <a:ext cx="2301900" cy="680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An </a:t>
            </a:r>
            <a:r>
              <a:rPr b="1" i="1" lang="en" sz="1200">
                <a:solidFill>
                  <a:srgbClr val="FF0000"/>
                </a:solidFill>
              </a:rPr>
              <a:t>interface</a:t>
            </a:r>
            <a:r>
              <a:rPr lang="en" sz="1200">
                <a:solidFill>
                  <a:srgbClr val="FF0000"/>
                </a:solidFill>
              </a:rPr>
              <a:t> </a:t>
            </a:r>
            <a:r>
              <a:rPr lang="en" sz="1200"/>
              <a:t>is often marked with an </a:t>
            </a:r>
            <a:r>
              <a:rPr i="1" lang="en" sz="1200">
                <a:solidFill>
                  <a:srgbClr val="FF0000"/>
                </a:solidFill>
                <a:latin typeface="Courier New"/>
                <a:ea typeface="Courier New"/>
                <a:cs typeface="Courier New"/>
                <a:sym typeface="Courier New"/>
              </a:rPr>
              <a:t>&lt;&lt;interface&gt;&gt;</a:t>
            </a:r>
            <a:r>
              <a:rPr lang="en" sz="1200"/>
              <a:t> tag above or below its name.</a:t>
            </a:r>
            <a:endParaRPr sz="1200"/>
          </a:p>
        </p:txBody>
      </p:sp>
      <p:sp>
        <p:nvSpPr>
          <p:cNvPr id="1391" name="Google Shape;1391;p134"/>
          <p:cNvSpPr/>
          <p:nvPr/>
        </p:nvSpPr>
        <p:spPr>
          <a:xfrm>
            <a:off x="6102500" y="2107200"/>
            <a:ext cx="796289" cy="280120"/>
          </a:xfrm>
          <a:custGeom>
            <a:rect b="b" l="l" r="r" t="t"/>
            <a:pathLst>
              <a:path extrusionOk="0" h="15757" w="25203">
                <a:moveTo>
                  <a:pt x="25203" y="0"/>
                </a:moveTo>
                <a:cubicBezTo>
                  <a:pt x="23917" y="2400"/>
                  <a:pt x="21689" y="11873"/>
                  <a:pt x="17488" y="14402"/>
                </a:cubicBezTo>
                <a:cubicBezTo>
                  <a:pt x="13288" y="16931"/>
                  <a:pt x="2915" y="15045"/>
                  <a:pt x="0" y="15173"/>
                </a:cubicBezTo>
              </a:path>
            </a:pathLst>
          </a:custGeom>
          <a:noFill/>
          <a:ln cap="flat" cmpd="sng" w="19050">
            <a:solidFill>
              <a:srgbClr val="FF0000"/>
            </a:solidFill>
            <a:prstDash val="solid"/>
            <a:round/>
            <a:headEnd len="med" w="med" type="none"/>
            <a:tailEnd len="med" w="med" type="triangle"/>
          </a:ln>
        </p:spPr>
      </p:sp>
      <p:sp>
        <p:nvSpPr>
          <p:cNvPr id="1392" name="Google Shape;1392;p134"/>
          <p:cNvSpPr txBox="1"/>
          <p:nvPr/>
        </p:nvSpPr>
        <p:spPr>
          <a:xfrm>
            <a:off x="6750925" y="2476785"/>
            <a:ext cx="2301900" cy="830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i="1" lang="en" sz="1200">
                <a:solidFill>
                  <a:srgbClr val="FF0000"/>
                </a:solidFill>
              </a:rPr>
              <a:t>Implementation</a:t>
            </a:r>
            <a:r>
              <a:rPr lang="en" sz="1200">
                <a:solidFill>
                  <a:srgbClr val="FF0000"/>
                </a:solidFill>
              </a:rPr>
              <a:t> </a:t>
            </a:r>
            <a:r>
              <a:rPr lang="en" sz="1200"/>
              <a:t>(also called </a:t>
            </a:r>
            <a:r>
              <a:rPr b="1" i="1" lang="en" sz="1200">
                <a:solidFill>
                  <a:srgbClr val="FF0000"/>
                </a:solidFill>
              </a:rPr>
              <a:t>"realization"</a:t>
            </a:r>
            <a:r>
              <a:rPr lang="en" sz="1200"/>
              <a:t>) is shown with a closed, unfilled arrowhead and a </a:t>
            </a:r>
            <a:r>
              <a:rPr b="1" i="1" lang="en" sz="1200">
                <a:solidFill>
                  <a:srgbClr val="FF0000"/>
                </a:solidFill>
              </a:rPr>
              <a:t>dashed line</a:t>
            </a:r>
            <a:r>
              <a:rPr lang="en" sz="1200"/>
              <a:t> (</a:t>
            </a:r>
            <a:r>
              <a:rPr lang="en" sz="1200">
                <a:solidFill>
                  <a:srgbClr val="FF0000"/>
                </a:solidFill>
                <a:latin typeface="Courier New"/>
                <a:ea typeface="Courier New"/>
                <a:cs typeface="Courier New"/>
                <a:sym typeface="Courier New"/>
              </a:rPr>
              <a:t>---</a:t>
            </a:r>
            <a:r>
              <a:rPr lang="en" sz="1200"/>
              <a:t>).</a:t>
            </a:r>
            <a:endParaRPr sz="1200"/>
          </a:p>
        </p:txBody>
      </p:sp>
      <p:sp>
        <p:nvSpPr>
          <p:cNvPr id="1393" name="Google Shape;1393;p134"/>
          <p:cNvSpPr/>
          <p:nvPr/>
        </p:nvSpPr>
        <p:spPr>
          <a:xfrm>
            <a:off x="5831525" y="3307475"/>
            <a:ext cx="1047975" cy="261114"/>
          </a:xfrm>
          <a:custGeom>
            <a:rect b="b" l="l" r="r" t="t"/>
            <a:pathLst>
              <a:path extrusionOk="0" h="12858" w="41919">
                <a:moveTo>
                  <a:pt x="41919" y="0"/>
                </a:moveTo>
                <a:cubicBezTo>
                  <a:pt x="40890" y="1414"/>
                  <a:pt x="42734" y="6343"/>
                  <a:pt x="35747" y="8486"/>
                </a:cubicBezTo>
                <a:cubicBezTo>
                  <a:pt x="28761" y="10629"/>
                  <a:pt x="5958" y="12129"/>
                  <a:pt x="0" y="12858"/>
                </a:cubicBezTo>
              </a:path>
            </a:pathLst>
          </a:custGeom>
          <a:noFill/>
          <a:ln cap="flat" cmpd="sng" w="19050">
            <a:solidFill>
              <a:srgbClr val="FF0000"/>
            </a:solidFill>
            <a:prstDash val="solid"/>
            <a:round/>
            <a:headEnd len="med" w="med" type="none"/>
            <a:tailEnd len="med" w="med" type="triangle"/>
          </a:ln>
        </p:spPr>
      </p:sp>
      <p:sp>
        <p:nvSpPr>
          <p:cNvPr id="1394" name="Google Shape;1394;p134"/>
          <p:cNvSpPr txBox="1"/>
          <p:nvPr/>
        </p:nvSpPr>
        <p:spPr>
          <a:xfrm>
            <a:off x="6750925" y="3848385"/>
            <a:ext cx="2301900" cy="830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A class that </a:t>
            </a:r>
            <a:r>
              <a:rPr b="1" i="1" lang="en" sz="1200">
                <a:solidFill>
                  <a:srgbClr val="FF0000"/>
                </a:solidFill>
              </a:rPr>
              <a:t>implements </a:t>
            </a:r>
            <a:r>
              <a:rPr lang="en" sz="1200"/>
              <a:t>an interface </a:t>
            </a:r>
            <a:r>
              <a:rPr b="1" i="1" lang="en" sz="1200">
                <a:solidFill>
                  <a:srgbClr val="FF0000"/>
                </a:solidFill>
              </a:rPr>
              <a:t>must</a:t>
            </a:r>
            <a:r>
              <a:rPr lang="en" sz="1200">
                <a:solidFill>
                  <a:srgbClr val="FF0000"/>
                </a:solidFill>
              </a:rPr>
              <a:t> </a:t>
            </a:r>
            <a:r>
              <a:rPr lang="en" sz="1200"/>
              <a:t>implement the interface's methods (or be declared </a:t>
            </a:r>
            <a:r>
              <a:rPr lang="en" sz="1200">
                <a:latin typeface="Courier New"/>
                <a:ea typeface="Courier New"/>
                <a:cs typeface="Courier New"/>
                <a:sym typeface="Courier New"/>
              </a:rPr>
              <a:t>abstract</a:t>
            </a:r>
            <a:r>
              <a:rPr lang="en" sz="1200"/>
              <a:t>).</a:t>
            </a:r>
            <a:endParaRPr sz="1200"/>
          </a:p>
        </p:txBody>
      </p:sp>
      <p:sp>
        <p:nvSpPr>
          <p:cNvPr id="1395" name="Google Shape;1395;p134"/>
          <p:cNvSpPr/>
          <p:nvPr/>
        </p:nvSpPr>
        <p:spPr>
          <a:xfrm>
            <a:off x="5580775" y="4126975"/>
            <a:ext cx="1180774" cy="237900"/>
          </a:xfrm>
          <a:custGeom>
            <a:rect b="b" l="l" r="r" t="t"/>
            <a:pathLst>
              <a:path extrusionOk="0" h="9516" w="48863">
                <a:moveTo>
                  <a:pt x="48863" y="0"/>
                </a:moveTo>
                <a:cubicBezTo>
                  <a:pt x="43034" y="300"/>
                  <a:pt x="22031" y="214"/>
                  <a:pt x="13887" y="1800"/>
                </a:cubicBezTo>
                <a:cubicBezTo>
                  <a:pt x="5743" y="3386"/>
                  <a:pt x="2315" y="8230"/>
                  <a:pt x="0" y="9516"/>
                </a:cubicBezTo>
              </a:path>
            </a:pathLst>
          </a:custGeom>
          <a:noFill/>
          <a:ln cap="flat" cmpd="sng" w="19050">
            <a:solidFill>
              <a:srgbClr val="FF0000"/>
            </a:solidFill>
            <a:prstDash val="solid"/>
            <a:round/>
            <a:headEnd len="med" w="med" type="none"/>
            <a:tailEnd len="med" w="med" type="triangle"/>
          </a:ln>
        </p:spPr>
      </p:sp>
      <p:sp>
        <p:nvSpPr>
          <p:cNvPr id="1396" name="Google Shape;1396;p134"/>
          <p:cNvSpPr/>
          <p:nvPr/>
        </p:nvSpPr>
        <p:spPr>
          <a:xfrm>
            <a:off x="2327500" y="1781474"/>
            <a:ext cx="2186000" cy="623720"/>
          </a:xfrm>
          <a:custGeom>
            <a:rect b="b" l="l" r="r" t="t"/>
            <a:pathLst>
              <a:path extrusionOk="0" h="23135" w="87440">
                <a:moveTo>
                  <a:pt x="0" y="761"/>
                </a:moveTo>
                <a:cubicBezTo>
                  <a:pt x="11573" y="975"/>
                  <a:pt x="54865" y="-1682"/>
                  <a:pt x="69438" y="2047"/>
                </a:cubicBezTo>
                <a:cubicBezTo>
                  <a:pt x="84011" y="5776"/>
                  <a:pt x="84440" y="19620"/>
                  <a:pt x="87440" y="23135"/>
                </a:cubicBezTo>
              </a:path>
            </a:pathLst>
          </a:custGeom>
          <a:noFill/>
          <a:ln cap="flat" cmpd="sng" w="19050">
            <a:solidFill>
              <a:srgbClr val="FF0000"/>
            </a:solidFill>
            <a:prstDash val="solid"/>
            <a:round/>
            <a:headEnd len="med" w="med" type="none"/>
            <a:tailEnd len="med" w="med" type="triangle"/>
          </a:ln>
        </p:spPr>
      </p:sp>
      <p:sp>
        <p:nvSpPr>
          <p:cNvPr id="1397" name="Google Shape;1397;p134"/>
          <p:cNvSpPr/>
          <p:nvPr/>
        </p:nvSpPr>
        <p:spPr>
          <a:xfrm>
            <a:off x="1902376" y="2211975"/>
            <a:ext cx="720914" cy="855125"/>
          </a:xfrm>
          <a:custGeom>
            <a:rect b="b" l="l" r="r" t="t"/>
            <a:pathLst>
              <a:path extrusionOk="0" h="34205" w="25492">
                <a:moveTo>
                  <a:pt x="32" y="0"/>
                </a:moveTo>
                <a:cubicBezTo>
                  <a:pt x="546" y="3901"/>
                  <a:pt x="-1125" y="17702"/>
                  <a:pt x="3118" y="23403"/>
                </a:cubicBezTo>
                <a:cubicBezTo>
                  <a:pt x="7361" y="29104"/>
                  <a:pt x="21763" y="32405"/>
                  <a:pt x="25492" y="34205"/>
                </a:cubicBezTo>
              </a:path>
            </a:pathLst>
          </a:custGeom>
          <a:noFill/>
          <a:ln cap="flat" cmpd="sng" w="19050">
            <a:solidFill>
              <a:srgbClr val="FF0000"/>
            </a:solidFill>
            <a:prstDash val="solid"/>
            <a:round/>
            <a:headEnd len="med" w="med" type="none"/>
            <a:tailEnd len="med" w="med" type="triangle"/>
          </a:ln>
        </p:spPr>
      </p:sp>
      <p:sp>
        <p:nvSpPr>
          <p:cNvPr id="1398" name="Google Shape;1398;p134"/>
          <p:cNvSpPr txBox="1"/>
          <p:nvPr/>
        </p:nvSpPr>
        <p:spPr>
          <a:xfrm>
            <a:off x="121000" y="1426500"/>
            <a:ext cx="2301900" cy="830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An </a:t>
            </a:r>
            <a:r>
              <a:rPr lang="en" sz="1200">
                <a:latin typeface="Courier New"/>
                <a:ea typeface="Courier New"/>
                <a:cs typeface="Courier New"/>
                <a:sym typeface="Courier New"/>
              </a:rPr>
              <a:t>abstract</a:t>
            </a:r>
            <a:r>
              <a:rPr lang="en" sz="1200"/>
              <a:t> class </a:t>
            </a:r>
            <a:r>
              <a:rPr b="1" i="1" lang="en" sz="1200">
                <a:solidFill>
                  <a:srgbClr val="FF0000"/>
                </a:solidFill>
              </a:rPr>
              <a:t>does not</a:t>
            </a:r>
            <a:r>
              <a:rPr lang="en" sz="1200"/>
              <a:t> need to implement any methods inherited from an interface...</a:t>
            </a:r>
            <a:endParaRPr sz="1200"/>
          </a:p>
        </p:txBody>
      </p:sp>
      <p:sp>
        <p:nvSpPr>
          <p:cNvPr id="1399" name="Google Shape;1399;p134"/>
          <p:cNvSpPr/>
          <p:nvPr/>
        </p:nvSpPr>
        <p:spPr>
          <a:xfrm>
            <a:off x="2006050" y="3896475"/>
            <a:ext cx="630075" cy="392200"/>
          </a:xfrm>
          <a:custGeom>
            <a:rect b="b" l="l" r="r" t="t"/>
            <a:pathLst>
              <a:path extrusionOk="0" h="15688" w="25203">
                <a:moveTo>
                  <a:pt x="0" y="0"/>
                </a:moveTo>
                <a:cubicBezTo>
                  <a:pt x="1157" y="2015"/>
                  <a:pt x="2743" y="9472"/>
                  <a:pt x="6943" y="12087"/>
                </a:cubicBezTo>
                <a:cubicBezTo>
                  <a:pt x="11144" y="14702"/>
                  <a:pt x="22160" y="15088"/>
                  <a:pt x="25203" y="15688"/>
                </a:cubicBezTo>
              </a:path>
            </a:pathLst>
          </a:custGeom>
          <a:noFill/>
          <a:ln cap="flat" cmpd="sng" w="19050">
            <a:solidFill>
              <a:srgbClr val="FF0000"/>
            </a:solidFill>
            <a:prstDash val="solid"/>
            <a:round/>
            <a:headEnd len="med" w="med" type="none"/>
            <a:tailEnd len="med" w="med" type="triangle"/>
          </a:ln>
        </p:spPr>
      </p:sp>
      <p:sp>
        <p:nvSpPr>
          <p:cNvPr id="1400" name="Google Shape;1400;p134"/>
          <p:cNvSpPr txBox="1"/>
          <p:nvPr/>
        </p:nvSpPr>
        <p:spPr>
          <a:xfrm>
            <a:off x="121000" y="3106500"/>
            <a:ext cx="2301900" cy="830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...but the responsibility is then passed onto any </a:t>
            </a:r>
            <a:r>
              <a:rPr b="1" i="1" lang="en" sz="1200">
                <a:solidFill>
                  <a:srgbClr val="FF0000"/>
                </a:solidFill>
              </a:rPr>
              <a:t>concrete</a:t>
            </a:r>
            <a:r>
              <a:rPr lang="en" sz="1200">
                <a:solidFill>
                  <a:srgbClr val="FF0000"/>
                </a:solidFill>
              </a:rPr>
              <a:t> </a:t>
            </a:r>
            <a:r>
              <a:rPr lang="en" sz="1200"/>
              <a:t>children that extend the abstract class.</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390"/>
                                        </p:tgtEl>
                                        <p:attrNameLst>
                                          <p:attrName>style.visibility</p:attrName>
                                        </p:attrNameLst>
                                      </p:cBhvr>
                                      <p:to>
                                        <p:strVal val="visible"/>
                                      </p:to>
                                    </p:set>
                                    <p:animEffect filter="fade" transition="in">
                                      <p:cBhvr>
                                        <p:cTn dur="1000"/>
                                        <p:tgtEl>
                                          <p:spTgt spid="139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91"/>
                                        </p:tgtEl>
                                        <p:attrNameLst>
                                          <p:attrName>style.visibility</p:attrName>
                                        </p:attrNameLst>
                                      </p:cBhvr>
                                      <p:to>
                                        <p:strVal val="visible"/>
                                      </p:to>
                                    </p:set>
                                    <p:animEffect filter="fade" transition="in">
                                      <p:cBhvr>
                                        <p:cTn dur="1000"/>
                                        <p:tgtEl>
                                          <p:spTgt spid="1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2"/>
                                        </p:tgtEl>
                                        <p:attrNameLst>
                                          <p:attrName>style.visibility</p:attrName>
                                        </p:attrNameLst>
                                      </p:cBhvr>
                                      <p:to>
                                        <p:strVal val="visible"/>
                                      </p:to>
                                    </p:set>
                                    <p:animEffect filter="fade" transition="in">
                                      <p:cBhvr>
                                        <p:cTn dur="1000"/>
                                        <p:tgtEl>
                                          <p:spTgt spid="139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93"/>
                                        </p:tgtEl>
                                        <p:attrNameLst>
                                          <p:attrName>style.visibility</p:attrName>
                                        </p:attrNameLst>
                                      </p:cBhvr>
                                      <p:to>
                                        <p:strVal val="visible"/>
                                      </p:to>
                                    </p:set>
                                    <p:animEffect filter="fade" transition="in">
                                      <p:cBhvr>
                                        <p:cTn dur="1000"/>
                                        <p:tgtEl>
                                          <p:spTgt spid="1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4"/>
                                        </p:tgtEl>
                                        <p:attrNameLst>
                                          <p:attrName>style.visibility</p:attrName>
                                        </p:attrNameLst>
                                      </p:cBhvr>
                                      <p:to>
                                        <p:strVal val="visible"/>
                                      </p:to>
                                    </p:set>
                                    <p:animEffect filter="fade" transition="in">
                                      <p:cBhvr>
                                        <p:cTn dur="1000"/>
                                        <p:tgtEl>
                                          <p:spTgt spid="139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95"/>
                                        </p:tgtEl>
                                        <p:attrNameLst>
                                          <p:attrName>style.visibility</p:attrName>
                                        </p:attrNameLst>
                                      </p:cBhvr>
                                      <p:to>
                                        <p:strVal val="visible"/>
                                      </p:to>
                                    </p:set>
                                    <p:animEffect filter="fade" transition="in">
                                      <p:cBhvr>
                                        <p:cTn dur="1000"/>
                                        <p:tgtEl>
                                          <p:spTgt spid="13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8"/>
                                        </p:tgtEl>
                                        <p:attrNameLst>
                                          <p:attrName>style.visibility</p:attrName>
                                        </p:attrNameLst>
                                      </p:cBhvr>
                                      <p:to>
                                        <p:strVal val="visible"/>
                                      </p:to>
                                    </p:set>
                                    <p:animEffect filter="fade" transition="in">
                                      <p:cBhvr>
                                        <p:cTn dur="1000"/>
                                        <p:tgtEl>
                                          <p:spTgt spid="139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96"/>
                                        </p:tgtEl>
                                        <p:attrNameLst>
                                          <p:attrName>style.visibility</p:attrName>
                                        </p:attrNameLst>
                                      </p:cBhvr>
                                      <p:to>
                                        <p:strVal val="visible"/>
                                      </p:to>
                                    </p:set>
                                    <p:animEffect filter="fade" transition="in">
                                      <p:cBhvr>
                                        <p:cTn dur="1000"/>
                                        <p:tgtEl>
                                          <p:spTgt spid="139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97"/>
                                        </p:tgtEl>
                                        <p:attrNameLst>
                                          <p:attrName>style.visibility</p:attrName>
                                        </p:attrNameLst>
                                      </p:cBhvr>
                                      <p:to>
                                        <p:strVal val="visible"/>
                                      </p:to>
                                    </p:set>
                                    <p:animEffect filter="fade" transition="in">
                                      <p:cBhvr>
                                        <p:cTn dur="1000"/>
                                        <p:tgtEl>
                                          <p:spTgt spid="13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0"/>
                                        </p:tgtEl>
                                        <p:attrNameLst>
                                          <p:attrName>style.visibility</p:attrName>
                                        </p:attrNameLst>
                                      </p:cBhvr>
                                      <p:to>
                                        <p:strVal val="visible"/>
                                      </p:to>
                                    </p:set>
                                    <p:animEffect filter="fade" transition="in">
                                      <p:cBhvr>
                                        <p:cTn dur="1000"/>
                                        <p:tgtEl>
                                          <p:spTgt spid="140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99"/>
                                        </p:tgtEl>
                                        <p:attrNameLst>
                                          <p:attrName>style.visibility</p:attrName>
                                        </p:attrNameLst>
                                      </p:cBhvr>
                                      <p:to>
                                        <p:strVal val="visible"/>
                                      </p:to>
                                    </p:set>
                                    <p:animEffect filter="fade" transition="in">
                                      <p:cBhvr>
                                        <p:cTn dur="1000"/>
                                        <p:tgtEl>
                                          <p:spTgt spid="13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4" name="Shape 1404"/>
        <p:cNvGrpSpPr/>
        <p:nvPr/>
      </p:nvGrpSpPr>
      <p:grpSpPr>
        <a:xfrm>
          <a:off x="0" y="0"/>
          <a:ext cx="0" cy="0"/>
          <a:chOff x="0" y="0"/>
          <a:chExt cx="0" cy="0"/>
        </a:xfrm>
      </p:grpSpPr>
      <p:sp>
        <p:nvSpPr>
          <p:cNvPr id="1405" name="Google Shape;1405;p135"/>
          <p:cNvSpPr txBox="1"/>
          <p:nvPr>
            <p:ph type="title"/>
          </p:nvPr>
        </p:nvSpPr>
        <p:spPr>
          <a:xfrm>
            <a:off x="311725" y="196125"/>
            <a:ext cx="8520600" cy="623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900"/>
              <a:t>Summary &amp; Reflection</a:t>
            </a:r>
            <a:endParaRPr sz="3900"/>
          </a:p>
        </p:txBody>
      </p:sp>
      <p:sp>
        <p:nvSpPr>
          <p:cNvPr id="1406" name="Google Shape;1406;p135"/>
          <p:cNvSpPr/>
          <p:nvPr/>
        </p:nvSpPr>
        <p:spPr>
          <a:xfrm>
            <a:off x="3934950" y="1656500"/>
            <a:ext cx="1905000" cy="1233000"/>
          </a:xfrm>
          <a:prstGeom prst="cloudCallout">
            <a:avLst>
              <a:gd fmla="val 60382" name="adj1"/>
              <a:gd fmla="val 60947" name="adj2"/>
            </a:avLst>
          </a:prstGeom>
          <a:solidFill>
            <a:srgbClr val="C9DAF8"/>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is one new thing that you learned today?</a:t>
            </a:r>
            <a:endParaRPr sz="1200"/>
          </a:p>
        </p:txBody>
      </p:sp>
      <p:pic>
        <p:nvPicPr>
          <p:cNvPr id="1407" name="Google Shape;1407;p135"/>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1408" name="Google Shape;1408;p135"/>
          <p:cNvSpPr/>
          <p:nvPr/>
        </p:nvSpPr>
        <p:spPr>
          <a:xfrm>
            <a:off x="5992350" y="1351700"/>
            <a:ext cx="1905000" cy="1233000"/>
          </a:xfrm>
          <a:prstGeom prst="cloudCallout">
            <a:avLst>
              <a:gd fmla="val -15427" name="adj1"/>
              <a:gd fmla="val 82691" name="adj2"/>
            </a:avLst>
          </a:prstGeom>
          <a:solidFill>
            <a:srgbClr val="D9EAD3"/>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What is one thing that you wish you knew more about as we move forward?</a:t>
            </a:r>
            <a:endParaRPr sz="1000"/>
          </a:p>
        </p:txBody>
      </p:sp>
      <p:sp>
        <p:nvSpPr>
          <p:cNvPr id="1409" name="Google Shape;1409;p135"/>
          <p:cNvSpPr/>
          <p:nvPr/>
        </p:nvSpPr>
        <p:spPr>
          <a:xfrm>
            <a:off x="7003525" y="2549050"/>
            <a:ext cx="1905000" cy="1233000"/>
          </a:xfrm>
          <a:prstGeom prst="cloudCallout">
            <a:avLst>
              <a:gd fmla="val -66241" name="adj1"/>
              <a:gd fmla="val 20639" name="adj2"/>
            </a:avLst>
          </a:prstGeom>
          <a:solidFill>
            <a:srgbClr val="FCE5C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one question do you have about today’s class?</a:t>
            </a:r>
            <a:endParaRPr sz="1200"/>
          </a:p>
        </p:txBody>
      </p:sp>
      <p:sp>
        <p:nvSpPr>
          <p:cNvPr id="1410" name="Google Shape;1410;p135"/>
          <p:cNvSpPr txBox="1"/>
          <p:nvPr/>
        </p:nvSpPr>
        <p:spPr>
          <a:xfrm>
            <a:off x="4107225" y="4689650"/>
            <a:ext cx="4667100" cy="23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1411" name="Google Shape;1411;p135"/>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1412" name="Google Shape;1412;p135"/>
          <p:cNvSpPr txBox="1"/>
          <p:nvPr>
            <p:ph idx="1" type="body"/>
          </p:nvPr>
        </p:nvSpPr>
        <p:spPr>
          <a:xfrm rot="-1168295">
            <a:off x="1011648" y="1531349"/>
            <a:ext cx="2569455" cy="2929916"/>
          </a:xfrm>
          <a:prstGeom prst="rect">
            <a:avLst/>
          </a:prstGeom>
        </p:spPr>
        <p:txBody>
          <a:bodyPr anchorCtr="0" anchor="ctr" bIns="91425" lIns="91425" spcFirstLastPara="1" rIns="91425" wrap="square" tIns="91425">
            <a:noAutofit/>
          </a:bodyPr>
          <a:lstStyle/>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Simple Domain Analysis</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Basic Inheritance</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extends</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overriding</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Polymorphism</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Abstract Classes</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abstract methods</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extending</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UML Class Diagrams</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Interface Inheritance</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implements</a:t>
            </a:r>
            <a:endParaRPr sz="1600">
              <a:solidFill>
                <a:srgbClr val="FF0000"/>
              </a:solidFill>
              <a:latin typeface="Shadows Into Light"/>
              <a:ea typeface="Shadows Into Light"/>
              <a:cs typeface="Shadows Into Light"/>
              <a:sym typeface="Shadows Into Light"/>
            </a:endParaRPr>
          </a:p>
        </p:txBody>
      </p:sp>
      <p:sp>
        <p:nvSpPr>
          <p:cNvPr id="1413" name="Google Shape;1413;p1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