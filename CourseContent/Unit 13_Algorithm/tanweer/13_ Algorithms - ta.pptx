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5" r:id="rId1"/>
  </p:sldMasterIdLst>
  <p:notesMasterIdLst>
    <p:notesMasterId r:id="rId10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sldSz cx="9144000" cy="5143500" type="screen16x9"/>
  <p:notesSz cx="6858000" cy="9144000"/>
  <p:embeddedFontLst>
    <p:embeddedFont>
      <p:font typeface="Consolas" panose="020B0609020204030204" pitchFamily="49" charset="0"/>
      <p:regular r:id="rId102"/>
      <p:bold r:id="rId103"/>
      <p:italic r:id="rId104"/>
      <p:boldItalic r:id="rId105"/>
    </p:embeddedFont>
    <p:embeddedFont>
      <p:font typeface="Handlee" panose="020B0604020202020204" charset="0"/>
      <p:regular r:id="rId106"/>
    </p:embeddedFont>
    <p:embeddedFont>
      <p:font typeface="Merriweather" panose="00000500000000000000" pitchFamily="2" charset="0"/>
      <p:regular r:id="rId107"/>
      <p:bold r:id="rId108"/>
      <p:italic r:id="rId109"/>
      <p:boldItalic r:id="rId110"/>
    </p:embeddedFont>
    <p:embeddedFont>
      <p:font typeface="Roboto" panose="02000000000000000000" pitchFamily="2" charset="0"/>
      <p:regular r:id="rId111"/>
      <p:bold r:id="rId112"/>
      <p:italic r:id="rId113"/>
      <p:boldItalic r:id="rId114"/>
    </p:embeddedFont>
    <p:embeddedFont>
      <p:font typeface="Shadows Into Light" panose="020B0604020202020204" charset="0"/>
      <p:regular r:id="rId115"/>
    </p:embeddedFont>
    <p:embeddedFont>
      <p:font typeface="Source Code Pro" panose="020B0509030403020204" pitchFamily="49" charset="0"/>
      <p:regular r:id="rId116"/>
      <p:bold r:id="rId117"/>
      <p:italic r:id="rId118"/>
      <p:boldItalic r:id="rId1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CCAE03-A2B2-4379-B0C2-E101A7E113D6}">
  <a:tblStyle styleId="{89CCAE03-A2B2-4379-B0C2-E101A7E113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119" autoAdjust="0"/>
  </p:normalViewPr>
  <p:slideViewPr>
    <p:cSldViewPr snapToGrid="0">
      <p:cViewPr varScale="1">
        <p:scale>
          <a:sx n="143" d="100"/>
          <a:sy n="143" d="100"/>
        </p:scale>
        <p:origin x="210"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6.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1.fntdata"/><Relationship Id="rId16" Type="http://schemas.openxmlformats.org/officeDocument/2006/relationships/slide" Target="slides/slide15.xml"/><Relationship Id="rId107" Type="http://schemas.openxmlformats.org/officeDocument/2006/relationships/font" Target="fonts/font6.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fntdata"/><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2.fntdata"/><Relationship Id="rId118" Type="http://schemas.openxmlformats.org/officeDocument/2006/relationships/font" Target="fonts/font17.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fntdata"/><Relationship Id="rId108" Type="http://schemas.openxmlformats.org/officeDocument/2006/relationships/font" Target="fonts/font7.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3.fntdata"/><Relationship Id="rId119" Type="http://schemas.openxmlformats.org/officeDocument/2006/relationships/font" Target="fonts/font18.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8.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3.fntdata"/><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9.fntdata"/><Relationship Id="rId115"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0.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16b9e6fb8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16b9e6fb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b3d3c908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b3d3c908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b21e7e55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b21e7e55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c0fe14963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c0fe14963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t>
            </a:r>
            <a:r>
              <a:rPr lang="en-US" b="1" dirty="0"/>
              <a:t>Greatest Common Denominator (GCD)</a:t>
            </a:r>
            <a:r>
              <a:rPr lang="en-US" dirty="0"/>
              <a:t>—also called the </a:t>
            </a:r>
            <a:r>
              <a:rPr lang="en-US" b="1" dirty="0"/>
              <a:t>Greatest Common Divisor</a:t>
            </a:r>
            <a:r>
              <a:rPr lang="en-US" dirty="0"/>
              <a:t>—is the </a:t>
            </a:r>
            <a:r>
              <a:rPr lang="en-US" b="1" dirty="0"/>
              <a:t>largest number that divides two or more numbers evenly (with no remainder).</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1a5d03fb9e_0_3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1a5d03fb9e_0_3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b21e7e554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b21e7e554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Local optima </a:t>
            </a:r>
            <a:r>
              <a:rPr lang="en-US" dirty="0">
                <a:sym typeface="Wingdings" panose="05000000000000000000" pitchFamily="2" charset="2"/>
              </a:rPr>
              <a:t> Some compromise, result is acceptable.</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Payment  sometime we don’t care for the change below 10 cents. If shopkeeper does not have, we move on. For some, they want each cent back. </a:t>
            </a:r>
            <a:r>
              <a:rPr lang="en-US" dirty="0" err="1">
                <a:sym typeface="Wingdings" panose="05000000000000000000" pitchFamily="2" charset="2"/>
              </a:rPr>
              <a:t>Shopkeep</a:t>
            </a:r>
            <a:r>
              <a:rPr lang="en-US" dirty="0">
                <a:sym typeface="Wingdings" panose="05000000000000000000" pitchFamily="2" charset="2"/>
              </a:rPr>
              <a:t> may go hunting for cents or just return bigger coin such as quarter to </a:t>
            </a:r>
            <a:r>
              <a:rPr lang="en-US" b="1" dirty="0">
                <a:sym typeface="Wingdings" panose="05000000000000000000" pitchFamily="2" charset="2"/>
              </a:rPr>
              <a:t>preserve time.</a:t>
            </a:r>
            <a:endParaRPr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c0fe14963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c0fe14963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highlight>
                  <a:srgbClr val="FFFF00"/>
                </a:highlight>
              </a:rPr>
              <a:t>Does it also find the </a:t>
            </a:r>
            <a:r>
              <a:rPr lang="en-US" b="1" i="1" dirty="0">
                <a:solidFill>
                  <a:srgbClr val="FF0000"/>
                </a:solidFill>
                <a:highlight>
                  <a:srgbClr val="FFFF00"/>
                </a:highlight>
              </a:rPr>
              <a:t>optimal </a:t>
            </a:r>
            <a:r>
              <a:rPr lang="en-US" dirty="0">
                <a:highlight>
                  <a:srgbClr val="FFFF00"/>
                </a:highlight>
              </a:rPr>
              <a:t>answer?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highlight>
                <a:srgbClr val="FFFF00"/>
              </a:highligh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highlight>
                <a:srgbClr val="FFFF00"/>
              </a:highligh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highlight>
                  <a:srgbClr val="FFFF00"/>
                </a:highlight>
              </a:rPr>
              <a:t>Use the closest whole dollar amount or Coin. Not perfect but optimal. Saves time.</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1a5d03fb9e_0_3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1a5d03fb9e_0_3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c0fe149636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c0fe14963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b21e7e554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b21e7e554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c387932d7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c387932d7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c387932d7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c387932d7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first part here should be a class activity - take a few minutes to go through the code with your students.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c387932d7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c387932d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0fe149636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c0fe149636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b21e7e55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b21e7e55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b21e7e554b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b21e7e554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c387932d70_1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c387932d70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c387932d70_1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c387932d70_1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b21e7e554b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b21e7e554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void connect(E a, E b, double weight);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double weight(E a, E b);</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And two new search method.</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b21e7e554b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b21e7e554b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private final Map&lt;</a:t>
            </a:r>
            <a:r>
              <a:rPr lang="en-US" sz="1100" b="0" i="0" u="none" strike="noStrike" cap="none" dirty="0" err="1">
                <a:solidFill>
                  <a:srgbClr val="000000"/>
                </a:solidFill>
                <a:effectLst/>
                <a:latin typeface="Arial"/>
                <a:ea typeface="Arial"/>
                <a:cs typeface="Arial"/>
                <a:sym typeface="Arial"/>
              </a:rPr>
              <a:t>WVertex</a:t>
            </a:r>
            <a:r>
              <a:rPr lang="en-US" sz="1100" b="0" i="0" u="none" strike="noStrike" cap="none" dirty="0">
                <a:solidFill>
                  <a:srgbClr val="000000"/>
                </a:solidFill>
                <a:effectLst/>
                <a:latin typeface="Arial"/>
                <a:ea typeface="Arial"/>
                <a:cs typeface="Arial"/>
                <a:sym typeface="Arial"/>
              </a:rPr>
              <a:t>&lt;E&gt;, Double&gt; neighbors;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public void connect(</a:t>
            </a:r>
            <a:r>
              <a:rPr lang="en-US" sz="1100" b="0" i="0" u="none" strike="noStrike" cap="none" dirty="0" err="1">
                <a:solidFill>
                  <a:srgbClr val="000000"/>
                </a:solidFill>
                <a:effectLst/>
                <a:latin typeface="Arial"/>
                <a:ea typeface="Arial"/>
                <a:cs typeface="Arial"/>
                <a:sym typeface="Arial"/>
              </a:rPr>
              <a:t>WVertex</a:t>
            </a:r>
            <a:r>
              <a:rPr lang="en-US" sz="1100" b="0" i="0" u="none" strike="noStrike" cap="none" dirty="0">
                <a:solidFill>
                  <a:srgbClr val="000000"/>
                </a:solidFill>
                <a:effectLst/>
                <a:latin typeface="Arial"/>
                <a:ea typeface="Arial"/>
                <a:cs typeface="Arial"/>
                <a:sym typeface="Arial"/>
              </a:rPr>
              <a:t>&lt;E&gt; neighbor, double weight)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public double weight(</a:t>
            </a:r>
            <a:r>
              <a:rPr lang="en-US" sz="1100" b="0" i="0" u="none" strike="noStrike" cap="none" dirty="0" err="1">
                <a:solidFill>
                  <a:srgbClr val="000000"/>
                </a:solidFill>
                <a:effectLst/>
                <a:latin typeface="Arial"/>
                <a:ea typeface="Arial"/>
                <a:cs typeface="Arial"/>
                <a:sym typeface="Arial"/>
              </a:rPr>
              <a:t>WVertex</a:t>
            </a:r>
            <a:r>
              <a:rPr lang="en-US" sz="1100" b="0" i="0" u="none" strike="noStrike" cap="none" dirty="0">
                <a:solidFill>
                  <a:srgbClr val="000000"/>
                </a:solidFill>
                <a:effectLst/>
                <a:latin typeface="Arial"/>
                <a:ea typeface="Arial"/>
                <a:cs typeface="Arial"/>
                <a:sym typeface="Arial"/>
              </a:rPr>
              <a:t>&lt;E&gt; neighbor)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Comparator implementation is done later.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b21e7e554b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b21e7e554b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public void connect(E a, E b, double weight)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public double weight(E a, E b) {</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3ebf2401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3ebf2401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bfc5f3bdd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bfc5f3bdd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c56afa2e09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c56afa2e09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 * A weighted path. Keeps track of both the values along the path and the</a:t>
            </a:r>
          </a:p>
          <a:p>
            <a:r>
              <a:rPr lang="en-US" sz="1100" b="0" i="0" u="none" strike="noStrike" cap="none" dirty="0">
                <a:solidFill>
                  <a:srgbClr val="000000"/>
                </a:solidFill>
                <a:effectLst/>
                <a:latin typeface="Arial"/>
                <a:ea typeface="Arial"/>
                <a:cs typeface="Arial"/>
                <a:sym typeface="Arial"/>
              </a:rPr>
              <a:t> * total distance (accumulated edge weights). The path can be built forward or</a:t>
            </a:r>
          </a:p>
          <a:p>
            <a:r>
              <a:rPr lang="en-US" sz="1100" b="0" i="0" u="none" strike="noStrike" cap="none" dirty="0">
                <a:solidFill>
                  <a:srgbClr val="000000"/>
                </a:solidFill>
                <a:effectLst/>
                <a:latin typeface="Arial"/>
                <a:ea typeface="Arial"/>
                <a:cs typeface="Arial"/>
                <a:sym typeface="Arial"/>
              </a:rPr>
              <a:t> * backward.</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f3c93e4b19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1f3c93e4b19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Wvertex</a:t>
            </a: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endParaRPr b="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f3c93e4b19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f3c93e4b19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bfc5f3bdd5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bfc5f3bdd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2c2668378dc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2c2668378dc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3ebf2401f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3ebf2401f4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1a5d03fb9e_0_1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1a5d03fb9e_0_1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21a5d03fb9e_0_1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21a5d03fb9e_0_1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1a5d03fb9e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1a5d03fb9e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1a5d03fb9e_0_1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1a5d03fb9e_0_1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1a5d03fb9e_0_1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1a5d03fb9e_0_1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1a5d03fb9e_0_1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1a5d03fb9e_0_1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1a5d03fb9e_0_1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1a5d03fb9e_0_1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1a5d03fb9e_0_1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21a5d03fb9e_0_1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Distance is from the start node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1a5d03fb9e_0_1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21a5d03fb9e_0_1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1a5d03fb9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21a5d03fb9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1a5d03fb9e_0_1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21a5d03fb9e_0_1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1a5d03fb9e_0_1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21a5d03fb9e_0_1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1a5d03fb9e_0_1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21a5d03fb9e_0_1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1a5d03fb9e_0_1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21a5d03fb9e_0_1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1a5d03fb9e_0_16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21a5d03fb9e_0_1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1a5d03fb9e_0_1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21a5d03fb9e_0_1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may be worth pointing out that the distance of ACB is shorter than AB.</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1a5d03fb9e_0_1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21a5d03fb9e_0_1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1a5d03fb9e_0_18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21a5d03fb9e_0_18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1a5d03fb9e_0_1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0" name="Google Shape;1160;g21a5d03fb9e_0_1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21a5d03fb9e_0_1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21a5d03fb9e_0_1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21a5d03fb9e_0_19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21a5d03fb9e_0_19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21a5d03fb9e_0_1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4" name="Google Shape;1294;g21a5d03fb9e_0_1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21a5d03fb9e_0_20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21a5d03fb9e_0_2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21a5d03fb9e_0_2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21a5d03fb9e_0_2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g21a5d03fb9e_0_2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6" name="Google Shape;1406;g21a5d03fb9e_0_2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
        <p:cNvGrpSpPr/>
        <p:nvPr/>
      </p:nvGrpSpPr>
      <p:grpSpPr>
        <a:xfrm>
          <a:off x="0" y="0"/>
          <a:ext cx="0" cy="0"/>
          <a:chOff x="0" y="0"/>
          <a:chExt cx="0" cy="0"/>
        </a:xfrm>
      </p:grpSpPr>
      <p:sp>
        <p:nvSpPr>
          <p:cNvPr id="1448" name="Google Shape;1448;g21a5d03fb9e_0_2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9" name="Google Shape;1449;g21a5d03fb9e_0_2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g21a5d03fb9e_0_2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0" name="Google Shape;1500;g21a5d03fb9e_0_2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33ebf2401f4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0" name="Google Shape;1510;g33ebf2401f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33f6f974bb3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33f6f974bb3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2e42b6117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2e42b6117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2"/>
        <p:cNvGrpSpPr/>
        <p:nvPr/>
      </p:nvGrpSpPr>
      <p:grpSpPr>
        <a:xfrm>
          <a:off x="0" y="0"/>
          <a:ext cx="0" cy="0"/>
          <a:chOff x="0" y="0"/>
          <a:chExt cx="0" cy="0"/>
        </a:xfrm>
      </p:grpSpPr>
      <p:sp>
        <p:nvSpPr>
          <p:cNvPr id="1623" name="Google Shape;1623;g33f6f974bb3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4" name="Google Shape;1624;g33f6f974bb3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33f6f974bb3_0_6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33f6f974bb3_0_6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33f6f974bb3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33f6f974bb3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g33f6f974bb3_0_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3" name="Google Shape;1763;g33f6f974bb3_0_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3"/>
        <p:cNvGrpSpPr/>
        <p:nvPr/>
      </p:nvGrpSpPr>
      <p:grpSpPr>
        <a:xfrm>
          <a:off x="0" y="0"/>
          <a:ext cx="0" cy="0"/>
          <a:chOff x="0" y="0"/>
          <a:chExt cx="0" cy="0"/>
        </a:xfrm>
      </p:grpSpPr>
      <p:sp>
        <p:nvSpPr>
          <p:cNvPr id="1834" name="Google Shape;1834;g33f6f974bb3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5" name="Google Shape;1835;g33f6f974bb3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1"/>
        <p:cNvGrpSpPr/>
        <p:nvPr/>
      </p:nvGrpSpPr>
      <p:grpSpPr>
        <a:xfrm>
          <a:off x="0" y="0"/>
          <a:ext cx="0" cy="0"/>
          <a:chOff x="0" y="0"/>
          <a:chExt cx="0" cy="0"/>
        </a:xfrm>
      </p:grpSpPr>
      <p:sp>
        <p:nvSpPr>
          <p:cNvPr id="1882" name="Google Shape;1882;g33f6f974bb3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3" name="Google Shape;1883;g33f6f974bb3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Pick B</a:t>
            </a:r>
          </a:p>
          <a:p>
            <a:r>
              <a:rPr lang="en-US" dirty="0"/>
              <a:t>At the end of </a:t>
            </a:r>
            <a:r>
              <a:rPr lang="en-US" b="1" dirty="0"/>
              <a:t>Iteration 4 (after selecting E)</a:t>
            </a:r>
            <a:r>
              <a:rPr lang="en-US" dirty="0"/>
              <a:t>, the current shortest known distances are:</a:t>
            </a:r>
          </a:p>
          <a:p>
            <a:r>
              <a:rPr lang="en-US" dirty="0"/>
              <a:t>B = </a:t>
            </a:r>
            <a:r>
              <a:rPr lang="en-US" b="1" dirty="0"/>
              <a:t>6</a:t>
            </a:r>
            <a:r>
              <a:rPr lang="en-US" dirty="0"/>
              <a:t> </a:t>
            </a:r>
          </a:p>
          <a:p>
            <a:r>
              <a:rPr lang="en-US" dirty="0"/>
              <a:t>G = </a:t>
            </a:r>
            <a:r>
              <a:rPr lang="en-US" b="1" dirty="0"/>
              <a:t>6</a:t>
            </a:r>
            <a:r>
              <a:rPr lang="en-US" dirty="0"/>
              <a:t> </a:t>
            </a:r>
          </a:p>
          <a:p>
            <a:r>
              <a:rPr lang="en-US" dirty="0"/>
              <a:t>F = </a:t>
            </a:r>
            <a:r>
              <a:rPr lang="en-US" b="1" dirty="0"/>
              <a:t>10</a:t>
            </a:r>
            <a:r>
              <a:rPr lang="en-US" dirty="0"/>
              <a:t> </a:t>
            </a:r>
          </a:p>
          <a:p>
            <a:r>
              <a:rPr lang="en-US" dirty="0"/>
              <a:t>H = ∞ </a:t>
            </a:r>
          </a:p>
          <a:p>
            <a:r>
              <a:rPr lang="en-US" dirty="0"/>
              <a:t>👉 The smallest </a:t>
            </a:r>
            <a:r>
              <a:rPr lang="en-US" sz="1600" b="1" dirty="0">
                <a:highlight>
                  <a:srgbClr val="FFFF00"/>
                </a:highlight>
              </a:rPr>
              <a:t>unvisited</a:t>
            </a:r>
            <a:r>
              <a:rPr lang="en-US" dirty="0"/>
              <a:t> distances are </a:t>
            </a:r>
            <a:r>
              <a:rPr lang="en-US" b="1" dirty="0"/>
              <a:t>B and G (both = 6)</a:t>
            </a:r>
            <a:endParaRPr lang="en-US" dirty="0"/>
          </a:p>
          <a:p>
            <a:pPr marL="0" lvl="0" indent="0" algn="l" rtl="0">
              <a:spcBef>
                <a:spcPts val="0"/>
              </a:spcBef>
              <a:spcAft>
                <a:spcPts val="0"/>
              </a:spcAft>
              <a:buNone/>
            </a:pPr>
            <a:endParaRPr lang="en-US" dirty="0"/>
          </a:p>
          <a:p>
            <a:r>
              <a:rPr lang="en-US" b="1" dirty="0"/>
              <a:t>🤔 So why pick B?</a:t>
            </a:r>
          </a:p>
          <a:p>
            <a:r>
              <a:rPr lang="en-US" b="1" dirty="0"/>
              <a:t>✔️ Key Rule in Dijkstra:</a:t>
            </a:r>
          </a:p>
          <a:p>
            <a:r>
              <a:rPr lang="en-US" dirty="0"/>
              <a:t>If there is a </a:t>
            </a:r>
            <a:r>
              <a:rPr lang="en-US" b="1" dirty="0"/>
              <a:t>tie</a:t>
            </a:r>
            <a:r>
              <a:rPr lang="en-US" dirty="0"/>
              <a:t>, you can pick </a:t>
            </a:r>
            <a:r>
              <a:rPr lang="en-US" b="1" dirty="0"/>
              <a:t>any</a:t>
            </a:r>
            <a:r>
              <a:rPr lang="en-US" dirty="0"/>
              <a:t> of the smallest-distance vertices.</a:t>
            </a:r>
          </a:p>
          <a:p>
            <a:r>
              <a:rPr lang="en-US" dirty="0"/>
              <a:t>So:</a:t>
            </a:r>
          </a:p>
          <a:p>
            <a:r>
              <a:rPr lang="en-US" dirty="0"/>
              <a:t>Picking </a:t>
            </a:r>
            <a:r>
              <a:rPr lang="en-US" b="1" dirty="0"/>
              <a:t>B</a:t>
            </a:r>
            <a:r>
              <a:rPr lang="en-US" dirty="0"/>
              <a:t> is valid ✅ </a:t>
            </a:r>
          </a:p>
          <a:p>
            <a:r>
              <a:rPr lang="en-US" dirty="0"/>
              <a:t>Picking </a:t>
            </a:r>
            <a:r>
              <a:rPr lang="en-US" b="1" dirty="0"/>
              <a:t>G first</a:t>
            </a:r>
            <a:r>
              <a:rPr lang="en-US" dirty="0"/>
              <a:t> would ALSO be valid ✅</a:t>
            </a:r>
          </a:p>
          <a:p>
            <a:pPr marL="0" lvl="0" indent="0" algn="l" rtl="0">
              <a:spcBef>
                <a:spcPts val="0"/>
              </a:spcBef>
              <a:spcAft>
                <a:spcPts val="0"/>
              </a:spcAft>
              <a:buNone/>
            </a:pPr>
            <a:endParaRPr lang="en-US" dirty="0"/>
          </a:p>
          <a:p>
            <a:r>
              <a:rPr lang="en-US" b="1" dirty="0"/>
              <a:t>💡 Key Concepts to Remember</a:t>
            </a:r>
          </a:p>
          <a:p>
            <a:r>
              <a:rPr lang="en-US" dirty="0"/>
              <a:t>Always pick </a:t>
            </a:r>
            <a:r>
              <a:rPr lang="en-US" b="1" dirty="0"/>
              <a:t>smallest unvisited distance</a:t>
            </a:r>
            <a:r>
              <a:rPr lang="en-US" dirty="0"/>
              <a:t> </a:t>
            </a:r>
          </a:p>
          <a:p>
            <a:r>
              <a:rPr lang="en-US" dirty="0"/>
              <a:t>Update neighbors if </a:t>
            </a:r>
            <a:r>
              <a:rPr lang="en-US" b="1" dirty="0"/>
              <a:t>shorter path found</a:t>
            </a:r>
            <a:r>
              <a:rPr lang="en-US" dirty="0"/>
              <a:t> </a:t>
            </a:r>
          </a:p>
          <a:p>
            <a:r>
              <a:rPr lang="en-US" dirty="0"/>
              <a:t>Keep track of </a:t>
            </a:r>
            <a:r>
              <a:rPr lang="en-US" b="1" dirty="0"/>
              <a:t>previous node (for path reconstruction)</a:t>
            </a:r>
            <a:r>
              <a:rPr lang="en-US" dirty="0"/>
              <a:t> </a:t>
            </a:r>
          </a:p>
          <a:p>
            <a:r>
              <a:rPr lang="en-US" dirty="0"/>
              <a:t>Table helps visualize </a:t>
            </a:r>
            <a:r>
              <a:rPr lang="en-US" b="1" dirty="0"/>
              <a:t>distance relaxation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6"/>
        <p:cNvGrpSpPr/>
        <p:nvPr/>
      </p:nvGrpSpPr>
      <p:grpSpPr>
        <a:xfrm>
          <a:off x="0" y="0"/>
          <a:ext cx="0" cy="0"/>
          <a:chOff x="0" y="0"/>
          <a:chExt cx="0" cy="0"/>
        </a:xfrm>
      </p:grpSpPr>
      <p:sp>
        <p:nvSpPr>
          <p:cNvPr id="1967" name="Google Shape;1967;g21a5d03fb9e_0_2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8" name="Google Shape;1968;g21a5d03fb9e_0_2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21a5d03fb9e_0_28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21a5d03fb9e_0_2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9"/>
        <p:cNvGrpSpPr/>
        <p:nvPr/>
      </p:nvGrpSpPr>
      <p:grpSpPr>
        <a:xfrm>
          <a:off x="0" y="0"/>
          <a:ext cx="0" cy="0"/>
          <a:chOff x="0" y="0"/>
          <a:chExt cx="0" cy="0"/>
        </a:xfrm>
      </p:grpSpPr>
      <p:sp>
        <p:nvSpPr>
          <p:cNvPr id="2010" name="Google Shape;2010;g21a5d03fb9e_0_28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1" name="Google Shape;2011;g21a5d03fb9e_0_28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g21a5d03fb9e_0_29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0" name="Google Shape;2020;g21a5d03fb9e_0_2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p:cNvGrpSpPr/>
        <p:nvPr/>
      </p:nvGrpSpPr>
      <p:grpSpPr>
        <a:xfrm>
          <a:off x="0" y="0"/>
          <a:ext cx="0" cy="0"/>
          <a:chOff x="0" y="0"/>
          <a:chExt cx="0" cy="0"/>
        </a:xfrm>
      </p:grpSpPr>
      <p:sp>
        <p:nvSpPr>
          <p:cNvPr id="2037" name="Google Shape;2037;g21a5d03fb9e_0_29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8" name="Google Shape;2038;g21a5d03fb9e_0_2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g21a5d03fb9e_0_29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3" name="Google Shape;2053;g21a5d03fb9e_0_29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5"/>
        <p:cNvGrpSpPr/>
        <p:nvPr/>
      </p:nvGrpSpPr>
      <p:grpSpPr>
        <a:xfrm>
          <a:off x="0" y="0"/>
          <a:ext cx="0" cy="0"/>
          <a:chOff x="0" y="0"/>
          <a:chExt cx="0" cy="0"/>
        </a:xfrm>
      </p:grpSpPr>
      <p:sp>
        <p:nvSpPr>
          <p:cNvPr id="2066" name="Google Shape;2066;g21a5d03fb9e_0_29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7" name="Google Shape;2067;g21a5d03fb9e_0_29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p:cNvGrpSpPr/>
        <p:nvPr/>
      </p:nvGrpSpPr>
      <p:grpSpPr>
        <a:xfrm>
          <a:off x="0" y="0"/>
          <a:ext cx="0" cy="0"/>
          <a:chOff x="0" y="0"/>
          <a:chExt cx="0" cy="0"/>
        </a:xfrm>
      </p:grpSpPr>
      <p:sp>
        <p:nvSpPr>
          <p:cNvPr id="2083" name="Google Shape;2083;g21a5d03fb9e_0_29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21a5d03fb9e_0_2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21a5d03fb9e_0_29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1a5d03fb9e_0_29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21a5d03fb9e_0_30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21a5d03fb9e_0_3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21a5d03fb9e_0_30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21a5d03fb9e_0_3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9"/>
        <p:cNvGrpSpPr/>
        <p:nvPr/>
      </p:nvGrpSpPr>
      <p:grpSpPr>
        <a:xfrm>
          <a:off x="0" y="0"/>
          <a:ext cx="0" cy="0"/>
          <a:chOff x="0" y="0"/>
          <a:chExt cx="0" cy="0"/>
        </a:xfrm>
      </p:grpSpPr>
      <p:sp>
        <p:nvSpPr>
          <p:cNvPr id="2150" name="Google Shape;2150;g21a5d03fb9e_0_30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1" name="Google Shape;2151;g21a5d03fb9e_0_3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0"/>
        <p:cNvGrpSpPr/>
        <p:nvPr/>
      </p:nvGrpSpPr>
      <p:grpSpPr>
        <a:xfrm>
          <a:off x="0" y="0"/>
          <a:ext cx="0" cy="0"/>
          <a:chOff x="0" y="0"/>
          <a:chExt cx="0" cy="0"/>
        </a:xfrm>
      </p:grpSpPr>
      <p:sp>
        <p:nvSpPr>
          <p:cNvPr id="2161" name="Google Shape;2161;g21a5d03fb9e_0_30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2" name="Google Shape;2162;g21a5d03fb9e_0_3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4"/>
        <p:cNvGrpSpPr/>
        <p:nvPr/>
      </p:nvGrpSpPr>
      <p:grpSpPr>
        <a:xfrm>
          <a:off x="0" y="0"/>
          <a:ext cx="0" cy="0"/>
          <a:chOff x="0" y="0"/>
          <a:chExt cx="0" cy="0"/>
        </a:xfrm>
      </p:grpSpPr>
      <p:sp>
        <p:nvSpPr>
          <p:cNvPr id="2195" name="Google Shape;2195;g21a5d03fb9e_0_30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6" name="Google Shape;2196;g21a5d03fb9e_0_30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good time to mention that "Collection" is the parent interface for Lists and Sets.</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5"/>
        <p:cNvGrpSpPr/>
        <p:nvPr/>
      </p:nvGrpSpPr>
      <p:grpSpPr>
        <a:xfrm>
          <a:off x="0" y="0"/>
          <a:ext cx="0" cy="0"/>
          <a:chOff x="0" y="0"/>
          <a:chExt cx="0" cy="0"/>
        </a:xfrm>
      </p:grpSpPr>
      <p:sp>
        <p:nvSpPr>
          <p:cNvPr id="2206" name="Google Shape;2206;g21f3546926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7" name="Google Shape;2207;g21f354692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21f35469265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4" name="Google Shape;2214;g21f3546926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2e42b6117f0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2e42b6117f0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g21a5d03fb9e_0_30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9" name="Google Shape;2249;g21a5d03fb9e_0_30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7"/>
        <p:cNvGrpSpPr/>
        <p:nvPr/>
      </p:nvGrpSpPr>
      <p:grpSpPr>
        <a:xfrm>
          <a:off x="0" y="0"/>
          <a:ext cx="0" cy="0"/>
          <a:chOff x="0" y="0"/>
          <a:chExt cx="0" cy="0"/>
        </a:xfrm>
      </p:grpSpPr>
      <p:sp>
        <p:nvSpPr>
          <p:cNvPr id="2258" name="Google Shape;2258;g21a5d03fb9e_0_35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9" name="Google Shape;2259;g21a5d03fb9e_0_3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1"/>
        <p:cNvGrpSpPr/>
        <p:nvPr/>
      </p:nvGrpSpPr>
      <p:grpSpPr>
        <a:xfrm>
          <a:off x="0" y="0"/>
          <a:ext cx="0" cy="0"/>
          <a:chOff x="0" y="0"/>
          <a:chExt cx="0" cy="0"/>
        </a:xfrm>
      </p:grpSpPr>
      <p:sp>
        <p:nvSpPr>
          <p:cNvPr id="2272" name="Google Shape;2272;g21a5d03fb9e_0_3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3" name="Google Shape;2273;g21a5d03fb9e_0_3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g21a5d03fb9e_0_3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4" name="Google Shape;2284;g21a5d03fb9e_0_3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3"/>
        <p:cNvGrpSpPr/>
        <p:nvPr/>
      </p:nvGrpSpPr>
      <p:grpSpPr>
        <a:xfrm>
          <a:off x="0" y="0"/>
          <a:ext cx="0" cy="0"/>
          <a:chOff x="0" y="0"/>
          <a:chExt cx="0" cy="0"/>
        </a:xfrm>
      </p:grpSpPr>
      <p:sp>
        <p:nvSpPr>
          <p:cNvPr id="2294" name="Google Shape;2294;g21a5d03fb9e_0_3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5" name="Google Shape;2295;g21a5d03fb9e_0_3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0"/>
        <p:cNvGrpSpPr/>
        <p:nvPr/>
      </p:nvGrpSpPr>
      <p:grpSpPr>
        <a:xfrm>
          <a:off x="0" y="0"/>
          <a:ext cx="0" cy="0"/>
          <a:chOff x="0" y="0"/>
          <a:chExt cx="0" cy="0"/>
        </a:xfrm>
      </p:grpSpPr>
      <p:sp>
        <p:nvSpPr>
          <p:cNvPr id="2311" name="Google Shape;2311;g21a5d03fb9e_0_3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2" name="Google Shape;2312;g21a5d03fb9e_0_3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21a5d03fb9e_0_3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21a5d03fb9e_0_3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4"/>
        <p:cNvGrpSpPr/>
        <p:nvPr/>
      </p:nvGrpSpPr>
      <p:grpSpPr>
        <a:xfrm>
          <a:off x="0" y="0"/>
          <a:ext cx="0" cy="0"/>
          <a:chOff x="0" y="0"/>
          <a:chExt cx="0" cy="0"/>
        </a:xfrm>
      </p:grpSpPr>
      <p:sp>
        <p:nvSpPr>
          <p:cNvPr id="2385" name="Google Shape;2385;g21a5d03fb9e_0_3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6" name="Google Shape;2386;g21a5d03fb9e_0_3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3"/>
        <p:cNvGrpSpPr/>
        <p:nvPr/>
      </p:nvGrpSpPr>
      <p:grpSpPr>
        <a:xfrm>
          <a:off x="0" y="0"/>
          <a:ext cx="0" cy="0"/>
          <a:chOff x="0" y="0"/>
          <a:chExt cx="0" cy="0"/>
        </a:xfrm>
      </p:grpSpPr>
      <p:sp>
        <p:nvSpPr>
          <p:cNvPr id="2404" name="Google Shape;2404;g21a5d03fb9e_0_3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5" name="Google Shape;2405;g21a5d03fb9e_0_3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3"/>
        <p:cNvGrpSpPr/>
        <p:nvPr/>
      </p:nvGrpSpPr>
      <p:grpSpPr>
        <a:xfrm>
          <a:off x="0" y="0"/>
          <a:ext cx="0" cy="0"/>
          <a:chOff x="0" y="0"/>
          <a:chExt cx="0" cy="0"/>
        </a:xfrm>
      </p:grpSpPr>
      <p:sp>
        <p:nvSpPr>
          <p:cNvPr id="2414" name="Google Shape;2414;g21a5d03fb9e_0_3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5" name="Google Shape;2415;g21a5d03fb9e_0_3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g21a5d03fb9e_0_3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7" name="Google Shape;2427;g21a5d03fb9e_0_3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9"/>
        <p:cNvGrpSpPr/>
        <p:nvPr/>
      </p:nvGrpSpPr>
      <p:grpSpPr>
        <a:xfrm>
          <a:off x="0" y="0"/>
          <a:ext cx="0" cy="0"/>
          <a:chOff x="0" y="0"/>
          <a:chExt cx="0" cy="0"/>
        </a:xfrm>
      </p:grpSpPr>
      <p:sp>
        <p:nvSpPr>
          <p:cNvPr id="2440" name="Google Shape;2440;g21a5d03fb9e_0_3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1" name="Google Shape;2441;g21a5d03fb9e_0_3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g21a5d03fb9e_0_3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3" name="Google Shape;2453;g21a5d03fb9e_0_3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2"/>
        <p:cNvGrpSpPr/>
        <p:nvPr/>
      </p:nvGrpSpPr>
      <p:grpSpPr>
        <a:xfrm>
          <a:off x="0" y="0"/>
          <a:ext cx="0" cy="0"/>
          <a:chOff x="0" y="0"/>
          <a:chExt cx="0" cy="0"/>
        </a:xfrm>
      </p:grpSpPr>
      <p:sp>
        <p:nvSpPr>
          <p:cNvPr id="2463" name="Google Shape;2463;g21a5d03fb9e_0_3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4" name="Google Shape;2464;g21a5d03fb9e_0_3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2"/>
        <p:cNvGrpSpPr/>
        <p:nvPr/>
      </p:nvGrpSpPr>
      <p:grpSpPr>
        <a:xfrm>
          <a:off x="0" y="0"/>
          <a:ext cx="0" cy="0"/>
          <a:chOff x="0" y="0"/>
          <a:chExt cx="0" cy="0"/>
        </a:xfrm>
      </p:grpSpPr>
      <p:sp>
        <p:nvSpPr>
          <p:cNvPr id="2473" name="Google Shape;2473;g21a5d03fb9e_0_3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4" name="Google Shape;2474;g21a5d03fb9e_0_3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2"/>
        <p:cNvGrpSpPr/>
        <p:nvPr/>
      </p:nvGrpSpPr>
      <p:grpSpPr>
        <a:xfrm>
          <a:off x="0" y="0"/>
          <a:ext cx="0" cy="0"/>
          <a:chOff x="0" y="0"/>
          <a:chExt cx="0" cy="0"/>
        </a:xfrm>
      </p:grpSpPr>
      <p:sp>
        <p:nvSpPr>
          <p:cNvPr id="2483" name="Google Shape;2483;g8b6744271a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4" name="Google Shape;2484;g8b6744271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sp>
        <p:nvSpPr>
          <p:cNvPr id="74" name="Google Shape;74;p1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78"/>
        <p:cNvGrpSpPr/>
        <p:nvPr/>
      </p:nvGrpSpPr>
      <p:grpSpPr>
        <a:xfrm>
          <a:off x="0" y="0"/>
          <a:ext cx="0" cy="0"/>
          <a:chOff x="0" y="0"/>
          <a:chExt cx="0" cy="0"/>
        </a:xfrm>
      </p:grpSpPr>
      <p:sp>
        <p:nvSpPr>
          <p:cNvPr id="79" name="Google Shape;79;p1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1" name="Google Shape;81;p1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2" name="Google Shape;82;p1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3" name="Google Shape;83;p1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5" name="Google Shape;85;p1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7" name="Google Shape;87;p1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88"/>
        <p:cNvGrpSpPr/>
        <p:nvPr/>
      </p:nvGrpSpPr>
      <p:grpSpPr>
        <a:xfrm>
          <a:off x="0" y="0"/>
          <a:ext cx="0" cy="0"/>
          <a:chOff x="0" y="0"/>
          <a:chExt cx="0" cy="0"/>
        </a:xfrm>
      </p:grpSpPr>
      <p:sp>
        <p:nvSpPr>
          <p:cNvPr id="89" name="Google Shape;89;p1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2" name="Google Shape;9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5">
  <p:cSld name="TITLE_AND_BODY_5">
    <p:spTree>
      <p:nvGrpSpPr>
        <p:cNvPr id="1" name="Shape 93"/>
        <p:cNvGrpSpPr/>
        <p:nvPr/>
      </p:nvGrpSpPr>
      <p:grpSpPr>
        <a:xfrm>
          <a:off x="0" y="0"/>
          <a:ext cx="0" cy="0"/>
          <a:chOff x="0" y="0"/>
          <a:chExt cx="0" cy="0"/>
        </a:xfrm>
      </p:grpSpPr>
      <p:sp>
        <p:nvSpPr>
          <p:cNvPr id="94" name="Google Shape;94;p1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7" name="Google Shape;9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www.amazon.com/Advent-Algorithm-300-Year-Journey-Computer/dp/1511318147" TargetMode="External"/><Relationship Id="rId4" Type="http://schemas.openxmlformats.org/officeDocument/2006/relationships/hyperlink" Target="https://en.wikipedia.org/wiki/David_Berlinski"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GRASP_(object-oriented_design)"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hyperlink" Target="https://en.wikipedia.org/wiki/Craig_Larman"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AKiq3JxCVi4"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en/java/javase/15/docs/api/java.base/java/util/PriorityQueue.html" TargetMode="External"/><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0.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3.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1.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9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2.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9.xml"/><Relationship Id="rId1" Type="http://schemas.openxmlformats.org/officeDocument/2006/relationships/slideLayout" Target="../slideLayouts/slideLayout4.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103" name="Google Shape;103;p19"/>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13: Algorithms</a:t>
            </a:r>
            <a:endParaRPr sz="2600" i="1">
              <a:solidFill>
                <a:srgbClr val="FF0000"/>
              </a:solidFill>
            </a:endParaRPr>
          </a:p>
        </p:txBody>
      </p:sp>
      <p:grpSp>
        <p:nvGrpSpPr>
          <p:cNvPr id="104" name="Google Shape;104;p19"/>
          <p:cNvGrpSpPr/>
          <p:nvPr/>
        </p:nvGrpSpPr>
        <p:grpSpPr>
          <a:xfrm>
            <a:off x="5001999" y="4264475"/>
            <a:ext cx="3908400" cy="738300"/>
            <a:chOff x="5001999" y="4264475"/>
            <a:chExt cx="3908400" cy="738300"/>
          </a:xfrm>
        </p:grpSpPr>
        <p:sp>
          <p:nvSpPr>
            <p:cNvPr id="105" name="Google Shape;105;p19"/>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6" name="Google Shape;106;p19"/>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Week: Team Project</a:t>
            </a:r>
            <a:endParaRPr/>
          </a:p>
        </p:txBody>
      </p:sp>
      <p:sp>
        <p:nvSpPr>
          <p:cNvPr id="112" name="Google Shape;11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13" name="Google Shape;113;p20"/>
          <p:cNvSpPr txBox="1"/>
          <p:nvPr/>
        </p:nvSpPr>
        <p:spPr>
          <a:xfrm>
            <a:off x="4873450" y="4270875"/>
            <a:ext cx="3827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Next week we will begin the </a:t>
            </a:r>
            <a:r>
              <a:rPr lang="en" sz="1200" b="1" i="1">
                <a:solidFill>
                  <a:srgbClr val="FF0000"/>
                </a:solidFill>
              </a:rPr>
              <a:t>team project</a:t>
            </a:r>
            <a:r>
              <a:rPr lang="en" sz="1200"/>
              <a:t>. Your instructor will provide details about how your teams will be formed.</a:t>
            </a:r>
            <a:endParaRPr sz="1200"/>
          </a:p>
        </p:txBody>
      </p:sp>
      <p:pic>
        <p:nvPicPr>
          <p:cNvPr id="114" name="Google Shape;114;p20"/>
          <p:cNvPicPr preferRelativeResize="0"/>
          <p:nvPr/>
        </p:nvPicPr>
        <p:blipFill rotWithShape="1">
          <a:blip r:embed="rId3">
            <a:alphaModFix/>
          </a:blip>
          <a:srcRect/>
          <a:stretch/>
        </p:blipFill>
        <p:spPr>
          <a:xfrm>
            <a:off x="4873450" y="1442199"/>
            <a:ext cx="3827723" cy="2705078"/>
          </a:xfrm>
          <a:prstGeom prst="rect">
            <a:avLst/>
          </a:prstGeom>
          <a:noFill/>
          <a:ln w="19050" cap="flat" cmpd="sng">
            <a:solidFill>
              <a:srgbClr val="666666"/>
            </a:solidFill>
            <a:prstDash val="solid"/>
            <a:round/>
            <a:headEnd type="none" w="sm" len="sm"/>
            <a:tailEnd type="none" w="sm" len="sm"/>
          </a:ln>
        </p:spPr>
      </p:pic>
      <p:sp>
        <p:nvSpPr>
          <p:cNvPr id="115" name="Google Shape;115;p20"/>
          <p:cNvSpPr txBox="1">
            <a:spLocks noGrp="1"/>
          </p:cNvSpPr>
          <p:nvPr>
            <p:ph type="body" idx="4294967295"/>
          </p:nvPr>
        </p:nvSpPr>
        <p:spPr>
          <a:xfrm>
            <a:off x="235525" y="1366000"/>
            <a:ext cx="4323900" cy="3694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Some software tasks are too large and complex for an individual software engineer to complete them alone in a reasonable amount of time.</a:t>
            </a:r>
            <a:endParaRPr/>
          </a:p>
          <a:p>
            <a:pPr marL="457200" lvl="0" indent="-311150" algn="l" rtl="0">
              <a:spcBef>
                <a:spcPts val="0"/>
              </a:spcBef>
              <a:spcAft>
                <a:spcPts val="0"/>
              </a:spcAft>
              <a:buSzPts val="1300"/>
              <a:buChar char="●"/>
            </a:pPr>
            <a:r>
              <a:rPr lang="en"/>
              <a:t>It is usually the case that a team of software engineers will work together on large scale projects.</a:t>
            </a:r>
            <a:endParaRPr/>
          </a:p>
          <a:p>
            <a:pPr marL="457200" lvl="0" indent="-311150" algn="l" rtl="0">
              <a:spcBef>
                <a:spcPts val="0"/>
              </a:spcBef>
              <a:spcAft>
                <a:spcPts val="0"/>
              </a:spcAft>
              <a:buSzPts val="1300"/>
              <a:buChar char="●"/>
            </a:pPr>
            <a:r>
              <a:rPr lang="en"/>
              <a:t>The team collaborate on all phases of the project.</a:t>
            </a:r>
            <a:endParaRPr/>
          </a:p>
          <a:p>
            <a:pPr marL="914400" lvl="1" indent="-298450" algn="l" rtl="0">
              <a:spcBef>
                <a:spcPts val="0"/>
              </a:spcBef>
              <a:spcAft>
                <a:spcPts val="0"/>
              </a:spcAft>
              <a:buSzPts val="1100"/>
              <a:buChar char="○"/>
            </a:pPr>
            <a:r>
              <a:rPr lang="en"/>
              <a:t>Design</a:t>
            </a:r>
            <a:endParaRPr/>
          </a:p>
          <a:p>
            <a:pPr marL="914400" lvl="1" indent="-298450" algn="l" rtl="0">
              <a:spcBef>
                <a:spcPts val="0"/>
              </a:spcBef>
              <a:spcAft>
                <a:spcPts val="0"/>
              </a:spcAft>
              <a:buSzPts val="1100"/>
              <a:buChar char="○"/>
            </a:pPr>
            <a:r>
              <a:rPr lang="en"/>
              <a:t>Implementation</a:t>
            </a:r>
            <a:endParaRPr/>
          </a:p>
          <a:p>
            <a:pPr marL="914400" lvl="1" indent="-298450" algn="l" rtl="0">
              <a:spcBef>
                <a:spcPts val="0"/>
              </a:spcBef>
              <a:spcAft>
                <a:spcPts val="0"/>
              </a:spcAft>
              <a:buSzPts val="1100"/>
              <a:buChar char="○"/>
            </a:pPr>
            <a:r>
              <a:rPr lang="en"/>
              <a:t>Testing</a:t>
            </a:r>
            <a:endParaRPr/>
          </a:p>
          <a:p>
            <a:pPr marL="457200" lvl="0" indent="-311150" algn="l" rtl="0">
              <a:spcBef>
                <a:spcPts val="0"/>
              </a:spcBef>
              <a:spcAft>
                <a:spcPts val="0"/>
              </a:spcAft>
              <a:buSzPts val="1300"/>
              <a:buChar char="●"/>
            </a:pPr>
            <a:r>
              <a:rPr lang="en"/>
              <a:t>Working on a team also presents challenges that you will not generally face when working alone.</a:t>
            </a:r>
            <a:endParaRPr/>
          </a:p>
          <a:p>
            <a:pPr marL="914400" lvl="1" indent="-298450" algn="l" rtl="0">
              <a:spcBef>
                <a:spcPts val="0"/>
              </a:spcBef>
              <a:spcAft>
                <a:spcPts val="0"/>
              </a:spcAft>
              <a:buSzPts val="1100"/>
              <a:buChar char="○"/>
            </a:pPr>
            <a:r>
              <a:rPr lang="en"/>
              <a:t>Including the dreaded </a:t>
            </a:r>
            <a:r>
              <a:rPr lang="en" b="1" i="1">
                <a:solidFill>
                  <a:srgbClr val="FF0000"/>
                </a:solidFill>
              </a:rPr>
              <a:t>merge conflict</a:t>
            </a:r>
            <a:r>
              <a:rPr lang="en"/>
              <a:t>.</a:t>
            </a:r>
            <a:endParaRPr/>
          </a:p>
          <a:p>
            <a:pPr marL="457200" lvl="0" indent="-311150" algn="l" rtl="0">
              <a:spcBef>
                <a:spcPts val="0"/>
              </a:spcBef>
              <a:spcAft>
                <a:spcPts val="0"/>
              </a:spcAft>
              <a:buSzPts val="1300"/>
              <a:buChar char="●"/>
            </a:pPr>
            <a:r>
              <a:rPr lang="en"/>
              <a:t>In support of this, you will be working with 2-3 other students on a team project beginning next week.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1"/>
          <p:cNvPicPr preferRelativeResize="0"/>
          <p:nvPr/>
        </p:nvPicPr>
        <p:blipFill>
          <a:blip r:embed="rId3">
            <a:alphaModFix/>
          </a:blip>
          <a:stretch>
            <a:fillRect/>
          </a:stretch>
        </p:blipFill>
        <p:spPr>
          <a:xfrm>
            <a:off x="228600" y="1062825"/>
            <a:ext cx="2567426" cy="2384626"/>
          </a:xfrm>
          <a:prstGeom prst="rect">
            <a:avLst/>
          </a:prstGeom>
          <a:noFill/>
          <a:ln>
            <a:noFill/>
          </a:ln>
        </p:spPr>
      </p:pic>
      <p:sp>
        <p:nvSpPr>
          <p:cNvPr id="121" name="Google Shape;121;p21"/>
          <p:cNvSpPr txBox="1">
            <a:spLocks noGrp="1"/>
          </p:cNvSpPr>
          <p:nvPr>
            <p:ph type="title"/>
          </p:nvPr>
        </p:nvSpPr>
        <p:spPr>
          <a:xfrm>
            <a:off x="3117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Overview of the Week</a:t>
            </a:r>
            <a:endParaRPr sz="2600"/>
          </a:p>
        </p:txBody>
      </p:sp>
      <p:sp>
        <p:nvSpPr>
          <p:cNvPr id="122" name="Google Shape;122;p21"/>
          <p:cNvSpPr txBox="1">
            <a:spLocks noGrp="1"/>
          </p:cNvSpPr>
          <p:nvPr>
            <p:ph type="body" idx="1"/>
          </p:nvPr>
        </p:nvSpPr>
        <p:spPr>
          <a:xfrm>
            <a:off x="4492275" y="196125"/>
            <a:ext cx="4452600" cy="4588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We have spent the better part of two semesters implementing a </a:t>
            </a:r>
            <a:r>
              <a:rPr lang="en" dirty="0">
                <a:highlight>
                  <a:srgbClr val="FFFF00"/>
                </a:highlight>
              </a:rPr>
              <a:t>variety of </a:t>
            </a:r>
            <a:r>
              <a:rPr lang="en" b="1" i="1" dirty="0">
                <a:solidFill>
                  <a:srgbClr val="FF0000"/>
                </a:solidFill>
                <a:highlight>
                  <a:srgbClr val="FFFF00"/>
                </a:highlight>
              </a:rPr>
              <a:t>algorithms</a:t>
            </a:r>
            <a:r>
              <a:rPr lang="en" dirty="0"/>
              <a:t>. In this unit we will spend more time exploring exactly what an algorithm is.</a:t>
            </a:r>
            <a:endParaRPr dirty="0"/>
          </a:p>
          <a:p>
            <a:pPr marL="914400" lvl="1" indent="-298450" algn="l" rtl="0">
              <a:spcBef>
                <a:spcPts val="0"/>
              </a:spcBef>
              <a:spcAft>
                <a:spcPts val="0"/>
              </a:spcAft>
              <a:buSzPts val="1100"/>
              <a:buChar char="○"/>
            </a:pPr>
            <a:r>
              <a:rPr lang="en" dirty="0"/>
              <a:t>How to apply an </a:t>
            </a:r>
            <a:r>
              <a:rPr lang="en" b="1" i="1" dirty="0">
                <a:solidFill>
                  <a:srgbClr val="FF0000"/>
                </a:solidFill>
              </a:rPr>
              <a:t>algorithmic approach</a:t>
            </a:r>
            <a:r>
              <a:rPr lang="en" dirty="0"/>
              <a:t> to problem solving.</a:t>
            </a:r>
            <a:endParaRPr dirty="0"/>
          </a:p>
          <a:p>
            <a:pPr marL="914400" lvl="1" indent="-298450" algn="l" rtl="0">
              <a:spcBef>
                <a:spcPts val="0"/>
              </a:spcBef>
              <a:spcAft>
                <a:spcPts val="0"/>
              </a:spcAft>
              <a:buSzPts val="1100"/>
              <a:buChar char="○"/>
            </a:pPr>
            <a:r>
              <a:rPr lang="en" dirty="0"/>
              <a:t>How to capture </a:t>
            </a:r>
            <a:r>
              <a:rPr lang="en" dirty="0">
                <a:highlight>
                  <a:srgbClr val="FFFF00"/>
                </a:highlight>
              </a:rPr>
              <a:t>algorithms quickly using </a:t>
            </a:r>
            <a:r>
              <a:rPr lang="en" b="1" i="1" dirty="0">
                <a:solidFill>
                  <a:srgbClr val="FF0000"/>
                </a:solidFill>
                <a:highlight>
                  <a:srgbClr val="FFFF00"/>
                </a:highlight>
              </a:rPr>
              <a:t>pseudocode</a:t>
            </a:r>
            <a:r>
              <a:rPr lang="en" dirty="0"/>
              <a:t>.</a:t>
            </a:r>
            <a:endParaRPr dirty="0"/>
          </a:p>
          <a:p>
            <a:pPr marL="914400" lvl="1" indent="-298450" algn="l" rtl="0">
              <a:spcBef>
                <a:spcPts val="0"/>
              </a:spcBef>
              <a:spcAft>
                <a:spcPts val="0"/>
              </a:spcAft>
              <a:buSzPts val="1100"/>
              <a:buChar char="○"/>
            </a:pPr>
            <a:r>
              <a:rPr lang="en" dirty="0"/>
              <a:t>A few very </a:t>
            </a:r>
            <a:r>
              <a:rPr lang="en" b="1" i="1" dirty="0">
                <a:solidFill>
                  <a:srgbClr val="FF0000"/>
                </a:solidFill>
              </a:rPr>
              <a:t>well known algorithms</a:t>
            </a:r>
            <a:r>
              <a:rPr lang="en" dirty="0"/>
              <a:t> in computer science.</a:t>
            </a:r>
            <a:endParaRPr dirty="0"/>
          </a:p>
          <a:p>
            <a:pPr marL="457200" lvl="0" indent="-311150" algn="l" rtl="0">
              <a:spcBef>
                <a:spcPts val="1000"/>
              </a:spcBef>
              <a:spcAft>
                <a:spcPts val="0"/>
              </a:spcAft>
              <a:buSzPts val="1300"/>
              <a:buChar char="●"/>
            </a:pPr>
            <a:r>
              <a:rPr lang="en" dirty="0"/>
              <a:t>Specifically, we will explore:</a:t>
            </a:r>
            <a:endParaRPr dirty="0"/>
          </a:p>
          <a:p>
            <a:pPr marL="914400" lvl="1" indent="-298450" algn="l" rtl="0">
              <a:spcBef>
                <a:spcPts val="0"/>
              </a:spcBef>
              <a:spcAft>
                <a:spcPts val="0"/>
              </a:spcAft>
              <a:buSzPts val="1100"/>
              <a:buChar char="○"/>
            </a:pPr>
            <a:r>
              <a:rPr lang="en" dirty="0"/>
              <a:t>Algorithms &amp; Pseudocode</a:t>
            </a:r>
            <a:endParaRPr dirty="0"/>
          </a:p>
          <a:p>
            <a:pPr marL="914400" lvl="1" indent="-298450" algn="l" rtl="0">
              <a:spcBef>
                <a:spcPts val="0"/>
              </a:spcBef>
              <a:spcAft>
                <a:spcPts val="0"/>
              </a:spcAft>
              <a:buSzPts val="1100"/>
              <a:buChar char="○"/>
            </a:pPr>
            <a:r>
              <a:rPr lang="en" dirty="0"/>
              <a:t>Algorithmic Problem Solving</a:t>
            </a:r>
            <a:endParaRPr dirty="0"/>
          </a:p>
          <a:p>
            <a:pPr marL="914400" lvl="1" indent="-298450" algn="l" rtl="0">
              <a:spcBef>
                <a:spcPts val="0"/>
              </a:spcBef>
              <a:spcAft>
                <a:spcPts val="0"/>
              </a:spcAft>
              <a:buSzPts val="1100"/>
              <a:buChar char="○"/>
            </a:pPr>
            <a:r>
              <a:rPr lang="en" dirty="0">
                <a:highlight>
                  <a:srgbClr val="FFFF00"/>
                </a:highlight>
              </a:rPr>
              <a:t>Greedy Algorithms</a:t>
            </a:r>
            <a:endParaRPr dirty="0">
              <a:highlight>
                <a:srgbClr val="FFFF00"/>
              </a:highlight>
            </a:endParaRPr>
          </a:p>
          <a:p>
            <a:pPr marL="1371600" lvl="2" indent="-298450" algn="l" rtl="0">
              <a:spcBef>
                <a:spcPts val="0"/>
              </a:spcBef>
              <a:spcAft>
                <a:spcPts val="0"/>
              </a:spcAft>
              <a:buSzPts val="1100"/>
              <a:buChar char="■"/>
            </a:pPr>
            <a:r>
              <a:rPr lang="en" dirty="0"/>
              <a:t>Change Making</a:t>
            </a:r>
            <a:endParaRPr dirty="0"/>
          </a:p>
          <a:p>
            <a:pPr marL="1371600" lvl="2" indent="-298450" algn="l" rtl="0">
              <a:spcBef>
                <a:spcPts val="0"/>
              </a:spcBef>
              <a:spcAft>
                <a:spcPts val="0"/>
              </a:spcAft>
              <a:buSzPts val="1100"/>
              <a:buChar char="■"/>
            </a:pPr>
            <a:r>
              <a:rPr lang="en" dirty="0"/>
              <a:t>Nearest Neighbor</a:t>
            </a:r>
            <a:endParaRPr dirty="0"/>
          </a:p>
          <a:p>
            <a:pPr marL="914400" lvl="1" indent="-298450" algn="l" rtl="0">
              <a:spcBef>
                <a:spcPts val="0"/>
              </a:spcBef>
              <a:spcAft>
                <a:spcPts val="0"/>
              </a:spcAft>
              <a:buSzPts val="1100"/>
              <a:buChar char="○"/>
            </a:pPr>
            <a:r>
              <a:rPr lang="en" dirty="0">
                <a:highlight>
                  <a:srgbClr val="FFFF00"/>
                </a:highlight>
              </a:rPr>
              <a:t>Dijkstra's</a:t>
            </a:r>
            <a:r>
              <a:rPr lang="en" dirty="0"/>
              <a:t> Algorithm</a:t>
            </a:r>
            <a:endParaRPr dirty="0"/>
          </a:p>
          <a:p>
            <a:pPr marL="914400" lvl="1" indent="-298450" algn="l" rtl="0">
              <a:spcBef>
                <a:spcPts val="0"/>
              </a:spcBef>
              <a:spcAft>
                <a:spcPts val="0"/>
              </a:spcAft>
              <a:buSzPts val="1100"/>
              <a:buChar char="○"/>
            </a:pPr>
            <a:r>
              <a:rPr lang="en" dirty="0">
                <a:highlight>
                  <a:srgbClr val="FFFF00"/>
                </a:highlight>
              </a:rPr>
              <a:t>Backtracking</a:t>
            </a:r>
            <a:endParaRPr dirty="0">
              <a:highlight>
                <a:srgbClr val="FFFF00"/>
              </a:highlight>
            </a:endParaRPr>
          </a:p>
          <a:p>
            <a:pPr marL="457200" lvl="0" indent="-311150" algn="l" rtl="0">
              <a:spcBef>
                <a:spcPts val="1000"/>
              </a:spcBef>
              <a:spcAft>
                <a:spcPts val="0"/>
              </a:spcAft>
              <a:buSzPts val="1300"/>
              <a:buChar char="●"/>
            </a:pPr>
            <a:r>
              <a:rPr lang="en" dirty="0"/>
              <a:t>To begin, we will focus on an </a:t>
            </a:r>
            <a:r>
              <a:rPr lang="en" b="1" i="1" dirty="0">
                <a:solidFill>
                  <a:srgbClr val="FF0000"/>
                </a:solidFill>
              </a:rPr>
              <a:t>algorithmic approach</a:t>
            </a:r>
            <a:r>
              <a:rPr lang="en" dirty="0"/>
              <a:t> problem solving, describing algorithms using </a:t>
            </a:r>
            <a:r>
              <a:rPr lang="en" b="1" i="1" dirty="0">
                <a:solidFill>
                  <a:srgbClr val="FF0000"/>
                </a:solidFill>
                <a:highlight>
                  <a:srgbClr val="FFFF00"/>
                </a:highlight>
              </a:rPr>
              <a:t>pseudocode</a:t>
            </a:r>
            <a:r>
              <a:rPr lang="en" dirty="0"/>
              <a:t>, and </a:t>
            </a:r>
            <a:r>
              <a:rPr lang="en" b="1" i="1" dirty="0">
                <a:solidFill>
                  <a:srgbClr val="FF0000"/>
                </a:solidFill>
                <a:highlight>
                  <a:srgbClr val="FFFF00"/>
                </a:highlight>
              </a:rPr>
              <a:t>greedy algorithms</a:t>
            </a:r>
            <a:r>
              <a:rPr lang="en" dirty="0">
                <a:highlight>
                  <a:srgbClr val="FFFF00"/>
                </a:highlight>
              </a:rPr>
              <a:t>.</a:t>
            </a:r>
            <a:endParaRPr dirty="0">
              <a:highlight>
                <a:srgbClr val="FFFF00"/>
              </a:highlight>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124" name="Google Shape;124;p21"/>
          <p:cNvSpPr txBox="1">
            <a:spLocks noGrp="1"/>
          </p:cNvSpPr>
          <p:nvPr>
            <p:ph type="body" idx="3"/>
          </p:nvPr>
        </p:nvSpPr>
        <p:spPr>
          <a:xfrm>
            <a:off x="260425" y="4069533"/>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We will try to answer questions like </a:t>
            </a:r>
            <a:r>
              <a:rPr lang="en" i="1"/>
              <a:t>"Can I fit </a:t>
            </a:r>
            <a:r>
              <a:rPr lang="en" b="1" i="1">
                <a:solidFill>
                  <a:srgbClr val="FF0000"/>
                </a:solidFill>
              </a:rPr>
              <a:t>8 queens</a:t>
            </a:r>
            <a:r>
              <a:rPr lang="en" i="1"/>
              <a:t> on an 8x8 chessboard?"</a:t>
            </a:r>
            <a:r>
              <a:rPr lang="en"/>
              <a:t> and </a:t>
            </a:r>
            <a:r>
              <a:rPr lang="en" i="1"/>
              <a:t>"What is the </a:t>
            </a:r>
            <a:r>
              <a:rPr lang="en" b="1" i="1">
                <a:solidFill>
                  <a:srgbClr val="FF0000"/>
                </a:solidFill>
              </a:rPr>
              <a:t>lowest cost path</a:t>
            </a:r>
            <a:r>
              <a:rPr lang="en" i="1"/>
              <a:t> between two vertices in a weighted graph?"</a:t>
            </a:r>
            <a:endParaRPr sz="1200" i="1"/>
          </a:p>
        </p:txBody>
      </p:sp>
      <p:pic>
        <p:nvPicPr>
          <p:cNvPr id="125" name="Google Shape;125;p21"/>
          <p:cNvPicPr preferRelativeResize="0"/>
          <p:nvPr/>
        </p:nvPicPr>
        <p:blipFill>
          <a:blip r:embed="rId4">
            <a:alphaModFix/>
          </a:blip>
          <a:stretch>
            <a:fillRect/>
          </a:stretch>
        </p:blipFill>
        <p:spPr>
          <a:xfrm>
            <a:off x="2190950" y="1955800"/>
            <a:ext cx="1775975" cy="1900275"/>
          </a:xfrm>
          <a:prstGeom prst="rect">
            <a:avLst/>
          </a:prstGeom>
          <a:noFill/>
          <a:ln w="19050" cap="flat" cmpd="sng">
            <a:solidFill>
              <a:srgbClr val="666666"/>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4"/>
                                        </p:tgtEl>
                                        <p:attrNameLst>
                                          <p:attrName>style.visibility</p:attrName>
                                        </p:attrNameLst>
                                      </p:cBhvr>
                                      <p:to>
                                        <p:strVal val="visible"/>
                                      </p:to>
                                    </p:set>
                                    <p:animEffect transition="in" filter="fade">
                                      <p:cBhvr>
                                        <p:cTn id="59" dur="10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Algorithms</a:t>
            </a:r>
            <a:endParaRPr/>
          </a:p>
        </p:txBody>
      </p:sp>
      <p:sp>
        <p:nvSpPr>
          <p:cNvPr id="131" name="Google Shape;131;p22"/>
          <p:cNvSpPr txBox="1">
            <a:spLocks noGrp="1"/>
          </p:cNvSpPr>
          <p:nvPr>
            <p:ph type="body" idx="1"/>
          </p:nvPr>
        </p:nvSpPr>
        <p:spPr>
          <a:xfrm>
            <a:off x="114132" y="1308132"/>
            <a:ext cx="3999900" cy="37791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When programming in a high-level language like Python or Java, t</a:t>
            </a:r>
            <a:r>
              <a:rPr lang="en" dirty="0">
                <a:highlight>
                  <a:srgbClr val="FFFF00"/>
                </a:highlight>
              </a:rPr>
              <a:t>he programmer designs an </a:t>
            </a:r>
            <a:r>
              <a:rPr lang="en" b="1" i="1" dirty="0">
                <a:solidFill>
                  <a:srgbClr val="FF0000"/>
                </a:solidFill>
                <a:highlight>
                  <a:srgbClr val="FFFF00"/>
                </a:highlight>
              </a:rPr>
              <a:t>algorithm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But what does this mean, exactly?</a:t>
            </a:r>
            <a:endParaRPr dirty="0"/>
          </a:p>
          <a:p>
            <a:pPr marL="457200" lvl="0" indent="-311150" algn="l" rtl="0">
              <a:spcBef>
                <a:spcPts val="1000"/>
              </a:spcBef>
              <a:spcAft>
                <a:spcPts val="0"/>
              </a:spcAft>
              <a:buSzPts val="1300"/>
              <a:buChar char="●"/>
            </a:pPr>
            <a:r>
              <a:rPr lang="en" dirty="0"/>
              <a:t>An algorithm is like a </a:t>
            </a:r>
            <a:r>
              <a:rPr lang="en" b="1" i="1" dirty="0">
                <a:solidFill>
                  <a:srgbClr val="FF0000"/>
                </a:solidFill>
                <a:highlight>
                  <a:srgbClr val="FFFF00"/>
                </a:highlight>
              </a:rPr>
              <a:t>recipe</a:t>
            </a:r>
            <a:r>
              <a:rPr lang="en" dirty="0">
                <a:solidFill>
                  <a:srgbClr val="FF0000"/>
                </a:solidFill>
                <a:highlight>
                  <a:srgbClr val="FFFF00"/>
                </a:highlight>
              </a:rPr>
              <a:t> </a:t>
            </a:r>
            <a:r>
              <a:rPr lang="en" dirty="0">
                <a:highlight>
                  <a:srgbClr val="FFFF00"/>
                </a:highlight>
              </a:rPr>
              <a:t>with instructions that tell a computer how to solve a problem</a:t>
            </a:r>
            <a:r>
              <a:rPr lang="en" dirty="0"/>
              <a:t>.</a:t>
            </a:r>
            <a:endParaRPr dirty="0"/>
          </a:p>
          <a:p>
            <a:pPr marL="914400" lvl="1" indent="-298450" algn="l" rtl="0">
              <a:spcBef>
                <a:spcPts val="0"/>
              </a:spcBef>
              <a:spcAft>
                <a:spcPts val="0"/>
              </a:spcAft>
              <a:buSzPts val="1100"/>
              <a:buChar char="○"/>
            </a:pPr>
            <a:r>
              <a:rPr lang="en" dirty="0">
                <a:highlight>
                  <a:srgbClr val="FFFF00"/>
                </a:highlight>
              </a:rPr>
              <a:t>First, break the problem into discrete </a:t>
            </a:r>
            <a:r>
              <a:rPr lang="en" b="1" i="1" dirty="0">
                <a:solidFill>
                  <a:srgbClr val="FF0000"/>
                </a:solidFill>
                <a:highlight>
                  <a:srgbClr val="FFFF00"/>
                </a:highlight>
              </a:rPr>
              <a:t>steps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Implement each step as an </a:t>
            </a:r>
            <a:r>
              <a:rPr lang="en" b="1" i="1" dirty="0">
                <a:solidFill>
                  <a:srgbClr val="FF0000"/>
                </a:solidFill>
                <a:highlight>
                  <a:srgbClr val="FFFF00"/>
                </a:highlight>
              </a:rPr>
              <a:t>instruction</a:t>
            </a:r>
            <a:r>
              <a:rPr lang="en" dirty="0">
                <a:solidFill>
                  <a:srgbClr val="FF0000"/>
                </a:solidFill>
                <a:highlight>
                  <a:srgbClr val="FFFF00"/>
                </a:highlight>
              </a:rPr>
              <a:t> </a:t>
            </a:r>
            <a:r>
              <a:rPr lang="en" dirty="0">
                <a:highlight>
                  <a:srgbClr val="FFFF00"/>
                </a:highlight>
              </a:rPr>
              <a:t>in a programming language.</a:t>
            </a:r>
            <a:endParaRPr dirty="0">
              <a:highlight>
                <a:srgbClr val="FFFF00"/>
              </a:highlight>
            </a:endParaRPr>
          </a:p>
          <a:p>
            <a:pPr marL="914400" lvl="1" indent="-298450" algn="l" rtl="0">
              <a:spcBef>
                <a:spcPts val="0"/>
              </a:spcBef>
              <a:spcAft>
                <a:spcPts val="0"/>
              </a:spcAft>
              <a:buSzPts val="1100"/>
              <a:buChar char="○"/>
            </a:pPr>
            <a:r>
              <a:rPr lang="en" b="1" i="1" dirty="0">
                <a:solidFill>
                  <a:srgbClr val="FF0000"/>
                </a:solidFill>
                <a:highlight>
                  <a:srgbClr val="FFFF00"/>
                </a:highlight>
              </a:rPr>
              <a:t>Execute</a:t>
            </a:r>
            <a:r>
              <a:rPr lang="en" dirty="0">
                <a:solidFill>
                  <a:srgbClr val="FF0000"/>
                </a:solidFill>
                <a:highlight>
                  <a:srgbClr val="FFFF00"/>
                </a:highlight>
              </a:rPr>
              <a:t> </a:t>
            </a:r>
            <a:r>
              <a:rPr lang="en" dirty="0">
                <a:highlight>
                  <a:srgbClr val="FFFF00"/>
                </a:highlight>
              </a:rPr>
              <a:t>the program.</a:t>
            </a:r>
            <a:endParaRPr dirty="0">
              <a:highlight>
                <a:srgbClr val="FFFF00"/>
              </a:highlight>
            </a:endParaRPr>
          </a:p>
          <a:p>
            <a:pPr marL="457200" lvl="0" indent="-311150" algn="l" rtl="0">
              <a:spcBef>
                <a:spcPts val="1000"/>
              </a:spcBef>
              <a:spcAft>
                <a:spcPts val="0"/>
              </a:spcAft>
              <a:buSzPts val="1300"/>
              <a:buChar char="●"/>
            </a:pPr>
            <a:r>
              <a:rPr lang="en" dirty="0"/>
              <a:t>We often begin by writing an algorithm in </a:t>
            </a:r>
            <a:r>
              <a:rPr lang="en" b="1" i="1" dirty="0">
                <a:solidFill>
                  <a:srgbClr val="FF0000"/>
                </a:solidFill>
                <a:highlight>
                  <a:srgbClr val="FFFF00"/>
                </a:highlight>
              </a:rPr>
              <a:t>pseudocode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We use plain English (or something like it) to describe what it is that we'd like to do.</a:t>
            </a:r>
            <a:endParaRPr dirty="0"/>
          </a:p>
          <a:p>
            <a:pPr marL="914400" lvl="1" indent="-298450" algn="l" rtl="0">
              <a:spcBef>
                <a:spcPts val="0"/>
              </a:spcBef>
              <a:spcAft>
                <a:spcPts val="0"/>
              </a:spcAft>
              <a:buSzPts val="1100"/>
              <a:buChar char="○"/>
            </a:pPr>
            <a:r>
              <a:rPr lang="en" dirty="0"/>
              <a:t>We then </a:t>
            </a:r>
            <a:r>
              <a:rPr lang="en" b="1" i="1" dirty="0">
                <a:solidFill>
                  <a:srgbClr val="FF0000"/>
                </a:solidFill>
              </a:rPr>
              <a:t>translate</a:t>
            </a:r>
            <a:r>
              <a:rPr lang="en" dirty="0">
                <a:solidFill>
                  <a:srgbClr val="FF0000"/>
                </a:solidFill>
              </a:rPr>
              <a:t> </a:t>
            </a:r>
            <a:r>
              <a:rPr lang="en" dirty="0"/>
              <a:t>that pseudocode into the syntax of our language of choice.</a:t>
            </a:r>
            <a:endParaRPr dirty="0"/>
          </a:p>
        </p:txBody>
      </p:sp>
      <p:sp>
        <p:nvSpPr>
          <p:cNvPr id="132" name="Google Shape;13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33" name="Google Shape;133;p22"/>
          <p:cNvPicPr preferRelativeResize="0"/>
          <p:nvPr/>
        </p:nvPicPr>
        <p:blipFill>
          <a:blip r:embed="rId3">
            <a:alphaModFix/>
          </a:blip>
          <a:stretch>
            <a:fillRect/>
          </a:stretch>
        </p:blipFill>
        <p:spPr>
          <a:xfrm>
            <a:off x="4577800" y="1563499"/>
            <a:ext cx="4070999" cy="2520502"/>
          </a:xfrm>
          <a:prstGeom prst="rect">
            <a:avLst/>
          </a:prstGeom>
          <a:noFill/>
          <a:ln w="19050" cap="flat" cmpd="sng">
            <a:solidFill>
              <a:schemeClr val="dk2"/>
            </a:solidFill>
            <a:prstDash val="solid"/>
            <a:round/>
            <a:headEnd type="none" w="sm" len="sm"/>
            <a:tailEnd type="none" w="sm" len="sm"/>
          </a:ln>
        </p:spPr>
      </p:pic>
      <p:sp>
        <p:nvSpPr>
          <p:cNvPr id="134" name="Google Shape;134;p22"/>
          <p:cNvSpPr/>
          <p:nvPr/>
        </p:nvSpPr>
        <p:spPr>
          <a:xfrm>
            <a:off x="4262750" y="918975"/>
            <a:ext cx="2655300" cy="1234500"/>
          </a:xfrm>
          <a:prstGeom prst="wedgeRoundRectCallout">
            <a:avLst>
              <a:gd name="adj1" fmla="val 48791"/>
              <a:gd name="adj2" fmla="val 718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i="1"/>
              <a:t>An algorithm is a finite procedure, written in a fixed symbolic vocabulary, governed by precise instructions, moving in discrete steps, 1, 2, 3, …, whose execution requires no insight, cleverness, intuition, intelligence, or perspicuity, and that sooner or later comes to an end.</a:t>
            </a:r>
            <a:endParaRPr sz="1000" i="1"/>
          </a:p>
        </p:txBody>
      </p:sp>
      <p:sp>
        <p:nvSpPr>
          <p:cNvPr id="135" name="Google Shape;135;p22"/>
          <p:cNvSpPr txBox="1"/>
          <p:nvPr/>
        </p:nvSpPr>
        <p:spPr>
          <a:xfrm>
            <a:off x="4574925" y="4184125"/>
            <a:ext cx="4071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Believe it or not, this is </a:t>
            </a:r>
            <a:r>
              <a:rPr lang="en" sz="1200" i="1">
                <a:latin typeface="Roboto"/>
                <a:ea typeface="Roboto"/>
                <a:cs typeface="Roboto"/>
                <a:sym typeface="Roboto"/>
              </a:rPr>
              <a:t>not</a:t>
            </a:r>
            <a:r>
              <a:rPr lang="en" sz="1200">
                <a:latin typeface="Roboto"/>
                <a:ea typeface="Roboto"/>
                <a:cs typeface="Roboto"/>
                <a:sym typeface="Roboto"/>
              </a:rPr>
              <a:t> the creepy killer from Silence of the Lambs, but is actually </a:t>
            </a:r>
            <a:r>
              <a:rPr lang="en" sz="1200" u="sng">
                <a:solidFill>
                  <a:schemeClr val="hlink"/>
                </a:solidFill>
                <a:latin typeface="Roboto"/>
                <a:ea typeface="Roboto"/>
                <a:cs typeface="Roboto"/>
                <a:sym typeface="Roboto"/>
                <a:hlinkClick r:id="rId4"/>
              </a:rPr>
              <a:t>David Berlinski</a:t>
            </a:r>
            <a:r>
              <a:rPr lang="en" sz="1200">
                <a:latin typeface="Roboto"/>
                <a:ea typeface="Roboto"/>
                <a:cs typeface="Roboto"/>
                <a:sym typeface="Roboto"/>
              </a:rPr>
              <a:t>, the person that wrote </a:t>
            </a:r>
            <a:r>
              <a:rPr lang="en" sz="1200" i="1" u="sng">
                <a:solidFill>
                  <a:schemeClr val="hlink"/>
                </a:solidFill>
                <a:latin typeface="Roboto"/>
                <a:ea typeface="Roboto"/>
                <a:cs typeface="Roboto"/>
                <a:sym typeface="Roboto"/>
                <a:hlinkClick r:id="rId5"/>
              </a:rPr>
              <a:t>The Advent of the Algorithm</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3"/>
                                        </p:tgtEl>
                                        <p:attrNameLst>
                                          <p:attrName>style.visibility</p:attrName>
                                        </p:attrNameLst>
                                      </p:cBhvr>
                                      <p:to>
                                        <p:strVal val="visible"/>
                                      </p:to>
                                    </p:set>
                                    <p:animEffect transition="in" filter="fade">
                                      <p:cBhvr>
                                        <p:cTn id="43" dur="1000"/>
                                        <p:tgtEl>
                                          <p:spTgt spid="133"/>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34"/>
                                        </p:tgtEl>
                                        <p:attrNameLst>
                                          <p:attrName>style.visibility</p:attrName>
                                        </p:attrNameLst>
                                      </p:cBhvr>
                                      <p:to>
                                        <p:strVal val="visible"/>
                                      </p:to>
                                    </p:set>
                                    <p:animEffect transition="in" filter="fade">
                                      <p:cBhvr>
                                        <p:cTn id="47" dur="1000"/>
                                        <p:tgtEl>
                                          <p:spTgt spid="134"/>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fade">
                                      <p:cBhvr>
                                        <p:cTn id="51" dur="10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body" idx="1"/>
          </p:nvPr>
        </p:nvSpPr>
        <p:spPr>
          <a:xfrm>
            <a:off x="90450" y="27450"/>
            <a:ext cx="4665300" cy="5088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 </a:t>
            </a:r>
            <a:r>
              <a:rPr lang="en" b="1" i="1" dirty="0">
                <a:solidFill>
                  <a:srgbClr val="FF0000"/>
                </a:solidFill>
              </a:rPr>
              <a:t>algorithmic approach</a:t>
            </a:r>
            <a:r>
              <a:rPr lang="en" dirty="0">
                <a:solidFill>
                  <a:srgbClr val="FF0000"/>
                </a:solidFill>
              </a:rPr>
              <a:t> </a:t>
            </a:r>
            <a:r>
              <a:rPr lang="en" dirty="0"/>
              <a:t>to problem solving begins by breaking the problem that we are trying to solve down into a </a:t>
            </a:r>
            <a:r>
              <a:rPr lang="en" b="1" i="1" dirty="0">
                <a:solidFill>
                  <a:srgbClr val="FF0000"/>
                </a:solidFill>
              </a:rPr>
              <a:t>series of discrete steps</a:t>
            </a:r>
            <a:r>
              <a:rPr lang="en" dirty="0"/>
              <a:t>.</a:t>
            </a:r>
            <a:endParaRPr dirty="0"/>
          </a:p>
          <a:p>
            <a:pPr marL="914400" lvl="1" indent="-298450" algn="l" rtl="0">
              <a:spcBef>
                <a:spcPts val="0"/>
              </a:spcBef>
              <a:spcAft>
                <a:spcPts val="0"/>
              </a:spcAft>
              <a:buSzPts val="1100"/>
              <a:buChar char="○"/>
            </a:pPr>
            <a:r>
              <a:rPr lang="en" dirty="0"/>
              <a:t>If these steps are executed in the correct order, we will arrive at the solution to the problem at hand.</a:t>
            </a:r>
            <a:endParaRPr dirty="0"/>
          </a:p>
          <a:p>
            <a:pPr marL="457200" lvl="0" indent="-311150" algn="l" rtl="0">
              <a:spcBef>
                <a:spcPts val="1000"/>
              </a:spcBef>
              <a:spcAft>
                <a:spcPts val="0"/>
              </a:spcAft>
              <a:buSzPts val="1300"/>
              <a:buChar char="●"/>
            </a:pPr>
            <a:r>
              <a:rPr lang="en" dirty="0">
                <a:solidFill>
                  <a:schemeClr val="lt2"/>
                </a:solidFill>
              </a:rPr>
              <a:t>Ultimately</a:t>
            </a:r>
            <a:r>
              <a:rPr lang="en" dirty="0"/>
              <a:t>, we would like to capture these steps in a programming language like Python or Java.</a:t>
            </a:r>
            <a:endParaRPr dirty="0"/>
          </a:p>
          <a:p>
            <a:pPr marL="457200" lvl="0" indent="-311150" algn="l" rtl="0">
              <a:spcBef>
                <a:spcPts val="1000"/>
              </a:spcBef>
              <a:spcAft>
                <a:spcPts val="0"/>
              </a:spcAft>
              <a:buSzPts val="1300"/>
              <a:buChar char="●"/>
            </a:pPr>
            <a:r>
              <a:rPr lang="en" dirty="0"/>
              <a:t>But before we start dealing with the rigid syntax of a real programming language, it is often useful to first try to express the algorithm that we wish to write in </a:t>
            </a:r>
            <a:r>
              <a:rPr lang="en" b="1" i="1" dirty="0">
                <a:solidFill>
                  <a:srgbClr val="FF0000"/>
                </a:solidFill>
              </a:rPr>
              <a:t>pseudocode</a:t>
            </a:r>
            <a:r>
              <a:rPr lang="en" dirty="0"/>
              <a:t>.</a:t>
            </a:r>
            <a:endParaRPr dirty="0"/>
          </a:p>
          <a:p>
            <a:pPr marL="914400" lvl="1" indent="-298450" algn="l" rtl="0">
              <a:spcBef>
                <a:spcPts val="0"/>
              </a:spcBef>
              <a:spcAft>
                <a:spcPts val="0"/>
              </a:spcAft>
              <a:buSzPts val="1100"/>
              <a:buChar char="○"/>
            </a:pPr>
            <a:r>
              <a:rPr lang="en" b="1" i="1" dirty="0">
                <a:solidFill>
                  <a:srgbClr val="FF0000"/>
                </a:solidFill>
              </a:rPr>
              <a:t>Pseudocode</a:t>
            </a:r>
            <a:r>
              <a:rPr lang="en" dirty="0">
                <a:solidFill>
                  <a:srgbClr val="FF0000"/>
                </a:solidFill>
              </a:rPr>
              <a:t> </a:t>
            </a:r>
            <a:r>
              <a:rPr lang="en" dirty="0"/>
              <a:t>is a term for very high-level descriptions of what we would like the computer to do.</a:t>
            </a:r>
            <a:endParaRPr dirty="0"/>
          </a:p>
          <a:p>
            <a:pPr marL="914400" lvl="1" indent="-298450" algn="l" rtl="0">
              <a:spcBef>
                <a:spcPts val="0"/>
              </a:spcBef>
              <a:spcAft>
                <a:spcPts val="0"/>
              </a:spcAft>
              <a:buSzPts val="1100"/>
              <a:buChar char="○"/>
            </a:pPr>
            <a:r>
              <a:rPr lang="en" dirty="0"/>
              <a:t>The description should be </a:t>
            </a:r>
            <a:r>
              <a:rPr lang="en" b="1" i="1" dirty="0">
                <a:solidFill>
                  <a:srgbClr val="FF0000"/>
                </a:solidFill>
              </a:rPr>
              <a:t>detailed</a:t>
            </a:r>
            <a:r>
              <a:rPr lang="en" dirty="0"/>
              <a:t>, but is not concerned with the syntax of any particular language.</a:t>
            </a:r>
            <a:endParaRPr dirty="0"/>
          </a:p>
          <a:p>
            <a:pPr marL="914400" lvl="1" indent="-298450" algn="l" rtl="0">
              <a:spcBef>
                <a:spcPts val="0"/>
              </a:spcBef>
              <a:spcAft>
                <a:spcPts val="0"/>
              </a:spcAft>
              <a:buSzPts val="1100"/>
              <a:buChar char="○"/>
            </a:pPr>
            <a:r>
              <a:rPr lang="en" dirty="0"/>
              <a:t>Most pseudocode is very close to written or spoken language, and </a:t>
            </a:r>
            <a:r>
              <a:rPr lang="en" b="1" i="1" dirty="0">
                <a:solidFill>
                  <a:srgbClr val="FF0000"/>
                </a:solidFill>
              </a:rPr>
              <a:t>there are no rules</a:t>
            </a:r>
            <a:r>
              <a:rPr lang="en" dirty="0"/>
              <a:t> of grammar or syntax.</a:t>
            </a:r>
            <a:endParaRPr dirty="0"/>
          </a:p>
          <a:p>
            <a:pPr marL="457200" lvl="0" indent="-311150" algn="l" rtl="0">
              <a:spcBef>
                <a:spcPts val="1000"/>
              </a:spcBef>
              <a:spcAft>
                <a:spcPts val="0"/>
              </a:spcAft>
              <a:buSzPts val="1300"/>
              <a:buChar char="●"/>
            </a:pPr>
            <a:r>
              <a:rPr lang="en" dirty="0">
                <a:highlight>
                  <a:srgbClr val="FFFF00"/>
                </a:highlight>
              </a:rPr>
              <a:t>The purpose of using pseudocode to describe algorithms is to </a:t>
            </a:r>
            <a:r>
              <a:rPr lang="en" b="1" i="1" dirty="0">
                <a:solidFill>
                  <a:srgbClr val="FF0000"/>
                </a:solidFill>
                <a:highlight>
                  <a:srgbClr val="FFFF00"/>
                </a:highlight>
              </a:rPr>
              <a:t>sketch out an algorithm quickly</a:t>
            </a:r>
            <a:r>
              <a:rPr lang="en" dirty="0">
                <a:highlight>
                  <a:srgbClr val="FFFF00"/>
                </a:highlight>
              </a:rPr>
              <a:t>, without spending time dealing with syntax errors or heavy weight tools like an IDE.</a:t>
            </a:r>
            <a:endParaRPr dirty="0">
              <a:highlight>
                <a:srgbClr val="FFFF00"/>
              </a:highlight>
            </a:endParaRPr>
          </a:p>
        </p:txBody>
      </p:sp>
      <p:sp>
        <p:nvSpPr>
          <p:cNvPr id="141" name="Google Shape;141;p23"/>
          <p:cNvSpPr txBox="1">
            <a:spLocks noGrp="1"/>
          </p:cNvSpPr>
          <p:nvPr>
            <p:ph type="title"/>
          </p:nvPr>
        </p:nvSpPr>
        <p:spPr>
          <a:xfrm>
            <a:off x="51922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a:t>An Algorithmic Approach to Problem Solving</a:t>
            </a:r>
            <a:endParaRPr sz="2200"/>
          </a:p>
        </p:txBody>
      </p:sp>
      <p:sp>
        <p:nvSpPr>
          <p:cNvPr id="142" name="Google Shape;142;p23"/>
          <p:cNvSpPr txBox="1">
            <a:spLocks noGrp="1"/>
          </p:cNvSpPr>
          <p:nvPr>
            <p:ph type="body" idx="2"/>
          </p:nvPr>
        </p:nvSpPr>
        <p:spPr>
          <a:xfrm>
            <a:off x="5192225" y="2041289"/>
            <a:ext cx="3706500" cy="21327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500" dirty="0">
                <a:solidFill>
                  <a:srgbClr val="FF0000"/>
                </a:solidFill>
                <a:latin typeface="Shadows Into Light"/>
                <a:ea typeface="Shadows Into Light"/>
                <a:cs typeface="Shadows Into Light"/>
                <a:sym typeface="Shadows Into Light"/>
              </a:rPr>
              <a:t>Euclid's Method for finding the Greatest Common Divisor of two integers A and B:</a:t>
            </a:r>
            <a:endParaRPr sz="1500" dirty="0">
              <a:solidFill>
                <a:srgbClr val="FF0000"/>
              </a:solidFill>
              <a:latin typeface="Shadows Into Light"/>
              <a:ea typeface="Shadows Into Light"/>
              <a:cs typeface="Shadows Into Light"/>
              <a:sym typeface="Shadows Into Light"/>
            </a:endParaRPr>
          </a:p>
          <a:p>
            <a:pPr marL="457200" lvl="0" indent="-323850" algn="l" rtl="0">
              <a:spcBef>
                <a:spcPts val="0"/>
              </a:spcBef>
              <a:spcAft>
                <a:spcPts val="0"/>
              </a:spcAft>
              <a:buClr>
                <a:srgbClr val="FF0000"/>
              </a:buClr>
              <a:buSzPts val="1500"/>
              <a:buFont typeface="Shadows Into Light"/>
              <a:buAutoNum type="arabicPeriod"/>
            </a:pPr>
            <a:r>
              <a:rPr lang="en" sz="1500" dirty="0">
                <a:solidFill>
                  <a:srgbClr val="FF0000"/>
                </a:solidFill>
                <a:latin typeface="Shadows Into Light"/>
                <a:ea typeface="Shadows Into Light"/>
                <a:cs typeface="Shadows Into Light"/>
                <a:sym typeface="Shadows Into Light"/>
              </a:rPr>
              <a:t>As long as A is not equal to B:</a:t>
            </a:r>
            <a:endParaRPr sz="1500" dirty="0">
              <a:solidFill>
                <a:srgbClr val="FF0000"/>
              </a:solidFill>
              <a:latin typeface="Shadows Into Light"/>
              <a:ea typeface="Shadows Into Light"/>
              <a:cs typeface="Shadows Into Light"/>
              <a:sym typeface="Shadows Into Light"/>
            </a:endParaRPr>
          </a:p>
          <a:p>
            <a:pPr marL="914400" lvl="1" indent="-311150" algn="l" rtl="0">
              <a:spcBef>
                <a:spcPts val="0"/>
              </a:spcBef>
              <a:spcAft>
                <a:spcPts val="0"/>
              </a:spcAft>
              <a:buClr>
                <a:srgbClr val="FF0000"/>
              </a:buClr>
              <a:buSzPts val="1300"/>
              <a:buFont typeface="Shadows Into Light"/>
              <a:buAutoNum type="alphaLcPeriod"/>
            </a:pPr>
            <a:r>
              <a:rPr lang="en" sz="1300" dirty="0">
                <a:solidFill>
                  <a:srgbClr val="FF0000"/>
                </a:solidFill>
                <a:latin typeface="Shadows Into Light"/>
                <a:ea typeface="Shadows Into Light"/>
                <a:cs typeface="Shadows Into Light"/>
                <a:sym typeface="Shadows Into Light"/>
              </a:rPr>
              <a:t>if A is greater than B:</a:t>
            </a:r>
            <a:endParaRPr sz="1300" dirty="0">
              <a:solidFill>
                <a:srgbClr val="FF0000"/>
              </a:solidFill>
              <a:latin typeface="Shadows Into Light"/>
              <a:ea typeface="Shadows Into Light"/>
              <a:cs typeface="Shadows Into Light"/>
              <a:sym typeface="Shadows Into Light"/>
            </a:endParaRPr>
          </a:p>
          <a:p>
            <a:pPr marL="1371600" lvl="2" indent="-311150" algn="l" rtl="0">
              <a:spcBef>
                <a:spcPts val="0"/>
              </a:spcBef>
              <a:spcAft>
                <a:spcPts val="0"/>
              </a:spcAft>
              <a:buClr>
                <a:srgbClr val="FF0000"/>
              </a:buClr>
              <a:buSzPts val="1300"/>
              <a:buFont typeface="Shadows Into Light"/>
              <a:buAutoNum type="romanLcPeriod"/>
            </a:pPr>
            <a:r>
              <a:rPr lang="en" sz="1300" dirty="0">
                <a:solidFill>
                  <a:srgbClr val="FF0000"/>
                </a:solidFill>
                <a:latin typeface="Shadows Into Light"/>
                <a:ea typeface="Shadows Into Light"/>
                <a:cs typeface="Shadows Into Light"/>
                <a:sym typeface="Shadows Into Light"/>
              </a:rPr>
              <a:t>Let A = A - B</a:t>
            </a:r>
            <a:endParaRPr sz="1300" dirty="0">
              <a:solidFill>
                <a:srgbClr val="FF0000"/>
              </a:solidFill>
              <a:latin typeface="Shadows Into Light"/>
              <a:ea typeface="Shadows Into Light"/>
              <a:cs typeface="Shadows Into Light"/>
              <a:sym typeface="Shadows Into Light"/>
            </a:endParaRPr>
          </a:p>
          <a:p>
            <a:pPr marL="914400" lvl="1" indent="-311150" algn="l" rtl="0">
              <a:spcBef>
                <a:spcPts val="0"/>
              </a:spcBef>
              <a:spcAft>
                <a:spcPts val="0"/>
              </a:spcAft>
              <a:buClr>
                <a:srgbClr val="FF0000"/>
              </a:buClr>
              <a:buSzPts val="1300"/>
              <a:buFont typeface="Shadows Into Light"/>
              <a:buAutoNum type="alphaLcPeriod"/>
            </a:pPr>
            <a:r>
              <a:rPr lang="en" sz="1300" dirty="0">
                <a:solidFill>
                  <a:srgbClr val="FF0000"/>
                </a:solidFill>
                <a:latin typeface="Shadows Into Light"/>
                <a:ea typeface="Shadows Into Light"/>
                <a:cs typeface="Shadows Into Light"/>
                <a:sym typeface="Shadows Into Light"/>
              </a:rPr>
              <a:t>otherwise</a:t>
            </a:r>
            <a:endParaRPr sz="1300" dirty="0">
              <a:solidFill>
                <a:srgbClr val="FF0000"/>
              </a:solidFill>
              <a:latin typeface="Shadows Into Light"/>
              <a:ea typeface="Shadows Into Light"/>
              <a:cs typeface="Shadows Into Light"/>
              <a:sym typeface="Shadows Into Light"/>
            </a:endParaRPr>
          </a:p>
          <a:p>
            <a:pPr marL="1371600" lvl="2" indent="-311150" algn="l" rtl="0">
              <a:spcBef>
                <a:spcPts val="0"/>
              </a:spcBef>
              <a:spcAft>
                <a:spcPts val="0"/>
              </a:spcAft>
              <a:buClr>
                <a:srgbClr val="FF0000"/>
              </a:buClr>
              <a:buSzPts val="1300"/>
              <a:buFont typeface="Shadows Into Light"/>
              <a:buAutoNum type="romanLcPeriod"/>
            </a:pPr>
            <a:r>
              <a:rPr lang="en" sz="1300" dirty="0">
                <a:solidFill>
                  <a:srgbClr val="FF0000"/>
                </a:solidFill>
                <a:latin typeface="Shadows Into Light"/>
                <a:ea typeface="Shadows Into Light"/>
                <a:cs typeface="Shadows Into Light"/>
                <a:sym typeface="Shadows Into Light"/>
              </a:rPr>
              <a:t>Let B = B - A</a:t>
            </a:r>
            <a:endParaRPr sz="1300" dirty="0">
              <a:solidFill>
                <a:srgbClr val="FF0000"/>
              </a:solidFill>
              <a:latin typeface="Shadows Into Light"/>
              <a:ea typeface="Shadows Into Light"/>
              <a:cs typeface="Shadows Into Light"/>
              <a:sym typeface="Shadows Into Light"/>
            </a:endParaRPr>
          </a:p>
          <a:p>
            <a:pPr marL="457200" lvl="0" indent="-323850" algn="l" rtl="0">
              <a:spcBef>
                <a:spcPts val="0"/>
              </a:spcBef>
              <a:spcAft>
                <a:spcPts val="0"/>
              </a:spcAft>
              <a:buClr>
                <a:srgbClr val="FF0000"/>
              </a:buClr>
              <a:buSzPts val="1500"/>
              <a:buFont typeface="Shadows Into Light"/>
              <a:buAutoNum type="arabicPeriod"/>
            </a:pPr>
            <a:r>
              <a:rPr lang="en" sz="1500" dirty="0">
                <a:solidFill>
                  <a:srgbClr val="FF0000"/>
                </a:solidFill>
                <a:latin typeface="Shadows Into Light"/>
                <a:ea typeface="Shadows Into Light"/>
                <a:cs typeface="Shadows Into Light"/>
                <a:sym typeface="Shadows Into Light"/>
              </a:rPr>
              <a:t>Return A</a:t>
            </a:r>
            <a:endParaRPr sz="1500" dirty="0">
              <a:solidFill>
                <a:srgbClr val="FF0000"/>
              </a:solidFill>
              <a:latin typeface="Shadows Into Light"/>
              <a:ea typeface="Shadows Into Light"/>
              <a:cs typeface="Shadows Into Light"/>
              <a:sym typeface="Shadows Into Light"/>
            </a:endParaRPr>
          </a:p>
        </p:txBody>
      </p:sp>
      <p:sp>
        <p:nvSpPr>
          <p:cNvPr id="143" name="Google Shape;143;p23"/>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sp>
        <p:nvSpPr>
          <p:cNvPr id="144" name="Google Shape;144;p23"/>
          <p:cNvSpPr txBox="1">
            <a:spLocks noGrp="1"/>
          </p:cNvSpPr>
          <p:nvPr>
            <p:ph type="body" idx="3"/>
          </p:nvPr>
        </p:nvSpPr>
        <p:spPr>
          <a:xfrm>
            <a:off x="5192225" y="10049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There are </a:t>
            </a:r>
            <a:r>
              <a:rPr lang="en" b="1" i="1">
                <a:solidFill>
                  <a:srgbClr val="FF0000"/>
                </a:solidFill>
              </a:rPr>
              <a:t>no rules</a:t>
            </a:r>
            <a:r>
              <a:rPr lang="en"/>
              <a:t> to writing </a:t>
            </a:r>
            <a:r>
              <a:rPr lang="en" b="1" i="1">
                <a:solidFill>
                  <a:srgbClr val="FF0000"/>
                </a:solidFill>
              </a:rPr>
              <a:t>pseudocode</a:t>
            </a:r>
            <a:r>
              <a:rPr lang="en"/>
              <a:t>. The point is to avoid spending time on strict rules of syntax in order to express the algorithm as </a:t>
            </a:r>
            <a:r>
              <a:rPr lang="en" b="1" i="1">
                <a:solidFill>
                  <a:srgbClr val="FF0000"/>
                </a:solidFill>
              </a:rPr>
              <a:t>quickly as possible</a:t>
            </a:r>
            <a:r>
              <a:rPr lang="en"/>
              <a:t>.</a:t>
            </a:r>
            <a:endParaRPr/>
          </a:p>
        </p:txBody>
      </p:sp>
      <p:sp>
        <p:nvSpPr>
          <p:cNvPr id="145" name="Google Shape;145;p23"/>
          <p:cNvSpPr txBox="1">
            <a:spLocks noGrp="1"/>
          </p:cNvSpPr>
          <p:nvPr>
            <p:ph type="body" idx="3"/>
          </p:nvPr>
        </p:nvSpPr>
        <p:spPr>
          <a:xfrm>
            <a:off x="5192225" y="4260868"/>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Here is an example of pseudocode used to represent Euclid's method for finding the GCD of two integers.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1000"/>
                                        <p:tgtEl>
                                          <p:spTgt spid="1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45"/>
                                        </p:tgtEl>
                                        <p:attrNameLst>
                                          <p:attrName>style.visibility</p:attrName>
                                        </p:attrNameLst>
                                      </p:cBhvr>
                                      <p:to>
                                        <p:strVal val="visible"/>
                                      </p:to>
                                    </p:set>
                                    <p:animEffect transition="in" filter="fade">
                                      <p:cBhvr>
                                        <p:cTn id="44" dur="1000"/>
                                        <p:tgtEl>
                                          <p:spTgt spid="145"/>
                                        </p:tgtEl>
                                      </p:cBhvr>
                                    </p:animEffect>
                                  </p:childTnLst>
                                </p:cTn>
                              </p:par>
                              <p:par>
                                <p:cTn id="45" presetID="10" presetClass="entr" presetSubtype="0" fill="hold" nodeType="withEffect">
                                  <p:stCondLst>
                                    <p:cond delay="0"/>
                                  </p:stCondLst>
                                  <p:childTnLst>
                                    <p:set>
                                      <p:cBhvr>
                                        <p:cTn id="46" dur="1" fill="hold">
                                          <p:stCondLst>
                                            <p:cond delay="0"/>
                                          </p:stCondLst>
                                        </p:cTn>
                                        <p:tgtEl>
                                          <p:spTgt spid="142"/>
                                        </p:tgtEl>
                                        <p:attrNameLst>
                                          <p:attrName>style.visibility</p:attrName>
                                        </p:attrNameLst>
                                      </p:cBhvr>
                                      <p:to>
                                        <p:strVal val="visible"/>
                                      </p:to>
                                    </p:set>
                                    <p:animEffect transition="in" filter="fade">
                                      <p:cBhvr>
                                        <p:cTn id="47" dur="10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Euclidean Pseudocode</a:t>
            </a:r>
            <a:endParaRPr/>
          </a:p>
        </p:txBody>
      </p:sp>
      <p:sp>
        <p:nvSpPr>
          <p:cNvPr id="151" name="Google Shape;151;p24"/>
          <p:cNvSpPr txBox="1">
            <a:spLocks noGrp="1"/>
          </p:cNvSpPr>
          <p:nvPr>
            <p:ph type="body" idx="1"/>
          </p:nvPr>
        </p:nvSpPr>
        <p:spPr>
          <a:xfrm>
            <a:off x="65250" y="655425"/>
            <a:ext cx="8955900" cy="14160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An algorithm is like a recipe that lists the ingredients needed and the steps required to solve a specific problem. We often sketch an algorithm out by first writing </a:t>
            </a:r>
            <a:r>
              <a:rPr lang="en" i="1"/>
              <a:t>pseudocode </a:t>
            </a:r>
            <a:r>
              <a:rPr lang="en"/>
              <a:t>that describes that we'd like the program to do. Next, the pseudocode needs to be translated into statements in a real programming language. Practice now by implementing Euclid's method for finding the greatest common divisor of two integers.</a:t>
            </a:r>
            <a:endParaRPr/>
          </a:p>
        </p:txBody>
      </p:sp>
      <p:sp>
        <p:nvSpPr>
          <p:cNvPr id="152" name="Google Shape;15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153" name="Google Shape;153;p2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a:t>
            </a:r>
            <a:endParaRPr/>
          </a:p>
        </p:txBody>
      </p:sp>
      <p:sp>
        <p:nvSpPr>
          <p:cNvPr id="154" name="Google Shape;154;p24"/>
          <p:cNvSpPr txBox="1">
            <a:spLocks noGrp="1"/>
          </p:cNvSpPr>
          <p:nvPr>
            <p:ph type="body" idx="4"/>
          </p:nvPr>
        </p:nvSpPr>
        <p:spPr>
          <a:xfrm>
            <a:off x="268875" y="2183650"/>
            <a:ext cx="3422100" cy="19086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400">
                <a:solidFill>
                  <a:srgbClr val="FF0000"/>
                </a:solidFill>
                <a:latin typeface="Shadows Into Light"/>
                <a:ea typeface="Shadows Into Light"/>
                <a:cs typeface="Shadows Into Light"/>
                <a:sym typeface="Shadows Into Light"/>
              </a:rPr>
              <a:t>Euclid's Method for finding the Greatest Common Divisor of two integers A and B:</a:t>
            </a:r>
            <a:endParaRPr sz="1400">
              <a:solidFill>
                <a:srgbClr val="FF0000"/>
              </a:solidFill>
              <a:latin typeface="Shadows Into Light"/>
              <a:ea typeface="Shadows Into Light"/>
              <a:cs typeface="Shadows Into Light"/>
              <a:sym typeface="Shadows Into Light"/>
            </a:endParaRPr>
          </a:p>
          <a:p>
            <a:pPr marL="457200" lvl="0" indent="-317500" algn="l" rtl="0">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As long as A is not equal to B:</a:t>
            </a:r>
            <a:endParaRPr sz="1400">
              <a:solidFill>
                <a:srgbClr val="FF0000"/>
              </a:solidFill>
              <a:latin typeface="Shadows Into Light"/>
              <a:ea typeface="Shadows Into Light"/>
              <a:cs typeface="Shadows Into Light"/>
              <a:sym typeface="Shadows Into Light"/>
            </a:endParaRPr>
          </a:p>
          <a:p>
            <a:pPr marL="914400" lvl="1" indent="-317500" algn="l" rtl="0">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if A is greater than B:</a:t>
            </a:r>
            <a:endParaRPr sz="1400">
              <a:solidFill>
                <a:srgbClr val="FF0000"/>
              </a:solidFill>
              <a:latin typeface="Shadows Into Light"/>
              <a:ea typeface="Shadows Into Light"/>
              <a:cs typeface="Shadows Into Light"/>
              <a:sym typeface="Shadows Into Light"/>
            </a:endParaRPr>
          </a:p>
          <a:p>
            <a:pPr marL="1371600" lvl="2" indent="-317500" algn="l" rtl="0">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A = A - B</a:t>
            </a:r>
            <a:endParaRPr sz="1400">
              <a:solidFill>
                <a:srgbClr val="FF0000"/>
              </a:solidFill>
              <a:latin typeface="Shadows Into Light"/>
              <a:ea typeface="Shadows Into Light"/>
              <a:cs typeface="Shadows Into Light"/>
              <a:sym typeface="Shadows Into Light"/>
            </a:endParaRPr>
          </a:p>
          <a:p>
            <a:pPr marL="914400" lvl="1" indent="-317500" algn="l" rtl="0">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otherwise</a:t>
            </a:r>
            <a:endParaRPr sz="1400">
              <a:solidFill>
                <a:srgbClr val="FF0000"/>
              </a:solidFill>
              <a:latin typeface="Shadows Into Light"/>
              <a:ea typeface="Shadows Into Light"/>
              <a:cs typeface="Shadows Into Light"/>
              <a:sym typeface="Shadows Into Light"/>
            </a:endParaRPr>
          </a:p>
          <a:p>
            <a:pPr marL="1371600" lvl="2" indent="-317500" algn="l" rtl="0">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B = B - A</a:t>
            </a:r>
            <a:endParaRPr sz="1400">
              <a:solidFill>
                <a:srgbClr val="FF0000"/>
              </a:solidFill>
              <a:latin typeface="Shadows Into Light"/>
              <a:ea typeface="Shadows Into Light"/>
              <a:cs typeface="Shadows Into Light"/>
              <a:sym typeface="Shadows Into Light"/>
            </a:endParaRPr>
          </a:p>
          <a:p>
            <a:pPr marL="457200" lvl="0" indent="-317500" algn="l" rtl="0">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Return A</a:t>
            </a:r>
            <a:endParaRPr sz="1400">
              <a:solidFill>
                <a:srgbClr val="FF0000"/>
              </a:solidFill>
              <a:latin typeface="Shadows Into Light"/>
              <a:ea typeface="Shadows Into Light"/>
              <a:cs typeface="Shadows Into Light"/>
              <a:sym typeface="Shadows Into Light"/>
            </a:endParaRPr>
          </a:p>
        </p:txBody>
      </p:sp>
      <p:sp>
        <p:nvSpPr>
          <p:cNvPr id="155" name="Google Shape;155;p24"/>
          <p:cNvSpPr txBox="1">
            <a:spLocks noGrp="1"/>
          </p:cNvSpPr>
          <p:nvPr>
            <p:ph type="body" idx="2"/>
          </p:nvPr>
        </p:nvSpPr>
        <p:spPr>
          <a:xfrm>
            <a:off x="3690975" y="1969525"/>
            <a:ext cx="5016300" cy="29139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Euclid</a:t>
            </a:r>
            <a:r>
              <a:rPr lang="en" sz="1400" dirty="0"/>
              <a:t>" and implement the algorithm depicted to the left as a </a:t>
            </a:r>
            <a:r>
              <a:rPr lang="en" sz="1400" dirty="0">
                <a:solidFill>
                  <a:srgbClr val="FF0000"/>
                </a:solidFill>
                <a:latin typeface="Courier New"/>
                <a:ea typeface="Courier New"/>
                <a:cs typeface="Courier New"/>
                <a:sym typeface="Courier New"/>
              </a:rPr>
              <a:t>static</a:t>
            </a:r>
            <a:r>
              <a:rPr lang="en" sz="1400" dirty="0">
                <a:solidFill>
                  <a:srgbClr val="FF0000"/>
                </a:solidFill>
              </a:rPr>
              <a:t> </a:t>
            </a:r>
            <a:r>
              <a:rPr lang="en" sz="1400" dirty="0"/>
              <a:t>method.</a:t>
            </a:r>
            <a:endParaRPr sz="1400" dirty="0"/>
          </a:p>
          <a:p>
            <a:pPr marL="914400" lvl="1" indent="-304800" algn="l" rtl="0">
              <a:spcBef>
                <a:spcPts val="0"/>
              </a:spcBef>
              <a:spcAft>
                <a:spcPts val="0"/>
              </a:spcAft>
              <a:buSzPts val="1200"/>
              <a:buChar char="○"/>
            </a:pPr>
            <a:r>
              <a:rPr lang="en" sz="1200" dirty="0"/>
              <a:t>Begin by stubbing out the </a:t>
            </a:r>
            <a:r>
              <a:rPr lang="en" sz="1200" dirty="0">
                <a:solidFill>
                  <a:srgbClr val="FF0000"/>
                </a:solidFill>
                <a:latin typeface="Courier New"/>
                <a:ea typeface="Courier New"/>
                <a:cs typeface="Courier New"/>
                <a:sym typeface="Courier New"/>
              </a:rPr>
              <a:t>gcd</a:t>
            </a:r>
            <a:r>
              <a:rPr lang="en" sz="1200" dirty="0">
                <a:solidFill>
                  <a:srgbClr val="FF0000"/>
                </a:solidFill>
              </a:rPr>
              <a:t> </a:t>
            </a:r>
            <a:r>
              <a:rPr lang="en" sz="1200" dirty="0"/>
              <a:t>method. It should declare parameters for A and B and return an integer.</a:t>
            </a:r>
            <a:endParaRPr sz="1200" dirty="0"/>
          </a:p>
          <a:p>
            <a:pPr marL="914400" lvl="1" indent="-304800" algn="l" rtl="0">
              <a:spcBef>
                <a:spcPts val="0"/>
              </a:spcBef>
              <a:spcAft>
                <a:spcPts val="0"/>
              </a:spcAft>
              <a:buSzPts val="1200"/>
              <a:buChar char="○"/>
            </a:pPr>
            <a:r>
              <a:rPr lang="en" sz="1200" dirty="0"/>
              <a:t>Next, capture each of the steps as an</a:t>
            </a:r>
            <a:r>
              <a:rPr lang="en" sz="1200" dirty="0">
                <a:solidFill>
                  <a:srgbClr val="FF0000"/>
                </a:solidFill>
              </a:rPr>
              <a:t> </a:t>
            </a:r>
            <a:r>
              <a:rPr lang="en" sz="1200" b="1" i="1" dirty="0">
                <a:solidFill>
                  <a:srgbClr val="FF0000"/>
                </a:solidFill>
              </a:rPr>
              <a:t>inline</a:t>
            </a:r>
            <a:r>
              <a:rPr lang="en" sz="1200" dirty="0">
                <a:solidFill>
                  <a:srgbClr val="FF0000"/>
                </a:solidFill>
              </a:rPr>
              <a:t> </a:t>
            </a:r>
            <a:r>
              <a:rPr lang="en" sz="1200" b="1" i="1" dirty="0">
                <a:solidFill>
                  <a:srgbClr val="FF0000"/>
                </a:solidFill>
              </a:rPr>
              <a:t>comment</a:t>
            </a:r>
            <a:r>
              <a:rPr lang="en" sz="1200" dirty="0"/>
              <a:t> in the method. You must </a:t>
            </a:r>
            <a:r>
              <a:rPr lang="en" sz="1200" b="1" i="1" dirty="0">
                <a:solidFill>
                  <a:srgbClr val="FF0000"/>
                </a:solidFill>
              </a:rPr>
              <a:t>commit</a:t>
            </a:r>
            <a:r>
              <a:rPr lang="en" sz="1200" dirty="0">
                <a:solidFill>
                  <a:srgbClr val="FF0000"/>
                </a:solidFill>
              </a:rPr>
              <a:t> </a:t>
            </a:r>
            <a:r>
              <a:rPr lang="en" sz="1200" dirty="0"/>
              <a:t>this version of your code before moving any further!</a:t>
            </a:r>
            <a:endParaRPr sz="1200" dirty="0"/>
          </a:p>
          <a:p>
            <a:pPr marL="914400" lvl="1" indent="-304800" algn="l" rtl="0">
              <a:spcBef>
                <a:spcPts val="0"/>
              </a:spcBef>
              <a:spcAft>
                <a:spcPts val="0"/>
              </a:spcAft>
              <a:buSzPts val="1200"/>
              <a:buChar char="○"/>
            </a:pPr>
            <a:r>
              <a:rPr lang="en" sz="1200" b="1" i="1" dirty="0">
                <a:solidFill>
                  <a:srgbClr val="FF0000"/>
                </a:solidFill>
              </a:rPr>
              <a:t>Implement </a:t>
            </a:r>
            <a:r>
              <a:rPr lang="en" sz="1200" dirty="0"/>
              <a:t>each of your comments as a Java statement.</a:t>
            </a:r>
            <a:endParaRPr sz="1200" dirty="0"/>
          </a:p>
          <a:p>
            <a:pPr marL="457200" lvl="0" indent="-317500" algn="l" rtl="0">
              <a:spcBef>
                <a:spcPts val="0"/>
              </a:spcBef>
              <a:spcAft>
                <a:spcPts val="0"/>
              </a:spcAft>
              <a:buSzPts val="1400"/>
              <a:buChar char="●"/>
            </a:pPr>
            <a:r>
              <a:rPr lang="en" sz="1400" dirty="0"/>
              <a:t>Define a </a:t>
            </a:r>
            <a:r>
              <a:rPr lang="en" sz="1400" dirty="0">
                <a:solidFill>
                  <a:srgbClr val="FF0000"/>
                </a:solidFill>
                <a:latin typeface="Courier New"/>
                <a:ea typeface="Courier New"/>
                <a:cs typeface="Courier New"/>
                <a:sym typeface="Courier New"/>
              </a:rPr>
              <a:t>main</a:t>
            </a:r>
            <a:r>
              <a:rPr lang="en" sz="1400" dirty="0">
                <a:solidFill>
                  <a:srgbClr val="FF0000"/>
                </a:solidFill>
              </a:rPr>
              <a:t> </a:t>
            </a:r>
            <a:r>
              <a:rPr lang="en" sz="1400" dirty="0"/>
              <a:t>method with the appropriate signature and </a:t>
            </a:r>
            <a:r>
              <a:rPr lang="en" sz="1400" dirty="0">
                <a:solidFill>
                  <a:srgbClr val="FF0000"/>
                </a:solidFill>
              </a:rPr>
              <a:t>test </a:t>
            </a:r>
            <a:r>
              <a:rPr lang="en" sz="1400" dirty="0"/>
              <a:t>your </a:t>
            </a:r>
            <a:r>
              <a:rPr lang="en" sz="1400" dirty="0">
                <a:latin typeface="Courier New"/>
                <a:ea typeface="Courier New"/>
                <a:cs typeface="Courier New"/>
                <a:sym typeface="Courier New"/>
              </a:rPr>
              <a:t>gcd</a:t>
            </a:r>
            <a:r>
              <a:rPr lang="en" sz="1400" dirty="0"/>
              <a:t> method with several different combinations of A and B.</a:t>
            </a:r>
            <a:endParaRP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
        <p:nvSpPr>
          <p:cNvPr id="161" name="Google Shape;161;p2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Greedy Algorithms</a:t>
            </a:r>
            <a:endParaRPr/>
          </a:p>
        </p:txBody>
      </p:sp>
      <p:sp>
        <p:nvSpPr>
          <p:cNvPr id="162" name="Google Shape;162;p25"/>
          <p:cNvSpPr txBox="1">
            <a:spLocks noGrp="1"/>
          </p:cNvSpPr>
          <p:nvPr>
            <p:ph type="body" idx="1"/>
          </p:nvPr>
        </p:nvSpPr>
        <p:spPr>
          <a:xfrm>
            <a:off x="262500" y="62850"/>
            <a:ext cx="4384500" cy="5017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highlight>
                  <a:srgbClr val="FFFF00"/>
                </a:highlight>
              </a:rPr>
              <a:t>A </a:t>
            </a:r>
            <a:r>
              <a:rPr lang="en" b="1" i="1" dirty="0">
                <a:solidFill>
                  <a:srgbClr val="FF0000"/>
                </a:solidFill>
                <a:highlight>
                  <a:srgbClr val="FFFF00"/>
                </a:highlight>
              </a:rPr>
              <a:t>greedy algorithm</a:t>
            </a:r>
            <a:r>
              <a:rPr lang="en" dirty="0">
                <a:solidFill>
                  <a:srgbClr val="FF0000"/>
                </a:solidFill>
                <a:highlight>
                  <a:srgbClr val="FFFF00"/>
                </a:highlight>
              </a:rPr>
              <a:t> </a:t>
            </a:r>
            <a:r>
              <a:rPr lang="en" dirty="0">
                <a:highlight>
                  <a:srgbClr val="FFFF00"/>
                </a:highlight>
              </a:rPr>
              <a:t>is one that makes a decision based on what appears to be the optimal choice at the time.</a:t>
            </a:r>
            <a:endParaRPr dirty="0">
              <a:highlight>
                <a:srgbClr val="FFFF00"/>
              </a:highlight>
            </a:endParaRPr>
          </a:p>
          <a:p>
            <a:pPr marL="914400" lvl="1" indent="-298450" algn="l" rtl="0">
              <a:spcBef>
                <a:spcPts val="0"/>
              </a:spcBef>
              <a:spcAft>
                <a:spcPts val="0"/>
              </a:spcAft>
              <a:buSzPts val="1100"/>
              <a:buChar char="○"/>
            </a:pPr>
            <a:r>
              <a:rPr lang="en" dirty="0"/>
              <a:t>“The optimal choice at the time” is another way of saying “the </a:t>
            </a:r>
            <a:r>
              <a:rPr lang="en" b="1" i="1" dirty="0">
                <a:solidFill>
                  <a:srgbClr val="FF0000"/>
                </a:solidFill>
                <a:highlight>
                  <a:srgbClr val="FFFF00"/>
                </a:highlight>
              </a:rPr>
              <a:t>local optimum</a:t>
            </a:r>
            <a:r>
              <a:rPr lang="en" dirty="0"/>
              <a:t>” - what </a:t>
            </a:r>
            <a:r>
              <a:rPr lang="en" b="1" i="1" dirty="0">
                <a:solidFill>
                  <a:srgbClr val="FF0000"/>
                </a:solidFill>
              </a:rPr>
              <a:t>appears</a:t>
            </a:r>
            <a:r>
              <a:rPr lang="en" dirty="0"/>
              <a:t> to be the best answer for that particular step in the problem given the information that we have.</a:t>
            </a:r>
            <a:endParaRPr dirty="0"/>
          </a:p>
          <a:p>
            <a:pPr marL="457200" lvl="0" indent="-311150" algn="l" rtl="0">
              <a:spcBef>
                <a:spcPts val="1000"/>
              </a:spcBef>
              <a:spcAft>
                <a:spcPts val="0"/>
              </a:spcAft>
              <a:buSzPts val="1300"/>
              <a:buChar char="●"/>
            </a:pPr>
            <a:r>
              <a:rPr lang="en" dirty="0"/>
              <a:t>Greedy algorithms sometimes produce a result that is the </a:t>
            </a:r>
            <a:r>
              <a:rPr lang="en" b="1" i="1" dirty="0">
                <a:solidFill>
                  <a:srgbClr val="FF0000"/>
                </a:solidFill>
              </a:rPr>
              <a:t>global optimum</a:t>
            </a:r>
            <a:r>
              <a:rPr lang="en" dirty="0"/>
              <a:t>.</a:t>
            </a:r>
            <a:endParaRPr dirty="0"/>
          </a:p>
          <a:p>
            <a:pPr marL="914400" lvl="1" indent="-298450" algn="l" rtl="0">
              <a:spcBef>
                <a:spcPts val="0"/>
              </a:spcBef>
              <a:spcAft>
                <a:spcPts val="0"/>
              </a:spcAft>
              <a:buSzPts val="1100"/>
              <a:buChar char="○"/>
            </a:pPr>
            <a:r>
              <a:rPr lang="en" dirty="0"/>
              <a:t>The best possible answer for the problem.</a:t>
            </a:r>
            <a:endParaRPr dirty="0"/>
          </a:p>
          <a:p>
            <a:pPr marL="457200" lvl="0" indent="-311150" algn="l" rtl="0">
              <a:spcBef>
                <a:spcPts val="1000"/>
              </a:spcBef>
              <a:spcAft>
                <a:spcPts val="0"/>
              </a:spcAft>
              <a:buSzPts val="1300"/>
              <a:buChar char="●"/>
            </a:pPr>
            <a:r>
              <a:rPr lang="en" dirty="0">
                <a:highlight>
                  <a:srgbClr val="FFFF00"/>
                </a:highlight>
              </a:rPr>
              <a:t>But other times, greedy algorithms relatively</a:t>
            </a:r>
            <a:r>
              <a:rPr lang="en" b="1" i="1" dirty="0">
                <a:highlight>
                  <a:srgbClr val="FFFF00"/>
                </a:highlight>
              </a:rPr>
              <a:t> </a:t>
            </a:r>
            <a:r>
              <a:rPr lang="en" b="1" i="1" dirty="0">
                <a:solidFill>
                  <a:srgbClr val="FF0000"/>
                </a:solidFill>
                <a:highlight>
                  <a:srgbClr val="FFFF00"/>
                </a:highlight>
              </a:rPr>
              <a:t>efficiently</a:t>
            </a:r>
            <a:r>
              <a:rPr lang="en" dirty="0">
                <a:highlight>
                  <a:srgbClr val="FFFF00"/>
                </a:highlight>
              </a:rPr>
              <a:t> produce a result that is </a:t>
            </a:r>
            <a:r>
              <a:rPr lang="en" b="1" i="1" dirty="0">
                <a:solidFill>
                  <a:srgbClr val="FF0000"/>
                </a:solidFill>
                <a:highlight>
                  <a:srgbClr val="FFFF00"/>
                </a:highlight>
              </a:rPr>
              <a:t>reasonably good</a:t>
            </a:r>
            <a:r>
              <a:rPr lang="en" dirty="0">
                <a:highlight>
                  <a:srgbClr val="FFFF00"/>
                </a:highlight>
              </a:rPr>
              <a:t> in a relatively short amount of time.</a:t>
            </a:r>
            <a:endParaRPr dirty="0">
              <a:highlight>
                <a:srgbClr val="FFFF00"/>
              </a:highlight>
            </a:endParaRPr>
          </a:p>
          <a:p>
            <a:pPr marL="914400" lvl="1" indent="-298450" algn="l" rtl="0">
              <a:spcBef>
                <a:spcPts val="0"/>
              </a:spcBef>
              <a:spcAft>
                <a:spcPts val="0"/>
              </a:spcAft>
              <a:buSzPts val="1100"/>
              <a:buChar char="○"/>
            </a:pPr>
            <a:r>
              <a:rPr lang="en" dirty="0"/>
              <a:t>There are problems for which the optimal answer takes </a:t>
            </a:r>
            <a:r>
              <a:rPr lang="en" b="1" i="1" dirty="0">
                <a:solidFill>
                  <a:srgbClr val="FF0000"/>
                </a:solidFill>
              </a:rPr>
              <a:t>far too long</a:t>
            </a:r>
            <a:r>
              <a:rPr lang="en" dirty="0"/>
              <a:t> to compute.</a:t>
            </a:r>
            <a:endParaRPr dirty="0"/>
          </a:p>
          <a:p>
            <a:pPr marL="914400" lvl="1" indent="-298450" algn="l" rtl="0">
              <a:spcBef>
                <a:spcPts val="0"/>
              </a:spcBef>
              <a:spcAft>
                <a:spcPts val="0"/>
              </a:spcAft>
              <a:buSzPts val="1100"/>
              <a:buChar char="○"/>
            </a:pPr>
            <a:r>
              <a:rPr lang="en" dirty="0"/>
              <a:t>In these cases, a greedy algorithm may produce an answer that is “</a:t>
            </a:r>
            <a:r>
              <a:rPr lang="en" b="1" i="1" dirty="0">
                <a:solidFill>
                  <a:srgbClr val="FF0000"/>
                </a:solidFill>
              </a:rPr>
              <a:t>close enough</a:t>
            </a:r>
            <a:r>
              <a:rPr lang="en" dirty="0"/>
              <a:t>” in a much shorter amount of time.</a:t>
            </a:r>
            <a:endParaRPr dirty="0"/>
          </a:p>
          <a:p>
            <a:pPr marL="457200" lvl="0" indent="-311150" algn="l" rtl="0">
              <a:spcBef>
                <a:spcPts val="1000"/>
              </a:spcBef>
              <a:spcAft>
                <a:spcPts val="0"/>
              </a:spcAft>
              <a:buSzPts val="1300"/>
              <a:buChar char="●"/>
            </a:pPr>
            <a:r>
              <a:rPr lang="en" dirty="0"/>
              <a:t>Greedy algorithms can be a </a:t>
            </a:r>
            <a:r>
              <a:rPr lang="en" dirty="0">
                <a:highlight>
                  <a:srgbClr val="FFFF00"/>
                </a:highlight>
              </a:rPr>
              <a:t>faster alternative </a:t>
            </a:r>
            <a:r>
              <a:rPr lang="en" dirty="0"/>
              <a:t>to a more heavyweight algorithm </a:t>
            </a:r>
            <a:r>
              <a:rPr lang="en" b="1" i="1" dirty="0">
                <a:solidFill>
                  <a:srgbClr val="FF0000"/>
                </a:solidFill>
              </a:rPr>
              <a:t>if</a:t>
            </a:r>
            <a:r>
              <a:rPr lang="en" dirty="0"/>
              <a:t> they produce a result that is good enough.</a:t>
            </a:r>
            <a:endParaRPr dirty="0"/>
          </a:p>
        </p:txBody>
      </p:sp>
      <p:sp>
        <p:nvSpPr>
          <p:cNvPr id="163" name="Google Shape;163;p25"/>
          <p:cNvSpPr txBox="1"/>
          <p:nvPr/>
        </p:nvSpPr>
        <p:spPr>
          <a:xfrm>
            <a:off x="5235375" y="4058767"/>
            <a:ext cx="3598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will be looking at the traveling salesman problem presently, but first let’s take a look at another classic example: </a:t>
            </a:r>
            <a:r>
              <a:rPr lang="en" sz="1200" b="1" i="1">
                <a:solidFill>
                  <a:srgbClr val="FF0000"/>
                </a:solidFill>
              </a:rPr>
              <a:t>making change</a:t>
            </a:r>
            <a:r>
              <a:rPr lang="en" sz="1200"/>
              <a:t>.</a:t>
            </a:r>
            <a:endParaRPr sz="1200"/>
          </a:p>
        </p:txBody>
      </p:sp>
      <p:pic>
        <p:nvPicPr>
          <p:cNvPr id="164" name="Google Shape;164;p25"/>
          <p:cNvPicPr preferRelativeResize="0"/>
          <p:nvPr/>
        </p:nvPicPr>
        <p:blipFill>
          <a:blip r:embed="rId3">
            <a:alphaModFix/>
          </a:blip>
          <a:stretch>
            <a:fillRect/>
          </a:stretch>
        </p:blipFill>
        <p:spPr>
          <a:xfrm>
            <a:off x="5229600" y="885450"/>
            <a:ext cx="3598800" cy="2245306"/>
          </a:xfrm>
          <a:prstGeom prst="rect">
            <a:avLst/>
          </a:prstGeom>
          <a:noFill/>
          <a:ln w="19050" cap="flat" cmpd="sng">
            <a:solidFill>
              <a:srgbClr val="000000"/>
            </a:solidFill>
            <a:prstDash val="solid"/>
            <a:round/>
            <a:headEnd type="none" w="sm" len="sm"/>
            <a:tailEnd type="none" w="sm" len="sm"/>
          </a:ln>
        </p:spPr>
      </p:pic>
      <p:sp>
        <p:nvSpPr>
          <p:cNvPr id="165" name="Google Shape;165;p25"/>
          <p:cNvSpPr txBox="1"/>
          <p:nvPr/>
        </p:nvSpPr>
        <p:spPr>
          <a:xfrm>
            <a:off x="5235425" y="3229521"/>
            <a:ext cx="3598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b="1" i="1">
                <a:solidFill>
                  <a:srgbClr val="FF0000"/>
                </a:solidFill>
              </a:rPr>
              <a:t>traveling salesman problem</a:t>
            </a:r>
            <a:r>
              <a:rPr lang="en" sz="1200"/>
              <a:t> is a classic example of an algorithm that </a:t>
            </a:r>
            <a:r>
              <a:rPr lang="en" sz="1200" b="1" i="1">
                <a:solidFill>
                  <a:srgbClr val="FF0000"/>
                </a:solidFill>
              </a:rPr>
              <a:t>cannot </a:t>
            </a:r>
            <a:r>
              <a:rPr lang="en" sz="1200"/>
              <a:t>be solved optimally in a reasonable amount of time. </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5"/>
                                        </p:tgtEl>
                                        <p:attrNameLst>
                                          <p:attrName>style.visibility</p:attrName>
                                        </p:attrNameLst>
                                      </p:cBhvr>
                                      <p:to>
                                        <p:strVal val="visible"/>
                                      </p:to>
                                    </p:set>
                                    <p:animEffect transition="in" filter="fade">
                                      <p:cBhvr>
                                        <p:cTn id="39" dur="1000"/>
                                        <p:tgtEl>
                                          <p:spTgt spid="165"/>
                                        </p:tgtEl>
                                      </p:cBhvr>
                                    </p:animEffect>
                                  </p:childTnLst>
                                </p:cTn>
                              </p:par>
                              <p:par>
                                <p:cTn id="40" presetID="10" presetClass="entr" presetSubtype="0" fill="hold" nodeType="withEffect">
                                  <p:stCondLst>
                                    <p:cond delay="0"/>
                                  </p:stCondLst>
                                  <p:childTnLst>
                                    <p:set>
                                      <p:cBhvr>
                                        <p:cTn id="41" dur="1" fill="hold">
                                          <p:stCondLst>
                                            <p:cond delay="0"/>
                                          </p:stCondLst>
                                        </p:cTn>
                                        <p:tgtEl>
                                          <p:spTgt spid="164"/>
                                        </p:tgtEl>
                                        <p:attrNameLst>
                                          <p:attrName>style.visibility</p:attrName>
                                        </p:attrNameLst>
                                      </p:cBhvr>
                                      <p:to>
                                        <p:strVal val="visible"/>
                                      </p:to>
                                    </p:set>
                                    <p:animEffect transition="in" filter="fade">
                                      <p:cBhvr>
                                        <p:cTn id="42" dur="1000"/>
                                        <p:tgtEl>
                                          <p:spTgt spid="16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3"/>
                                        </p:tgtEl>
                                        <p:attrNameLst>
                                          <p:attrName>style.visibility</p:attrName>
                                        </p:attrNameLst>
                                      </p:cBhvr>
                                      <p:to>
                                        <p:strVal val="visible"/>
                                      </p:to>
                                    </p:set>
                                    <p:animEffect transition="in" filter="fade">
                                      <p:cBhvr>
                                        <p:cTn id="47" dur="10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71" name="Google Shape;171;p26"/>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Making Change</a:t>
            </a:r>
            <a:endParaRPr/>
          </a:p>
        </p:txBody>
      </p:sp>
      <p:sp>
        <p:nvSpPr>
          <p:cNvPr id="172" name="Google Shape;172;p26"/>
          <p:cNvSpPr txBox="1">
            <a:spLocks noGrp="1"/>
          </p:cNvSpPr>
          <p:nvPr>
            <p:ph type="body" idx="1"/>
          </p:nvPr>
        </p:nvSpPr>
        <p:spPr>
          <a:xfrm>
            <a:off x="4393025" y="72175"/>
            <a:ext cx="4714800" cy="48054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Consider a typical transaction at the grocery store.</a:t>
            </a:r>
            <a:endParaRPr dirty="0"/>
          </a:p>
          <a:p>
            <a:pPr marL="914400" lvl="1" indent="-298450" algn="l" rtl="0">
              <a:spcBef>
                <a:spcPts val="0"/>
              </a:spcBef>
              <a:spcAft>
                <a:spcPts val="0"/>
              </a:spcAft>
              <a:buSzPts val="1100"/>
              <a:buChar char="○"/>
            </a:pPr>
            <a:r>
              <a:rPr lang="en" dirty="0"/>
              <a:t>A customer approaches a cashier with a cart full of goods.</a:t>
            </a:r>
            <a:endParaRPr dirty="0"/>
          </a:p>
          <a:p>
            <a:pPr marL="914400" lvl="1" indent="-298450" algn="l" rtl="0">
              <a:spcBef>
                <a:spcPts val="0"/>
              </a:spcBef>
              <a:spcAft>
                <a:spcPts val="0"/>
              </a:spcAft>
              <a:buSzPts val="1100"/>
              <a:buChar char="○"/>
            </a:pPr>
            <a:r>
              <a:rPr lang="en" dirty="0"/>
              <a:t>The cashier scans the merchandise and presents the customer with the total price for all of the goods.</a:t>
            </a:r>
            <a:endParaRPr dirty="0"/>
          </a:p>
          <a:p>
            <a:pPr marL="914400" lvl="1" indent="-298450" algn="l" rtl="0">
              <a:spcBef>
                <a:spcPts val="0"/>
              </a:spcBef>
              <a:spcAft>
                <a:spcPts val="0"/>
              </a:spcAft>
              <a:buSzPts val="1100"/>
              <a:buChar char="○"/>
            </a:pPr>
            <a:r>
              <a:rPr lang="en" dirty="0"/>
              <a:t>The customer hands over a payment in the form of an amount of cash greater than or equal to the total price.</a:t>
            </a:r>
            <a:endParaRPr dirty="0"/>
          </a:p>
          <a:p>
            <a:pPr marL="914400" lvl="1" indent="-298450" algn="l" rtl="0">
              <a:spcBef>
                <a:spcPts val="0"/>
              </a:spcBef>
              <a:spcAft>
                <a:spcPts val="0"/>
              </a:spcAft>
              <a:buSzPts val="1100"/>
              <a:buChar char="○"/>
            </a:pPr>
            <a:r>
              <a:rPr lang="en" dirty="0">
                <a:highlight>
                  <a:srgbClr val="FFFF00"/>
                </a:highlight>
              </a:rPr>
              <a:t>The cashier gives any change due back to the customer</a:t>
            </a:r>
            <a:r>
              <a:rPr lang="en" dirty="0"/>
              <a:t>.</a:t>
            </a:r>
            <a:endParaRPr dirty="0"/>
          </a:p>
          <a:p>
            <a:pPr marL="457200" lvl="0" indent="-311150" algn="l" rtl="0">
              <a:spcBef>
                <a:spcPts val="1000"/>
              </a:spcBef>
              <a:spcAft>
                <a:spcPts val="0"/>
              </a:spcAft>
              <a:buSzPts val="1300"/>
              <a:buChar char="●"/>
            </a:pPr>
            <a:r>
              <a:rPr lang="en" dirty="0"/>
              <a:t>There are potentially many algorithms that the cashier might use to determine which coins and bills to use</a:t>
            </a:r>
            <a:endParaRPr dirty="0"/>
          </a:p>
          <a:p>
            <a:pPr marL="914400" lvl="1" indent="-298450" algn="l" rtl="0">
              <a:spcBef>
                <a:spcPts val="0"/>
              </a:spcBef>
              <a:spcAft>
                <a:spcPts val="0"/>
              </a:spcAft>
              <a:buSzPts val="1100"/>
              <a:buChar char="○"/>
            </a:pPr>
            <a:r>
              <a:rPr lang="en" dirty="0">
                <a:highlight>
                  <a:srgbClr val="FFFF00"/>
                </a:highlight>
              </a:rPr>
              <a:t>Try every possible permutation of available coins and bills.</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Choose the largest coin or bill that is less than or equal to the amount due, and subtract it from the total. Repeat.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Use the closest whole dollar amount.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Make change only in pennies.</a:t>
            </a:r>
            <a:endParaRPr dirty="0">
              <a:highlight>
                <a:srgbClr val="FFFF00"/>
              </a:highlight>
            </a:endParaRPr>
          </a:p>
          <a:p>
            <a:pPr marL="914400" lvl="1" indent="-298450" algn="l" rtl="0">
              <a:spcBef>
                <a:spcPts val="0"/>
              </a:spcBef>
              <a:spcAft>
                <a:spcPts val="0"/>
              </a:spcAft>
              <a:buSzPts val="1100"/>
              <a:buChar char="○"/>
            </a:pPr>
            <a:r>
              <a:rPr lang="en" dirty="0"/>
              <a:t>etc.</a:t>
            </a:r>
            <a:endParaRPr dirty="0"/>
          </a:p>
          <a:p>
            <a:pPr marL="457200" lvl="0" indent="-311150" algn="l" rtl="0">
              <a:spcBef>
                <a:spcPts val="1000"/>
              </a:spcBef>
              <a:spcAft>
                <a:spcPts val="0"/>
              </a:spcAft>
              <a:buSzPts val="1300"/>
              <a:buChar char="●"/>
            </a:pPr>
            <a:r>
              <a:rPr lang="en" dirty="0"/>
              <a:t>An </a:t>
            </a:r>
            <a:r>
              <a:rPr lang="en" b="1" i="1" dirty="0">
                <a:solidFill>
                  <a:srgbClr val="FF0000"/>
                </a:solidFill>
              </a:rPr>
              <a:t>optimal </a:t>
            </a:r>
            <a:r>
              <a:rPr lang="en" dirty="0"/>
              <a:t>solution will meet a few simple goals:</a:t>
            </a:r>
            <a:endParaRPr dirty="0"/>
          </a:p>
          <a:p>
            <a:pPr marL="914400" lvl="1" indent="-298450" algn="l" rtl="0">
              <a:spcBef>
                <a:spcPts val="0"/>
              </a:spcBef>
              <a:spcAft>
                <a:spcPts val="0"/>
              </a:spcAft>
              <a:buSzPts val="1100"/>
              <a:buChar char="○"/>
            </a:pPr>
            <a:r>
              <a:rPr lang="en" dirty="0"/>
              <a:t>Give the customer the </a:t>
            </a:r>
            <a:r>
              <a:rPr lang="en" b="1" i="1" dirty="0">
                <a:solidFill>
                  <a:srgbClr val="FF0000"/>
                </a:solidFill>
                <a:highlight>
                  <a:srgbClr val="FFFF00"/>
                </a:highlight>
              </a:rPr>
              <a:t>correct change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Use </a:t>
            </a:r>
            <a:r>
              <a:rPr lang="en" dirty="0">
                <a:highlight>
                  <a:srgbClr val="FFFF00"/>
                </a:highlight>
              </a:rPr>
              <a:t>the </a:t>
            </a:r>
            <a:r>
              <a:rPr lang="en" b="1" i="1" dirty="0">
                <a:solidFill>
                  <a:srgbClr val="FF0000"/>
                </a:solidFill>
                <a:highlight>
                  <a:srgbClr val="FFFF00"/>
                </a:highlight>
              </a:rPr>
              <a:t>smallest number</a:t>
            </a:r>
            <a:r>
              <a:rPr lang="en" b="1" i="1" dirty="0">
                <a:highlight>
                  <a:srgbClr val="FFFF00"/>
                </a:highlight>
              </a:rPr>
              <a:t> </a:t>
            </a:r>
            <a:r>
              <a:rPr lang="en" dirty="0"/>
              <a:t>of bills and coins necessary.</a:t>
            </a:r>
            <a:endParaRPr dirty="0"/>
          </a:p>
          <a:p>
            <a:pPr marL="914400" lvl="1" indent="-298450" algn="l" rtl="0">
              <a:spcBef>
                <a:spcPts val="0"/>
              </a:spcBef>
              <a:spcAft>
                <a:spcPts val="0"/>
              </a:spcAft>
              <a:buSzPts val="1100"/>
              <a:buChar char="○"/>
            </a:pPr>
            <a:r>
              <a:rPr lang="en" dirty="0"/>
              <a:t>Determine the correct answer </a:t>
            </a:r>
            <a:r>
              <a:rPr lang="en" b="1" i="1" dirty="0">
                <a:solidFill>
                  <a:srgbClr val="FF0000"/>
                </a:solidFill>
                <a:highlight>
                  <a:srgbClr val="FFFF00"/>
                </a:highlight>
              </a:rPr>
              <a:t>quickly</a:t>
            </a:r>
            <a:r>
              <a:rPr lang="en" dirty="0">
                <a:highlight>
                  <a:srgbClr val="FFFF00"/>
                </a:highlight>
              </a:rPr>
              <a:t>.</a:t>
            </a:r>
            <a:endParaRPr dirty="0">
              <a:highlight>
                <a:srgbClr val="FFFF00"/>
              </a:highlight>
            </a:endParaRPr>
          </a:p>
          <a:p>
            <a:pPr marL="457200" lvl="0" indent="-311150" algn="l" rtl="0">
              <a:spcBef>
                <a:spcPts val="1000"/>
              </a:spcBef>
              <a:spcAft>
                <a:spcPts val="0"/>
              </a:spcAft>
              <a:buSzPts val="1300"/>
              <a:buChar char="●"/>
            </a:pPr>
            <a:r>
              <a:rPr lang="en" dirty="0"/>
              <a:t>Which algorithm(s) if any meet these goals?</a:t>
            </a:r>
            <a:endParaRPr dirty="0"/>
          </a:p>
        </p:txBody>
      </p:sp>
      <p:sp>
        <p:nvSpPr>
          <p:cNvPr id="173" name="Google Shape;173;p26"/>
          <p:cNvSpPr txBox="1">
            <a:spLocks noGrp="1"/>
          </p:cNvSpPr>
          <p:nvPr>
            <p:ph type="body" idx="3"/>
          </p:nvPr>
        </p:nvSpPr>
        <p:spPr>
          <a:xfrm>
            <a:off x="315425" y="2946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Remember, a </a:t>
            </a:r>
            <a:r>
              <a:rPr lang="en" b="1" i="1" dirty="0">
                <a:solidFill>
                  <a:srgbClr val="FF0000"/>
                </a:solidFill>
              </a:rPr>
              <a:t>greedy algorithm</a:t>
            </a:r>
            <a:r>
              <a:rPr lang="en" dirty="0">
                <a:solidFill>
                  <a:srgbClr val="FF0000"/>
                </a:solidFill>
              </a:rPr>
              <a:t> </a:t>
            </a:r>
            <a:r>
              <a:rPr lang="en" dirty="0"/>
              <a:t>makes the best possible choice at each step with whatever limited information is available.</a:t>
            </a:r>
            <a:endParaRPr dirty="0"/>
          </a:p>
        </p:txBody>
      </p:sp>
      <p:pic>
        <p:nvPicPr>
          <p:cNvPr id="174" name="Google Shape;174;p26"/>
          <p:cNvPicPr preferRelativeResize="0"/>
          <p:nvPr/>
        </p:nvPicPr>
        <p:blipFill>
          <a:blip r:embed="rId3">
            <a:alphaModFix/>
          </a:blip>
          <a:stretch>
            <a:fillRect/>
          </a:stretch>
        </p:blipFill>
        <p:spPr>
          <a:xfrm>
            <a:off x="315425" y="962404"/>
            <a:ext cx="3706505" cy="1841772"/>
          </a:xfrm>
          <a:prstGeom prst="rect">
            <a:avLst/>
          </a:prstGeom>
          <a:noFill/>
          <a:ln>
            <a:noFill/>
          </a:ln>
        </p:spPr>
      </p:pic>
      <p:sp>
        <p:nvSpPr>
          <p:cNvPr id="175" name="Google Shape;175;p26"/>
          <p:cNvSpPr txBox="1">
            <a:spLocks noGrp="1"/>
          </p:cNvSpPr>
          <p:nvPr>
            <p:ph type="body" idx="3"/>
          </p:nvPr>
        </p:nvSpPr>
        <p:spPr>
          <a:xfrm>
            <a:off x="315425" y="3784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algorithm that chooses the </a:t>
            </a:r>
            <a:r>
              <a:rPr lang="en" b="1" i="1">
                <a:solidFill>
                  <a:srgbClr val="FF0000"/>
                </a:solidFill>
              </a:rPr>
              <a:t>largest</a:t>
            </a:r>
            <a:r>
              <a:rPr lang="en">
                <a:solidFill>
                  <a:srgbClr val="FF0000"/>
                </a:solidFill>
              </a:rPr>
              <a:t> </a:t>
            </a:r>
            <a:r>
              <a:rPr lang="en"/>
              <a:t>denomination that is</a:t>
            </a:r>
            <a:r>
              <a:rPr lang="en">
                <a:solidFill>
                  <a:srgbClr val="FF0000"/>
                </a:solidFill>
              </a:rPr>
              <a:t> </a:t>
            </a:r>
            <a:r>
              <a:rPr lang="en" b="1" i="1">
                <a:solidFill>
                  <a:srgbClr val="FF0000"/>
                </a:solidFill>
              </a:rPr>
              <a:t>less than or equal to</a:t>
            </a:r>
            <a:r>
              <a:rPr lang="en"/>
              <a:t> the amount due is an example of a greedy algorithm.</a:t>
            </a:r>
            <a:endParaRPr/>
          </a:p>
        </p:txBody>
      </p:sp>
      <p:sp>
        <p:nvSpPr>
          <p:cNvPr id="176" name="Google Shape;176;p26"/>
          <p:cNvSpPr txBox="1">
            <a:spLocks noGrp="1"/>
          </p:cNvSpPr>
          <p:nvPr>
            <p:ph type="body" idx="3"/>
          </p:nvPr>
        </p:nvSpPr>
        <p:spPr>
          <a:xfrm>
            <a:off x="315425" y="4629936"/>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Does it also find the </a:t>
            </a:r>
            <a:r>
              <a:rPr lang="en" b="1" i="1" dirty="0">
                <a:solidFill>
                  <a:srgbClr val="FF0000"/>
                </a:solidFill>
              </a:rPr>
              <a:t>optimal </a:t>
            </a:r>
            <a:r>
              <a:rPr lang="en" dirty="0"/>
              <a:t>answer?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2">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2">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3"/>
                                        </p:tgtEl>
                                        <p:attrNameLst>
                                          <p:attrName>style.visibility</p:attrName>
                                        </p:attrNameLst>
                                      </p:cBhvr>
                                      <p:to>
                                        <p:strVal val="visible"/>
                                      </p:to>
                                    </p:set>
                                    <p:animEffect transition="in" filter="fade">
                                      <p:cBhvr>
                                        <p:cTn id="71" dur="1000"/>
                                        <p:tgtEl>
                                          <p:spTgt spid="17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75"/>
                                        </p:tgtEl>
                                        <p:attrNameLst>
                                          <p:attrName>style.visibility</p:attrName>
                                        </p:attrNameLst>
                                      </p:cBhvr>
                                      <p:to>
                                        <p:strVal val="visible"/>
                                      </p:to>
                                    </p:set>
                                    <p:animEffect transition="in" filter="fade">
                                      <p:cBhvr>
                                        <p:cTn id="76" dur="1000"/>
                                        <p:tgtEl>
                                          <p:spTgt spid="175"/>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fade">
                                      <p:cBhvr>
                                        <p:cTn id="81" dur="10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7"/>
          <p:cNvPicPr preferRelativeResize="0"/>
          <p:nvPr/>
        </p:nvPicPr>
        <p:blipFill>
          <a:blip r:embed="rId3">
            <a:alphaModFix/>
          </a:blip>
          <a:stretch>
            <a:fillRect/>
          </a:stretch>
        </p:blipFill>
        <p:spPr>
          <a:xfrm>
            <a:off x="116275" y="1954825"/>
            <a:ext cx="2922652" cy="1644475"/>
          </a:xfrm>
          <a:prstGeom prst="rect">
            <a:avLst/>
          </a:prstGeom>
          <a:noFill/>
          <a:ln>
            <a:noFill/>
          </a:ln>
        </p:spPr>
      </p:pic>
      <p:sp>
        <p:nvSpPr>
          <p:cNvPr id="182" name="Google Shape;182;p2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Making Change</a:t>
            </a:r>
            <a:endParaRPr/>
          </a:p>
        </p:txBody>
      </p:sp>
      <p:sp>
        <p:nvSpPr>
          <p:cNvPr id="183" name="Google Shape;183;p2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Now it's your turn to practice writing pseudocode. Sketch out a greedy change-making algorithm using comments before you try to implement it in the next activity.</a:t>
            </a:r>
            <a:endParaRPr/>
          </a:p>
        </p:txBody>
      </p:sp>
      <p:sp>
        <p:nvSpPr>
          <p:cNvPr id="184" name="Google Shape;184;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85" name="Google Shape;185;p2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a:t>
            </a:r>
            <a:endParaRPr/>
          </a:p>
        </p:txBody>
      </p:sp>
      <p:sp>
        <p:nvSpPr>
          <p:cNvPr id="186" name="Google Shape;186;p27"/>
          <p:cNvSpPr/>
          <p:nvPr/>
        </p:nvSpPr>
        <p:spPr>
          <a:xfrm>
            <a:off x="427525" y="1579925"/>
            <a:ext cx="1556700" cy="503700"/>
          </a:xfrm>
          <a:prstGeom prst="wedgeRoundRectCallout">
            <a:avLst>
              <a:gd name="adj1" fmla="val -30671"/>
              <a:gd name="adj2" fmla="val 75550"/>
              <a:gd name="adj3" fmla="val 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 would like some beef jerky and a Diet Coke.</a:t>
            </a:r>
            <a:endParaRPr sz="1000"/>
          </a:p>
        </p:txBody>
      </p:sp>
      <p:sp>
        <p:nvSpPr>
          <p:cNvPr id="187" name="Google Shape;187;p27"/>
          <p:cNvSpPr txBox="1"/>
          <p:nvPr/>
        </p:nvSpPr>
        <p:spPr>
          <a:xfrm>
            <a:off x="167975" y="3653050"/>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188" name="Google Shape;188;p27"/>
          <p:cNvSpPr txBox="1">
            <a:spLocks noGrp="1"/>
          </p:cNvSpPr>
          <p:nvPr>
            <p:ph type="body" idx="2"/>
          </p:nvPr>
        </p:nvSpPr>
        <p:spPr>
          <a:xfrm>
            <a:off x="3038925" y="1555925"/>
            <a:ext cx="5826000" cy="3062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Take a few moments to examine the </a:t>
            </a:r>
            <a:r>
              <a:rPr lang="en" dirty="0">
                <a:latin typeface="Courier New"/>
                <a:ea typeface="Courier New"/>
                <a:cs typeface="Courier New"/>
                <a:sym typeface="Courier New"/>
              </a:rPr>
              <a:t>Currency</a:t>
            </a:r>
            <a:r>
              <a:rPr lang="en" dirty="0"/>
              <a:t> </a:t>
            </a:r>
            <a:r>
              <a:rPr lang="en" dirty="0">
                <a:latin typeface="Courier New"/>
                <a:ea typeface="Courier New"/>
                <a:cs typeface="Courier New"/>
                <a:sym typeface="Courier New"/>
              </a:rPr>
              <a:t>enum</a:t>
            </a:r>
            <a:r>
              <a:rPr lang="en" dirty="0"/>
              <a:t> that has been provided to you.</a:t>
            </a:r>
            <a:endParaRPr dirty="0"/>
          </a:p>
          <a:p>
            <a:pPr marL="914400" lvl="1" indent="-298450" algn="l" rtl="0">
              <a:spcBef>
                <a:spcPts val="0"/>
              </a:spcBef>
              <a:spcAft>
                <a:spcPts val="0"/>
              </a:spcAft>
              <a:buSzPts val="1100"/>
              <a:buChar char="○"/>
            </a:pPr>
            <a:r>
              <a:rPr lang="en" dirty="0"/>
              <a:t>Your algorithm should return a </a:t>
            </a:r>
            <a:r>
              <a:rPr lang="en" dirty="0">
                <a:solidFill>
                  <a:srgbClr val="FF0000"/>
                </a:solidFill>
                <a:latin typeface="Courier New"/>
                <a:ea typeface="Courier New"/>
                <a:cs typeface="Courier New"/>
                <a:sym typeface="Courier New"/>
              </a:rPr>
              <a:t>List</a:t>
            </a:r>
            <a:r>
              <a:rPr lang="en" dirty="0">
                <a:solidFill>
                  <a:srgbClr val="FF0000"/>
                </a:solidFill>
              </a:rPr>
              <a:t> </a:t>
            </a:r>
            <a:r>
              <a:rPr lang="en" b="1" i="1" dirty="0">
                <a:solidFill>
                  <a:srgbClr val="FF0000"/>
                </a:solidFill>
              </a:rPr>
              <a:t>of</a:t>
            </a:r>
            <a:r>
              <a:rPr lang="en" dirty="0">
                <a:solidFill>
                  <a:srgbClr val="FF0000"/>
                </a:solidFill>
              </a:rPr>
              <a:t> </a:t>
            </a:r>
            <a:r>
              <a:rPr lang="en" dirty="0">
                <a:solidFill>
                  <a:srgbClr val="FF0000"/>
                </a:solidFill>
                <a:latin typeface="Courier New"/>
                <a:ea typeface="Courier New"/>
                <a:cs typeface="Courier New"/>
                <a:sym typeface="Courier New"/>
              </a:rPr>
              <a:t>Currency</a:t>
            </a:r>
            <a:r>
              <a:rPr lang="en" dirty="0"/>
              <a:t> that sums to the correct amount of change.</a:t>
            </a:r>
            <a:endParaRPr dirty="0"/>
          </a:p>
          <a:p>
            <a:pPr marL="914400" lvl="1" indent="-298450" algn="l" rtl="0">
              <a:spcBef>
                <a:spcPts val="0"/>
              </a:spcBef>
              <a:spcAft>
                <a:spcPts val="0"/>
              </a:spcAft>
              <a:buSzPts val="1100"/>
              <a:buChar char="○"/>
            </a:pPr>
            <a:r>
              <a:rPr lang="en" dirty="0"/>
              <a:t>For example, if </a:t>
            </a:r>
            <a:r>
              <a:rPr lang="en" dirty="0">
                <a:solidFill>
                  <a:srgbClr val="FF0000"/>
                </a:solidFill>
                <a:latin typeface="Courier New"/>
                <a:ea typeface="Courier New"/>
                <a:cs typeface="Courier New"/>
                <a:sym typeface="Courier New"/>
              </a:rPr>
              <a:t>$2.26</a:t>
            </a:r>
            <a:r>
              <a:rPr lang="en" dirty="0"/>
              <a:t> was the change due back to the customer, your algorithm should return </a:t>
            </a:r>
            <a:r>
              <a:rPr lang="en" dirty="0">
                <a:solidFill>
                  <a:srgbClr val="FF0000"/>
                </a:solidFill>
                <a:latin typeface="Courier New"/>
                <a:ea typeface="Courier New"/>
                <a:cs typeface="Courier New"/>
                <a:sym typeface="Courier New"/>
              </a:rPr>
              <a:t>[DOLLAR, DOLLAR, QUARTER, PENNY]</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Create a new Java class named "</a:t>
            </a:r>
            <a:r>
              <a:rPr lang="en" dirty="0">
                <a:solidFill>
                  <a:srgbClr val="FF0000"/>
                </a:solidFill>
                <a:highlight>
                  <a:srgbClr val="FFFF00"/>
                </a:highlight>
                <a:latin typeface="Courier New"/>
                <a:ea typeface="Courier New"/>
                <a:cs typeface="Courier New"/>
                <a:sym typeface="Courier New"/>
              </a:rPr>
              <a:t>Greedy</a:t>
            </a:r>
            <a:r>
              <a:rPr lang="en" dirty="0"/>
              <a:t>" and define a method called "</a:t>
            </a:r>
            <a:r>
              <a:rPr lang="en" dirty="0">
                <a:solidFill>
                  <a:srgbClr val="FF0000"/>
                </a:solidFill>
                <a:highlight>
                  <a:srgbClr val="FFFF00"/>
                </a:highlight>
                <a:latin typeface="Courier New"/>
                <a:ea typeface="Courier New"/>
                <a:cs typeface="Courier New"/>
                <a:sym typeface="Courier New"/>
              </a:rPr>
              <a:t>makeChange</a:t>
            </a:r>
            <a:r>
              <a:rPr lang="en" dirty="0"/>
              <a:t>" that declares </a:t>
            </a:r>
            <a:r>
              <a:rPr lang="en" dirty="0">
                <a:solidFill>
                  <a:srgbClr val="FF0000"/>
                </a:solidFill>
                <a:latin typeface="Courier New"/>
                <a:ea typeface="Courier New"/>
                <a:cs typeface="Courier New"/>
                <a:sym typeface="Courier New"/>
              </a:rPr>
              <a:t>double</a:t>
            </a:r>
            <a:r>
              <a:rPr lang="en" dirty="0">
                <a:solidFill>
                  <a:srgbClr val="FF0000"/>
                </a:solidFill>
              </a:rPr>
              <a:t> </a:t>
            </a:r>
            <a:r>
              <a:rPr lang="en" dirty="0"/>
              <a:t>parameters for </a:t>
            </a:r>
            <a:r>
              <a:rPr lang="en" dirty="0">
                <a:solidFill>
                  <a:srgbClr val="FF0000"/>
                </a:solidFill>
                <a:latin typeface="Courier New"/>
                <a:ea typeface="Courier New"/>
                <a:cs typeface="Courier New"/>
                <a:sym typeface="Courier New"/>
              </a:rPr>
              <a:t>price</a:t>
            </a:r>
            <a:r>
              <a:rPr lang="en" dirty="0">
                <a:solidFill>
                  <a:srgbClr val="FF0000"/>
                </a:solidFill>
              </a:rPr>
              <a:t> </a:t>
            </a:r>
            <a:r>
              <a:rPr lang="en" dirty="0"/>
              <a:t>and </a:t>
            </a:r>
            <a:r>
              <a:rPr lang="en" dirty="0">
                <a:solidFill>
                  <a:srgbClr val="FF0000"/>
                </a:solidFill>
                <a:latin typeface="Courier New"/>
                <a:ea typeface="Courier New"/>
                <a:cs typeface="Courier New"/>
                <a:sym typeface="Courier New"/>
              </a:rPr>
              <a:t>payment</a:t>
            </a:r>
            <a:r>
              <a:rPr lang="en" dirty="0"/>
              <a:t>. It should return a </a:t>
            </a:r>
            <a:r>
              <a:rPr lang="en" dirty="0">
                <a:solidFill>
                  <a:srgbClr val="FF0000"/>
                </a:solidFill>
                <a:latin typeface="Courier New"/>
                <a:ea typeface="Courier New"/>
                <a:cs typeface="Courier New"/>
                <a:sym typeface="Courier New"/>
              </a:rPr>
              <a:t>List</a:t>
            </a:r>
            <a:r>
              <a:rPr lang="en" dirty="0">
                <a:solidFill>
                  <a:srgbClr val="FF0000"/>
                </a:solidFill>
              </a:rPr>
              <a:t> </a:t>
            </a:r>
            <a:r>
              <a:rPr lang="en" b="1" i="1" dirty="0">
                <a:solidFill>
                  <a:srgbClr val="FF0000"/>
                </a:solidFill>
              </a:rPr>
              <a:t>of </a:t>
            </a:r>
            <a:r>
              <a:rPr lang="en" dirty="0">
                <a:solidFill>
                  <a:srgbClr val="FF0000"/>
                </a:solidFill>
                <a:latin typeface="Courier New"/>
                <a:ea typeface="Courier New"/>
                <a:cs typeface="Courier New"/>
                <a:sym typeface="Courier New"/>
              </a:rPr>
              <a:t>Currency</a:t>
            </a:r>
            <a:r>
              <a:rPr lang="en" dirty="0"/>
              <a:t>.</a:t>
            </a:r>
            <a:endParaRPr dirty="0"/>
          </a:p>
          <a:p>
            <a:pPr marL="914400" lvl="1" indent="-298450" algn="l" rtl="0">
              <a:spcBef>
                <a:spcPts val="0"/>
              </a:spcBef>
              <a:spcAft>
                <a:spcPts val="0"/>
              </a:spcAft>
              <a:buSzPts val="1100"/>
              <a:buChar char="○"/>
            </a:pPr>
            <a:r>
              <a:rPr lang="en" dirty="0"/>
              <a:t>The </a:t>
            </a:r>
            <a:r>
              <a:rPr lang="en" dirty="0">
                <a:latin typeface="Courier New"/>
                <a:ea typeface="Courier New"/>
                <a:cs typeface="Courier New"/>
                <a:sym typeface="Courier New"/>
              </a:rPr>
              <a:t>price</a:t>
            </a:r>
            <a:r>
              <a:rPr lang="en" dirty="0"/>
              <a:t> represents the total cost of the items the customer wants to purchase, and the </a:t>
            </a:r>
            <a:r>
              <a:rPr lang="en" dirty="0">
                <a:latin typeface="Courier New"/>
                <a:ea typeface="Courier New"/>
                <a:cs typeface="Courier New"/>
                <a:sym typeface="Courier New"/>
              </a:rPr>
              <a:t>payment</a:t>
            </a:r>
            <a:r>
              <a:rPr lang="en" dirty="0"/>
              <a:t> indicates how much money they are paying.</a:t>
            </a:r>
            <a:endParaRPr dirty="0"/>
          </a:p>
          <a:p>
            <a:pPr marL="914400" lvl="1" indent="-298450" algn="l" rtl="0">
              <a:spcBef>
                <a:spcPts val="0"/>
              </a:spcBef>
              <a:spcAft>
                <a:spcPts val="0"/>
              </a:spcAft>
              <a:buSzPts val="1100"/>
              <a:buChar char="○"/>
            </a:pPr>
            <a:r>
              <a:rPr lang="en" dirty="0"/>
              <a:t>Using </a:t>
            </a:r>
            <a:r>
              <a:rPr lang="en" b="1" i="1" dirty="0">
                <a:solidFill>
                  <a:srgbClr val="FF0000"/>
                </a:solidFill>
              </a:rPr>
              <a:t>inline comments</a:t>
            </a:r>
            <a:r>
              <a:rPr lang="en" dirty="0"/>
              <a:t>, sketch out a</a:t>
            </a:r>
            <a:r>
              <a:rPr lang="en" dirty="0">
                <a:solidFill>
                  <a:srgbClr val="FF0000"/>
                </a:solidFill>
              </a:rPr>
              <a:t> </a:t>
            </a:r>
            <a:r>
              <a:rPr lang="en" b="1" i="1" dirty="0">
                <a:solidFill>
                  <a:srgbClr val="FF0000"/>
                </a:solidFill>
              </a:rPr>
              <a:t>greedy algorithm</a:t>
            </a:r>
            <a:r>
              <a:rPr lang="en" dirty="0"/>
              <a:t> for computing the correct change to return to the customer in pseudocode.</a:t>
            </a:r>
            <a:endParaRPr dirty="0"/>
          </a:p>
          <a:p>
            <a:pPr marL="914400" lvl="1" indent="-298450" algn="l" rtl="0">
              <a:spcBef>
                <a:spcPts val="0"/>
              </a:spcBef>
              <a:spcAft>
                <a:spcPts val="0"/>
              </a:spcAft>
              <a:buSzPts val="1100"/>
              <a:buChar char="○"/>
            </a:pPr>
            <a:r>
              <a:rPr lang="en" dirty="0"/>
              <a:t>When you have finished outlining your algorithm, </a:t>
            </a:r>
            <a:r>
              <a:rPr lang="en" b="1" i="1" dirty="0">
                <a:solidFill>
                  <a:srgbClr val="FF0000"/>
                </a:solidFill>
              </a:rPr>
              <a:t>commit</a:t>
            </a:r>
            <a:r>
              <a:rPr lang="en" dirty="0"/>
              <a:t> your code.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8"/>
          <p:cNvPicPr preferRelativeResize="0"/>
          <p:nvPr/>
        </p:nvPicPr>
        <p:blipFill>
          <a:blip r:embed="rId3">
            <a:alphaModFix/>
          </a:blip>
          <a:stretch>
            <a:fillRect/>
          </a:stretch>
        </p:blipFill>
        <p:spPr>
          <a:xfrm>
            <a:off x="192475" y="2335825"/>
            <a:ext cx="2922652" cy="1644475"/>
          </a:xfrm>
          <a:prstGeom prst="rect">
            <a:avLst/>
          </a:prstGeom>
          <a:noFill/>
          <a:ln>
            <a:noFill/>
          </a:ln>
        </p:spPr>
      </p:pic>
      <p:sp>
        <p:nvSpPr>
          <p:cNvPr id="194" name="Google Shape;194;p2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Implementing Change</a:t>
            </a:r>
            <a:endParaRPr/>
          </a:p>
        </p:txBody>
      </p:sp>
      <p:sp>
        <p:nvSpPr>
          <p:cNvPr id="195" name="Google Shape;195;p2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Once you are reasonably certain that you have sketched out a sufficiently detailed change-making algorithm, go ahead and try to implement it in Java. Translate each of your pseudocode comments into one or more Java statements. Does it work?</a:t>
            </a:r>
            <a:endParaRPr/>
          </a:p>
        </p:txBody>
      </p:sp>
      <p:sp>
        <p:nvSpPr>
          <p:cNvPr id="196" name="Google Shape;19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197" name="Google Shape;197;p2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a:t>
            </a:r>
            <a:endParaRPr/>
          </a:p>
        </p:txBody>
      </p:sp>
      <p:sp>
        <p:nvSpPr>
          <p:cNvPr id="198" name="Google Shape;198;p28"/>
          <p:cNvSpPr/>
          <p:nvPr/>
        </p:nvSpPr>
        <p:spPr>
          <a:xfrm>
            <a:off x="503725" y="1796375"/>
            <a:ext cx="1741800" cy="668100"/>
          </a:xfrm>
          <a:prstGeom prst="wedgeRoundRectCallout">
            <a:avLst>
              <a:gd name="adj1" fmla="val 19898"/>
              <a:gd name="adj2" fmla="val 70416"/>
              <a:gd name="adj3" fmla="val 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Thank you for shopping at Crossroads. Your total is $1,347.86.</a:t>
            </a:r>
            <a:endParaRPr sz="1000"/>
          </a:p>
        </p:txBody>
      </p:sp>
      <p:sp>
        <p:nvSpPr>
          <p:cNvPr id="199" name="Google Shape;199;p28"/>
          <p:cNvSpPr txBox="1"/>
          <p:nvPr/>
        </p:nvSpPr>
        <p:spPr>
          <a:xfrm>
            <a:off x="244175" y="4034050"/>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200" name="Google Shape;200;p28"/>
          <p:cNvSpPr txBox="1">
            <a:spLocks noGrp="1"/>
          </p:cNvSpPr>
          <p:nvPr>
            <p:ph type="body" idx="2"/>
          </p:nvPr>
        </p:nvSpPr>
        <p:spPr>
          <a:xfrm>
            <a:off x="3181950" y="1757725"/>
            <a:ext cx="5751600" cy="24888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a:t>
            </a:r>
            <a:r>
              <a:rPr lang="en" sz="1600" dirty="0">
                <a:latin typeface="Courier New"/>
                <a:ea typeface="Courier New"/>
                <a:cs typeface="Courier New"/>
                <a:sym typeface="Courier New"/>
              </a:rPr>
              <a:t>Greedy</a:t>
            </a:r>
            <a:r>
              <a:rPr lang="en" sz="1600" dirty="0"/>
              <a:t> class and navigate to the </a:t>
            </a:r>
            <a:r>
              <a:rPr lang="en" sz="1600" dirty="0">
                <a:solidFill>
                  <a:srgbClr val="FF0000"/>
                </a:solidFill>
                <a:latin typeface="Courier New"/>
                <a:ea typeface="Courier New"/>
                <a:cs typeface="Courier New"/>
                <a:sym typeface="Courier New"/>
              </a:rPr>
              <a:t>makeChange</a:t>
            </a:r>
            <a:r>
              <a:rPr lang="en" sz="1600" dirty="0"/>
              <a:t> method.</a:t>
            </a:r>
            <a:endParaRPr sz="1600" dirty="0"/>
          </a:p>
          <a:p>
            <a:pPr marL="914400" lvl="1" indent="-317500" algn="l" rtl="0">
              <a:spcBef>
                <a:spcPts val="0"/>
              </a:spcBef>
              <a:spcAft>
                <a:spcPts val="0"/>
              </a:spcAft>
              <a:buSzPts val="1400"/>
              <a:buChar char="○"/>
            </a:pPr>
            <a:r>
              <a:rPr lang="en" sz="1400" dirty="0"/>
              <a:t>Implement each of the steps in your algorithm using Java statements.</a:t>
            </a:r>
            <a:endParaRPr sz="1400" dirty="0"/>
          </a:p>
          <a:p>
            <a:pPr marL="914400" lvl="1" indent="-317500" algn="l" rtl="0">
              <a:spcBef>
                <a:spcPts val="0"/>
              </a:spcBef>
              <a:spcAft>
                <a:spcPts val="0"/>
              </a:spcAft>
              <a:buSzPts val="1400"/>
              <a:buChar char="○"/>
            </a:pPr>
            <a:r>
              <a:rPr lang="en" sz="1400" dirty="0"/>
              <a:t>You should ultimately return a </a:t>
            </a:r>
            <a:r>
              <a:rPr lang="en" sz="1400" dirty="0">
                <a:latin typeface="Courier New"/>
                <a:ea typeface="Courier New"/>
                <a:cs typeface="Courier New"/>
                <a:sym typeface="Courier New"/>
              </a:rPr>
              <a:t>List</a:t>
            </a:r>
            <a:r>
              <a:rPr lang="en" sz="1400" dirty="0"/>
              <a:t> of </a:t>
            </a:r>
            <a:r>
              <a:rPr lang="en" sz="1400" dirty="0">
                <a:latin typeface="Courier New"/>
                <a:ea typeface="Courier New"/>
                <a:cs typeface="Courier New"/>
                <a:sym typeface="Courier New"/>
              </a:rPr>
              <a:t>Currency</a:t>
            </a:r>
            <a:r>
              <a:rPr lang="en" sz="1400" dirty="0"/>
              <a:t>.</a:t>
            </a:r>
            <a:endParaRPr sz="1400" dirty="0"/>
          </a:p>
          <a:p>
            <a:pPr marL="457200" lvl="0" indent="-330200" algn="l" rtl="0">
              <a:spcBef>
                <a:spcPts val="0"/>
              </a:spcBef>
              <a:spcAft>
                <a:spcPts val="0"/>
              </a:spcAft>
              <a:buSzPts val="1600"/>
              <a:buChar char="●"/>
            </a:pPr>
            <a:r>
              <a:rPr lang="en" sz="1600" dirty="0"/>
              <a:t>Define a </a:t>
            </a:r>
            <a:r>
              <a:rPr lang="en" sz="1600" dirty="0">
                <a:solidFill>
                  <a:srgbClr val="FF0000"/>
                </a:solidFill>
                <a:latin typeface="Courier New"/>
                <a:ea typeface="Courier New"/>
                <a:cs typeface="Courier New"/>
                <a:sym typeface="Courier New"/>
              </a:rPr>
              <a:t>main</a:t>
            </a:r>
            <a:r>
              <a:rPr lang="en" sz="1600" dirty="0">
                <a:solidFill>
                  <a:srgbClr val="FF0000"/>
                </a:solidFill>
              </a:rPr>
              <a:t> </a:t>
            </a:r>
            <a:r>
              <a:rPr lang="en" sz="1600" dirty="0"/>
              <a:t>method with the appropriate signature.</a:t>
            </a:r>
            <a:endParaRPr sz="1600" dirty="0"/>
          </a:p>
          <a:p>
            <a:pPr marL="914400" lvl="1" indent="-317500" algn="l" rtl="0">
              <a:spcBef>
                <a:spcPts val="0"/>
              </a:spcBef>
              <a:spcAft>
                <a:spcPts val="0"/>
              </a:spcAft>
              <a:buSzPts val="1400"/>
              <a:buChar char="○"/>
            </a:pPr>
            <a:r>
              <a:rPr lang="en" sz="1400" b="1" i="1" dirty="0">
                <a:solidFill>
                  <a:srgbClr val="FF0000"/>
                </a:solidFill>
              </a:rPr>
              <a:t>Test</a:t>
            </a:r>
            <a:r>
              <a:rPr lang="en" sz="1400" dirty="0">
                <a:solidFill>
                  <a:srgbClr val="FF0000"/>
                </a:solidFill>
              </a:rPr>
              <a:t> </a:t>
            </a:r>
            <a:r>
              <a:rPr lang="en" sz="1400" dirty="0"/>
              <a:t>the </a:t>
            </a:r>
            <a:r>
              <a:rPr lang="en" sz="1400" dirty="0">
                <a:latin typeface="Courier New"/>
                <a:ea typeface="Courier New"/>
                <a:cs typeface="Courier New"/>
                <a:sym typeface="Courier New"/>
              </a:rPr>
              <a:t>makeChange</a:t>
            </a:r>
            <a:r>
              <a:rPr lang="en" sz="1400" dirty="0"/>
              <a:t> method with several combinations of prices and payments. </a:t>
            </a:r>
            <a:endParaRPr sz="1400" dirty="0"/>
          </a:p>
          <a:p>
            <a:pPr marL="914400" lvl="1" indent="-317500" algn="l" rtl="0">
              <a:spcBef>
                <a:spcPts val="0"/>
              </a:spcBef>
              <a:spcAft>
                <a:spcPts val="0"/>
              </a:spcAft>
              <a:buSzPts val="1400"/>
              <a:buChar char="○"/>
            </a:pPr>
            <a:r>
              <a:rPr lang="en" sz="1400" b="1" i="1" dirty="0">
                <a:solidFill>
                  <a:srgbClr val="FF0000"/>
                </a:solidFill>
              </a:rPr>
              <a:t>Print </a:t>
            </a:r>
            <a:r>
              <a:rPr lang="en" sz="1400" dirty="0"/>
              <a:t>the results of each test to standard output.</a:t>
            </a:r>
            <a:endParaRP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
        <p:nvSpPr>
          <p:cNvPr id="206" name="Google Shape;206;p29"/>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The Knapsack Problem</a:t>
            </a:r>
            <a:endParaRPr sz="2400"/>
          </a:p>
        </p:txBody>
      </p:sp>
      <p:sp>
        <p:nvSpPr>
          <p:cNvPr id="207" name="Google Shape;207;p29"/>
          <p:cNvSpPr txBox="1">
            <a:spLocks noGrp="1"/>
          </p:cNvSpPr>
          <p:nvPr>
            <p:ph type="body" idx="1"/>
          </p:nvPr>
        </p:nvSpPr>
        <p:spPr>
          <a:xfrm>
            <a:off x="299800" y="119925"/>
            <a:ext cx="4396500" cy="48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greedy change-making algorithm makes a </a:t>
            </a:r>
            <a:r>
              <a:rPr lang="en" b="1" i="1" dirty="0">
                <a:solidFill>
                  <a:srgbClr val="FF0000"/>
                </a:solidFill>
              </a:rPr>
              <a:t>locally optimal</a:t>
            </a:r>
            <a:r>
              <a:rPr lang="en" dirty="0"/>
              <a:t> decision with each iteration:</a:t>
            </a:r>
            <a:endParaRPr dirty="0"/>
          </a:p>
          <a:p>
            <a:pPr marL="914400" lvl="1" indent="-298450" algn="l" rtl="0">
              <a:spcBef>
                <a:spcPts val="0"/>
              </a:spcBef>
              <a:spcAft>
                <a:spcPts val="0"/>
              </a:spcAft>
              <a:buSzPts val="1100"/>
              <a:buChar char="○"/>
            </a:pPr>
            <a:r>
              <a:rPr lang="en" dirty="0"/>
              <a:t>"What is the largest bill or coin that is less than the current amount due?"</a:t>
            </a:r>
            <a:endParaRPr dirty="0"/>
          </a:p>
          <a:p>
            <a:pPr marL="457200" lvl="0" indent="-311150" algn="l" rtl="0">
              <a:spcBef>
                <a:spcPts val="1000"/>
              </a:spcBef>
              <a:spcAft>
                <a:spcPts val="0"/>
              </a:spcAft>
              <a:buSzPts val="1300"/>
              <a:buChar char="●"/>
            </a:pPr>
            <a:r>
              <a:rPr lang="en" dirty="0"/>
              <a:t>Such decisions are </a:t>
            </a:r>
            <a:r>
              <a:rPr lang="en" b="1" i="1" dirty="0">
                <a:solidFill>
                  <a:srgbClr val="FF0000"/>
                </a:solidFill>
              </a:rPr>
              <a:t>quick and easy</a:t>
            </a:r>
            <a:r>
              <a:rPr lang="en" dirty="0"/>
              <a:t> to make, but are based on</a:t>
            </a:r>
            <a:r>
              <a:rPr lang="en" dirty="0">
                <a:solidFill>
                  <a:srgbClr val="FF0000"/>
                </a:solidFill>
              </a:rPr>
              <a:t> </a:t>
            </a:r>
            <a:r>
              <a:rPr lang="en" b="1" i="1" dirty="0">
                <a:solidFill>
                  <a:srgbClr val="FF0000"/>
                </a:solidFill>
              </a:rPr>
              <a:t>limited information</a:t>
            </a:r>
            <a:r>
              <a:rPr lang="en" dirty="0"/>
              <a:t>.</a:t>
            </a:r>
            <a:endParaRPr dirty="0"/>
          </a:p>
          <a:p>
            <a:pPr marL="914400" lvl="1" indent="-298450" algn="l" rtl="0">
              <a:spcBef>
                <a:spcPts val="0"/>
              </a:spcBef>
              <a:spcAft>
                <a:spcPts val="0"/>
              </a:spcAft>
              <a:buSzPts val="1100"/>
              <a:buChar char="○"/>
            </a:pPr>
            <a:r>
              <a:rPr lang="en" dirty="0"/>
              <a:t>No memory of what has come before.</a:t>
            </a:r>
            <a:endParaRPr dirty="0"/>
          </a:p>
          <a:p>
            <a:pPr marL="914400" lvl="1" indent="-298450" algn="l" rtl="0">
              <a:spcBef>
                <a:spcPts val="0"/>
              </a:spcBef>
              <a:spcAft>
                <a:spcPts val="0"/>
              </a:spcAft>
              <a:buSzPts val="1100"/>
              <a:buChar char="○"/>
            </a:pPr>
            <a:r>
              <a:rPr lang="en" dirty="0"/>
              <a:t>No idea what is coming next.</a:t>
            </a:r>
            <a:endParaRPr dirty="0"/>
          </a:p>
          <a:p>
            <a:pPr marL="457200" lvl="0" indent="-311150" algn="l" rtl="0">
              <a:spcBef>
                <a:spcPts val="1000"/>
              </a:spcBef>
              <a:spcAft>
                <a:spcPts val="0"/>
              </a:spcAft>
              <a:buSzPts val="1300"/>
              <a:buChar char="●"/>
            </a:pPr>
            <a:r>
              <a:rPr lang="en" b="1" i="1" dirty="0">
                <a:solidFill>
                  <a:srgbClr val="FF0000"/>
                </a:solidFill>
              </a:rPr>
              <a:t>Sometimes</a:t>
            </a:r>
            <a:r>
              <a:rPr lang="en" dirty="0">
                <a:solidFill>
                  <a:srgbClr val="FF0000"/>
                </a:solidFill>
              </a:rPr>
              <a:t> </a:t>
            </a:r>
            <a:r>
              <a:rPr lang="en" dirty="0"/>
              <a:t>making the locally optimal decision results in a solution that is </a:t>
            </a:r>
            <a:r>
              <a:rPr lang="en" dirty="0">
                <a:highlight>
                  <a:srgbClr val="FFFF00"/>
                </a:highlight>
              </a:rPr>
              <a:t>also </a:t>
            </a:r>
            <a:r>
              <a:rPr lang="en" b="1" i="1" dirty="0">
                <a:solidFill>
                  <a:srgbClr val="FF0000"/>
                </a:solidFill>
                <a:highlight>
                  <a:srgbClr val="FFFF00"/>
                </a:highlight>
              </a:rPr>
              <a:t>globally optimal</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This is the case with the change-making algorithm, which quickly comes up with the best possible answer.</a:t>
            </a:r>
            <a:endParaRPr dirty="0">
              <a:highlight>
                <a:srgbClr val="FFFF00"/>
              </a:highlight>
            </a:endParaRPr>
          </a:p>
          <a:p>
            <a:pPr marL="914400" lvl="1" indent="-298450" algn="l" rtl="0">
              <a:spcBef>
                <a:spcPts val="0"/>
              </a:spcBef>
              <a:spcAft>
                <a:spcPts val="0"/>
              </a:spcAft>
              <a:buSzPts val="1100"/>
              <a:buChar char="○"/>
            </a:pPr>
            <a:r>
              <a:rPr lang="en" dirty="0"/>
              <a:t>But this isn't always the case!</a:t>
            </a:r>
            <a:endParaRPr dirty="0"/>
          </a:p>
          <a:p>
            <a:pPr marL="457200" lvl="0" indent="-311150" algn="l" rtl="0">
              <a:spcBef>
                <a:spcPts val="1000"/>
              </a:spcBef>
              <a:spcAft>
                <a:spcPts val="0"/>
              </a:spcAft>
              <a:buSzPts val="1300"/>
              <a:buChar char="●"/>
            </a:pPr>
            <a:r>
              <a:rPr lang="en" dirty="0"/>
              <a:t>Consider the</a:t>
            </a:r>
            <a:r>
              <a:rPr lang="en" b="1" i="1" dirty="0"/>
              <a:t> </a:t>
            </a:r>
            <a:r>
              <a:rPr lang="en" b="1" i="1" dirty="0">
                <a:solidFill>
                  <a:srgbClr val="FF0000"/>
                </a:solidFill>
              </a:rPr>
              <a:t>Knapsack Problem</a:t>
            </a:r>
            <a:r>
              <a:rPr lang="en" dirty="0"/>
              <a:t>.</a:t>
            </a:r>
            <a:endParaRPr dirty="0"/>
          </a:p>
          <a:p>
            <a:pPr marL="914400" lvl="1" indent="-298450" algn="l" rtl="0">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knapsack</a:t>
            </a:r>
            <a:r>
              <a:rPr lang="en" dirty="0">
                <a:solidFill>
                  <a:srgbClr val="FF0000"/>
                </a:solidFill>
                <a:highlight>
                  <a:srgbClr val="FFFF00"/>
                </a:highlight>
              </a:rPr>
              <a:t> </a:t>
            </a:r>
            <a:r>
              <a:rPr lang="en" dirty="0">
                <a:highlight>
                  <a:srgbClr val="FFFF00"/>
                </a:highlight>
              </a:rPr>
              <a:t>has a </a:t>
            </a:r>
            <a:r>
              <a:rPr lang="en" b="1" i="1" dirty="0">
                <a:solidFill>
                  <a:srgbClr val="FF0000"/>
                </a:solidFill>
                <a:highlight>
                  <a:srgbClr val="FFFF00"/>
                </a:highlight>
              </a:rPr>
              <a:t>maximum weight capacity</a:t>
            </a:r>
            <a:r>
              <a:rPr lang="en" dirty="0">
                <a:highlight>
                  <a:srgbClr val="FFFF00"/>
                </a:highlight>
              </a:rPr>
              <a:t> that it can hold.</a:t>
            </a:r>
            <a:endParaRPr dirty="0">
              <a:highlight>
                <a:srgbClr val="FFFF00"/>
              </a:highlight>
            </a:endParaRPr>
          </a:p>
          <a:p>
            <a:pPr marL="914400" lvl="1" indent="-298450" algn="l" rtl="0">
              <a:spcBef>
                <a:spcPts val="0"/>
              </a:spcBef>
              <a:spcAft>
                <a:spcPts val="0"/>
              </a:spcAft>
              <a:buSzPts val="1100"/>
              <a:buChar char="○"/>
            </a:pPr>
            <a:r>
              <a:rPr lang="en" dirty="0"/>
              <a:t>Each </a:t>
            </a:r>
            <a:r>
              <a:rPr lang="en" b="1" i="1" dirty="0">
                <a:solidFill>
                  <a:srgbClr val="FF0000"/>
                </a:solidFill>
              </a:rPr>
              <a:t>item</a:t>
            </a:r>
            <a:r>
              <a:rPr lang="en" dirty="0">
                <a:solidFill>
                  <a:srgbClr val="FF0000"/>
                </a:solidFill>
              </a:rPr>
              <a:t> </a:t>
            </a:r>
            <a:r>
              <a:rPr lang="en" dirty="0"/>
              <a:t>has a </a:t>
            </a:r>
            <a:r>
              <a:rPr lang="en" b="1" i="1" dirty="0">
                <a:solidFill>
                  <a:srgbClr val="FF0000"/>
                </a:solidFill>
              </a:rPr>
              <a:t>weight</a:t>
            </a:r>
            <a:r>
              <a:rPr lang="en" dirty="0">
                <a:solidFill>
                  <a:srgbClr val="FF0000"/>
                </a:solidFill>
              </a:rPr>
              <a:t> </a:t>
            </a:r>
            <a:r>
              <a:rPr lang="en" dirty="0"/>
              <a:t>and a </a:t>
            </a:r>
            <a:r>
              <a:rPr lang="en" b="1" i="1" dirty="0">
                <a:solidFill>
                  <a:srgbClr val="FF0000"/>
                </a:solidFill>
              </a:rPr>
              <a:t>value</a:t>
            </a:r>
            <a:r>
              <a:rPr lang="en" dirty="0"/>
              <a:t>.</a:t>
            </a:r>
            <a:endParaRPr dirty="0"/>
          </a:p>
          <a:p>
            <a:pPr marL="914400" lvl="1" indent="-298450" algn="l" rtl="0">
              <a:spcBef>
                <a:spcPts val="0"/>
              </a:spcBef>
              <a:spcAft>
                <a:spcPts val="0"/>
              </a:spcAft>
              <a:buSzPts val="1100"/>
              <a:buChar char="○"/>
            </a:pPr>
            <a:r>
              <a:rPr lang="en" dirty="0"/>
              <a:t>What is the best way to </a:t>
            </a:r>
            <a:r>
              <a:rPr lang="en" b="1" i="1" dirty="0">
                <a:solidFill>
                  <a:srgbClr val="FF0000"/>
                </a:solidFill>
              </a:rPr>
              <a:t>maximize </a:t>
            </a:r>
            <a:r>
              <a:rPr lang="en" dirty="0"/>
              <a:t>the </a:t>
            </a:r>
            <a:r>
              <a:rPr lang="en" b="1" i="1" dirty="0">
                <a:solidFill>
                  <a:srgbClr val="FF0000"/>
                </a:solidFill>
              </a:rPr>
              <a:t>value</a:t>
            </a:r>
            <a:r>
              <a:rPr lang="en" dirty="0">
                <a:solidFill>
                  <a:srgbClr val="FF0000"/>
                </a:solidFill>
              </a:rPr>
              <a:t> </a:t>
            </a:r>
            <a:r>
              <a:rPr lang="en" dirty="0"/>
              <a:t>of the items in the knapsack without going over its </a:t>
            </a:r>
            <a:r>
              <a:rPr lang="en" b="1" i="1" dirty="0">
                <a:solidFill>
                  <a:srgbClr val="FF0000"/>
                </a:solidFill>
              </a:rPr>
              <a:t>weight limit</a:t>
            </a:r>
            <a:r>
              <a:rPr lang="en" dirty="0"/>
              <a:t>?</a:t>
            </a:r>
            <a:endParaRPr dirty="0"/>
          </a:p>
        </p:txBody>
      </p:sp>
      <p:sp>
        <p:nvSpPr>
          <p:cNvPr id="208" name="Google Shape;208;p29"/>
          <p:cNvSpPr txBox="1">
            <a:spLocks noGrp="1"/>
          </p:cNvSpPr>
          <p:nvPr>
            <p:ph type="body" idx="3"/>
          </p:nvPr>
        </p:nvSpPr>
        <p:spPr>
          <a:xfrm>
            <a:off x="5192225" y="4089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There are several possible greedy algorithms for choosing which items should be packed into the knapsack. Do any find an optimal solution?</a:t>
            </a:r>
            <a:endParaRPr/>
          </a:p>
        </p:txBody>
      </p:sp>
      <p:pic>
        <p:nvPicPr>
          <p:cNvPr id="209" name="Google Shape;209;p29"/>
          <p:cNvPicPr preferRelativeResize="0"/>
          <p:nvPr/>
        </p:nvPicPr>
        <p:blipFill>
          <a:blip r:embed="rId3">
            <a:alphaModFix/>
          </a:blip>
          <a:stretch>
            <a:fillRect/>
          </a:stretch>
        </p:blipFill>
        <p:spPr>
          <a:xfrm>
            <a:off x="5419250" y="828725"/>
            <a:ext cx="3189745" cy="30268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8"/>
                                        </p:tgtEl>
                                        <p:attrNameLst>
                                          <p:attrName>style.visibility</p:attrName>
                                        </p:attrNameLst>
                                      </p:cBhvr>
                                      <p:to>
                                        <p:strVal val="visible"/>
                                      </p:to>
                                    </p:set>
                                    <p:animEffect transition="in" filter="fade">
                                      <p:cBhvr>
                                        <p:cTn id="55" dur="10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0"/>
          <p:cNvPicPr preferRelativeResize="0"/>
          <p:nvPr/>
        </p:nvPicPr>
        <p:blipFill>
          <a:blip r:embed="rId3">
            <a:alphaModFix/>
          </a:blip>
          <a:stretch>
            <a:fillRect/>
          </a:stretch>
        </p:blipFill>
        <p:spPr>
          <a:xfrm>
            <a:off x="3367395" y="1335862"/>
            <a:ext cx="2409250" cy="3649969"/>
          </a:xfrm>
          <a:prstGeom prst="rect">
            <a:avLst/>
          </a:prstGeom>
          <a:noFill/>
          <a:ln>
            <a:noFill/>
          </a:ln>
        </p:spPr>
      </p:pic>
      <p:pic>
        <p:nvPicPr>
          <p:cNvPr id="215" name="Google Shape;215;p30"/>
          <p:cNvPicPr preferRelativeResize="0"/>
          <p:nvPr/>
        </p:nvPicPr>
        <p:blipFill>
          <a:blip r:embed="rId4">
            <a:alphaModFix/>
          </a:blip>
          <a:stretch>
            <a:fillRect/>
          </a:stretch>
        </p:blipFill>
        <p:spPr>
          <a:xfrm>
            <a:off x="3367388" y="1335852"/>
            <a:ext cx="2409275" cy="3649998"/>
          </a:xfrm>
          <a:prstGeom prst="rect">
            <a:avLst/>
          </a:prstGeom>
          <a:noFill/>
          <a:ln>
            <a:noFill/>
          </a:ln>
        </p:spPr>
      </p:pic>
      <p:sp>
        <p:nvSpPr>
          <p:cNvPr id="216" name="Google Shape;216;p30"/>
          <p:cNvSpPr txBox="1">
            <a:spLocks noGrp="1"/>
          </p:cNvSpPr>
          <p:nvPr>
            <p:ph type="sldNum" idx="12"/>
          </p:nvPr>
        </p:nvSpPr>
        <p:spPr>
          <a:xfrm>
            <a:off x="8604249" y="4862897"/>
            <a:ext cx="548700" cy="27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217" name="Google Shape;217;p3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Illustrated Knapsack Problem</a:t>
            </a:r>
            <a:endParaRPr/>
          </a:p>
        </p:txBody>
      </p:sp>
      <p:sp>
        <p:nvSpPr>
          <p:cNvPr id="218" name="Google Shape;218;p30"/>
          <p:cNvSpPr txBox="1"/>
          <p:nvPr/>
        </p:nvSpPr>
        <p:spPr>
          <a:xfrm>
            <a:off x="319725" y="1393075"/>
            <a:ext cx="27948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a:t>
            </a:r>
            <a:r>
              <a:rPr lang="en" sz="1200" b="1" i="1">
                <a:solidFill>
                  <a:srgbClr val="FF0000"/>
                </a:solidFill>
              </a:rPr>
              <a:t>knapsack</a:t>
            </a:r>
            <a:r>
              <a:rPr lang="en" sz="1200">
                <a:solidFill>
                  <a:srgbClr val="FF0000"/>
                </a:solidFill>
              </a:rPr>
              <a:t> </a:t>
            </a:r>
            <a:r>
              <a:rPr lang="en" sz="1200"/>
              <a:t>has a </a:t>
            </a:r>
            <a:r>
              <a:rPr lang="en" sz="1200" b="1" i="1">
                <a:solidFill>
                  <a:srgbClr val="FF0000"/>
                </a:solidFill>
              </a:rPr>
              <a:t>maximum weight</a:t>
            </a:r>
            <a:r>
              <a:rPr lang="en" sz="1200">
                <a:solidFill>
                  <a:srgbClr val="FF0000"/>
                </a:solidFill>
              </a:rPr>
              <a:t> </a:t>
            </a:r>
            <a:r>
              <a:rPr lang="en" sz="1200" b="1" i="1">
                <a:solidFill>
                  <a:srgbClr val="FF0000"/>
                </a:solidFill>
              </a:rPr>
              <a:t>capacity </a:t>
            </a:r>
            <a:r>
              <a:rPr lang="en" sz="1200"/>
              <a:t>that it can carry.</a:t>
            </a:r>
            <a:endParaRPr sz="1200"/>
          </a:p>
        </p:txBody>
      </p:sp>
      <p:sp>
        <p:nvSpPr>
          <p:cNvPr id="219" name="Google Shape;219;p30"/>
          <p:cNvSpPr/>
          <p:nvPr/>
        </p:nvSpPr>
        <p:spPr>
          <a:xfrm>
            <a:off x="4958200" y="1078450"/>
            <a:ext cx="885900" cy="329700"/>
          </a:xfrm>
          <a:prstGeom prst="wedgeRectCallout">
            <a:avLst>
              <a:gd name="adj1" fmla="val -43027"/>
              <a:gd name="adj2" fmla="val 131203"/>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 lb</a:t>
            </a:r>
            <a:endParaRPr/>
          </a:p>
        </p:txBody>
      </p:sp>
      <p:grpSp>
        <p:nvGrpSpPr>
          <p:cNvPr id="220" name="Google Shape;220;p30"/>
          <p:cNvGrpSpPr/>
          <p:nvPr/>
        </p:nvGrpSpPr>
        <p:grpSpPr>
          <a:xfrm>
            <a:off x="471257" y="2962288"/>
            <a:ext cx="2529388" cy="2097346"/>
            <a:chOff x="395057" y="2948554"/>
            <a:chExt cx="2529388" cy="2097346"/>
          </a:xfrm>
        </p:grpSpPr>
        <p:pic>
          <p:nvPicPr>
            <p:cNvPr id="221" name="Google Shape;221;p30"/>
            <p:cNvPicPr preferRelativeResize="0"/>
            <p:nvPr/>
          </p:nvPicPr>
          <p:blipFill>
            <a:blip r:embed="rId5">
              <a:alphaModFix/>
            </a:blip>
            <a:stretch>
              <a:fillRect/>
            </a:stretch>
          </p:blipFill>
          <p:spPr>
            <a:xfrm rot="3132232" flipH="1">
              <a:off x="147483" y="3693733"/>
              <a:ext cx="2077813" cy="391385"/>
            </a:xfrm>
            <a:prstGeom prst="rect">
              <a:avLst/>
            </a:prstGeom>
            <a:noFill/>
            <a:ln>
              <a:noFill/>
            </a:ln>
          </p:spPr>
        </p:pic>
        <p:pic>
          <p:nvPicPr>
            <p:cNvPr id="222" name="Google Shape;222;p30"/>
            <p:cNvPicPr preferRelativeResize="0"/>
            <p:nvPr/>
          </p:nvPicPr>
          <p:blipFill>
            <a:blip r:embed="rId6">
              <a:alphaModFix/>
            </a:blip>
            <a:stretch>
              <a:fillRect/>
            </a:stretch>
          </p:blipFill>
          <p:spPr>
            <a:xfrm>
              <a:off x="1258750" y="3217517"/>
              <a:ext cx="245011" cy="246992"/>
            </a:xfrm>
            <a:prstGeom prst="rect">
              <a:avLst/>
            </a:prstGeom>
            <a:noFill/>
            <a:ln>
              <a:noFill/>
            </a:ln>
          </p:spPr>
        </p:pic>
        <p:pic>
          <p:nvPicPr>
            <p:cNvPr id="223" name="Google Shape;223;p30"/>
            <p:cNvPicPr preferRelativeResize="0"/>
            <p:nvPr/>
          </p:nvPicPr>
          <p:blipFill>
            <a:blip r:embed="rId7">
              <a:alphaModFix/>
            </a:blip>
            <a:stretch>
              <a:fillRect/>
            </a:stretch>
          </p:blipFill>
          <p:spPr>
            <a:xfrm>
              <a:off x="596634" y="4318675"/>
              <a:ext cx="692923" cy="694745"/>
            </a:xfrm>
            <a:prstGeom prst="rect">
              <a:avLst/>
            </a:prstGeom>
            <a:noFill/>
            <a:ln>
              <a:noFill/>
            </a:ln>
          </p:spPr>
        </p:pic>
        <p:pic>
          <p:nvPicPr>
            <p:cNvPr id="224" name="Google Shape;224;p30"/>
            <p:cNvPicPr preferRelativeResize="0"/>
            <p:nvPr/>
          </p:nvPicPr>
          <p:blipFill>
            <a:blip r:embed="rId8">
              <a:alphaModFix/>
            </a:blip>
            <a:stretch>
              <a:fillRect/>
            </a:stretch>
          </p:blipFill>
          <p:spPr>
            <a:xfrm>
              <a:off x="1691972" y="3111630"/>
              <a:ext cx="303433" cy="958148"/>
            </a:xfrm>
            <a:prstGeom prst="rect">
              <a:avLst/>
            </a:prstGeom>
            <a:noFill/>
            <a:ln>
              <a:noFill/>
            </a:ln>
          </p:spPr>
        </p:pic>
        <p:pic>
          <p:nvPicPr>
            <p:cNvPr id="225" name="Google Shape;225;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26" name="Google Shape;226;p30"/>
          <p:cNvSpPr txBox="1"/>
          <p:nvPr/>
        </p:nvSpPr>
        <p:spPr>
          <a:xfrm>
            <a:off x="319725" y="2044539"/>
            <a:ext cx="27948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each </a:t>
            </a:r>
            <a:r>
              <a:rPr lang="en" sz="1200" b="1" i="1">
                <a:solidFill>
                  <a:srgbClr val="FF0000"/>
                </a:solidFill>
              </a:rPr>
              <a:t>item</a:t>
            </a:r>
            <a:r>
              <a:rPr lang="en" sz="1200">
                <a:solidFill>
                  <a:srgbClr val="FF0000"/>
                </a:solidFill>
              </a:rPr>
              <a:t> </a:t>
            </a:r>
            <a:r>
              <a:rPr lang="en" sz="1200"/>
              <a:t>has a </a:t>
            </a:r>
            <a:r>
              <a:rPr lang="en" sz="1200" b="1" i="1">
                <a:solidFill>
                  <a:srgbClr val="FF0000"/>
                </a:solidFill>
              </a:rPr>
              <a:t>value</a:t>
            </a:r>
            <a:r>
              <a:rPr lang="en" sz="1200">
                <a:solidFill>
                  <a:srgbClr val="FF0000"/>
                </a:solidFill>
              </a:rPr>
              <a:t> </a:t>
            </a:r>
            <a:r>
              <a:rPr lang="en" sz="1200"/>
              <a:t>and a </a:t>
            </a:r>
            <a:r>
              <a:rPr lang="en" sz="1200" b="1" i="1">
                <a:solidFill>
                  <a:srgbClr val="FF0000"/>
                </a:solidFill>
              </a:rPr>
              <a:t>weight</a:t>
            </a:r>
            <a:r>
              <a:rPr lang="en" sz="1200"/>
              <a:t>.</a:t>
            </a:r>
            <a:endParaRPr sz="1200"/>
          </a:p>
        </p:txBody>
      </p:sp>
      <p:sp>
        <p:nvSpPr>
          <p:cNvPr id="227" name="Google Shape;227;p30"/>
          <p:cNvSpPr txBox="1"/>
          <p:nvPr/>
        </p:nvSpPr>
        <p:spPr>
          <a:xfrm>
            <a:off x="6034725" y="1393075"/>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The </a:t>
            </a:r>
            <a:r>
              <a:rPr lang="en" sz="1200" b="1" i="1" dirty="0">
                <a:solidFill>
                  <a:srgbClr val="FF0000"/>
                </a:solidFill>
              </a:rPr>
              <a:t>goal</a:t>
            </a:r>
            <a:r>
              <a:rPr lang="en" sz="1200" dirty="0">
                <a:solidFill>
                  <a:srgbClr val="FF0000"/>
                </a:solidFill>
              </a:rPr>
              <a:t> </a:t>
            </a:r>
            <a:r>
              <a:rPr lang="en" sz="1200" dirty="0"/>
              <a:t>of the </a:t>
            </a:r>
            <a:r>
              <a:rPr lang="en" sz="1200" b="1" i="1" dirty="0">
                <a:solidFill>
                  <a:srgbClr val="FF0000"/>
                </a:solidFill>
              </a:rPr>
              <a:t>Knapsack Problem</a:t>
            </a:r>
            <a:r>
              <a:rPr lang="en" sz="1200" dirty="0">
                <a:solidFill>
                  <a:srgbClr val="FF0000"/>
                </a:solidFill>
              </a:rPr>
              <a:t> </a:t>
            </a:r>
            <a:r>
              <a:rPr lang="en" sz="1200" dirty="0"/>
              <a:t>is to pack the combination of items that </a:t>
            </a:r>
            <a:r>
              <a:rPr lang="en" sz="1200" b="1" i="1" dirty="0">
                <a:solidFill>
                  <a:srgbClr val="FF0000"/>
                </a:solidFill>
              </a:rPr>
              <a:t>maximizes the total value</a:t>
            </a:r>
            <a:r>
              <a:rPr lang="en" sz="1200" dirty="0">
                <a:solidFill>
                  <a:srgbClr val="FF0000"/>
                </a:solidFill>
              </a:rPr>
              <a:t> </a:t>
            </a:r>
            <a:r>
              <a:rPr lang="en" sz="1200" dirty="0"/>
              <a:t>without exceeding the capacity.</a:t>
            </a:r>
            <a:endParaRPr sz="1200" dirty="0"/>
          </a:p>
        </p:txBody>
      </p:sp>
      <p:grpSp>
        <p:nvGrpSpPr>
          <p:cNvPr id="228" name="Google Shape;228;p30"/>
          <p:cNvGrpSpPr/>
          <p:nvPr/>
        </p:nvGrpSpPr>
        <p:grpSpPr>
          <a:xfrm>
            <a:off x="317528" y="2692384"/>
            <a:ext cx="2792770" cy="1548900"/>
            <a:chOff x="241328" y="2678650"/>
            <a:chExt cx="2792770" cy="1548900"/>
          </a:xfrm>
        </p:grpSpPr>
        <p:sp>
          <p:nvSpPr>
            <p:cNvPr id="229" name="Google Shape;229;p30"/>
            <p:cNvSpPr/>
            <p:nvPr/>
          </p:nvSpPr>
          <p:spPr>
            <a:xfrm>
              <a:off x="912733" y="2678650"/>
              <a:ext cx="611100" cy="329700"/>
            </a:xfrm>
            <a:prstGeom prst="wedgeRectCallout">
              <a:avLst>
                <a:gd name="adj1" fmla="val 22140"/>
                <a:gd name="adj2" fmla="val 95754"/>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 1lb</a:t>
              </a:r>
              <a:endParaRPr sz="1000"/>
            </a:p>
          </p:txBody>
        </p:sp>
        <p:sp>
          <p:nvSpPr>
            <p:cNvPr id="230" name="Google Shape;230;p30"/>
            <p:cNvSpPr/>
            <p:nvPr/>
          </p:nvSpPr>
          <p:spPr>
            <a:xfrm>
              <a:off x="1598533" y="2685517"/>
              <a:ext cx="611100" cy="329700"/>
            </a:xfrm>
            <a:prstGeom prst="wedgeRectCallout">
              <a:avLst>
                <a:gd name="adj1" fmla="val 7572"/>
                <a:gd name="adj2" fmla="val 91583"/>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 2lb</a:t>
              </a:r>
              <a:endParaRPr sz="1000"/>
            </a:p>
          </p:txBody>
        </p:sp>
        <p:sp>
          <p:nvSpPr>
            <p:cNvPr id="231" name="Google Shape;231;p30"/>
            <p:cNvSpPr/>
            <p:nvPr/>
          </p:nvSpPr>
          <p:spPr>
            <a:xfrm>
              <a:off x="2422999" y="2685517"/>
              <a:ext cx="611100" cy="329700"/>
            </a:xfrm>
            <a:prstGeom prst="wedgeRectCallout">
              <a:avLst>
                <a:gd name="adj1" fmla="val 7572"/>
                <a:gd name="adj2" fmla="val 91583"/>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 3lb</a:t>
              </a:r>
              <a:endParaRPr sz="1000"/>
            </a:p>
          </p:txBody>
        </p:sp>
        <p:sp>
          <p:nvSpPr>
            <p:cNvPr id="232" name="Google Shape;232;p30"/>
            <p:cNvSpPr/>
            <p:nvPr/>
          </p:nvSpPr>
          <p:spPr>
            <a:xfrm>
              <a:off x="1065133" y="3516850"/>
              <a:ext cx="611100" cy="329700"/>
            </a:xfrm>
            <a:prstGeom prst="wedgeRectCallout">
              <a:avLst>
                <a:gd name="adj1" fmla="val -37416"/>
                <a:gd name="adj2" fmla="val 91462"/>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 4lb</a:t>
              </a:r>
              <a:endParaRPr sz="1000"/>
            </a:p>
          </p:txBody>
        </p:sp>
        <p:sp>
          <p:nvSpPr>
            <p:cNvPr id="233" name="Google Shape;233;p30"/>
            <p:cNvSpPr/>
            <p:nvPr/>
          </p:nvSpPr>
          <p:spPr>
            <a:xfrm>
              <a:off x="241328" y="3897850"/>
              <a:ext cx="611100" cy="329700"/>
            </a:xfrm>
            <a:prstGeom prst="wedgeRectCallout">
              <a:avLst>
                <a:gd name="adj1" fmla="val 35583"/>
                <a:gd name="adj2" fmla="val 84410"/>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 9lb</a:t>
              </a:r>
              <a:endParaRPr sz="1000"/>
            </a:p>
          </p:txBody>
        </p:sp>
      </p:grpSp>
      <p:sp>
        <p:nvSpPr>
          <p:cNvPr id="234" name="Google Shape;234;p30"/>
          <p:cNvSpPr txBox="1"/>
          <p:nvPr/>
        </p:nvSpPr>
        <p:spPr>
          <a:xfrm>
            <a:off x="6034725" y="2411144"/>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The </a:t>
            </a:r>
            <a:r>
              <a:rPr lang="en" sz="1200" b="1" i="1" dirty="0">
                <a:solidFill>
                  <a:srgbClr val="FF0000"/>
                </a:solidFill>
              </a:rPr>
              <a:t>optimal solution</a:t>
            </a:r>
            <a:r>
              <a:rPr lang="en" sz="1200" dirty="0">
                <a:solidFill>
                  <a:srgbClr val="FF0000"/>
                </a:solidFill>
              </a:rPr>
              <a:t> </a:t>
            </a:r>
            <a:r>
              <a:rPr lang="en" sz="1200" dirty="0"/>
              <a:t>requires trying every possible combination of items to see which has the highest value; this is </a:t>
            </a:r>
            <a:r>
              <a:rPr lang="en" sz="1200" b="1" i="1" dirty="0">
                <a:solidFill>
                  <a:srgbClr val="FF0000"/>
                </a:solidFill>
                <a:highlight>
                  <a:srgbClr val="FFFF00"/>
                </a:highlight>
              </a:rPr>
              <a:t>computationally expensive</a:t>
            </a:r>
            <a:r>
              <a:rPr lang="en" sz="1200" dirty="0">
                <a:highlight>
                  <a:srgbClr val="FFFF00"/>
                </a:highlight>
              </a:rPr>
              <a:t>.</a:t>
            </a:r>
            <a:endParaRPr sz="1200" dirty="0">
              <a:highlight>
                <a:srgbClr val="FFFF00"/>
              </a:highlight>
            </a:endParaRPr>
          </a:p>
        </p:txBody>
      </p:sp>
      <p:sp>
        <p:nvSpPr>
          <p:cNvPr id="235" name="Google Shape;235;p30"/>
          <p:cNvSpPr txBox="1"/>
          <p:nvPr/>
        </p:nvSpPr>
        <p:spPr>
          <a:xfrm>
            <a:off x="6034725" y="3429874"/>
            <a:ext cx="2794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 greedy algorithm </a:t>
            </a:r>
            <a:r>
              <a:rPr lang="en" sz="1200" b="1" i="1" dirty="0">
                <a:solidFill>
                  <a:srgbClr val="FF0000"/>
                </a:solidFill>
              </a:rPr>
              <a:t>quickly</a:t>
            </a:r>
            <a:r>
              <a:rPr lang="en" sz="1200" dirty="0">
                <a:solidFill>
                  <a:srgbClr val="FF0000"/>
                </a:solidFill>
              </a:rPr>
              <a:t> </a:t>
            </a:r>
            <a:r>
              <a:rPr lang="en" sz="1200" dirty="0"/>
              <a:t>chooses the next item based on local optima like </a:t>
            </a:r>
            <a:r>
              <a:rPr lang="en" sz="1200" b="1" i="1" dirty="0">
                <a:solidFill>
                  <a:srgbClr val="FF0000"/>
                </a:solidFill>
                <a:highlight>
                  <a:srgbClr val="FFFF00"/>
                </a:highlight>
              </a:rPr>
              <a:t>lowest weight</a:t>
            </a:r>
            <a:r>
              <a:rPr lang="en" sz="1200" dirty="0">
                <a:solidFill>
                  <a:srgbClr val="FF0000"/>
                </a:solidFill>
              </a:rPr>
              <a:t> </a:t>
            </a:r>
            <a:r>
              <a:rPr lang="en" sz="1200" dirty="0"/>
              <a:t>or </a:t>
            </a:r>
            <a:r>
              <a:rPr lang="en" sz="1200" b="1" i="1" dirty="0">
                <a:solidFill>
                  <a:srgbClr val="FF0000"/>
                </a:solidFill>
                <a:highlight>
                  <a:srgbClr val="FFFF00"/>
                </a:highlight>
              </a:rPr>
              <a:t>highest value</a:t>
            </a:r>
            <a:r>
              <a:rPr lang="en" sz="1200" dirty="0"/>
              <a:t>.</a:t>
            </a:r>
            <a:endParaRPr sz="1200" dirty="0"/>
          </a:p>
        </p:txBody>
      </p:sp>
      <p:sp>
        <p:nvSpPr>
          <p:cNvPr id="236" name="Google Shape;236;p30"/>
          <p:cNvSpPr txBox="1"/>
          <p:nvPr/>
        </p:nvSpPr>
        <p:spPr>
          <a:xfrm>
            <a:off x="6034725" y="4268074"/>
            <a:ext cx="2794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will the greedy knapsack-packing algorithm </a:t>
            </a:r>
            <a:r>
              <a:rPr lang="en" sz="1200" b="1" i="1">
                <a:solidFill>
                  <a:srgbClr val="FF0000"/>
                </a:solidFill>
              </a:rPr>
              <a:t>guarantee </a:t>
            </a:r>
            <a:r>
              <a:rPr lang="en" sz="1200"/>
              <a:t>the optimal result?</a:t>
            </a:r>
            <a:endParaRPr sz="1200"/>
          </a:p>
        </p:txBody>
      </p:sp>
      <p:grpSp>
        <p:nvGrpSpPr>
          <p:cNvPr id="237" name="Google Shape;237;p30"/>
          <p:cNvGrpSpPr/>
          <p:nvPr/>
        </p:nvGrpSpPr>
        <p:grpSpPr>
          <a:xfrm>
            <a:off x="3644947" y="2542715"/>
            <a:ext cx="1946497" cy="2135919"/>
            <a:chOff x="977947" y="2909980"/>
            <a:chExt cx="1946497" cy="2135919"/>
          </a:xfrm>
        </p:grpSpPr>
        <p:pic>
          <p:nvPicPr>
            <p:cNvPr id="238" name="Google Shape;238;p30"/>
            <p:cNvPicPr preferRelativeResize="0"/>
            <p:nvPr/>
          </p:nvPicPr>
          <p:blipFill>
            <a:blip r:embed="rId5">
              <a:alphaModFix/>
            </a:blip>
            <a:stretch>
              <a:fillRect/>
            </a:stretch>
          </p:blipFill>
          <p:spPr>
            <a:xfrm rot="4574910" flipH="1">
              <a:off x="376083" y="3769933"/>
              <a:ext cx="2077812" cy="391384"/>
            </a:xfrm>
            <a:prstGeom prst="rect">
              <a:avLst/>
            </a:prstGeom>
            <a:noFill/>
            <a:ln>
              <a:noFill/>
            </a:ln>
          </p:spPr>
        </p:pic>
        <p:pic>
          <p:nvPicPr>
            <p:cNvPr id="239" name="Google Shape;239;p30"/>
            <p:cNvPicPr preferRelativeResize="0"/>
            <p:nvPr/>
          </p:nvPicPr>
          <p:blipFill>
            <a:blip r:embed="rId6">
              <a:alphaModFix/>
            </a:blip>
            <a:stretch>
              <a:fillRect/>
            </a:stretch>
          </p:blipFill>
          <p:spPr>
            <a:xfrm>
              <a:off x="1258750" y="2912717"/>
              <a:ext cx="245011" cy="246992"/>
            </a:xfrm>
            <a:prstGeom prst="rect">
              <a:avLst/>
            </a:prstGeom>
            <a:noFill/>
            <a:ln>
              <a:noFill/>
            </a:ln>
          </p:spPr>
        </p:pic>
        <p:pic>
          <p:nvPicPr>
            <p:cNvPr id="240" name="Google Shape;240;p30"/>
            <p:cNvPicPr preferRelativeResize="0"/>
            <p:nvPr/>
          </p:nvPicPr>
          <p:blipFill>
            <a:blip r:embed="rId8">
              <a:alphaModFix/>
            </a:blip>
            <a:stretch>
              <a:fillRect/>
            </a:stretch>
          </p:blipFill>
          <p:spPr>
            <a:xfrm rot="1149501">
              <a:off x="1539572" y="3111630"/>
              <a:ext cx="303433" cy="958148"/>
            </a:xfrm>
            <a:prstGeom prst="rect">
              <a:avLst/>
            </a:prstGeom>
            <a:noFill/>
            <a:ln>
              <a:noFill/>
            </a:ln>
          </p:spPr>
        </p:pic>
        <p:pic>
          <p:nvPicPr>
            <p:cNvPr id="241" name="Google Shape;241;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42" name="Google Shape;242;p30"/>
          <p:cNvSpPr/>
          <p:nvPr/>
        </p:nvSpPr>
        <p:spPr>
          <a:xfrm>
            <a:off x="4272400" y="1947175"/>
            <a:ext cx="885900" cy="463800"/>
          </a:xfrm>
          <a:prstGeom prst="wedgeRectCallout">
            <a:avLst>
              <a:gd name="adj1" fmla="val -26075"/>
              <a:gd name="adj2" fmla="val 115082"/>
            </a:avLst>
          </a:prstGeom>
          <a:solidFill>
            <a:srgbClr val="B6D7A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a:p>
            <a:pPr marL="0" lvl="0" indent="0" algn="ctr" rtl="0">
              <a:spcBef>
                <a:spcPts val="0"/>
              </a:spcBef>
              <a:spcAft>
                <a:spcPts val="0"/>
              </a:spcAft>
              <a:buNone/>
            </a:pPr>
            <a:r>
              <a:rPr lang="en"/>
              <a:t>10 lb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1000"/>
                                        <p:tgtEl>
                                          <p:spTgt spid="2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19"/>
                                        </p:tgtEl>
                                        <p:attrNameLst>
                                          <p:attrName>style.visibility</p:attrName>
                                        </p:attrNameLst>
                                      </p:cBhvr>
                                      <p:to>
                                        <p:strVal val="visible"/>
                                      </p:to>
                                    </p:set>
                                    <p:animEffect transition="in" filter="fade">
                                      <p:cBhvr>
                                        <p:cTn id="11" dur="1000"/>
                                        <p:tgtEl>
                                          <p:spTgt spid="2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26"/>
                                        </p:tgtEl>
                                        <p:attrNameLst>
                                          <p:attrName>style.visibility</p:attrName>
                                        </p:attrNameLst>
                                      </p:cBhvr>
                                      <p:to>
                                        <p:strVal val="visible"/>
                                      </p:to>
                                    </p:set>
                                    <p:animEffect transition="in" filter="fade">
                                      <p:cBhvr>
                                        <p:cTn id="16" dur="1000"/>
                                        <p:tgtEl>
                                          <p:spTgt spid="22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20"/>
                                        </p:tgtEl>
                                        <p:attrNameLst>
                                          <p:attrName>style.visibility</p:attrName>
                                        </p:attrNameLst>
                                      </p:cBhvr>
                                      <p:to>
                                        <p:strVal val="visible"/>
                                      </p:to>
                                    </p:set>
                                    <p:animEffect transition="in" filter="fade">
                                      <p:cBhvr>
                                        <p:cTn id="20" dur="1000"/>
                                        <p:tgtEl>
                                          <p:spTgt spid="22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228"/>
                                        </p:tgtEl>
                                        <p:attrNameLst>
                                          <p:attrName>style.visibility</p:attrName>
                                        </p:attrNameLst>
                                      </p:cBhvr>
                                      <p:to>
                                        <p:strVal val="visible"/>
                                      </p:to>
                                    </p:set>
                                    <p:animEffect transition="in" filter="fade">
                                      <p:cBhvr>
                                        <p:cTn id="24" dur="1000"/>
                                        <p:tgtEl>
                                          <p:spTgt spid="2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27"/>
                                        </p:tgtEl>
                                        <p:attrNameLst>
                                          <p:attrName>style.visibility</p:attrName>
                                        </p:attrNameLst>
                                      </p:cBhvr>
                                      <p:to>
                                        <p:strVal val="visible"/>
                                      </p:to>
                                    </p:set>
                                    <p:animEffect transition="in" filter="fade">
                                      <p:cBhvr>
                                        <p:cTn id="29" dur="1000"/>
                                        <p:tgtEl>
                                          <p:spTgt spid="227"/>
                                        </p:tgtEl>
                                      </p:cBhvr>
                                    </p:animEffect>
                                  </p:childTnLst>
                                </p:cTn>
                              </p:par>
                              <p:par>
                                <p:cTn id="30" presetID="10" presetClass="entr" presetSubtype="0" fill="hold" nodeType="withEffect">
                                  <p:stCondLst>
                                    <p:cond delay="0"/>
                                  </p:stCondLst>
                                  <p:childTnLst>
                                    <p:set>
                                      <p:cBhvr>
                                        <p:cTn id="31" dur="1" fill="hold">
                                          <p:stCondLst>
                                            <p:cond delay="0"/>
                                          </p:stCondLst>
                                        </p:cTn>
                                        <p:tgtEl>
                                          <p:spTgt spid="215"/>
                                        </p:tgtEl>
                                        <p:attrNameLst>
                                          <p:attrName>style.visibility</p:attrName>
                                        </p:attrNameLst>
                                      </p:cBhvr>
                                      <p:to>
                                        <p:strVal val="visible"/>
                                      </p:to>
                                    </p:set>
                                    <p:animEffect transition="in" filter="fade">
                                      <p:cBhvr>
                                        <p:cTn id="32" dur="1000"/>
                                        <p:tgtEl>
                                          <p:spTgt spid="215"/>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237"/>
                                        </p:tgtEl>
                                        <p:attrNameLst>
                                          <p:attrName>style.visibility</p:attrName>
                                        </p:attrNameLst>
                                      </p:cBhvr>
                                      <p:to>
                                        <p:strVal val="visible"/>
                                      </p:to>
                                    </p:set>
                                    <p:animEffect transition="in" filter="fade">
                                      <p:cBhvr>
                                        <p:cTn id="36" dur="1000"/>
                                        <p:tgtEl>
                                          <p:spTgt spid="237"/>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242"/>
                                        </p:tgtEl>
                                        <p:attrNameLst>
                                          <p:attrName>style.visibility</p:attrName>
                                        </p:attrNameLst>
                                      </p:cBhvr>
                                      <p:to>
                                        <p:strVal val="visible"/>
                                      </p:to>
                                    </p:set>
                                    <p:animEffect transition="in" filter="fade">
                                      <p:cBhvr>
                                        <p:cTn id="40" dur="1000"/>
                                        <p:tgtEl>
                                          <p:spTgt spid="24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34"/>
                                        </p:tgtEl>
                                        <p:attrNameLst>
                                          <p:attrName>style.visibility</p:attrName>
                                        </p:attrNameLst>
                                      </p:cBhvr>
                                      <p:to>
                                        <p:strVal val="visible"/>
                                      </p:to>
                                    </p:set>
                                    <p:animEffect transition="in" filter="fade">
                                      <p:cBhvr>
                                        <p:cTn id="45" dur="1000"/>
                                        <p:tgtEl>
                                          <p:spTgt spid="2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35"/>
                                        </p:tgtEl>
                                        <p:attrNameLst>
                                          <p:attrName>style.visibility</p:attrName>
                                        </p:attrNameLst>
                                      </p:cBhvr>
                                      <p:to>
                                        <p:strVal val="visible"/>
                                      </p:to>
                                    </p:set>
                                    <p:animEffect transition="in" filter="fade">
                                      <p:cBhvr>
                                        <p:cTn id="50" dur="1000"/>
                                        <p:tgtEl>
                                          <p:spTgt spid="2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36"/>
                                        </p:tgtEl>
                                        <p:attrNameLst>
                                          <p:attrName>style.visibility</p:attrName>
                                        </p:attrNameLst>
                                      </p:cBhvr>
                                      <p:to>
                                        <p:strVal val="visible"/>
                                      </p:to>
                                    </p:set>
                                    <p:animEffect transition="in" filter="fade">
                                      <p:cBhvr>
                                        <p:cTn id="55" dur="10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235000" y="1499821"/>
            <a:ext cx="2108934" cy="3163400"/>
          </a:xfrm>
          <a:prstGeom prst="rect">
            <a:avLst/>
          </a:prstGeom>
          <a:noFill/>
          <a:ln>
            <a:noFill/>
          </a:ln>
        </p:spPr>
      </p:pic>
      <p:sp>
        <p:nvSpPr>
          <p:cNvPr id="248" name="Google Shape;248;p3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Knapsacks and Items</a:t>
            </a:r>
            <a:endParaRPr/>
          </a:p>
        </p:txBody>
      </p:sp>
      <p:sp>
        <p:nvSpPr>
          <p:cNvPr id="249" name="Google Shape;249;p31"/>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A few classes have been provided to you to help you implement a greedy knapsack-packing algorithm. Examine the classes and then think about your algorithm. What do you think will work best?</a:t>
            </a:r>
            <a:endParaRPr/>
          </a:p>
        </p:txBody>
      </p:sp>
      <p:sp>
        <p:nvSpPr>
          <p:cNvPr id="250" name="Google Shape;250;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251" name="Google Shape;251;p3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13.4</a:t>
            </a:r>
            <a:endParaRPr/>
          </a:p>
        </p:txBody>
      </p:sp>
      <p:sp>
        <p:nvSpPr>
          <p:cNvPr id="252" name="Google Shape;252;p31"/>
          <p:cNvSpPr txBox="1">
            <a:spLocks noGrp="1"/>
          </p:cNvSpPr>
          <p:nvPr>
            <p:ph type="body" idx="2"/>
          </p:nvPr>
        </p:nvSpPr>
        <p:spPr>
          <a:xfrm>
            <a:off x="2538075" y="1410325"/>
            <a:ext cx="6350400" cy="3646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Take a few minutes to examine the contents of the </a:t>
            </a:r>
            <a:r>
              <a:rPr lang="en" dirty="0">
                <a:solidFill>
                  <a:srgbClr val="FF0000"/>
                </a:solidFill>
                <a:latin typeface="Courier New"/>
                <a:ea typeface="Courier New"/>
                <a:cs typeface="Courier New"/>
                <a:sym typeface="Courier New"/>
              </a:rPr>
              <a:t>knapsack</a:t>
            </a:r>
            <a:r>
              <a:rPr lang="en" dirty="0"/>
              <a:t> package that has been provided to you:</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Item</a:t>
            </a:r>
            <a:r>
              <a:rPr lang="en" dirty="0">
                <a:solidFill>
                  <a:srgbClr val="FF0000"/>
                </a:solidFill>
              </a:rPr>
              <a:t> </a:t>
            </a:r>
            <a:r>
              <a:rPr lang="en" dirty="0"/>
              <a:t>- a class that represents an item including its name, weight, and value. Items are naturally comparable by weight from lightest to heaviest.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ValueComparator</a:t>
            </a:r>
            <a:r>
              <a:rPr lang="en" dirty="0">
                <a:solidFill>
                  <a:srgbClr val="FF0000"/>
                </a:solidFill>
              </a:rPr>
              <a:t> </a:t>
            </a:r>
            <a:r>
              <a:rPr lang="en" dirty="0"/>
              <a:t>- a comparator that arranges items from highest to lowest value. In the event that two items have the same value, they are compared by weight.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Knapsack</a:t>
            </a:r>
            <a:r>
              <a:rPr lang="en" dirty="0">
                <a:solidFill>
                  <a:srgbClr val="FF0000"/>
                </a:solidFill>
              </a:rPr>
              <a:t> </a:t>
            </a:r>
            <a:r>
              <a:rPr lang="en" dirty="0"/>
              <a:t>- implements a knapsack. An item can be packed as long as its weight does not exceed the maximum capacity. The knapsack keeps track of items packed, current load, and total value.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ItemSets</a:t>
            </a:r>
            <a:r>
              <a:rPr lang="en" dirty="0">
                <a:solidFill>
                  <a:srgbClr val="FF0000"/>
                </a:solidFill>
              </a:rPr>
              <a:t> </a:t>
            </a:r>
            <a:r>
              <a:rPr lang="en" dirty="0"/>
              <a:t>- provides helper methods to return pre-made sets of items that can be used for testing a knapsack-packing algorithm.</a:t>
            </a:r>
            <a:endParaRPr dirty="0"/>
          </a:p>
          <a:p>
            <a:pPr marL="457200" lvl="0" indent="-311150" algn="l" rtl="0">
              <a:spcBef>
                <a:spcPts val="0"/>
              </a:spcBef>
              <a:spcAft>
                <a:spcPts val="0"/>
              </a:spcAft>
              <a:buSzPts val="1300"/>
              <a:buChar char="●"/>
            </a:pPr>
            <a:r>
              <a:rPr lang="en" dirty="0"/>
              <a:t>Use this time to ask any questions that you have about the code. </a:t>
            </a:r>
            <a:endParaRPr dirty="0"/>
          </a:p>
          <a:p>
            <a:pPr marL="457200" lvl="0" indent="-311150" algn="l" rtl="0">
              <a:spcBef>
                <a:spcPts val="0"/>
              </a:spcBef>
              <a:spcAft>
                <a:spcPts val="0"/>
              </a:spcAft>
              <a:buSzPts val="1300"/>
              <a:buChar char="●"/>
            </a:pPr>
            <a:r>
              <a:rPr lang="en" dirty="0"/>
              <a:t>When you are finished, start thinking about the greedy algorithm that you want to write to pack a knapsack.</a:t>
            </a:r>
            <a:endParaRPr dirty="0"/>
          </a:p>
          <a:p>
            <a:pPr marL="914400" lvl="1" indent="-298450" algn="l" rtl="0">
              <a:spcBef>
                <a:spcPts val="0"/>
              </a:spcBef>
              <a:spcAft>
                <a:spcPts val="0"/>
              </a:spcAft>
              <a:buSzPts val="1100"/>
              <a:buChar char="○"/>
            </a:pPr>
            <a:r>
              <a:rPr lang="en" dirty="0">
                <a:highlight>
                  <a:srgbClr val="FFFF00"/>
                </a:highlight>
              </a:rPr>
              <a:t>How will you choose the next item to pack?</a:t>
            </a:r>
            <a:endParaRPr dirty="0">
              <a:highlight>
                <a:srgbClr val="FFFF00"/>
              </a:highlight>
            </a:endParaRPr>
          </a:p>
          <a:p>
            <a:pPr marL="914400" lvl="1" indent="-298450" algn="l" rtl="0">
              <a:spcBef>
                <a:spcPts val="0"/>
              </a:spcBef>
              <a:spcAft>
                <a:spcPts val="0"/>
              </a:spcAft>
              <a:buSzPts val="1100"/>
              <a:buChar char="○"/>
            </a:pPr>
            <a:r>
              <a:rPr lang="en" dirty="0"/>
              <a:t>Will you need to write your own </a:t>
            </a:r>
            <a:r>
              <a:rPr lang="en" dirty="0">
                <a:highlight>
                  <a:srgbClr val="FFFF00"/>
                </a:highlight>
                <a:latin typeface="Courier New"/>
                <a:ea typeface="Courier New"/>
                <a:cs typeface="Courier New"/>
                <a:sym typeface="Courier New"/>
              </a:rPr>
              <a:t>Comparator</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How easy do you think it will be to foil your algorithm?</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2"/>
          <p:cNvPicPr preferRelativeResize="0"/>
          <p:nvPr/>
        </p:nvPicPr>
        <p:blipFill>
          <a:blip r:embed="rId3">
            <a:alphaModFix/>
          </a:blip>
          <a:stretch>
            <a:fillRect/>
          </a:stretch>
        </p:blipFill>
        <p:spPr>
          <a:xfrm>
            <a:off x="130550" y="1262449"/>
            <a:ext cx="2324425" cy="3419752"/>
          </a:xfrm>
          <a:prstGeom prst="rect">
            <a:avLst/>
          </a:prstGeom>
          <a:noFill/>
          <a:ln>
            <a:noFill/>
          </a:ln>
        </p:spPr>
      </p:pic>
      <p:sp>
        <p:nvSpPr>
          <p:cNvPr id="258" name="Google Shape;258;p3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Packing the Knapsack</a:t>
            </a:r>
            <a:endParaRPr/>
          </a:p>
        </p:txBody>
      </p:sp>
      <p:sp>
        <p:nvSpPr>
          <p:cNvPr id="259" name="Google Shape;259;p3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Using only pseudocode, sketch out your algorithm. Try to write one descriptive sentence or phrase for each statement you think that you will need to write.</a:t>
            </a:r>
            <a:endParaRPr/>
          </a:p>
        </p:txBody>
      </p:sp>
      <p:sp>
        <p:nvSpPr>
          <p:cNvPr id="260" name="Google Shape;26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261" name="Google Shape;261;p3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13.5</a:t>
            </a:r>
            <a:endParaRPr/>
          </a:p>
        </p:txBody>
      </p:sp>
      <p:sp>
        <p:nvSpPr>
          <p:cNvPr id="262" name="Google Shape;262;p32"/>
          <p:cNvSpPr txBox="1">
            <a:spLocks noGrp="1"/>
          </p:cNvSpPr>
          <p:nvPr>
            <p:ph type="body" idx="2"/>
          </p:nvPr>
        </p:nvSpPr>
        <p:spPr>
          <a:xfrm>
            <a:off x="2822550" y="1583700"/>
            <a:ext cx="5697600" cy="30909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solidFill>
                  <a:srgbClr val="FF0000"/>
                </a:solidFill>
                <a:latin typeface="Courier New"/>
                <a:ea typeface="Courier New"/>
                <a:cs typeface="Courier New"/>
                <a:sym typeface="Courier New"/>
              </a:rPr>
              <a:t>Greedy</a:t>
            </a:r>
            <a:r>
              <a:rPr lang="en" sz="1400" dirty="0">
                <a:solidFill>
                  <a:srgbClr val="FF0000"/>
                </a:solidFill>
              </a:rPr>
              <a:t> </a:t>
            </a:r>
            <a:r>
              <a:rPr lang="en" sz="1400" dirty="0"/>
              <a:t>class and define a new method named "</a:t>
            </a:r>
            <a:r>
              <a:rPr lang="en" sz="1400" dirty="0">
                <a:solidFill>
                  <a:srgbClr val="FF0000"/>
                </a:solidFill>
                <a:latin typeface="Courier New"/>
                <a:ea typeface="Courier New"/>
                <a:cs typeface="Courier New"/>
                <a:sym typeface="Courier New"/>
              </a:rPr>
              <a:t>packItems</a:t>
            </a:r>
            <a:r>
              <a:rPr lang="en" sz="1400" dirty="0"/>
              <a:t>" that declares parameters for a </a:t>
            </a:r>
            <a:r>
              <a:rPr lang="en" sz="1400" dirty="0">
                <a:solidFill>
                  <a:srgbClr val="FF0000"/>
                </a:solidFill>
                <a:latin typeface="Courier New"/>
                <a:ea typeface="Courier New"/>
                <a:cs typeface="Courier New"/>
                <a:sym typeface="Courier New"/>
              </a:rPr>
              <a:t>Knapsack</a:t>
            </a:r>
            <a:r>
              <a:rPr lang="en" sz="1400" dirty="0">
                <a:solidFill>
                  <a:srgbClr val="FF0000"/>
                </a:solidFill>
              </a:rPr>
              <a:t> </a:t>
            </a:r>
            <a:r>
              <a:rPr lang="en" sz="1400" dirty="0"/>
              <a:t>and a </a:t>
            </a:r>
            <a:r>
              <a:rPr lang="en" sz="1400" dirty="0">
                <a:latin typeface="Courier New"/>
                <a:ea typeface="Courier New"/>
                <a:cs typeface="Courier New"/>
                <a:sym typeface="Courier New"/>
              </a:rPr>
              <a:t>List</a:t>
            </a:r>
            <a:r>
              <a:rPr lang="en" sz="1400" dirty="0"/>
              <a:t> of </a:t>
            </a:r>
            <a:r>
              <a:rPr lang="en" sz="1400" dirty="0">
                <a:solidFill>
                  <a:srgbClr val="FF0000"/>
                </a:solidFill>
                <a:latin typeface="Courier New"/>
                <a:ea typeface="Courier New"/>
                <a:cs typeface="Courier New"/>
                <a:sym typeface="Courier New"/>
              </a:rPr>
              <a:t>items</a:t>
            </a:r>
            <a:r>
              <a:rPr lang="en" sz="1400" dirty="0"/>
              <a:t>.</a:t>
            </a:r>
            <a:endParaRPr sz="1400" dirty="0"/>
          </a:p>
          <a:p>
            <a:pPr marL="914400" lvl="1" indent="-304800" algn="l" rtl="0">
              <a:spcBef>
                <a:spcPts val="0"/>
              </a:spcBef>
              <a:spcAft>
                <a:spcPts val="0"/>
              </a:spcAft>
              <a:buSzPts val="1200"/>
              <a:buChar char="○"/>
            </a:pPr>
            <a:r>
              <a:rPr lang="en" sz="1200" dirty="0"/>
              <a:t>Using only </a:t>
            </a:r>
            <a:r>
              <a:rPr lang="en" sz="1200" b="1" i="1" dirty="0">
                <a:solidFill>
                  <a:srgbClr val="FF0000"/>
                </a:solidFill>
              </a:rPr>
              <a:t>inline comments</a:t>
            </a:r>
            <a:r>
              <a:rPr lang="en" sz="1200" dirty="0"/>
              <a:t>, sketch out your plan for a greedy algorithm to solve the Knapsack-Packing algorithm using </a:t>
            </a:r>
            <a:r>
              <a:rPr lang="en" sz="1200" b="1" i="1" dirty="0">
                <a:solidFill>
                  <a:srgbClr val="FF0000"/>
                </a:solidFill>
              </a:rPr>
              <a:t>pseudocode</a:t>
            </a:r>
            <a:r>
              <a:rPr lang="en" sz="1200" dirty="0"/>
              <a:t>.</a:t>
            </a:r>
            <a:endParaRPr sz="1200" dirty="0"/>
          </a:p>
          <a:p>
            <a:pPr marL="914400" lvl="1" indent="-304800" algn="l" rtl="0">
              <a:spcBef>
                <a:spcPts val="0"/>
              </a:spcBef>
              <a:spcAft>
                <a:spcPts val="0"/>
              </a:spcAft>
              <a:buSzPts val="1200"/>
              <a:buChar char="○"/>
            </a:pPr>
            <a:r>
              <a:rPr lang="en" sz="1200" dirty="0"/>
              <a:t>What </a:t>
            </a:r>
            <a:r>
              <a:rPr lang="en" sz="1200" b="1" i="1" dirty="0">
                <a:solidFill>
                  <a:srgbClr val="FF0000"/>
                </a:solidFill>
              </a:rPr>
              <a:t>local optima</a:t>
            </a:r>
            <a:r>
              <a:rPr lang="en" sz="1200" dirty="0">
                <a:solidFill>
                  <a:srgbClr val="FF0000"/>
                </a:solidFill>
              </a:rPr>
              <a:t> </a:t>
            </a:r>
            <a:r>
              <a:rPr lang="en" sz="1200" dirty="0"/>
              <a:t>will your algorithm consider as it chooses the next item to try to pack?</a:t>
            </a:r>
            <a:endParaRPr sz="1200" dirty="0"/>
          </a:p>
          <a:p>
            <a:pPr marL="914400" lvl="1" indent="-304800" algn="l" rtl="0">
              <a:spcBef>
                <a:spcPts val="0"/>
              </a:spcBef>
              <a:spcAft>
                <a:spcPts val="0"/>
              </a:spcAft>
              <a:buSzPts val="1200"/>
              <a:buChar char="○"/>
            </a:pPr>
            <a:r>
              <a:rPr lang="en" sz="1200" dirty="0"/>
              <a:t>You should </a:t>
            </a:r>
            <a:r>
              <a:rPr lang="en" sz="1200" b="1" i="1" dirty="0">
                <a:solidFill>
                  <a:srgbClr val="FF0000"/>
                </a:solidFill>
              </a:rPr>
              <a:t>remove</a:t>
            </a:r>
            <a:r>
              <a:rPr lang="en" sz="1200" dirty="0">
                <a:solidFill>
                  <a:srgbClr val="FF0000"/>
                </a:solidFill>
              </a:rPr>
              <a:t> </a:t>
            </a:r>
            <a:r>
              <a:rPr lang="en" sz="1200" dirty="0"/>
              <a:t>items from the list as they are packed (or discarded).</a:t>
            </a:r>
            <a:endParaRPr sz="1200" dirty="0"/>
          </a:p>
          <a:p>
            <a:pPr marL="914400" lvl="1" indent="-304800" algn="l" rtl="0">
              <a:spcBef>
                <a:spcPts val="0"/>
              </a:spcBef>
              <a:spcAft>
                <a:spcPts val="0"/>
              </a:spcAft>
              <a:buSzPts val="1200"/>
              <a:buChar char="○"/>
            </a:pPr>
            <a:r>
              <a:rPr lang="en" sz="1200" dirty="0"/>
              <a:t>How will your algorithm know when to </a:t>
            </a:r>
            <a:r>
              <a:rPr lang="en" sz="1200" b="1" i="1" dirty="0">
                <a:solidFill>
                  <a:srgbClr val="FF0000"/>
                </a:solidFill>
              </a:rPr>
              <a:t>stop</a:t>
            </a:r>
            <a:r>
              <a:rPr lang="en" sz="1200" dirty="0"/>
              <a:t>?</a:t>
            </a:r>
            <a:endParaRPr sz="1200" dirty="0"/>
          </a:p>
          <a:p>
            <a:pPr marL="457200" lvl="0" indent="-317500" algn="l" rtl="0">
              <a:spcBef>
                <a:spcPts val="0"/>
              </a:spcBef>
              <a:spcAft>
                <a:spcPts val="0"/>
              </a:spcAft>
              <a:buSzPts val="1400"/>
              <a:buChar char="●"/>
            </a:pPr>
            <a:r>
              <a:rPr lang="en" sz="1400" dirty="0"/>
              <a:t>When you have finished your pseudocode algorithm </a:t>
            </a:r>
            <a:r>
              <a:rPr lang="en" sz="1400" b="1" i="1" dirty="0">
                <a:solidFill>
                  <a:srgbClr val="FF0000"/>
                </a:solidFill>
              </a:rPr>
              <a:t>commit</a:t>
            </a:r>
            <a:r>
              <a:rPr lang="en" sz="1400" dirty="0">
                <a:solidFill>
                  <a:srgbClr val="FF0000"/>
                </a:solidFill>
              </a:rPr>
              <a:t> </a:t>
            </a:r>
            <a:r>
              <a:rPr lang="en" sz="1400" dirty="0"/>
              <a:t>your code to your repository.</a:t>
            </a:r>
            <a:endParaRP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33"/>
          <p:cNvPicPr preferRelativeResize="0"/>
          <p:nvPr/>
        </p:nvPicPr>
        <p:blipFill>
          <a:blip r:embed="rId3">
            <a:alphaModFix/>
          </a:blip>
          <a:stretch>
            <a:fillRect/>
          </a:stretch>
        </p:blipFill>
        <p:spPr>
          <a:xfrm>
            <a:off x="245564" y="1652350"/>
            <a:ext cx="2150175" cy="3063574"/>
          </a:xfrm>
          <a:prstGeom prst="rect">
            <a:avLst/>
          </a:prstGeom>
          <a:noFill/>
          <a:ln>
            <a:noFill/>
          </a:ln>
        </p:spPr>
      </p:pic>
      <p:sp>
        <p:nvSpPr>
          <p:cNvPr id="268" name="Google Shape;268;p3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Knacking the Packsack</a:t>
            </a:r>
            <a:endParaRPr/>
          </a:p>
        </p:txBody>
      </p:sp>
      <p:sp>
        <p:nvSpPr>
          <p:cNvPr id="269" name="Google Shape;269;p3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Now it's time to put your algorithm to the test! Implement the greedy algorithm that you sketched out previously. How does it compare to the optimal solution for each item set?</a:t>
            </a:r>
            <a:endParaRPr/>
          </a:p>
        </p:txBody>
      </p:sp>
      <p:sp>
        <p:nvSpPr>
          <p:cNvPr id="270" name="Google Shape;270;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271" name="Google Shape;271;p3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13.6</a:t>
            </a:r>
            <a:endParaRPr/>
          </a:p>
        </p:txBody>
      </p:sp>
      <p:sp>
        <p:nvSpPr>
          <p:cNvPr id="272" name="Google Shape;272;p33"/>
          <p:cNvSpPr txBox="1">
            <a:spLocks noGrp="1"/>
          </p:cNvSpPr>
          <p:nvPr>
            <p:ph type="body" idx="2"/>
          </p:nvPr>
        </p:nvSpPr>
        <p:spPr>
          <a:xfrm>
            <a:off x="2463200" y="1555925"/>
            <a:ext cx="6477900" cy="33387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latin typeface="Courier New"/>
                <a:ea typeface="Courier New"/>
                <a:cs typeface="Courier New"/>
                <a:sym typeface="Courier New"/>
              </a:rPr>
              <a:t>Greedy</a:t>
            </a:r>
            <a:r>
              <a:rPr lang="en" sz="1400" dirty="0"/>
              <a:t> class and </a:t>
            </a:r>
            <a:r>
              <a:rPr lang="en" sz="1400" dirty="0">
                <a:highlight>
                  <a:srgbClr val="FFFF00"/>
                </a:highlight>
              </a:rPr>
              <a:t>implement your knapsack-packing algorithm in the </a:t>
            </a:r>
            <a:r>
              <a:rPr lang="en" sz="1400" dirty="0">
                <a:highlight>
                  <a:srgbClr val="FFFF00"/>
                </a:highlight>
                <a:latin typeface="Courier New"/>
                <a:ea typeface="Courier New"/>
                <a:cs typeface="Courier New"/>
                <a:sym typeface="Courier New"/>
              </a:rPr>
              <a:t>packItems</a:t>
            </a:r>
            <a:r>
              <a:rPr lang="en" sz="1400" dirty="0">
                <a:highlight>
                  <a:srgbClr val="FFFF00"/>
                </a:highlight>
              </a:rPr>
              <a:t> method.</a:t>
            </a:r>
            <a:endParaRPr sz="1400" dirty="0">
              <a:highlight>
                <a:srgbClr val="FFFF00"/>
              </a:highlight>
            </a:endParaRPr>
          </a:p>
          <a:p>
            <a:pPr marL="914400" lvl="1" indent="-304800" algn="l" rtl="0">
              <a:spcBef>
                <a:spcPts val="0"/>
              </a:spcBef>
              <a:spcAft>
                <a:spcPts val="0"/>
              </a:spcAft>
              <a:buSzPts val="1200"/>
              <a:buChar char="○"/>
            </a:pPr>
            <a:r>
              <a:rPr lang="en" sz="1200" dirty="0"/>
              <a:t>Remember to </a:t>
            </a:r>
            <a:r>
              <a:rPr lang="en" sz="1200" b="1" i="1" dirty="0">
                <a:solidFill>
                  <a:srgbClr val="FF0000"/>
                </a:solidFill>
              </a:rPr>
              <a:t>remove</a:t>
            </a:r>
            <a:r>
              <a:rPr lang="en" sz="1200" dirty="0">
                <a:solidFill>
                  <a:srgbClr val="FF0000"/>
                </a:solidFill>
              </a:rPr>
              <a:t> </a:t>
            </a:r>
            <a:r>
              <a:rPr lang="en" sz="1200" dirty="0"/>
              <a:t>items from the list as they are packed.</a:t>
            </a:r>
            <a:endParaRPr sz="1200" dirty="0"/>
          </a:p>
          <a:p>
            <a:pPr marL="914400" lvl="1" indent="-304800" algn="l" rtl="0">
              <a:spcBef>
                <a:spcPts val="0"/>
              </a:spcBef>
              <a:spcAft>
                <a:spcPts val="0"/>
              </a:spcAft>
              <a:buSzPts val="1200"/>
              <a:buChar char="○"/>
            </a:pPr>
            <a:r>
              <a:rPr lang="en" sz="1200" dirty="0"/>
              <a:t>The </a:t>
            </a:r>
            <a:r>
              <a:rPr lang="en" sz="1200" dirty="0">
                <a:latin typeface="Courier New"/>
                <a:ea typeface="Courier New"/>
                <a:cs typeface="Courier New"/>
                <a:sym typeface="Courier New"/>
              </a:rPr>
              <a:t>Knapsack</a:t>
            </a:r>
            <a:r>
              <a:rPr lang="en" sz="1200" dirty="0"/>
              <a:t> will not allow an </a:t>
            </a:r>
            <a:r>
              <a:rPr lang="en" sz="1200" dirty="0">
                <a:latin typeface="Courier New"/>
                <a:ea typeface="Courier New"/>
                <a:cs typeface="Courier New"/>
                <a:sym typeface="Courier New"/>
              </a:rPr>
              <a:t>Item</a:t>
            </a:r>
            <a:r>
              <a:rPr lang="en" sz="1200" dirty="0"/>
              <a:t> to be packed if its weight exceeds the capacity.</a:t>
            </a:r>
            <a:endParaRPr sz="1200" dirty="0"/>
          </a:p>
          <a:p>
            <a:pPr marL="914400" lvl="1" indent="-304800" algn="l" rtl="0">
              <a:spcBef>
                <a:spcPts val="0"/>
              </a:spcBef>
              <a:spcAft>
                <a:spcPts val="0"/>
              </a:spcAft>
              <a:buSzPts val="1200"/>
              <a:buChar char="○"/>
            </a:pPr>
            <a:r>
              <a:rPr lang="en" sz="1200" b="1" i="1" dirty="0">
                <a:solidFill>
                  <a:srgbClr val="FF0000"/>
                </a:solidFill>
              </a:rPr>
              <a:t>Print</a:t>
            </a:r>
            <a:r>
              <a:rPr lang="en" sz="1200" dirty="0">
                <a:solidFill>
                  <a:srgbClr val="FF0000"/>
                </a:solidFill>
              </a:rPr>
              <a:t> </a:t>
            </a:r>
            <a:r>
              <a:rPr lang="en" sz="1200" dirty="0"/>
              <a:t>the Knapsack once it is packed.</a:t>
            </a:r>
            <a:endParaRPr sz="1200" dirty="0"/>
          </a:p>
          <a:p>
            <a:pPr marL="457200" lvl="0" indent="-317500" algn="l" rtl="0">
              <a:spcBef>
                <a:spcPts val="0"/>
              </a:spcBef>
              <a:spcAft>
                <a:spcPts val="0"/>
              </a:spcAft>
              <a:buSzPts val="1400"/>
              <a:buChar char="●"/>
            </a:pPr>
            <a:r>
              <a:rPr lang="en" sz="1400" dirty="0"/>
              <a:t>Navigate to </a:t>
            </a:r>
            <a:r>
              <a:rPr lang="en" sz="1400" dirty="0">
                <a:latin typeface="Courier New"/>
                <a:ea typeface="Courier New"/>
                <a:cs typeface="Courier New"/>
                <a:sym typeface="Courier New"/>
              </a:rPr>
              <a:t>main</a:t>
            </a:r>
            <a:r>
              <a:rPr lang="en" sz="1400" dirty="0"/>
              <a:t> and create a Knapsack with a capacity of 10 pounds. Test your knapsack-packing algorithm using the premade item sets created by the </a:t>
            </a:r>
            <a:r>
              <a:rPr lang="en" sz="1400" dirty="0">
                <a:latin typeface="Courier New"/>
                <a:ea typeface="Courier New"/>
                <a:cs typeface="Courier New"/>
                <a:sym typeface="Courier New"/>
              </a:rPr>
              <a:t>ItemSets</a:t>
            </a:r>
            <a:r>
              <a:rPr lang="en" sz="1400" dirty="0"/>
              <a:t> class.</a:t>
            </a:r>
            <a:endParaRPr sz="1400" dirty="0"/>
          </a:p>
          <a:p>
            <a:pPr marL="914400" lvl="1" indent="-304800" algn="l" rtl="0">
              <a:spcBef>
                <a:spcPts val="0"/>
              </a:spcBef>
              <a:spcAft>
                <a:spcPts val="0"/>
              </a:spcAft>
              <a:buSzPts val="1200"/>
              <a:buChar char="○"/>
            </a:pPr>
            <a:r>
              <a:rPr lang="en" sz="1200" dirty="0"/>
              <a:t>The Sports Set</a:t>
            </a:r>
            <a:endParaRPr sz="1200" dirty="0"/>
          </a:p>
          <a:p>
            <a:pPr marL="914400" lvl="1" indent="-304800" algn="l" rtl="0">
              <a:spcBef>
                <a:spcPts val="0"/>
              </a:spcBef>
              <a:spcAft>
                <a:spcPts val="0"/>
              </a:spcAft>
              <a:buSzPts val="1200"/>
              <a:buChar char="○"/>
            </a:pPr>
            <a:r>
              <a:rPr lang="en" sz="1200" dirty="0"/>
              <a:t>The Electronics Set</a:t>
            </a:r>
            <a:endParaRPr sz="1200" dirty="0"/>
          </a:p>
          <a:p>
            <a:pPr marL="914400" lvl="1" indent="-304800" algn="l" rtl="0">
              <a:spcBef>
                <a:spcPts val="0"/>
              </a:spcBef>
              <a:spcAft>
                <a:spcPts val="0"/>
              </a:spcAft>
              <a:buSzPts val="1200"/>
              <a:buChar char="○"/>
            </a:pPr>
            <a:r>
              <a:rPr lang="en" sz="1200" dirty="0"/>
              <a:t>The Toy Set</a:t>
            </a:r>
            <a:endParaRPr sz="1200" dirty="0"/>
          </a:p>
          <a:p>
            <a:pPr marL="914400" lvl="1" indent="-304800" algn="l" rtl="0">
              <a:spcBef>
                <a:spcPts val="0"/>
              </a:spcBef>
              <a:spcAft>
                <a:spcPts val="0"/>
              </a:spcAft>
              <a:buSzPts val="1200"/>
              <a:buChar char="○"/>
            </a:pPr>
            <a:r>
              <a:rPr lang="en" sz="1200" dirty="0"/>
              <a:t>The Metal Set</a:t>
            </a:r>
            <a:endParaRPr sz="1200" dirty="0"/>
          </a:p>
          <a:p>
            <a:pPr marL="457200" lvl="0" indent="-317500" algn="l" rtl="0">
              <a:spcBef>
                <a:spcPts val="0"/>
              </a:spcBef>
              <a:spcAft>
                <a:spcPts val="0"/>
              </a:spcAft>
              <a:buSzPts val="1400"/>
              <a:buChar char="●"/>
            </a:pPr>
            <a:r>
              <a:rPr lang="en" sz="1400" dirty="0"/>
              <a:t>How does your algorithm compare to the optimal solution for each?</a:t>
            </a:r>
            <a:endParaRP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4"/>
          <p:cNvSpPr txBox="1">
            <a:spLocks noGrp="1"/>
          </p:cNvSpPr>
          <p:nvPr>
            <p:ph type="title"/>
          </p:nvPr>
        </p:nvSpPr>
        <p:spPr>
          <a:xfrm>
            <a:off x="3117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The Traveling Salesman Problem</a:t>
            </a:r>
            <a:endParaRPr sz="2600"/>
          </a:p>
        </p:txBody>
      </p:sp>
      <p:sp>
        <p:nvSpPr>
          <p:cNvPr id="278" name="Google Shape;278;p34"/>
          <p:cNvSpPr txBox="1">
            <a:spLocks noGrp="1"/>
          </p:cNvSpPr>
          <p:nvPr>
            <p:ph type="body" idx="1"/>
          </p:nvPr>
        </p:nvSpPr>
        <p:spPr>
          <a:xfrm>
            <a:off x="4419675" y="121200"/>
            <a:ext cx="4393200" cy="4792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a:t>
            </a:r>
            <a:r>
              <a:rPr lang="en" b="1" i="1" dirty="0">
                <a:solidFill>
                  <a:srgbClr val="FF0000"/>
                </a:solidFill>
              </a:rPr>
              <a:t>traveling salesman</a:t>
            </a:r>
            <a:r>
              <a:rPr lang="en" dirty="0">
                <a:solidFill>
                  <a:srgbClr val="FF0000"/>
                </a:solidFill>
              </a:rPr>
              <a:t> </a:t>
            </a:r>
            <a:r>
              <a:rPr lang="en" dirty="0"/>
              <a:t>would like to travel to </a:t>
            </a:r>
            <a:r>
              <a:rPr lang="en" b="1" i="1" dirty="0">
                <a:solidFill>
                  <a:srgbClr val="FF0000"/>
                </a:solidFill>
              </a:rPr>
              <a:t>50 different cities</a:t>
            </a:r>
            <a:r>
              <a:rPr lang="en" dirty="0"/>
              <a:t> in the contiguous United States. </a:t>
            </a:r>
            <a:endParaRPr dirty="0"/>
          </a:p>
          <a:p>
            <a:pPr marL="457200" lvl="0" indent="-311150" algn="l" rtl="0">
              <a:spcBef>
                <a:spcPts val="1000"/>
              </a:spcBef>
              <a:spcAft>
                <a:spcPts val="0"/>
              </a:spcAft>
              <a:buSzPts val="1300"/>
              <a:buChar char="●"/>
            </a:pPr>
            <a:r>
              <a:rPr lang="en" dirty="0"/>
              <a:t>All 50 cities are </a:t>
            </a:r>
            <a:r>
              <a:rPr lang="en" b="1" i="1" dirty="0">
                <a:solidFill>
                  <a:srgbClr val="FF0000"/>
                </a:solidFill>
              </a:rPr>
              <a:t>connected to each other</a:t>
            </a:r>
            <a:r>
              <a:rPr lang="en" dirty="0">
                <a:solidFill>
                  <a:srgbClr val="FF0000"/>
                </a:solidFill>
              </a:rPr>
              <a:t> </a:t>
            </a:r>
            <a:r>
              <a:rPr lang="en" dirty="0"/>
              <a:t>by the interstate highway system.</a:t>
            </a:r>
            <a:endParaRPr dirty="0"/>
          </a:p>
          <a:p>
            <a:pPr marL="914400" lvl="1" indent="-298450" algn="l" rtl="0">
              <a:spcBef>
                <a:spcPts val="0"/>
              </a:spcBef>
              <a:spcAft>
                <a:spcPts val="0"/>
              </a:spcAft>
              <a:buSzPts val="1100"/>
              <a:buChar char="○"/>
            </a:pPr>
            <a:r>
              <a:rPr lang="en" dirty="0"/>
              <a:t>Meaning that the salesman can travel </a:t>
            </a:r>
            <a:r>
              <a:rPr lang="en" b="1" i="1" dirty="0">
                <a:solidFill>
                  <a:srgbClr val="FF0000"/>
                </a:solidFill>
              </a:rPr>
              <a:t>from </a:t>
            </a:r>
            <a:r>
              <a:rPr lang="en" dirty="0"/>
              <a:t>any one city </a:t>
            </a:r>
            <a:r>
              <a:rPr lang="en" b="1" i="1" dirty="0">
                <a:solidFill>
                  <a:srgbClr val="FF0000"/>
                </a:solidFill>
              </a:rPr>
              <a:t>to </a:t>
            </a:r>
            <a:r>
              <a:rPr lang="en" dirty="0"/>
              <a:t>any other.</a:t>
            </a:r>
            <a:endParaRPr dirty="0"/>
          </a:p>
          <a:p>
            <a:pPr marL="457200" lvl="0" indent="-311150" algn="l" rtl="0">
              <a:spcBef>
                <a:spcPts val="1000"/>
              </a:spcBef>
              <a:spcAft>
                <a:spcPts val="0"/>
              </a:spcAft>
              <a:buSzPts val="1300"/>
              <a:buChar char="●"/>
            </a:pPr>
            <a:r>
              <a:rPr lang="en" dirty="0"/>
              <a:t>The salesman would like to</a:t>
            </a:r>
            <a:r>
              <a:rPr lang="en" dirty="0">
                <a:solidFill>
                  <a:srgbClr val="FF0000"/>
                </a:solidFill>
              </a:rPr>
              <a:t> </a:t>
            </a:r>
            <a:r>
              <a:rPr lang="en" b="1" i="1" dirty="0">
                <a:solidFill>
                  <a:srgbClr val="FF0000"/>
                </a:solidFill>
              </a:rPr>
              <a:t>plan a trip</a:t>
            </a:r>
            <a:r>
              <a:rPr lang="en" dirty="0"/>
              <a:t> with a few goals in mind:</a:t>
            </a:r>
            <a:endParaRPr dirty="0"/>
          </a:p>
          <a:p>
            <a:pPr marL="914400" lvl="1" indent="-298450" algn="l" rtl="0">
              <a:spcBef>
                <a:spcPts val="0"/>
              </a:spcBef>
              <a:spcAft>
                <a:spcPts val="0"/>
              </a:spcAft>
              <a:buSzPts val="1100"/>
              <a:buChar char="○"/>
            </a:pPr>
            <a:r>
              <a:rPr lang="en" dirty="0"/>
              <a:t>He would like to visit each of the 50 cities </a:t>
            </a:r>
            <a:r>
              <a:rPr lang="en" b="1" i="1" dirty="0">
                <a:solidFill>
                  <a:srgbClr val="FF0000"/>
                </a:solidFill>
              </a:rPr>
              <a:t>exactly once</a:t>
            </a:r>
            <a:r>
              <a:rPr lang="en" dirty="0"/>
              <a:t>.</a:t>
            </a:r>
            <a:endParaRPr dirty="0"/>
          </a:p>
          <a:p>
            <a:pPr marL="914400" lvl="1" indent="-298450" algn="l" rtl="0">
              <a:spcBef>
                <a:spcPts val="0"/>
              </a:spcBef>
              <a:spcAft>
                <a:spcPts val="0"/>
              </a:spcAft>
              <a:buSzPts val="1100"/>
              <a:buChar char="○"/>
            </a:pPr>
            <a:r>
              <a:rPr lang="en" dirty="0"/>
              <a:t>In order to save on time, money, and gas, he would like to </a:t>
            </a:r>
            <a:r>
              <a:rPr lang="en" b="1" i="1" dirty="0">
                <a:solidFill>
                  <a:srgbClr val="FF0000"/>
                </a:solidFill>
                <a:highlight>
                  <a:srgbClr val="FFFF00"/>
                </a:highlight>
              </a:rPr>
              <a:t>minimize</a:t>
            </a:r>
            <a:r>
              <a:rPr lang="en" i="1" dirty="0">
                <a:solidFill>
                  <a:srgbClr val="FF0000"/>
                </a:solidFill>
                <a:highlight>
                  <a:srgbClr val="FFFF00"/>
                </a:highlight>
              </a:rPr>
              <a:t> </a:t>
            </a:r>
            <a:r>
              <a:rPr lang="en" dirty="0">
                <a:highlight>
                  <a:srgbClr val="FFFF00"/>
                </a:highlight>
              </a:rPr>
              <a:t>the total distance traveled.</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optimal</a:t>
            </a:r>
            <a:r>
              <a:rPr lang="en" dirty="0">
                <a:solidFill>
                  <a:srgbClr val="FF0000"/>
                </a:solidFill>
                <a:highlight>
                  <a:srgbClr val="FFFF00"/>
                </a:highlight>
              </a:rPr>
              <a:t> </a:t>
            </a:r>
            <a:r>
              <a:rPr lang="en" dirty="0">
                <a:highlight>
                  <a:srgbClr val="FFFF00"/>
                </a:highlight>
              </a:rPr>
              <a:t>solution to this problem would require mapping every possible route through all 50 cities.</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There are </a:t>
            </a:r>
            <a:r>
              <a:rPr lang="en" b="1" i="1" dirty="0">
                <a:solidFill>
                  <a:srgbClr val="FF0000"/>
                </a:solidFill>
                <a:highlight>
                  <a:srgbClr val="FFFF00"/>
                </a:highlight>
              </a:rPr>
              <a:t>50!</a:t>
            </a:r>
            <a:r>
              <a:rPr lang="en" dirty="0">
                <a:highlight>
                  <a:srgbClr val="FFFF00"/>
                </a:highlight>
              </a:rPr>
              <a:t> possible routes!</a:t>
            </a:r>
            <a:endParaRPr dirty="0">
              <a:highlight>
                <a:srgbClr val="FFFF00"/>
              </a:highlight>
            </a:endParaRPr>
          </a:p>
          <a:p>
            <a:pPr marL="457200" lvl="0" indent="-311150" algn="l" rtl="0">
              <a:spcBef>
                <a:spcPts val="1000"/>
              </a:spcBef>
              <a:spcAft>
                <a:spcPts val="0"/>
              </a:spcAft>
              <a:buSzPts val="1300"/>
              <a:buChar char="●"/>
            </a:pPr>
            <a:r>
              <a:rPr lang="en" dirty="0"/>
              <a:t>A </a:t>
            </a:r>
            <a:r>
              <a:rPr lang="en" b="1" i="1" dirty="0">
                <a:solidFill>
                  <a:srgbClr val="FF0000"/>
                </a:solidFill>
              </a:rPr>
              <a:t>greedy algorithm</a:t>
            </a:r>
            <a:r>
              <a:rPr lang="en" dirty="0">
                <a:solidFill>
                  <a:srgbClr val="FF0000"/>
                </a:solidFill>
              </a:rPr>
              <a:t> </a:t>
            </a:r>
            <a:r>
              <a:rPr lang="en" dirty="0"/>
              <a:t>would attempt to plan a trip based on some local optima such as which cities are </a:t>
            </a:r>
            <a:r>
              <a:rPr lang="en" b="1" i="1" dirty="0">
                <a:solidFill>
                  <a:srgbClr val="FF0000"/>
                </a:solidFill>
                <a:highlight>
                  <a:srgbClr val="FFFF00"/>
                </a:highlight>
              </a:rPr>
              <a:t>closest </a:t>
            </a:r>
            <a:r>
              <a:rPr lang="en" dirty="0">
                <a:highlight>
                  <a:srgbClr val="FFFF00"/>
                </a:highlight>
              </a:rPr>
              <a:t>to each other or in the </a:t>
            </a:r>
            <a:r>
              <a:rPr lang="en" b="1" i="1" dirty="0">
                <a:solidFill>
                  <a:srgbClr val="FF0000"/>
                </a:solidFill>
                <a:highlight>
                  <a:srgbClr val="FFFF00"/>
                </a:highlight>
              </a:rPr>
              <a:t>same general direction</a:t>
            </a:r>
            <a:r>
              <a:rPr lang="en" dirty="0">
                <a:highlight>
                  <a:srgbClr val="FFFF00"/>
                </a:highlight>
              </a:rPr>
              <a:t>.</a:t>
            </a:r>
            <a:endParaRPr dirty="0">
              <a:highlight>
                <a:srgbClr val="FFFF00"/>
              </a:highlight>
            </a:endParaRPr>
          </a:p>
        </p:txBody>
      </p:sp>
      <p:sp>
        <p:nvSpPr>
          <p:cNvPr id="279" name="Google Shape;279;p3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280" name="Google Shape;280;p34"/>
          <p:cNvSpPr txBox="1">
            <a:spLocks noGrp="1"/>
          </p:cNvSpPr>
          <p:nvPr>
            <p:ph type="body" idx="3"/>
          </p:nvPr>
        </p:nvSpPr>
        <p:spPr>
          <a:xfrm>
            <a:off x="315425" y="35562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Before we can begin implementing an algorithm to find a solution to the </a:t>
            </a:r>
            <a:r>
              <a:rPr lang="en" b="1" i="1" dirty="0">
                <a:solidFill>
                  <a:srgbClr val="FF0000"/>
                </a:solidFill>
              </a:rPr>
              <a:t>Traveling Salesman Problem</a:t>
            </a:r>
            <a:r>
              <a:rPr lang="en" dirty="0"/>
              <a:t>, we will need to find a way to represent the 50 cities and the distance between them.</a:t>
            </a:r>
            <a:endParaRPr dirty="0"/>
          </a:p>
        </p:txBody>
      </p:sp>
      <p:pic>
        <p:nvPicPr>
          <p:cNvPr id="281" name="Google Shape;281;p34"/>
          <p:cNvPicPr preferRelativeResize="0"/>
          <p:nvPr/>
        </p:nvPicPr>
        <p:blipFill>
          <a:blip r:embed="rId3">
            <a:alphaModFix/>
          </a:blip>
          <a:stretch>
            <a:fillRect/>
          </a:stretch>
        </p:blipFill>
        <p:spPr>
          <a:xfrm>
            <a:off x="315425" y="1088631"/>
            <a:ext cx="3706499" cy="2312495"/>
          </a:xfrm>
          <a:prstGeom prst="rect">
            <a:avLst/>
          </a:prstGeom>
          <a:noFill/>
          <a:ln w="19050" cap="flat" cmpd="sng">
            <a:solidFill>
              <a:srgbClr val="000000"/>
            </a:solidFill>
            <a:prstDash val="solid"/>
            <a:round/>
            <a:headEnd type="none" w="sm" len="sm"/>
            <a:tailEnd type="none" w="sm" len="sm"/>
          </a:ln>
        </p:spPr>
      </p:pic>
      <p:pic>
        <p:nvPicPr>
          <p:cNvPr id="282" name="Google Shape;282;p34"/>
          <p:cNvPicPr preferRelativeResize="0"/>
          <p:nvPr/>
        </p:nvPicPr>
        <p:blipFill>
          <a:blip r:embed="rId4">
            <a:alphaModFix/>
          </a:blip>
          <a:stretch>
            <a:fillRect/>
          </a:stretch>
        </p:blipFill>
        <p:spPr>
          <a:xfrm>
            <a:off x="723888" y="1632277"/>
            <a:ext cx="645733" cy="1627821"/>
          </a:xfrm>
          <a:prstGeom prst="rect">
            <a:avLst/>
          </a:prstGeom>
          <a:noFill/>
          <a:ln>
            <a:noFill/>
          </a:ln>
        </p:spPr>
      </p:pic>
      <p:sp>
        <p:nvSpPr>
          <p:cNvPr id="283" name="Google Shape;283;p34"/>
          <p:cNvSpPr txBox="1">
            <a:spLocks noGrp="1"/>
          </p:cNvSpPr>
          <p:nvPr>
            <p:ph type="body" idx="3"/>
          </p:nvPr>
        </p:nvSpPr>
        <p:spPr>
          <a:xfrm>
            <a:off x="315425" y="4602393"/>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Would it be possible to use a </a:t>
            </a:r>
            <a:r>
              <a:rPr lang="en" b="1" i="1">
                <a:solidFill>
                  <a:srgbClr val="FF0000"/>
                </a:solidFill>
              </a:rPr>
              <a:t>graph</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0"/>
                                        </p:tgtEl>
                                        <p:attrNameLst>
                                          <p:attrName>style.visibility</p:attrName>
                                        </p:attrNameLst>
                                      </p:cBhvr>
                                      <p:to>
                                        <p:strVal val="visible"/>
                                      </p:to>
                                    </p:set>
                                    <p:animEffect transition="in" filter="fade">
                                      <p:cBhvr>
                                        <p:cTn id="43" dur="1000"/>
                                        <p:tgtEl>
                                          <p:spTgt spid="28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83"/>
                                        </p:tgtEl>
                                        <p:attrNameLst>
                                          <p:attrName>style.visibility</p:attrName>
                                        </p:attrNameLst>
                                      </p:cBhvr>
                                      <p:to>
                                        <p:strVal val="visible"/>
                                      </p:to>
                                    </p:set>
                                    <p:animEffect transition="in" filter="fade">
                                      <p:cBhvr>
                                        <p:cTn id="48" dur="1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
        <p:nvSpPr>
          <p:cNvPr id="289" name="Google Shape;289;p35"/>
          <p:cNvSpPr txBox="1">
            <a:spLocks noGrp="1"/>
          </p:cNvSpPr>
          <p:nvPr>
            <p:ph type="title"/>
          </p:nvPr>
        </p:nvSpPr>
        <p:spPr>
          <a:xfrm>
            <a:off x="5264725"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sp>
        <p:nvSpPr>
          <p:cNvPr id="290" name="Google Shape;290;p35"/>
          <p:cNvSpPr txBox="1">
            <a:spLocks noGrp="1"/>
          </p:cNvSpPr>
          <p:nvPr>
            <p:ph type="body" idx="1"/>
          </p:nvPr>
        </p:nvSpPr>
        <p:spPr>
          <a:xfrm>
            <a:off x="301275" y="119925"/>
            <a:ext cx="4362600" cy="49515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We could</a:t>
            </a:r>
            <a:r>
              <a:rPr lang="en" i="1" dirty="0"/>
              <a:t> </a:t>
            </a:r>
            <a:r>
              <a:rPr lang="en" dirty="0"/>
              <a:t>make a </a:t>
            </a:r>
            <a:r>
              <a:rPr lang="en" b="1" i="1" dirty="0">
                <a:solidFill>
                  <a:srgbClr val="FF0000"/>
                </a:solidFill>
              </a:rPr>
              <a:t>graph </a:t>
            </a:r>
            <a:r>
              <a:rPr lang="en" dirty="0"/>
              <a:t>to represent the 50 cities.</a:t>
            </a:r>
            <a:endParaRPr dirty="0"/>
          </a:p>
          <a:p>
            <a:pPr marL="914400" lvl="1" indent="-298450" algn="l" rtl="0">
              <a:spcBef>
                <a:spcPts val="0"/>
              </a:spcBef>
              <a:spcAft>
                <a:spcPts val="0"/>
              </a:spcAft>
              <a:buSzPts val="1100"/>
              <a:buChar char="○"/>
            </a:pPr>
            <a:r>
              <a:rPr lang="en" dirty="0">
                <a:highlight>
                  <a:srgbClr val="FFFF00"/>
                </a:highlight>
              </a:rPr>
              <a:t>Each city would be a </a:t>
            </a:r>
            <a:r>
              <a:rPr lang="en" b="1" i="1" dirty="0">
                <a:solidFill>
                  <a:srgbClr val="FF0000"/>
                </a:solidFill>
                <a:highlight>
                  <a:srgbClr val="FFFF00"/>
                </a:highlight>
              </a:rPr>
              <a:t>vertex</a:t>
            </a:r>
            <a:r>
              <a:rPr lang="en" dirty="0">
                <a:solidFill>
                  <a:srgbClr val="FF0000"/>
                </a:solidFill>
                <a:highlight>
                  <a:srgbClr val="FFFF00"/>
                </a:highlight>
              </a:rPr>
              <a:t> </a:t>
            </a:r>
            <a:r>
              <a:rPr lang="en" dirty="0">
                <a:highlight>
                  <a:srgbClr val="FFFF00"/>
                </a:highlight>
              </a:rPr>
              <a:t>in the graph.</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Each city would also be </a:t>
            </a:r>
            <a:r>
              <a:rPr lang="en" b="1" i="1" dirty="0">
                <a:solidFill>
                  <a:srgbClr val="FF0000"/>
                </a:solidFill>
                <a:highlight>
                  <a:srgbClr val="FFFF00"/>
                </a:highlight>
              </a:rPr>
              <a:t>connected</a:t>
            </a:r>
            <a:r>
              <a:rPr lang="en" dirty="0">
                <a:solidFill>
                  <a:srgbClr val="FF0000"/>
                </a:solidFill>
                <a:highlight>
                  <a:srgbClr val="FFFF00"/>
                </a:highlight>
              </a:rPr>
              <a:t> </a:t>
            </a:r>
            <a:r>
              <a:rPr lang="en" dirty="0">
                <a:highlight>
                  <a:srgbClr val="FFFF00"/>
                </a:highlight>
              </a:rPr>
              <a:t>to the other 49 cities as neighbors.</a:t>
            </a:r>
            <a:endParaRPr dirty="0">
              <a:highlight>
                <a:srgbClr val="FFFF00"/>
              </a:highlight>
            </a:endParaRPr>
          </a:p>
          <a:p>
            <a:pPr marL="457200" lvl="0" indent="-311150" algn="l" rtl="0">
              <a:spcBef>
                <a:spcPts val="1000"/>
              </a:spcBef>
              <a:spcAft>
                <a:spcPts val="0"/>
              </a:spcAft>
              <a:buSzPts val="1300"/>
              <a:buChar char="●"/>
            </a:pPr>
            <a:r>
              <a:rPr lang="en" dirty="0"/>
              <a:t>We could then run a BFS or DFS search to find a path through all 50 cities.</a:t>
            </a:r>
            <a:endParaRPr dirty="0"/>
          </a:p>
          <a:p>
            <a:pPr marL="457200" lvl="0" indent="-311150" algn="l" rtl="0">
              <a:spcBef>
                <a:spcPts val="1000"/>
              </a:spcBef>
              <a:spcAft>
                <a:spcPts val="0"/>
              </a:spcAft>
              <a:buSzPts val="1300"/>
              <a:buChar char="●"/>
            </a:pPr>
            <a:r>
              <a:rPr lang="en" dirty="0"/>
              <a:t>The problem is that our graphs do not have any concept of </a:t>
            </a:r>
            <a:r>
              <a:rPr lang="en" b="1" i="1" dirty="0">
                <a:solidFill>
                  <a:srgbClr val="FF0000"/>
                </a:solidFill>
                <a:highlight>
                  <a:srgbClr val="FFFF00"/>
                </a:highlight>
              </a:rPr>
              <a:t>cost</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distance</a:t>
            </a:r>
            <a:r>
              <a:rPr lang="en" dirty="0">
                <a:solidFill>
                  <a:srgbClr val="FF0000"/>
                </a:solidFill>
                <a:highlight>
                  <a:srgbClr val="FFFF00"/>
                </a:highlight>
              </a:rPr>
              <a:t> </a:t>
            </a:r>
            <a:r>
              <a:rPr lang="en" dirty="0">
                <a:highlight>
                  <a:srgbClr val="FFFF00"/>
                </a:highlight>
              </a:rPr>
              <a:t>between two cities.</a:t>
            </a:r>
            <a:endParaRPr dirty="0">
              <a:highlight>
                <a:srgbClr val="FFFF00"/>
              </a:highlight>
            </a:endParaRPr>
          </a:p>
          <a:p>
            <a:pPr marL="914400" lvl="1" indent="-298450" algn="l" rtl="0">
              <a:spcBef>
                <a:spcPts val="0"/>
              </a:spcBef>
              <a:spcAft>
                <a:spcPts val="0"/>
              </a:spcAft>
              <a:buSzPts val="1100"/>
              <a:buChar char="○"/>
            </a:pPr>
            <a:r>
              <a:rPr lang="en" dirty="0"/>
              <a:t>There is no way to tell the difference between a neighbor city that is 10 miles away, and one that is 3,000 miles away!</a:t>
            </a:r>
            <a:endParaRPr dirty="0"/>
          </a:p>
          <a:p>
            <a:pPr marL="914400" lvl="1" indent="-298450" algn="l" rtl="0">
              <a:spcBef>
                <a:spcPts val="0"/>
              </a:spcBef>
              <a:spcAft>
                <a:spcPts val="0"/>
              </a:spcAft>
              <a:buSzPts val="1100"/>
              <a:buChar char="○"/>
            </a:pPr>
            <a:r>
              <a:rPr lang="en" dirty="0">
                <a:highlight>
                  <a:srgbClr val="FFFF00"/>
                </a:highlight>
              </a:rPr>
              <a:t>Meaning the BFS or DFS will be very unlikely to minimize the distance traveled.</a:t>
            </a:r>
            <a:endParaRPr dirty="0">
              <a:highlight>
                <a:srgbClr val="FFFF00"/>
              </a:highlight>
            </a:endParaRPr>
          </a:p>
          <a:p>
            <a:pPr marL="457200" lvl="0" indent="-311150" algn="l" rtl="0">
              <a:spcBef>
                <a:spcPts val="1000"/>
              </a:spcBef>
              <a:spcAft>
                <a:spcPts val="0"/>
              </a:spcAft>
              <a:buSzPts val="1300"/>
              <a:buChar char="●"/>
            </a:pPr>
            <a:r>
              <a:rPr lang="en" dirty="0"/>
              <a:t>We will need a modified version of our graph data structure that </a:t>
            </a:r>
            <a:r>
              <a:rPr lang="en" dirty="0">
                <a:highlight>
                  <a:srgbClr val="FFFF00"/>
                </a:highlight>
              </a:rPr>
              <a:t>assigns values to the edges between vertices.</a:t>
            </a:r>
            <a:endParaRPr dirty="0">
              <a:highlight>
                <a:srgbClr val="FFFF00"/>
              </a:highlight>
            </a:endParaRPr>
          </a:p>
          <a:p>
            <a:pPr marL="914400" lvl="1" indent="-298450" algn="l" rtl="0">
              <a:spcBef>
                <a:spcPts val="0"/>
              </a:spcBef>
              <a:spcAft>
                <a:spcPts val="0"/>
              </a:spcAft>
              <a:buSzPts val="1100"/>
              <a:buChar char="○"/>
            </a:pPr>
            <a:r>
              <a:rPr lang="en" dirty="0"/>
              <a:t>We will refer to </a:t>
            </a:r>
            <a:r>
              <a:rPr lang="en" dirty="0">
                <a:highlight>
                  <a:srgbClr val="FFFF00"/>
                </a:highlight>
              </a:rPr>
              <a:t>these values as </a:t>
            </a:r>
            <a:r>
              <a:rPr lang="en" b="1" i="1" dirty="0">
                <a:solidFill>
                  <a:srgbClr val="FF0000"/>
                </a:solidFill>
                <a:highlight>
                  <a:srgbClr val="FFFF00"/>
                </a:highlight>
              </a:rPr>
              <a:t>weights</a:t>
            </a:r>
            <a:r>
              <a:rPr lang="en" dirty="0">
                <a:highlight>
                  <a:srgbClr val="FFFF00"/>
                </a:highlight>
              </a:rPr>
              <a:t>.</a:t>
            </a:r>
            <a:endParaRPr dirty="0">
              <a:highlight>
                <a:srgbClr val="FFFF00"/>
              </a:highlight>
            </a:endParaRPr>
          </a:p>
          <a:p>
            <a:pPr marL="457200" lvl="0" indent="-311150" algn="l" rtl="0">
              <a:spcBef>
                <a:spcPts val="1000"/>
              </a:spcBef>
              <a:spcAft>
                <a:spcPts val="0"/>
              </a:spcAft>
              <a:buSzPts val="1300"/>
              <a:buChar char="●"/>
            </a:pPr>
            <a:r>
              <a:rPr lang="en" dirty="0"/>
              <a:t>Our </a:t>
            </a:r>
            <a:r>
              <a:rPr lang="en" b="1" i="1" dirty="0">
                <a:solidFill>
                  <a:srgbClr val="FF0000"/>
                </a:solidFill>
              </a:rPr>
              <a:t>weighted graph</a:t>
            </a:r>
            <a:r>
              <a:rPr lang="en" dirty="0">
                <a:solidFill>
                  <a:srgbClr val="FF0000"/>
                </a:solidFill>
              </a:rPr>
              <a:t> </a:t>
            </a:r>
            <a:r>
              <a:rPr lang="en" dirty="0"/>
              <a:t>will also need modified versions of our search algorithms that take edge weights into consideration.</a:t>
            </a:r>
            <a:endParaRPr dirty="0"/>
          </a:p>
        </p:txBody>
      </p:sp>
      <p:sp>
        <p:nvSpPr>
          <p:cNvPr id="291" name="Google Shape;291;p35"/>
          <p:cNvSpPr txBox="1">
            <a:spLocks noGrp="1"/>
          </p:cNvSpPr>
          <p:nvPr>
            <p:ph type="body" idx="3"/>
          </p:nvPr>
        </p:nvSpPr>
        <p:spPr>
          <a:xfrm>
            <a:off x="5192225" y="34038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In this problem, the number of vertices in the path </a:t>
            </a:r>
            <a:r>
              <a:rPr lang="en" b="1" i="1" dirty="0">
                <a:solidFill>
                  <a:srgbClr val="FF0000"/>
                </a:solidFill>
              </a:rPr>
              <a:t>does not change</a:t>
            </a:r>
            <a:r>
              <a:rPr lang="en" dirty="0"/>
              <a:t>: it will always be </a:t>
            </a:r>
            <a:r>
              <a:rPr lang="en" b="1" i="1" dirty="0">
                <a:solidFill>
                  <a:srgbClr val="FF0000"/>
                </a:solidFill>
              </a:rPr>
              <a:t>exactly 50</a:t>
            </a:r>
            <a:r>
              <a:rPr lang="en" dirty="0"/>
              <a:t>.</a:t>
            </a:r>
            <a:endParaRPr dirty="0"/>
          </a:p>
        </p:txBody>
      </p:sp>
      <p:pic>
        <p:nvPicPr>
          <p:cNvPr id="292" name="Google Shape;292;p35"/>
          <p:cNvPicPr preferRelativeResize="0"/>
          <p:nvPr/>
        </p:nvPicPr>
        <p:blipFill>
          <a:blip r:embed="rId3">
            <a:alphaModFix/>
          </a:blip>
          <a:stretch>
            <a:fillRect/>
          </a:stretch>
        </p:blipFill>
        <p:spPr>
          <a:xfrm>
            <a:off x="5192225" y="924695"/>
            <a:ext cx="3706499" cy="2312495"/>
          </a:xfrm>
          <a:prstGeom prst="rect">
            <a:avLst/>
          </a:prstGeom>
          <a:noFill/>
          <a:ln w="19050" cap="flat" cmpd="sng">
            <a:solidFill>
              <a:srgbClr val="000000"/>
            </a:solidFill>
            <a:prstDash val="solid"/>
            <a:round/>
            <a:headEnd type="none" w="sm" len="sm"/>
            <a:tailEnd type="none" w="sm" len="sm"/>
          </a:ln>
        </p:spPr>
      </p:pic>
      <p:pic>
        <p:nvPicPr>
          <p:cNvPr id="293" name="Google Shape;293;p35"/>
          <p:cNvPicPr preferRelativeResize="0"/>
          <p:nvPr/>
        </p:nvPicPr>
        <p:blipFill>
          <a:blip r:embed="rId4">
            <a:alphaModFix/>
          </a:blip>
          <a:stretch>
            <a:fillRect/>
          </a:stretch>
        </p:blipFill>
        <p:spPr>
          <a:xfrm flipH="1">
            <a:off x="8115288" y="1468342"/>
            <a:ext cx="645733" cy="1627821"/>
          </a:xfrm>
          <a:prstGeom prst="rect">
            <a:avLst/>
          </a:prstGeom>
          <a:noFill/>
          <a:ln>
            <a:noFill/>
          </a:ln>
        </p:spPr>
      </p:pic>
      <p:sp>
        <p:nvSpPr>
          <p:cNvPr id="294" name="Google Shape;294;p35"/>
          <p:cNvSpPr txBox="1">
            <a:spLocks noGrp="1"/>
          </p:cNvSpPr>
          <p:nvPr>
            <p:ph type="body" idx="3"/>
          </p:nvPr>
        </p:nvSpPr>
        <p:spPr>
          <a:xfrm>
            <a:off x="5192225" y="4075879"/>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What </a:t>
            </a:r>
            <a:r>
              <a:rPr lang="en" b="1" i="1" dirty="0">
                <a:solidFill>
                  <a:srgbClr val="FF0000"/>
                </a:solidFill>
              </a:rPr>
              <a:t>will</a:t>
            </a:r>
            <a:r>
              <a:rPr lang="en" dirty="0">
                <a:solidFill>
                  <a:srgbClr val="FF0000"/>
                </a:solidFill>
              </a:rPr>
              <a:t> </a:t>
            </a:r>
            <a:r>
              <a:rPr lang="en" dirty="0"/>
              <a:t>change (hopefully) are the specific edges along the path such that the </a:t>
            </a:r>
            <a:r>
              <a:rPr lang="en" b="1" i="1" dirty="0">
                <a:solidFill>
                  <a:srgbClr val="FF0000"/>
                </a:solidFill>
              </a:rPr>
              <a:t>total distance traveled</a:t>
            </a:r>
            <a:r>
              <a:rPr lang="en" dirty="0"/>
              <a:t> is </a:t>
            </a:r>
            <a:r>
              <a:rPr lang="en" b="1" i="1" dirty="0">
                <a:solidFill>
                  <a:srgbClr val="FF0000"/>
                </a:solidFill>
              </a:rPr>
              <a:t>minimized</a:t>
            </a:r>
            <a:r>
              <a:rPr lang="en" dirty="0"/>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1"/>
                                        </p:tgtEl>
                                        <p:attrNameLst>
                                          <p:attrName>style.visibility</p:attrName>
                                        </p:attrNameLst>
                                      </p:cBhvr>
                                      <p:to>
                                        <p:strVal val="visible"/>
                                      </p:to>
                                    </p:set>
                                    <p:animEffect transition="in" filter="fade">
                                      <p:cBhvr>
                                        <p:cTn id="47" dur="1000"/>
                                        <p:tgtEl>
                                          <p:spTgt spid="29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4"/>
                                        </p:tgtEl>
                                        <p:attrNameLst>
                                          <p:attrName>style.visibility</p:attrName>
                                        </p:attrNameLst>
                                      </p:cBhvr>
                                      <p:to>
                                        <p:strVal val="visible"/>
                                      </p:to>
                                    </p:set>
                                    <p:animEffect transition="in" filter="fade">
                                      <p:cBhvr>
                                        <p:cTn id="52" dur="1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300" name="Google Shape;300;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pic>
        <p:nvPicPr>
          <p:cNvPr id="301" name="Google Shape;301;p36"/>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02" name="Google Shape;302;p36"/>
          <p:cNvGrpSpPr/>
          <p:nvPr/>
        </p:nvGrpSpPr>
        <p:grpSpPr>
          <a:xfrm>
            <a:off x="4300535" y="1578019"/>
            <a:ext cx="3430562" cy="3090438"/>
            <a:chOff x="338125" y="1610890"/>
            <a:chExt cx="3334852" cy="3004217"/>
          </a:xfrm>
        </p:grpSpPr>
        <p:sp>
          <p:nvSpPr>
            <p:cNvPr id="303" name="Google Shape;303;p36"/>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304" name="Google Shape;304;p36"/>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305" name="Google Shape;305;p36"/>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306" name="Google Shape;306;p36"/>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307" name="Google Shape;307;p36"/>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308" name="Google Shape;308;p36"/>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309" name="Google Shape;309;p36"/>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310" name="Google Shape;310;p36"/>
            <p:cNvCxnSpPr>
              <a:stCxn id="303" idx="3"/>
              <a:endCxn id="30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311" name="Google Shape;311;p36"/>
            <p:cNvCxnSpPr>
              <a:stCxn id="303" idx="6"/>
              <a:endCxn id="30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312" name="Google Shape;312;p36"/>
            <p:cNvCxnSpPr>
              <a:stCxn id="303" idx="5"/>
              <a:endCxn id="30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313" name="Google Shape;313;p36"/>
            <p:cNvCxnSpPr>
              <a:stCxn id="304" idx="6"/>
              <a:endCxn id="30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314" name="Google Shape;314;p36"/>
            <p:cNvCxnSpPr>
              <a:stCxn id="308" idx="4"/>
              <a:endCxn id="30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315" name="Google Shape;315;p36"/>
            <p:cNvCxnSpPr>
              <a:stCxn id="304" idx="3"/>
              <a:endCxn id="30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316" name="Google Shape;316;p36"/>
            <p:cNvCxnSpPr>
              <a:stCxn id="309" idx="6"/>
              <a:endCxn id="30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317" name="Google Shape;317;p36"/>
            <p:cNvCxnSpPr>
              <a:stCxn id="305" idx="6"/>
              <a:endCxn id="30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318" name="Google Shape;318;p36"/>
            <p:cNvCxnSpPr>
              <a:stCxn id="306" idx="5"/>
              <a:endCxn id="30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319" name="Google Shape;319;p3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20" name="Google Shape;320;p3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21" name="Google Shape;321;p3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2" name="Google Shape;322;p3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23" name="Google Shape;323;p3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4" name="Google Shape;324;p3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5" name="Google Shape;325;p3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6" name="Google Shape;326;p3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27" name="Google Shape;327;p3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28" name="Google Shape;328;p36"/>
            <p:cNvCxnSpPr>
              <a:stCxn id="305" idx="5"/>
              <a:endCxn id="30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329" name="Google Shape;329;p3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30" name="Google Shape;330;p36"/>
          <p:cNvSpPr/>
          <p:nvPr/>
        </p:nvSpPr>
        <p:spPr>
          <a:xfrm>
            <a:off x="668400" y="1425600"/>
            <a:ext cx="1900500" cy="757500"/>
          </a:xfrm>
          <a:prstGeom prst="wedgeRoundRectCallout">
            <a:avLst>
              <a:gd name="adj1" fmla="val -20833"/>
              <a:gd name="adj2" fmla="val 6250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The search algorithms that we have looked at so far do not differentiate between neighbors...</a:t>
            </a:r>
            <a:endParaRPr sz="1000"/>
          </a:p>
        </p:txBody>
      </p:sp>
      <p:sp>
        <p:nvSpPr>
          <p:cNvPr id="331" name="Google Shape;331;p36"/>
          <p:cNvSpPr/>
          <p:nvPr/>
        </p:nvSpPr>
        <p:spPr>
          <a:xfrm>
            <a:off x="1735200" y="2263800"/>
            <a:ext cx="1900500" cy="757500"/>
          </a:xfrm>
          <a:prstGeom prst="wedgeRoundRectCallout">
            <a:avLst>
              <a:gd name="adj1" fmla="val -63404"/>
              <a:gd name="adj2" fmla="val -161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If </a:t>
            </a:r>
            <a:r>
              <a:rPr lang="en" sz="1000" b="1" i="1">
                <a:solidFill>
                  <a:srgbClr val="FF0000"/>
                </a:solidFill>
              </a:rPr>
              <a:t>BFS</a:t>
            </a:r>
            <a:r>
              <a:rPr lang="en" sz="1000">
                <a:solidFill>
                  <a:srgbClr val="FF0000"/>
                </a:solidFill>
              </a:rPr>
              <a:t> </a:t>
            </a:r>
            <a:r>
              <a:rPr lang="en" sz="1000"/>
              <a:t>were looking for a path from </a:t>
            </a:r>
            <a:r>
              <a:rPr lang="en" sz="1000" b="1" i="1">
                <a:solidFill>
                  <a:srgbClr val="FF0000"/>
                </a:solidFill>
              </a:rPr>
              <a:t>A to E</a:t>
            </a:r>
            <a:r>
              <a:rPr lang="en" sz="1000"/>
              <a:t>, it would find one with the </a:t>
            </a:r>
            <a:r>
              <a:rPr lang="en" sz="1000" b="1" i="1">
                <a:solidFill>
                  <a:srgbClr val="FF0000"/>
                </a:solidFill>
              </a:rPr>
              <a:t>fewest edges</a:t>
            </a:r>
            <a:r>
              <a:rPr lang="en" sz="1000"/>
              <a:t>, for example...</a:t>
            </a:r>
            <a:endParaRPr sz="1000"/>
          </a:p>
        </p:txBody>
      </p:sp>
      <p:sp>
        <p:nvSpPr>
          <p:cNvPr id="332" name="Google Shape;332;p36"/>
          <p:cNvSpPr/>
          <p:nvPr/>
        </p:nvSpPr>
        <p:spPr>
          <a:xfrm>
            <a:off x="1735200" y="3102000"/>
            <a:ext cx="1900500" cy="485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But the </a:t>
            </a:r>
            <a:r>
              <a:rPr lang="en" sz="1000" b="1" i="1">
                <a:solidFill>
                  <a:srgbClr val="FF0000"/>
                </a:solidFill>
              </a:rPr>
              <a:t>total cost</a:t>
            </a:r>
            <a:r>
              <a:rPr lang="en" sz="1000">
                <a:solidFill>
                  <a:srgbClr val="FF0000"/>
                </a:solidFill>
              </a:rPr>
              <a:t> </a:t>
            </a:r>
            <a:r>
              <a:rPr lang="en" sz="1000"/>
              <a:t>of this path is </a:t>
            </a:r>
            <a:r>
              <a:rPr lang="en" sz="1000" b="1" i="1">
                <a:solidFill>
                  <a:srgbClr val="FF0000"/>
                </a:solidFill>
              </a:rPr>
              <a:t>6 + 5 + 4 = 15</a:t>
            </a:r>
            <a:r>
              <a:rPr lang="en" sz="1000"/>
              <a:t>.</a:t>
            </a:r>
            <a:endParaRPr sz="1000"/>
          </a:p>
        </p:txBody>
      </p:sp>
      <p:cxnSp>
        <p:nvCxnSpPr>
          <p:cNvPr id="333" name="Google Shape;333;p36"/>
          <p:cNvCxnSpPr/>
          <p:nvPr/>
        </p:nvCxnSpPr>
        <p:spPr>
          <a:xfrm>
            <a:off x="5127919" y="2140386"/>
            <a:ext cx="730200" cy="846300"/>
          </a:xfrm>
          <a:prstGeom prst="straightConnector1">
            <a:avLst/>
          </a:prstGeom>
          <a:noFill/>
          <a:ln w="38100" cap="flat" cmpd="sng">
            <a:solidFill>
              <a:srgbClr val="FF0000"/>
            </a:solidFill>
            <a:prstDash val="solid"/>
            <a:round/>
            <a:headEnd type="none" w="med" len="med"/>
            <a:tailEnd type="stealth" w="med" len="med"/>
          </a:ln>
        </p:spPr>
      </p:cxnSp>
      <p:cxnSp>
        <p:nvCxnSpPr>
          <p:cNvPr id="334" name="Google Shape;334;p36"/>
          <p:cNvCxnSpPr/>
          <p:nvPr/>
        </p:nvCxnSpPr>
        <p:spPr>
          <a:xfrm rot="10800000" flipH="1">
            <a:off x="6334416" y="3139204"/>
            <a:ext cx="818400" cy="44700"/>
          </a:xfrm>
          <a:prstGeom prst="straightConnector1">
            <a:avLst/>
          </a:prstGeom>
          <a:noFill/>
          <a:ln w="38100" cap="flat" cmpd="sng">
            <a:solidFill>
              <a:srgbClr val="FF0000"/>
            </a:solidFill>
            <a:prstDash val="solid"/>
            <a:round/>
            <a:headEnd type="none" w="med" len="med"/>
            <a:tailEnd type="stealth" w="med" len="med"/>
          </a:ln>
        </p:spPr>
      </p:cxnSp>
      <p:cxnSp>
        <p:nvCxnSpPr>
          <p:cNvPr id="335" name="Google Shape;335;p36"/>
          <p:cNvCxnSpPr/>
          <p:nvPr/>
        </p:nvCxnSpPr>
        <p:spPr>
          <a:xfrm flipH="1">
            <a:off x="7374519" y="3418066"/>
            <a:ext cx="57300" cy="774000"/>
          </a:xfrm>
          <a:prstGeom prst="straightConnector1">
            <a:avLst/>
          </a:prstGeom>
          <a:noFill/>
          <a:ln w="38100" cap="flat" cmpd="sng">
            <a:solidFill>
              <a:srgbClr val="FF0000"/>
            </a:solidFill>
            <a:prstDash val="solid"/>
            <a:round/>
            <a:headEnd type="none" w="med" len="med"/>
            <a:tailEnd type="stealth" w="med" len="med"/>
          </a:ln>
        </p:spPr>
      </p:cxnSp>
      <p:sp>
        <p:nvSpPr>
          <p:cNvPr id="336" name="Google Shape;336;p36"/>
          <p:cNvSpPr txBox="1"/>
          <p:nvPr/>
        </p:nvSpPr>
        <p:spPr>
          <a:xfrm>
            <a:off x="5479041" y="2337817"/>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37" name="Google Shape;337;p36"/>
          <p:cNvSpPr txBox="1"/>
          <p:nvPr/>
        </p:nvSpPr>
        <p:spPr>
          <a:xfrm>
            <a:off x="6548389" y="2872491"/>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38" name="Google Shape;338;p36"/>
          <p:cNvSpPr txBox="1"/>
          <p:nvPr/>
        </p:nvSpPr>
        <p:spPr>
          <a:xfrm>
            <a:off x="7374344" y="3643674"/>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Effect transition="in" filter="fade">
                                      <p:cBhvr>
                                        <p:cTn id="7" dur="1000"/>
                                        <p:tgtEl>
                                          <p:spTgt spid="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gtEl>
                                        <p:attrNameLst>
                                          <p:attrName>style.visibility</p:attrName>
                                        </p:attrNameLst>
                                      </p:cBhvr>
                                      <p:to>
                                        <p:strVal val="visible"/>
                                      </p:to>
                                    </p:set>
                                    <p:animEffect transition="in" filter="fade">
                                      <p:cBhvr>
                                        <p:cTn id="12" dur="1000"/>
                                        <p:tgtEl>
                                          <p:spTgt spid="331"/>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33"/>
                                        </p:tgtEl>
                                        <p:attrNameLst>
                                          <p:attrName>style.visibility</p:attrName>
                                        </p:attrNameLst>
                                      </p:cBhvr>
                                      <p:to>
                                        <p:strVal val="visible"/>
                                      </p:to>
                                    </p:set>
                                    <p:animEffect transition="in" filter="fade">
                                      <p:cBhvr>
                                        <p:cTn id="16" dur="1000"/>
                                        <p:tgtEl>
                                          <p:spTgt spid="333"/>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334"/>
                                        </p:tgtEl>
                                        <p:attrNameLst>
                                          <p:attrName>style.visibility</p:attrName>
                                        </p:attrNameLst>
                                      </p:cBhvr>
                                      <p:to>
                                        <p:strVal val="visible"/>
                                      </p:to>
                                    </p:set>
                                    <p:animEffect transition="in" filter="fade">
                                      <p:cBhvr>
                                        <p:cTn id="20" dur="1000"/>
                                        <p:tgtEl>
                                          <p:spTgt spid="334"/>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335"/>
                                        </p:tgtEl>
                                        <p:attrNameLst>
                                          <p:attrName>style.visibility</p:attrName>
                                        </p:attrNameLst>
                                      </p:cBhvr>
                                      <p:to>
                                        <p:strVal val="visible"/>
                                      </p:to>
                                    </p:set>
                                    <p:animEffect transition="in" filter="fade">
                                      <p:cBhvr>
                                        <p:cTn id="24" dur="1000"/>
                                        <p:tgtEl>
                                          <p:spTgt spid="33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32"/>
                                        </p:tgtEl>
                                        <p:attrNameLst>
                                          <p:attrName>style.visibility</p:attrName>
                                        </p:attrNameLst>
                                      </p:cBhvr>
                                      <p:to>
                                        <p:strVal val="visible"/>
                                      </p:to>
                                    </p:set>
                                    <p:animEffect transition="in" filter="fade">
                                      <p:cBhvr>
                                        <p:cTn id="29" dur="1000"/>
                                        <p:tgtEl>
                                          <p:spTgt spid="33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36"/>
                                        </p:tgtEl>
                                        <p:attrNameLst>
                                          <p:attrName>style.visibility</p:attrName>
                                        </p:attrNameLst>
                                      </p:cBhvr>
                                      <p:to>
                                        <p:strVal val="visible"/>
                                      </p:to>
                                    </p:set>
                                    <p:animEffect transition="in" filter="fade">
                                      <p:cBhvr>
                                        <p:cTn id="33" dur="1000"/>
                                        <p:tgtEl>
                                          <p:spTgt spid="33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337"/>
                                        </p:tgtEl>
                                        <p:attrNameLst>
                                          <p:attrName>style.visibility</p:attrName>
                                        </p:attrNameLst>
                                      </p:cBhvr>
                                      <p:to>
                                        <p:strVal val="visible"/>
                                      </p:to>
                                    </p:set>
                                    <p:animEffect transition="in" filter="fade">
                                      <p:cBhvr>
                                        <p:cTn id="37" dur="1000"/>
                                        <p:tgtEl>
                                          <p:spTgt spid="337"/>
                                        </p:tgtEl>
                                      </p:cBhvr>
                                    </p:animEffect>
                                  </p:childTnLst>
                                </p:cTn>
                              </p:par>
                            </p:childTnLst>
                          </p:cTn>
                        </p:par>
                        <p:par>
                          <p:cTn id="38" fill="hold">
                            <p:stCondLst>
                              <p:cond delay="3000"/>
                            </p:stCondLst>
                            <p:childTnLst>
                              <p:par>
                                <p:cTn id="39" presetID="10" presetClass="entr" presetSubtype="0" fill="hold" nodeType="afterEffect">
                                  <p:stCondLst>
                                    <p:cond delay="0"/>
                                  </p:stCondLst>
                                  <p:childTnLst>
                                    <p:set>
                                      <p:cBhvr>
                                        <p:cTn id="40" dur="1" fill="hold">
                                          <p:stCondLst>
                                            <p:cond delay="0"/>
                                          </p:stCondLst>
                                        </p:cTn>
                                        <p:tgtEl>
                                          <p:spTgt spid="338"/>
                                        </p:tgtEl>
                                        <p:attrNameLst>
                                          <p:attrName>style.visibility</p:attrName>
                                        </p:attrNameLst>
                                      </p:cBhvr>
                                      <p:to>
                                        <p:strVal val="visible"/>
                                      </p:to>
                                    </p:set>
                                    <p:animEffect transition="in" filter="fade">
                                      <p:cBhvr>
                                        <p:cTn id="41" dur="10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344" name="Google Shape;344;p3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pic>
        <p:nvPicPr>
          <p:cNvPr id="345" name="Google Shape;345;p37"/>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46" name="Google Shape;346;p37"/>
          <p:cNvGrpSpPr/>
          <p:nvPr/>
        </p:nvGrpSpPr>
        <p:grpSpPr>
          <a:xfrm>
            <a:off x="4300535" y="1578019"/>
            <a:ext cx="3430562" cy="3090438"/>
            <a:chOff x="338125" y="1610890"/>
            <a:chExt cx="3334852" cy="3004217"/>
          </a:xfrm>
        </p:grpSpPr>
        <p:sp>
          <p:nvSpPr>
            <p:cNvPr id="347" name="Google Shape;347;p37"/>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348" name="Google Shape;348;p37"/>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349" name="Google Shape;349;p37"/>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350" name="Google Shape;350;p37"/>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351" name="Google Shape;351;p37"/>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352" name="Google Shape;352;p37"/>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353" name="Google Shape;353;p37"/>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354" name="Google Shape;354;p37"/>
            <p:cNvCxnSpPr>
              <a:stCxn id="347" idx="3"/>
              <a:endCxn id="349"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355" name="Google Shape;355;p37"/>
            <p:cNvCxnSpPr>
              <a:stCxn id="347" idx="6"/>
              <a:endCxn id="350"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356" name="Google Shape;356;p37"/>
            <p:cNvCxnSpPr>
              <a:stCxn id="347" idx="5"/>
              <a:endCxn id="348"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357" name="Google Shape;357;p37"/>
            <p:cNvCxnSpPr>
              <a:stCxn id="348" idx="6"/>
              <a:endCxn id="352"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358" name="Google Shape;358;p37"/>
            <p:cNvCxnSpPr>
              <a:stCxn id="352" idx="4"/>
              <a:endCxn id="351"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359" name="Google Shape;359;p37"/>
            <p:cNvCxnSpPr>
              <a:stCxn id="348" idx="3"/>
              <a:endCxn id="353"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360" name="Google Shape;360;p37"/>
            <p:cNvCxnSpPr>
              <a:stCxn id="353" idx="6"/>
              <a:endCxn id="351"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361" name="Google Shape;361;p37"/>
            <p:cNvCxnSpPr>
              <a:stCxn id="349" idx="6"/>
              <a:endCxn id="348"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362" name="Google Shape;362;p37"/>
            <p:cNvCxnSpPr>
              <a:stCxn id="350" idx="5"/>
              <a:endCxn id="352"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363" name="Google Shape;363;p3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64" name="Google Shape;364;p3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65" name="Google Shape;365;p3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66" name="Google Shape;366;p3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67" name="Google Shape;367;p3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8" name="Google Shape;368;p3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9" name="Google Shape;369;p3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70" name="Google Shape;370;p3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71" name="Google Shape;371;p3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72" name="Google Shape;372;p37"/>
            <p:cNvCxnSpPr>
              <a:stCxn id="349" idx="5"/>
              <a:endCxn id="353"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373" name="Google Shape;373;p3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74" name="Google Shape;374;p37"/>
          <p:cNvSpPr/>
          <p:nvPr/>
        </p:nvSpPr>
        <p:spPr>
          <a:xfrm>
            <a:off x="1735200" y="3143328"/>
            <a:ext cx="1900500" cy="623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BFS would </a:t>
            </a:r>
            <a:r>
              <a:rPr lang="en" sz="1000" b="1" i="1">
                <a:solidFill>
                  <a:srgbClr val="FF0000"/>
                </a:solidFill>
              </a:rPr>
              <a:t>never</a:t>
            </a:r>
            <a:r>
              <a:rPr lang="en" sz="1000">
                <a:solidFill>
                  <a:srgbClr val="FF0000"/>
                </a:solidFill>
              </a:rPr>
              <a:t> </a:t>
            </a:r>
            <a:r>
              <a:rPr lang="en" sz="1000"/>
              <a:t>find this path because it </a:t>
            </a:r>
            <a:r>
              <a:rPr lang="en" sz="1000" b="1" i="1">
                <a:solidFill>
                  <a:srgbClr val="FF0000"/>
                </a:solidFill>
              </a:rPr>
              <a:t>always</a:t>
            </a:r>
            <a:r>
              <a:rPr lang="en" sz="1000">
                <a:solidFill>
                  <a:srgbClr val="FF0000"/>
                </a:solidFill>
              </a:rPr>
              <a:t> </a:t>
            </a:r>
            <a:r>
              <a:rPr lang="en" sz="1000"/>
              <a:t>finds paths with the fewest edges.</a:t>
            </a:r>
            <a:endParaRPr sz="1000"/>
          </a:p>
        </p:txBody>
      </p:sp>
      <p:cxnSp>
        <p:nvCxnSpPr>
          <p:cNvPr id="375" name="Google Shape;375;p37"/>
          <p:cNvCxnSpPr/>
          <p:nvPr/>
        </p:nvCxnSpPr>
        <p:spPr>
          <a:xfrm>
            <a:off x="5127919" y="2140386"/>
            <a:ext cx="730200" cy="846300"/>
          </a:xfrm>
          <a:prstGeom prst="straightConnector1">
            <a:avLst/>
          </a:prstGeom>
          <a:noFill/>
          <a:ln w="38100" cap="flat" cmpd="sng">
            <a:solidFill>
              <a:srgbClr val="FF0000"/>
            </a:solidFill>
            <a:prstDash val="solid"/>
            <a:round/>
            <a:headEnd type="none" w="med" len="med"/>
            <a:tailEnd type="stealth" w="med" len="med"/>
          </a:ln>
        </p:spPr>
      </p:cxnSp>
      <p:cxnSp>
        <p:nvCxnSpPr>
          <p:cNvPr id="376" name="Google Shape;376;p37"/>
          <p:cNvCxnSpPr/>
          <p:nvPr/>
        </p:nvCxnSpPr>
        <p:spPr>
          <a:xfrm rot="10800000" flipH="1">
            <a:off x="6334416" y="3139204"/>
            <a:ext cx="818400" cy="44700"/>
          </a:xfrm>
          <a:prstGeom prst="straightConnector1">
            <a:avLst/>
          </a:prstGeom>
          <a:noFill/>
          <a:ln w="38100" cap="flat" cmpd="sng">
            <a:solidFill>
              <a:srgbClr val="FF0000"/>
            </a:solidFill>
            <a:prstDash val="solid"/>
            <a:round/>
            <a:headEnd type="none" w="med" len="med"/>
            <a:tailEnd type="stealth" w="med" len="med"/>
          </a:ln>
        </p:spPr>
      </p:cxnSp>
      <p:cxnSp>
        <p:nvCxnSpPr>
          <p:cNvPr id="377" name="Google Shape;377;p37"/>
          <p:cNvCxnSpPr/>
          <p:nvPr/>
        </p:nvCxnSpPr>
        <p:spPr>
          <a:xfrm flipH="1">
            <a:off x="7374519" y="3418066"/>
            <a:ext cx="57300" cy="774000"/>
          </a:xfrm>
          <a:prstGeom prst="straightConnector1">
            <a:avLst/>
          </a:prstGeom>
          <a:noFill/>
          <a:ln w="38100" cap="flat" cmpd="sng">
            <a:solidFill>
              <a:srgbClr val="FF0000"/>
            </a:solidFill>
            <a:prstDash val="solid"/>
            <a:round/>
            <a:headEnd type="none" w="med" len="med"/>
            <a:tailEnd type="stealth" w="med" len="med"/>
          </a:ln>
        </p:spPr>
      </p:cxnSp>
      <p:sp>
        <p:nvSpPr>
          <p:cNvPr id="378" name="Google Shape;378;p37"/>
          <p:cNvSpPr txBox="1"/>
          <p:nvPr/>
        </p:nvSpPr>
        <p:spPr>
          <a:xfrm>
            <a:off x="5479041" y="2337817"/>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79" name="Google Shape;379;p37"/>
          <p:cNvSpPr txBox="1"/>
          <p:nvPr/>
        </p:nvSpPr>
        <p:spPr>
          <a:xfrm>
            <a:off x="6548389" y="2872491"/>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80" name="Google Shape;380;p37"/>
          <p:cNvSpPr txBox="1"/>
          <p:nvPr/>
        </p:nvSpPr>
        <p:spPr>
          <a:xfrm>
            <a:off x="7374344" y="3643674"/>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
        <p:nvSpPr>
          <p:cNvPr id="381" name="Google Shape;381;p37"/>
          <p:cNvSpPr/>
          <p:nvPr/>
        </p:nvSpPr>
        <p:spPr>
          <a:xfrm>
            <a:off x="668400" y="1578025"/>
            <a:ext cx="1900500" cy="605100"/>
          </a:xfrm>
          <a:prstGeom prst="wedgeRoundRectCallout">
            <a:avLst>
              <a:gd name="adj1" fmla="val -20833"/>
              <a:gd name="adj2" fmla="val 6250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But there is a </a:t>
            </a:r>
            <a:r>
              <a:rPr lang="en" sz="1000" b="1" i="1">
                <a:solidFill>
                  <a:srgbClr val="FF0000"/>
                </a:solidFill>
              </a:rPr>
              <a:t>lower cost</a:t>
            </a:r>
            <a:r>
              <a:rPr lang="en" sz="1000">
                <a:solidFill>
                  <a:srgbClr val="FF0000"/>
                </a:solidFill>
              </a:rPr>
              <a:t> </a:t>
            </a:r>
            <a:r>
              <a:rPr lang="en" sz="1000"/>
              <a:t>path from </a:t>
            </a:r>
            <a:r>
              <a:rPr lang="en" sz="1000" b="1" i="1">
                <a:solidFill>
                  <a:srgbClr val="FF0000"/>
                </a:solidFill>
              </a:rPr>
              <a:t>A to E</a:t>
            </a:r>
            <a:r>
              <a:rPr lang="en" sz="1000"/>
              <a:t> in this graph.</a:t>
            </a:r>
            <a:endParaRPr sz="1000"/>
          </a:p>
        </p:txBody>
      </p:sp>
      <p:sp>
        <p:nvSpPr>
          <p:cNvPr id="382" name="Google Shape;382;p37"/>
          <p:cNvSpPr/>
          <p:nvPr/>
        </p:nvSpPr>
        <p:spPr>
          <a:xfrm>
            <a:off x="1735200" y="2263800"/>
            <a:ext cx="1900500" cy="757500"/>
          </a:xfrm>
          <a:prstGeom prst="wedgeRoundRectCallout">
            <a:avLst>
              <a:gd name="adj1" fmla="val -63404"/>
              <a:gd name="adj2" fmla="val -161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The Path </a:t>
            </a:r>
            <a:r>
              <a:rPr lang="en" sz="1000" b="1" i="1">
                <a:solidFill>
                  <a:srgbClr val="0000FF"/>
                </a:solidFill>
              </a:rPr>
              <a:t>A-C-B-G-E</a:t>
            </a:r>
            <a:r>
              <a:rPr lang="en" sz="1000"/>
              <a:t> comprises </a:t>
            </a:r>
            <a:r>
              <a:rPr lang="en" sz="1000" b="1" i="1">
                <a:solidFill>
                  <a:srgbClr val="0000FF"/>
                </a:solidFill>
              </a:rPr>
              <a:t>four edges</a:t>
            </a:r>
            <a:r>
              <a:rPr lang="en" sz="1000">
                <a:solidFill>
                  <a:srgbClr val="FF0000"/>
                </a:solidFill>
              </a:rPr>
              <a:t> </a:t>
            </a:r>
            <a:r>
              <a:rPr lang="en" sz="1000"/>
              <a:t>but has a total cost of only</a:t>
            </a:r>
            <a:endParaRPr sz="1000"/>
          </a:p>
          <a:p>
            <a:pPr marL="0" lvl="0" indent="0" algn="ctr" rtl="0">
              <a:spcBef>
                <a:spcPts val="0"/>
              </a:spcBef>
              <a:spcAft>
                <a:spcPts val="0"/>
              </a:spcAft>
              <a:buNone/>
            </a:pPr>
            <a:r>
              <a:rPr lang="en" sz="1000" b="1" i="1">
                <a:solidFill>
                  <a:srgbClr val="0000FF"/>
                </a:solidFill>
              </a:rPr>
              <a:t>1 + 2 + 2 + 4 = 9</a:t>
            </a:r>
            <a:r>
              <a:rPr lang="en" sz="1000"/>
              <a:t>.</a:t>
            </a:r>
            <a:endParaRPr sz="1000"/>
          </a:p>
        </p:txBody>
      </p:sp>
      <p:sp>
        <p:nvSpPr>
          <p:cNvPr id="383" name="Google Shape;383;p37"/>
          <p:cNvSpPr/>
          <p:nvPr/>
        </p:nvSpPr>
        <p:spPr>
          <a:xfrm>
            <a:off x="1735200" y="3905328"/>
            <a:ext cx="1900500" cy="623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DFS </a:t>
            </a:r>
            <a:r>
              <a:rPr lang="en" sz="1000" b="1" i="1">
                <a:solidFill>
                  <a:srgbClr val="FF0000"/>
                </a:solidFill>
              </a:rPr>
              <a:t>might</a:t>
            </a:r>
            <a:r>
              <a:rPr lang="en" sz="1000">
                <a:solidFill>
                  <a:srgbClr val="FF0000"/>
                </a:solidFill>
              </a:rPr>
              <a:t> </a:t>
            </a:r>
            <a:r>
              <a:rPr lang="en" sz="1000"/>
              <a:t>find it, but if it did, it would be a total coincidence.</a:t>
            </a:r>
            <a:endParaRPr sz="1000"/>
          </a:p>
        </p:txBody>
      </p:sp>
      <p:grpSp>
        <p:nvGrpSpPr>
          <p:cNvPr id="384" name="Google Shape;384;p37"/>
          <p:cNvGrpSpPr/>
          <p:nvPr/>
        </p:nvGrpSpPr>
        <p:grpSpPr>
          <a:xfrm>
            <a:off x="4300537" y="2140386"/>
            <a:ext cx="432840" cy="816273"/>
            <a:chOff x="4300537" y="2140386"/>
            <a:chExt cx="432840" cy="816273"/>
          </a:xfrm>
        </p:grpSpPr>
        <p:cxnSp>
          <p:nvCxnSpPr>
            <p:cNvPr id="385" name="Google Shape;385;p37"/>
            <p:cNvCxnSpPr/>
            <p:nvPr/>
          </p:nvCxnSpPr>
          <p:spPr>
            <a:xfrm flipH="1">
              <a:off x="4579381" y="2140386"/>
              <a:ext cx="153996" cy="816273"/>
            </a:xfrm>
            <a:prstGeom prst="straightConnector1">
              <a:avLst/>
            </a:prstGeom>
            <a:noFill/>
            <a:ln w="38100" cap="flat" cmpd="sng">
              <a:solidFill>
                <a:srgbClr val="0000FF"/>
              </a:solidFill>
              <a:prstDash val="solid"/>
              <a:round/>
              <a:headEnd type="none" w="med" len="med"/>
              <a:tailEnd type="stealth" w="med" len="med"/>
            </a:ln>
          </p:spPr>
        </p:cxnSp>
        <p:sp>
          <p:nvSpPr>
            <p:cNvPr id="386" name="Google Shape;386;p37"/>
            <p:cNvSpPr txBox="1"/>
            <p:nvPr/>
          </p:nvSpPr>
          <p:spPr>
            <a:xfrm>
              <a:off x="4300537" y="2386989"/>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1</a:t>
              </a:r>
              <a:endParaRPr>
                <a:solidFill>
                  <a:srgbClr val="0000FF"/>
                </a:solidFill>
                <a:latin typeface="Source Code Pro"/>
                <a:ea typeface="Source Code Pro"/>
                <a:cs typeface="Source Code Pro"/>
                <a:sym typeface="Source Code Pro"/>
              </a:endParaRPr>
            </a:p>
          </p:txBody>
        </p:sp>
      </p:grpSp>
      <p:grpSp>
        <p:nvGrpSpPr>
          <p:cNvPr id="387" name="Google Shape;387;p37"/>
          <p:cNvGrpSpPr/>
          <p:nvPr/>
        </p:nvGrpSpPr>
        <p:grpSpPr>
          <a:xfrm>
            <a:off x="4858502" y="2904914"/>
            <a:ext cx="917806" cy="330650"/>
            <a:chOff x="4858502" y="2904914"/>
            <a:chExt cx="917806" cy="330650"/>
          </a:xfrm>
        </p:grpSpPr>
        <p:cxnSp>
          <p:nvCxnSpPr>
            <p:cNvPr id="388" name="Google Shape;388;p37"/>
            <p:cNvCxnSpPr/>
            <p:nvPr/>
          </p:nvCxnSpPr>
          <p:spPr>
            <a:xfrm rot="10800000" flipH="1">
              <a:off x="4858502" y="3184026"/>
              <a:ext cx="917806" cy="51538"/>
            </a:xfrm>
            <a:prstGeom prst="straightConnector1">
              <a:avLst/>
            </a:prstGeom>
            <a:noFill/>
            <a:ln w="38100" cap="flat" cmpd="sng">
              <a:solidFill>
                <a:srgbClr val="0000FF"/>
              </a:solidFill>
              <a:prstDash val="solid"/>
              <a:round/>
              <a:headEnd type="none" w="med" len="med"/>
              <a:tailEnd type="stealth" w="med" len="med"/>
            </a:ln>
          </p:spPr>
        </p:cxnSp>
        <p:sp>
          <p:nvSpPr>
            <p:cNvPr id="389" name="Google Shape;389;p37"/>
            <p:cNvSpPr txBox="1"/>
            <p:nvPr/>
          </p:nvSpPr>
          <p:spPr>
            <a:xfrm>
              <a:off x="5076537" y="2904914"/>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0" name="Google Shape;390;p37"/>
          <p:cNvGrpSpPr/>
          <p:nvPr/>
        </p:nvGrpSpPr>
        <p:grpSpPr>
          <a:xfrm>
            <a:off x="5422000" y="3381175"/>
            <a:ext cx="436162" cy="729245"/>
            <a:chOff x="5422000" y="3381175"/>
            <a:chExt cx="436162" cy="729245"/>
          </a:xfrm>
        </p:grpSpPr>
        <p:cxnSp>
          <p:nvCxnSpPr>
            <p:cNvPr id="391" name="Google Shape;391;p37"/>
            <p:cNvCxnSpPr/>
            <p:nvPr/>
          </p:nvCxnSpPr>
          <p:spPr>
            <a:xfrm flipH="1">
              <a:off x="5569303" y="3381175"/>
              <a:ext cx="288859" cy="729245"/>
            </a:xfrm>
            <a:prstGeom prst="straightConnector1">
              <a:avLst/>
            </a:prstGeom>
            <a:noFill/>
            <a:ln w="38100" cap="flat" cmpd="sng">
              <a:solidFill>
                <a:srgbClr val="0000FF"/>
              </a:solidFill>
              <a:prstDash val="solid"/>
              <a:round/>
              <a:headEnd type="none" w="med" len="med"/>
              <a:tailEnd type="stealth" w="med" len="med"/>
            </a:ln>
          </p:spPr>
        </p:cxnSp>
        <p:sp>
          <p:nvSpPr>
            <p:cNvPr id="392" name="Google Shape;392;p37"/>
            <p:cNvSpPr txBox="1"/>
            <p:nvPr/>
          </p:nvSpPr>
          <p:spPr>
            <a:xfrm>
              <a:off x="5422000" y="3507693"/>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3" name="Google Shape;393;p37"/>
          <p:cNvGrpSpPr/>
          <p:nvPr/>
        </p:nvGrpSpPr>
        <p:grpSpPr>
          <a:xfrm>
            <a:off x="5848185" y="4086478"/>
            <a:ext cx="1049891" cy="322806"/>
            <a:chOff x="5848185" y="4086478"/>
            <a:chExt cx="1049891" cy="322806"/>
          </a:xfrm>
        </p:grpSpPr>
        <p:cxnSp>
          <p:nvCxnSpPr>
            <p:cNvPr id="394" name="Google Shape;394;p37"/>
            <p:cNvCxnSpPr/>
            <p:nvPr/>
          </p:nvCxnSpPr>
          <p:spPr>
            <a:xfrm>
              <a:off x="5848185" y="4389473"/>
              <a:ext cx="1049891" cy="0"/>
            </a:xfrm>
            <a:prstGeom prst="straightConnector1">
              <a:avLst/>
            </a:prstGeom>
            <a:noFill/>
            <a:ln w="38100" cap="flat" cmpd="sng">
              <a:solidFill>
                <a:srgbClr val="0000FF"/>
              </a:solidFill>
              <a:prstDash val="solid"/>
              <a:round/>
              <a:headEnd type="none" w="med" len="med"/>
              <a:tailEnd type="stealth" w="med" len="med"/>
            </a:ln>
          </p:spPr>
        </p:cxnSp>
        <p:sp>
          <p:nvSpPr>
            <p:cNvPr id="395" name="Google Shape;395;p37"/>
            <p:cNvSpPr txBox="1"/>
            <p:nvPr/>
          </p:nvSpPr>
          <p:spPr>
            <a:xfrm>
              <a:off x="6194798" y="4086478"/>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4</a:t>
              </a:r>
              <a:endParaRPr>
                <a:solidFill>
                  <a:srgbClr val="0000FF"/>
                </a:solidFill>
                <a:latin typeface="Source Code Pro"/>
                <a:ea typeface="Source Code Pro"/>
                <a:cs typeface="Source Code Pro"/>
                <a:sym typeface="Source Code Pr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10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gtEl>
                                        <p:attrNameLst>
                                          <p:attrName>style.visibility</p:attrName>
                                        </p:attrNameLst>
                                      </p:cBhvr>
                                      <p:to>
                                        <p:strVal val="visible"/>
                                      </p:to>
                                    </p:set>
                                    <p:animEffect transition="in" filter="fade">
                                      <p:cBhvr>
                                        <p:cTn id="12" dur="1000"/>
                                        <p:tgtEl>
                                          <p:spTgt spid="38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84"/>
                                        </p:tgtEl>
                                        <p:attrNameLst>
                                          <p:attrName>style.visibility</p:attrName>
                                        </p:attrNameLst>
                                      </p:cBhvr>
                                      <p:to>
                                        <p:strVal val="visible"/>
                                      </p:to>
                                    </p:set>
                                    <p:animEffect transition="in" filter="fade">
                                      <p:cBhvr>
                                        <p:cTn id="16" dur="1000"/>
                                        <p:tgtEl>
                                          <p:spTgt spid="38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387"/>
                                        </p:tgtEl>
                                        <p:attrNameLst>
                                          <p:attrName>style.visibility</p:attrName>
                                        </p:attrNameLst>
                                      </p:cBhvr>
                                      <p:to>
                                        <p:strVal val="visible"/>
                                      </p:to>
                                    </p:set>
                                    <p:animEffect transition="in" filter="fade">
                                      <p:cBhvr>
                                        <p:cTn id="20" dur="1000"/>
                                        <p:tgtEl>
                                          <p:spTgt spid="387"/>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390"/>
                                        </p:tgtEl>
                                        <p:attrNameLst>
                                          <p:attrName>style.visibility</p:attrName>
                                        </p:attrNameLst>
                                      </p:cBhvr>
                                      <p:to>
                                        <p:strVal val="visible"/>
                                      </p:to>
                                    </p:set>
                                    <p:animEffect transition="in" filter="fade">
                                      <p:cBhvr>
                                        <p:cTn id="24" dur="1000"/>
                                        <p:tgtEl>
                                          <p:spTgt spid="390"/>
                                        </p:tgtEl>
                                      </p:cBhvr>
                                    </p:animEffect>
                                  </p:childTnLst>
                                </p:cTn>
                              </p:par>
                            </p:childTnLst>
                          </p:cTn>
                        </p:par>
                        <p:par>
                          <p:cTn id="25" fill="hold">
                            <p:stCondLst>
                              <p:cond delay="4000"/>
                            </p:stCondLst>
                            <p:childTnLst>
                              <p:par>
                                <p:cTn id="26" presetID="10" presetClass="entr" presetSubtype="0" fill="hold" nodeType="afterEffect">
                                  <p:stCondLst>
                                    <p:cond delay="0"/>
                                  </p:stCondLst>
                                  <p:childTnLst>
                                    <p:set>
                                      <p:cBhvr>
                                        <p:cTn id="27" dur="1" fill="hold">
                                          <p:stCondLst>
                                            <p:cond delay="0"/>
                                          </p:stCondLst>
                                        </p:cTn>
                                        <p:tgtEl>
                                          <p:spTgt spid="393"/>
                                        </p:tgtEl>
                                        <p:attrNameLst>
                                          <p:attrName>style.visibility</p:attrName>
                                        </p:attrNameLst>
                                      </p:cBhvr>
                                      <p:to>
                                        <p:strVal val="visible"/>
                                      </p:to>
                                    </p:set>
                                    <p:animEffect transition="in" filter="fade">
                                      <p:cBhvr>
                                        <p:cTn id="28" dur="1000"/>
                                        <p:tgtEl>
                                          <p:spTgt spid="39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74"/>
                                        </p:tgtEl>
                                        <p:attrNameLst>
                                          <p:attrName>style.visibility</p:attrName>
                                        </p:attrNameLst>
                                      </p:cBhvr>
                                      <p:to>
                                        <p:strVal val="visible"/>
                                      </p:to>
                                    </p:set>
                                    <p:animEffect transition="in" filter="fade">
                                      <p:cBhvr>
                                        <p:cTn id="33" dur="1000"/>
                                        <p:tgtEl>
                                          <p:spTgt spid="37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83"/>
                                        </p:tgtEl>
                                        <p:attrNameLst>
                                          <p:attrName>style.visibility</p:attrName>
                                        </p:attrNameLst>
                                      </p:cBhvr>
                                      <p:to>
                                        <p:strVal val="visible"/>
                                      </p:to>
                                    </p:set>
                                    <p:animEffect transition="in" filter="fade">
                                      <p:cBhvr>
                                        <p:cTn id="38" dur="10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Graph</a:t>
            </a:r>
            <a:endParaRPr/>
          </a:p>
        </p:txBody>
      </p:sp>
      <p:sp>
        <p:nvSpPr>
          <p:cNvPr id="401" name="Google Shape;401;p38"/>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Graph abstract data type that we have used previously keeps track of which vertices are connected as </a:t>
            </a:r>
            <a:r>
              <a:rPr lang="en" i="1"/>
              <a:t>neighbors</a:t>
            </a:r>
            <a:r>
              <a:rPr lang="en"/>
              <a:t>, but it doesn't assign a weight to those connections. We'll need a new Graph data structure that stores edges with weights.</a:t>
            </a:r>
            <a:endParaRPr/>
          </a:p>
        </p:txBody>
      </p:sp>
      <p:sp>
        <p:nvSpPr>
          <p:cNvPr id="402" name="Google Shape;40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403" name="Google Shape;403;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13.7</a:t>
            </a:r>
            <a:endParaRPr/>
          </a:p>
        </p:txBody>
      </p:sp>
      <p:sp>
        <p:nvSpPr>
          <p:cNvPr id="404" name="Google Shape;404;p38"/>
          <p:cNvSpPr txBox="1"/>
          <p:nvPr/>
        </p:nvSpPr>
        <p:spPr>
          <a:xfrm>
            <a:off x="341350" y="4039850"/>
            <a:ext cx="276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two vertices are connected by an edge in a </a:t>
            </a:r>
            <a:r>
              <a:rPr lang="en" sz="1200" b="1" i="1">
                <a:solidFill>
                  <a:srgbClr val="FF0000"/>
                </a:solidFill>
              </a:rPr>
              <a:t>weighted graph</a:t>
            </a:r>
            <a:r>
              <a:rPr lang="en" sz="1200"/>
              <a:t>, a </a:t>
            </a:r>
            <a:r>
              <a:rPr lang="en" sz="1200" b="1" i="1">
                <a:solidFill>
                  <a:srgbClr val="FF0000"/>
                </a:solidFill>
              </a:rPr>
              <a:t>weight </a:t>
            </a:r>
            <a:r>
              <a:rPr lang="en" sz="1200"/>
              <a:t>is associated with the edge.</a:t>
            </a:r>
            <a:endParaRPr sz="1200"/>
          </a:p>
        </p:txBody>
      </p:sp>
      <p:sp>
        <p:nvSpPr>
          <p:cNvPr id="405" name="Google Shape;405;p38"/>
          <p:cNvSpPr txBox="1">
            <a:spLocks noGrp="1"/>
          </p:cNvSpPr>
          <p:nvPr>
            <p:ph type="body" idx="2"/>
          </p:nvPr>
        </p:nvSpPr>
        <p:spPr>
          <a:xfrm>
            <a:off x="3334650" y="1791800"/>
            <a:ext cx="5369700" cy="28536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The </a:t>
            </a:r>
            <a:r>
              <a:rPr lang="en" sz="1700" dirty="0">
                <a:latin typeface="Courier New"/>
                <a:ea typeface="Courier New"/>
                <a:cs typeface="Courier New"/>
                <a:sym typeface="Courier New"/>
              </a:rPr>
              <a:t>WGraph</a:t>
            </a:r>
            <a:r>
              <a:rPr lang="en" sz="1700" dirty="0"/>
              <a:t> interface has been provided to you in the </a:t>
            </a:r>
            <a:r>
              <a:rPr lang="en" sz="1700" dirty="0">
                <a:latin typeface="Courier New"/>
                <a:ea typeface="Courier New"/>
                <a:cs typeface="Courier New"/>
                <a:sym typeface="Courier New"/>
              </a:rPr>
              <a:t>weighted</a:t>
            </a:r>
            <a:r>
              <a:rPr lang="en" sz="1700" dirty="0"/>
              <a:t> package.</a:t>
            </a:r>
            <a:endParaRPr sz="1700" dirty="0"/>
          </a:p>
          <a:p>
            <a:pPr marL="914400" lvl="1" indent="-336550" algn="l" rtl="0">
              <a:spcBef>
                <a:spcPts val="0"/>
              </a:spcBef>
              <a:spcAft>
                <a:spcPts val="0"/>
              </a:spcAft>
              <a:buSzPts val="1700"/>
              <a:buChar char="○"/>
            </a:pPr>
            <a:r>
              <a:rPr lang="en" sz="1700" dirty="0"/>
              <a:t>Take a moment to review the code and the methods that it provides. Do you understand the purpose of each one?</a:t>
            </a:r>
            <a:endParaRPr sz="1700" dirty="0"/>
          </a:p>
          <a:p>
            <a:pPr marL="914400" lvl="1" indent="-336550" algn="l" rtl="0">
              <a:spcBef>
                <a:spcPts val="0"/>
              </a:spcBef>
              <a:spcAft>
                <a:spcPts val="0"/>
              </a:spcAft>
              <a:buSzPts val="1700"/>
              <a:buChar char="○"/>
            </a:pPr>
            <a:r>
              <a:rPr lang="en" sz="1700" dirty="0"/>
              <a:t>If you have any questions, ask your instructor!</a:t>
            </a:r>
            <a:endParaRPr sz="1700" dirty="0"/>
          </a:p>
          <a:p>
            <a:pPr marL="457200" lvl="0" indent="-336550" algn="l" rtl="0">
              <a:spcBef>
                <a:spcPts val="0"/>
              </a:spcBef>
              <a:spcAft>
                <a:spcPts val="0"/>
              </a:spcAft>
              <a:buSzPts val="1700"/>
              <a:buChar char="●"/>
            </a:pPr>
            <a:r>
              <a:rPr lang="en" sz="1700" dirty="0"/>
              <a:t>We will be discussing the </a:t>
            </a:r>
            <a:r>
              <a:rPr lang="en" sz="1700" i="1" dirty="0"/>
              <a:t>Nearest Neighbor</a:t>
            </a:r>
            <a:r>
              <a:rPr lang="en" sz="1700" dirty="0"/>
              <a:t> and </a:t>
            </a:r>
            <a:r>
              <a:rPr lang="en" sz="1700" i="1" dirty="0"/>
              <a:t>Dijkstra's Path</a:t>
            </a:r>
            <a:r>
              <a:rPr lang="en" sz="1700" dirty="0"/>
              <a:t> algorithms presently.</a:t>
            </a:r>
            <a:endParaRPr sz="1700" dirty="0"/>
          </a:p>
        </p:txBody>
      </p:sp>
      <p:pic>
        <p:nvPicPr>
          <p:cNvPr id="406" name="Google Shape;406;p38"/>
          <p:cNvPicPr preferRelativeResize="0"/>
          <p:nvPr/>
        </p:nvPicPr>
        <p:blipFill>
          <a:blip r:embed="rId3">
            <a:alphaModFix/>
          </a:blip>
          <a:stretch>
            <a:fillRect/>
          </a:stretch>
        </p:blipFill>
        <p:spPr>
          <a:xfrm>
            <a:off x="205310" y="1696700"/>
            <a:ext cx="3042592" cy="23431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Vertex</a:t>
            </a:r>
            <a:endParaRPr/>
          </a:p>
        </p:txBody>
      </p:sp>
      <p:sp>
        <p:nvSpPr>
          <p:cNvPr id="412" name="Google Shape;412;p3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 weighted adjacency graph needs a special vertex that not only keeps track of its neighbors, but the weight of the edges to those neighbors. Take a moment to examine the WVertex class that has been provided to you in your repository.</a:t>
            </a:r>
            <a:endParaRPr/>
          </a:p>
        </p:txBody>
      </p:sp>
      <p:sp>
        <p:nvSpPr>
          <p:cNvPr id="413" name="Google Shape;413;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14" name="Google Shape;414;p3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13.8</a:t>
            </a:r>
            <a:endParaRPr/>
          </a:p>
        </p:txBody>
      </p:sp>
      <p:sp>
        <p:nvSpPr>
          <p:cNvPr id="415" name="Google Shape;415;p39"/>
          <p:cNvSpPr txBox="1">
            <a:spLocks noGrp="1"/>
          </p:cNvSpPr>
          <p:nvPr>
            <p:ph type="body" idx="2"/>
          </p:nvPr>
        </p:nvSpPr>
        <p:spPr>
          <a:xfrm>
            <a:off x="2992000" y="1826925"/>
            <a:ext cx="5853000" cy="2021700"/>
          </a:xfrm>
          <a:prstGeom prst="rect">
            <a:avLst/>
          </a:prstGeom>
        </p:spPr>
        <p:txBody>
          <a:bodyPr spcFirstLastPara="1" wrap="square" lIns="91425" tIns="91425" rIns="91425" bIns="91425" anchor="t" anchorCtr="0">
            <a:spAutoFit/>
          </a:bodyPr>
          <a:lstStyle/>
          <a:p>
            <a:pPr marL="457200" lvl="0" indent="-349250" algn="l" rtl="0">
              <a:spcBef>
                <a:spcPts val="0"/>
              </a:spcBef>
              <a:spcAft>
                <a:spcPts val="0"/>
              </a:spcAft>
              <a:buSzPts val="1900"/>
              <a:buChar char="●"/>
            </a:pPr>
            <a:r>
              <a:rPr lang="en" sz="1900" dirty="0"/>
              <a:t>Open the </a:t>
            </a:r>
            <a:r>
              <a:rPr lang="en" sz="1900" dirty="0">
                <a:solidFill>
                  <a:srgbClr val="FF0000"/>
                </a:solidFill>
                <a:latin typeface="Courier New"/>
                <a:ea typeface="Courier New"/>
                <a:cs typeface="Courier New"/>
                <a:sym typeface="Courier New"/>
              </a:rPr>
              <a:t>WVertex</a:t>
            </a:r>
            <a:r>
              <a:rPr lang="en" sz="1900" dirty="0"/>
              <a:t> class that has been provided to your in your repository for this unit.</a:t>
            </a:r>
            <a:endParaRPr sz="1900" dirty="0"/>
          </a:p>
          <a:p>
            <a:pPr marL="914400" lvl="1" indent="-336550" algn="l" rtl="0">
              <a:spcBef>
                <a:spcPts val="0"/>
              </a:spcBef>
              <a:spcAft>
                <a:spcPts val="0"/>
              </a:spcAft>
              <a:buSzPts val="1700"/>
              <a:buChar char="○"/>
            </a:pPr>
            <a:r>
              <a:rPr lang="en" sz="1700" dirty="0"/>
              <a:t>Examine the fields and the constructor.</a:t>
            </a:r>
            <a:endParaRPr sz="1700" dirty="0"/>
          </a:p>
          <a:p>
            <a:pPr marL="914400" lvl="1" indent="-336550" algn="l" rtl="0">
              <a:spcBef>
                <a:spcPts val="0"/>
              </a:spcBef>
              <a:spcAft>
                <a:spcPts val="0"/>
              </a:spcAft>
              <a:buSzPts val="1700"/>
              <a:buChar char="○"/>
            </a:pPr>
            <a:r>
              <a:rPr lang="en" sz="1700" dirty="0"/>
              <a:t>Examine each of the methods that the </a:t>
            </a:r>
            <a:r>
              <a:rPr lang="en" sz="1700" dirty="0">
                <a:latin typeface="Courier New"/>
                <a:ea typeface="Courier New"/>
                <a:cs typeface="Courier New"/>
                <a:sym typeface="Courier New"/>
              </a:rPr>
              <a:t>WVertex</a:t>
            </a:r>
            <a:r>
              <a:rPr lang="en" sz="1700" dirty="0"/>
              <a:t> provides. Do you understand the purpose?</a:t>
            </a:r>
            <a:endParaRPr sz="1700" dirty="0"/>
          </a:p>
          <a:p>
            <a:pPr marL="914400" lvl="1" indent="-336550" algn="l" rtl="0">
              <a:spcBef>
                <a:spcPts val="0"/>
              </a:spcBef>
              <a:spcAft>
                <a:spcPts val="0"/>
              </a:spcAft>
              <a:buSzPts val="1700"/>
              <a:buChar char="○"/>
            </a:pPr>
            <a:r>
              <a:rPr lang="en" sz="1700" dirty="0"/>
              <a:t>If you have any questions, </a:t>
            </a:r>
            <a:r>
              <a:rPr lang="en" sz="1700" b="1" i="1" dirty="0">
                <a:solidFill>
                  <a:srgbClr val="FF0000"/>
                </a:solidFill>
              </a:rPr>
              <a:t>raise your hand!</a:t>
            </a:r>
            <a:endParaRPr sz="1700" b="1" i="1" dirty="0">
              <a:solidFill>
                <a:srgbClr val="FF0000"/>
              </a:solidFill>
            </a:endParaRPr>
          </a:p>
        </p:txBody>
      </p:sp>
      <p:pic>
        <p:nvPicPr>
          <p:cNvPr id="416" name="Google Shape;416;p39"/>
          <p:cNvPicPr preferRelativeResize="0"/>
          <p:nvPr/>
        </p:nvPicPr>
        <p:blipFill>
          <a:blip r:embed="rId3">
            <a:alphaModFix/>
          </a:blip>
          <a:stretch>
            <a:fillRect/>
          </a:stretch>
        </p:blipFill>
        <p:spPr>
          <a:xfrm>
            <a:off x="152400" y="1826925"/>
            <a:ext cx="2947575" cy="2213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0"/>
          <p:cNvSpPr txBox="1">
            <a:spLocks noGrp="1"/>
          </p:cNvSpPr>
          <p:nvPr>
            <p:ph type="title"/>
          </p:nvPr>
        </p:nvSpPr>
        <p:spPr>
          <a:xfrm>
            <a:off x="1436850" y="100"/>
            <a:ext cx="7642500" cy="692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300"/>
              <a:t>A Weighted Adjacency Graph</a:t>
            </a:r>
            <a:endParaRPr sz="3300"/>
          </a:p>
        </p:txBody>
      </p:sp>
      <p:sp>
        <p:nvSpPr>
          <p:cNvPr id="422" name="Google Shape;422;p40"/>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Now it's finally time to work with a weighted graph! The implementation is very close to the </a:t>
            </a:r>
            <a:r>
              <a:rPr lang="en">
                <a:latin typeface="Courier New"/>
                <a:ea typeface="Courier New"/>
                <a:cs typeface="Courier New"/>
                <a:sym typeface="Courier New"/>
              </a:rPr>
              <a:t>AdjacencyGraph</a:t>
            </a:r>
            <a:r>
              <a:rPr lang="en"/>
              <a:t>, so the implementation has been provided to you. Spend a few moments looking through the code with your instructor.</a:t>
            </a:r>
            <a:endParaRPr/>
          </a:p>
        </p:txBody>
      </p:sp>
      <p:sp>
        <p:nvSpPr>
          <p:cNvPr id="423" name="Google Shape;42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24" name="Google Shape;424;p4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13.9</a:t>
            </a:r>
            <a:endParaRPr sz="2000"/>
          </a:p>
        </p:txBody>
      </p:sp>
      <p:pic>
        <p:nvPicPr>
          <p:cNvPr id="425" name="Google Shape;425;p40"/>
          <p:cNvPicPr preferRelativeResize="0"/>
          <p:nvPr/>
        </p:nvPicPr>
        <p:blipFill>
          <a:blip r:embed="rId3">
            <a:alphaModFix/>
          </a:blip>
          <a:stretch>
            <a:fillRect/>
          </a:stretch>
        </p:blipFill>
        <p:spPr>
          <a:xfrm>
            <a:off x="128625" y="1579450"/>
            <a:ext cx="2229202" cy="3477376"/>
          </a:xfrm>
          <a:prstGeom prst="rect">
            <a:avLst/>
          </a:prstGeom>
          <a:noFill/>
          <a:ln>
            <a:noFill/>
          </a:ln>
        </p:spPr>
      </p:pic>
      <p:sp>
        <p:nvSpPr>
          <p:cNvPr id="426" name="Google Shape;426;p40"/>
          <p:cNvSpPr txBox="1">
            <a:spLocks noGrp="1"/>
          </p:cNvSpPr>
          <p:nvPr>
            <p:ph type="body" idx="2"/>
          </p:nvPr>
        </p:nvSpPr>
        <p:spPr>
          <a:xfrm>
            <a:off x="2518725" y="1626475"/>
            <a:ext cx="6195900" cy="12828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WAdjacencyGraph</a:t>
            </a:r>
            <a:r>
              <a:rPr lang="en" sz="1700"/>
              <a:t> that has been provided to you in the </a:t>
            </a:r>
            <a:r>
              <a:rPr lang="en" sz="1700">
                <a:latin typeface="Courier New"/>
                <a:ea typeface="Courier New"/>
                <a:cs typeface="Courier New"/>
                <a:sym typeface="Courier New"/>
              </a:rPr>
              <a:t>weighted</a:t>
            </a:r>
            <a:r>
              <a:rPr lang="en" sz="1700"/>
              <a:t> package.</a:t>
            </a:r>
            <a:endParaRPr sz="1700"/>
          </a:p>
          <a:p>
            <a:pPr marL="914400" lvl="1" indent="-323850" algn="l" rtl="0">
              <a:spcBef>
                <a:spcPts val="0"/>
              </a:spcBef>
              <a:spcAft>
                <a:spcPts val="0"/>
              </a:spcAft>
              <a:buSzPts val="1500"/>
              <a:buChar char="○"/>
            </a:pPr>
            <a:r>
              <a:rPr lang="en" sz="1500"/>
              <a:t>Together with your instructor, examine the code and ask any questions that you have.</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When using a graph to solve problems, the challenge usually lies in constructing the graph properly so that you can use it to run the correct algorithms, e.g. BFS or DFS. Create a new class to build a graph that represents a map of 50 cities in the contiguous United States.</a:t>
            </a:r>
            <a:endParaRPr dirty="0"/>
          </a:p>
        </p:txBody>
      </p:sp>
      <p:sp>
        <p:nvSpPr>
          <p:cNvPr id="432" name="Google Shape;43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433" name="Google Shape;433;p41"/>
          <p:cNvSpPr txBox="1">
            <a:spLocks noGrp="1"/>
          </p:cNvSpPr>
          <p:nvPr>
            <p:ph type="body" idx="2"/>
          </p:nvPr>
        </p:nvSpPr>
        <p:spPr>
          <a:xfrm>
            <a:off x="3161375" y="1576725"/>
            <a:ext cx="5555100" cy="35757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highlight>
                  <a:srgbClr val="FFFF00"/>
                </a:highlight>
              </a:rPr>
              <a:t>You will be creating a weighted graph of cities. Before you get started, open the </a:t>
            </a:r>
            <a:r>
              <a:rPr lang="en" sz="1200" dirty="0">
                <a:highlight>
                  <a:srgbClr val="FFFF00"/>
                </a:highlight>
                <a:latin typeface="Courier New"/>
                <a:ea typeface="Courier New"/>
                <a:cs typeface="Courier New"/>
                <a:sym typeface="Courier New"/>
              </a:rPr>
              <a:t>City</a:t>
            </a:r>
            <a:r>
              <a:rPr lang="en" sz="1200" dirty="0">
                <a:highlight>
                  <a:srgbClr val="FFFF00"/>
                </a:highlight>
              </a:rPr>
              <a:t> class that has been provided to you in the </a:t>
            </a:r>
            <a:r>
              <a:rPr lang="en" sz="1200" dirty="0">
                <a:highlight>
                  <a:srgbClr val="FFFF00"/>
                </a:highlight>
                <a:latin typeface="Courier New"/>
                <a:ea typeface="Courier New"/>
                <a:cs typeface="Courier New"/>
                <a:sym typeface="Courier New"/>
              </a:rPr>
              <a:t>unit13</a:t>
            </a:r>
            <a:r>
              <a:rPr lang="en" sz="1200" dirty="0">
                <a:highlight>
                  <a:srgbClr val="FFFF00"/>
                </a:highlight>
              </a:rPr>
              <a:t> package.</a:t>
            </a:r>
            <a:endParaRPr sz="1200" dirty="0">
              <a:highlight>
                <a:srgbClr val="FFFF00"/>
              </a:highlight>
            </a:endParaRPr>
          </a:p>
          <a:p>
            <a:pPr marL="914400" lvl="1" indent="-298450" algn="l" rtl="0">
              <a:spcBef>
                <a:spcPts val="0"/>
              </a:spcBef>
              <a:spcAft>
                <a:spcPts val="0"/>
              </a:spcAft>
              <a:buSzPts val="1100"/>
              <a:buChar char="○"/>
            </a:pPr>
            <a:r>
              <a:rPr lang="en" dirty="0"/>
              <a:t>Together with your instructor, examine the class.</a:t>
            </a:r>
            <a:endParaRPr dirty="0"/>
          </a:p>
          <a:p>
            <a:pPr marL="914400" lvl="1" indent="-298450" algn="l" rtl="0">
              <a:spcBef>
                <a:spcPts val="0"/>
              </a:spcBef>
              <a:spcAft>
                <a:spcPts val="0"/>
              </a:spcAft>
              <a:buSzPts val="1100"/>
              <a:buChar char="○"/>
            </a:pPr>
            <a:r>
              <a:rPr lang="en" b="1" i="1" dirty="0">
                <a:solidFill>
                  <a:srgbClr val="FF0000"/>
                </a:solidFill>
              </a:rPr>
              <a:t>Raise your hand</a:t>
            </a:r>
            <a:r>
              <a:rPr lang="en" dirty="0"/>
              <a:t> if you have any questions.</a:t>
            </a:r>
            <a:endParaRPr dirty="0"/>
          </a:p>
          <a:p>
            <a:pPr marL="457200" lvl="0" indent="-304800" algn="l" rtl="0">
              <a:spcBef>
                <a:spcPts val="0"/>
              </a:spcBef>
              <a:spcAft>
                <a:spcPts val="0"/>
              </a:spcAft>
              <a:buSzPts val="1200"/>
              <a:buChar char="●"/>
            </a:pPr>
            <a:r>
              <a:rPr lang="en" sz="1200" dirty="0"/>
              <a:t>Next, open the </a:t>
            </a:r>
            <a:r>
              <a:rPr lang="en" sz="1200" dirty="0">
                <a:latin typeface="Courier New"/>
                <a:ea typeface="Courier New"/>
                <a:cs typeface="Courier New"/>
                <a:sym typeface="Courier New"/>
              </a:rPr>
              <a:t>uscities.csv</a:t>
            </a:r>
            <a:r>
              <a:rPr lang="en" sz="1200" dirty="0"/>
              <a:t> file that has been provided to you in the </a:t>
            </a:r>
            <a:r>
              <a:rPr lang="en" sz="1200" dirty="0">
                <a:latin typeface="Courier New"/>
                <a:ea typeface="Courier New"/>
                <a:cs typeface="Courier New"/>
                <a:sym typeface="Courier New"/>
              </a:rPr>
              <a:t>data</a:t>
            </a:r>
            <a:r>
              <a:rPr lang="en" sz="1200" dirty="0"/>
              <a:t> directory of your repository.</a:t>
            </a:r>
            <a:endParaRPr sz="1200" dirty="0"/>
          </a:p>
          <a:p>
            <a:pPr marL="914400" lvl="1" indent="-298450" algn="l" rtl="0">
              <a:spcBef>
                <a:spcPts val="0"/>
              </a:spcBef>
              <a:spcAft>
                <a:spcPts val="0"/>
              </a:spcAft>
              <a:buSzPts val="1100"/>
              <a:buChar char="○"/>
            </a:pPr>
            <a:r>
              <a:rPr lang="en" dirty="0"/>
              <a:t>Note that each city includes a name, state, latitude, and longitude.</a:t>
            </a:r>
            <a:endParaRPr dirty="0"/>
          </a:p>
          <a:p>
            <a:pPr marL="914400" lvl="1" indent="-298450" algn="l" rtl="0">
              <a:spcBef>
                <a:spcPts val="0"/>
              </a:spcBef>
              <a:spcAft>
                <a:spcPts val="0"/>
              </a:spcAft>
              <a:buSzPts val="1100"/>
              <a:buChar char="○"/>
            </a:pPr>
            <a:r>
              <a:rPr lang="en" dirty="0"/>
              <a:t>Google the latitude and longitude of </a:t>
            </a:r>
            <a:r>
              <a:rPr lang="en" b="1" i="1" dirty="0">
                <a:solidFill>
                  <a:srgbClr val="FF0000"/>
                </a:solidFill>
              </a:rPr>
              <a:t>your hometown</a:t>
            </a:r>
            <a:r>
              <a:rPr lang="en" dirty="0"/>
              <a:t> and add it to the bottom of the file. If your hometown is already in the file, use Rochester instead.</a:t>
            </a:r>
            <a:endParaRPr dirty="0"/>
          </a:p>
          <a:p>
            <a:pPr marL="457200" lvl="0" indent="-304800" algn="l" rtl="0">
              <a:spcBef>
                <a:spcPts val="0"/>
              </a:spcBef>
              <a:spcAft>
                <a:spcPts val="0"/>
              </a:spcAft>
              <a:buSzPts val="1200"/>
              <a:buChar char="●"/>
            </a:pPr>
            <a:r>
              <a:rPr lang="en" sz="1200" dirty="0"/>
              <a:t>Create a new class in the </a:t>
            </a:r>
            <a:r>
              <a:rPr lang="en" sz="1200" dirty="0">
                <a:latin typeface="Courier New"/>
                <a:ea typeface="Courier New"/>
                <a:cs typeface="Courier New"/>
                <a:sym typeface="Courier New"/>
              </a:rPr>
              <a:t>unit13</a:t>
            </a:r>
            <a:r>
              <a:rPr lang="en" sz="1200" dirty="0"/>
              <a:t> package named </a:t>
            </a:r>
            <a:r>
              <a:rPr lang="en" sz="1200" dirty="0">
                <a:latin typeface="Courier New"/>
                <a:ea typeface="Courier New"/>
                <a:cs typeface="Courier New"/>
                <a:sym typeface="Courier New"/>
              </a:rPr>
              <a:t>MapMaker</a:t>
            </a:r>
            <a:r>
              <a:rPr lang="en" sz="1200" dirty="0"/>
              <a:t>.</a:t>
            </a:r>
            <a:endParaRPr sz="1200" dirty="0"/>
          </a:p>
          <a:p>
            <a:pPr marL="914400" lvl="1" indent="-298450" algn="l" rtl="0">
              <a:spcBef>
                <a:spcPts val="0"/>
              </a:spcBef>
              <a:spcAft>
                <a:spcPts val="0"/>
              </a:spcAft>
              <a:buSzPts val="1100"/>
              <a:buChar char="○"/>
            </a:pPr>
            <a:r>
              <a:rPr lang="en" dirty="0"/>
              <a:t>Define a </a:t>
            </a:r>
            <a:r>
              <a:rPr lang="en" dirty="0">
                <a:latin typeface="Courier New"/>
                <a:ea typeface="Courier New"/>
                <a:cs typeface="Courier New"/>
                <a:sym typeface="Courier New"/>
              </a:rPr>
              <a:t>static</a:t>
            </a:r>
            <a:r>
              <a:rPr lang="en" dirty="0"/>
              <a:t> method named </a:t>
            </a:r>
            <a:r>
              <a:rPr lang="en" dirty="0">
                <a:latin typeface="Courier New"/>
                <a:ea typeface="Courier New"/>
                <a:cs typeface="Courier New"/>
                <a:sym typeface="Courier New"/>
              </a:rPr>
              <a:t>buildMap</a:t>
            </a:r>
            <a:r>
              <a:rPr lang="en" dirty="0"/>
              <a:t> that declares a parameter for a filename. Build a weighted adjacency graph of the cities in the specified in the file.</a:t>
            </a:r>
            <a:endParaRPr dirty="0"/>
          </a:p>
          <a:p>
            <a:pPr marL="914400" lvl="1" indent="-298450" algn="l" rtl="0">
              <a:spcBef>
                <a:spcPts val="0"/>
              </a:spcBef>
              <a:spcAft>
                <a:spcPts val="0"/>
              </a:spcAft>
              <a:buSzPts val="1100"/>
              <a:buChar char="○"/>
            </a:pPr>
            <a:r>
              <a:rPr lang="en" dirty="0"/>
              <a:t>Define a </a:t>
            </a:r>
            <a:r>
              <a:rPr lang="en" dirty="0">
                <a:latin typeface="Courier New"/>
                <a:ea typeface="Courier New"/>
                <a:cs typeface="Courier New"/>
                <a:sym typeface="Courier New"/>
              </a:rPr>
              <a:t>main</a:t>
            </a:r>
            <a:r>
              <a:rPr lang="en" dirty="0"/>
              <a:t> method with the appropriate signature and use the </a:t>
            </a:r>
            <a:r>
              <a:rPr lang="en" dirty="0">
                <a:latin typeface="Courier New"/>
                <a:ea typeface="Courier New"/>
                <a:cs typeface="Courier New"/>
                <a:sym typeface="Courier New"/>
              </a:rPr>
              <a:t>uscities.csv</a:t>
            </a:r>
            <a:r>
              <a:rPr lang="en" dirty="0"/>
              <a:t> file to build a map of cities in the US.</a:t>
            </a:r>
            <a:endParaRPr dirty="0"/>
          </a:p>
        </p:txBody>
      </p:sp>
      <p:sp>
        <p:nvSpPr>
          <p:cNvPr id="434" name="Google Shape;434;p4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Building a Map</a:t>
            </a:r>
            <a:endParaRPr/>
          </a:p>
        </p:txBody>
      </p:sp>
      <p:sp>
        <p:nvSpPr>
          <p:cNvPr id="435" name="Google Shape;435;p4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13.10</a:t>
            </a:r>
            <a:endParaRPr/>
          </a:p>
        </p:txBody>
      </p:sp>
      <p:sp>
        <p:nvSpPr>
          <p:cNvPr id="436" name="Google Shape;436;p41"/>
          <p:cNvSpPr txBox="1">
            <a:spLocks noGrp="1"/>
          </p:cNvSpPr>
          <p:nvPr>
            <p:ph type="body" idx="4"/>
          </p:nvPr>
        </p:nvSpPr>
        <p:spPr>
          <a:xfrm>
            <a:off x="141600" y="3775900"/>
            <a:ext cx="3023700" cy="1124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latin typeface="Consolas"/>
                <a:ea typeface="Consolas"/>
                <a:cs typeface="Consolas"/>
                <a:sym typeface="Consolas"/>
              </a:rPr>
              <a:t>City,</a:t>
            </a:r>
            <a:r>
              <a:rPr lang="en" sz="950">
                <a:solidFill>
                  <a:srgbClr val="0000FF"/>
                </a:solidFill>
                <a:latin typeface="Consolas"/>
                <a:ea typeface="Consolas"/>
                <a:cs typeface="Consolas"/>
                <a:sym typeface="Consolas"/>
              </a:rPr>
              <a:t>State,</a:t>
            </a:r>
            <a:r>
              <a:rPr lang="en" sz="950">
                <a:solidFill>
                  <a:srgbClr val="795E26"/>
                </a:solidFill>
                <a:latin typeface="Consolas"/>
                <a:ea typeface="Consolas"/>
                <a:cs typeface="Consolas"/>
                <a:sym typeface="Consolas"/>
              </a:rPr>
              <a:t>Latitude,</a:t>
            </a:r>
            <a:r>
              <a:rPr lang="en" sz="950">
                <a:solidFill>
                  <a:srgbClr val="008000"/>
                </a:solidFill>
                <a:latin typeface="Consolas"/>
                <a:ea typeface="Consolas"/>
                <a:cs typeface="Consolas"/>
                <a:sym typeface="Consolas"/>
              </a:rPr>
              <a:t>Longitude</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Birmingham,</a:t>
            </a:r>
            <a:r>
              <a:rPr lang="en" sz="950">
                <a:solidFill>
                  <a:srgbClr val="0000FF"/>
                </a:solidFill>
                <a:latin typeface="Consolas"/>
                <a:ea typeface="Consolas"/>
                <a:cs typeface="Consolas"/>
                <a:sym typeface="Consolas"/>
              </a:rPr>
              <a:t>Alabama,</a:t>
            </a:r>
            <a:r>
              <a:rPr lang="en" sz="950">
                <a:solidFill>
                  <a:srgbClr val="795E26"/>
                </a:solidFill>
                <a:latin typeface="Consolas"/>
                <a:ea typeface="Consolas"/>
                <a:cs typeface="Consolas"/>
                <a:sym typeface="Consolas"/>
              </a:rPr>
              <a:t>33.5207,</a:t>
            </a:r>
            <a:r>
              <a:rPr lang="en" sz="950">
                <a:solidFill>
                  <a:srgbClr val="008000"/>
                </a:solidFill>
                <a:latin typeface="Consolas"/>
                <a:ea typeface="Consolas"/>
                <a:cs typeface="Consolas"/>
                <a:sym typeface="Consolas"/>
              </a:rPr>
              <a:t>-86.8025</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Phoenix,</a:t>
            </a:r>
            <a:r>
              <a:rPr lang="en" sz="950">
                <a:solidFill>
                  <a:srgbClr val="0000FF"/>
                </a:solidFill>
                <a:latin typeface="Consolas"/>
                <a:ea typeface="Consolas"/>
                <a:cs typeface="Consolas"/>
                <a:sym typeface="Consolas"/>
              </a:rPr>
              <a:t>Arizona,</a:t>
            </a:r>
            <a:r>
              <a:rPr lang="en" sz="950">
                <a:solidFill>
                  <a:srgbClr val="795E26"/>
                </a:solidFill>
                <a:latin typeface="Consolas"/>
                <a:ea typeface="Consolas"/>
                <a:cs typeface="Consolas"/>
                <a:sym typeface="Consolas"/>
              </a:rPr>
              <a:t>33.4484,</a:t>
            </a:r>
            <a:r>
              <a:rPr lang="en" sz="950">
                <a:solidFill>
                  <a:srgbClr val="008000"/>
                </a:solidFill>
                <a:latin typeface="Consolas"/>
                <a:ea typeface="Consolas"/>
                <a:cs typeface="Consolas"/>
                <a:sym typeface="Consolas"/>
              </a:rPr>
              <a:t>-112.0740</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Little Rock,</a:t>
            </a:r>
            <a:r>
              <a:rPr lang="en" sz="950">
                <a:solidFill>
                  <a:srgbClr val="0000FF"/>
                </a:solidFill>
                <a:latin typeface="Consolas"/>
                <a:ea typeface="Consolas"/>
                <a:cs typeface="Consolas"/>
                <a:sym typeface="Consolas"/>
              </a:rPr>
              <a:t>Arkansas,</a:t>
            </a:r>
            <a:r>
              <a:rPr lang="en" sz="950">
                <a:solidFill>
                  <a:srgbClr val="795E26"/>
                </a:solidFill>
                <a:latin typeface="Consolas"/>
                <a:ea typeface="Consolas"/>
                <a:cs typeface="Consolas"/>
                <a:sym typeface="Consolas"/>
              </a:rPr>
              <a:t>34.7465,</a:t>
            </a:r>
            <a:r>
              <a:rPr lang="en" sz="950">
                <a:solidFill>
                  <a:srgbClr val="008000"/>
                </a:solidFill>
                <a:latin typeface="Consolas"/>
                <a:ea typeface="Consolas"/>
                <a:cs typeface="Consolas"/>
                <a:sym typeface="Consolas"/>
              </a:rPr>
              <a:t>-92.2896</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Los Angeles,</a:t>
            </a:r>
            <a:r>
              <a:rPr lang="en" sz="950">
                <a:solidFill>
                  <a:srgbClr val="0000FF"/>
                </a:solidFill>
                <a:latin typeface="Consolas"/>
                <a:ea typeface="Consolas"/>
                <a:cs typeface="Consolas"/>
                <a:sym typeface="Consolas"/>
              </a:rPr>
              <a:t>California,</a:t>
            </a:r>
            <a:r>
              <a:rPr lang="en" sz="950">
                <a:solidFill>
                  <a:srgbClr val="795E26"/>
                </a:solidFill>
                <a:latin typeface="Consolas"/>
                <a:ea typeface="Consolas"/>
                <a:cs typeface="Consolas"/>
                <a:sym typeface="Consolas"/>
              </a:rPr>
              <a:t>34.0522,</a:t>
            </a:r>
            <a:r>
              <a:rPr lang="en" sz="950">
                <a:solidFill>
                  <a:srgbClr val="008000"/>
                </a:solidFill>
                <a:latin typeface="Consolas"/>
                <a:ea typeface="Consolas"/>
                <a:cs typeface="Consolas"/>
                <a:sym typeface="Consolas"/>
              </a:rPr>
              <a:t>-118.2437</a:t>
            </a:r>
            <a:endParaRPr sz="1100"/>
          </a:p>
        </p:txBody>
      </p:sp>
      <p:pic>
        <p:nvPicPr>
          <p:cNvPr id="437" name="Google Shape;437;p41"/>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2"/>
          <p:cNvSpPr txBox="1">
            <a:spLocks noGrp="1"/>
          </p:cNvSpPr>
          <p:nvPr>
            <p:ph type="title"/>
          </p:nvPr>
        </p:nvSpPr>
        <p:spPr>
          <a:xfrm>
            <a:off x="269953" y="16812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Nearest Neighbor</a:t>
            </a:r>
            <a:endParaRPr/>
          </a:p>
        </p:txBody>
      </p:sp>
      <p:sp>
        <p:nvSpPr>
          <p:cNvPr id="443" name="Google Shape;443;p4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444" name="Google Shape;444;p42"/>
          <p:cNvSpPr txBox="1">
            <a:spLocks noGrp="1"/>
          </p:cNvSpPr>
          <p:nvPr>
            <p:ph type="body" idx="1"/>
          </p:nvPr>
        </p:nvSpPr>
        <p:spPr>
          <a:xfrm>
            <a:off x="4430225" y="30750"/>
            <a:ext cx="4313400" cy="50580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As was previously mentioned, the optimal solution for the </a:t>
            </a:r>
            <a:r>
              <a:rPr lang="en" b="1" i="1" dirty="0">
                <a:solidFill>
                  <a:srgbClr val="FF0000"/>
                </a:solidFill>
              </a:rPr>
              <a:t>Traveling Salesman</a:t>
            </a:r>
            <a:r>
              <a:rPr lang="en" dirty="0">
                <a:solidFill>
                  <a:srgbClr val="FF0000"/>
                </a:solidFill>
              </a:rPr>
              <a:t> </a:t>
            </a:r>
            <a:r>
              <a:rPr lang="en" dirty="0"/>
              <a:t>problem requires an exhaustive search of all possible paths through the graph.</a:t>
            </a:r>
            <a:endParaRPr dirty="0"/>
          </a:p>
          <a:p>
            <a:pPr marL="914400" lvl="1" indent="-298450" algn="l" rtl="0">
              <a:spcBef>
                <a:spcPts val="0"/>
              </a:spcBef>
              <a:spcAft>
                <a:spcPts val="0"/>
              </a:spcAft>
              <a:buSzPts val="1100"/>
              <a:buChar char="○"/>
            </a:pPr>
            <a:r>
              <a:rPr lang="en" dirty="0">
                <a:highlight>
                  <a:srgbClr val="FFFF00"/>
                </a:highlight>
              </a:rPr>
              <a:t>This would take a while as there are are 50! possible paths.</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A </a:t>
            </a:r>
            <a:r>
              <a:rPr lang="en" b="1" i="1" dirty="0">
                <a:solidFill>
                  <a:srgbClr val="FF0000"/>
                </a:solidFill>
                <a:highlight>
                  <a:srgbClr val="FFFF00"/>
                </a:highlight>
              </a:rPr>
              <a:t>greedy algorithm</a:t>
            </a:r>
            <a:r>
              <a:rPr lang="en" dirty="0">
                <a:solidFill>
                  <a:srgbClr val="FF0000"/>
                </a:solidFill>
                <a:highlight>
                  <a:srgbClr val="FFFF00"/>
                </a:highlight>
              </a:rPr>
              <a:t> </a:t>
            </a:r>
            <a:r>
              <a:rPr lang="en" dirty="0">
                <a:highlight>
                  <a:srgbClr val="FFFF00"/>
                </a:highlight>
              </a:rPr>
              <a:t>might not find the optimal path, but it should find one that is reasonably good in a much shorter amount of time.</a:t>
            </a:r>
            <a:endParaRPr dirty="0">
              <a:highlight>
                <a:srgbClr val="FFFF00"/>
              </a:highlight>
            </a:endParaRPr>
          </a:p>
          <a:p>
            <a:pPr marL="457200" lvl="0" indent="-311150" algn="l" rtl="0">
              <a:spcBef>
                <a:spcPts val="1000"/>
              </a:spcBef>
              <a:spcAft>
                <a:spcPts val="0"/>
              </a:spcAft>
              <a:buSzPts val="1300"/>
              <a:buChar char="●"/>
            </a:pPr>
            <a:r>
              <a:rPr lang="en" dirty="0"/>
              <a:t>One such algorithm is the </a:t>
            </a:r>
            <a:r>
              <a:rPr lang="en" b="1" i="1" dirty="0">
                <a:solidFill>
                  <a:srgbClr val="FF0000"/>
                </a:solidFill>
              </a:rPr>
              <a:t>Nearest Neighbor</a:t>
            </a:r>
            <a:r>
              <a:rPr lang="en" dirty="0">
                <a:solidFill>
                  <a:srgbClr val="FF0000"/>
                </a:solidFill>
              </a:rPr>
              <a:t> </a:t>
            </a:r>
            <a:r>
              <a:rPr lang="en" dirty="0"/>
              <a:t>algorithm.</a:t>
            </a:r>
            <a:endParaRPr dirty="0"/>
          </a:p>
          <a:p>
            <a:pPr marL="914400" lvl="1" indent="-298450" algn="l" rtl="0">
              <a:spcBef>
                <a:spcPts val="0"/>
              </a:spcBef>
              <a:spcAft>
                <a:spcPts val="0"/>
              </a:spcAft>
              <a:buSzPts val="1100"/>
              <a:buChar char="○"/>
            </a:pPr>
            <a:r>
              <a:rPr lang="en" dirty="0"/>
              <a:t>Choose a starting point in the graph, e.g. the city closest to the salesman's current location.</a:t>
            </a:r>
            <a:endParaRPr dirty="0"/>
          </a:p>
          <a:p>
            <a:pPr marL="914400" lvl="1" indent="-298450" algn="l" rtl="0">
              <a:spcBef>
                <a:spcPts val="0"/>
              </a:spcBef>
              <a:spcAft>
                <a:spcPts val="0"/>
              </a:spcAft>
              <a:buSzPts val="1100"/>
              <a:buChar char="○"/>
            </a:pPr>
            <a:r>
              <a:rPr lang="en" dirty="0"/>
              <a:t>Each time the salesman chooses a new city to travel to, he chooses the </a:t>
            </a:r>
            <a:r>
              <a:rPr lang="en" b="1" i="1" dirty="0">
                <a:solidFill>
                  <a:srgbClr val="FF0000"/>
                </a:solidFill>
                <a:highlight>
                  <a:srgbClr val="FFFF00"/>
                </a:highlight>
              </a:rPr>
              <a:t>closest city that he has not yet visited</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This continues until all 50 cities have been visited.</a:t>
            </a:r>
            <a:endParaRPr dirty="0"/>
          </a:p>
          <a:p>
            <a:pPr marL="457200" lvl="0" indent="-311150" algn="l" rtl="0">
              <a:spcBef>
                <a:spcPts val="1000"/>
              </a:spcBef>
              <a:spcAft>
                <a:spcPts val="0"/>
              </a:spcAft>
              <a:buSzPts val="1300"/>
              <a:buChar char="●"/>
            </a:pPr>
            <a:r>
              <a:rPr lang="en" dirty="0">
                <a:highlight>
                  <a:srgbClr val="FFFF00"/>
                </a:highlight>
              </a:rPr>
              <a:t>Each time a new city is chosen, the algorithm heads </a:t>
            </a:r>
            <a:r>
              <a:rPr lang="en" b="1" i="1" dirty="0">
                <a:solidFill>
                  <a:srgbClr val="FF0000"/>
                </a:solidFill>
                <a:highlight>
                  <a:srgbClr val="FFFF00"/>
                </a:highlight>
              </a:rPr>
              <a:t>deeper</a:t>
            </a:r>
            <a:r>
              <a:rPr lang="en" dirty="0">
                <a:solidFill>
                  <a:srgbClr val="FF0000"/>
                </a:solidFill>
                <a:highlight>
                  <a:srgbClr val="FFFF00"/>
                </a:highlight>
              </a:rPr>
              <a:t> </a:t>
            </a:r>
            <a:r>
              <a:rPr lang="en" dirty="0">
                <a:highlight>
                  <a:srgbClr val="FFFF00"/>
                </a:highlight>
              </a:rPr>
              <a:t>into the graph without looking at any other neighbors.</a:t>
            </a:r>
            <a:endParaRPr dirty="0">
              <a:highlight>
                <a:srgbClr val="FFFF00"/>
              </a:highlight>
            </a:endParaRPr>
          </a:p>
          <a:p>
            <a:pPr marL="914400" lvl="1" indent="-298450" algn="l" rtl="0">
              <a:spcBef>
                <a:spcPts val="0"/>
              </a:spcBef>
              <a:spcAft>
                <a:spcPts val="0"/>
              </a:spcAft>
              <a:buSzPts val="1100"/>
              <a:buChar char="○"/>
            </a:pPr>
            <a:r>
              <a:rPr lang="en" dirty="0"/>
              <a:t>Does this sound familiar? </a:t>
            </a:r>
            <a:r>
              <a:rPr lang="en" dirty="0">
                <a:sym typeface="Wingdings" panose="05000000000000000000" pitchFamily="2" charset="2"/>
              </a:rPr>
              <a:t> </a:t>
            </a:r>
            <a:r>
              <a:rPr lang="en" b="1" dirty="0">
                <a:sym typeface="Wingdings" panose="05000000000000000000" pitchFamily="2" charset="2"/>
              </a:rPr>
              <a:t>DFS</a:t>
            </a:r>
            <a:endParaRPr b="1" dirty="0"/>
          </a:p>
        </p:txBody>
      </p:sp>
      <p:sp>
        <p:nvSpPr>
          <p:cNvPr id="445" name="Google Shape;445;p42"/>
          <p:cNvSpPr txBox="1">
            <a:spLocks noGrp="1"/>
          </p:cNvSpPr>
          <p:nvPr>
            <p:ph type="body" idx="3"/>
          </p:nvPr>
        </p:nvSpPr>
        <p:spPr>
          <a:xfrm>
            <a:off x="266838" y="83370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b="1" i="1">
                <a:solidFill>
                  <a:srgbClr val="FF0000"/>
                </a:solidFill>
              </a:rPr>
              <a:t>Nearest Neighbor</a:t>
            </a:r>
            <a:r>
              <a:rPr lang="en">
                <a:solidFill>
                  <a:srgbClr val="FF0000"/>
                </a:solidFill>
              </a:rPr>
              <a:t> </a:t>
            </a:r>
            <a:r>
              <a:rPr lang="en"/>
              <a:t>algorithm is a slight modification of a </a:t>
            </a:r>
            <a:r>
              <a:rPr lang="en" b="1" i="1">
                <a:solidFill>
                  <a:srgbClr val="FF0000"/>
                </a:solidFill>
              </a:rPr>
              <a:t>depth-first search</a:t>
            </a:r>
            <a:r>
              <a:rPr lang="en"/>
              <a:t>; it always chooses the neighbor connected by the edge with the </a:t>
            </a:r>
            <a:r>
              <a:rPr lang="en" b="1" i="1">
                <a:solidFill>
                  <a:srgbClr val="FF0000"/>
                </a:solidFill>
              </a:rPr>
              <a:t>lowest weight</a:t>
            </a:r>
            <a:r>
              <a:rPr lang="en"/>
              <a:t>.</a:t>
            </a:r>
            <a:endParaRPr/>
          </a:p>
        </p:txBody>
      </p:sp>
      <p:grpSp>
        <p:nvGrpSpPr>
          <p:cNvPr id="446" name="Google Shape;446;p42"/>
          <p:cNvGrpSpPr/>
          <p:nvPr/>
        </p:nvGrpSpPr>
        <p:grpSpPr>
          <a:xfrm>
            <a:off x="719114" y="1839462"/>
            <a:ext cx="2801943" cy="2524143"/>
            <a:chOff x="338125" y="1610890"/>
            <a:chExt cx="3334852" cy="3004217"/>
          </a:xfrm>
        </p:grpSpPr>
        <p:sp>
          <p:nvSpPr>
            <p:cNvPr id="447" name="Google Shape;447;p42"/>
            <p:cNvSpPr/>
            <p:nvPr/>
          </p:nvSpPr>
          <p:spPr>
            <a:xfrm>
              <a:off x="679459"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448" name="Google Shape;448;p42"/>
            <p:cNvSpPr/>
            <p:nvPr/>
          </p:nvSpPr>
          <p:spPr>
            <a:xfrm>
              <a:off x="1772863" y="2900772"/>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449" name="Google Shape;449;p42"/>
            <p:cNvSpPr/>
            <p:nvPr/>
          </p:nvSpPr>
          <p:spPr>
            <a:xfrm>
              <a:off x="338125" y="295099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450" name="Google Shape;450;p42"/>
            <p:cNvSpPr/>
            <p:nvPr/>
          </p:nvSpPr>
          <p:spPr>
            <a:xfrm>
              <a:off x="2380788"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451" name="Google Shape;451;p42"/>
            <p:cNvSpPr/>
            <p:nvPr/>
          </p:nvSpPr>
          <p:spPr>
            <a:xfrm>
              <a:off x="2863270"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452" name="Google Shape;452;p42"/>
            <p:cNvSpPr/>
            <p:nvPr/>
          </p:nvSpPr>
          <p:spPr>
            <a:xfrm>
              <a:off x="3110849" y="2857201"/>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453" name="Google Shape;453;p42"/>
            <p:cNvSpPr/>
            <p:nvPr/>
          </p:nvSpPr>
          <p:spPr>
            <a:xfrm>
              <a:off x="1300197"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454" name="Google Shape;454;p42"/>
            <p:cNvCxnSpPr>
              <a:stCxn id="447" idx="3"/>
              <a:endCxn id="449" idx="0"/>
            </p:cNvCxnSpPr>
            <p:nvPr/>
          </p:nvCxnSpPr>
          <p:spPr>
            <a:xfrm flipH="1">
              <a:off x="609191" y="2157567"/>
              <a:ext cx="149700" cy="793500"/>
            </a:xfrm>
            <a:prstGeom prst="straightConnector1">
              <a:avLst/>
            </a:prstGeom>
            <a:noFill/>
            <a:ln w="19050" cap="flat" cmpd="sng">
              <a:solidFill>
                <a:srgbClr val="FFFFFF"/>
              </a:solidFill>
              <a:prstDash val="solid"/>
              <a:round/>
              <a:headEnd type="none" w="med" len="med"/>
              <a:tailEnd type="none" w="med" len="med"/>
            </a:ln>
          </p:spPr>
        </p:cxnSp>
        <p:cxnSp>
          <p:nvCxnSpPr>
            <p:cNvPr id="455" name="Google Shape;455;p42"/>
            <p:cNvCxnSpPr>
              <a:stCxn id="447" idx="6"/>
              <a:endCxn id="450" idx="2"/>
            </p:cNvCxnSpPr>
            <p:nvPr/>
          </p:nvCxnSpPr>
          <p:spPr>
            <a:xfrm>
              <a:off x="1221859" y="1965800"/>
              <a:ext cx="1158900" cy="0"/>
            </a:xfrm>
            <a:prstGeom prst="straightConnector1">
              <a:avLst/>
            </a:prstGeom>
            <a:noFill/>
            <a:ln w="19050" cap="flat" cmpd="sng">
              <a:solidFill>
                <a:srgbClr val="FFFFFF"/>
              </a:solidFill>
              <a:prstDash val="solid"/>
              <a:round/>
              <a:headEnd type="none" w="med" len="med"/>
              <a:tailEnd type="none" w="med" len="med"/>
            </a:ln>
          </p:spPr>
        </p:cxnSp>
        <p:cxnSp>
          <p:nvCxnSpPr>
            <p:cNvPr id="456" name="Google Shape;456;p42"/>
            <p:cNvCxnSpPr>
              <a:stCxn id="447" idx="5"/>
              <a:endCxn id="448" idx="1"/>
            </p:cNvCxnSpPr>
            <p:nvPr/>
          </p:nvCxnSpPr>
          <p:spPr>
            <a:xfrm>
              <a:off x="1142426" y="2157567"/>
              <a:ext cx="709800" cy="822600"/>
            </a:xfrm>
            <a:prstGeom prst="straightConnector1">
              <a:avLst/>
            </a:prstGeom>
            <a:noFill/>
            <a:ln w="19050" cap="flat" cmpd="sng">
              <a:solidFill>
                <a:srgbClr val="FFFFFF"/>
              </a:solidFill>
              <a:prstDash val="solid"/>
              <a:round/>
              <a:headEnd type="none" w="med" len="med"/>
              <a:tailEnd type="none" w="med" len="med"/>
            </a:ln>
          </p:spPr>
        </p:cxnSp>
        <p:cxnSp>
          <p:nvCxnSpPr>
            <p:cNvPr id="457" name="Google Shape;457;p42"/>
            <p:cNvCxnSpPr>
              <a:stCxn id="448" idx="6"/>
              <a:endCxn id="452" idx="2"/>
            </p:cNvCxnSpPr>
            <p:nvPr/>
          </p:nvCxnSpPr>
          <p:spPr>
            <a:xfrm rot="10800000" flipH="1">
              <a:off x="2315263" y="3128472"/>
              <a:ext cx="795600" cy="43500"/>
            </a:xfrm>
            <a:prstGeom prst="straightConnector1">
              <a:avLst/>
            </a:prstGeom>
            <a:noFill/>
            <a:ln w="19050" cap="flat" cmpd="sng">
              <a:solidFill>
                <a:srgbClr val="FFFFFF"/>
              </a:solidFill>
              <a:prstDash val="solid"/>
              <a:round/>
              <a:headEnd type="none" w="med" len="med"/>
              <a:tailEnd type="none" w="med" len="med"/>
            </a:ln>
          </p:spPr>
        </p:cxnSp>
        <p:cxnSp>
          <p:nvCxnSpPr>
            <p:cNvPr id="458" name="Google Shape;458;p42"/>
            <p:cNvCxnSpPr>
              <a:stCxn id="452" idx="4"/>
              <a:endCxn id="451" idx="7"/>
            </p:cNvCxnSpPr>
            <p:nvPr/>
          </p:nvCxnSpPr>
          <p:spPr>
            <a:xfrm flipH="1">
              <a:off x="3326249" y="3399601"/>
              <a:ext cx="55800" cy="752400"/>
            </a:xfrm>
            <a:prstGeom prst="straightConnector1">
              <a:avLst/>
            </a:prstGeom>
            <a:noFill/>
            <a:ln w="19050" cap="flat" cmpd="sng">
              <a:solidFill>
                <a:srgbClr val="FFFFFF"/>
              </a:solidFill>
              <a:prstDash val="solid"/>
              <a:round/>
              <a:headEnd type="none" w="med" len="med"/>
              <a:tailEnd type="none" w="med" len="med"/>
            </a:ln>
          </p:spPr>
        </p:cxnSp>
        <p:cxnSp>
          <p:nvCxnSpPr>
            <p:cNvPr id="459" name="Google Shape;459;p42"/>
            <p:cNvCxnSpPr>
              <a:stCxn id="448" idx="3"/>
              <a:endCxn id="453" idx="0"/>
            </p:cNvCxnSpPr>
            <p:nvPr/>
          </p:nvCxnSpPr>
          <p:spPr>
            <a:xfrm flipH="1">
              <a:off x="1571495" y="3363739"/>
              <a:ext cx="280800" cy="708900"/>
            </a:xfrm>
            <a:prstGeom prst="straightConnector1">
              <a:avLst/>
            </a:prstGeom>
            <a:noFill/>
            <a:ln w="19050" cap="flat" cmpd="sng">
              <a:solidFill>
                <a:srgbClr val="FFFFFF"/>
              </a:solidFill>
              <a:prstDash val="solid"/>
              <a:round/>
              <a:headEnd type="none" w="med" len="med"/>
              <a:tailEnd type="none" w="med" len="med"/>
            </a:ln>
          </p:spPr>
        </p:cxnSp>
        <p:cxnSp>
          <p:nvCxnSpPr>
            <p:cNvPr id="460" name="Google Shape;460;p42"/>
            <p:cNvCxnSpPr>
              <a:stCxn id="453" idx="6"/>
              <a:endCxn id="451" idx="2"/>
            </p:cNvCxnSpPr>
            <p:nvPr/>
          </p:nvCxnSpPr>
          <p:spPr>
            <a:xfrm>
              <a:off x="1842597" y="4343907"/>
              <a:ext cx="1020600" cy="0"/>
            </a:xfrm>
            <a:prstGeom prst="straightConnector1">
              <a:avLst/>
            </a:prstGeom>
            <a:noFill/>
            <a:ln w="19050" cap="flat" cmpd="sng">
              <a:solidFill>
                <a:srgbClr val="FFFFFF"/>
              </a:solidFill>
              <a:prstDash val="solid"/>
              <a:round/>
              <a:headEnd type="none" w="med" len="med"/>
              <a:tailEnd type="none" w="med" len="med"/>
            </a:ln>
          </p:spPr>
        </p:cxnSp>
        <p:cxnSp>
          <p:nvCxnSpPr>
            <p:cNvPr id="461" name="Google Shape;461;p42"/>
            <p:cNvCxnSpPr>
              <a:stCxn id="449" idx="6"/>
              <a:endCxn id="448" idx="2"/>
            </p:cNvCxnSpPr>
            <p:nvPr/>
          </p:nvCxnSpPr>
          <p:spPr>
            <a:xfrm rot="10800000" flipH="1">
              <a:off x="880525" y="3172090"/>
              <a:ext cx="892200" cy="50100"/>
            </a:xfrm>
            <a:prstGeom prst="straightConnector1">
              <a:avLst/>
            </a:prstGeom>
            <a:noFill/>
            <a:ln w="19050" cap="flat" cmpd="sng">
              <a:solidFill>
                <a:srgbClr val="FFFFFF"/>
              </a:solidFill>
              <a:prstDash val="solid"/>
              <a:round/>
              <a:headEnd type="none" w="med" len="med"/>
              <a:tailEnd type="none" w="med" len="med"/>
            </a:ln>
          </p:spPr>
        </p:cxnSp>
        <p:cxnSp>
          <p:nvCxnSpPr>
            <p:cNvPr id="462" name="Google Shape;462;p42"/>
            <p:cNvCxnSpPr>
              <a:stCxn id="450" idx="5"/>
              <a:endCxn id="452" idx="1"/>
            </p:cNvCxnSpPr>
            <p:nvPr/>
          </p:nvCxnSpPr>
          <p:spPr>
            <a:xfrm>
              <a:off x="2843755" y="2157567"/>
              <a:ext cx="346500" cy="779100"/>
            </a:xfrm>
            <a:prstGeom prst="straightConnector1">
              <a:avLst/>
            </a:prstGeom>
            <a:noFill/>
            <a:ln w="19050" cap="flat" cmpd="sng">
              <a:solidFill>
                <a:srgbClr val="FFFFFF"/>
              </a:solidFill>
              <a:prstDash val="solid"/>
              <a:round/>
              <a:headEnd type="none" w="med" len="med"/>
              <a:tailEnd type="none" w="med" len="med"/>
            </a:ln>
          </p:spPr>
        </p:cxnSp>
        <p:sp>
          <p:nvSpPr>
            <p:cNvPr id="463" name="Google Shape;463;p4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464" name="Google Shape;464;p4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465" name="Google Shape;465;p4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6" name="Google Shape;466;p4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467" name="Google Shape;467;p4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468" name="Google Shape;468;p4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9" name="Google Shape;469;p4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70" name="Google Shape;470;p4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471" name="Google Shape;471;p4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472" name="Google Shape;472;p42"/>
            <p:cNvCxnSpPr>
              <a:stCxn id="449" idx="5"/>
              <a:endCxn id="453" idx="1"/>
            </p:cNvCxnSpPr>
            <p:nvPr/>
          </p:nvCxnSpPr>
          <p:spPr>
            <a:xfrm>
              <a:off x="801092" y="3413957"/>
              <a:ext cx="578400" cy="738300"/>
            </a:xfrm>
            <a:prstGeom prst="straightConnector1">
              <a:avLst/>
            </a:prstGeom>
            <a:noFill/>
            <a:ln w="19050" cap="flat" cmpd="sng">
              <a:solidFill>
                <a:srgbClr val="FFFFFF"/>
              </a:solidFill>
              <a:prstDash val="solid"/>
              <a:round/>
              <a:headEnd type="none" w="med" len="med"/>
              <a:tailEnd type="none" w="med" len="med"/>
            </a:ln>
          </p:spPr>
        </p:cxnSp>
        <p:sp>
          <p:nvSpPr>
            <p:cNvPr id="473" name="Google Shape;473;p4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474" name="Google Shape;474;p42"/>
          <p:cNvSpPr txBox="1">
            <a:spLocks noGrp="1"/>
          </p:cNvSpPr>
          <p:nvPr>
            <p:ph type="body" idx="3"/>
          </p:nvPr>
        </p:nvSpPr>
        <p:spPr>
          <a:xfrm>
            <a:off x="266838" y="4546843"/>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But will it always find the path with the lowest cost?</a:t>
            </a:r>
            <a:endParaRPr/>
          </a:p>
        </p:txBody>
      </p:sp>
      <p:cxnSp>
        <p:nvCxnSpPr>
          <p:cNvPr id="475" name="Google Shape;475;p42"/>
          <p:cNvCxnSpPr/>
          <p:nvPr/>
        </p:nvCxnSpPr>
        <p:spPr>
          <a:xfrm flipH="1">
            <a:off x="946942" y="2298780"/>
            <a:ext cx="125700" cy="666600"/>
          </a:xfrm>
          <a:prstGeom prst="straightConnector1">
            <a:avLst/>
          </a:prstGeom>
          <a:noFill/>
          <a:ln w="38100" cap="flat" cmpd="sng">
            <a:solidFill>
              <a:srgbClr val="A4C2F4"/>
            </a:solidFill>
            <a:prstDash val="solid"/>
            <a:round/>
            <a:headEnd type="none" w="med" len="med"/>
            <a:tailEnd type="stealth" w="med" len="med"/>
          </a:ln>
        </p:spPr>
      </p:cxnSp>
      <p:cxnSp>
        <p:nvCxnSpPr>
          <p:cNvPr id="476" name="Google Shape;476;p42"/>
          <p:cNvCxnSpPr/>
          <p:nvPr/>
        </p:nvCxnSpPr>
        <p:spPr>
          <a:xfrm flipH="1">
            <a:off x="1755520" y="3312205"/>
            <a:ext cx="235800" cy="595500"/>
          </a:xfrm>
          <a:prstGeom prst="straightConnector1">
            <a:avLst/>
          </a:prstGeom>
          <a:noFill/>
          <a:ln w="38100" cap="flat" cmpd="sng">
            <a:solidFill>
              <a:srgbClr val="A4C2F4"/>
            </a:solidFill>
            <a:prstDash val="solid"/>
            <a:round/>
            <a:headEnd type="none" w="med" len="med"/>
            <a:tailEnd type="stealth" w="med" len="med"/>
          </a:ln>
        </p:spPr>
      </p:cxnSp>
      <p:cxnSp>
        <p:nvCxnSpPr>
          <p:cNvPr id="477" name="Google Shape;477;p42"/>
          <p:cNvCxnSpPr/>
          <p:nvPr/>
        </p:nvCxnSpPr>
        <p:spPr>
          <a:xfrm>
            <a:off x="1983171" y="4135742"/>
            <a:ext cx="857400" cy="0"/>
          </a:xfrm>
          <a:prstGeom prst="straightConnector1">
            <a:avLst/>
          </a:prstGeom>
          <a:noFill/>
          <a:ln w="38100" cap="flat" cmpd="sng">
            <a:solidFill>
              <a:srgbClr val="A4C2F4"/>
            </a:solidFill>
            <a:prstDash val="solid"/>
            <a:round/>
            <a:headEnd type="none" w="med" len="med"/>
            <a:tailEnd type="stealth" w="med" len="med"/>
          </a:ln>
        </p:spPr>
      </p:cxnSp>
      <p:cxnSp>
        <p:nvCxnSpPr>
          <p:cNvPr id="478" name="Google Shape;478;p42"/>
          <p:cNvCxnSpPr/>
          <p:nvPr/>
        </p:nvCxnSpPr>
        <p:spPr>
          <a:xfrm rot="10800000" flipH="1">
            <a:off x="1174839" y="3151276"/>
            <a:ext cx="749700" cy="42000"/>
          </a:xfrm>
          <a:prstGeom prst="straightConnector1">
            <a:avLst/>
          </a:prstGeom>
          <a:noFill/>
          <a:ln w="38100" cap="flat" cmpd="sng">
            <a:solidFill>
              <a:srgbClr val="A4C2F4"/>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45"/>
                                        </p:tgtEl>
                                        <p:attrNameLst>
                                          <p:attrName>style.visibility</p:attrName>
                                        </p:attrNameLst>
                                      </p:cBhvr>
                                      <p:to>
                                        <p:strVal val="visible"/>
                                      </p:to>
                                    </p:set>
                                    <p:animEffect transition="in" filter="fade">
                                      <p:cBhvr>
                                        <p:cTn id="43" dur="1000"/>
                                        <p:tgtEl>
                                          <p:spTgt spid="445"/>
                                        </p:tgtEl>
                                      </p:cBhvr>
                                    </p:animEffect>
                                  </p:childTnLst>
                                </p:cTn>
                              </p:par>
                              <p:par>
                                <p:cTn id="44" presetID="10" presetClass="entr" presetSubtype="0" fill="hold" nodeType="withEffect">
                                  <p:stCondLst>
                                    <p:cond delay="0"/>
                                  </p:stCondLst>
                                  <p:childTnLst>
                                    <p:set>
                                      <p:cBhvr>
                                        <p:cTn id="45" dur="1" fill="hold">
                                          <p:stCondLst>
                                            <p:cond delay="0"/>
                                          </p:stCondLst>
                                        </p:cTn>
                                        <p:tgtEl>
                                          <p:spTgt spid="446"/>
                                        </p:tgtEl>
                                        <p:attrNameLst>
                                          <p:attrName>style.visibility</p:attrName>
                                        </p:attrNameLst>
                                      </p:cBhvr>
                                      <p:to>
                                        <p:strVal val="visible"/>
                                      </p:to>
                                    </p:set>
                                    <p:animEffect transition="in" filter="fade">
                                      <p:cBhvr>
                                        <p:cTn id="46" dur="1000"/>
                                        <p:tgtEl>
                                          <p:spTgt spid="446"/>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75"/>
                                        </p:tgtEl>
                                        <p:attrNameLst>
                                          <p:attrName>style.visibility</p:attrName>
                                        </p:attrNameLst>
                                      </p:cBhvr>
                                      <p:to>
                                        <p:strVal val="visible"/>
                                      </p:to>
                                    </p:set>
                                    <p:animEffect transition="in" filter="fade">
                                      <p:cBhvr>
                                        <p:cTn id="50" dur="1000"/>
                                        <p:tgtEl>
                                          <p:spTgt spid="475"/>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478"/>
                                        </p:tgtEl>
                                        <p:attrNameLst>
                                          <p:attrName>style.visibility</p:attrName>
                                        </p:attrNameLst>
                                      </p:cBhvr>
                                      <p:to>
                                        <p:strVal val="visible"/>
                                      </p:to>
                                    </p:set>
                                    <p:animEffect transition="in" filter="fade">
                                      <p:cBhvr>
                                        <p:cTn id="54" dur="1000"/>
                                        <p:tgtEl>
                                          <p:spTgt spid="478"/>
                                        </p:tgtEl>
                                      </p:cBhvr>
                                    </p:animEffect>
                                  </p:childTnLst>
                                </p:cTn>
                              </p:par>
                            </p:childTnLst>
                          </p:cTn>
                        </p:par>
                        <p:par>
                          <p:cTn id="55" fill="hold">
                            <p:stCondLst>
                              <p:cond delay="3000"/>
                            </p:stCondLst>
                            <p:childTnLst>
                              <p:par>
                                <p:cTn id="56" presetID="10" presetClass="entr" presetSubtype="0" fill="hold" nodeType="afterEffect">
                                  <p:stCondLst>
                                    <p:cond delay="0"/>
                                  </p:stCondLst>
                                  <p:childTnLst>
                                    <p:set>
                                      <p:cBhvr>
                                        <p:cTn id="57" dur="1" fill="hold">
                                          <p:stCondLst>
                                            <p:cond delay="0"/>
                                          </p:stCondLst>
                                        </p:cTn>
                                        <p:tgtEl>
                                          <p:spTgt spid="476"/>
                                        </p:tgtEl>
                                        <p:attrNameLst>
                                          <p:attrName>style.visibility</p:attrName>
                                        </p:attrNameLst>
                                      </p:cBhvr>
                                      <p:to>
                                        <p:strVal val="visible"/>
                                      </p:to>
                                    </p:set>
                                    <p:animEffect transition="in" filter="fade">
                                      <p:cBhvr>
                                        <p:cTn id="58" dur="1000"/>
                                        <p:tgtEl>
                                          <p:spTgt spid="476"/>
                                        </p:tgtEl>
                                      </p:cBhvr>
                                    </p:animEffect>
                                  </p:childTnLst>
                                </p:cTn>
                              </p:par>
                            </p:childTnLst>
                          </p:cTn>
                        </p:par>
                        <p:par>
                          <p:cTn id="59" fill="hold">
                            <p:stCondLst>
                              <p:cond delay="4000"/>
                            </p:stCondLst>
                            <p:childTnLst>
                              <p:par>
                                <p:cTn id="60" presetID="10" presetClass="entr" presetSubtype="0" fill="hold" nodeType="afterEffect">
                                  <p:stCondLst>
                                    <p:cond delay="0"/>
                                  </p:stCondLst>
                                  <p:childTnLst>
                                    <p:set>
                                      <p:cBhvr>
                                        <p:cTn id="61" dur="1" fill="hold">
                                          <p:stCondLst>
                                            <p:cond delay="0"/>
                                          </p:stCondLst>
                                        </p:cTn>
                                        <p:tgtEl>
                                          <p:spTgt spid="477"/>
                                        </p:tgtEl>
                                        <p:attrNameLst>
                                          <p:attrName>style.visibility</p:attrName>
                                        </p:attrNameLst>
                                      </p:cBhvr>
                                      <p:to>
                                        <p:strVal val="visible"/>
                                      </p:to>
                                    </p:set>
                                    <p:animEffect transition="in" filter="fade">
                                      <p:cBhvr>
                                        <p:cTn id="62" dur="1000"/>
                                        <p:tgtEl>
                                          <p:spTgt spid="47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4"/>
                                        </p:tgtEl>
                                        <p:attrNameLst>
                                          <p:attrName>style.visibility</p:attrName>
                                        </p:attrNameLst>
                                      </p:cBhvr>
                                      <p:to>
                                        <p:strVal val="visible"/>
                                      </p:to>
                                    </p:set>
                                    <p:animEffect transition="in" filter="fade">
                                      <p:cBhvr>
                                        <p:cTn id="67" dur="10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Path</a:t>
            </a:r>
            <a:endParaRPr/>
          </a:p>
        </p:txBody>
      </p:sp>
      <p:sp>
        <p:nvSpPr>
          <p:cNvPr id="484" name="Google Shape;484;p43"/>
          <p:cNvSpPr txBox="1">
            <a:spLocks noGrp="1"/>
          </p:cNvSpPr>
          <p:nvPr>
            <p:ph type="body" idx="1"/>
          </p:nvPr>
        </p:nvSpPr>
        <p:spPr>
          <a:xfrm>
            <a:off x="65250" y="731625"/>
            <a:ext cx="8955900" cy="1162339"/>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dirty="0"/>
              <a:t>The </a:t>
            </a:r>
            <a:r>
              <a:rPr lang="en" i="1" dirty="0"/>
              <a:t>Nearest Neighbor</a:t>
            </a:r>
            <a:r>
              <a:rPr lang="en" dirty="0"/>
              <a:t> algorithm will not only need to return the </a:t>
            </a:r>
            <a:r>
              <a:rPr lang="en" i="1" dirty="0"/>
              <a:t>values</a:t>
            </a:r>
            <a:r>
              <a:rPr lang="en" dirty="0"/>
              <a:t> in a path, </a:t>
            </a:r>
            <a:r>
              <a:rPr lang="en" dirty="0">
                <a:highlight>
                  <a:srgbClr val="FFFF00"/>
                </a:highlight>
              </a:rPr>
              <a:t>but the total distance </a:t>
            </a:r>
            <a:r>
              <a:rPr lang="en" dirty="0"/>
              <a:t>(the sum of the weights of all of the edges on the path) as well. The </a:t>
            </a:r>
            <a:r>
              <a:rPr lang="en" dirty="0">
                <a:latin typeface="Courier New"/>
                <a:ea typeface="Courier New"/>
                <a:cs typeface="Courier New"/>
                <a:sym typeface="Courier New"/>
              </a:rPr>
              <a:t>WPath</a:t>
            </a:r>
            <a:r>
              <a:rPr lang="en" dirty="0"/>
              <a:t> class has been provided to you to fulfill this function.</a:t>
            </a:r>
            <a:endParaRPr dirty="0"/>
          </a:p>
        </p:txBody>
      </p:sp>
      <p:sp>
        <p:nvSpPr>
          <p:cNvPr id="485" name="Google Shape;48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486" name="Google Shape;486;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13.11</a:t>
            </a:r>
            <a:endParaRPr sz="2100"/>
          </a:p>
        </p:txBody>
      </p:sp>
      <p:sp>
        <p:nvSpPr>
          <p:cNvPr id="487" name="Google Shape;487;p43"/>
          <p:cNvSpPr txBox="1">
            <a:spLocks noGrp="1"/>
          </p:cNvSpPr>
          <p:nvPr>
            <p:ph type="body" idx="2"/>
          </p:nvPr>
        </p:nvSpPr>
        <p:spPr>
          <a:xfrm>
            <a:off x="3285050" y="1850450"/>
            <a:ext cx="5482800" cy="27012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provided </a:t>
            </a:r>
            <a:r>
              <a:rPr lang="en" sz="1600" dirty="0">
                <a:solidFill>
                  <a:srgbClr val="FF0000"/>
                </a:solidFill>
                <a:latin typeface="Courier New"/>
                <a:ea typeface="Courier New"/>
                <a:cs typeface="Courier New"/>
                <a:sym typeface="Courier New"/>
              </a:rPr>
              <a:t>WPath</a:t>
            </a:r>
            <a:r>
              <a:rPr lang="en" sz="1600" dirty="0">
                <a:solidFill>
                  <a:srgbClr val="FF0000"/>
                </a:solidFill>
              </a:rPr>
              <a:t> </a:t>
            </a:r>
            <a:r>
              <a:rPr lang="en" sz="1600" dirty="0"/>
              <a:t>class in the </a:t>
            </a:r>
            <a:r>
              <a:rPr lang="en" sz="1600" dirty="0">
                <a:latin typeface="Courier New"/>
                <a:ea typeface="Courier New"/>
                <a:cs typeface="Courier New"/>
                <a:sym typeface="Courier New"/>
              </a:rPr>
              <a:t>weighted</a:t>
            </a:r>
            <a:r>
              <a:rPr lang="en" sz="1600" dirty="0"/>
              <a:t> package.</a:t>
            </a:r>
            <a:endParaRPr sz="1600" dirty="0"/>
          </a:p>
          <a:p>
            <a:pPr marL="914400" lvl="1" indent="-317500" algn="l" rtl="0">
              <a:spcBef>
                <a:spcPts val="0"/>
              </a:spcBef>
              <a:spcAft>
                <a:spcPts val="0"/>
              </a:spcAft>
              <a:buSzPts val="1400"/>
              <a:buChar char="○"/>
            </a:pPr>
            <a:r>
              <a:rPr lang="en" sz="1400" b="1" i="1" dirty="0">
                <a:solidFill>
                  <a:srgbClr val="FF0000"/>
                </a:solidFill>
              </a:rPr>
              <a:t>Examine </a:t>
            </a:r>
            <a:r>
              <a:rPr lang="en" sz="1400" dirty="0"/>
              <a:t>each of the methods to gain an understanding of what it does.</a:t>
            </a:r>
            <a:endParaRPr sz="1400" dirty="0"/>
          </a:p>
          <a:p>
            <a:pPr marL="914400" lvl="1" indent="-317500" algn="l" rtl="0">
              <a:spcBef>
                <a:spcPts val="0"/>
              </a:spcBef>
              <a:spcAft>
                <a:spcPts val="0"/>
              </a:spcAft>
              <a:buSzPts val="1400"/>
              <a:buChar char="○"/>
            </a:pPr>
            <a:r>
              <a:rPr lang="en" sz="1400" dirty="0"/>
              <a:t>Notice that there are </a:t>
            </a:r>
            <a:r>
              <a:rPr lang="en" sz="1400" b="1" i="1" dirty="0">
                <a:solidFill>
                  <a:srgbClr val="FF0000"/>
                </a:solidFill>
              </a:rPr>
              <a:t>overloaded </a:t>
            </a:r>
            <a:r>
              <a:rPr lang="en" sz="1400" dirty="0"/>
              <a:t>constructors that can be used to create a path with or without an initial weight.</a:t>
            </a:r>
            <a:endParaRPr sz="1400" dirty="0"/>
          </a:p>
          <a:p>
            <a:pPr marL="914400" lvl="1" indent="-317500" algn="l" rtl="0">
              <a:spcBef>
                <a:spcPts val="0"/>
              </a:spcBef>
              <a:spcAft>
                <a:spcPts val="0"/>
              </a:spcAft>
              <a:buSzPts val="1400"/>
              <a:buChar char="○"/>
            </a:pPr>
            <a:r>
              <a:rPr lang="en" sz="1400" dirty="0"/>
              <a:t>Notice also that values can be </a:t>
            </a:r>
            <a:r>
              <a:rPr lang="en" sz="1400" b="1" i="1" dirty="0">
                <a:solidFill>
                  <a:srgbClr val="FF0000"/>
                </a:solidFill>
              </a:rPr>
              <a:t>added to either end</a:t>
            </a:r>
            <a:r>
              <a:rPr lang="en" sz="1400" dirty="0">
                <a:solidFill>
                  <a:srgbClr val="FF0000"/>
                </a:solidFill>
              </a:rPr>
              <a:t> </a:t>
            </a:r>
            <a:r>
              <a:rPr lang="en" sz="1400" dirty="0"/>
              <a:t>of the path with or without a weight.</a:t>
            </a:r>
            <a:endParaRPr sz="1400" dirty="0"/>
          </a:p>
          <a:p>
            <a:pPr marL="914400" lvl="1" indent="-317500" algn="l" rtl="0">
              <a:spcBef>
                <a:spcPts val="0"/>
              </a:spcBef>
              <a:spcAft>
                <a:spcPts val="0"/>
              </a:spcAft>
              <a:buSzPts val="1400"/>
              <a:buChar char="○"/>
            </a:pPr>
            <a:r>
              <a:rPr lang="en" sz="1400" dirty="0"/>
              <a:t>If you have any questions, </a:t>
            </a:r>
            <a:r>
              <a:rPr lang="en" sz="1400" b="1" i="1" dirty="0">
                <a:solidFill>
                  <a:srgbClr val="FF0000"/>
                </a:solidFill>
              </a:rPr>
              <a:t>ask</a:t>
            </a:r>
            <a:r>
              <a:rPr lang="en" sz="1400" dirty="0"/>
              <a:t>!</a:t>
            </a:r>
            <a:endParaRPr sz="1400" dirty="0"/>
          </a:p>
        </p:txBody>
      </p:sp>
      <p:pic>
        <p:nvPicPr>
          <p:cNvPr id="488" name="Google Shape;488;p43"/>
          <p:cNvPicPr preferRelativeResize="0"/>
          <p:nvPr/>
        </p:nvPicPr>
        <p:blipFill>
          <a:blip r:embed="rId3">
            <a:alphaModFix/>
          </a:blip>
          <a:stretch>
            <a:fillRect/>
          </a:stretch>
        </p:blipFill>
        <p:spPr>
          <a:xfrm>
            <a:off x="152400" y="1943216"/>
            <a:ext cx="3304349" cy="25988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44"/>
          <p:cNvSpPr txBox="1">
            <a:spLocks noGrp="1"/>
          </p:cNvSpPr>
          <p:nvPr>
            <p:ph type="title"/>
          </p:nvPr>
        </p:nvSpPr>
        <p:spPr>
          <a:xfrm>
            <a:off x="5192225" y="119925"/>
            <a:ext cx="37065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Sorting Neighbors</a:t>
            </a:r>
            <a:endParaRPr/>
          </a:p>
          <a:p>
            <a:pPr marL="0" lvl="0" indent="0" algn="l" rtl="0">
              <a:spcBef>
                <a:spcPts val="0"/>
              </a:spcBef>
              <a:spcAft>
                <a:spcPts val="0"/>
              </a:spcAft>
              <a:buNone/>
            </a:pPr>
            <a:r>
              <a:rPr lang="en" sz="1600"/>
              <a:t>(Information Expert)</a:t>
            </a:r>
            <a:endParaRPr sz="1600"/>
          </a:p>
        </p:txBody>
      </p:sp>
      <p:sp>
        <p:nvSpPr>
          <p:cNvPr id="494" name="Google Shape;494;p44"/>
          <p:cNvSpPr txBox="1">
            <a:spLocks noGrp="1"/>
          </p:cNvSpPr>
          <p:nvPr>
            <p:ph type="body" idx="1"/>
          </p:nvPr>
        </p:nvSpPr>
        <p:spPr>
          <a:xfrm>
            <a:off x="438150" y="130338"/>
            <a:ext cx="4166400" cy="4734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order to properly implement the </a:t>
            </a:r>
            <a:r>
              <a:rPr lang="en" b="1" i="1" dirty="0">
                <a:solidFill>
                  <a:srgbClr val="FF0000"/>
                </a:solidFill>
              </a:rPr>
              <a:t>Nearest Neighbor</a:t>
            </a:r>
            <a:r>
              <a:rPr lang="en" dirty="0"/>
              <a:t> algorithm in a weighted graph, we will need to be able to iterate through </a:t>
            </a:r>
            <a:r>
              <a:rPr lang="en" dirty="0">
                <a:highlight>
                  <a:srgbClr val="FFFF00"/>
                </a:highlight>
              </a:rPr>
              <a:t>each vertex's neighbors in order based on distance from shortest to longest.</a:t>
            </a:r>
            <a:endParaRPr dirty="0">
              <a:highlight>
                <a:srgbClr val="FFFF00"/>
              </a:highlight>
            </a:endParaRPr>
          </a:p>
          <a:p>
            <a:pPr marL="457200" lvl="0" indent="-311150" algn="l" rtl="0">
              <a:spcBef>
                <a:spcPts val="1000"/>
              </a:spcBef>
              <a:spcAft>
                <a:spcPts val="0"/>
              </a:spcAft>
              <a:buSzPts val="1300"/>
              <a:buChar char="●"/>
            </a:pPr>
            <a:r>
              <a:rPr lang="en" dirty="0"/>
              <a:t>This means that we will need to implement a method that creates a </a:t>
            </a:r>
            <a:r>
              <a:rPr lang="en" b="1" i="1" dirty="0">
                <a:solidFill>
                  <a:srgbClr val="FF0000"/>
                </a:solidFill>
                <a:highlight>
                  <a:srgbClr val="FFFF00"/>
                </a:highlight>
              </a:rPr>
              <a:t>sorted list of neighbors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Where should this method be implemented?</a:t>
            </a:r>
            <a:endParaRPr dirty="0"/>
          </a:p>
          <a:p>
            <a:pPr marL="457200" lvl="0" indent="-311150" algn="l" rtl="0">
              <a:spcBef>
                <a:spcPts val="1000"/>
              </a:spcBef>
              <a:spcAft>
                <a:spcPts val="0"/>
              </a:spcAft>
              <a:buSzPts val="1300"/>
              <a:buChar char="●"/>
            </a:pPr>
            <a:r>
              <a:rPr lang="en" b="1" i="1" dirty="0">
                <a:solidFill>
                  <a:srgbClr val="FF0000"/>
                </a:solidFill>
                <a:highlight>
                  <a:srgbClr val="FFFF00"/>
                </a:highlight>
              </a:rPr>
              <a:t>Information Expert</a:t>
            </a:r>
            <a:r>
              <a:rPr lang="en" dirty="0">
                <a:highlight>
                  <a:srgbClr val="FFFF00"/>
                </a:highlight>
              </a:rPr>
              <a:t> is an object-oriented design principle that is also sometimes called </a:t>
            </a:r>
            <a:r>
              <a:rPr lang="en" b="1" i="1" dirty="0">
                <a:solidFill>
                  <a:srgbClr val="FF0000"/>
                </a:solidFill>
                <a:highlight>
                  <a:srgbClr val="FFFF00"/>
                </a:highlight>
              </a:rPr>
              <a:t>"behaviors follow state."</a:t>
            </a:r>
            <a:endParaRPr b="1" i="1" dirty="0">
              <a:solidFill>
                <a:srgbClr val="FF0000"/>
              </a:solidFill>
              <a:highlight>
                <a:srgbClr val="FFFF00"/>
              </a:highlight>
            </a:endParaRPr>
          </a:p>
          <a:p>
            <a:pPr marL="914400" lvl="1" indent="-298450" algn="l" rtl="0">
              <a:spcBef>
                <a:spcPts val="0"/>
              </a:spcBef>
              <a:spcAft>
                <a:spcPts val="0"/>
              </a:spcAft>
              <a:buSzPts val="1100"/>
              <a:buChar char="○"/>
            </a:pPr>
            <a:r>
              <a:rPr lang="en" dirty="0">
                <a:highlight>
                  <a:srgbClr val="FFFF00"/>
                </a:highlight>
              </a:rPr>
              <a:t>This means that, if you need to add a new method (behavior) to existing code, you should add it to the class that already contains the necessary data (state).</a:t>
            </a:r>
            <a:endParaRPr dirty="0">
              <a:highlight>
                <a:srgbClr val="FFFF00"/>
              </a:highlight>
            </a:endParaRPr>
          </a:p>
          <a:p>
            <a:pPr marL="457200" lvl="0" indent="-311150" algn="l" rtl="0">
              <a:spcBef>
                <a:spcPts val="1000"/>
              </a:spcBef>
              <a:spcAft>
                <a:spcPts val="0"/>
              </a:spcAft>
              <a:buSzPts val="1300"/>
              <a:buChar char="●"/>
            </a:pPr>
            <a:r>
              <a:rPr lang="en" dirty="0"/>
              <a:t>Which class in the system already contains all of the information necessary to sort a vertex's neighbors based on their distance from the vertex?</a:t>
            </a:r>
            <a:endParaRPr dirty="0"/>
          </a:p>
        </p:txBody>
      </p:sp>
      <p:sp>
        <p:nvSpPr>
          <p:cNvPr id="495" name="Google Shape;495;p4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sp>
        <p:nvSpPr>
          <p:cNvPr id="496" name="Google Shape;496;p44"/>
          <p:cNvSpPr txBox="1">
            <a:spLocks noGrp="1"/>
          </p:cNvSpPr>
          <p:nvPr>
            <p:ph type="body" idx="3"/>
          </p:nvPr>
        </p:nvSpPr>
        <p:spPr>
          <a:xfrm>
            <a:off x="5192225" y="40134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i="1"/>
              <a:t>Information Expert</a:t>
            </a:r>
            <a:r>
              <a:rPr lang="en"/>
              <a:t> is one of the </a:t>
            </a:r>
            <a:r>
              <a:rPr lang="en" b="1" i="1" u="sng">
                <a:solidFill>
                  <a:srgbClr val="4A86E8"/>
                </a:solidFill>
                <a:hlinkClick r:id="rId3">
                  <a:extLst>
                    <a:ext uri="{A12FA001-AC4F-418D-AE19-62706E023703}">
                      <ahyp:hlinkClr xmlns:ahyp="http://schemas.microsoft.com/office/drawing/2018/hyperlinkcolor" val="tx"/>
                    </a:ext>
                  </a:extLst>
                </a:hlinkClick>
              </a:rPr>
              <a:t>GRASP</a:t>
            </a:r>
            <a:r>
              <a:rPr lang="en">
                <a:solidFill>
                  <a:srgbClr val="FF0000"/>
                </a:solidFill>
              </a:rPr>
              <a:t> </a:t>
            </a:r>
            <a:r>
              <a:rPr lang="en"/>
              <a:t>design principles that were first cataloged by </a:t>
            </a:r>
            <a:r>
              <a:rPr lang="en" u="sng">
                <a:solidFill>
                  <a:srgbClr val="4A86E8"/>
                </a:solidFill>
                <a:hlinkClick r:id="rId4">
                  <a:extLst>
                    <a:ext uri="{A12FA001-AC4F-418D-AE19-62706E023703}">
                      <ahyp:hlinkClr xmlns:ahyp="http://schemas.microsoft.com/office/drawing/2018/hyperlinkcolor" val="tx"/>
                    </a:ext>
                  </a:extLst>
                </a:hlinkClick>
              </a:rPr>
              <a:t>Craig Larman</a:t>
            </a:r>
            <a:r>
              <a:rPr lang="en"/>
              <a:t>, one of the pioneers of the software engineering discipline.</a:t>
            </a:r>
            <a:endParaRPr/>
          </a:p>
        </p:txBody>
      </p:sp>
      <p:pic>
        <p:nvPicPr>
          <p:cNvPr id="497" name="Google Shape;497;p44"/>
          <p:cNvPicPr preferRelativeResize="0"/>
          <p:nvPr/>
        </p:nvPicPr>
        <p:blipFill>
          <a:blip r:embed="rId5">
            <a:alphaModFix/>
          </a:blip>
          <a:stretch>
            <a:fillRect/>
          </a:stretch>
        </p:blipFill>
        <p:spPr>
          <a:xfrm>
            <a:off x="5932025" y="1134225"/>
            <a:ext cx="2226907" cy="2726825"/>
          </a:xfrm>
          <a:prstGeom prst="rect">
            <a:avLst/>
          </a:prstGeom>
          <a:noFill/>
          <a:ln w="19050"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4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order to implement </a:t>
            </a:r>
            <a:r>
              <a:rPr lang="en" i="1"/>
              <a:t>Nearest Neighbors</a:t>
            </a:r>
            <a:r>
              <a:rPr lang="en"/>
              <a:t>, we'll need to be able to create a sorted list of neighbors based on their distance from a vertex from shortest to farthest.</a:t>
            </a:r>
            <a:endParaRPr/>
          </a:p>
        </p:txBody>
      </p:sp>
      <p:sp>
        <p:nvSpPr>
          <p:cNvPr id="503" name="Google Shape;50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04" name="Google Shape;504;p45"/>
          <p:cNvSpPr txBox="1">
            <a:spLocks noGrp="1"/>
          </p:cNvSpPr>
          <p:nvPr>
            <p:ph type="body" idx="2"/>
          </p:nvPr>
        </p:nvSpPr>
        <p:spPr>
          <a:xfrm>
            <a:off x="3165300" y="1445925"/>
            <a:ext cx="5740800" cy="332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a:t>
            </a:r>
            <a:r>
              <a:rPr lang="en" b="1" dirty="0">
                <a:latin typeface="Courier New"/>
                <a:ea typeface="Courier New"/>
                <a:cs typeface="Courier New"/>
                <a:sym typeface="Courier New"/>
              </a:rPr>
              <a:t>WVertex</a:t>
            </a:r>
            <a:r>
              <a:rPr lang="en" dirty="0"/>
              <a:t> will need to compare its neighbors based on their distance (the weight of the edge). Open the class and update it so that it </a:t>
            </a:r>
            <a:r>
              <a:rPr lang="en" dirty="0">
                <a:highlight>
                  <a:srgbClr val="FFFF00"/>
                </a:highlight>
                <a:latin typeface="Courier New"/>
                <a:ea typeface="Courier New"/>
                <a:cs typeface="Courier New"/>
                <a:sym typeface="Courier New"/>
              </a:rPr>
              <a:t>implements Comparator</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The </a:t>
            </a:r>
            <a:r>
              <a:rPr lang="en" dirty="0">
                <a:highlight>
                  <a:srgbClr val="FFFF00"/>
                </a:highlight>
                <a:latin typeface="Courier New"/>
                <a:ea typeface="Courier New"/>
                <a:cs typeface="Courier New"/>
                <a:sym typeface="Courier New"/>
              </a:rPr>
              <a:t>compare</a:t>
            </a:r>
            <a:r>
              <a:rPr lang="en" dirty="0">
                <a:highlight>
                  <a:srgbClr val="FFFF00"/>
                </a:highlight>
              </a:rPr>
              <a:t> method should compare two neighbors, </a:t>
            </a:r>
            <a:r>
              <a:rPr lang="en" dirty="0">
                <a:highlight>
                  <a:srgbClr val="FFFF00"/>
                </a:highlight>
                <a:latin typeface="Courier New"/>
                <a:ea typeface="Courier New"/>
                <a:cs typeface="Courier New"/>
                <a:sym typeface="Courier New"/>
              </a:rPr>
              <a:t>a</a:t>
            </a:r>
            <a:r>
              <a:rPr lang="en" dirty="0">
                <a:highlight>
                  <a:srgbClr val="FFFF00"/>
                </a:highlight>
              </a:rPr>
              <a:t> and </a:t>
            </a:r>
            <a:r>
              <a:rPr lang="en" dirty="0">
                <a:highlight>
                  <a:srgbClr val="FFFF00"/>
                </a:highlight>
                <a:latin typeface="Courier New"/>
                <a:ea typeface="Courier New"/>
                <a:cs typeface="Courier New"/>
                <a:sym typeface="Courier New"/>
              </a:rPr>
              <a:t>b</a:t>
            </a:r>
            <a:r>
              <a:rPr lang="en" dirty="0">
                <a:highlight>
                  <a:srgbClr val="FFFF00"/>
                </a:highlight>
              </a:rPr>
              <a:t>, based on their distance from the vertex.</a:t>
            </a:r>
            <a:endParaRPr dirty="0">
              <a:highlight>
                <a:srgbClr val="FFFF00"/>
              </a:highlight>
            </a:endParaRPr>
          </a:p>
          <a:p>
            <a:pPr marL="914400" lvl="1" indent="-298450" algn="l" rtl="0">
              <a:spcBef>
                <a:spcPts val="0"/>
              </a:spcBef>
              <a:spcAft>
                <a:spcPts val="0"/>
              </a:spcAft>
              <a:buSzPts val="1100"/>
              <a:buChar char="○"/>
            </a:pPr>
            <a:r>
              <a:rPr lang="en" i="1" dirty="0"/>
              <a:t>Hint</a:t>
            </a:r>
            <a:r>
              <a:rPr lang="en" dirty="0"/>
              <a:t>: use the map of </a:t>
            </a:r>
            <a:r>
              <a:rPr lang="en" dirty="0">
                <a:latin typeface="Courier New"/>
                <a:ea typeface="Courier New"/>
                <a:cs typeface="Courier New"/>
                <a:sym typeface="Courier New"/>
              </a:rPr>
              <a:t>vertices</a:t>
            </a:r>
            <a:r>
              <a:rPr lang="en" dirty="0"/>
              <a:t> to look up the weight of each vertex and then return </a:t>
            </a:r>
            <a:r>
              <a:rPr lang="en" dirty="0">
                <a:latin typeface="Courier New"/>
                <a:ea typeface="Courier New"/>
                <a:cs typeface="Courier New"/>
                <a:sym typeface="Courier New"/>
              </a:rPr>
              <a:t>-1</a:t>
            </a:r>
            <a:r>
              <a:rPr lang="en" dirty="0"/>
              <a:t> if </a:t>
            </a:r>
            <a:r>
              <a:rPr lang="en" dirty="0">
                <a:latin typeface="Courier New"/>
                <a:ea typeface="Courier New"/>
                <a:cs typeface="Courier New"/>
                <a:sym typeface="Courier New"/>
              </a:rPr>
              <a:t>a &lt; b</a:t>
            </a:r>
            <a:r>
              <a:rPr lang="en" dirty="0"/>
              <a:t>, and </a:t>
            </a:r>
            <a:r>
              <a:rPr lang="en" dirty="0">
                <a:latin typeface="Courier New"/>
                <a:ea typeface="Courier New"/>
                <a:cs typeface="Courier New"/>
                <a:sym typeface="Courier New"/>
              </a:rPr>
              <a:t>+1</a:t>
            </a:r>
            <a:r>
              <a:rPr lang="en" dirty="0"/>
              <a:t> otherwise.</a:t>
            </a:r>
            <a:endParaRPr dirty="0"/>
          </a:p>
          <a:p>
            <a:pPr marL="457200" lvl="0" indent="-311150" algn="l" rtl="0">
              <a:spcBef>
                <a:spcPts val="0"/>
              </a:spcBef>
              <a:spcAft>
                <a:spcPts val="0"/>
              </a:spcAft>
              <a:buSzPts val="1300"/>
              <a:buChar char="●"/>
            </a:pPr>
            <a:r>
              <a:rPr lang="en" dirty="0"/>
              <a:t>Next, define a new method named "</a:t>
            </a:r>
            <a:r>
              <a:rPr lang="en" dirty="0">
                <a:highlight>
                  <a:srgbClr val="FFFF00"/>
                </a:highlight>
                <a:latin typeface="Courier New"/>
                <a:ea typeface="Courier New"/>
                <a:cs typeface="Courier New"/>
                <a:sym typeface="Courier New"/>
              </a:rPr>
              <a:t>getNearestNeighbors</a:t>
            </a:r>
            <a:r>
              <a:rPr lang="en" dirty="0"/>
              <a:t>" that creates a list of neighbors and sorts it before returning it.</a:t>
            </a:r>
            <a:endParaRPr dirty="0"/>
          </a:p>
          <a:p>
            <a:pPr marL="914400" lvl="1" indent="-298450" algn="l" rtl="0">
              <a:spcBef>
                <a:spcPts val="0"/>
              </a:spcBef>
              <a:spcAft>
                <a:spcPts val="0"/>
              </a:spcAft>
              <a:buSzPts val="1100"/>
              <a:buChar char="○"/>
            </a:pPr>
            <a:r>
              <a:rPr lang="en" dirty="0">
                <a:highlight>
                  <a:srgbClr val="FFFF00"/>
                </a:highlight>
              </a:rPr>
              <a:t>Use the </a:t>
            </a:r>
            <a:r>
              <a:rPr lang="en" dirty="0">
                <a:highlight>
                  <a:srgbClr val="FFFF00"/>
                </a:highlight>
                <a:latin typeface="Courier New"/>
                <a:ea typeface="Courier New"/>
                <a:cs typeface="Courier New"/>
                <a:sym typeface="Courier New"/>
              </a:rPr>
              <a:t>neighbors.keySet()</a:t>
            </a:r>
            <a:r>
              <a:rPr lang="en" dirty="0">
                <a:highlight>
                  <a:srgbClr val="FFFF00"/>
                </a:highlight>
              </a:rPr>
              <a:t> method to copy the neighbors into a list.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Use </a:t>
            </a:r>
            <a:r>
              <a:rPr lang="en" dirty="0">
                <a:highlight>
                  <a:srgbClr val="FFFF00"/>
                </a:highlight>
                <a:latin typeface="Courier New"/>
                <a:ea typeface="Courier New"/>
                <a:cs typeface="Courier New"/>
                <a:sym typeface="Courier New"/>
              </a:rPr>
              <a:t>Collections.sort(list, </a:t>
            </a:r>
            <a:r>
              <a:rPr lang="en" u="sng" dirty="0">
                <a:solidFill>
                  <a:srgbClr val="FF0000"/>
                </a:solidFill>
                <a:highlight>
                  <a:srgbClr val="FFFF00"/>
                </a:highlight>
                <a:latin typeface="Courier New"/>
                <a:ea typeface="Courier New"/>
                <a:cs typeface="Courier New"/>
                <a:sym typeface="Courier New"/>
              </a:rPr>
              <a:t>this</a:t>
            </a:r>
            <a:r>
              <a:rPr lang="en" dirty="0">
                <a:highlight>
                  <a:srgbClr val="FFFF00"/>
                </a:highlight>
                <a:latin typeface="Courier New"/>
                <a:ea typeface="Courier New"/>
                <a:cs typeface="Courier New"/>
                <a:sym typeface="Courier New"/>
              </a:rPr>
              <a:t>)</a:t>
            </a:r>
            <a:r>
              <a:rPr lang="en" dirty="0">
                <a:highlight>
                  <a:srgbClr val="FFFF00"/>
                </a:highlight>
              </a:rPr>
              <a:t> to use the vertex as the </a:t>
            </a:r>
            <a:r>
              <a:rPr lang="en" dirty="0"/>
              <a:t>comparator that helps sort its neighbors in the list.</a:t>
            </a:r>
            <a:endParaRPr dirty="0"/>
          </a:p>
          <a:p>
            <a:pPr marL="457200" lvl="0" indent="-311150" algn="l" rtl="0">
              <a:spcBef>
                <a:spcPts val="0"/>
              </a:spcBef>
              <a:spcAft>
                <a:spcPts val="0"/>
              </a:spcAft>
              <a:buSzPts val="1300"/>
              <a:buChar char="●"/>
            </a:pPr>
            <a:r>
              <a:rPr lang="en" dirty="0"/>
              <a:t>Add a new test method to the </a:t>
            </a:r>
            <a:r>
              <a:rPr lang="en" dirty="0">
                <a:highlight>
                  <a:srgbClr val="FFFF00"/>
                </a:highlight>
                <a:latin typeface="Courier New"/>
                <a:ea typeface="Courier New"/>
                <a:cs typeface="Courier New"/>
                <a:sym typeface="Courier New"/>
              </a:rPr>
              <a:t>WVertex</a:t>
            </a:r>
            <a:r>
              <a:rPr lang="en" dirty="0"/>
              <a:t> class that you can use to test the new method.</a:t>
            </a:r>
            <a:endParaRPr dirty="0"/>
          </a:p>
          <a:p>
            <a:pPr marL="914400" lvl="1" indent="-298450" algn="l" rtl="0">
              <a:spcBef>
                <a:spcPts val="0"/>
              </a:spcBef>
              <a:spcAft>
                <a:spcPts val="0"/>
              </a:spcAft>
              <a:buSzPts val="1100"/>
              <a:buChar char="○"/>
            </a:pPr>
            <a:r>
              <a:rPr lang="en" dirty="0"/>
              <a:t>In the </a:t>
            </a:r>
            <a:r>
              <a:rPr lang="en" i="1" dirty="0"/>
              <a:t>setup</a:t>
            </a:r>
            <a:r>
              <a:rPr lang="en" dirty="0"/>
              <a:t> add at least </a:t>
            </a:r>
            <a:r>
              <a:rPr lang="en" i="1" dirty="0"/>
              <a:t>three</a:t>
            </a:r>
            <a:r>
              <a:rPr lang="en" dirty="0"/>
              <a:t> neighbors with different weights.</a:t>
            </a:r>
            <a:endParaRPr dirty="0"/>
          </a:p>
        </p:txBody>
      </p:sp>
      <p:sp>
        <p:nvSpPr>
          <p:cNvPr id="505" name="Google Shape;505;p4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Sorting Neighbors</a:t>
            </a:r>
            <a:endParaRPr/>
          </a:p>
        </p:txBody>
      </p:sp>
      <p:sp>
        <p:nvSpPr>
          <p:cNvPr id="506" name="Google Shape;506;p4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13.12</a:t>
            </a:r>
            <a:endParaRPr/>
          </a:p>
        </p:txBody>
      </p:sp>
      <p:sp>
        <p:nvSpPr>
          <p:cNvPr id="507" name="Google Shape;507;p45"/>
          <p:cNvSpPr txBox="1">
            <a:spLocks noGrp="1"/>
          </p:cNvSpPr>
          <p:nvPr>
            <p:ph type="body" idx="4"/>
          </p:nvPr>
        </p:nvSpPr>
        <p:spPr>
          <a:xfrm>
            <a:off x="141600" y="43093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b="1" i="1">
                <a:solidFill>
                  <a:srgbClr val="FF0000"/>
                </a:solidFill>
              </a:rPr>
              <a:t>information expert</a:t>
            </a:r>
            <a:r>
              <a:rPr lang="en"/>
              <a:t> principle states that we should add new methods to an existing class that has the needed data.</a:t>
            </a:r>
            <a:endParaRPr/>
          </a:p>
        </p:txBody>
      </p:sp>
      <p:pic>
        <p:nvPicPr>
          <p:cNvPr id="508" name="Google Shape;508;p45"/>
          <p:cNvPicPr preferRelativeResize="0"/>
          <p:nvPr/>
        </p:nvPicPr>
        <p:blipFill>
          <a:blip r:embed="rId3">
            <a:alphaModFix/>
          </a:blip>
          <a:stretch>
            <a:fillRect/>
          </a:stretch>
        </p:blipFill>
        <p:spPr>
          <a:xfrm>
            <a:off x="582938" y="1353750"/>
            <a:ext cx="2141020" cy="2955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Nearest Neighbor, Part 1</a:t>
            </a:r>
            <a:endParaRPr/>
          </a:p>
        </p:txBody>
      </p:sp>
      <p:sp>
        <p:nvSpPr>
          <p:cNvPr id="514" name="Google Shape;514;p46"/>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i="1"/>
              <a:t>Nearest Neighbor</a:t>
            </a:r>
            <a:r>
              <a:rPr lang="en"/>
              <a:t> is a greedy algorithm that attempts to quickly find a path through a graph that has a relatively low cost. It does this by choosing neighbors based on their distance from the current vertex. Begin Implementing it in your weighted graph now!</a:t>
            </a:r>
            <a:endParaRPr/>
          </a:p>
        </p:txBody>
      </p:sp>
      <p:sp>
        <p:nvSpPr>
          <p:cNvPr id="515" name="Google Shape;51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16" name="Google Shape;516;p4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13.13</a:t>
            </a:r>
            <a:endParaRPr sz="2100"/>
          </a:p>
        </p:txBody>
      </p:sp>
      <p:grpSp>
        <p:nvGrpSpPr>
          <p:cNvPr id="517" name="Google Shape;517;p46"/>
          <p:cNvGrpSpPr/>
          <p:nvPr/>
        </p:nvGrpSpPr>
        <p:grpSpPr>
          <a:xfrm>
            <a:off x="261936" y="1684553"/>
            <a:ext cx="2804944" cy="2526847"/>
            <a:chOff x="338125" y="1610890"/>
            <a:chExt cx="3334852" cy="3004217"/>
          </a:xfrm>
        </p:grpSpPr>
        <p:sp>
          <p:nvSpPr>
            <p:cNvPr id="518" name="Google Shape;518;p46"/>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519" name="Google Shape;519;p46"/>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520" name="Google Shape;520;p46"/>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521" name="Google Shape;521;p46"/>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522" name="Google Shape;522;p46"/>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523" name="Google Shape;523;p46"/>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524" name="Google Shape;524;p46"/>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525" name="Google Shape;525;p46"/>
            <p:cNvCxnSpPr>
              <a:stCxn id="518" idx="3"/>
              <a:endCxn id="520"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526" name="Google Shape;526;p46"/>
            <p:cNvCxnSpPr>
              <a:stCxn id="518" idx="6"/>
              <a:endCxn id="521"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527" name="Google Shape;527;p46"/>
            <p:cNvCxnSpPr>
              <a:stCxn id="518" idx="5"/>
              <a:endCxn id="519"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528" name="Google Shape;528;p46"/>
            <p:cNvCxnSpPr>
              <a:stCxn id="519" idx="6"/>
              <a:endCxn id="523"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529" name="Google Shape;529;p46"/>
            <p:cNvCxnSpPr>
              <a:stCxn id="523" idx="4"/>
              <a:endCxn id="522"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530" name="Google Shape;530;p46"/>
            <p:cNvCxnSpPr>
              <a:stCxn id="519" idx="3"/>
              <a:endCxn id="524"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531" name="Google Shape;531;p46"/>
            <p:cNvCxnSpPr>
              <a:stCxn id="524" idx="6"/>
              <a:endCxn id="522"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532" name="Google Shape;532;p46"/>
            <p:cNvCxnSpPr>
              <a:stCxn id="520" idx="6"/>
              <a:endCxn id="519"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533" name="Google Shape;533;p46"/>
            <p:cNvCxnSpPr>
              <a:stCxn id="521" idx="5"/>
              <a:endCxn id="523"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534" name="Google Shape;534;p4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35" name="Google Shape;535;p4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36" name="Google Shape;536;p4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37" name="Google Shape;537;p4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38" name="Google Shape;538;p4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39" name="Google Shape;539;p4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0" name="Google Shape;540;p4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1" name="Google Shape;541;p4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42" name="Google Shape;542;p4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43" name="Google Shape;543;p46"/>
            <p:cNvCxnSpPr>
              <a:stCxn id="520" idx="5"/>
              <a:endCxn id="524"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544" name="Google Shape;544;p4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45" name="Google Shape;545;p46"/>
          <p:cNvSpPr txBox="1">
            <a:spLocks noGrp="1"/>
          </p:cNvSpPr>
          <p:nvPr>
            <p:ph type="body" idx="2"/>
          </p:nvPr>
        </p:nvSpPr>
        <p:spPr>
          <a:xfrm>
            <a:off x="3174450" y="1659075"/>
            <a:ext cx="5721600" cy="3157757"/>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The </a:t>
            </a:r>
            <a:r>
              <a:rPr lang="en" sz="1500" b="1" i="1" dirty="0">
                <a:solidFill>
                  <a:srgbClr val="FF0000"/>
                </a:solidFill>
              </a:rPr>
              <a:t>Nearest Neighbor</a:t>
            </a:r>
            <a:r>
              <a:rPr lang="en" sz="1500" dirty="0">
                <a:solidFill>
                  <a:srgbClr val="FF0000"/>
                </a:solidFill>
              </a:rPr>
              <a:t> </a:t>
            </a:r>
            <a:r>
              <a:rPr lang="en" sz="1500" dirty="0"/>
              <a:t>algorithm is a modified DFS. Begin by </a:t>
            </a:r>
            <a:r>
              <a:rPr lang="en" sz="1500" b="1" i="1" dirty="0">
                <a:solidFill>
                  <a:srgbClr val="FF0000"/>
                </a:solidFill>
              </a:rPr>
              <a:t>opening</a:t>
            </a:r>
            <a:r>
              <a:rPr lang="en" sz="1500" dirty="0">
                <a:solidFill>
                  <a:srgbClr val="FF0000"/>
                </a:solidFill>
              </a:rPr>
              <a:t> </a:t>
            </a:r>
            <a:r>
              <a:rPr lang="en" sz="1500" dirty="0"/>
              <a:t>the provided </a:t>
            </a:r>
            <a:r>
              <a:rPr lang="en" sz="1500" dirty="0">
                <a:latin typeface="Courier New"/>
                <a:ea typeface="Courier New"/>
                <a:cs typeface="Courier New"/>
                <a:sym typeface="Courier New"/>
              </a:rPr>
              <a:t>AdjacencyGraph</a:t>
            </a:r>
            <a:r>
              <a:rPr lang="en" sz="1500" dirty="0"/>
              <a:t> class and </a:t>
            </a:r>
            <a:r>
              <a:rPr lang="en" sz="1500" b="1" i="1" dirty="0">
                <a:solidFill>
                  <a:srgbClr val="FF0000"/>
                </a:solidFill>
              </a:rPr>
              <a:t>copying </a:t>
            </a:r>
            <a:r>
              <a:rPr lang="en" sz="1500" dirty="0"/>
              <a:t>the </a:t>
            </a:r>
            <a:r>
              <a:rPr lang="en" sz="1500" dirty="0">
                <a:highlight>
                  <a:srgbClr val="FFFF00"/>
                </a:highlight>
                <a:latin typeface="Courier New"/>
                <a:ea typeface="Courier New"/>
                <a:cs typeface="Courier New"/>
                <a:sym typeface="Courier New"/>
              </a:rPr>
              <a:t>visitDFPath</a:t>
            </a:r>
            <a:r>
              <a:rPr lang="en" sz="1500" dirty="0"/>
              <a:t> method.</a:t>
            </a:r>
            <a:endParaRPr sz="1500" dirty="0"/>
          </a:p>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WAdjacencyGraph</a:t>
            </a:r>
            <a:r>
              <a:rPr lang="en" sz="1500" dirty="0"/>
              <a:t> class and paste the method at the bottom of the class.</a:t>
            </a:r>
            <a:endParaRPr sz="1500" dirty="0"/>
          </a:p>
          <a:p>
            <a:pPr marL="914400" lvl="1" indent="-311150" algn="l" rtl="0">
              <a:spcBef>
                <a:spcPts val="0"/>
              </a:spcBef>
              <a:spcAft>
                <a:spcPts val="0"/>
              </a:spcAft>
              <a:buSzPts val="1300"/>
              <a:buChar char="○"/>
            </a:pPr>
            <a:r>
              <a:rPr lang="en" sz="1300" dirty="0"/>
              <a:t>Rename it to "</a:t>
            </a:r>
            <a:r>
              <a:rPr lang="en" sz="1300" dirty="0">
                <a:highlight>
                  <a:srgbClr val="FFFF00"/>
                </a:highlight>
                <a:latin typeface="Courier New"/>
                <a:ea typeface="Courier New"/>
                <a:cs typeface="Courier New"/>
                <a:sym typeface="Courier New"/>
              </a:rPr>
              <a:t>visitNearestNeighbor</a:t>
            </a:r>
            <a:r>
              <a:rPr lang="en" sz="1300" dirty="0"/>
              <a:t>".</a:t>
            </a:r>
            <a:endParaRPr sz="1300" dirty="0"/>
          </a:p>
          <a:p>
            <a:pPr marL="914400" lvl="1" indent="-311150" algn="l" rtl="0">
              <a:spcBef>
                <a:spcPts val="0"/>
              </a:spcBef>
              <a:spcAft>
                <a:spcPts val="0"/>
              </a:spcAft>
              <a:buSzPts val="1300"/>
              <a:buChar char="○"/>
            </a:pPr>
            <a:r>
              <a:rPr lang="en" sz="1300" dirty="0"/>
              <a:t>Make sure to return a </a:t>
            </a:r>
            <a:r>
              <a:rPr lang="en" sz="1300" dirty="0">
                <a:highlight>
                  <a:srgbClr val="FFFF00"/>
                </a:highlight>
                <a:latin typeface="Courier New"/>
                <a:ea typeface="Courier New"/>
                <a:cs typeface="Courier New"/>
                <a:sym typeface="Courier New"/>
              </a:rPr>
              <a:t>WPath</a:t>
            </a:r>
            <a:r>
              <a:rPr lang="en" sz="1300" dirty="0"/>
              <a:t> instead of a </a:t>
            </a:r>
            <a:r>
              <a:rPr lang="en" sz="1300" dirty="0">
                <a:latin typeface="Courier New"/>
                <a:ea typeface="Courier New"/>
                <a:cs typeface="Courier New"/>
                <a:sym typeface="Courier New"/>
              </a:rPr>
              <a:t>List</a:t>
            </a:r>
            <a:r>
              <a:rPr lang="en" sz="1300" dirty="0"/>
              <a:t>!</a:t>
            </a:r>
            <a:endParaRPr sz="1300" dirty="0"/>
          </a:p>
          <a:p>
            <a:pPr marL="914400" lvl="1" indent="-311150" algn="l" rtl="0">
              <a:spcBef>
                <a:spcPts val="0"/>
              </a:spcBef>
              <a:spcAft>
                <a:spcPts val="0"/>
              </a:spcAft>
              <a:buSzPts val="1300"/>
              <a:buChar char="○"/>
            </a:pPr>
            <a:r>
              <a:rPr lang="en" sz="1300" dirty="0">
                <a:highlight>
                  <a:srgbClr val="FFFF00"/>
                </a:highlight>
              </a:rPr>
              <a:t>Modify the </a:t>
            </a:r>
            <a:r>
              <a:rPr lang="en" sz="1300" dirty="0">
                <a:highlight>
                  <a:srgbClr val="FFFF00"/>
                </a:highlight>
                <a:latin typeface="Courier New"/>
                <a:ea typeface="Courier New"/>
                <a:cs typeface="Courier New"/>
                <a:sym typeface="Courier New"/>
              </a:rPr>
              <a:t>for</a:t>
            </a:r>
            <a:r>
              <a:rPr lang="en" sz="1300" dirty="0">
                <a:highlight>
                  <a:srgbClr val="FFFF00"/>
                </a:highlight>
              </a:rPr>
              <a:t> loop so that it iterates over the </a:t>
            </a:r>
            <a:r>
              <a:rPr lang="en" sz="1300" b="1" i="1" dirty="0">
                <a:solidFill>
                  <a:srgbClr val="FF0000"/>
                </a:solidFill>
                <a:highlight>
                  <a:srgbClr val="FFFF00"/>
                </a:highlight>
              </a:rPr>
              <a:t>nearest neighbors</a:t>
            </a:r>
            <a:r>
              <a:rPr lang="en" sz="1300" dirty="0">
                <a:highlight>
                  <a:srgbClr val="FFFF00"/>
                </a:highlight>
              </a:rPr>
              <a:t>.</a:t>
            </a:r>
            <a:endParaRPr sz="1300" dirty="0">
              <a:highlight>
                <a:srgbClr val="FFFF00"/>
              </a:highlight>
            </a:endParaRPr>
          </a:p>
          <a:p>
            <a:pPr marL="914400" lvl="1" indent="-311150" algn="l" rtl="0">
              <a:spcBef>
                <a:spcPts val="0"/>
              </a:spcBef>
              <a:spcAft>
                <a:spcPts val="0"/>
              </a:spcAft>
              <a:buSzPts val="1300"/>
              <a:buChar char="○"/>
            </a:pPr>
            <a:r>
              <a:rPr lang="en" sz="1300" dirty="0"/>
              <a:t>If a non-</a:t>
            </a:r>
            <a:r>
              <a:rPr lang="en" sz="1300" dirty="0">
                <a:latin typeface="Courier New"/>
                <a:ea typeface="Courier New"/>
                <a:cs typeface="Courier New"/>
                <a:sym typeface="Courier New"/>
              </a:rPr>
              <a:t>null</a:t>
            </a:r>
            <a:r>
              <a:rPr lang="en" sz="1300" dirty="0"/>
              <a:t> path is returned, </a:t>
            </a:r>
            <a:r>
              <a:rPr lang="en" sz="1300" dirty="0">
                <a:latin typeface="Courier New"/>
                <a:ea typeface="Courier New"/>
                <a:cs typeface="Courier New"/>
                <a:sym typeface="Courier New"/>
              </a:rPr>
              <a:t>prepend</a:t>
            </a:r>
            <a:r>
              <a:rPr lang="en" sz="1300" dirty="0"/>
              <a:t> the vertex and its weight onto the path!</a:t>
            </a:r>
            <a:endParaRPr sz="1300" dirty="0"/>
          </a:p>
          <a:p>
            <a:pPr marL="457200" lvl="0" indent="-323850" algn="l" rtl="0">
              <a:spcBef>
                <a:spcPts val="0"/>
              </a:spcBef>
              <a:spcAft>
                <a:spcPts val="0"/>
              </a:spcAft>
              <a:buSzPts val="1500"/>
              <a:buChar char="●"/>
            </a:pPr>
            <a:r>
              <a:rPr lang="en" sz="1500" dirty="0"/>
              <a:t>Make sure that there are no PROBLEMS in your code.</a:t>
            </a:r>
            <a:endParaRPr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Nearest Neighbor, Part 2</a:t>
            </a:r>
            <a:endParaRPr/>
          </a:p>
        </p:txBody>
      </p:sp>
      <p:sp>
        <p:nvSpPr>
          <p:cNvPr id="551" name="Google Shape;551;p47"/>
          <p:cNvSpPr txBox="1">
            <a:spLocks noGrp="1"/>
          </p:cNvSpPr>
          <p:nvPr>
            <p:ph type="body" idx="1"/>
          </p:nvPr>
        </p:nvSpPr>
        <p:spPr>
          <a:xfrm>
            <a:off x="65250" y="655425"/>
            <a:ext cx="8955900" cy="677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We're not done implementing </a:t>
            </a:r>
            <a:r>
              <a:rPr lang="en" i="1"/>
              <a:t>Nearest Neighbor </a:t>
            </a:r>
            <a:r>
              <a:rPr lang="en"/>
              <a:t>yet! Finish implementing and testing the method in your weighted graph now.</a:t>
            </a:r>
            <a:endParaRPr/>
          </a:p>
        </p:txBody>
      </p:sp>
      <p:sp>
        <p:nvSpPr>
          <p:cNvPr id="552" name="Google Shape;552;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53" name="Google Shape;553;p4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13.14</a:t>
            </a:r>
            <a:endParaRPr sz="2100"/>
          </a:p>
        </p:txBody>
      </p:sp>
      <p:grpSp>
        <p:nvGrpSpPr>
          <p:cNvPr id="554" name="Google Shape;554;p47"/>
          <p:cNvGrpSpPr/>
          <p:nvPr/>
        </p:nvGrpSpPr>
        <p:grpSpPr>
          <a:xfrm>
            <a:off x="261936" y="1684553"/>
            <a:ext cx="2804944" cy="2526847"/>
            <a:chOff x="338125" y="1610890"/>
            <a:chExt cx="3334852" cy="3004217"/>
          </a:xfrm>
        </p:grpSpPr>
        <p:sp>
          <p:nvSpPr>
            <p:cNvPr id="555" name="Google Shape;555;p47"/>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556" name="Google Shape;556;p47"/>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557" name="Google Shape;557;p47"/>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558" name="Google Shape;558;p47"/>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559" name="Google Shape;559;p47"/>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560" name="Google Shape;560;p47"/>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561" name="Google Shape;561;p47"/>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562" name="Google Shape;562;p47"/>
            <p:cNvCxnSpPr>
              <a:stCxn id="555" idx="3"/>
              <a:endCxn id="557"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563" name="Google Shape;563;p47"/>
            <p:cNvCxnSpPr>
              <a:stCxn id="555" idx="6"/>
              <a:endCxn id="558"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564" name="Google Shape;564;p47"/>
            <p:cNvCxnSpPr>
              <a:stCxn id="555" idx="5"/>
              <a:endCxn id="556"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565" name="Google Shape;565;p47"/>
            <p:cNvCxnSpPr>
              <a:stCxn id="556" idx="6"/>
              <a:endCxn id="560"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566" name="Google Shape;566;p47"/>
            <p:cNvCxnSpPr>
              <a:stCxn id="560" idx="4"/>
              <a:endCxn id="559"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567" name="Google Shape;567;p47"/>
            <p:cNvCxnSpPr>
              <a:stCxn id="556" idx="3"/>
              <a:endCxn id="561"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568" name="Google Shape;568;p47"/>
            <p:cNvCxnSpPr>
              <a:stCxn id="561" idx="6"/>
              <a:endCxn id="559"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569" name="Google Shape;569;p47"/>
            <p:cNvCxnSpPr>
              <a:stCxn id="557" idx="6"/>
              <a:endCxn id="556"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570" name="Google Shape;570;p47"/>
            <p:cNvCxnSpPr>
              <a:stCxn id="558" idx="5"/>
              <a:endCxn id="560"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571" name="Google Shape;571;p4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72" name="Google Shape;572;p4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73" name="Google Shape;573;p4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4" name="Google Shape;574;p4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75" name="Google Shape;575;p4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76" name="Google Shape;576;p4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7" name="Google Shape;577;p4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8" name="Google Shape;578;p4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79" name="Google Shape;579;p4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80" name="Google Shape;580;p47"/>
            <p:cNvCxnSpPr>
              <a:stCxn id="557" idx="5"/>
              <a:endCxn id="561"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581" name="Google Shape;581;p4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82" name="Google Shape;582;p47"/>
          <p:cNvSpPr txBox="1">
            <a:spLocks noGrp="1"/>
          </p:cNvSpPr>
          <p:nvPr>
            <p:ph type="body" idx="2"/>
          </p:nvPr>
        </p:nvSpPr>
        <p:spPr>
          <a:xfrm>
            <a:off x="3174450" y="1430475"/>
            <a:ext cx="5721600" cy="2467568"/>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b="1" i="1" dirty="0">
                <a:solidFill>
                  <a:srgbClr val="FF0000"/>
                </a:solidFill>
              </a:rPr>
              <a:t>Open</a:t>
            </a:r>
            <a:r>
              <a:rPr lang="en" sz="1500" dirty="0">
                <a:solidFill>
                  <a:srgbClr val="FF0000"/>
                </a:solidFill>
              </a:rPr>
              <a:t> </a:t>
            </a:r>
            <a:r>
              <a:rPr lang="en" sz="1500" dirty="0"/>
              <a:t>the provided </a:t>
            </a:r>
            <a:r>
              <a:rPr lang="en" sz="1500" dirty="0">
                <a:latin typeface="Courier New"/>
                <a:ea typeface="Courier New"/>
                <a:cs typeface="Courier New"/>
                <a:sym typeface="Courier New"/>
              </a:rPr>
              <a:t>AdjacencyGraph</a:t>
            </a:r>
            <a:r>
              <a:rPr lang="en" sz="1500" dirty="0"/>
              <a:t> class and </a:t>
            </a:r>
            <a:r>
              <a:rPr lang="en" sz="1500" b="1" i="1" dirty="0">
                <a:solidFill>
                  <a:srgbClr val="FF0000"/>
                </a:solidFill>
              </a:rPr>
              <a:t>copy </a:t>
            </a:r>
            <a:r>
              <a:rPr lang="en" sz="1500" dirty="0"/>
              <a:t>the </a:t>
            </a:r>
            <a:r>
              <a:rPr lang="en" sz="1500" dirty="0">
                <a:highlight>
                  <a:srgbClr val="FFFF00"/>
                </a:highlight>
                <a:latin typeface="Courier New"/>
                <a:ea typeface="Courier New"/>
                <a:cs typeface="Courier New"/>
                <a:sym typeface="Courier New"/>
              </a:rPr>
              <a:t>dfPath</a:t>
            </a:r>
            <a:r>
              <a:rPr lang="en" sz="1500" dirty="0"/>
              <a:t> method.</a:t>
            </a:r>
            <a:endParaRPr sz="1500" dirty="0"/>
          </a:p>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WAdjacencyGraph</a:t>
            </a:r>
            <a:r>
              <a:rPr lang="en" sz="1500" dirty="0"/>
              <a:t> class and paste the method at the bottom of the class.</a:t>
            </a:r>
            <a:endParaRPr sz="1500" dirty="0"/>
          </a:p>
          <a:p>
            <a:pPr marL="914400" lvl="1" indent="-311150" algn="l" rtl="0">
              <a:spcBef>
                <a:spcPts val="0"/>
              </a:spcBef>
              <a:spcAft>
                <a:spcPts val="0"/>
              </a:spcAft>
              <a:buSzPts val="1300"/>
              <a:buChar char="○"/>
            </a:pPr>
            <a:r>
              <a:rPr lang="en" sz="1300" dirty="0"/>
              <a:t>Rename the method from "</a:t>
            </a:r>
            <a:r>
              <a:rPr lang="en" sz="1300" dirty="0">
                <a:latin typeface="Courier New"/>
                <a:ea typeface="Courier New"/>
                <a:cs typeface="Courier New"/>
                <a:sym typeface="Courier New"/>
              </a:rPr>
              <a:t>dfPath</a:t>
            </a:r>
            <a:r>
              <a:rPr lang="en" sz="1300" dirty="0"/>
              <a:t>" to "</a:t>
            </a:r>
            <a:r>
              <a:rPr lang="en" sz="1300" dirty="0">
                <a:solidFill>
                  <a:srgbClr val="FF0000"/>
                </a:solidFill>
                <a:highlight>
                  <a:srgbClr val="FFFF00"/>
                </a:highlight>
                <a:latin typeface="Courier New"/>
                <a:ea typeface="Courier New"/>
                <a:cs typeface="Courier New"/>
                <a:sym typeface="Courier New"/>
              </a:rPr>
              <a:t>nearestNeighbor</a:t>
            </a:r>
            <a:r>
              <a:rPr lang="en" sz="1300" dirty="0"/>
              <a:t>". You will also need to update the code to use a </a:t>
            </a:r>
            <a:r>
              <a:rPr lang="en" sz="1300" dirty="0">
                <a:latin typeface="Courier New"/>
                <a:ea typeface="Courier New"/>
                <a:cs typeface="Courier New"/>
                <a:sym typeface="Courier New"/>
              </a:rPr>
              <a:t>WPath</a:t>
            </a:r>
            <a:r>
              <a:rPr lang="en" sz="1300" dirty="0"/>
              <a:t> instead of a list.</a:t>
            </a:r>
            <a:endParaRPr sz="1300" dirty="0"/>
          </a:p>
          <a:p>
            <a:pPr marL="457200" lvl="0" indent="-323850" algn="l" rtl="0">
              <a:spcBef>
                <a:spcPts val="0"/>
              </a:spcBef>
              <a:spcAft>
                <a:spcPts val="0"/>
              </a:spcAft>
              <a:buSzPts val="1500"/>
              <a:buChar char="●"/>
            </a:pPr>
            <a:r>
              <a:rPr lang="en" sz="1500" dirty="0"/>
              <a:t>Use the provided </a:t>
            </a:r>
            <a:r>
              <a:rPr lang="en" sz="1500" dirty="0">
                <a:latin typeface="Courier New"/>
                <a:ea typeface="Courier New"/>
                <a:cs typeface="Courier New"/>
                <a:sym typeface="Courier New"/>
              </a:rPr>
              <a:t>NearestNeighborTest</a:t>
            </a:r>
            <a:r>
              <a:rPr lang="en" sz="1500" dirty="0"/>
              <a:t> to test your algorithm.</a:t>
            </a:r>
            <a:endParaRPr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see how Nearest Neighbor does when finding a path between two cities in the contiguous United States.</a:t>
            </a:r>
            <a:endParaRPr/>
          </a:p>
        </p:txBody>
      </p:sp>
      <p:sp>
        <p:nvSpPr>
          <p:cNvPr id="588" name="Google Shape;588;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89" name="Google Shape;589;p48"/>
          <p:cNvSpPr txBox="1">
            <a:spLocks noGrp="1"/>
          </p:cNvSpPr>
          <p:nvPr>
            <p:ph type="body" idx="2"/>
          </p:nvPr>
        </p:nvSpPr>
        <p:spPr>
          <a:xfrm>
            <a:off x="3311000" y="1729125"/>
            <a:ext cx="5478600" cy="1650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MapMaker</a:t>
            </a:r>
            <a:r>
              <a:rPr lang="en" sz="1700"/>
              <a:t> and navigate to the </a:t>
            </a:r>
            <a:r>
              <a:rPr lang="en" sz="1700">
                <a:latin typeface="Courier New"/>
                <a:ea typeface="Courier New"/>
                <a:cs typeface="Courier New"/>
                <a:sym typeface="Courier New"/>
              </a:rPr>
              <a:t>main</a:t>
            </a:r>
            <a:r>
              <a:rPr lang="en" sz="1700"/>
              <a:t> method.</a:t>
            </a:r>
            <a:endParaRPr sz="1700"/>
          </a:p>
          <a:p>
            <a:pPr marL="457200" lvl="0" indent="-336550" algn="l" rtl="0">
              <a:spcBef>
                <a:spcPts val="0"/>
              </a:spcBef>
              <a:spcAft>
                <a:spcPts val="0"/>
              </a:spcAft>
              <a:buSzPts val="1700"/>
              <a:buChar char="●"/>
            </a:pPr>
            <a:r>
              <a:rPr lang="en" sz="1700"/>
              <a:t>Use </a:t>
            </a:r>
            <a:r>
              <a:rPr lang="en" sz="1700" i="1"/>
              <a:t>Nearest Neighbor</a:t>
            </a:r>
            <a:r>
              <a:rPr lang="en" sz="1700"/>
              <a:t> algorithm to find a path from </a:t>
            </a:r>
            <a:r>
              <a:rPr lang="en" sz="1700" i="1"/>
              <a:t>Boston, Massachusetts</a:t>
            </a:r>
            <a:r>
              <a:rPr lang="en" sz="1700"/>
              <a:t> to </a:t>
            </a:r>
            <a:r>
              <a:rPr lang="en" sz="1700" i="1"/>
              <a:t>Los Angeles, California</a:t>
            </a:r>
            <a:r>
              <a:rPr lang="en" sz="1700"/>
              <a:t> and print it to standard output.</a:t>
            </a:r>
            <a:endParaRPr sz="1700"/>
          </a:p>
        </p:txBody>
      </p:sp>
      <p:sp>
        <p:nvSpPr>
          <p:cNvPr id="590" name="Google Shape;590;p4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Traveling Neighbors</a:t>
            </a:r>
            <a:endParaRPr/>
          </a:p>
        </p:txBody>
      </p:sp>
      <p:sp>
        <p:nvSpPr>
          <p:cNvPr id="591" name="Google Shape;591;p4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13.15</a:t>
            </a:r>
            <a:endParaRPr/>
          </a:p>
        </p:txBody>
      </p:sp>
      <p:sp>
        <p:nvSpPr>
          <p:cNvPr id="592" name="Google Shape;592;p48"/>
          <p:cNvSpPr txBox="1">
            <a:spLocks noGrp="1"/>
          </p:cNvSpPr>
          <p:nvPr>
            <p:ph type="body" idx="4"/>
          </p:nvPr>
        </p:nvSpPr>
        <p:spPr>
          <a:xfrm>
            <a:off x="141600" y="37535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How does </a:t>
            </a:r>
            <a:r>
              <a:rPr lang="en" i="1"/>
              <a:t>Nearest Neighbor</a:t>
            </a:r>
            <a:r>
              <a:rPr lang="en"/>
              <a:t> find a path from coast to coast in the United States?</a:t>
            </a:r>
            <a:endParaRPr/>
          </a:p>
        </p:txBody>
      </p:sp>
      <p:pic>
        <p:nvPicPr>
          <p:cNvPr id="593" name="Google Shape;593;p48"/>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Graphs &amp; Searches </a:t>
            </a:r>
            <a:endParaRPr/>
          </a:p>
        </p:txBody>
      </p:sp>
      <p:sp>
        <p:nvSpPr>
          <p:cNvPr id="599" name="Google Shape;599;p49"/>
          <p:cNvSpPr txBox="1">
            <a:spLocks noGrp="1"/>
          </p:cNvSpPr>
          <p:nvPr>
            <p:ph type="body" idx="1"/>
          </p:nvPr>
        </p:nvSpPr>
        <p:spPr>
          <a:xfrm>
            <a:off x="125500" y="1277100"/>
            <a:ext cx="4941900" cy="38532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A </a:t>
            </a:r>
            <a:r>
              <a:rPr lang="en" b="1" i="1" dirty="0">
                <a:solidFill>
                  <a:srgbClr val="FF0000"/>
                </a:solidFill>
              </a:rPr>
              <a:t>graph</a:t>
            </a:r>
            <a:r>
              <a:rPr lang="en" dirty="0">
                <a:solidFill>
                  <a:srgbClr val="FF0000"/>
                </a:solidFill>
              </a:rPr>
              <a:t> </a:t>
            </a:r>
            <a:r>
              <a:rPr lang="en" dirty="0"/>
              <a:t>comprises </a:t>
            </a:r>
            <a:r>
              <a:rPr lang="en" b="1" i="1" dirty="0">
                <a:solidFill>
                  <a:srgbClr val="FF0000"/>
                </a:solidFill>
              </a:rPr>
              <a:t>vertices</a:t>
            </a:r>
            <a:r>
              <a:rPr lang="en" dirty="0"/>
              <a:t>, each of which contains a </a:t>
            </a:r>
            <a:r>
              <a:rPr lang="en" b="1" i="1" dirty="0">
                <a:solidFill>
                  <a:srgbClr val="FF0000"/>
                </a:solidFill>
              </a:rPr>
              <a:t>value</a:t>
            </a:r>
            <a:r>
              <a:rPr lang="en" dirty="0">
                <a:solidFill>
                  <a:srgbClr val="FF0000"/>
                </a:solidFill>
              </a:rPr>
              <a:t> </a:t>
            </a:r>
            <a:r>
              <a:rPr lang="en" dirty="0"/>
              <a:t>of some kind.</a:t>
            </a:r>
            <a:endParaRPr dirty="0"/>
          </a:p>
          <a:p>
            <a:pPr marL="457200" lvl="0" indent="-311150" algn="l" rtl="0">
              <a:lnSpc>
                <a:spcPct val="100000"/>
              </a:lnSpc>
              <a:spcBef>
                <a:spcPts val="1000"/>
              </a:spcBef>
              <a:spcAft>
                <a:spcPts val="0"/>
              </a:spcAft>
              <a:buSzPts val="1300"/>
              <a:buChar char="●"/>
            </a:pPr>
            <a:r>
              <a:rPr lang="en" dirty="0"/>
              <a:t>Two vertices can be connected by an </a:t>
            </a:r>
            <a:r>
              <a:rPr lang="en" b="1" i="1" dirty="0">
                <a:solidFill>
                  <a:srgbClr val="FF0000"/>
                </a:solidFill>
              </a:rPr>
              <a:t>edge</a:t>
            </a:r>
            <a:r>
              <a:rPr lang="en" dirty="0"/>
              <a:t>.</a:t>
            </a:r>
            <a:endParaRPr dirty="0"/>
          </a:p>
          <a:p>
            <a:pPr marL="914400" lvl="1" indent="-298450" algn="l" rtl="0">
              <a:lnSpc>
                <a:spcPct val="100000"/>
              </a:lnSpc>
              <a:spcBef>
                <a:spcPts val="0"/>
              </a:spcBef>
              <a:spcAft>
                <a:spcPts val="0"/>
              </a:spcAft>
              <a:buSzPts val="1100"/>
              <a:buChar char="○"/>
            </a:pPr>
            <a:r>
              <a:rPr lang="en" dirty="0"/>
              <a:t>Edges may be </a:t>
            </a:r>
            <a:r>
              <a:rPr lang="en" b="1" i="1" dirty="0">
                <a:solidFill>
                  <a:srgbClr val="FF0000"/>
                </a:solidFill>
              </a:rPr>
              <a:t>directed</a:t>
            </a:r>
            <a:r>
              <a:rPr lang="en" dirty="0">
                <a:solidFill>
                  <a:srgbClr val="FF0000"/>
                </a:solidFill>
              </a:rPr>
              <a:t> </a:t>
            </a:r>
            <a:r>
              <a:rPr lang="en" dirty="0"/>
              <a:t>or </a:t>
            </a:r>
            <a:r>
              <a:rPr lang="en" b="1" i="1" dirty="0">
                <a:solidFill>
                  <a:srgbClr val="FF0000"/>
                </a:solidFill>
              </a:rPr>
              <a:t>undirected</a:t>
            </a:r>
            <a:r>
              <a:rPr lang="en" dirty="0"/>
              <a:t>.</a:t>
            </a:r>
            <a:endParaRPr dirty="0"/>
          </a:p>
          <a:p>
            <a:pPr marL="914400" lvl="1" indent="-298450" algn="l" rtl="0">
              <a:lnSpc>
                <a:spcPct val="100000"/>
              </a:lnSpc>
              <a:spcBef>
                <a:spcPts val="0"/>
              </a:spcBef>
              <a:spcAft>
                <a:spcPts val="0"/>
              </a:spcAft>
              <a:buSzPts val="1100"/>
              <a:buChar char="○"/>
            </a:pPr>
            <a:r>
              <a:rPr lang="en" dirty="0"/>
              <a:t>An edge may or may not have a </a:t>
            </a:r>
            <a:r>
              <a:rPr lang="en" b="1" i="1" dirty="0">
                <a:solidFill>
                  <a:srgbClr val="FF0000"/>
                </a:solidFill>
              </a:rPr>
              <a:t>weight</a:t>
            </a:r>
            <a:r>
              <a:rPr lang="en" dirty="0">
                <a:solidFill>
                  <a:srgbClr val="FF0000"/>
                </a:solidFill>
              </a:rPr>
              <a:t> </a:t>
            </a:r>
            <a:r>
              <a:rPr lang="en" dirty="0"/>
              <a:t>that indicates the </a:t>
            </a:r>
            <a:r>
              <a:rPr lang="en" b="1" i="1" dirty="0">
                <a:solidFill>
                  <a:srgbClr val="FF0000"/>
                </a:solidFill>
              </a:rPr>
              <a:t>cost</a:t>
            </a:r>
            <a:r>
              <a:rPr lang="en" dirty="0">
                <a:solidFill>
                  <a:srgbClr val="FF0000"/>
                </a:solidFill>
              </a:rPr>
              <a:t> </a:t>
            </a:r>
            <a:r>
              <a:rPr lang="en" dirty="0"/>
              <a:t>of traversing the edge.</a:t>
            </a:r>
            <a:endParaRPr dirty="0"/>
          </a:p>
          <a:p>
            <a:pPr marL="914400" lvl="1" indent="-298450" algn="l" rtl="0">
              <a:lnSpc>
                <a:spcPct val="100000"/>
              </a:lnSpc>
              <a:spcBef>
                <a:spcPts val="0"/>
              </a:spcBef>
              <a:spcAft>
                <a:spcPts val="0"/>
              </a:spcAft>
              <a:buSzPts val="1100"/>
              <a:buChar char="○"/>
            </a:pPr>
            <a:r>
              <a:rPr lang="en" dirty="0"/>
              <a:t>Two vertices connected by an edge are said to be </a:t>
            </a:r>
            <a:r>
              <a:rPr lang="en" b="1" i="1" dirty="0">
                <a:solidFill>
                  <a:srgbClr val="FF0000"/>
                </a:solidFill>
              </a:rPr>
              <a:t>neighbors</a:t>
            </a:r>
            <a:r>
              <a:rPr lang="en" dirty="0"/>
              <a:t>.</a:t>
            </a:r>
            <a:endParaRPr dirty="0"/>
          </a:p>
          <a:p>
            <a:pPr marL="457200" lvl="0" indent="-311150" algn="l" rtl="0">
              <a:lnSpc>
                <a:spcPct val="100000"/>
              </a:lnSpc>
              <a:spcBef>
                <a:spcPts val="1000"/>
              </a:spcBef>
              <a:spcAft>
                <a:spcPts val="0"/>
              </a:spcAft>
              <a:buSzPts val="1300"/>
              <a:buChar char="●"/>
            </a:pPr>
            <a:r>
              <a:rPr lang="en" dirty="0"/>
              <a:t>A </a:t>
            </a:r>
            <a:r>
              <a:rPr lang="en" b="1" i="1" dirty="0">
                <a:solidFill>
                  <a:srgbClr val="FF0000"/>
                </a:solidFill>
              </a:rPr>
              <a:t>path</a:t>
            </a:r>
            <a:r>
              <a:rPr lang="en" dirty="0">
                <a:solidFill>
                  <a:srgbClr val="FF0000"/>
                </a:solidFill>
              </a:rPr>
              <a:t> </a:t>
            </a:r>
            <a:r>
              <a:rPr lang="en" dirty="0"/>
              <a:t>is the series of edges that connect two vertices together.</a:t>
            </a:r>
            <a:endParaRPr dirty="0"/>
          </a:p>
          <a:p>
            <a:pPr marL="457200" lvl="0" indent="-311150" algn="l" rtl="0">
              <a:lnSpc>
                <a:spcPct val="100000"/>
              </a:lnSpc>
              <a:spcBef>
                <a:spcPts val="1000"/>
              </a:spcBef>
              <a:spcAft>
                <a:spcPts val="0"/>
              </a:spcAft>
              <a:buSzPts val="1300"/>
              <a:buChar char="●"/>
            </a:pPr>
            <a:r>
              <a:rPr lang="en" dirty="0"/>
              <a:t>A </a:t>
            </a:r>
            <a:r>
              <a:rPr lang="en" b="1" i="1" dirty="0">
                <a:solidFill>
                  <a:srgbClr val="FF0000"/>
                </a:solidFill>
              </a:rPr>
              <a:t>search</a:t>
            </a:r>
            <a:r>
              <a:rPr lang="en" dirty="0">
                <a:solidFill>
                  <a:srgbClr val="FF0000"/>
                </a:solidFill>
              </a:rPr>
              <a:t> </a:t>
            </a:r>
            <a:r>
              <a:rPr lang="en" dirty="0"/>
              <a:t>is an algorithm that determines whether or not a path exists between two vertices.</a:t>
            </a:r>
            <a:endParaRPr dirty="0"/>
          </a:p>
          <a:p>
            <a:pPr marL="457200" lvl="0" indent="-311150" algn="l" rtl="0">
              <a:lnSpc>
                <a:spcPct val="100000"/>
              </a:lnSpc>
              <a:spcBef>
                <a:spcPts val="1000"/>
              </a:spcBef>
              <a:spcAft>
                <a:spcPts val="0"/>
              </a:spcAft>
              <a:buSzPts val="1300"/>
              <a:buChar char="●"/>
            </a:pPr>
            <a:r>
              <a:rPr lang="en" dirty="0"/>
              <a:t>Some search algorithms consider the weight of the edge between vertices.</a:t>
            </a:r>
            <a:endParaRPr b="1" i="1" dirty="0"/>
          </a:p>
          <a:p>
            <a:pPr marL="914400" lvl="1" indent="-298450" algn="l" rtl="0">
              <a:lnSpc>
                <a:spcPct val="100000"/>
              </a:lnSpc>
              <a:spcBef>
                <a:spcPts val="0"/>
              </a:spcBef>
              <a:spcAft>
                <a:spcPts val="0"/>
              </a:spcAft>
              <a:buSzPts val="1100"/>
              <a:buChar char="○"/>
            </a:pPr>
            <a:r>
              <a:rPr lang="en" b="1" i="1" dirty="0">
                <a:solidFill>
                  <a:srgbClr val="FF0000"/>
                </a:solidFill>
              </a:rPr>
              <a:t>Breadth-First Search</a:t>
            </a:r>
            <a:r>
              <a:rPr lang="en" dirty="0">
                <a:solidFill>
                  <a:srgbClr val="FF0000"/>
                </a:solidFill>
              </a:rPr>
              <a:t> </a:t>
            </a:r>
            <a:r>
              <a:rPr lang="en" dirty="0"/>
              <a:t>and </a:t>
            </a:r>
            <a:r>
              <a:rPr lang="en" b="1" i="1" dirty="0">
                <a:solidFill>
                  <a:srgbClr val="FF0000"/>
                </a:solidFill>
              </a:rPr>
              <a:t>Depth-First Search</a:t>
            </a:r>
            <a:r>
              <a:rPr lang="en" dirty="0"/>
              <a:t> ignore the cost of edges.</a:t>
            </a:r>
            <a:endParaRPr dirty="0"/>
          </a:p>
          <a:p>
            <a:pPr marL="914400" lvl="1" indent="-298450" algn="l" rtl="0">
              <a:lnSpc>
                <a:spcPct val="100000"/>
              </a:lnSpc>
              <a:spcBef>
                <a:spcPts val="0"/>
              </a:spcBef>
              <a:spcAft>
                <a:spcPts val="0"/>
              </a:spcAft>
              <a:buSzPts val="1100"/>
              <a:buChar char="○"/>
            </a:pPr>
            <a:r>
              <a:rPr lang="en" b="1" i="1" dirty="0">
                <a:solidFill>
                  <a:srgbClr val="FF0000"/>
                </a:solidFill>
              </a:rPr>
              <a:t>Nearest Neighbor</a:t>
            </a:r>
            <a:r>
              <a:rPr lang="en" dirty="0"/>
              <a:t> always chooses the </a:t>
            </a:r>
            <a:r>
              <a:rPr lang="en" b="1" i="1" dirty="0">
                <a:solidFill>
                  <a:srgbClr val="FF0000"/>
                </a:solidFill>
              </a:rPr>
              <a:t>unexplored</a:t>
            </a:r>
            <a:r>
              <a:rPr lang="en" dirty="0">
                <a:solidFill>
                  <a:srgbClr val="FF0000"/>
                </a:solidFill>
              </a:rPr>
              <a:t> </a:t>
            </a:r>
            <a:r>
              <a:rPr lang="en" dirty="0"/>
              <a:t>edge with the </a:t>
            </a:r>
            <a:r>
              <a:rPr lang="en" b="1" i="1" dirty="0">
                <a:solidFill>
                  <a:srgbClr val="FF0000"/>
                </a:solidFill>
              </a:rPr>
              <a:t>lowest cost</a:t>
            </a:r>
            <a:r>
              <a:rPr lang="en" dirty="0"/>
              <a:t>.</a:t>
            </a:r>
            <a:endParaRPr dirty="0"/>
          </a:p>
        </p:txBody>
      </p:sp>
      <p:sp>
        <p:nvSpPr>
          <p:cNvPr id="600" name="Google Shape;60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pSp>
        <p:nvGrpSpPr>
          <p:cNvPr id="601" name="Google Shape;601;p49"/>
          <p:cNvGrpSpPr/>
          <p:nvPr/>
        </p:nvGrpSpPr>
        <p:grpSpPr>
          <a:xfrm>
            <a:off x="5474762" y="1349370"/>
            <a:ext cx="2789937" cy="2513027"/>
            <a:chOff x="338125" y="1610890"/>
            <a:chExt cx="3334852" cy="3004217"/>
          </a:xfrm>
        </p:grpSpPr>
        <p:sp>
          <p:nvSpPr>
            <p:cNvPr id="602" name="Google Shape;602;p49"/>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603" name="Google Shape;603;p49"/>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604" name="Google Shape;604;p49"/>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605" name="Google Shape;605;p49"/>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606" name="Google Shape;606;p49"/>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607" name="Google Shape;607;p49"/>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608" name="Google Shape;608;p49"/>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609" name="Google Shape;609;p49"/>
            <p:cNvCxnSpPr>
              <a:stCxn id="602" idx="3"/>
              <a:endCxn id="60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610" name="Google Shape;610;p49"/>
            <p:cNvCxnSpPr>
              <a:stCxn id="602" idx="6"/>
              <a:endCxn id="60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611" name="Google Shape;611;p49"/>
            <p:cNvCxnSpPr>
              <a:stCxn id="602" idx="5"/>
              <a:endCxn id="60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612" name="Google Shape;612;p49"/>
            <p:cNvCxnSpPr>
              <a:stCxn id="603" idx="6"/>
              <a:endCxn id="60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613" name="Google Shape;613;p49"/>
            <p:cNvCxnSpPr>
              <a:stCxn id="607" idx="4"/>
              <a:endCxn id="60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614" name="Google Shape;614;p49"/>
            <p:cNvCxnSpPr>
              <a:stCxn id="603" idx="3"/>
              <a:endCxn id="60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615" name="Google Shape;615;p49"/>
            <p:cNvCxnSpPr>
              <a:stCxn id="608" idx="6"/>
              <a:endCxn id="60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616" name="Google Shape;616;p49"/>
            <p:cNvCxnSpPr>
              <a:stCxn id="604" idx="6"/>
              <a:endCxn id="60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617" name="Google Shape;617;p49"/>
            <p:cNvCxnSpPr>
              <a:stCxn id="605" idx="5"/>
              <a:endCxn id="60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618" name="Google Shape;618;p49"/>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619" name="Google Shape;619;p49"/>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620" name="Google Shape;620;p49"/>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1" name="Google Shape;621;p49"/>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622" name="Google Shape;622;p49"/>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3" name="Google Shape;623;p49"/>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4" name="Google Shape;624;p49"/>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5" name="Google Shape;625;p49"/>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626" name="Google Shape;626;p49"/>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627" name="Google Shape;627;p49"/>
            <p:cNvCxnSpPr>
              <a:stCxn id="604" idx="5"/>
              <a:endCxn id="60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628" name="Google Shape;628;p49"/>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629" name="Google Shape;629;p49"/>
          <p:cNvSpPr txBox="1"/>
          <p:nvPr/>
        </p:nvSpPr>
        <p:spPr>
          <a:xfrm>
            <a:off x="5295025" y="4027425"/>
            <a:ext cx="3256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Different searches will find different paths through a graph. Some look for </a:t>
            </a:r>
            <a:r>
              <a:rPr lang="en" sz="1200" b="1" i="1">
                <a:solidFill>
                  <a:srgbClr val="FF0000"/>
                </a:solidFill>
                <a:latin typeface="Roboto"/>
                <a:ea typeface="Roboto"/>
                <a:cs typeface="Roboto"/>
                <a:sym typeface="Roboto"/>
              </a:rPr>
              <a:t>fewer edges</a:t>
            </a:r>
            <a:r>
              <a:rPr lang="en" sz="1200">
                <a:latin typeface="Roboto"/>
                <a:ea typeface="Roboto"/>
                <a:cs typeface="Roboto"/>
                <a:sym typeface="Roboto"/>
              </a:rPr>
              <a:t> while others look for</a:t>
            </a:r>
            <a:r>
              <a:rPr lang="en" sz="1200">
                <a:solidFill>
                  <a:srgbClr val="FF0000"/>
                </a:solidFill>
                <a:latin typeface="Roboto"/>
                <a:ea typeface="Roboto"/>
                <a:cs typeface="Roboto"/>
                <a:sym typeface="Roboto"/>
              </a:rPr>
              <a:t> </a:t>
            </a:r>
            <a:r>
              <a:rPr lang="en" sz="1200" b="1" i="1">
                <a:solidFill>
                  <a:srgbClr val="FF0000"/>
                </a:solidFill>
                <a:latin typeface="Roboto"/>
                <a:ea typeface="Roboto"/>
                <a:cs typeface="Roboto"/>
                <a:sym typeface="Roboto"/>
              </a:rPr>
              <a:t>lowest cost</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29"/>
                                        </p:tgtEl>
                                        <p:attrNameLst>
                                          <p:attrName>style.visibility</p:attrName>
                                        </p:attrNameLst>
                                      </p:cBhvr>
                                      <p:to>
                                        <p:strVal val="visible"/>
                                      </p:to>
                                    </p:set>
                                    <p:animEffect transition="in" filter="fade">
                                      <p:cBhvr>
                                        <p:cTn id="47" dur="1000"/>
                                        <p:tgtEl>
                                          <p:spTgt spid="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0"/>
          <p:cNvSpPr txBox="1">
            <a:spLocks noGrp="1"/>
          </p:cNvSpPr>
          <p:nvPr>
            <p:ph type="body" idx="1"/>
          </p:nvPr>
        </p:nvSpPr>
        <p:spPr>
          <a:xfrm>
            <a:off x="231350" y="-9201"/>
            <a:ext cx="4541100" cy="51417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A</a:t>
            </a:r>
            <a:r>
              <a:rPr lang="en" dirty="0">
                <a:solidFill>
                  <a:srgbClr val="FF0000"/>
                </a:solidFill>
              </a:rPr>
              <a:t> </a:t>
            </a:r>
            <a:r>
              <a:rPr lang="en" b="1" i="1" dirty="0">
                <a:solidFill>
                  <a:srgbClr val="FF0000"/>
                </a:solidFill>
              </a:rPr>
              <a:t>breadth-first search</a:t>
            </a:r>
            <a:r>
              <a:rPr lang="en" dirty="0"/>
              <a:t> will always find a path that has the fewest possible </a:t>
            </a:r>
            <a:r>
              <a:rPr lang="en" b="1" i="1" dirty="0">
                <a:solidFill>
                  <a:srgbClr val="FF0000"/>
                </a:solidFill>
              </a:rPr>
              <a:t>edges</a:t>
            </a:r>
            <a:r>
              <a:rPr lang="en" dirty="0"/>
              <a:t>.</a:t>
            </a:r>
            <a:endParaRPr dirty="0"/>
          </a:p>
          <a:p>
            <a:pPr marL="914400" lvl="1" indent="-298450" algn="l" rtl="0">
              <a:spcBef>
                <a:spcPts val="0"/>
              </a:spcBef>
              <a:spcAft>
                <a:spcPts val="0"/>
              </a:spcAft>
              <a:buSzPts val="1100"/>
              <a:buChar char="○"/>
            </a:pPr>
            <a:r>
              <a:rPr lang="en" dirty="0"/>
              <a:t>There may be more than one path with the same "shortest" length.</a:t>
            </a:r>
            <a:endParaRPr dirty="0"/>
          </a:p>
          <a:p>
            <a:pPr marL="914400" lvl="1" indent="-298450" algn="l" rtl="0">
              <a:spcBef>
                <a:spcPts val="0"/>
              </a:spcBef>
              <a:spcAft>
                <a:spcPts val="0"/>
              </a:spcAft>
              <a:buSzPts val="1100"/>
              <a:buChar char="○"/>
            </a:pPr>
            <a:r>
              <a:rPr lang="en" dirty="0"/>
              <a:t>BFS will find one based on the order in which it visits the neighbors of each vertex.</a:t>
            </a:r>
            <a:endParaRPr dirty="0"/>
          </a:p>
          <a:p>
            <a:pPr marL="457200" lvl="0" indent="-311150" algn="l" rtl="0">
              <a:spcBef>
                <a:spcPts val="1000"/>
              </a:spcBef>
              <a:spcAft>
                <a:spcPts val="0"/>
              </a:spcAft>
              <a:buSzPts val="1300"/>
              <a:buChar char="●"/>
            </a:pPr>
            <a:r>
              <a:rPr lang="en" dirty="0"/>
              <a:t>A </a:t>
            </a:r>
            <a:r>
              <a:rPr lang="en" b="1" i="1" dirty="0">
                <a:solidFill>
                  <a:srgbClr val="FF0000"/>
                </a:solidFill>
              </a:rPr>
              <a:t>depth-first search</a:t>
            </a:r>
            <a:r>
              <a:rPr lang="en" dirty="0">
                <a:solidFill>
                  <a:srgbClr val="FF0000"/>
                </a:solidFill>
              </a:rPr>
              <a:t> </a:t>
            </a:r>
            <a:r>
              <a:rPr lang="en" dirty="0"/>
              <a:t>will only find a path with the fewest edges by coincidence.</a:t>
            </a:r>
            <a:endParaRPr dirty="0"/>
          </a:p>
          <a:p>
            <a:pPr marL="914400" lvl="1" indent="-298450" algn="l" rtl="0">
              <a:spcBef>
                <a:spcPts val="0"/>
              </a:spcBef>
              <a:spcAft>
                <a:spcPts val="0"/>
              </a:spcAft>
              <a:buSzPts val="1100"/>
              <a:buChar char="○"/>
            </a:pPr>
            <a:r>
              <a:rPr lang="en" dirty="0"/>
              <a:t>Again, this will be determined by the order in which the search visits the neighbors of each vertex.</a:t>
            </a:r>
            <a:endParaRPr dirty="0"/>
          </a:p>
          <a:p>
            <a:pPr marL="914400" lvl="1" indent="-298450" algn="l" rtl="0">
              <a:spcBef>
                <a:spcPts val="0"/>
              </a:spcBef>
              <a:spcAft>
                <a:spcPts val="0"/>
              </a:spcAft>
              <a:buSzPts val="1100"/>
              <a:buChar char="○"/>
            </a:pPr>
            <a:r>
              <a:rPr lang="en" dirty="0"/>
              <a:t>DFS is just as likely to find the path with the </a:t>
            </a:r>
            <a:r>
              <a:rPr lang="en" b="1" i="1" dirty="0">
                <a:solidFill>
                  <a:srgbClr val="FF0000"/>
                </a:solidFill>
              </a:rPr>
              <a:t>most</a:t>
            </a:r>
            <a:r>
              <a:rPr lang="en" dirty="0">
                <a:solidFill>
                  <a:srgbClr val="FF0000"/>
                </a:solidFill>
              </a:rPr>
              <a:t> </a:t>
            </a:r>
            <a:r>
              <a:rPr lang="en" dirty="0"/>
              <a:t>edges.</a:t>
            </a:r>
            <a:endParaRPr dirty="0"/>
          </a:p>
          <a:p>
            <a:pPr marL="457200" lvl="0" indent="-311150" algn="l" rtl="0">
              <a:spcBef>
                <a:spcPts val="1000"/>
              </a:spcBef>
              <a:spcAft>
                <a:spcPts val="0"/>
              </a:spcAft>
              <a:buSzPts val="1300"/>
              <a:buChar char="●"/>
            </a:pPr>
            <a:r>
              <a:rPr lang="en" dirty="0"/>
              <a:t>Neither algorithm is guaranteed (or even likely) to find the path with the lowest total </a:t>
            </a:r>
            <a:r>
              <a:rPr lang="en" b="1" i="1" dirty="0">
                <a:solidFill>
                  <a:srgbClr val="FF0000"/>
                </a:solidFill>
              </a:rPr>
              <a:t>cost</a:t>
            </a:r>
            <a:r>
              <a:rPr lang="en" dirty="0"/>
              <a:t>.</a:t>
            </a:r>
            <a:endParaRPr dirty="0"/>
          </a:p>
          <a:p>
            <a:pPr marL="914400" lvl="1" indent="-298450" algn="l" rtl="0">
              <a:spcBef>
                <a:spcPts val="0"/>
              </a:spcBef>
              <a:spcAft>
                <a:spcPts val="0"/>
              </a:spcAft>
              <a:buSzPts val="1100"/>
              <a:buChar char="○"/>
            </a:pPr>
            <a:r>
              <a:rPr lang="en" dirty="0"/>
              <a:t>We also refer to total cost as </a:t>
            </a:r>
            <a:r>
              <a:rPr lang="en" b="1" i="1" dirty="0">
                <a:solidFill>
                  <a:srgbClr val="FF0000"/>
                </a:solidFill>
              </a:rPr>
              <a:t>total distance</a:t>
            </a:r>
            <a:r>
              <a:rPr lang="en" dirty="0"/>
              <a:t> and the lowest cost as the </a:t>
            </a:r>
            <a:r>
              <a:rPr lang="en" b="1" i="1" dirty="0">
                <a:solidFill>
                  <a:srgbClr val="FF0000"/>
                </a:solidFill>
              </a:rPr>
              <a:t>shortest distance</a:t>
            </a:r>
            <a:r>
              <a:rPr lang="en" dirty="0"/>
              <a:t>.</a:t>
            </a:r>
            <a:endParaRPr dirty="0"/>
          </a:p>
          <a:p>
            <a:pPr marL="914400" lvl="1" indent="-298450" algn="l" rtl="0">
              <a:spcBef>
                <a:spcPts val="0"/>
              </a:spcBef>
              <a:spcAft>
                <a:spcPts val="0"/>
              </a:spcAft>
              <a:buSzPts val="1100"/>
              <a:buChar char="○"/>
            </a:pPr>
            <a:r>
              <a:rPr lang="en" dirty="0"/>
              <a:t>If the shortest distance path has more edges, BFS will </a:t>
            </a:r>
            <a:r>
              <a:rPr lang="en" b="1" i="1" dirty="0">
                <a:solidFill>
                  <a:srgbClr val="FF0000"/>
                </a:solidFill>
              </a:rPr>
              <a:t>never</a:t>
            </a:r>
            <a:r>
              <a:rPr lang="en" dirty="0">
                <a:solidFill>
                  <a:srgbClr val="FF0000"/>
                </a:solidFill>
              </a:rPr>
              <a:t> </a:t>
            </a:r>
            <a:r>
              <a:rPr lang="en" dirty="0"/>
              <a:t>find it.</a:t>
            </a:r>
            <a:endParaRPr dirty="0"/>
          </a:p>
          <a:p>
            <a:pPr marL="914400" lvl="1" indent="-298450" algn="l" rtl="0">
              <a:spcBef>
                <a:spcPts val="0"/>
              </a:spcBef>
              <a:spcAft>
                <a:spcPts val="0"/>
              </a:spcAft>
              <a:buSzPts val="1100"/>
              <a:buChar char="○"/>
            </a:pPr>
            <a:r>
              <a:rPr lang="en" dirty="0"/>
              <a:t>DFS may find it, but only by coincidence.</a:t>
            </a:r>
            <a:endParaRPr dirty="0"/>
          </a:p>
          <a:p>
            <a:pPr marL="457200" lvl="0" indent="-311150" algn="l" rtl="0">
              <a:spcBef>
                <a:spcPts val="1000"/>
              </a:spcBef>
              <a:spcAft>
                <a:spcPts val="0"/>
              </a:spcAft>
              <a:buSzPts val="1300"/>
              <a:buChar char="●"/>
            </a:pPr>
            <a:r>
              <a:rPr lang="en" b="1" i="1" dirty="0">
                <a:solidFill>
                  <a:srgbClr val="FF0000"/>
                </a:solidFill>
              </a:rPr>
              <a:t>Nearest Neighbor</a:t>
            </a:r>
            <a:r>
              <a:rPr lang="en" dirty="0"/>
              <a:t> is a greedy algorithm that chooses the unexplored neighbor with the lowest cost, but is</a:t>
            </a:r>
            <a:r>
              <a:rPr lang="en" dirty="0">
                <a:solidFill>
                  <a:srgbClr val="FF0000"/>
                </a:solidFill>
              </a:rPr>
              <a:t> </a:t>
            </a:r>
            <a:r>
              <a:rPr lang="en" b="1" i="1" dirty="0">
                <a:solidFill>
                  <a:srgbClr val="FF0000"/>
                </a:solidFill>
              </a:rPr>
              <a:t>not</a:t>
            </a:r>
            <a:r>
              <a:rPr lang="en" b="1" i="1" dirty="0"/>
              <a:t> </a:t>
            </a:r>
            <a:r>
              <a:rPr lang="en" dirty="0"/>
              <a:t>guaranteed to find the lowest cost path.</a:t>
            </a:r>
            <a:endParaRPr dirty="0"/>
          </a:p>
        </p:txBody>
      </p:sp>
      <p:sp>
        <p:nvSpPr>
          <p:cNvPr id="635" name="Google Shape;635;p50"/>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32</a:t>
            </a:fld>
            <a:endParaRPr/>
          </a:p>
        </p:txBody>
      </p:sp>
      <p:sp>
        <p:nvSpPr>
          <p:cNvPr id="636" name="Google Shape;636;p50"/>
          <p:cNvSpPr txBox="1">
            <a:spLocks noGrp="1"/>
          </p:cNvSpPr>
          <p:nvPr>
            <p:ph type="title"/>
          </p:nvPr>
        </p:nvSpPr>
        <p:spPr>
          <a:xfrm>
            <a:off x="526472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What does </a:t>
            </a:r>
            <a:r>
              <a:rPr lang="en" sz="2500" i="1"/>
              <a:t>"Shortest"</a:t>
            </a:r>
            <a:r>
              <a:rPr lang="en" sz="2500"/>
              <a:t> Mean?</a:t>
            </a:r>
            <a:endParaRPr sz="2500"/>
          </a:p>
        </p:txBody>
      </p:sp>
      <p:sp>
        <p:nvSpPr>
          <p:cNvPr id="637" name="Google Shape;637;p50"/>
          <p:cNvSpPr txBox="1">
            <a:spLocks noGrp="1"/>
          </p:cNvSpPr>
          <p:nvPr>
            <p:ph type="body" idx="3"/>
          </p:nvPr>
        </p:nvSpPr>
        <p:spPr>
          <a:xfrm>
            <a:off x="5192225" y="3431392"/>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definition of </a:t>
            </a:r>
            <a:r>
              <a:rPr lang="en" b="1" i="1">
                <a:solidFill>
                  <a:srgbClr val="FF0000"/>
                </a:solidFill>
              </a:rPr>
              <a:t>"shortest"</a:t>
            </a:r>
            <a:r>
              <a:rPr lang="en"/>
              <a:t> depends on the problem that you are trying to solve. Is it the </a:t>
            </a:r>
            <a:r>
              <a:rPr lang="en" b="1" i="1">
                <a:solidFill>
                  <a:srgbClr val="FF0000"/>
                </a:solidFill>
              </a:rPr>
              <a:t>fewest hops</a:t>
            </a:r>
            <a:r>
              <a:rPr lang="en">
                <a:solidFill>
                  <a:srgbClr val="FF0000"/>
                </a:solidFill>
              </a:rPr>
              <a:t> </a:t>
            </a:r>
            <a:r>
              <a:rPr lang="en"/>
              <a:t>or </a:t>
            </a:r>
            <a:r>
              <a:rPr lang="en" b="1" i="1">
                <a:solidFill>
                  <a:srgbClr val="FF0000"/>
                </a:solidFill>
              </a:rPr>
              <a:t>lowest cost</a:t>
            </a:r>
            <a:r>
              <a:rPr lang="en"/>
              <a:t>?</a:t>
            </a:r>
            <a:endParaRPr/>
          </a:p>
        </p:txBody>
      </p:sp>
      <p:grpSp>
        <p:nvGrpSpPr>
          <p:cNvPr id="638" name="Google Shape;638;p50"/>
          <p:cNvGrpSpPr/>
          <p:nvPr/>
        </p:nvGrpSpPr>
        <p:grpSpPr>
          <a:xfrm>
            <a:off x="5748336" y="963879"/>
            <a:ext cx="2589846" cy="2333075"/>
            <a:chOff x="338125" y="1610890"/>
            <a:chExt cx="3334852" cy="3004217"/>
          </a:xfrm>
        </p:grpSpPr>
        <p:sp>
          <p:nvSpPr>
            <p:cNvPr id="639" name="Google Shape;639;p50"/>
            <p:cNvSpPr/>
            <p:nvPr/>
          </p:nvSpPr>
          <p:spPr>
            <a:xfrm>
              <a:off x="679459"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640" name="Google Shape;640;p50"/>
            <p:cNvSpPr/>
            <p:nvPr/>
          </p:nvSpPr>
          <p:spPr>
            <a:xfrm>
              <a:off x="1772863" y="2900772"/>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641" name="Google Shape;641;p50"/>
            <p:cNvSpPr/>
            <p:nvPr/>
          </p:nvSpPr>
          <p:spPr>
            <a:xfrm>
              <a:off x="338125" y="295099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642" name="Google Shape;642;p50"/>
            <p:cNvSpPr/>
            <p:nvPr/>
          </p:nvSpPr>
          <p:spPr>
            <a:xfrm>
              <a:off x="2380788"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643" name="Google Shape;643;p50"/>
            <p:cNvSpPr/>
            <p:nvPr/>
          </p:nvSpPr>
          <p:spPr>
            <a:xfrm>
              <a:off x="2863270"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644" name="Google Shape;644;p50"/>
            <p:cNvSpPr/>
            <p:nvPr/>
          </p:nvSpPr>
          <p:spPr>
            <a:xfrm>
              <a:off x="3110849" y="2857201"/>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645" name="Google Shape;645;p50"/>
            <p:cNvSpPr/>
            <p:nvPr/>
          </p:nvSpPr>
          <p:spPr>
            <a:xfrm>
              <a:off x="1300197"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646" name="Google Shape;646;p50"/>
            <p:cNvCxnSpPr>
              <a:stCxn id="639" idx="3"/>
              <a:endCxn id="641" idx="0"/>
            </p:cNvCxnSpPr>
            <p:nvPr/>
          </p:nvCxnSpPr>
          <p:spPr>
            <a:xfrm flipH="1">
              <a:off x="609191" y="2157567"/>
              <a:ext cx="149700" cy="793500"/>
            </a:xfrm>
            <a:prstGeom prst="straightConnector1">
              <a:avLst/>
            </a:prstGeom>
            <a:noFill/>
            <a:ln w="19050" cap="flat" cmpd="sng">
              <a:solidFill>
                <a:srgbClr val="FFFFFF"/>
              </a:solidFill>
              <a:prstDash val="solid"/>
              <a:round/>
              <a:headEnd type="none" w="med" len="med"/>
              <a:tailEnd type="none" w="med" len="med"/>
            </a:ln>
          </p:spPr>
        </p:cxnSp>
        <p:cxnSp>
          <p:nvCxnSpPr>
            <p:cNvPr id="647" name="Google Shape;647;p50"/>
            <p:cNvCxnSpPr>
              <a:stCxn id="639" idx="6"/>
              <a:endCxn id="642" idx="2"/>
            </p:cNvCxnSpPr>
            <p:nvPr/>
          </p:nvCxnSpPr>
          <p:spPr>
            <a:xfrm>
              <a:off x="1221859" y="1965800"/>
              <a:ext cx="1158900" cy="0"/>
            </a:xfrm>
            <a:prstGeom prst="straightConnector1">
              <a:avLst/>
            </a:prstGeom>
            <a:noFill/>
            <a:ln w="19050" cap="flat" cmpd="sng">
              <a:solidFill>
                <a:srgbClr val="FFFFFF"/>
              </a:solidFill>
              <a:prstDash val="solid"/>
              <a:round/>
              <a:headEnd type="none" w="med" len="med"/>
              <a:tailEnd type="none" w="med" len="med"/>
            </a:ln>
          </p:spPr>
        </p:cxnSp>
        <p:cxnSp>
          <p:nvCxnSpPr>
            <p:cNvPr id="648" name="Google Shape;648;p50"/>
            <p:cNvCxnSpPr>
              <a:stCxn id="639" idx="5"/>
              <a:endCxn id="640" idx="1"/>
            </p:cNvCxnSpPr>
            <p:nvPr/>
          </p:nvCxnSpPr>
          <p:spPr>
            <a:xfrm>
              <a:off x="1142426" y="2157567"/>
              <a:ext cx="709800" cy="822600"/>
            </a:xfrm>
            <a:prstGeom prst="straightConnector1">
              <a:avLst/>
            </a:prstGeom>
            <a:noFill/>
            <a:ln w="19050" cap="flat" cmpd="sng">
              <a:solidFill>
                <a:srgbClr val="FFFFFF"/>
              </a:solidFill>
              <a:prstDash val="solid"/>
              <a:round/>
              <a:headEnd type="none" w="med" len="med"/>
              <a:tailEnd type="none" w="med" len="med"/>
            </a:ln>
          </p:spPr>
        </p:cxnSp>
        <p:cxnSp>
          <p:nvCxnSpPr>
            <p:cNvPr id="649" name="Google Shape;649;p50"/>
            <p:cNvCxnSpPr>
              <a:stCxn id="640" idx="6"/>
              <a:endCxn id="644" idx="2"/>
            </p:cNvCxnSpPr>
            <p:nvPr/>
          </p:nvCxnSpPr>
          <p:spPr>
            <a:xfrm rot="10800000" flipH="1">
              <a:off x="2315263" y="3128472"/>
              <a:ext cx="795600" cy="43500"/>
            </a:xfrm>
            <a:prstGeom prst="straightConnector1">
              <a:avLst/>
            </a:prstGeom>
            <a:noFill/>
            <a:ln w="19050" cap="flat" cmpd="sng">
              <a:solidFill>
                <a:srgbClr val="FFFFFF"/>
              </a:solidFill>
              <a:prstDash val="solid"/>
              <a:round/>
              <a:headEnd type="none" w="med" len="med"/>
              <a:tailEnd type="none" w="med" len="med"/>
            </a:ln>
          </p:spPr>
        </p:cxnSp>
        <p:cxnSp>
          <p:nvCxnSpPr>
            <p:cNvPr id="650" name="Google Shape;650;p50"/>
            <p:cNvCxnSpPr>
              <a:stCxn id="644" idx="4"/>
              <a:endCxn id="643" idx="7"/>
            </p:cNvCxnSpPr>
            <p:nvPr/>
          </p:nvCxnSpPr>
          <p:spPr>
            <a:xfrm flipH="1">
              <a:off x="3326249" y="3399601"/>
              <a:ext cx="55800" cy="752400"/>
            </a:xfrm>
            <a:prstGeom prst="straightConnector1">
              <a:avLst/>
            </a:prstGeom>
            <a:noFill/>
            <a:ln w="19050" cap="flat" cmpd="sng">
              <a:solidFill>
                <a:srgbClr val="FFFFFF"/>
              </a:solidFill>
              <a:prstDash val="solid"/>
              <a:round/>
              <a:headEnd type="none" w="med" len="med"/>
              <a:tailEnd type="none" w="med" len="med"/>
            </a:ln>
          </p:spPr>
        </p:cxnSp>
        <p:cxnSp>
          <p:nvCxnSpPr>
            <p:cNvPr id="651" name="Google Shape;651;p50"/>
            <p:cNvCxnSpPr>
              <a:stCxn id="640" idx="3"/>
              <a:endCxn id="645" idx="0"/>
            </p:cNvCxnSpPr>
            <p:nvPr/>
          </p:nvCxnSpPr>
          <p:spPr>
            <a:xfrm flipH="1">
              <a:off x="1571495" y="3363739"/>
              <a:ext cx="280800" cy="708900"/>
            </a:xfrm>
            <a:prstGeom prst="straightConnector1">
              <a:avLst/>
            </a:prstGeom>
            <a:noFill/>
            <a:ln w="19050" cap="flat" cmpd="sng">
              <a:solidFill>
                <a:srgbClr val="FFFFFF"/>
              </a:solidFill>
              <a:prstDash val="solid"/>
              <a:round/>
              <a:headEnd type="none" w="med" len="med"/>
              <a:tailEnd type="none" w="med" len="med"/>
            </a:ln>
          </p:spPr>
        </p:cxnSp>
        <p:cxnSp>
          <p:nvCxnSpPr>
            <p:cNvPr id="652" name="Google Shape;652;p50"/>
            <p:cNvCxnSpPr>
              <a:stCxn id="645" idx="6"/>
              <a:endCxn id="643" idx="2"/>
            </p:cNvCxnSpPr>
            <p:nvPr/>
          </p:nvCxnSpPr>
          <p:spPr>
            <a:xfrm>
              <a:off x="1842597" y="4343907"/>
              <a:ext cx="1020600" cy="0"/>
            </a:xfrm>
            <a:prstGeom prst="straightConnector1">
              <a:avLst/>
            </a:prstGeom>
            <a:noFill/>
            <a:ln w="19050" cap="flat" cmpd="sng">
              <a:solidFill>
                <a:srgbClr val="FFFFFF"/>
              </a:solidFill>
              <a:prstDash val="solid"/>
              <a:round/>
              <a:headEnd type="none" w="med" len="med"/>
              <a:tailEnd type="none" w="med" len="med"/>
            </a:ln>
          </p:spPr>
        </p:cxnSp>
        <p:cxnSp>
          <p:nvCxnSpPr>
            <p:cNvPr id="653" name="Google Shape;653;p50"/>
            <p:cNvCxnSpPr>
              <a:stCxn id="641" idx="6"/>
              <a:endCxn id="640" idx="2"/>
            </p:cNvCxnSpPr>
            <p:nvPr/>
          </p:nvCxnSpPr>
          <p:spPr>
            <a:xfrm rot="10800000" flipH="1">
              <a:off x="880525" y="3172090"/>
              <a:ext cx="892200" cy="50100"/>
            </a:xfrm>
            <a:prstGeom prst="straightConnector1">
              <a:avLst/>
            </a:prstGeom>
            <a:noFill/>
            <a:ln w="19050" cap="flat" cmpd="sng">
              <a:solidFill>
                <a:srgbClr val="FFFFFF"/>
              </a:solidFill>
              <a:prstDash val="solid"/>
              <a:round/>
              <a:headEnd type="none" w="med" len="med"/>
              <a:tailEnd type="none" w="med" len="med"/>
            </a:ln>
          </p:spPr>
        </p:cxnSp>
        <p:cxnSp>
          <p:nvCxnSpPr>
            <p:cNvPr id="654" name="Google Shape;654;p50"/>
            <p:cNvCxnSpPr>
              <a:stCxn id="642" idx="5"/>
              <a:endCxn id="644" idx="1"/>
            </p:cNvCxnSpPr>
            <p:nvPr/>
          </p:nvCxnSpPr>
          <p:spPr>
            <a:xfrm>
              <a:off x="2843755" y="2157567"/>
              <a:ext cx="346500" cy="779100"/>
            </a:xfrm>
            <a:prstGeom prst="straightConnector1">
              <a:avLst/>
            </a:prstGeom>
            <a:noFill/>
            <a:ln w="19050" cap="flat" cmpd="sng">
              <a:solidFill>
                <a:srgbClr val="FFFFFF"/>
              </a:solidFill>
              <a:prstDash val="solid"/>
              <a:round/>
              <a:headEnd type="none" w="med" len="med"/>
              <a:tailEnd type="none" w="med" len="med"/>
            </a:ln>
          </p:spPr>
        </p:cxnSp>
        <p:sp>
          <p:nvSpPr>
            <p:cNvPr id="655" name="Google Shape;655;p5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656" name="Google Shape;656;p5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657" name="Google Shape;657;p5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58" name="Google Shape;658;p5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659" name="Google Shape;659;p5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660" name="Google Shape;660;p5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1" name="Google Shape;661;p5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2" name="Google Shape;662;p5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663" name="Google Shape;663;p5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664" name="Google Shape;664;p50"/>
            <p:cNvCxnSpPr>
              <a:stCxn id="641" idx="5"/>
              <a:endCxn id="645" idx="1"/>
            </p:cNvCxnSpPr>
            <p:nvPr/>
          </p:nvCxnSpPr>
          <p:spPr>
            <a:xfrm>
              <a:off x="801092" y="3413957"/>
              <a:ext cx="578400" cy="738300"/>
            </a:xfrm>
            <a:prstGeom prst="straightConnector1">
              <a:avLst/>
            </a:prstGeom>
            <a:noFill/>
            <a:ln w="19050" cap="flat" cmpd="sng">
              <a:solidFill>
                <a:srgbClr val="FFFFFF"/>
              </a:solidFill>
              <a:prstDash val="solid"/>
              <a:round/>
              <a:headEnd type="none" w="med" len="med"/>
              <a:tailEnd type="none" w="med" len="med"/>
            </a:ln>
          </p:spPr>
        </p:cxnSp>
        <p:sp>
          <p:nvSpPr>
            <p:cNvPr id="665" name="Google Shape;665;p5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666" name="Google Shape;666;p50"/>
          <p:cNvSpPr txBox="1">
            <a:spLocks noGrp="1"/>
          </p:cNvSpPr>
          <p:nvPr>
            <p:ph type="body" idx="3"/>
          </p:nvPr>
        </p:nvSpPr>
        <p:spPr>
          <a:xfrm>
            <a:off x="5192225" y="4269592"/>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Next, we will focus on finding the path with the </a:t>
            </a:r>
            <a:r>
              <a:rPr lang="en" b="1" i="1">
                <a:solidFill>
                  <a:srgbClr val="FF0000"/>
                </a:solidFill>
              </a:rPr>
              <a:t>lowest cost</a:t>
            </a:r>
            <a:r>
              <a:rPr lang="en">
                <a:solidFill>
                  <a:srgbClr val="FF0000"/>
                </a:solidFill>
              </a:rPr>
              <a:t> </a:t>
            </a:r>
            <a:r>
              <a:rPr lang="en"/>
              <a:t>even if it means that it includes </a:t>
            </a:r>
            <a:r>
              <a:rPr lang="en" b="1" i="1">
                <a:solidFill>
                  <a:srgbClr val="FF0000"/>
                </a:solidFill>
              </a:rPr>
              <a:t>more edges</a:t>
            </a:r>
            <a:r>
              <a:rPr lang="en"/>
              <a:t>.</a:t>
            </a:r>
            <a:endParaRPr/>
          </a:p>
        </p:txBody>
      </p:sp>
      <p:grpSp>
        <p:nvGrpSpPr>
          <p:cNvPr id="667" name="Google Shape;667;p50"/>
          <p:cNvGrpSpPr/>
          <p:nvPr/>
        </p:nvGrpSpPr>
        <p:grpSpPr>
          <a:xfrm>
            <a:off x="5958846" y="1388429"/>
            <a:ext cx="1750461" cy="1697911"/>
            <a:chOff x="609191" y="2157567"/>
            <a:chExt cx="2254005" cy="2186339"/>
          </a:xfrm>
        </p:grpSpPr>
        <p:cxnSp>
          <p:nvCxnSpPr>
            <p:cNvPr id="668" name="Google Shape;668;p50"/>
            <p:cNvCxnSpPr/>
            <p:nvPr/>
          </p:nvCxnSpPr>
          <p:spPr>
            <a:xfrm flipH="1">
              <a:off x="609191" y="2157567"/>
              <a:ext cx="149700" cy="793500"/>
            </a:xfrm>
            <a:prstGeom prst="straightConnector1">
              <a:avLst/>
            </a:prstGeom>
            <a:noFill/>
            <a:ln w="28575" cap="flat" cmpd="sng">
              <a:solidFill>
                <a:srgbClr val="E06666"/>
              </a:solidFill>
              <a:prstDash val="solid"/>
              <a:round/>
              <a:headEnd type="none" w="med" len="med"/>
              <a:tailEnd type="stealth" w="med" len="med"/>
            </a:ln>
          </p:spPr>
        </p:cxnSp>
        <p:cxnSp>
          <p:nvCxnSpPr>
            <p:cNvPr id="669" name="Google Shape;669;p50"/>
            <p:cNvCxnSpPr/>
            <p:nvPr/>
          </p:nvCxnSpPr>
          <p:spPr>
            <a:xfrm>
              <a:off x="1842597" y="4343907"/>
              <a:ext cx="1020600" cy="0"/>
            </a:xfrm>
            <a:prstGeom prst="straightConnector1">
              <a:avLst/>
            </a:prstGeom>
            <a:noFill/>
            <a:ln w="28575" cap="flat" cmpd="sng">
              <a:solidFill>
                <a:srgbClr val="E06666"/>
              </a:solidFill>
              <a:prstDash val="solid"/>
              <a:round/>
              <a:headEnd type="none" w="med" len="med"/>
              <a:tailEnd type="stealth" w="med" len="med"/>
            </a:ln>
          </p:spPr>
        </p:cxnSp>
        <p:cxnSp>
          <p:nvCxnSpPr>
            <p:cNvPr id="670" name="Google Shape;670;p50"/>
            <p:cNvCxnSpPr/>
            <p:nvPr/>
          </p:nvCxnSpPr>
          <p:spPr>
            <a:xfrm>
              <a:off x="801092" y="3413957"/>
              <a:ext cx="578400" cy="738300"/>
            </a:xfrm>
            <a:prstGeom prst="straightConnector1">
              <a:avLst/>
            </a:prstGeom>
            <a:noFill/>
            <a:ln w="28575" cap="flat" cmpd="sng">
              <a:solidFill>
                <a:srgbClr val="E06666"/>
              </a:solidFill>
              <a:prstDash val="solid"/>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37"/>
                                        </p:tgtEl>
                                        <p:attrNameLst>
                                          <p:attrName>style.visibility</p:attrName>
                                        </p:attrNameLst>
                                      </p:cBhvr>
                                      <p:to>
                                        <p:strVal val="visible"/>
                                      </p:to>
                                    </p:set>
                                    <p:animEffect transition="in" filter="fade">
                                      <p:cBhvr>
                                        <p:cTn id="51" dur="1000"/>
                                        <p:tgtEl>
                                          <p:spTgt spid="637"/>
                                        </p:tgtEl>
                                      </p:cBhvr>
                                    </p:animEffect>
                                  </p:childTnLst>
                                </p:cTn>
                              </p:par>
                              <p:par>
                                <p:cTn id="52" presetID="10" presetClass="entr" presetSubtype="0" fill="hold" nodeType="withEffect">
                                  <p:stCondLst>
                                    <p:cond delay="0"/>
                                  </p:stCondLst>
                                  <p:childTnLst>
                                    <p:set>
                                      <p:cBhvr>
                                        <p:cTn id="53" dur="1" fill="hold">
                                          <p:stCondLst>
                                            <p:cond delay="0"/>
                                          </p:stCondLst>
                                        </p:cTn>
                                        <p:tgtEl>
                                          <p:spTgt spid="638"/>
                                        </p:tgtEl>
                                        <p:attrNameLst>
                                          <p:attrName>style.visibility</p:attrName>
                                        </p:attrNameLst>
                                      </p:cBhvr>
                                      <p:to>
                                        <p:strVal val="visible"/>
                                      </p:to>
                                    </p:set>
                                    <p:animEffect transition="in" filter="fade">
                                      <p:cBhvr>
                                        <p:cTn id="54" dur="1000"/>
                                        <p:tgtEl>
                                          <p:spTgt spid="63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666"/>
                                        </p:tgtEl>
                                        <p:attrNameLst>
                                          <p:attrName>style.visibility</p:attrName>
                                        </p:attrNameLst>
                                      </p:cBhvr>
                                      <p:to>
                                        <p:strVal val="visible"/>
                                      </p:to>
                                    </p:set>
                                    <p:animEffect transition="in" filter="fade">
                                      <p:cBhvr>
                                        <p:cTn id="59" dur="1000"/>
                                        <p:tgtEl>
                                          <p:spTgt spid="66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667"/>
                                        </p:tgtEl>
                                        <p:attrNameLst>
                                          <p:attrName>style.visibility</p:attrName>
                                        </p:attrNameLst>
                                      </p:cBhvr>
                                      <p:to>
                                        <p:strVal val="visible"/>
                                      </p:to>
                                    </p:set>
                                    <p:animEffect transition="in" filter="fade">
                                      <p:cBhvr>
                                        <p:cTn id="63" dur="1000"/>
                                        <p:tgtEl>
                                          <p:spTgt spid="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76" name="Google Shape;676;p51"/>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Dijkstra's Algorithm</a:t>
            </a:r>
            <a:endParaRPr sz="2700"/>
          </a:p>
        </p:txBody>
      </p:sp>
      <p:sp>
        <p:nvSpPr>
          <p:cNvPr id="677" name="Google Shape;677;p51"/>
          <p:cNvSpPr txBox="1">
            <a:spLocks noGrp="1"/>
          </p:cNvSpPr>
          <p:nvPr>
            <p:ph type="body" idx="1"/>
          </p:nvPr>
        </p:nvSpPr>
        <p:spPr>
          <a:xfrm>
            <a:off x="254625" y="119925"/>
            <a:ext cx="4503900" cy="4612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An </a:t>
            </a:r>
            <a:r>
              <a:rPr lang="en" b="1" i="1" dirty="0">
                <a:solidFill>
                  <a:srgbClr val="FF0000"/>
                </a:solidFill>
              </a:rPr>
              <a:t>optimal</a:t>
            </a:r>
            <a:r>
              <a:rPr lang="en" dirty="0">
                <a:solidFill>
                  <a:srgbClr val="FF0000"/>
                </a:solidFill>
              </a:rPr>
              <a:t> </a:t>
            </a:r>
            <a:r>
              <a:rPr lang="en" dirty="0"/>
              <a:t>path</a:t>
            </a:r>
            <a:r>
              <a:rPr lang="en" dirty="0">
                <a:solidFill>
                  <a:srgbClr val="FF0000"/>
                </a:solidFill>
              </a:rPr>
              <a:t> </a:t>
            </a:r>
            <a:r>
              <a:rPr lang="en" b="1" i="1" dirty="0">
                <a:solidFill>
                  <a:srgbClr val="FF0000"/>
                </a:solidFill>
              </a:rPr>
              <a:t>P</a:t>
            </a:r>
            <a:r>
              <a:rPr lang="en" dirty="0"/>
              <a:t> between two vertices</a:t>
            </a:r>
            <a:r>
              <a:rPr lang="en" dirty="0">
                <a:solidFill>
                  <a:srgbClr val="FF0000"/>
                </a:solidFill>
              </a:rPr>
              <a:t> </a:t>
            </a:r>
            <a:r>
              <a:rPr lang="en" b="1" i="1" dirty="0">
                <a:solidFill>
                  <a:srgbClr val="FF0000"/>
                </a:solidFill>
              </a:rPr>
              <a:t>S</a:t>
            </a:r>
            <a:r>
              <a:rPr lang="en" i="1" dirty="0">
                <a:solidFill>
                  <a:srgbClr val="FF0000"/>
                </a:solidFill>
              </a:rPr>
              <a:t> </a:t>
            </a:r>
            <a:r>
              <a:rPr lang="en" dirty="0"/>
              <a:t>and</a:t>
            </a:r>
            <a:r>
              <a:rPr lang="en" dirty="0">
                <a:solidFill>
                  <a:srgbClr val="FF0000"/>
                </a:solidFill>
              </a:rPr>
              <a:t> </a:t>
            </a:r>
            <a:r>
              <a:rPr lang="en" b="1" i="1" dirty="0">
                <a:solidFill>
                  <a:srgbClr val="FF0000"/>
                </a:solidFill>
              </a:rPr>
              <a:t>E</a:t>
            </a:r>
            <a:r>
              <a:rPr lang="en" dirty="0">
                <a:solidFill>
                  <a:srgbClr val="FF0000"/>
                </a:solidFill>
              </a:rPr>
              <a:t> </a:t>
            </a:r>
            <a:r>
              <a:rPr lang="en" dirty="0"/>
              <a:t>comprises edges that may be numbered from </a:t>
            </a:r>
            <a:r>
              <a:rPr lang="en" b="1" i="1" dirty="0">
                <a:solidFill>
                  <a:srgbClr val="FF0000"/>
                </a:solidFill>
              </a:rPr>
              <a:t>0 to N</a:t>
            </a:r>
            <a:r>
              <a:rPr lang="en" dirty="0"/>
              <a:t>.</a:t>
            </a:r>
            <a:endParaRPr dirty="0"/>
          </a:p>
          <a:p>
            <a:pPr marL="457200" lvl="0" indent="-311150" algn="l" rtl="0">
              <a:lnSpc>
                <a:spcPct val="100000"/>
              </a:lnSpc>
              <a:spcBef>
                <a:spcPts val="1000"/>
              </a:spcBef>
              <a:spcAft>
                <a:spcPts val="0"/>
              </a:spcAft>
              <a:buSzPts val="1300"/>
              <a:buChar char="●"/>
            </a:pPr>
            <a:r>
              <a:rPr lang="en" dirty="0"/>
              <a:t>Let </a:t>
            </a:r>
            <a:r>
              <a:rPr lang="en" b="1" i="1" dirty="0">
                <a:solidFill>
                  <a:srgbClr val="FF0000"/>
                </a:solidFill>
              </a:rPr>
              <a:t>P'</a:t>
            </a:r>
            <a:r>
              <a:rPr lang="en" dirty="0">
                <a:solidFill>
                  <a:srgbClr val="FF0000"/>
                </a:solidFill>
              </a:rPr>
              <a:t> </a:t>
            </a:r>
            <a:r>
              <a:rPr lang="en" dirty="0"/>
              <a:t>be the </a:t>
            </a:r>
            <a:r>
              <a:rPr lang="en" b="1" i="1" dirty="0">
                <a:solidFill>
                  <a:srgbClr val="FF0000"/>
                </a:solidFill>
              </a:rPr>
              <a:t>subpath</a:t>
            </a:r>
            <a:r>
              <a:rPr lang="en" dirty="0"/>
              <a:t> of </a:t>
            </a:r>
            <a:r>
              <a:rPr lang="en" b="1" i="1" dirty="0">
                <a:solidFill>
                  <a:srgbClr val="FF0000"/>
                </a:solidFill>
              </a:rPr>
              <a:t>P</a:t>
            </a:r>
            <a:r>
              <a:rPr lang="en" dirty="0"/>
              <a:t> that comprises the edges numbered </a:t>
            </a:r>
            <a:r>
              <a:rPr lang="en" b="1" i="1" dirty="0">
                <a:solidFill>
                  <a:srgbClr val="FF0000"/>
                </a:solidFill>
              </a:rPr>
              <a:t>0 to N-1</a:t>
            </a:r>
            <a:r>
              <a:rPr lang="en" dirty="0"/>
              <a:t> that ends at some vertex </a:t>
            </a:r>
            <a:r>
              <a:rPr lang="en" b="1" i="1" dirty="0">
                <a:solidFill>
                  <a:srgbClr val="FF0000"/>
                </a:solidFill>
              </a:rPr>
              <a:t>E'</a:t>
            </a:r>
            <a:r>
              <a:rPr lang="en" dirty="0"/>
              <a:t>.</a:t>
            </a:r>
            <a:endParaRPr dirty="0"/>
          </a:p>
          <a:p>
            <a:pPr marL="914400" lvl="1" indent="-298450" algn="l" rtl="0">
              <a:lnSpc>
                <a:spcPct val="100000"/>
              </a:lnSpc>
              <a:spcBef>
                <a:spcPts val="0"/>
              </a:spcBef>
              <a:spcAft>
                <a:spcPts val="0"/>
              </a:spcAft>
              <a:buSzPts val="1100"/>
              <a:buChar char="○"/>
            </a:pPr>
            <a:r>
              <a:rPr lang="en" dirty="0"/>
              <a:t>That is the subpath that contains all but the last edge of </a:t>
            </a:r>
            <a:r>
              <a:rPr lang="en" b="1" i="1" dirty="0">
                <a:solidFill>
                  <a:srgbClr val="FF0000"/>
                </a:solidFill>
              </a:rPr>
              <a:t>P</a:t>
            </a:r>
            <a:r>
              <a:rPr lang="en" dirty="0"/>
              <a:t> ending at the last vertex before </a:t>
            </a:r>
            <a:r>
              <a:rPr lang="en" b="1" i="1" dirty="0">
                <a:solidFill>
                  <a:srgbClr val="FF0000"/>
                </a:solidFill>
              </a:rPr>
              <a:t>E</a:t>
            </a:r>
            <a:r>
              <a:rPr lang="en" dirty="0"/>
              <a:t>.</a:t>
            </a:r>
            <a:endParaRPr dirty="0"/>
          </a:p>
          <a:p>
            <a:pPr marL="457200" lvl="0" indent="-311150" algn="l" rtl="0">
              <a:lnSpc>
                <a:spcPct val="100000"/>
              </a:lnSpc>
              <a:spcBef>
                <a:spcPts val="1000"/>
              </a:spcBef>
              <a:spcAft>
                <a:spcPts val="0"/>
              </a:spcAft>
              <a:buSzPts val="1300"/>
              <a:buChar char="●"/>
            </a:pPr>
            <a:r>
              <a:rPr lang="en" dirty="0"/>
              <a:t>If </a:t>
            </a:r>
            <a:r>
              <a:rPr lang="en" b="1" i="1" dirty="0">
                <a:solidFill>
                  <a:srgbClr val="FF0000"/>
                </a:solidFill>
              </a:rPr>
              <a:t>P</a:t>
            </a:r>
            <a:r>
              <a:rPr lang="en" b="1" i="1" dirty="0"/>
              <a:t> </a:t>
            </a:r>
            <a:r>
              <a:rPr lang="en" dirty="0"/>
              <a:t>is </a:t>
            </a:r>
            <a:r>
              <a:rPr lang="en" b="1" i="1" dirty="0">
                <a:solidFill>
                  <a:srgbClr val="FF0000"/>
                </a:solidFill>
              </a:rPr>
              <a:t>optimal</a:t>
            </a:r>
            <a:r>
              <a:rPr lang="en" dirty="0"/>
              <a:t>, then it must be true that </a:t>
            </a:r>
            <a:r>
              <a:rPr lang="en" b="1" i="1" dirty="0">
                <a:solidFill>
                  <a:srgbClr val="FF0000"/>
                </a:solidFill>
              </a:rPr>
              <a:t>P'</a:t>
            </a:r>
            <a:r>
              <a:rPr lang="en" b="1" i="1" dirty="0"/>
              <a:t> </a:t>
            </a:r>
            <a:r>
              <a:rPr lang="en" dirty="0"/>
              <a:t>is </a:t>
            </a:r>
            <a:r>
              <a:rPr lang="en" b="1" i="1" dirty="0">
                <a:solidFill>
                  <a:srgbClr val="FF0000"/>
                </a:solidFill>
              </a:rPr>
              <a:t>also optimal</a:t>
            </a:r>
            <a:r>
              <a:rPr lang="en" dirty="0"/>
              <a:t>.</a:t>
            </a:r>
            <a:endParaRPr dirty="0"/>
          </a:p>
          <a:p>
            <a:pPr marL="914400" lvl="1" indent="-298450" algn="l" rtl="0">
              <a:lnSpc>
                <a:spcPct val="100000"/>
              </a:lnSpc>
              <a:spcBef>
                <a:spcPts val="0"/>
              </a:spcBef>
              <a:spcAft>
                <a:spcPts val="0"/>
              </a:spcAft>
              <a:buSzPts val="1100"/>
              <a:buChar char="○"/>
            </a:pPr>
            <a:r>
              <a:rPr lang="en" dirty="0">
                <a:highlight>
                  <a:srgbClr val="FFFF00"/>
                </a:highlight>
              </a:rPr>
              <a:t>That is to say that there </a:t>
            </a:r>
            <a:r>
              <a:rPr lang="en" b="1" i="1" dirty="0">
                <a:solidFill>
                  <a:srgbClr val="FF0000"/>
                </a:solidFill>
                <a:highlight>
                  <a:srgbClr val="FFFF00"/>
                </a:highlight>
              </a:rPr>
              <a:t>cannot</a:t>
            </a:r>
            <a:r>
              <a:rPr lang="en" dirty="0">
                <a:highlight>
                  <a:srgbClr val="FFFF00"/>
                </a:highlight>
              </a:rPr>
              <a:t> be some other path from </a:t>
            </a:r>
            <a:r>
              <a:rPr lang="en" b="1" i="1" dirty="0">
                <a:solidFill>
                  <a:srgbClr val="FF0000"/>
                </a:solidFill>
                <a:highlight>
                  <a:srgbClr val="FFFF00"/>
                </a:highlight>
              </a:rPr>
              <a:t>S</a:t>
            </a:r>
            <a:r>
              <a:rPr lang="en" dirty="0">
                <a:highlight>
                  <a:srgbClr val="FFFF00"/>
                </a:highlight>
              </a:rPr>
              <a:t> to </a:t>
            </a:r>
            <a:r>
              <a:rPr lang="en" b="1" i="1" dirty="0">
                <a:solidFill>
                  <a:srgbClr val="FF0000"/>
                </a:solidFill>
                <a:highlight>
                  <a:srgbClr val="FFFF00"/>
                </a:highlight>
              </a:rPr>
              <a:t>E'</a:t>
            </a:r>
            <a:r>
              <a:rPr lang="en" dirty="0">
                <a:highlight>
                  <a:srgbClr val="FFFF00"/>
                </a:highlight>
              </a:rPr>
              <a:t> that is shorter than </a:t>
            </a:r>
            <a:r>
              <a:rPr lang="en" b="1" i="1" dirty="0">
                <a:solidFill>
                  <a:srgbClr val="FF0000"/>
                </a:solidFill>
                <a:highlight>
                  <a:srgbClr val="FFFF00"/>
                </a:highlight>
              </a:rPr>
              <a:t>P'</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If there were such a shorter path, then </a:t>
            </a:r>
            <a:r>
              <a:rPr lang="en" b="1" i="1" dirty="0">
                <a:solidFill>
                  <a:srgbClr val="FF0000"/>
                </a:solidFill>
                <a:highlight>
                  <a:srgbClr val="FFFF00"/>
                </a:highlight>
              </a:rPr>
              <a:t>P</a:t>
            </a:r>
            <a:r>
              <a:rPr lang="en" dirty="0">
                <a:highlight>
                  <a:srgbClr val="FFFF00"/>
                </a:highlight>
              </a:rPr>
              <a:t> could not be optimal.</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It must also be true that the path </a:t>
            </a:r>
            <a:r>
              <a:rPr lang="en" b="1" i="1" dirty="0">
                <a:solidFill>
                  <a:srgbClr val="FF0000"/>
                </a:solidFill>
              </a:rPr>
              <a:t>P''</a:t>
            </a:r>
            <a:r>
              <a:rPr lang="en" dirty="0"/>
              <a:t> that comprises the edges </a:t>
            </a:r>
            <a:r>
              <a:rPr lang="en" b="1" i="1" dirty="0">
                <a:solidFill>
                  <a:srgbClr val="FF0000"/>
                </a:solidFill>
              </a:rPr>
              <a:t>0 to N-2</a:t>
            </a:r>
            <a:r>
              <a:rPr lang="en" dirty="0"/>
              <a:t> and ends at vertex </a:t>
            </a:r>
            <a:r>
              <a:rPr lang="en" b="1" i="1" dirty="0">
                <a:solidFill>
                  <a:srgbClr val="FF0000"/>
                </a:solidFill>
              </a:rPr>
              <a:t>E''</a:t>
            </a:r>
            <a:r>
              <a:rPr lang="en" dirty="0"/>
              <a:t> is also optimal.</a:t>
            </a:r>
            <a:endParaRPr dirty="0"/>
          </a:p>
          <a:p>
            <a:pPr marL="914400" lvl="1" indent="-298450" algn="l" rtl="0">
              <a:lnSpc>
                <a:spcPct val="100000"/>
              </a:lnSpc>
              <a:spcBef>
                <a:spcPts val="0"/>
              </a:spcBef>
              <a:spcAft>
                <a:spcPts val="0"/>
              </a:spcAft>
              <a:buSzPts val="1100"/>
              <a:buChar char="○"/>
            </a:pPr>
            <a:r>
              <a:rPr lang="en" dirty="0"/>
              <a:t>And so on.</a:t>
            </a:r>
            <a:endParaRPr dirty="0"/>
          </a:p>
          <a:p>
            <a:pPr marL="457200" lvl="0" indent="-311150" algn="l" rtl="0">
              <a:lnSpc>
                <a:spcPct val="100000"/>
              </a:lnSpc>
              <a:spcBef>
                <a:spcPts val="1000"/>
              </a:spcBef>
              <a:spcAft>
                <a:spcPts val="0"/>
              </a:spcAft>
              <a:buSzPts val="1300"/>
              <a:buChar char="●"/>
            </a:pPr>
            <a:r>
              <a:rPr lang="en" dirty="0"/>
              <a:t>OK, so what?</a:t>
            </a:r>
            <a:endParaRPr dirty="0"/>
          </a:p>
          <a:p>
            <a:pPr marL="457200" lvl="0" indent="-311150" algn="l" rtl="0">
              <a:lnSpc>
                <a:spcPct val="100000"/>
              </a:lnSpc>
              <a:spcBef>
                <a:spcPts val="1000"/>
              </a:spcBef>
              <a:spcAft>
                <a:spcPts val="0"/>
              </a:spcAft>
              <a:buSzPts val="1300"/>
              <a:buChar char="●"/>
            </a:pPr>
            <a:r>
              <a:rPr lang="en" dirty="0">
                <a:highlight>
                  <a:srgbClr val="FFFF00"/>
                </a:highlight>
              </a:rPr>
              <a:t>If we can methodically work through the graph and keep track of the shortest path from </a:t>
            </a:r>
            <a:r>
              <a:rPr lang="en" b="1" i="1" dirty="0">
                <a:solidFill>
                  <a:srgbClr val="FF0000"/>
                </a:solidFill>
                <a:highlight>
                  <a:srgbClr val="FFFF00"/>
                </a:highlight>
              </a:rPr>
              <a:t>S</a:t>
            </a:r>
            <a:r>
              <a:rPr lang="en" i="1" dirty="0">
                <a:highlight>
                  <a:srgbClr val="FFFF00"/>
                </a:highlight>
              </a:rPr>
              <a:t> </a:t>
            </a:r>
            <a:r>
              <a:rPr lang="en" dirty="0">
                <a:highlight>
                  <a:srgbClr val="FFFF00"/>
                </a:highlight>
              </a:rPr>
              <a:t>to </a:t>
            </a:r>
            <a:r>
              <a:rPr lang="en" b="1" i="1" dirty="0">
                <a:solidFill>
                  <a:srgbClr val="FF0000"/>
                </a:solidFill>
                <a:highlight>
                  <a:srgbClr val="FFFF00"/>
                </a:highlight>
              </a:rPr>
              <a:t>every other vertex</a:t>
            </a:r>
            <a:r>
              <a:rPr lang="en" dirty="0">
                <a:highlight>
                  <a:srgbClr val="FFFF00"/>
                </a:highlight>
              </a:rPr>
              <a:t>, we can find </a:t>
            </a:r>
            <a:r>
              <a:rPr lang="en" b="1" i="1" dirty="0">
                <a:solidFill>
                  <a:srgbClr val="FF0000"/>
                </a:solidFill>
                <a:highlight>
                  <a:srgbClr val="FFFF00"/>
                </a:highlight>
              </a:rPr>
              <a:t>all</a:t>
            </a:r>
            <a:r>
              <a:rPr lang="en" dirty="0">
                <a:highlight>
                  <a:srgbClr val="FFFF00"/>
                </a:highlight>
              </a:rPr>
              <a:t> of the shortest paths!</a:t>
            </a:r>
            <a:endParaRPr dirty="0">
              <a:highlight>
                <a:srgbClr val="FFFF00"/>
              </a:highlight>
            </a:endParaRPr>
          </a:p>
        </p:txBody>
      </p:sp>
      <p:sp>
        <p:nvSpPr>
          <p:cNvPr id="678" name="Google Shape;678;p51"/>
          <p:cNvSpPr txBox="1">
            <a:spLocks noGrp="1"/>
          </p:cNvSpPr>
          <p:nvPr>
            <p:ph type="body" idx="3"/>
          </p:nvPr>
        </p:nvSpPr>
        <p:spPr>
          <a:xfrm>
            <a:off x="5192225" y="4504250"/>
            <a:ext cx="3706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His last name is pronounced like “</a:t>
            </a:r>
            <a:r>
              <a:rPr lang="en" u="sng">
                <a:solidFill>
                  <a:schemeClr val="hlink"/>
                </a:solidFill>
                <a:hlinkClick r:id="rId3"/>
              </a:rPr>
              <a:t>Dike-stra</a:t>
            </a:r>
            <a:r>
              <a:rPr lang="en"/>
              <a:t>.”</a:t>
            </a:r>
            <a:endParaRPr/>
          </a:p>
        </p:txBody>
      </p:sp>
      <p:pic>
        <p:nvPicPr>
          <p:cNvPr id="679" name="Google Shape;679;p51"/>
          <p:cNvPicPr preferRelativeResize="0"/>
          <p:nvPr/>
        </p:nvPicPr>
        <p:blipFill>
          <a:blip r:embed="rId4">
            <a:alphaModFix/>
          </a:blip>
          <a:stretch>
            <a:fillRect/>
          </a:stretch>
        </p:blipFill>
        <p:spPr>
          <a:xfrm>
            <a:off x="5737425" y="1573850"/>
            <a:ext cx="2608700" cy="2791300"/>
          </a:xfrm>
          <a:prstGeom prst="rect">
            <a:avLst/>
          </a:prstGeom>
          <a:noFill/>
          <a:ln w="19050" cap="flat" cmpd="sng">
            <a:solidFill>
              <a:srgbClr val="000000"/>
            </a:solidFill>
            <a:prstDash val="solid"/>
            <a:round/>
            <a:headEnd type="none" w="sm" len="sm"/>
            <a:tailEnd type="none" w="sm" len="sm"/>
          </a:ln>
        </p:spPr>
      </p:pic>
      <p:sp>
        <p:nvSpPr>
          <p:cNvPr id="680" name="Google Shape;680;p51"/>
          <p:cNvSpPr/>
          <p:nvPr/>
        </p:nvSpPr>
        <p:spPr>
          <a:xfrm>
            <a:off x="6342625" y="801894"/>
            <a:ext cx="2608800" cy="1036800"/>
          </a:xfrm>
          <a:prstGeom prst="wedgeRectCallout">
            <a:avLst>
              <a:gd name="adj1" fmla="val 5166"/>
              <a:gd name="adj2" fmla="val 8197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If debugging is the process of removing bugs, then programming must be the process of putting them in.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8"/>
                                        </p:tgtEl>
                                        <p:attrNameLst>
                                          <p:attrName>style.visibility</p:attrName>
                                        </p:attrNameLst>
                                      </p:cBhvr>
                                      <p:to>
                                        <p:strVal val="visible"/>
                                      </p:to>
                                    </p:set>
                                    <p:animEffect transition="in" filter="fade">
                                      <p:cBhvr>
                                        <p:cTn id="47" dur="1000"/>
                                        <p:tgtEl>
                                          <p:spTgt spid="678"/>
                                        </p:tgtEl>
                                      </p:cBhvr>
                                    </p:animEffect>
                                  </p:childTnLst>
                                </p:cTn>
                              </p:par>
                              <p:par>
                                <p:cTn id="48" presetID="10" presetClass="entr" presetSubtype="0" fill="hold" nodeType="withEffect">
                                  <p:stCondLst>
                                    <p:cond delay="0"/>
                                  </p:stCondLst>
                                  <p:childTnLst>
                                    <p:set>
                                      <p:cBhvr>
                                        <p:cTn id="49" dur="1" fill="hold">
                                          <p:stCondLst>
                                            <p:cond delay="0"/>
                                          </p:stCondLst>
                                        </p:cTn>
                                        <p:tgtEl>
                                          <p:spTgt spid="679"/>
                                        </p:tgtEl>
                                        <p:attrNameLst>
                                          <p:attrName>style.visibility</p:attrName>
                                        </p:attrNameLst>
                                      </p:cBhvr>
                                      <p:to>
                                        <p:strVal val="visible"/>
                                      </p:to>
                                    </p:set>
                                    <p:animEffect transition="in" filter="fade">
                                      <p:cBhvr>
                                        <p:cTn id="50" dur="1000"/>
                                        <p:tgtEl>
                                          <p:spTgt spid="67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80"/>
                                        </p:tgtEl>
                                        <p:attrNameLst>
                                          <p:attrName>style.visibility</p:attrName>
                                        </p:attrNameLst>
                                      </p:cBhvr>
                                      <p:to>
                                        <p:strVal val="visible"/>
                                      </p:to>
                                    </p:set>
                                    <p:animEffect transition="in" filter="fade">
                                      <p:cBhvr>
                                        <p:cTn id="55"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 in a Nutshell</a:t>
            </a:r>
            <a:endParaRPr/>
          </a:p>
        </p:txBody>
      </p:sp>
      <p:sp>
        <p:nvSpPr>
          <p:cNvPr id="686" name="Google Shape;686;p52"/>
          <p:cNvSpPr txBox="1">
            <a:spLocks noGrp="1"/>
          </p:cNvSpPr>
          <p:nvPr>
            <p:ph type="sldNum" idx="12"/>
          </p:nvPr>
        </p:nvSpPr>
        <p:spPr>
          <a:xfrm>
            <a:off x="8562429" y="471876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grpSp>
        <p:nvGrpSpPr>
          <p:cNvPr id="687" name="Google Shape;687;p52"/>
          <p:cNvGrpSpPr/>
          <p:nvPr/>
        </p:nvGrpSpPr>
        <p:grpSpPr>
          <a:xfrm>
            <a:off x="265825" y="3724007"/>
            <a:ext cx="5281800" cy="633600"/>
            <a:chOff x="1866025" y="2788950"/>
            <a:chExt cx="5281800" cy="633600"/>
          </a:xfrm>
        </p:grpSpPr>
        <p:sp>
          <p:nvSpPr>
            <p:cNvPr id="688" name="Google Shape;688;p52"/>
            <p:cNvSpPr/>
            <p:nvPr/>
          </p:nvSpPr>
          <p:spPr>
            <a:xfrm>
              <a:off x="1866025" y="2788950"/>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S</a:t>
              </a:r>
              <a:endParaRPr sz="2400">
                <a:solidFill>
                  <a:srgbClr val="FFFFFF"/>
                </a:solidFill>
              </a:endParaRPr>
            </a:p>
          </p:txBody>
        </p:sp>
        <p:sp>
          <p:nvSpPr>
            <p:cNvPr id="689" name="Google Shape;689;p52"/>
            <p:cNvSpPr/>
            <p:nvPr/>
          </p:nvSpPr>
          <p:spPr>
            <a:xfrm>
              <a:off x="6514225" y="2788950"/>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E</a:t>
              </a:r>
              <a:endParaRPr sz="2400">
                <a:solidFill>
                  <a:srgbClr val="FFFFFF"/>
                </a:solidFill>
              </a:endParaRPr>
            </a:p>
          </p:txBody>
        </p:sp>
      </p:grpSp>
      <p:sp>
        <p:nvSpPr>
          <p:cNvPr id="690" name="Google Shape;690;p52"/>
          <p:cNvSpPr/>
          <p:nvPr/>
        </p:nvSpPr>
        <p:spPr>
          <a:xfrm>
            <a:off x="3264600" y="3724007"/>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E'</a:t>
            </a:r>
            <a:endParaRPr sz="2400">
              <a:solidFill>
                <a:srgbClr val="FFFFFF"/>
              </a:solidFill>
            </a:endParaRPr>
          </a:p>
        </p:txBody>
      </p:sp>
      <p:sp>
        <p:nvSpPr>
          <p:cNvPr id="691" name="Google Shape;691;p52"/>
          <p:cNvSpPr txBox="1"/>
          <p:nvPr/>
        </p:nvSpPr>
        <p:spPr>
          <a:xfrm>
            <a:off x="262925" y="1448625"/>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Assume that you are trying to find the </a:t>
            </a:r>
            <a:r>
              <a:rPr lang="en" sz="1200" b="1" i="1" dirty="0">
                <a:solidFill>
                  <a:srgbClr val="FF0000"/>
                </a:solidFill>
              </a:rPr>
              <a:t>optimal path</a:t>
            </a:r>
            <a:r>
              <a:rPr lang="en" sz="1200" i="1" dirty="0"/>
              <a:t> </a:t>
            </a:r>
            <a:r>
              <a:rPr lang="en" sz="1200" dirty="0"/>
              <a:t>from </a:t>
            </a:r>
            <a:r>
              <a:rPr lang="en" sz="1200" b="1" i="1" dirty="0">
                <a:solidFill>
                  <a:srgbClr val="FF0000"/>
                </a:solidFill>
              </a:rPr>
              <a:t>S</a:t>
            </a:r>
            <a:r>
              <a:rPr lang="en" sz="1200" dirty="0"/>
              <a:t> to </a:t>
            </a:r>
            <a:r>
              <a:rPr lang="en" sz="1200" b="1" i="1" dirty="0">
                <a:solidFill>
                  <a:srgbClr val="FF0000"/>
                </a:solidFill>
              </a:rPr>
              <a:t>E</a:t>
            </a:r>
            <a:r>
              <a:rPr lang="en" sz="1200" dirty="0"/>
              <a:t> in a weighted graph.</a:t>
            </a:r>
            <a:endParaRPr sz="1200" dirty="0"/>
          </a:p>
        </p:txBody>
      </p:sp>
      <p:sp>
        <p:nvSpPr>
          <p:cNvPr id="692" name="Google Shape;692;p52"/>
          <p:cNvSpPr txBox="1"/>
          <p:nvPr/>
        </p:nvSpPr>
        <p:spPr>
          <a:xfrm>
            <a:off x="262925" y="2335019"/>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second to last vertex on that path is </a:t>
            </a:r>
            <a:r>
              <a:rPr lang="en" sz="1200" b="1" i="1">
                <a:solidFill>
                  <a:srgbClr val="FF0000"/>
                </a:solidFill>
              </a:rPr>
              <a:t>E'</a:t>
            </a:r>
            <a:r>
              <a:rPr lang="en" sz="1200"/>
              <a:t> and the </a:t>
            </a:r>
            <a:r>
              <a:rPr lang="en" sz="1200" b="1" i="1">
                <a:solidFill>
                  <a:srgbClr val="FF0000"/>
                </a:solidFill>
              </a:rPr>
              <a:t>distance</a:t>
            </a:r>
            <a:r>
              <a:rPr lang="en" sz="1200"/>
              <a:t> between </a:t>
            </a:r>
            <a:r>
              <a:rPr lang="en" sz="1200" b="1" i="1">
                <a:solidFill>
                  <a:srgbClr val="FF0000"/>
                </a:solidFill>
              </a:rPr>
              <a:t>E'</a:t>
            </a:r>
            <a:r>
              <a:rPr lang="en" sz="1200"/>
              <a:t> and </a:t>
            </a:r>
            <a:r>
              <a:rPr lang="en" sz="1200" b="1" i="1">
                <a:solidFill>
                  <a:srgbClr val="FF0000"/>
                </a:solidFill>
              </a:rPr>
              <a:t>E</a:t>
            </a:r>
            <a:r>
              <a:rPr lang="en" sz="1200"/>
              <a:t> is</a:t>
            </a:r>
            <a:r>
              <a:rPr lang="en" sz="1200">
                <a:solidFill>
                  <a:srgbClr val="FF0000"/>
                </a:solidFill>
              </a:rPr>
              <a:t> </a:t>
            </a:r>
            <a:r>
              <a:rPr lang="en" sz="1200" b="1" i="1">
                <a:solidFill>
                  <a:srgbClr val="FF0000"/>
                </a:solidFill>
              </a:rPr>
              <a:t>C</a:t>
            </a:r>
            <a:r>
              <a:rPr lang="en" sz="1200"/>
              <a:t>.</a:t>
            </a:r>
            <a:endParaRPr sz="1200"/>
          </a:p>
        </p:txBody>
      </p:sp>
      <p:grpSp>
        <p:nvGrpSpPr>
          <p:cNvPr id="693" name="Google Shape;693;p52"/>
          <p:cNvGrpSpPr/>
          <p:nvPr/>
        </p:nvGrpSpPr>
        <p:grpSpPr>
          <a:xfrm>
            <a:off x="3905570" y="3672139"/>
            <a:ext cx="1015800" cy="400200"/>
            <a:chOff x="5346025" y="3367339"/>
            <a:chExt cx="1015800" cy="400200"/>
          </a:xfrm>
        </p:grpSpPr>
        <p:cxnSp>
          <p:nvCxnSpPr>
            <p:cNvPr id="694" name="Google Shape;694;p52"/>
            <p:cNvCxnSpPr/>
            <p:nvPr/>
          </p:nvCxnSpPr>
          <p:spPr>
            <a:xfrm>
              <a:off x="5346025" y="3736007"/>
              <a:ext cx="1015800" cy="0"/>
            </a:xfrm>
            <a:prstGeom prst="straightConnector1">
              <a:avLst/>
            </a:prstGeom>
            <a:noFill/>
            <a:ln w="28575" cap="flat" cmpd="sng">
              <a:solidFill>
                <a:srgbClr val="0000FF"/>
              </a:solidFill>
              <a:prstDash val="solid"/>
              <a:round/>
              <a:headEnd type="none" w="med" len="med"/>
              <a:tailEnd type="none" w="med" len="med"/>
            </a:ln>
          </p:spPr>
        </p:cxnSp>
        <p:sp>
          <p:nvSpPr>
            <p:cNvPr id="695" name="Google Shape;695;p52"/>
            <p:cNvSpPr txBox="1"/>
            <p:nvPr/>
          </p:nvSpPr>
          <p:spPr>
            <a:xfrm>
              <a:off x="5661054" y="3367339"/>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grpSp>
      <p:grpSp>
        <p:nvGrpSpPr>
          <p:cNvPr id="696" name="Google Shape;696;p52"/>
          <p:cNvGrpSpPr/>
          <p:nvPr/>
        </p:nvGrpSpPr>
        <p:grpSpPr>
          <a:xfrm>
            <a:off x="806636" y="3138739"/>
            <a:ext cx="2550900" cy="678656"/>
            <a:chOff x="806636" y="3138739"/>
            <a:chExt cx="2550900" cy="678656"/>
          </a:xfrm>
        </p:grpSpPr>
        <p:cxnSp>
          <p:nvCxnSpPr>
            <p:cNvPr id="697" name="Google Shape;697;p52"/>
            <p:cNvCxnSpPr>
              <a:stCxn id="688" idx="7"/>
              <a:endCxn id="690" idx="1"/>
            </p:cNvCxnSpPr>
            <p:nvPr/>
          </p:nvCxnSpPr>
          <p:spPr>
            <a:xfrm rot="-5400000" flipH="1">
              <a:off x="2081786" y="2541645"/>
              <a:ext cx="600" cy="2550900"/>
            </a:xfrm>
            <a:prstGeom prst="curvedConnector3">
              <a:avLst>
                <a:gd name="adj1" fmla="val -55152262"/>
              </a:avLst>
            </a:prstGeom>
            <a:noFill/>
            <a:ln w="19050" cap="flat" cmpd="sng">
              <a:solidFill>
                <a:srgbClr val="0000FF"/>
              </a:solidFill>
              <a:prstDash val="solid"/>
              <a:round/>
              <a:headEnd type="none" w="med" len="med"/>
              <a:tailEnd type="none" w="med" len="med"/>
            </a:ln>
          </p:spPr>
        </p:cxnSp>
        <p:sp>
          <p:nvSpPr>
            <p:cNvPr id="698" name="Google Shape;698;p52"/>
            <p:cNvSpPr txBox="1"/>
            <p:nvPr/>
          </p:nvSpPr>
          <p:spPr>
            <a:xfrm>
              <a:off x="1830397" y="3138739"/>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Q</a:t>
              </a:r>
              <a:endParaRPr>
                <a:latin typeface="Roboto"/>
                <a:ea typeface="Roboto"/>
                <a:cs typeface="Roboto"/>
                <a:sym typeface="Roboto"/>
              </a:endParaRPr>
            </a:p>
          </p:txBody>
        </p:sp>
      </p:grpSp>
      <p:grpSp>
        <p:nvGrpSpPr>
          <p:cNvPr id="699" name="Google Shape;699;p52"/>
          <p:cNvGrpSpPr/>
          <p:nvPr/>
        </p:nvGrpSpPr>
        <p:grpSpPr>
          <a:xfrm>
            <a:off x="806636" y="4264818"/>
            <a:ext cx="2550900" cy="666378"/>
            <a:chOff x="806636" y="4264818"/>
            <a:chExt cx="2550900" cy="666378"/>
          </a:xfrm>
        </p:grpSpPr>
        <p:cxnSp>
          <p:nvCxnSpPr>
            <p:cNvPr id="700" name="Google Shape;700;p52"/>
            <p:cNvCxnSpPr>
              <a:stCxn id="688" idx="5"/>
              <a:endCxn id="690" idx="3"/>
            </p:cNvCxnSpPr>
            <p:nvPr/>
          </p:nvCxnSpPr>
          <p:spPr>
            <a:xfrm rot="-5400000" flipH="1">
              <a:off x="2081786" y="2989668"/>
              <a:ext cx="600" cy="2550900"/>
            </a:xfrm>
            <a:prstGeom prst="curvedConnector3">
              <a:avLst>
                <a:gd name="adj1" fmla="val 55152262"/>
              </a:avLst>
            </a:prstGeom>
            <a:noFill/>
            <a:ln w="19050" cap="flat" cmpd="sng">
              <a:solidFill>
                <a:srgbClr val="0000FF"/>
              </a:solidFill>
              <a:prstDash val="solid"/>
              <a:round/>
              <a:headEnd type="none" w="med" len="med"/>
              <a:tailEnd type="none" w="med" len="med"/>
            </a:ln>
          </p:spPr>
        </p:cxnSp>
        <p:sp>
          <p:nvSpPr>
            <p:cNvPr id="701" name="Google Shape;701;p52"/>
            <p:cNvSpPr txBox="1"/>
            <p:nvPr/>
          </p:nvSpPr>
          <p:spPr>
            <a:xfrm>
              <a:off x="1830397" y="4530996"/>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a:t>
              </a:r>
              <a:endParaRPr>
                <a:latin typeface="Roboto"/>
                <a:ea typeface="Roboto"/>
                <a:cs typeface="Roboto"/>
                <a:sym typeface="Roboto"/>
              </a:endParaRPr>
            </a:p>
          </p:txBody>
        </p:sp>
      </p:grpSp>
      <p:sp>
        <p:nvSpPr>
          <p:cNvPr id="702" name="Google Shape;702;p52"/>
          <p:cNvSpPr txBox="1"/>
          <p:nvPr/>
        </p:nvSpPr>
        <p:spPr>
          <a:xfrm>
            <a:off x="3308225" y="1448625"/>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Now assume that there are </a:t>
            </a:r>
            <a:r>
              <a:rPr lang="en" sz="1200" b="1" i="1">
                <a:solidFill>
                  <a:srgbClr val="FF0000"/>
                </a:solidFill>
              </a:rPr>
              <a:t>exactly two</a:t>
            </a:r>
            <a:r>
              <a:rPr lang="en" sz="1200">
                <a:solidFill>
                  <a:srgbClr val="FF0000"/>
                </a:solidFill>
              </a:rPr>
              <a:t> </a:t>
            </a:r>
            <a:r>
              <a:rPr lang="en" sz="1200"/>
              <a:t>possible paths from </a:t>
            </a:r>
            <a:r>
              <a:rPr lang="en" sz="1200" b="1" i="1">
                <a:solidFill>
                  <a:srgbClr val="FF0000"/>
                </a:solidFill>
              </a:rPr>
              <a:t>S</a:t>
            </a:r>
            <a:r>
              <a:rPr lang="en" sz="1200"/>
              <a:t> to </a:t>
            </a:r>
            <a:r>
              <a:rPr lang="en" sz="1200" b="1" i="1">
                <a:solidFill>
                  <a:srgbClr val="FF0000"/>
                </a:solidFill>
              </a:rPr>
              <a:t>E'</a:t>
            </a:r>
            <a:r>
              <a:rPr lang="en" sz="1200"/>
              <a:t> the </a:t>
            </a:r>
            <a:r>
              <a:rPr lang="en" sz="1200" b="1" i="1">
                <a:solidFill>
                  <a:srgbClr val="FF0000"/>
                </a:solidFill>
              </a:rPr>
              <a:t>total distance</a:t>
            </a:r>
            <a:r>
              <a:rPr lang="en" sz="1200"/>
              <a:t> of which are </a:t>
            </a:r>
            <a:r>
              <a:rPr lang="en" sz="1200" b="1" i="1">
                <a:solidFill>
                  <a:srgbClr val="FF0000"/>
                </a:solidFill>
              </a:rPr>
              <a:t>Q</a:t>
            </a:r>
            <a:r>
              <a:rPr lang="en" sz="1200"/>
              <a:t> and </a:t>
            </a:r>
            <a:r>
              <a:rPr lang="en" sz="1200" b="1" i="1">
                <a:solidFill>
                  <a:srgbClr val="FF0000"/>
                </a:solidFill>
              </a:rPr>
              <a:t>R</a:t>
            </a:r>
            <a:r>
              <a:rPr lang="en" sz="1200"/>
              <a:t>.</a:t>
            </a:r>
            <a:endParaRPr sz="1200"/>
          </a:p>
        </p:txBody>
      </p:sp>
      <p:sp>
        <p:nvSpPr>
          <p:cNvPr id="703" name="Google Shape;703;p52"/>
          <p:cNvSpPr txBox="1"/>
          <p:nvPr/>
        </p:nvSpPr>
        <p:spPr>
          <a:xfrm>
            <a:off x="3308225" y="2335032"/>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a:t>
            </a:r>
            <a:r>
              <a:rPr lang="en" sz="1200" b="1" i="1">
                <a:solidFill>
                  <a:srgbClr val="FF0000"/>
                </a:solidFill>
              </a:rPr>
              <a:t>Q &lt; R</a:t>
            </a:r>
            <a:r>
              <a:rPr lang="en" sz="1200"/>
              <a:t>, then </a:t>
            </a:r>
            <a:r>
              <a:rPr lang="en" sz="1200" b="1" i="1">
                <a:solidFill>
                  <a:srgbClr val="FF0000"/>
                </a:solidFill>
              </a:rPr>
              <a:t>Q+C &lt; R+C</a:t>
            </a:r>
            <a:r>
              <a:rPr lang="en" sz="1200"/>
              <a:t>. Therefore,</a:t>
            </a:r>
            <a:endParaRPr sz="1200"/>
          </a:p>
          <a:p>
            <a:pPr marL="0" lvl="0" indent="0" algn="l" rtl="0">
              <a:spcBef>
                <a:spcPts val="0"/>
              </a:spcBef>
              <a:spcAft>
                <a:spcPts val="0"/>
              </a:spcAft>
              <a:buNone/>
            </a:pPr>
            <a:r>
              <a:rPr lang="en" sz="1200"/>
              <a:t>the </a:t>
            </a:r>
            <a:r>
              <a:rPr lang="en" sz="1200" b="1" i="1">
                <a:solidFill>
                  <a:srgbClr val="FF0000"/>
                </a:solidFill>
              </a:rPr>
              <a:t>optimal path</a:t>
            </a:r>
            <a:r>
              <a:rPr lang="en" sz="1200"/>
              <a:t> from </a:t>
            </a:r>
            <a:r>
              <a:rPr lang="en" sz="1200" b="1" i="1">
                <a:solidFill>
                  <a:srgbClr val="FF0000"/>
                </a:solidFill>
              </a:rPr>
              <a:t>S to E</a:t>
            </a:r>
            <a:r>
              <a:rPr lang="en" sz="1200"/>
              <a:t> must include </a:t>
            </a:r>
            <a:r>
              <a:rPr lang="en" sz="1200" b="1" i="1">
                <a:solidFill>
                  <a:srgbClr val="FF0000"/>
                </a:solidFill>
              </a:rPr>
              <a:t>Q</a:t>
            </a:r>
            <a:r>
              <a:rPr lang="en" sz="1200">
                <a:solidFill>
                  <a:srgbClr val="FF0000"/>
                </a:solidFill>
              </a:rPr>
              <a:t> </a:t>
            </a:r>
            <a:r>
              <a:rPr lang="en" sz="1200"/>
              <a:t>and </a:t>
            </a:r>
            <a:r>
              <a:rPr lang="en" sz="1200" b="1" i="1">
                <a:solidFill>
                  <a:srgbClr val="FF0000"/>
                </a:solidFill>
              </a:rPr>
              <a:t>not R</a:t>
            </a:r>
            <a:r>
              <a:rPr lang="en" sz="1200"/>
              <a:t>.</a:t>
            </a:r>
            <a:endParaRPr sz="1200"/>
          </a:p>
        </p:txBody>
      </p:sp>
      <p:pic>
        <p:nvPicPr>
          <p:cNvPr id="704" name="Google Shape;704;p52"/>
          <p:cNvPicPr preferRelativeResize="0"/>
          <p:nvPr/>
        </p:nvPicPr>
        <p:blipFill>
          <a:blip r:embed="rId3">
            <a:alphaModFix/>
          </a:blip>
          <a:stretch>
            <a:fillRect/>
          </a:stretch>
        </p:blipFill>
        <p:spPr>
          <a:xfrm>
            <a:off x="6625238" y="2605432"/>
            <a:ext cx="2152525" cy="2303200"/>
          </a:xfrm>
          <a:prstGeom prst="rect">
            <a:avLst/>
          </a:prstGeom>
          <a:noFill/>
          <a:ln w="19050" cap="flat" cmpd="sng">
            <a:solidFill>
              <a:srgbClr val="000000"/>
            </a:solidFill>
            <a:prstDash val="solid"/>
            <a:round/>
            <a:headEnd type="none" w="sm" len="sm"/>
            <a:tailEnd type="none" w="sm" len="sm"/>
          </a:ln>
        </p:spPr>
      </p:pic>
      <p:sp>
        <p:nvSpPr>
          <p:cNvPr id="705" name="Google Shape;705;p52"/>
          <p:cNvSpPr/>
          <p:nvPr/>
        </p:nvSpPr>
        <p:spPr>
          <a:xfrm>
            <a:off x="6366225" y="1393550"/>
            <a:ext cx="2655000" cy="979200"/>
          </a:xfrm>
          <a:prstGeom prst="wedgeRoundRectCallout">
            <a:avLst>
              <a:gd name="adj1" fmla="val -14000"/>
              <a:gd name="adj2" fmla="val 9283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Therefore, we can find the </a:t>
            </a:r>
            <a:r>
              <a:rPr lang="en" sz="1200" b="1" i="1">
                <a:solidFill>
                  <a:srgbClr val="FF0000"/>
                </a:solidFill>
              </a:rPr>
              <a:t>optimal path</a:t>
            </a:r>
            <a:r>
              <a:rPr lang="en" sz="1200"/>
              <a:t> by finding the </a:t>
            </a:r>
            <a:r>
              <a:rPr lang="en" sz="1200" b="1" i="1">
                <a:solidFill>
                  <a:srgbClr val="FF0000"/>
                </a:solidFill>
              </a:rPr>
              <a:t>optimal subpaths</a:t>
            </a:r>
            <a:r>
              <a:rPr lang="en" sz="1200"/>
              <a:t> from </a:t>
            </a:r>
            <a:r>
              <a:rPr lang="en" sz="1200" b="1" i="1">
                <a:solidFill>
                  <a:srgbClr val="FF0000"/>
                </a:solidFill>
              </a:rPr>
              <a:t>S</a:t>
            </a:r>
            <a:r>
              <a:rPr lang="en" sz="1200"/>
              <a:t> to every vertex that is along the path to </a:t>
            </a:r>
            <a:r>
              <a:rPr lang="en" sz="1200" b="1" i="1">
                <a:solidFill>
                  <a:srgbClr val="FF0000"/>
                </a:solidFill>
              </a:rPr>
              <a:t>E</a:t>
            </a:r>
            <a:r>
              <a:rPr lang="en" sz="1200"/>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1"/>
                                        </p:tgtEl>
                                        <p:attrNameLst>
                                          <p:attrName>style.visibility</p:attrName>
                                        </p:attrNameLst>
                                      </p:cBhvr>
                                      <p:to>
                                        <p:strVal val="visible"/>
                                      </p:to>
                                    </p:set>
                                    <p:animEffect transition="in" filter="fade">
                                      <p:cBhvr>
                                        <p:cTn id="7" dur="1000"/>
                                        <p:tgtEl>
                                          <p:spTgt spid="69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87"/>
                                        </p:tgtEl>
                                        <p:attrNameLst>
                                          <p:attrName>style.visibility</p:attrName>
                                        </p:attrNameLst>
                                      </p:cBhvr>
                                      <p:to>
                                        <p:strVal val="visible"/>
                                      </p:to>
                                    </p:set>
                                    <p:animEffect transition="in" filter="fade">
                                      <p:cBhvr>
                                        <p:cTn id="11" dur="1000"/>
                                        <p:tgtEl>
                                          <p:spTgt spid="68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92"/>
                                        </p:tgtEl>
                                        <p:attrNameLst>
                                          <p:attrName>style.visibility</p:attrName>
                                        </p:attrNameLst>
                                      </p:cBhvr>
                                      <p:to>
                                        <p:strVal val="visible"/>
                                      </p:to>
                                    </p:set>
                                    <p:animEffect transition="in" filter="fade">
                                      <p:cBhvr>
                                        <p:cTn id="16" dur="1000"/>
                                        <p:tgtEl>
                                          <p:spTgt spid="69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690"/>
                                        </p:tgtEl>
                                        <p:attrNameLst>
                                          <p:attrName>style.visibility</p:attrName>
                                        </p:attrNameLst>
                                      </p:cBhvr>
                                      <p:to>
                                        <p:strVal val="visible"/>
                                      </p:to>
                                    </p:set>
                                    <p:animEffect transition="in" filter="fade">
                                      <p:cBhvr>
                                        <p:cTn id="20" dur="1000"/>
                                        <p:tgtEl>
                                          <p:spTgt spid="69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693"/>
                                        </p:tgtEl>
                                        <p:attrNameLst>
                                          <p:attrName>style.visibility</p:attrName>
                                        </p:attrNameLst>
                                      </p:cBhvr>
                                      <p:to>
                                        <p:strVal val="visible"/>
                                      </p:to>
                                    </p:set>
                                    <p:animEffect transition="in" filter="fade">
                                      <p:cBhvr>
                                        <p:cTn id="24" dur="1000"/>
                                        <p:tgtEl>
                                          <p:spTgt spid="69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02"/>
                                        </p:tgtEl>
                                        <p:attrNameLst>
                                          <p:attrName>style.visibility</p:attrName>
                                        </p:attrNameLst>
                                      </p:cBhvr>
                                      <p:to>
                                        <p:strVal val="visible"/>
                                      </p:to>
                                    </p:set>
                                    <p:animEffect transition="in" filter="fade">
                                      <p:cBhvr>
                                        <p:cTn id="29" dur="1000"/>
                                        <p:tgtEl>
                                          <p:spTgt spid="70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696"/>
                                        </p:tgtEl>
                                        <p:attrNameLst>
                                          <p:attrName>style.visibility</p:attrName>
                                        </p:attrNameLst>
                                      </p:cBhvr>
                                      <p:to>
                                        <p:strVal val="visible"/>
                                      </p:to>
                                    </p:set>
                                    <p:animEffect transition="in" filter="fade">
                                      <p:cBhvr>
                                        <p:cTn id="33" dur="1000"/>
                                        <p:tgtEl>
                                          <p:spTgt spid="69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699"/>
                                        </p:tgtEl>
                                        <p:attrNameLst>
                                          <p:attrName>style.visibility</p:attrName>
                                        </p:attrNameLst>
                                      </p:cBhvr>
                                      <p:to>
                                        <p:strVal val="visible"/>
                                      </p:to>
                                    </p:set>
                                    <p:animEffect transition="in" filter="fade">
                                      <p:cBhvr>
                                        <p:cTn id="37" dur="1000"/>
                                        <p:tgtEl>
                                          <p:spTgt spid="69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3"/>
                                        </p:tgtEl>
                                        <p:attrNameLst>
                                          <p:attrName>style.visibility</p:attrName>
                                        </p:attrNameLst>
                                      </p:cBhvr>
                                      <p:to>
                                        <p:strVal val="visible"/>
                                      </p:to>
                                    </p:set>
                                    <p:animEffect transition="in" filter="fade">
                                      <p:cBhvr>
                                        <p:cTn id="42" dur="1000"/>
                                        <p:tgtEl>
                                          <p:spTgt spid="70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04"/>
                                        </p:tgtEl>
                                        <p:attrNameLst>
                                          <p:attrName>style.visibility</p:attrName>
                                        </p:attrNameLst>
                                      </p:cBhvr>
                                      <p:to>
                                        <p:strVal val="visible"/>
                                      </p:to>
                                    </p:set>
                                    <p:animEffect transition="in" filter="fade">
                                      <p:cBhvr>
                                        <p:cTn id="47" dur="1000"/>
                                        <p:tgtEl>
                                          <p:spTgt spid="704"/>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705"/>
                                        </p:tgtEl>
                                        <p:attrNameLst>
                                          <p:attrName>style.visibility</p:attrName>
                                        </p:attrNameLst>
                                      </p:cBhvr>
                                      <p:to>
                                        <p:strVal val="visible"/>
                                      </p:to>
                                    </p:set>
                                    <p:animEffect transition="in" filter="fade">
                                      <p:cBhvr>
                                        <p:cTn id="51" dur="1000"/>
                                        <p:tgtEl>
                                          <p:spTgt spid="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5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sp>
        <p:nvSpPr>
          <p:cNvPr id="711" name="Google Shape;711;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grpSp>
        <p:nvGrpSpPr>
          <p:cNvPr id="712" name="Google Shape;712;p53"/>
          <p:cNvGrpSpPr/>
          <p:nvPr/>
        </p:nvGrpSpPr>
        <p:grpSpPr>
          <a:xfrm>
            <a:off x="5062520" y="1458399"/>
            <a:ext cx="3388210" cy="3052284"/>
            <a:chOff x="338125" y="1610890"/>
            <a:chExt cx="3334852" cy="3004217"/>
          </a:xfrm>
        </p:grpSpPr>
        <p:sp>
          <p:nvSpPr>
            <p:cNvPr id="713" name="Google Shape;713;p5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714" name="Google Shape;714;p5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715" name="Google Shape;715;p5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716" name="Google Shape;716;p5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717" name="Google Shape;717;p5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718" name="Google Shape;718;p5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719" name="Google Shape;719;p5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720" name="Google Shape;720;p53"/>
            <p:cNvCxnSpPr>
              <a:stCxn id="713" idx="3"/>
              <a:endCxn id="71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721" name="Google Shape;721;p53"/>
            <p:cNvCxnSpPr>
              <a:stCxn id="713" idx="6"/>
              <a:endCxn id="71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722" name="Google Shape;722;p53"/>
            <p:cNvCxnSpPr>
              <a:stCxn id="713" idx="5"/>
              <a:endCxn id="71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723" name="Google Shape;723;p53"/>
            <p:cNvCxnSpPr>
              <a:stCxn id="714" idx="6"/>
              <a:endCxn id="71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724" name="Google Shape;724;p53"/>
            <p:cNvCxnSpPr>
              <a:stCxn id="718" idx="4"/>
              <a:endCxn id="71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725" name="Google Shape;725;p53"/>
            <p:cNvCxnSpPr>
              <a:stCxn id="714" idx="3"/>
              <a:endCxn id="71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726" name="Google Shape;726;p53"/>
            <p:cNvCxnSpPr>
              <a:stCxn id="719" idx="6"/>
              <a:endCxn id="71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727" name="Google Shape;727;p53"/>
            <p:cNvCxnSpPr>
              <a:stCxn id="715" idx="6"/>
              <a:endCxn id="71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728" name="Google Shape;728;p53"/>
            <p:cNvCxnSpPr>
              <a:stCxn id="716" idx="5"/>
              <a:endCxn id="71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729" name="Google Shape;729;p5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730" name="Google Shape;730;p5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731" name="Google Shape;731;p5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2" name="Google Shape;732;p5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733" name="Google Shape;733;p5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734" name="Google Shape;734;p5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5" name="Google Shape;735;p5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6" name="Google Shape;736;p5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737" name="Google Shape;737;p5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738" name="Google Shape;738;p53"/>
            <p:cNvCxnSpPr>
              <a:stCxn id="715" idx="5"/>
              <a:endCxn id="71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739" name="Google Shape;739;p5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740" name="Google Shape;740;p53"/>
          <p:cNvSpPr txBox="1"/>
          <p:nvPr/>
        </p:nvSpPr>
        <p:spPr>
          <a:xfrm>
            <a:off x="311725" y="1396993"/>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Let's represent a path from </a:t>
            </a:r>
            <a:r>
              <a:rPr lang="en" sz="1200" b="1" i="1">
                <a:solidFill>
                  <a:srgbClr val="FF0000"/>
                </a:solidFill>
              </a:rPr>
              <a:t>X</a:t>
            </a:r>
            <a:r>
              <a:rPr lang="en" sz="1200" i="1"/>
              <a:t> </a:t>
            </a:r>
            <a:r>
              <a:rPr lang="en" sz="1200"/>
              <a:t>to</a:t>
            </a:r>
            <a:r>
              <a:rPr lang="en" sz="1200" i="1"/>
              <a:t> </a:t>
            </a:r>
            <a:r>
              <a:rPr lang="en" sz="1200" b="1">
                <a:solidFill>
                  <a:srgbClr val="FF0000"/>
                </a:solidFill>
              </a:rPr>
              <a:t>Z</a:t>
            </a:r>
            <a:r>
              <a:rPr lang="en" sz="1200"/>
              <a:t> in the form </a:t>
            </a:r>
            <a:r>
              <a:rPr lang="en" sz="1200" b="1" i="1">
                <a:solidFill>
                  <a:srgbClr val="FF0000"/>
                </a:solidFill>
              </a:rPr>
              <a:t>X</a:t>
            </a:r>
            <a:r>
              <a:rPr lang="en" sz="1200" b="1" i="1" baseline="-25000">
                <a:solidFill>
                  <a:srgbClr val="FF0000"/>
                </a:solidFill>
              </a:rPr>
              <a:t>d</a:t>
            </a:r>
            <a:r>
              <a:rPr lang="en" sz="1200" b="1" i="1">
                <a:solidFill>
                  <a:srgbClr val="FF0000"/>
                </a:solidFill>
              </a:rPr>
              <a:t>Y</a:t>
            </a:r>
            <a:r>
              <a:rPr lang="en" sz="1200" b="1" i="1" baseline="-25000">
                <a:solidFill>
                  <a:srgbClr val="FF0000"/>
                </a:solidFill>
              </a:rPr>
              <a:t>d</a:t>
            </a:r>
            <a:r>
              <a:rPr lang="en" sz="1200" b="1" i="1">
                <a:solidFill>
                  <a:srgbClr val="FF0000"/>
                </a:solidFill>
              </a:rPr>
              <a:t>Z</a:t>
            </a:r>
            <a:r>
              <a:rPr lang="en" sz="1200"/>
              <a:t> where </a:t>
            </a:r>
            <a:r>
              <a:rPr lang="en" sz="1200" b="1" i="1">
                <a:solidFill>
                  <a:srgbClr val="FF0000"/>
                </a:solidFill>
              </a:rPr>
              <a:t>d</a:t>
            </a:r>
            <a:r>
              <a:rPr lang="en" sz="1200"/>
              <a:t> is the distance between each pair of vertices.</a:t>
            </a:r>
            <a:endParaRPr sz="1200"/>
          </a:p>
        </p:txBody>
      </p:sp>
      <p:cxnSp>
        <p:nvCxnSpPr>
          <p:cNvPr id="741" name="Google Shape;741;p53"/>
          <p:cNvCxnSpPr/>
          <p:nvPr/>
        </p:nvCxnSpPr>
        <p:spPr>
          <a:xfrm>
            <a:off x="6591063" y="4235144"/>
            <a:ext cx="1036800" cy="0"/>
          </a:xfrm>
          <a:prstGeom prst="straightConnector1">
            <a:avLst/>
          </a:prstGeom>
          <a:noFill/>
          <a:ln w="28575" cap="flat" cmpd="sng">
            <a:solidFill>
              <a:srgbClr val="FF0000"/>
            </a:solidFill>
            <a:prstDash val="solid"/>
            <a:round/>
            <a:headEnd type="none" w="med" len="med"/>
            <a:tailEnd type="stealth" w="med" len="med"/>
          </a:ln>
        </p:spPr>
      </p:cxnSp>
      <p:sp>
        <p:nvSpPr>
          <p:cNvPr id="742" name="Google Shape;742;p53"/>
          <p:cNvSpPr txBox="1"/>
          <p:nvPr/>
        </p:nvSpPr>
        <p:spPr>
          <a:xfrm>
            <a:off x="311725" y="2027712"/>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searching for a path from </a:t>
            </a:r>
            <a:r>
              <a:rPr lang="en" sz="1200" b="1" i="1">
                <a:solidFill>
                  <a:srgbClr val="FF0000"/>
                </a:solidFill>
              </a:rPr>
              <a:t>A</a:t>
            </a:r>
            <a:r>
              <a:rPr lang="en" sz="1200"/>
              <a:t> to </a:t>
            </a:r>
            <a:r>
              <a:rPr lang="en" sz="1200" b="1" i="1">
                <a:solidFill>
                  <a:srgbClr val="FF0000"/>
                </a:solidFill>
              </a:rPr>
              <a:t>E</a:t>
            </a:r>
            <a:r>
              <a:rPr lang="en" sz="1200"/>
              <a:t>, </a:t>
            </a:r>
            <a:r>
              <a:rPr lang="en" sz="1200" b="1" i="1">
                <a:solidFill>
                  <a:srgbClr val="FF0000"/>
                </a:solidFill>
              </a:rPr>
              <a:t>Nearest Neighbor</a:t>
            </a:r>
            <a:r>
              <a:rPr lang="en" sz="1200"/>
              <a:t> found the path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2</a:t>
            </a:r>
            <a:r>
              <a:rPr lang="en" sz="1200" b="1" i="1">
                <a:solidFill>
                  <a:srgbClr val="FF0000"/>
                </a:solidFill>
              </a:rPr>
              <a:t>B</a:t>
            </a:r>
            <a:r>
              <a:rPr lang="en" sz="1200" b="1" i="1" baseline="-25000">
                <a:solidFill>
                  <a:srgbClr val="FF0000"/>
                </a:solidFill>
              </a:rPr>
              <a:t>4</a:t>
            </a:r>
            <a:r>
              <a:rPr lang="en" sz="1200" b="1" i="1">
                <a:solidFill>
                  <a:srgbClr val="FF0000"/>
                </a:solidFill>
              </a:rPr>
              <a:t>G</a:t>
            </a:r>
            <a:r>
              <a:rPr lang="en" sz="1200" b="1" i="1" baseline="-25000">
                <a:solidFill>
                  <a:srgbClr val="FF0000"/>
                </a:solidFill>
              </a:rPr>
              <a:t>4</a:t>
            </a:r>
            <a:r>
              <a:rPr lang="en" sz="1200" b="1" i="1">
                <a:solidFill>
                  <a:srgbClr val="FF0000"/>
                </a:solidFill>
              </a:rPr>
              <a:t>E</a:t>
            </a:r>
            <a:r>
              <a:rPr lang="en" sz="1200"/>
              <a:t> with a total cost of </a:t>
            </a:r>
            <a:r>
              <a:rPr lang="en" sz="1200" b="1" i="1">
                <a:solidFill>
                  <a:srgbClr val="FF0000"/>
                </a:solidFill>
              </a:rPr>
              <a:t>11</a:t>
            </a:r>
            <a:r>
              <a:rPr lang="en" sz="1200"/>
              <a:t>.</a:t>
            </a:r>
            <a:endParaRPr sz="1200"/>
          </a:p>
        </p:txBody>
      </p:sp>
      <p:sp>
        <p:nvSpPr>
          <p:cNvPr id="743" name="Google Shape;743;p53"/>
          <p:cNvSpPr txBox="1"/>
          <p:nvPr/>
        </p:nvSpPr>
        <p:spPr>
          <a:xfrm>
            <a:off x="311725" y="2651542"/>
            <a:ext cx="4198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Dijkstra observed that if </a:t>
            </a:r>
            <a:r>
              <a:rPr lang="en" sz="1200" b="1" i="1" dirty="0">
                <a:solidFill>
                  <a:srgbClr val="FF0000"/>
                </a:solidFill>
              </a:rPr>
              <a:t>A</a:t>
            </a:r>
            <a:r>
              <a:rPr lang="en" sz="1200" b="1" i="1" baseline="-25000" dirty="0">
                <a:solidFill>
                  <a:srgbClr val="FF0000"/>
                </a:solidFill>
              </a:rPr>
              <a:t>1</a:t>
            </a:r>
            <a:r>
              <a:rPr lang="en" sz="1200" b="1" i="1" dirty="0">
                <a:solidFill>
                  <a:srgbClr val="FF0000"/>
                </a:solidFill>
              </a:rPr>
              <a:t>C</a:t>
            </a:r>
            <a:r>
              <a:rPr lang="en" sz="1200" b="1" i="1" baseline="-25000" dirty="0">
                <a:solidFill>
                  <a:srgbClr val="FF0000"/>
                </a:solidFill>
              </a:rPr>
              <a:t>2</a:t>
            </a:r>
            <a:r>
              <a:rPr lang="en" sz="1200" b="1" i="1" dirty="0">
                <a:solidFill>
                  <a:srgbClr val="FF0000"/>
                </a:solidFill>
              </a:rPr>
              <a:t>B</a:t>
            </a:r>
            <a:r>
              <a:rPr lang="en" sz="1200" b="1" i="1" baseline="-25000" dirty="0">
                <a:solidFill>
                  <a:srgbClr val="FF0000"/>
                </a:solidFill>
              </a:rPr>
              <a:t>4</a:t>
            </a:r>
            <a:r>
              <a:rPr lang="en" sz="1200" b="1" i="1" dirty="0">
                <a:solidFill>
                  <a:srgbClr val="FF0000"/>
                </a:solidFill>
              </a:rPr>
              <a:t>G</a:t>
            </a:r>
            <a:r>
              <a:rPr lang="en" sz="1200" b="1" i="1" baseline="-25000" dirty="0">
                <a:solidFill>
                  <a:srgbClr val="FF0000"/>
                </a:solidFill>
              </a:rPr>
              <a:t>4</a:t>
            </a:r>
            <a:r>
              <a:rPr lang="en" sz="1200" b="1" i="1" dirty="0">
                <a:solidFill>
                  <a:srgbClr val="FF0000"/>
                </a:solidFill>
              </a:rPr>
              <a:t>E</a:t>
            </a:r>
            <a:r>
              <a:rPr lang="en" sz="1200" dirty="0"/>
              <a:t> is optimal, then all of its </a:t>
            </a:r>
            <a:r>
              <a:rPr lang="en" sz="1200" b="1" i="1" dirty="0">
                <a:solidFill>
                  <a:srgbClr val="FF0000"/>
                </a:solidFill>
              </a:rPr>
              <a:t>subpaths</a:t>
            </a:r>
            <a:r>
              <a:rPr lang="en" sz="1200" dirty="0"/>
              <a:t> must also be optimal. Which means that the subpath </a:t>
            </a:r>
            <a:r>
              <a:rPr lang="en" sz="1200" b="1" i="1" dirty="0">
                <a:solidFill>
                  <a:srgbClr val="FF0000"/>
                </a:solidFill>
                <a:highlight>
                  <a:srgbClr val="FFFF00"/>
                </a:highlight>
              </a:rPr>
              <a:t>A</a:t>
            </a:r>
            <a:r>
              <a:rPr lang="en" sz="1200" b="1" i="1" baseline="-25000" dirty="0">
                <a:solidFill>
                  <a:srgbClr val="FF0000"/>
                </a:solidFill>
                <a:highlight>
                  <a:srgbClr val="FFFF00"/>
                </a:highlight>
              </a:rPr>
              <a:t>1</a:t>
            </a:r>
            <a:r>
              <a:rPr lang="en" sz="1200" b="1" i="1" dirty="0">
                <a:solidFill>
                  <a:srgbClr val="FF0000"/>
                </a:solidFill>
                <a:highlight>
                  <a:srgbClr val="FFFF00"/>
                </a:highlight>
              </a:rPr>
              <a:t>C</a:t>
            </a:r>
            <a:r>
              <a:rPr lang="en" sz="1200" b="1" i="1" baseline="-25000" dirty="0">
                <a:solidFill>
                  <a:srgbClr val="FF0000"/>
                </a:solidFill>
                <a:highlight>
                  <a:srgbClr val="FFFF00"/>
                </a:highlight>
              </a:rPr>
              <a:t>2</a:t>
            </a:r>
            <a:r>
              <a:rPr lang="en" sz="1200" b="1" i="1" dirty="0">
                <a:solidFill>
                  <a:srgbClr val="FF0000"/>
                </a:solidFill>
                <a:highlight>
                  <a:srgbClr val="FFFF00"/>
                </a:highlight>
              </a:rPr>
              <a:t>B</a:t>
            </a:r>
            <a:r>
              <a:rPr lang="en" sz="1200" b="1" i="1" baseline="-25000" dirty="0">
                <a:solidFill>
                  <a:srgbClr val="FF0000"/>
                </a:solidFill>
                <a:highlight>
                  <a:srgbClr val="FFFF00"/>
                </a:highlight>
              </a:rPr>
              <a:t>4</a:t>
            </a:r>
            <a:r>
              <a:rPr lang="en" sz="1200" b="1" i="1" dirty="0">
                <a:solidFill>
                  <a:srgbClr val="FF0000"/>
                </a:solidFill>
                <a:highlight>
                  <a:srgbClr val="FFFF00"/>
                </a:highlight>
              </a:rPr>
              <a:t>G</a:t>
            </a:r>
            <a:r>
              <a:rPr lang="en" sz="1200" dirty="0"/>
              <a:t> must be the optimal path from </a:t>
            </a:r>
            <a:r>
              <a:rPr lang="en" sz="1200" b="1" i="1" dirty="0">
                <a:solidFill>
                  <a:srgbClr val="FF0000"/>
                </a:solidFill>
              </a:rPr>
              <a:t>A</a:t>
            </a:r>
            <a:r>
              <a:rPr lang="en" sz="1200" dirty="0"/>
              <a:t> to </a:t>
            </a:r>
            <a:r>
              <a:rPr lang="en" sz="1200" b="1" i="1" dirty="0">
                <a:solidFill>
                  <a:srgbClr val="FF0000"/>
                </a:solidFill>
              </a:rPr>
              <a:t>G</a:t>
            </a:r>
            <a:r>
              <a:rPr lang="en" sz="1200" dirty="0"/>
              <a:t>. Is that true?</a:t>
            </a:r>
            <a:endParaRPr sz="1200" dirty="0"/>
          </a:p>
        </p:txBody>
      </p:sp>
      <p:cxnSp>
        <p:nvCxnSpPr>
          <p:cNvPr id="744" name="Google Shape;744;p53"/>
          <p:cNvCxnSpPr/>
          <p:nvPr/>
        </p:nvCxnSpPr>
        <p:spPr>
          <a:xfrm flipH="1">
            <a:off x="5337919" y="2013823"/>
            <a:ext cx="152100" cy="806100"/>
          </a:xfrm>
          <a:prstGeom prst="straightConnector1">
            <a:avLst/>
          </a:prstGeom>
          <a:noFill/>
          <a:ln w="28575" cap="flat" cmpd="sng">
            <a:solidFill>
              <a:srgbClr val="FF0000"/>
            </a:solidFill>
            <a:prstDash val="solid"/>
            <a:round/>
            <a:headEnd type="none" w="med" len="med"/>
            <a:tailEnd type="stealth" w="med" len="med"/>
          </a:ln>
        </p:spPr>
      </p:cxnSp>
      <p:cxnSp>
        <p:nvCxnSpPr>
          <p:cNvPr id="745" name="Google Shape;745;p53"/>
          <p:cNvCxnSpPr/>
          <p:nvPr/>
        </p:nvCxnSpPr>
        <p:spPr>
          <a:xfrm flipH="1">
            <a:off x="6315617" y="3239293"/>
            <a:ext cx="285300" cy="720300"/>
          </a:xfrm>
          <a:prstGeom prst="straightConnector1">
            <a:avLst/>
          </a:prstGeom>
          <a:noFill/>
          <a:ln w="28575" cap="flat" cmpd="sng">
            <a:solidFill>
              <a:srgbClr val="FF0000"/>
            </a:solidFill>
            <a:prstDash val="solid"/>
            <a:round/>
            <a:headEnd type="none" w="med" len="med"/>
            <a:tailEnd type="stealth" w="med" len="med"/>
          </a:ln>
        </p:spPr>
      </p:cxnSp>
      <p:cxnSp>
        <p:nvCxnSpPr>
          <p:cNvPr id="746" name="Google Shape;746;p53"/>
          <p:cNvCxnSpPr/>
          <p:nvPr/>
        </p:nvCxnSpPr>
        <p:spPr>
          <a:xfrm rot="10800000" flipH="1">
            <a:off x="5613599" y="3044480"/>
            <a:ext cx="906600" cy="51000"/>
          </a:xfrm>
          <a:prstGeom prst="straightConnector1">
            <a:avLst/>
          </a:prstGeom>
          <a:noFill/>
          <a:ln w="28575" cap="flat" cmpd="sng">
            <a:solidFill>
              <a:srgbClr val="FF0000"/>
            </a:solidFill>
            <a:prstDash val="solid"/>
            <a:round/>
            <a:headEnd type="none" w="med" len="med"/>
            <a:tailEnd type="stealth" w="med" len="med"/>
          </a:ln>
        </p:spPr>
      </p:cxnSp>
      <p:sp>
        <p:nvSpPr>
          <p:cNvPr id="747" name="Google Shape;747;p53"/>
          <p:cNvSpPr txBox="1"/>
          <p:nvPr/>
        </p:nvSpPr>
        <p:spPr>
          <a:xfrm>
            <a:off x="311725" y="3642142"/>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It is not! There is a </a:t>
            </a:r>
            <a:r>
              <a:rPr lang="en" sz="1200" b="1" i="1" dirty="0">
                <a:solidFill>
                  <a:srgbClr val="FF0000"/>
                </a:solidFill>
              </a:rPr>
              <a:t>shorter</a:t>
            </a:r>
            <a:r>
              <a:rPr lang="en" sz="1200" dirty="0">
                <a:solidFill>
                  <a:srgbClr val="FF0000"/>
                </a:solidFill>
              </a:rPr>
              <a:t> </a:t>
            </a:r>
            <a:r>
              <a:rPr lang="en" sz="1200" dirty="0"/>
              <a:t>path from </a:t>
            </a:r>
            <a:r>
              <a:rPr lang="en" sz="1200" b="1" i="1" dirty="0">
                <a:solidFill>
                  <a:srgbClr val="FF0000"/>
                </a:solidFill>
              </a:rPr>
              <a:t>A</a:t>
            </a:r>
            <a:r>
              <a:rPr lang="en" sz="1200" b="1" i="1" dirty="0"/>
              <a:t> </a:t>
            </a:r>
            <a:r>
              <a:rPr lang="en" sz="1200" dirty="0"/>
              <a:t>to </a:t>
            </a:r>
            <a:r>
              <a:rPr lang="en" sz="1200" b="1" i="1" dirty="0">
                <a:solidFill>
                  <a:srgbClr val="FF0000"/>
                </a:solidFill>
              </a:rPr>
              <a:t>G</a:t>
            </a:r>
            <a:r>
              <a:rPr lang="en" sz="1200" dirty="0"/>
              <a:t>: </a:t>
            </a:r>
            <a:r>
              <a:rPr lang="en" sz="1200" b="1" i="1" dirty="0">
                <a:solidFill>
                  <a:srgbClr val="FF0000"/>
                </a:solidFill>
              </a:rPr>
              <a:t>A</a:t>
            </a:r>
            <a:r>
              <a:rPr lang="en" sz="1200" b="1" i="1" baseline="-25000" dirty="0">
                <a:solidFill>
                  <a:srgbClr val="FF0000"/>
                </a:solidFill>
              </a:rPr>
              <a:t>1</a:t>
            </a:r>
            <a:r>
              <a:rPr lang="en" sz="1200" b="1" i="1" dirty="0">
                <a:solidFill>
                  <a:srgbClr val="FF0000"/>
                </a:solidFill>
              </a:rPr>
              <a:t>C</a:t>
            </a:r>
            <a:r>
              <a:rPr lang="en" sz="1200" b="1" i="1" baseline="-25000" dirty="0">
                <a:solidFill>
                  <a:srgbClr val="FF0000"/>
                </a:solidFill>
              </a:rPr>
              <a:t>5</a:t>
            </a:r>
            <a:r>
              <a:rPr lang="en" sz="1200" b="1" i="1" dirty="0">
                <a:solidFill>
                  <a:srgbClr val="FF0000"/>
                </a:solidFill>
              </a:rPr>
              <a:t>G</a:t>
            </a:r>
            <a:r>
              <a:rPr lang="en" sz="1200" dirty="0"/>
              <a:t> with a total cost of </a:t>
            </a:r>
            <a:r>
              <a:rPr lang="en" sz="1200" b="1" i="1" dirty="0">
                <a:solidFill>
                  <a:srgbClr val="FF0000"/>
                </a:solidFill>
              </a:rPr>
              <a:t>6</a:t>
            </a:r>
            <a:r>
              <a:rPr lang="en" sz="1200" dirty="0"/>
              <a:t>.</a:t>
            </a:r>
            <a:endParaRPr sz="1200" dirty="0"/>
          </a:p>
        </p:txBody>
      </p:sp>
      <p:cxnSp>
        <p:nvCxnSpPr>
          <p:cNvPr id="748" name="Google Shape;748;p53"/>
          <p:cNvCxnSpPr/>
          <p:nvPr/>
        </p:nvCxnSpPr>
        <p:spPr>
          <a:xfrm>
            <a:off x="5532895" y="3290315"/>
            <a:ext cx="587700" cy="750000"/>
          </a:xfrm>
          <a:prstGeom prst="straightConnector1">
            <a:avLst/>
          </a:prstGeom>
          <a:noFill/>
          <a:ln w="28575" cap="flat" cmpd="sng">
            <a:solidFill>
              <a:srgbClr val="4A86E8"/>
            </a:solidFill>
            <a:prstDash val="solid"/>
            <a:round/>
            <a:headEnd type="none" w="med" len="med"/>
            <a:tailEnd type="stealth" w="med" len="med"/>
          </a:ln>
        </p:spPr>
      </p:cxnSp>
      <p:sp>
        <p:nvSpPr>
          <p:cNvPr id="749" name="Google Shape;749;p53"/>
          <p:cNvSpPr txBox="1"/>
          <p:nvPr/>
        </p:nvSpPr>
        <p:spPr>
          <a:xfrm>
            <a:off x="311725" y="4263441"/>
            <a:ext cx="4198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It is impossible for</a:t>
            </a:r>
            <a:r>
              <a:rPr lang="en" sz="1200" dirty="0">
                <a:solidFill>
                  <a:srgbClr val="FF0000"/>
                </a:solidFill>
              </a:rPr>
              <a:t> </a:t>
            </a:r>
            <a:r>
              <a:rPr lang="en" sz="1200" b="1" i="1" dirty="0">
                <a:solidFill>
                  <a:srgbClr val="FF0000"/>
                </a:solidFill>
              </a:rPr>
              <a:t>A</a:t>
            </a:r>
            <a:r>
              <a:rPr lang="en" sz="1200" b="1" i="1" baseline="-25000" dirty="0">
                <a:solidFill>
                  <a:srgbClr val="FF0000"/>
                </a:solidFill>
              </a:rPr>
              <a:t>1</a:t>
            </a:r>
            <a:r>
              <a:rPr lang="en" sz="1200" b="1" i="1" dirty="0">
                <a:solidFill>
                  <a:srgbClr val="FF0000"/>
                </a:solidFill>
              </a:rPr>
              <a:t>C</a:t>
            </a:r>
            <a:r>
              <a:rPr lang="en" sz="1200" b="1" i="1" baseline="-25000" dirty="0">
                <a:solidFill>
                  <a:srgbClr val="FF0000"/>
                </a:solidFill>
              </a:rPr>
              <a:t>2</a:t>
            </a:r>
            <a:r>
              <a:rPr lang="en" sz="1200" b="1" i="1" dirty="0">
                <a:solidFill>
                  <a:srgbClr val="FF0000"/>
                </a:solidFill>
              </a:rPr>
              <a:t>B</a:t>
            </a:r>
            <a:r>
              <a:rPr lang="en" sz="1200" b="1" i="1" baseline="-25000" dirty="0">
                <a:solidFill>
                  <a:srgbClr val="FF0000"/>
                </a:solidFill>
              </a:rPr>
              <a:t>4</a:t>
            </a:r>
            <a:r>
              <a:rPr lang="en" sz="1200" b="1" i="1" dirty="0">
                <a:solidFill>
                  <a:srgbClr val="FF0000"/>
                </a:solidFill>
              </a:rPr>
              <a:t>G</a:t>
            </a:r>
            <a:r>
              <a:rPr lang="en" sz="1200" b="1" i="1" baseline="-25000" dirty="0">
                <a:solidFill>
                  <a:srgbClr val="FF0000"/>
                </a:solidFill>
              </a:rPr>
              <a:t>4</a:t>
            </a:r>
            <a:r>
              <a:rPr lang="en" sz="1200" b="1" i="1" dirty="0">
                <a:solidFill>
                  <a:srgbClr val="FF0000"/>
                </a:solidFill>
              </a:rPr>
              <a:t>E</a:t>
            </a:r>
            <a:r>
              <a:rPr lang="en" sz="1200" dirty="0"/>
              <a:t> to be optimal if it contains a subpath that is not optimal. In fact, the optimal path is </a:t>
            </a:r>
            <a:r>
              <a:rPr lang="en" sz="1200" b="1" i="1" dirty="0">
                <a:solidFill>
                  <a:srgbClr val="FF0000"/>
                </a:solidFill>
              </a:rPr>
              <a:t>A</a:t>
            </a:r>
            <a:r>
              <a:rPr lang="en" sz="1200" b="1" i="1" baseline="-25000" dirty="0">
                <a:solidFill>
                  <a:srgbClr val="FF0000"/>
                </a:solidFill>
              </a:rPr>
              <a:t>1</a:t>
            </a:r>
            <a:r>
              <a:rPr lang="en" sz="1200" b="1" i="1" dirty="0">
                <a:solidFill>
                  <a:srgbClr val="FF0000"/>
                </a:solidFill>
              </a:rPr>
              <a:t>C</a:t>
            </a:r>
            <a:r>
              <a:rPr lang="en" sz="1200" b="1" i="1" baseline="-25000" dirty="0">
                <a:solidFill>
                  <a:srgbClr val="FF0000"/>
                </a:solidFill>
              </a:rPr>
              <a:t>5</a:t>
            </a:r>
            <a:r>
              <a:rPr lang="en" sz="1200" b="1" i="1" dirty="0">
                <a:solidFill>
                  <a:srgbClr val="FF0000"/>
                </a:solidFill>
              </a:rPr>
              <a:t>G</a:t>
            </a:r>
            <a:r>
              <a:rPr lang="en" sz="1200" b="1" i="1" baseline="-25000" dirty="0">
                <a:solidFill>
                  <a:srgbClr val="FF0000"/>
                </a:solidFill>
              </a:rPr>
              <a:t>4</a:t>
            </a:r>
            <a:r>
              <a:rPr lang="en" sz="1200" b="1" i="1" dirty="0">
                <a:solidFill>
                  <a:srgbClr val="FF0000"/>
                </a:solidFill>
              </a:rPr>
              <a:t>E</a:t>
            </a:r>
            <a:r>
              <a:rPr lang="en" sz="1200" dirty="0"/>
              <a:t> with a total cost of </a:t>
            </a:r>
            <a:r>
              <a:rPr lang="en" sz="1200" b="1" i="1" dirty="0">
                <a:solidFill>
                  <a:srgbClr val="FF0000"/>
                </a:solidFill>
              </a:rPr>
              <a:t>10</a:t>
            </a:r>
            <a:r>
              <a:rPr lang="en" sz="1200" dirty="0"/>
              <a:t>.</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0"/>
                                        </p:tgtEl>
                                        <p:attrNameLst>
                                          <p:attrName>style.visibility</p:attrName>
                                        </p:attrNameLst>
                                      </p:cBhvr>
                                      <p:to>
                                        <p:strVal val="visible"/>
                                      </p:to>
                                    </p:set>
                                    <p:animEffect transition="in" filter="fade">
                                      <p:cBhvr>
                                        <p:cTn id="7" dur="1000"/>
                                        <p:tgtEl>
                                          <p:spTgt spid="7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gtEl>
                                        <p:attrNameLst>
                                          <p:attrName>style.visibility</p:attrName>
                                        </p:attrNameLst>
                                      </p:cBhvr>
                                      <p:to>
                                        <p:strVal val="visible"/>
                                      </p:to>
                                    </p:set>
                                    <p:animEffect transition="in" filter="fade">
                                      <p:cBhvr>
                                        <p:cTn id="12" dur="1000"/>
                                        <p:tgtEl>
                                          <p:spTgt spid="74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744"/>
                                        </p:tgtEl>
                                        <p:attrNameLst>
                                          <p:attrName>style.visibility</p:attrName>
                                        </p:attrNameLst>
                                      </p:cBhvr>
                                      <p:to>
                                        <p:strVal val="visible"/>
                                      </p:to>
                                    </p:set>
                                    <p:animEffect transition="in" filter="fade">
                                      <p:cBhvr>
                                        <p:cTn id="16" dur="1000"/>
                                        <p:tgtEl>
                                          <p:spTgt spid="74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746"/>
                                        </p:tgtEl>
                                        <p:attrNameLst>
                                          <p:attrName>style.visibility</p:attrName>
                                        </p:attrNameLst>
                                      </p:cBhvr>
                                      <p:to>
                                        <p:strVal val="visible"/>
                                      </p:to>
                                    </p:set>
                                    <p:animEffect transition="in" filter="fade">
                                      <p:cBhvr>
                                        <p:cTn id="20" dur="1000"/>
                                        <p:tgtEl>
                                          <p:spTgt spid="746"/>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745"/>
                                        </p:tgtEl>
                                        <p:attrNameLst>
                                          <p:attrName>style.visibility</p:attrName>
                                        </p:attrNameLst>
                                      </p:cBhvr>
                                      <p:to>
                                        <p:strVal val="visible"/>
                                      </p:to>
                                    </p:set>
                                    <p:animEffect transition="in" filter="fade">
                                      <p:cBhvr>
                                        <p:cTn id="24" dur="1000"/>
                                        <p:tgtEl>
                                          <p:spTgt spid="745"/>
                                        </p:tgtEl>
                                      </p:cBhvr>
                                    </p:animEffect>
                                  </p:childTnLst>
                                </p:cTn>
                              </p:par>
                            </p:childTnLst>
                          </p:cTn>
                        </p:par>
                        <p:par>
                          <p:cTn id="25" fill="hold">
                            <p:stCondLst>
                              <p:cond delay="4000"/>
                            </p:stCondLst>
                            <p:childTnLst>
                              <p:par>
                                <p:cTn id="26" presetID="10" presetClass="entr" presetSubtype="0" fill="hold" nodeType="afterEffect">
                                  <p:stCondLst>
                                    <p:cond delay="0"/>
                                  </p:stCondLst>
                                  <p:childTnLst>
                                    <p:set>
                                      <p:cBhvr>
                                        <p:cTn id="27" dur="1" fill="hold">
                                          <p:stCondLst>
                                            <p:cond delay="0"/>
                                          </p:stCondLst>
                                        </p:cTn>
                                        <p:tgtEl>
                                          <p:spTgt spid="741"/>
                                        </p:tgtEl>
                                        <p:attrNameLst>
                                          <p:attrName>style.visibility</p:attrName>
                                        </p:attrNameLst>
                                      </p:cBhvr>
                                      <p:to>
                                        <p:strVal val="visible"/>
                                      </p:to>
                                    </p:set>
                                    <p:animEffect transition="in" filter="fade">
                                      <p:cBhvr>
                                        <p:cTn id="28" dur="1000"/>
                                        <p:tgtEl>
                                          <p:spTgt spid="74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43"/>
                                        </p:tgtEl>
                                        <p:attrNameLst>
                                          <p:attrName>style.visibility</p:attrName>
                                        </p:attrNameLst>
                                      </p:cBhvr>
                                      <p:to>
                                        <p:strVal val="visible"/>
                                      </p:to>
                                    </p:set>
                                    <p:animEffect transition="in" filter="fade">
                                      <p:cBhvr>
                                        <p:cTn id="33" dur="1000"/>
                                        <p:tgtEl>
                                          <p:spTgt spid="7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47"/>
                                        </p:tgtEl>
                                        <p:attrNameLst>
                                          <p:attrName>style.visibility</p:attrName>
                                        </p:attrNameLst>
                                      </p:cBhvr>
                                      <p:to>
                                        <p:strVal val="visible"/>
                                      </p:to>
                                    </p:set>
                                    <p:animEffect transition="in" filter="fade">
                                      <p:cBhvr>
                                        <p:cTn id="38" dur="1000"/>
                                        <p:tgtEl>
                                          <p:spTgt spid="747"/>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748"/>
                                        </p:tgtEl>
                                        <p:attrNameLst>
                                          <p:attrName>style.visibility</p:attrName>
                                        </p:attrNameLst>
                                      </p:cBhvr>
                                      <p:to>
                                        <p:strVal val="visible"/>
                                      </p:to>
                                    </p:set>
                                    <p:animEffect transition="in" filter="fade">
                                      <p:cBhvr>
                                        <p:cTn id="42" dur="1000"/>
                                        <p:tgtEl>
                                          <p:spTgt spid="7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9"/>
                                        </p:tgtEl>
                                        <p:attrNameLst>
                                          <p:attrName>style.visibility</p:attrName>
                                        </p:attrNameLst>
                                      </p:cBhvr>
                                      <p:to>
                                        <p:strVal val="visible"/>
                                      </p:to>
                                    </p:set>
                                    <p:animEffect transition="in" filter="fade">
                                      <p:cBhvr>
                                        <p:cTn id="47" dur="1000"/>
                                        <p:tgtEl>
                                          <p:spTgt spid="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54"/>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Search Fight!</a:t>
            </a:r>
            <a:endParaRPr/>
          </a:p>
        </p:txBody>
      </p:sp>
      <p:sp>
        <p:nvSpPr>
          <p:cNvPr id="755" name="Google Shape;755;p54"/>
          <p:cNvSpPr txBox="1">
            <a:spLocks noGrp="1"/>
          </p:cNvSpPr>
          <p:nvPr>
            <p:ph type="body" idx="1"/>
          </p:nvPr>
        </p:nvSpPr>
        <p:spPr>
          <a:xfrm>
            <a:off x="4437525" y="196125"/>
            <a:ext cx="4374000" cy="47412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a:t>Consider searching for a path from </a:t>
            </a:r>
            <a:r>
              <a:rPr lang="en" sz="1200" b="1" i="1">
                <a:solidFill>
                  <a:srgbClr val="FF0000"/>
                </a:solidFill>
              </a:rPr>
              <a:t>A</a:t>
            </a:r>
            <a:r>
              <a:rPr lang="en" sz="1200"/>
              <a:t> to </a:t>
            </a:r>
            <a:r>
              <a:rPr lang="en" sz="1200" b="1" i="1">
                <a:solidFill>
                  <a:srgbClr val="FF0000"/>
                </a:solidFill>
              </a:rPr>
              <a:t>G</a:t>
            </a:r>
            <a:r>
              <a:rPr lang="en" sz="1200">
                <a:solidFill>
                  <a:srgbClr val="FF0000"/>
                </a:solidFill>
              </a:rPr>
              <a:t> </a:t>
            </a:r>
            <a:r>
              <a:rPr lang="en" sz="1200"/>
              <a:t>in the weighted graph to the left.</a:t>
            </a:r>
            <a:endParaRPr sz="1200"/>
          </a:p>
          <a:p>
            <a:pPr marL="457200" lvl="0" indent="-304800" algn="l" rtl="0">
              <a:spcBef>
                <a:spcPts val="1000"/>
              </a:spcBef>
              <a:spcAft>
                <a:spcPts val="0"/>
              </a:spcAft>
              <a:buSzPts val="1200"/>
              <a:buChar char="●"/>
            </a:pPr>
            <a:r>
              <a:rPr lang="en" sz="1200"/>
              <a:t>The </a:t>
            </a:r>
            <a:r>
              <a:rPr lang="en" sz="1200" b="1" i="1">
                <a:solidFill>
                  <a:srgbClr val="FF0000"/>
                </a:solidFill>
              </a:rPr>
              <a:t>Breadth-First Search</a:t>
            </a:r>
            <a:r>
              <a:rPr lang="en" sz="1200"/>
              <a:t> algorithm would visit each vertex in order based on </a:t>
            </a:r>
            <a:r>
              <a:rPr lang="en" sz="1200" b="1" i="1">
                <a:solidFill>
                  <a:srgbClr val="FF0000"/>
                </a:solidFill>
              </a:rPr>
              <a:t>distance from the start</a:t>
            </a:r>
            <a:r>
              <a:rPr lang="en" sz="1200"/>
              <a:t>.</a:t>
            </a:r>
            <a:endParaRPr sz="1200"/>
          </a:p>
          <a:p>
            <a:pPr marL="914400" lvl="1" indent="-292100" algn="l" rtl="0">
              <a:spcBef>
                <a:spcPts val="0"/>
              </a:spcBef>
              <a:spcAft>
                <a:spcPts val="0"/>
              </a:spcAft>
              <a:buSzPts val="1000"/>
              <a:buChar char="○"/>
            </a:pPr>
            <a:r>
              <a:rPr lang="en" sz="1000"/>
              <a:t>All vertices that are </a:t>
            </a:r>
            <a:r>
              <a:rPr lang="en" sz="1000" b="1" i="1">
                <a:solidFill>
                  <a:srgbClr val="FF0000"/>
                </a:solidFill>
              </a:rPr>
              <a:t>one</a:t>
            </a:r>
            <a:r>
              <a:rPr lang="en" sz="1000">
                <a:solidFill>
                  <a:srgbClr val="FF0000"/>
                </a:solidFill>
              </a:rPr>
              <a:t> edge</a:t>
            </a:r>
            <a:r>
              <a:rPr lang="en" sz="1000"/>
              <a:t> from start, then vertices that are </a:t>
            </a:r>
            <a:r>
              <a:rPr lang="en" sz="1000" b="1" i="1">
                <a:solidFill>
                  <a:srgbClr val="FF0000"/>
                </a:solidFill>
              </a:rPr>
              <a:t>two edges</a:t>
            </a:r>
            <a:r>
              <a:rPr lang="en" sz="1000"/>
              <a:t>, and so on.</a:t>
            </a:r>
            <a:endParaRPr sz="1000"/>
          </a:p>
          <a:p>
            <a:pPr marL="914400" lvl="1" indent="-292100" algn="l" rtl="0">
              <a:spcBef>
                <a:spcPts val="0"/>
              </a:spcBef>
              <a:spcAft>
                <a:spcPts val="0"/>
              </a:spcAft>
              <a:buSzPts val="1000"/>
              <a:buChar char="○"/>
            </a:pPr>
            <a:r>
              <a:rPr lang="en" sz="1000"/>
              <a:t>In order to remain consistent, given the choice between two unexplored vertices, we choose the one that comes </a:t>
            </a:r>
            <a:r>
              <a:rPr lang="en" sz="1000" b="1" i="1">
                <a:solidFill>
                  <a:srgbClr val="FF0000"/>
                </a:solidFill>
              </a:rPr>
              <a:t>first alphabetically</a:t>
            </a:r>
            <a:r>
              <a:rPr lang="en" sz="1000"/>
              <a:t>.</a:t>
            </a:r>
            <a:endParaRPr sz="1000"/>
          </a:p>
          <a:p>
            <a:pPr marL="914400" lvl="1" indent="-292100" algn="l" rtl="0">
              <a:spcBef>
                <a:spcPts val="0"/>
              </a:spcBef>
              <a:spcAft>
                <a:spcPts val="0"/>
              </a:spcAft>
              <a:buSzPts val="1000"/>
              <a:buChar char="○"/>
            </a:pPr>
            <a:r>
              <a:rPr lang="en" sz="1000"/>
              <a:t>The path the BFS would find is therefore </a:t>
            </a:r>
            <a:r>
              <a:rPr lang="en" sz="1000" b="1" i="1">
                <a:solidFill>
                  <a:srgbClr val="FF0000"/>
                </a:solidFill>
              </a:rPr>
              <a:t>A</a:t>
            </a:r>
            <a:r>
              <a:rPr lang="en" sz="1000" b="1" i="1" baseline="-25000">
                <a:solidFill>
                  <a:srgbClr val="FF0000"/>
                </a:solidFill>
              </a:rPr>
              <a:t>4</a:t>
            </a:r>
            <a:r>
              <a:rPr lang="en" sz="1000" b="1" i="1">
                <a:solidFill>
                  <a:srgbClr val="FF0000"/>
                </a:solidFill>
              </a:rPr>
              <a:t>B</a:t>
            </a:r>
            <a:r>
              <a:rPr lang="en" sz="1000" b="1" i="1" baseline="-25000">
                <a:solidFill>
                  <a:srgbClr val="FF0000"/>
                </a:solidFill>
              </a:rPr>
              <a:t>2</a:t>
            </a:r>
            <a:r>
              <a:rPr lang="en" sz="1000" b="1" i="1">
                <a:solidFill>
                  <a:srgbClr val="FF0000"/>
                </a:solidFill>
              </a:rPr>
              <a:t>D</a:t>
            </a:r>
            <a:r>
              <a:rPr lang="en" sz="1000" b="1" i="1" baseline="-25000">
                <a:solidFill>
                  <a:srgbClr val="FF0000"/>
                </a:solidFill>
              </a:rPr>
              <a:t>7</a:t>
            </a:r>
            <a:r>
              <a:rPr lang="en" sz="1000" b="1" i="1">
                <a:solidFill>
                  <a:srgbClr val="FF0000"/>
                </a:solidFill>
              </a:rPr>
              <a:t>F</a:t>
            </a:r>
            <a:r>
              <a:rPr lang="en" sz="1000" b="1" i="1" baseline="-25000">
                <a:solidFill>
                  <a:srgbClr val="FF0000"/>
                </a:solidFill>
              </a:rPr>
              <a:t>10</a:t>
            </a:r>
            <a:r>
              <a:rPr lang="en" sz="1000" b="1" i="1">
                <a:solidFill>
                  <a:srgbClr val="FF0000"/>
                </a:solidFill>
              </a:rPr>
              <a:t>G</a:t>
            </a:r>
            <a:r>
              <a:rPr lang="en" sz="1000"/>
              <a:t> with a total cost of </a:t>
            </a:r>
            <a:r>
              <a:rPr lang="en" sz="1000" b="1" i="1">
                <a:solidFill>
                  <a:srgbClr val="FF0000"/>
                </a:solidFill>
              </a:rPr>
              <a:t>23</a:t>
            </a:r>
            <a:r>
              <a:rPr lang="en" sz="1000"/>
              <a:t>.</a:t>
            </a:r>
            <a:endParaRPr sz="1000"/>
          </a:p>
          <a:p>
            <a:pPr marL="457200" lvl="0" indent="-304800" algn="l" rtl="0">
              <a:spcBef>
                <a:spcPts val="1000"/>
              </a:spcBef>
              <a:spcAft>
                <a:spcPts val="0"/>
              </a:spcAft>
              <a:buSzPts val="1200"/>
              <a:buChar char="●"/>
            </a:pPr>
            <a:r>
              <a:rPr lang="en" sz="1200" b="1" i="1">
                <a:solidFill>
                  <a:srgbClr val="FF0000"/>
                </a:solidFill>
              </a:rPr>
              <a:t>Depth-First Search</a:t>
            </a:r>
            <a:r>
              <a:rPr lang="en" sz="1200"/>
              <a:t> chooses </a:t>
            </a:r>
            <a:r>
              <a:rPr lang="en" sz="1200" b="1" i="1">
                <a:solidFill>
                  <a:srgbClr val="FF0000"/>
                </a:solidFill>
              </a:rPr>
              <a:t>one</a:t>
            </a:r>
            <a:r>
              <a:rPr lang="en" sz="1200"/>
              <a:t> unexplored neighbor and heads </a:t>
            </a:r>
            <a:r>
              <a:rPr lang="en" sz="1200" b="1" i="1">
                <a:solidFill>
                  <a:srgbClr val="FF0000"/>
                </a:solidFill>
              </a:rPr>
              <a:t>deeper</a:t>
            </a:r>
            <a:r>
              <a:rPr lang="en" sz="1200"/>
              <a:t> into the graph.</a:t>
            </a:r>
            <a:endParaRPr sz="1200"/>
          </a:p>
          <a:p>
            <a:pPr marL="914400" lvl="1" indent="-292100" algn="l" rtl="0">
              <a:spcBef>
                <a:spcPts val="0"/>
              </a:spcBef>
              <a:spcAft>
                <a:spcPts val="0"/>
              </a:spcAft>
              <a:buSzPts val="1000"/>
              <a:buChar char="○"/>
            </a:pPr>
            <a:r>
              <a:rPr lang="en" sz="1000"/>
              <a:t>For consistency we also choose the neighbors in </a:t>
            </a:r>
            <a:r>
              <a:rPr lang="en" sz="1000" b="1" i="1">
                <a:solidFill>
                  <a:srgbClr val="FF0000"/>
                </a:solidFill>
              </a:rPr>
              <a:t>alphabetical order</a:t>
            </a:r>
            <a:r>
              <a:rPr lang="en" sz="1000"/>
              <a:t>.</a:t>
            </a:r>
            <a:endParaRPr sz="1000"/>
          </a:p>
          <a:p>
            <a:pPr marL="914400" lvl="1" indent="-292100" algn="l" rtl="0">
              <a:spcBef>
                <a:spcPts val="0"/>
              </a:spcBef>
              <a:spcAft>
                <a:spcPts val="0"/>
              </a:spcAft>
              <a:buSzPts val="1000"/>
              <a:buChar char="○"/>
            </a:pPr>
            <a:r>
              <a:rPr lang="en" sz="1000"/>
              <a:t>The path that </a:t>
            </a:r>
            <a:r>
              <a:rPr lang="en" sz="1000" b="1" i="1">
                <a:solidFill>
                  <a:srgbClr val="FF0000"/>
                </a:solidFill>
              </a:rPr>
              <a:t>DFS</a:t>
            </a:r>
            <a:r>
              <a:rPr lang="en" sz="1000"/>
              <a:t> would find is therefore </a:t>
            </a:r>
            <a:r>
              <a:rPr lang="en" sz="1000" b="1" i="1">
                <a:solidFill>
                  <a:srgbClr val="FF0000"/>
                </a:solidFill>
              </a:rPr>
              <a:t>A</a:t>
            </a:r>
            <a:r>
              <a:rPr lang="en" sz="1000" b="1" i="1" baseline="-25000">
                <a:solidFill>
                  <a:srgbClr val="FF0000"/>
                </a:solidFill>
              </a:rPr>
              <a:t>4</a:t>
            </a:r>
            <a:r>
              <a:rPr lang="en" sz="1000" b="1" i="1">
                <a:solidFill>
                  <a:srgbClr val="FF0000"/>
                </a:solidFill>
              </a:rPr>
              <a:t>B</a:t>
            </a:r>
            <a:r>
              <a:rPr lang="en" sz="1000" b="1" i="1" baseline="-25000">
                <a:solidFill>
                  <a:srgbClr val="FF0000"/>
                </a:solidFill>
              </a:rPr>
              <a:t>2</a:t>
            </a:r>
            <a:r>
              <a:rPr lang="en" sz="1000" b="1" i="1">
                <a:solidFill>
                  <a:srgbClr val="FF0000"/>
                </a:solidFill>
              </a:rPr>
              <a:t>D</a:t>
            </a:r>
            <a:r>
              <a:rPr lang="en" sz="1000" b="1" i="1" baseline="-25000">
                <a:solidFill>
                  <a:srgbClr val="FF0000"/>
                </a:solidFill>
              </a:rPr>
              <a:t>12</a:t>
            </a:r>
            <a:r>
              <a:rPr lang="en" sz="1000" b="1" i="1">
                <a:solidFill>
                  <a:srgbClr val="FF0000"/>
                </a:solidFill>
              </a:rPr>
              <a:t>C</a:t>
            </a:r>
            <a:r>
              <a:rPr lang="en" sz="1000" b="1" i="1" baseline="-25000">
                <a:solidFill>
                  <a:srgbClr val="FF0000"/>
                </a:solidFill>
              </a:rPr>
              <a:t>1</a:t>
            </a:r>
            <a:r>
              <a:rPr lang="en" sz="1000" b="1" i="1">
                <a:solidFill>
                  <a:srgbClr val="FF0000"/>
                </a:solidFill>
              </a:rPr>
              <a:t>E</a:t>
            </a:r>
            <a:r>
              <a:rPr lang="en" sz="1000" b="1" i="1" baseline="-25000">
                <a:solidFill>
                  <a:srgbClr val="FF0000"/>
                </a:solidFill>
              </a:rPr>
              <a:t>2</a:t>
            </a:r>
            <a:r>
              <a:rPr lang="en" sz="1000" b="1" i="1">
                <a:solidFill>
                  <a:srgbClr val="FF0000"/>
                </a:solidFill>
              </a:rPr>
              <a:t>F</a:t>
            </a:r>
            <a:r>
              <a:rPr lang="en" sz="1000" b="1" i="1" baseline="-25000">
                <a:solidFill>
                  <a:srgbClr val="FF0000"/>
                </a:solidFill>
              </a:rPr>
              <a:t>10</a:t>
            </a:r>
            <a:r>
              <a:rPr lang="en" sz="1000" b="1" i="1">
                <a:solidFill>
                  <a:srgbClr val="FF0000"/>
                </a:solidFill>
              </a:rPr>
              <a:t>G</a:t>
            </a:r>
            <a:r>
              <a:rPr lang="en" sz="1000"/>
              <a:t> with a total cost of </a:t>
            </a:r>
            <a:r>
              <a:rPr lang="en" sz="1000" b="1" i="1">
                <a:solidFill>
                  <a:srgbClr val="FF0000"/>
                </a:solidFill>
              </a:rPr>
              <a:t>31</a:t>
            </a:r>
            <a:r>
              <a:rPr lang="en" sz="1000"/>
              <a:t>.</a:t>
            </a:r>
            <a:endParaRPr sz="1000"/>
          </a:p>
          <a:p>
            <a:pPr marL="457200" lvl="0" indent="-304800" algn="l" rtl="0">
              <a:spcBef>
                <a:spcPts val="1000"/>
              </a:spcBef>
              <a:spcAft>
                <a:spcPts val="0"/>
              </a:spcAft>
              <a:buSzPts val="1200"/>
              <a:buChar char="●"/>
            </a:pPr>
            <a:r>
              <a:rPr lang="en" sz="1200" b="1" i="1">
                <a:solidFill>
                  <a:srgbClr val="FF0000"/>
                </a:solidFill>
              </a:rPr>
              <a:t>Nearest Neighbor</a:t>
            </a:r>
            <a:r>
              <a:rPr lang="en" sz="1200"/>
              <a:t> would find the path </a:t>
            </a:r>
            <a:r>
              <a:rPr lang="en" sz="1200" b="1" i="1">
                <a:solidFill>
                  <a:srgbClr val="FF0000"/>
                </a:solidFill>
              </a:rPr>
              <a:t>A</a:t>
            </a:r>
            <a:r>
              <a:rPr lang="en" sz="1200" b="1" i="1" baseline="-25000">
                <a:solidFill>
                  <a:srgbClr val="FF0000"/>
                </a:solidFill>
              </a:rPr>
              <a:t>4</a:t>
            </a:r>
            <a:r>
              <a:rPr lang="en" sz="1200" b="1" i="1">
                <a:solidFill>
                  <a:srgbClr val="FF0000"/>
                </a:solidFill>
              </a:rPr>
              <a:t>B</a:t>
            </a:r>
            <a:r>
              <a:rPr lang="en" sz="1200" b="1" i="1" baseline="-25000">
                <a:solidFill>
                  <a:srgbClr val="FF0000"/>
                </a:solidFill>
              </a:rPr>
              <a:t>1</a:t>
            </a:r>
            <a:r>
              <a:rPr lang="en" sz="1200" b="1" i="1">
                <a:solidFill>
                  <a:srgbClr val="FF0000"/>
                </a:solidFill>
              </a:rPr>
              <a:t>E</a:t>
            </a:r>
            <a:r>
              <a:rPr lang="en" sz="1200" b="1" i="1" baseline="-25000">
                <a:solidFill>
                  <a:srgbClr val="FF0000"/>
                </a:solidFill>
              </a:rPr>
              <a:t>1</a:t>
            </a:r>
            <a:r>
              <a:rPr lang="en" sz="1200" b="1" i="1">
                <a:solidFill>
                  <a:srgbClr val="FF0000"/>
                </a:solidFill>
              </a:rPr>
              <a:t>C</a:t>
            </a:r>
            <a:r>
              <a:rPr lang="en" sz="1200" b="1" i="1" baseline="-25000">
                <a:solidFill>
                  <a:srgbClr val="FF0000"/>
                </a:solidFill>
              </a:rPr>
              <a:t>12</a:t>
            </a:r>
            <a:r>
              <a:rPr lang="en" sz="1200" b="1" i="1">
                <a:solidFill>
                  <a:srgbClr val="FF0000"/>
                </a:solidFill>
              </a:rPr>
              <a:t>D</a:t>
            </a:r>
            <a:r>
              <a:rPr lang="en" sz="1200" b="1" i="1" baseline="-25000">
                <a:solidFill>
                  <a:srgbClr val="FF0000"/>
                </a:solidFill>
              </a:rPr>
              <a:t>7</a:t>
            </a:r>
            <a:r>
              <a:rPr lang="en" sz="1200" b="1" i="1">
                <a:solidFill>
                  <a:srgbClr val="FF0000"/>
                </a:solidFill>
              </a:rPr>
              <a:t>F</a:t>
            </a:r>
            <a:r>
              <a:rPr lang="en" sz="1200" b="1" i="1" baseline="-25000">
                <a:solidFill>
                  <a:srgbClr val="FF0000"/>
                </a:solidFill>
              </a:rPr>
              <a:t>10</a:t>
            </a:r>
            <a:r>
              <a:rPr lang="en" sz="1200" b="1" i="1">
                <a:solidFill>
                  <a:srgbClr val="FF0000"/>
                </a:solidFill>
              </a:rPr>
              <a:t>G</a:t>
            </a:r>
            <a:r>
              <a:rPr lang="en" sz="1200"/>
              <a:t> with a total cost of </a:t>
            </a:r>
            <a:r>
              <a:rPr lang="en" sz="1200" b="1" i="1">
                <a:solidFill>
                  <a:srgbClr val="FF0000"/>
                </a:solidFill>
              </a:rPr>
              <a:t>35</a:t>
            </a:r>
            <a:r>
              <a:rPr lang="en" sz="1200"/>
              <a:t>! </a:t>
            </a:r>
            <a:endParaRPr sz="1200"/>
          </a:p>
          <a:p>
            <a:pPr marL="457200" lvl="0" indent="-304800" algn="l" rtl="0">
              <a:spcBef>
                <a:spcPts val="1000"/>
              </a:spcBef>
              <a:spcAft>
                <a:spcPts val="0"/>
              </a:spcAft>
              <a:buSzPts val="1200"/>
              <a:buChar char="●"/>
            </a:pPr>
            <a:r>
              <a:rPr lang="en" sz="1200" b="1" i="1">
                <a:solidFill>
                  <a:srgbClr val="FF0000"/>
                </a:solidFill>
              </a:rPr>
              <a:t>None </a:t>
            </a:r>
            <a:r>
              <a:rPr lang="en" sz="1200"/>
              <a:t>of our algorithms find the optimal path, which is </a:t>
            </a:r>
            <a:r>
              <a:rPr lang="en" sz="1200" b="1" i="1">
                <a:solidFill>
                  <a:srgbClr val="FF0000"/>
                </a:solidFill>
              </a:rPr>
              <a:t>A</a:t>
            </a:r>
            <a:r>
              <a:rPr lang="en" sz="1200" b="1" i="1" baseline="-25000">
                <a:solidFill>
                  <a:srgbClr val="FF0000"/>
                </a:solidFill>
              </a:rPr>
              <a:t>4</a:t>
            </a:r>
            <a:r>
              <a:rPr lang="en" sz="1200" b="1" i="1">
                <a:solidFill>
                  <a:srgbClr val="FF0000"/>
                </a:solidFill>
              </a:rPr>
              <a:t>B</a:t>
            </a:r>
            <a:r>
              <a:rPr lang="en" sz="1200" b="1" i="1" baseline="-25000">
                <a:solidFill>
                  <a:srgbClr val="FF0000"/>
                </a:solidFill>
              </a:rPr>
              <a:t>1</a:t>
            </a:r>
            <a:r>
              <a:rPr lang="en" sz="1200" b="1" i="1">
                <a:solidFill>
                  <a:srgbClr val="FF0000"/>
                </a:solidFill>
              </a:rPr>
              <a:t>E</a:t>
            </a:r>
            <a:r>
              <a:rPr lang="en" sz="1200" b="1" i="1" baseline="-25000">
                <a:solidFill>
                  <a:srgbClr val="FF0000"/>
                </a:solidFill>
              </a:rPr>
              <a:t>2</a:t>
            </a:r>
            <a:r>
              <a:rPr lang="en" sz="1200" b="1" i="1">
                <a:solidFill>
                  <a:srgbClr val="FF0000"/>
                </a:solidFill>
              </a:rPr>
              <a:t>F</a:t>
            </a:r>
            <a:r>
              <a:rPr lang="en" sz="1200" b="1" i="1" baseline="-25000">
                <a:solidFill>
                  <a:srgbClr val="FF0000"/>
                </a:solidFill>
              </a:rPr>
              <a:t>10</a:t>
            </a:r>
            <a:r>
              <a:rPr lang="en" sz="1200" b="1" i="1">
                <a:solidFill>
                  <a:srgbClr val="FF0000"/>
                </a:solidFill>
              </a:rPr>
              <a:t>G</a:t>
            </a:r>
            <a:r>
              <a:rPr lang="en" sz="1200" b="1" i="1"/>
              <a:t> </a:t>
            </a:r>
            <a:r>
              <a:rPr lang="en" sz="1200"/>
              <a:t>with a total cost of </a:t>
            </a:r>
            <a:r>
              <a:rPr lang="en" sz="1200" b="1" i="1">
                <a:solidFill>
                  <a:srgbClr val="FF0000"/>
                </a:solidFill>
              </a:rPr>
              <a:t>17</a:t>
            </a:r>
            <a:r>
              <a:rPr lang="en" sz="1200"/>
              <a:t>.</a:t>
            </a:r>
            <a:endParaRPr sz="1200"/>
          </a:p>
        </p:txBody>
      </p:sp>
      <p:sp>
        <p:nvSpPr>
          <p:cNvPr id="756" name="Google Shape;756;p54"/>
          <p:cNvSpPr txBox="1">
            <a:spLocks noGrp="1"/>
          </p:cNvSpPr>
          <p:nvPr>
            <p:ph type="sldNum" idx="12"/>
          </p:nvPr>
        </p:nvSpPr>
        <p:spPr>
          <a:xfrm>
            <a:off x="8617100"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pic>
        <p:nvPicPr>
          <p:cNvPr id="757" name="Google Shape;757;p54"/>
          <p:cNvPicPr preferRelativeResize="0"/>
          <p:nvPr/>
        </p:nvPicPr>
        <p:blipFill>
          <a:blip r:embed="rId3">
            <a:alphaModFix/>
          </a:blip>
          <a:stretch>
            <a:fillRect/>
          </a:stretch>
        </p:blipFill>
        <p:spPr>
          <a:xfrm>
            <a:off x="533400" y="834225"/>
            <a:ext cx="3290724" cy="4004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5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
        <p:nvSpPr>
          <p:cNvPr id="763" name="Google Shape;763;p55"/>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Path Tuple</a:t>
            </a:r>
            <a:endParaRPr/>
          </a:p>
        </p:txBody>
      </p:sp>
      <p:sp>
        <p:nvSpPr>
          <p:cNvPr id="764" name="Google Shape;764;p55"/>
          <p:cNvSpPr txBox="1">
            <a:spLocks noGrp="1"/>
          </p:cNvSpPr>
          <p:nvPr>
            <p:ph type="body" idx="1"/>
          </p:nvPr>
        </p:nvSpPr>
        <p:spPr>
          <a:xfrm>
            <a:off x="301275" y="196125"/>
            <a:ext cx="4388400" cy="48024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When we implemented </a:t>
            </a:r>
            <a:r>
              <a:rPr lang="en" b="1" i="1" dirty="0">
                <a:solidFill>
                  <a:srgbClr val="FF0000"/>
                </a:solidFill>
              </a:rPr>
              <a:t>breadth-first search</a:t>
            </a:r>
            <a:r>
              <a:rPr lang="en" dirty="0"/>
              <a:t> we used a map to keep track of each vertex </a:t>
            </a:r>
            <a:r>
              <a:rPr lang="en" b="1" i="1" dirty="0">
                <a:solidFill>
                  <a:srgbClr val="FF0000"/>
                </a:solidFill>
              </a:rPr>
              <a:t>V</a:t>
            </a:r>
            <a:r>
              <a:rPr lang="en" dirty="0"/>
              <a:t> and its predecessor.</a:t>
            </a:r>
            <a:endParaRPr dirty="0"/>
          </a:p>
          <a:p>
            <a:pPr marL="914400" lvl="1" indent="-298450" algn="l" rtl="0">
              <a:lnSpc>
                <a:spcPct val="100000"/>
              </a:lnSpc>
              <a:spcBef>
                <a:spcPts val="0"/>
              </a:spcBef>
              <a:spcAft>
                <a:spcPts val="0"/>
              </a:spcAft>
              <a:buSzPts val="1100"/>
              <a:buChar char="○"/>
            </a:pPr>
            <a:r>
              <a:rPr lang="en" dirty="0"/>
              <a:t>The predecessor was </a:t>
            </a:r>
            <a:r>
              <a:rPr lang="en" b="1" i="1" dirty="0">
                <a:solidFill>
                  <a:srgbClr val="FF0000"/>
                </a:solidFill>
              </a:rPr>
              <a:t>always</a:t>
            </a:r>
            <a:r>
              <a:rPr lang="en" dirty="0"/>
              <a:t> the vertex through which we first discovered</a:t>
            </a:r>
            <a:r>
              <a:rPr lang="en" dirty="0">
                <a:solidFill>
                  <a:srgbClr val="FF0000"/>
                </a:solidFill>
              </a:rPr>
              <a:t> </a:t>
            </a:r>
            <a:r>
              <a:rPr lang="en" b="1" i="1" dirty="0">
                <a:solidFill>
                  <a:srgbClr val="FF0000"/>
                </a:solidFill>
              </a:rPr>
              <a:t>V</a:t>
            </a:r>
            <a:r>
              <a:rPr lang="en" dirty="0"/>
              <a:t> as a neighbor.</a:t>
            </a:r>
            <a:endParaRPr dirty="0"/>
          </a:p>
          <a:p>
            <a:pPr marL="914400" lvl="1" indent="-298450" algn="l" rtl="0">
              <a:lnSpc>
                <a:spcPct val="100000"/>
              </a:lnSpc>
              <a:spcBef>
                <a:spcPts val="0"/>
              </a:spcBef>
              <a:spcAft>
                <a:spcPts val="0"/>
              </a:spcAft>
              <a:buSzPts val="1100"/>
              <a:buChar char="○"/>
            </a:pPr>
            <a:r>
              <a:rPr lang="en" dirty="0"/>
              <a:t>This is one way that BFS ensures that the paths that it finds will have the fewest edges.</a:t>
            </a:r>
            <a:endParaRPr dirty="0"/>
          </a:p>
          <a:p>
            <a:pPr marL="457200" lvl="0" indent="-311150" algn="l" rtl="0">
              <a:lnSpc>
                <a:spcPct val="100000"/>
              </a:lnSpc>
              <a:spcBef>
                <a:spcPts val="1000"/>
              </a:spcBef>
              <a:spcAft>
                <a:spcPts val="0"/>
              </a:spcAft>
              <a:buSzPts val="1300"/>
              <a:buChar char="●"/>
            </a:pPr>
            <a:r>
              <a:rPr lang="en" dirty="0"/>
              <a:t>But BFS ignores the </a:t>
            </a:r>
            <a:r>
              <a:rPr lang="en" b="1" i="1" dirty="0">
                <a:solidFill>
                  <a:srgbClr val="FF0000"/>
                </a:solidFill>
              </a:rPr>
              <a:t>cost</a:t>
            </a:r>
            <a:r>
              <a:rPr lang="en" dirty="0">
                <a:solidFill>
                  <a:srgbClr val="FF0000"/>
                </a:solidFill>
              </a:rPr>
              <a:t> </a:t>
            </a:r>
            <a:r>
              <a:rPr lang="en" dirty="0"/>
              <a:t>of the edges between neighbors.</a:t>
            </a:r>
            <a:endParaRPr dirty="0"/>
          </a:p>
          <a:p>
            <a:pPr marL="914400" lvl="1" indent="-298450" algn="l" rtl="0">
              <a:lnSpc>
                <a:spcPct val="100000"/>
              </a:lnSpc>
              <a:spcBef>
                <a:spcPts val="0"/>
              </a:spcBef>
              <a:spcAft>
                <a:spcPts val="0"/>
              </a:spcAft>
              <a:buSzPts val="1100"/>
              <a:buChar char="○"/>
            </a:pPr>
            <a:r>
              <a:rPr lang="en" dirty="0"/>
              <a:t>We have already seen that it will not find the lowest cost path much of the time.</a:t>
            </a:r>
            <a:endParaRPr dirty="0"/>
          </a:p>
          <a:p>
            <a:pPr marL="457200" lvl="0" indent="-311150" algn="l" rtl="0">
              <a:lnSpc>
                <a:spcPct val="100000"/>
              </a:lnSpc>
              <a:spcBef>
                <a:spcPts val="1000"/>
              </a:spcBef>
              <a:spcAft>
                <a:spcPts val="0"/>
              </a:spcAft>
              <a:buSzPts val="1300"/>
              <a:buChar char="●"/>
            </a:pPr>
            <a:r>
              <a:rPr lang="en" dirty="0"/>
              <a:t>Simply keeping track of the predecessor vertex will not be sufficient; </a:t>
            </a:r>
            <a:r>
              <a:rPr lang="en" dirty="0">
                <a:highlight>
                  <a:srgbClr val="FFFF00"/>
                </a:highlight>
              </a:rPr>
              <a:t>we </a:t>
            </a:r>
            <a:r>
              <a:rPr lang="en" b="1" i="1" dirty="0">
                <a:solidFill>
                  <a:srgbClr val="FF0000"/>
                </a:solidFill>
                <a:highlight>
                  <a:srgbClr val="FFFF00"/>
                </a:highlight>
              </a:rPr>
              <a:t>also</a:t>
            </a:r>
            <a:r>
              <a:rPr lang="en" dirty="0">
                <a:solidFill>
                  <a:srgbClr val="FF0000"/>
                </a:solidFill>
                <a:highlight>
                  <a:srgbClr val="FFFF00"/>
                </a:highlight>
              </a:rPr>
              <a:t> </a:t>
            </a:r>
            <a:r>
              <a:rPr lang="en" dirty="0">
                <a:highlight>
                  <a:srgbClr val="FFFF00"/>
                </a:highlight>
              </a:rPr>
              <a:t>need to know the </a:t>
            </a:r>
            <a:r>
              <a:rPr lang="en" b="1" i="1" dirty="0">
                <a:solidFill>
                  <a:srgbClr val="FF0000"/>
                </a:solidFill>
                <a:highlight>
                  <a:srgbClr val="FFFF00"/>
                </a:highlight>
              </a:rPr>
              <a:t>total distance</a:t>
            </a:r>
            <a:r>
              <a:rPr lang="en" dirty="0">
                <a:highlight>
                  <a:srgbClr val="FFFF00"/>
                </a:highlight>
              </a:rPr>
              <a:t> from the </a:t>
            </a:r>
            <a:r>
              <a:rPr lang="en" b="1" i="1" dirty="0">
                <a:solidFill>
                  <a:srgbClr val="FF0000"/>
                </a:solidFill>
                <a:highlight>
                  <a:srgbClr val="FFFF00"/>
                </a:highlight>
              </a:rPr>
              <a:t>starting vertex</a:t>
            </a:r>
            <a:r>
              <a:rPr lang="en" dirty="0">
                <a:highlight>
                  <a:srgbClr val="FFFF00"/>
                </a:highlight>
              </a:rPr>
              <a:t> through that predecessor.</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This means that we will need a new class to store both pieces of information: a </a:t>
            </a:r>
            <a:r>
              <a:rPr lang="en" b="1" i="1" dirty="0">
                <a:solidFill>
                  <a:srgbClr val="FF0000"/>
                </a:solidFill>
                <a:highlight>
                  <a:srgbClr val="FFFF00"/>
                </a:highlight>
              </a:rPr>
              <a:t>path tuple</a:t>
            </a:r>
            <a:r>
              <a:rPr lang="en" dirty="0"/>
              <a:t>.</a:t>
            </a:r>
            <a:endParaRPr dirty="0"/>
          </a:p>
          <a:p>
            <a:pPr marL="914400" lvl="1" indent="-298450" algn="l" rtl="0">
              <a:lnSpc>
                <a:spcPct val="100000"/>
              </a:lnSpc>
              <a:spcBef>
                <a:spcPts val="0"/>
              </a:spcBef>
              <a:spcAft>
                <a:spcPts val="0"/>
              </a:spcAft>
              <a:buSzPts val="1100"/>
              <a:buChar char="○"/>
            </a:pPr>
            <a:r>
              <a:rPr lang="en" dirty="0"/>
              <a:t>These tuples will be stored as the </a:t>
            </a:r>
            <a:r>
              <a:rPr lang="en" b="1" i="1" dirty="0">
                <a:solidFill>
                  <a:srgbClr val="FF0000"/>
                </a:solidFill>
              </a:rPr>
              <a:t>values</a:t>
            </a:r>
            <a:r>
              <a:rPr lang="en" dirty="0"/>
              <a:t> in a </a:t>
            </a:r>
            <a:r>
              <a:rPr lang="en" b="1" i="1" dirty="0">
                <a:solidFill>
                  <a:srgbClr val="FF0000"/>
                </a:solidFill>
              </a:rPr>
              <a:t>map</a:t>
            </a:r>
            <a:r>
              <a:rPr lang="en" dirty="0"/>
              <a:t> with each vertex as a </a:t>
            </a:r>
            <a:r>
              <a:rPr lang="en" b="1" i="1" dirty="0">
                <a:solidFill>
                  <a:srgbClr val="FF0000"/>
                </a:solidFill>
              </a:rPr>
              <a:t>key</a:t>
            </a:r>
            <a:r>
              <a:rPr lang="en" dirty="0"/>
              <a:t>.</a:t>
            </a:r>
            <a:endParaRPr dirty="0"/>
          </a:p>
          <a:p>
            <a:pPr marL="914400" lvl="1" indent="-298450" algn="l" rtl="0">
              <a:lnSpc>
                <a:spcPct val="100000"/>
              </a:lnSpc>
              <a:spcBef>
                <a:spcPts val="0"/>
              </a:spcBef>
              <a:spcAft>
                <a:spcPts val="0"/>
              </a:spcAft>
              <a:buSzPts val="1100"/>
              <a:buChar char="○"/>
            </a:pPr>
            <a:r>
              <a:rPr lang="en" dirty="0"/>
              <a:t>The starting vertex </a:t>
            </a:r>
            <a:r>
              <a:rPr lang="en" dirty="0">
                <a:highlight>
                  <a:srgbClr val="FFFF00"/>
                </a:highlight>
              </a:rPr>
              <a:t>will begin with a </a:t>
            </a:r>
            <a:r>
              <a:rPr lang="en" dirty="0">
                <a:solidFill>
                  <a:srgbClr val="FF0000"/>
                </a:solidFill>
                <a:highlight>
                  <a:srgbClr val="FFFF00"/>
                </a:highlight>
                <a:latin typeface="Courier New"/>
                <a:ea typeface="Courier New"/>
                <a:cs typeface="Courier New"/>
                <a:sym typeface="Courier New"/>
              </a:rPr>
              <a:t>null</a:t>
            </a:r>
            <a:r>
              <a:rPr lang="en" dirty="0">
                <a:highlight>
                  <a:srgbClr val="FFFF00"/>
                </a:highlight>
              </a:rPr>
              <a:t> </a:t>
            </a:r>
            <a:r>
              <a:rPr lang="en" dirty="0"/>
              <a:t>predecessor and a </a:t>
            </a:r>
            <a:r>
              <a:rPr lang="en" b="1" i="1" dirty="0">
                <a:solidFill>
                  <a:srgbClr val="FF0000"/>
                </a:solidFill>
              </a:rPr>
              <a:t>distance</a:t>
            </a:r>
            <a:r>
              <a:rPr lang="en" dirty="0"/>
              <a:t> of </a:t>
            </a:r>
            <a:r>
              <a:rPr lang="en" dirty="0">
                <a:solidFill>
                  <a:srgbClr val="FF0000"/>
                </a:solidFill>
              </a:rPr>
              <a:t>0</a:t>
            </a:r>
            <a:r>
              <a:rPr lang="en" dirty="0"/>
              <a:t>, e.g. </a:t>
            </a:r>
            <a:r>
              <a:rPr lang="en" dirty="0">
                <a:solidFill>
                  <a:srgbClr val="FF0000"/>
                </a:solidFill>
                <a:latin typeface="Courier New"/>
                <a:ea typeface="Courier New"/>
                <a:cs typeface="Courier New"/>
                <a:sym typeface="Courier New"/>
              </a:rPr>
              <a:t>(null, 0)</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All other vertices will begin with a </a:t>
            </a:r>
            <a:r>
              <a:rPr lang="en" dirty="0">
                <a:solidFill>
                  <a:srgbClr val="FF0000"/>
                </a:solidFill>
                <a:latin typeface="Courier New"/>
                <a:ea typeface="Courier New"/>
                <a:cs typeface="Courier New"/>
                <a:sym typeface="Courier New"/>
              </a:rPr>
              <a:t>null</a:t>
            </a:r>
            <a:r>
              <a:rPr lang="en" dirty="0"/>
              <a:t> predecessor and a </a:t>
            </a:r>
            <a:r>
              <a:rPr lang="en" b="1" i="1" dirty="0">
                <a:solidFill>
                  <a:srgbClr val="FF0000"/>
                </a:solidFill>
              </a:rPr>
              <a:t>distance</a:t>
            </a:r>
            <a:r>
              <a:rPr lang="en" dirty="0"/>
              <a:t> of </a:t>
            </a:r>
            <a:r>
              <a:rPr lang="en" b="1" i="1" dirty="0">
                <a:solidFill>
                  <a:srgbClr val="FF0000"/>
                </a:solidFill>
              </a:rPr>
              <a:t>infinity</a:t>
            </a:r>
            <a:r>
              <a:rPr lang="en" dirty="0"/>
              <a:t>, e.g. </a:t>
            </a:r>
            <a:r>
              <a:rPr lang="en" dirty="0">
                <a:solidFill>
                  <a:srgbClr val="FF0000"/>
                </a:solidFill>
                <a:highlight>
                  <a:srgbClr val="FFFF00"/>
                </a:highlight>
                <a:latin typeface="Courier New"/>
                <a:ea typeface="Courier New"/>
                <a:cs typeface="Courier New"/>
                <a:sym typeface="Courier New"/>
              </a:rPr>
              <a:t>(null, ∞)</a:t>
            </a:r>
            <a:endParaRPr dirty="0">
              <a:solidFill>
                <a:srgbClr val="FF0000"/>
              </a:solidFill>
              <a:highlight>
                <a:srgbClr val="FFFF00"/>
              </a:highlight>
              <a:latin typeface="Courier New"/>
              <a:ea typeface="Courier New"/>
              <a:cs typeface="Courier New"/>
              <a:sym typeface="Courier New"/>
            </a:endParaRPr>
          </a:p>
        </p:txBody>
      </p:sp>
      <p:sp>
        <p:nvSpPr>
          <p:cNvPr id="765" name="Google Shape;765;p55"/>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As the algorithm runs and each vertex is discovered (or </a:t>
            </a:r>
            <a:r>
              <a:rPr lang="en" i="1" dirty="0"/>
              <a:t>rediscovered</a:t>
            </a:r>
            <a:r>
              <a:rPr lang="en" dirty="0"/>
              <a:t>), the </a:t>
            </a:r>
            <a:r>
              <a:rPr lang="en" dirty="0">
                <a:highlight>
                  <a:srgbClr val="FFFF00"/>
                </a:highlight>
              </a:rPr>
              <a:t>values in the path tuples will be updated </a:t>
            </a:r>
            <a:r>
              <a:rPr lang="en" dirty="0"/>
              <a:t>to reflect the </a:t>
            </a:r>
            <a:r>
              <a:rPr lang="en" b="1" i="1" dirty="0">
                <a:solidFill>
                  <a:srgbClr val="FF0000"/>
                </a:solidFill>
              </a:rPr>
              <a:t>predecessor vertex</a:t>
            </a:r>
            <a:r>
              <a:rPr lang="en" dirty="0"/>
              <a:t> and </a:t>
            </a:r>
            <a:r>
              <a:rPr lang="en" b="1" i="1" dirty="0">
                <a:solidFill>
                  <a:srgbClr val="FF0000"/>
                </a:solidFill>
              </a:rPr>
              <a:t>shortest known distance</a:t>
            </a:r>
            <a:r>
              <a:rPr lang="en" dirty="0"/>
              <a:t> from start.</a:t>
            </a:r>
            <a:endParaRPr dirty="0"/>
          </a:p>
        </p:txBody>
      </p:sp>
      <p:graphicFrame>
        <p:nvGraphicFramePr>
          <p:cNvPr id="766" name="Google Shape;766;p55"/>
          <p:cNvGraphicFramePr/>
          <p:nvPr/>
        </p:nvGraphicFramePr>
        <p:xfrm>
          <a:off x="5192200" y="819150"/>
          <a:ext cx="3702850" cy="3169680"/>
        </p:xfrm>
        <a:graphic>
          <a:graphicData uri="http://schemas.openxmlformats.org/drawingml/2006/table">
            <a:tbl>
              <a:tblPr>
                <a:noFill/>
                <a:tableStyleId>{89CCAE03-A2B2-4379-B0C2-E101A7E113D6}</a:tableStyleId>
              </a:tblPr>
              <a:tblGrid>
                <a:gridCol w="1851425">
                  <a:extLst>
                    <a:ext uri="{9D8B030D-6E8A-4147-A177-3AD203B41FA5}">
                      <a16:colId xmlns:a16="http://schemas.microsoft.com/office/drawing/2014/main" val="20000"/>
                    </a:ext>
                  </a:extLst>
                </a:gridCol>
                <a:gridCol w="185142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Vertex</a:t>
                      </a:r>
                      <a:endParaRPr>
                        <a:solidFill>
                          <a:srgbClr val="FFFFFF"/>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Path Tuple</a:t>
                      </a:r>
                      <a:endParaRPr>
                        <a:solidFill>
                          <a:srgbClr val="FFFFFF"/>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solidFill>
                            <a:srgbClr val="4A86E8"/>
                          </a:solidFill>
                          <a:latin typeface="Consolas"/>
                          <a:ea typeface="Consolas"/>
                          <a:cs typeface="Consolas"/>
                          <a:sym typeface="Consolas"/>
                        </a:rPr>
                        <a:t>A</a:t>
                      </a:r>
                      <a:endParaRPr>
                        <a:solidFill>
                          <a:srgbClr val="4A86E8"/>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4A86E8"/>
                          </a:solidFill>
                          <a:latin typeface="Consolas"/>
                          <a:ea typeface="Consolas"/>
                          <a:cs typeface="Consolas"/>
                          <a:sym typeface="Consolas"/>
                        </a:rPr>
                        <a:t>(null, 0)</a:t>
                      </a:r>
                      <a:endParaRPr>
                        <a:solidFill>
                          <a:srgbClr val="4A86E8"/>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B</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C</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D</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E</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F</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G</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6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6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5"/>
                                        </p:tgtEl>
                                        <p:attrNameLst>
                                          <p:attrName>style.visibility</p:attrName>
                                        </p:attrNameLst>
                                      </p:cBhvr>
                                      <p:to>
                                        <p:strVal val="visible"/>
                                      </p:to>
                                    </p:set>
                                    <p:animEffect transition="in" filter="fade">
                                      <p:cBhvr>
                                        <p:cTn id="47" dur="1000"/>
                                        <p:tgtEl>
                                          <p:spTgt spid="765"/>
                                        </p:tgtEl>
                                      </p:cBhvr>
                                    </p:animEffect>
                                  </p:childTnLst>
                                </p:cTn>
                              </p:par>
                              <p:par>
                                <p:cTn id="48" presetID="10" presetClass="entr" presetSubtype="0" fill="hold" nodeType="withEffect">
                                  <p:stCondLst>
                                    <p:cond delay="0"/>
                                  </p:stCondLst>
                                  <p:childTnLst>
                                    <p:set>
                                      <p:cBhvr>
                                        <p:cTn id="49" dur="1" fill="hold">
                                          <p:stCondLst>
                                            <p:cond delay="0"/>
                                          </p:stCondLst>
                                        </p:cTn>
                                        <p:tgtEl>
                                          <p:spTgt spid="766"/>
                                        </p:tgtEl>
                                        <p:attrNameLst>
                                          <p:attrName>style.visibility</p:attrName>
                                        </p:attrNameLst>
                                      </p:cBhvr>
                                      <p:to>
                                        <p:strVal val="visible"/>
                                      </p:to>
                                    </p:set>
                                    <p:animEffect transition="in" filter="fade">
                                      <p:cBhvr>
                                        <p:cTn id="50" dur="1000"/>
                                        <p:tgtEl>
                                          <p:spTgt spid="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Path Tuple</a:t>
            </a:r>
            <a:endParaRPr/>
          </a:p>
        </p:txBody>
      </p:sp>
      <p:sp>
        <p:nvSpPr>
          <p:cNvPr id="772" name="Google Shape;772;p5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dirty="0"/>
              <a:t>In order to keep track of the shortest distance to each vertex, we will need a </a:t>
            </a:r>
            <a:r>
              <a:rPr lang="en" i="1" dirty="0"/>
              <a:t>path tuple</a:t>
            </a:r>
            <a:r>
              <a:rPr lang="en" dirty="0"/>
              <a:t> class. This class will keep track of a vertex, its predecessor, and the currently know shortest distance from the start vertex. We will update the predecessor and distance as we find new, shorter paths. </a:t>
            </a:r>
            <a:endParaRPr dirty="0"/>
          </a:p>
        </p:txBody>
      </p:sp>
      <p:sp>
        <p:nvSpPr>
          <p:cNvPr id="773" name="Google Shape;77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74" name="Google Shape;774;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13.16</a:t>
            </a:r>
            <a:endParaRPr/>
          </a:p>
        </p:txBody>
      </p:sp>
      <p:sp>
        <p:nvSpPr>
          <p:cNvPr id="775" name="Google Shape;775;p56"/>
          <p:cNvSpPr txBox="1"/>
          <p:nvPr/>
        </p:nvSpPr>
        <p:spPr>
          <a:xfrm>
            <a:off x="2860000" y="1746725"/>
            <a:ext cx="5991900" cy="2847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2"/>
              </a:buClr>
              <a:buSzPts val="1400"/>
              <a:buFont typeface="Roboto"/>
              <a:buChar char="●"/>
            </a:pPr>
            <a:r>
              <a:rPr lang="en" dirty="0">
                <a:solidFill>
                  <a:schemeClr val="dk2"/>
                </a:solidFill>
                <a:latin typeface="Roboto"/>
                <a:ea typeface="Roboto"/>
                <a:cs typeface="Roboto"/>
                <a:sym typeface="Roboto"/>
              </a:rPr>
              <a:t>Open the </a:t>
            </a:r>
            <a:r>
              <a:rPr lang="en" dirty="0">
                <a:solidFill>
                  <a:srgbClr val="FF0000"/>
                </a:solidFill>
                <a:latin typeface="Courier New"/>
                <a:ea typeface="Courier New"/>
                <a:cs typeface="Courier New"/>
                <a:sym typeface="Courier New"/>
              </a:rPr>
              <a:t>PathTuple</a:t>
            </a:r>
            <a:r>
              <a:rPr lang="en" dirty="0">
                <a:solidFill>
                  <a:schemeClr val="dk2"/>
                </a:solidFill>
                <a:latin typeface="Roboto"/>
                <a:ea typeface="Roboto"/>
                <a:cs typeface="Roboto"/>
                <a:sym typeface="Roboto"/>
              </a:rPr>
              <a:t> class that has been provided to you in the </a:t>
            </a:r>
            <a:r>
              <a:rPr lang="en" dirty="0">
                <a:solidFill>
                  <a:schemeClr val="dk2"/>
                </a:solidFill>
                <a:latin typeface="Courier New"/>
                <a:ea typeface="Courier New"/>
                <a:cs typeface="Courier New"/>
                <a:sym typeface="Courier New"/>
              </a:rPr>
              <a:t>weighted</a:t>
            </a:r>
            <a:r>
              <a:rPr lang="en" dirty="0">
                <a:solidFill>
                  <a:schemeClr val="dk2"/>
                </a:solidFill>
                <a:latin typeface="Roboto"/>
                <a:ea typeface="Roboto"/>
                <a:cs typeface="Roboto"/>
                <a:sym typeface="Roboto"/>
              </a:rPr>
              <a:t> package. </a:t>
            </a:r>
            <a:endParaRPr dirty="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dirty="0">
                <a:solidFill>
                  <a:schemeClr val="dk2"/>
                </a:solidFill>
                <a:latin typeface="Roboto"/>
                <a:ea typeface="Roboto"/>
                <a:cs typeface="Roboto"/>
                <a:sym typeface="Roboto"/>
              </a:rPr>
              <a:t>A </a:t>
            </a:r>
            <a:r>
              <a:rPr lang="en" dirty="0">
                <a:solidFill>
                  <a:schemeClr val="dk2"/>
                </a:solidFill>
                <a:latin typeface="Courier New"/>
                <a:ea typeface="Courier New"/>
                <a:cs typeface="Courier New"/>
                <a:sym typeface="Courier New"/>
              </a:rPr>
              <a:t>PathTuple</a:t>
            </a:r>
            <a:r>
              <a:rPr lang="en" dirty="0">
                <a:solidFill>
                  <a:schemeClr val="dk2"/>
                </a:solidFill>
                <a:latin typeface="Roboto"/>
                <a:ea typeface="Roboto"/>
                <a:cs typeface="Roboto"/>
                <a:sym typeface="Roboto"/>
              </a:rPr>
              <a:t> has </a:t>
            </a:r>
            <a:r>
              <a:rPr lang="en" b="1" i="1" dirty="0">
                <a:solidFill>
                  <a:srgbClr val="FF0000"/>
                </a:solidFill>
                <a:latin typeface="Roboto"/>
                <a:ea typeface="Roboto"/>
                <a:cs typeface="Roboto"/>
                <a:sym typeface="Roboto"/>
              </a:rPr>
              <a:t>three</a:t>
            </a:r>
            <a:r>
              <a:rPr lang="en" b="1" i="1" dirty="0">
                <a:solidFill>
                  <a:schemeClr val="dk2"/>
                </a:solidFill>
                <a:latin typeface="Roboto"/>
                <a:ea typeface="Roboto"/>
                <a:cs typeface="Roboto"/>
                <a:sym typeface="Roboto"/>
              </a:rPr>
              <a:t> </a:t>
            </a:r>
            <a:r>
              <a:rPr lang="en" dirty="0">
                <a:solidFill>
                  <a:schemeClr val="dk2"/>
                </a:solidFill>
                <a:latin typeface="Roboto"/>
                <a:ea typeface="Roboto"/>
                <a:cs typeface="Roboto"/>
                <a:sym typeface="Roboto"/>
              </a:rPr>
              <a:t>essential pieces of information:</a:t>
            </a:r>
            <a:endParaRPr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A </a:t>
            </a:r>
            <a:r>
              <a:rPr lang="en" sz="1200" dirty="0">
                <a:solidFill>
                  <a:srgbClr val="FF0000"/>
                </a:solidFill>
                <a:latin typeface="Courier New"/>
                <a:ea typeface="Courier New"/>
                <a:cs typeface="Courier New"/>
                <a:sym typeface="Courier New"/>
              </a:rPr>
              <a:t>vertex</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Its </a:t>
            </a:r>
            <a:r>
              <a:rPr lang="en" sz="1200" dirty="0">
                <a:solidFill>
                  <a:srgbClr val="FF0000"/>
                </a:solidFill>
                <a:latin typeface="Courier New"/>
                <a:ea typeface="Courier New"/>
                <a:cs typeface="Courier New"/>
                <a:sym typeface="Courier New"/>
              </a:rPr>
              <a:t>predecessor</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The </a:t>
            </a:r>
            <a:r>
              <a:rPr lang="en" sz="1200" b="1" i="1" dirty="0">
                <a:solidFill>
                  <a:srgbClr val="FF0000"/>
                </a:solidFill>
                <a:latin typeface="Roboto"/>
                <a:ea typeface="Roboto"/>
                <a:cs typeface="Roboto"/>
                <a:sym typeface="Roboto"/>
              </a:rPr>
              <a:t>currently known</a:t>
            </a:r>
            <a:r>
              <a:rPr lang="en" sz="1200" dirty="0">
                <a:solidFill>
                  <a:schemeClr val="dk2"/>
                </a:solidFill>
                <a:latin typeface="Roboto"/>
                <a:ea typeface="Roboto"/>
                <a:cs typeface="Roboto"/>
                <a:sym typeface="Roboto"/>
              </a:rPr>
              <a:t> shortest </a:t>
            </a:r>
            <a:r>
              <a:rPr lang="en" sz="1200" dirty="0">
                <a:solidFill>
                  <a:srgbClr val="FF0000"/>
                </a:solidFill>
                <a:latin typeface="Courier New"/>
                <a:ea typeface="Courier New"/>
                <a:cs typeface="Courier New"/>
                <a:sym typeface="Courier New"/>
              </a:rPr>
              <a:t>distance</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from the starting vertex.</a:t>
            </a:r>
            <a:endParaRPr sz="1200" dirty="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dirty="0">
                <a:solidFill>
                  <a:schemeClr val="dk2"/>
                </a:solidFill>
                <a:latin typeface="Roboto"/>
                <a:ea typeface="Roboto"/>
                <a:cs typeface="Roboto"/>
                <a:sym typeface="Roboto"/>
              </a:rPr>
              <a:t>Note that the </a:t>
            </a:r>
            <a:r>
              <a:rPr lang="en" b="1" i="1" dirty="0">
                <a:solidFill>
                  <a:srgbClr val="FF0000"/>
                </a:solidFill>
                <a:latin typeface="Roboto"/>
                <a:ea typeface="Roboto"/>
                <a:cs typeface="Roboto"/>
                <a:sym typeface="Roboto"/>
              </a:rPr>
              <a:t>constructor</a:t>
            </a:r>
            <a:r>
              <a:rPr lang="en" dirty="0">
                <a:solidFill>
                  <a:schemeClr val="dk2"/>
                </a:solidFill>
                <a:latin typeface="Roboto"/>
                <a:ea typeface="Roboto"/>
                <a:cs typeface="Roboto"/>
                <a:sym typeface="Roboto"/>
              </a:rPr>
              <a:t>:</a:t>
            </a:r>
            <a:endParaRPr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Sets the </a:t>
            </a:r>
            <a:r>
              <a:rPr lang="en" sz="1200" dirty="0">
                <a:solidFill>
                  <a:schemeClr val="dk2"/>
                </a:solidFill>
                <a:latin typeface="Courier New"/>
                <a:ea typeface="Courier New"/>
                <a:cs typeface="Courier New"/>
                <a:sym typeface="Courier New"/>
              </a:rPr>
              <a:t>predecessor</a:t>
            </a:r>
            <a:r>
              <a:rPr lang="en" sz="1200" dirty="0">
                <a:solidFill>
                  <a:schemeClr val="dk2"/>
                </a:solidFill>
                <a:latin typeface="Roboto"/>
                <a:ea typeface="Roboto"/>
                <a:cs typeface="Roboto"/>
                <a:sym typeface="Roboto"/>
              </a:rPr>
              <a:t> to </a:t>
            </a:r>
            <a:r>
              <a:rPr lang="en" sz="1200" dirty="0">
                <a:solidFill>
                  <a:srgbClr val="FF0000"/>
                </a:solidFill>
                <a:latin typeface="Courier New"/>
                <a:ea typeface="Courier New"/>
                <a:cs typeface="Courier New"/>
                <a:sym typeface="Courier New"/>
              </a:rPr>
              <a:t>null</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Sets the </a:t>
            </a:r>
            <a:r>
              <a:rPr lang="en" sz="1200" dirty="0">
                <a:solidFill>
                  <a:schemeClr val="dk2"/>
                </a:solidFill>
                <a:latin typeface="Courier New"/>
                <a:ea typeface="Courier New"/>
                <a:cs typeface="Courier New"/>
                <a:sym typeface="Courier New"/>
              </a:rPr>
              <a:t>distance</a:t>
            </a:r>
            <a:r>
              <a:rPr lang="en" sz="1200" dirty="0">
                <a:solidFill>
                  <a:schemeClr val="dk2"/>
                </a:solidFill>
                <a:latin typeface="Roboto"/>
                <a:ea typeface="Roboto"/>
                <a:cs typeface="Roboto"/>
                <a:sym typeface="Roboto"/>
              </a:rPr>
              <a:t> to</a:t>
            </a:r>
            <a:r>
              <a:rPr lang="en" sz="1200" dirty="0">
                <a:solidFill>
                  <a:srgbClr val="FF0000"/>
                </a:solidFill>
                <a:latin typeface="Roboto"/>
                <a:ea typeface="Roboto"/>
                <a:cs typeface="Roboto"/>
                <a:sym typeface="Roboto"/>
              </a:rPr>
              <a:t> </a:t>
            </a:r>
            <a:r>
              <a:rPr lang="en" sz="1200" dirty="0">
                <a:solidFill>
                  <a:srgbClr val="FF0000"/>
                </a:solidFill>
                <a:latin typeface="Courier New"/>
                <a:ea typeface="Courier New"/>
                <a:cs typeface="Courier New"/>
                <a:sym typeface="Courier New"/>
              </a:rPr>
              <a:t>Double.POSITIVE_INFINITY</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dirty="0">
                <a:solidFill>
                  <a:schemeClr val="dk2"/>
                </a:solidFill>
                <a:highlight>
                  <a:srgbClr val="FFFF00"/>
                </a:highlight>
                <a:latin typeface="Roboto"/>
                <a:ea typeface="Roboto"/>
                <a:cs typeface="Roboto"/>
                <a:sym typeface="Roboto"/>
              </a:rPr>
              <a:t>Note that the </a:t>
            </a:r>
            <a:r>
              <a:rPr lang="en" sz="1200" dirty="0">
                <a:solidFill>
                  <a:srgbClr val="FF0000"/>
                </a:solidFill>
                <a:highlight>
                  <a:srgbClr val="FFFF00"/>
                </a:highlight>
                <a:latin typeface="Courier New"/>
                <a:ea typeface="Courier New"/>
                <a:cs typeface="Courier New"/>
                <a:sym typeface="Courier New"/>
              </a:rPr>
              <a:t>update</a:t>
            </a:r>
            <a:r>
              <a:rPr lang="en" sz="1200" dirty="0">
                <a:solidFill>
                  <a:schemeClr val="dk2"/>
                </a:solidFill>
                <a:highlight>
                  <a:srgbClr val="FFFF00"/>
                </a:highlight>
                <a:latin typeface="Roboto"/>
                <a:ea typeface="Roboto"/>
                <a:cs typeface="Roboto"/>
                <a:sym typeface="Roboto"/>
              </a:rPr>
              <a:t> method will ignore the update if the updated distance is not less than the current distance.</a:t>
            </a:r>
            <a:endParaRPr sz="1200" dirty="0">
              <a:solidFill>
                <a:schemeClr val="dk2"/>
              </a:solidFill>
              <a:highlight>
                <a:srgbClr val="FFFF00"/>
              </a:highlight>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If you have any questions, </a:t>
            </a:r>
            <a:r>
              <a:rPr lang="en" sz="1200" b="1" i="1" dirty="0">
                <a:solidFill>
                  <a:srgbClr val="FF0000"/>
                </a:solidFill>
                <a:latin typeface="Roboto"/>
                <a:ea typeface="Roboto"/>
                <a:cs typeface="Roboto"/>
                <a:sym typeface="Roboto"/>
              </a:rPr>
              <a:t>raise your hand!</a:t>
            </a:r>
            <a:endParaRPr sz="1200" b="1" i="1" dirty="0">
              <a:solidFill>
                <a:srgbClr val="FF0000"/>
              </a:solidFill>
              <a:latin typeface="Roboto"/>
              <a:ea typeface="Roboto"/>
              <a:cs typeface="Roboto"/>
              <a:sym typeface="Roboto"/>
            </a:endParaRPr>
          </a:p>
        </p:txBody>
      </p:sp>
      <p:pic>
        <p:nvPicPr>
          <p:cNvPr id="776" name="Google Shape;776;p56"/>
          <p:cNvPicPr preferRelativeResize="0"/>
          <p:nvPr/>
        </p:nvPicPr>
        <p:blipFill>
          <a:blip r:embed="rId3">
            <a:alphaModFix/>
          </a:blip>
          <a:stretch>
            <a:fillRect/>
          </a:stretch>
        </p:blipFill>
        <p:spPr>
          <a:xfrm>
            <a:off x="152400" y="1805325"/>
            <a:ext cx="2707601" cy="257379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57"/>
          <p:cNvSpPr txBox="1">
            <a:spLocks noGrp="1"/>
          </p:cNvSpPr>
          <p:nvPr>
            <p:ph type="title"/>
          </p:nvPr>
        </p:nvSpPr>
        <p:spPr>
          <a:xfrm>
            <a:off x="51885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Priority Queue </a:t>
            </a:r>
            <a:endParaRPr/>
          </a:p>
        </p:txBody>
      </p:sp>
      <p:sp>
        <p:nvSpPr>
          <p:cNvPr id="782" name="Google Shape;782;p57"/>
          <p:cNvSpPr txBox="1">
            <a:spLocks noGrp="1"/>
          </p:cNvSpPr>
          <p:nvPr>
            <p:ph type="body" idx="1"/>
          </p:nvPr>
        </p:nvSpPr>
        <p:spPr>
          <a:xfrm>
            <a:off x="453675" y="119925"/>
            <a:ext cx="4166400" cy="4858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search algorithms that we have implemented so far all have different ways of choosing which vertex is </a:t>
            </a:r>
            <a:r>
              <a:rPr lang="en" b="1" i="1" dirty="0">
                <a:solidFill>
                  <a:srgbClr val="FF0000"/>
                </a:solidFill>
              </a:rPr>
              <a:t>next</a:t>
            </a:r>
            <a:r>
              <a:rPr lang="en" dirty="0"/>
              <a:t>.</a:t>
            </a:r>
            <a:endParaRPr dirty="0"/>
          </a:p>
          <a:p>
            <a:pPr marL="914400" lvl="1" indent="-298450" algn="l" rtl="0">
              <a:spcBef>
                <a:spcPts val="0"/>
              </a:spcBef>
              <a:spcAft>
                <a:spcPts val="0"/>
              </a:spcAft>
              <a:buSzPts val="1100"/>
              <a:buChar char="○"/>
            </a:pPr>
            <a:r>
              <a:rPr lang="en" b="1" i="1" dirty="0">
                <a:solidFill>
                  <a:srgbClr val="FF0000"/>
                </a:solidFill>
              </a:rPr>
              <a:t>BFS</a:t>
            </a:r>
            <a:r>
              <a:rPr lang="en" dirty="0">
                <a:solidFill>
                  <a:srgbClr val="FF0000"/>
                </a:solidFill>
              </a:rPr>
              <a:t> </a:t>
            </a:r>
            <a:r>
              <a:rPr lang="en" dirty="0"/>
              <a:t>chooses the next vertex from a </a:t>
            </a:r>
            <a:r>
              <a:rPr lang="en" b="1" i="1" dirty="0">
                <a:solidFill>
                  <a:srgbClr val="FF0000"/>
                </a:solidFill>
              </a:rPr>
              <a:t>queue</a:t>
            </a:r>
            <a:r>
              <a:rPr lang="en" dirty="0"/>
              <a:t>.</a:t>
            </a:r>
            <a:endParaRPr dirty="0"/>
          </a:p>
          <a:p>
            <a:pPr marL="914400" lvl="1" indent="-298450" algn="l" rtl="0">
              <a:spcBef>
                <a:spcPts val="0"/>
              </a:spcBef>
              <a:spcAft>
                <a:spcPts val="0"/>
              </a:spcAft>
              <a:buSzPts val="1100"/>
              <a:buChar char="○"/>
            </a:pPr>
            <a:r>
              <a:rPr lang="en" b="1" i="1" dirty="0">
                <a:solidFill>
                  <a:srgbClr val="FF0000"/>
                </a:solidFill>
              </a:rPr>
              <a:t>DFS</a:t>
            </a:r>
            <a:r>
              <a:rPr lang="en" dirty="0">
                <a:solidFill>
                  <a:srgbClr val="FF0000"/>
                </a:solidFill>
              </a:rPr>
              <a:t> </a:t>
            </a:r>
            <a:r>
              <a:rPr lang="en" dirty="0"/>
              <a:t>chooses </a:t>
            </a:r>
            <a:r>
              <a:rPr lang="en" b="1" i="1" dirty="0">
                <a:solidFill>
                  <a:srgbClr val="FF0000"/>
                </a:solidFill>
              </a:rPr>
              <a:t>any</a:t>
            </a:r>
            <a:r>
              <a:rPr lang="en" dirty="0">
                <a:solidFill>
                  <a:srgbClr val="FF0000"/>
                </a:solidFill>
              </a:rPr>
              <a:t> </a:t>
            </a:r>
            <a:r>
              <a:rPr lang="en" dirty="0"/>
              <a:t>unexplored neighbor of the </a:t>
            </a:r>
            <a:r>
              <a:rPr lang="en" b="1" i="1" dirty="0">
                <a:solidFill>
                  <a:srgbClr val="FF0000"/>
                </a:solidFill>
              </a:rPr>
              <a:t>current vertex</a:t>
            </a:r>
            <a:r>
              <a:rPr lang="en" dirty="0"/>
              <a:t>.</a:t>
            </a:r>
            <a:endParaRPr dirty="0"/>
          </a:p>
          <a:p>
            <a:pPr marL="914400" lvl="1" indent="-298450" algn="l" rtl="0">
              <a:spcBef>
                <a:spcPts val="0"/>
              </a:spcBef>
              <a:spcAft>
                <a:spcPts val="0"/>
              </a:spcAft>
              <a:buSzPts val="1100"/>
              <a:buChar char="○"/>
            </a:pPr>
            <a:r>
              <a:rPr lang="en" b="1" i="1" dirty="0">
                <a:solidFill>
                  <a:srgbClr val="FF0000"/>
                </a:solidFill>
              </a:rPr>
              <a:t>Nearest Neighbor</a:t>
            </a:r>
            <a:r>
              <a:rPr lang="en" dirty="0">
                <a:solidFill>
                  <a:srgbClr val="FF0000"/>
                </a:solidFill>
              </a:rPr>
              <a:t> </a:t>
            </a:r>
            <a:r>
              <a:rPr lang="en" dirty="0"/>
              <a:t>chooses the neighbor with the </a:t>
            </a:r>
            <a:r>
              <a:rPr lang="en" b="1" i="1" dirty="0">
                <a:solidFill>
                  <a:srgbClr val="FF0000"/>
                </a:solidFill>
              </a:rPr>
              <a:t>shortest distance</a:t>
            </a:r>
            <a:r>
              <a:rPr lang="en" dirty="0"/>
              <a:t> from the </a:t>
            </a:r>
            <a:r>
              <a:rPr lang="en" b="1" i="1" dirty="0">
                <a:solidFill>
                  <a:srgbClr val="FF0000"/>
                </a:solidFill>
              </a:rPr>
              <a:t>current vertex</a:t>
            </a:r>
            <a:r>
              <a:rPr lang="en" dirty="0"/>
              <a:t>.</a:t>
            </a:r>
            <a:endParaRPr dirty="0"/>
          </a:p>
          <a:p>
            <a:pPr marL="457200" lvl="0" indent="-311150" algn="l" rtl="0">
              <a:spcBef>
                <a:spcPts val="1000"/>
              </a:spcBef>
              <a:spcAft>
                <a:spcPts val="0"/>
              </a:spcAft>
              <a:buSzPts val="1300"/>
              <a:buChar char="●"/>
            </a:pPr>
            <a:r>
              <a:rPr lang="en" dirty="0"/>
              <a:t>Dijkstra's Algorithm has its own way of choosing the next vertex: it will always choose the vertex that has the </a:t>
            </a:r>
            <a:r>
              <a:rPr lang="en" b="1" i="1" dirty="0">
                <a:solidFill>
                  <a:srgbClr val="FF0000"/>
                </a:solidFill>
              </a:rPr>
              <a:t>shortest distance </a:t>
            </a:r>
            <a:r>
              <a:rPr lang="en" dirty="0"/>
              <a:t>from the</a:t>
            </a:r>
            <a:r>
              <a:rPr lang="en" b="1" i="1" dirty="0"/>
              <a:t> </a:t>
            </a:r>
            <a:r>
              <a:rPr lang="en" b="1" i="1" dirty="0">
                <a:solidFill>
                  <a:srgbClr val="FF0000"/>
                </a:solidFill>
              </a:rPr>
              <a:t>starting vertex</a:t>
            </a:r>
            <a:r>
              <a:rPr lang="en" dirty="0"/>
              <a:t>.</a:t>
            </a:r>
            <a:endParaRPr dirty="0"/>
          </a:p>
          <a:p>
            <a:pPr marL="914400" lvl="1" indent="-298450" algn="l" rtl="0">
              <a:spcBef>
                <a:spcPts val="0"/>
              </a:spcBef>
              <a:spcAft>
                <a:spcPts val="0"/>
              </a:spcAft>
              <a:buSzPts val="1100"/>
              <a:buChar char="○"/>
            </a:pPr>
            <a:r>
              <a:rPr lang="en" dirty="0"/>
              <a:t>Remember, each vertex has a </a:t>
            </a:r>
            <a:r>
              <a:rPr lang="en" b="1" i="1" dirty="0">
                <a:solidFill>
                  <a:srgbClr val="FF0000"/>
                </a:solidFill>
              </a:rPr>
              <a:t>path tuple</a:t>
            </a:r>
            <a:r>
              <a:rPr lang="en" dirty="0">
                <a:solidFill>
                  <a:srgbClr val="FF0000"/>
                </a:solidFill>
              </a:rPr>
              <a:t> </a:t>
            </a:r>
            <a:r>
              <a:rPr lang="en" dirty="0"/>
              <a:t>that keeps track of its </a:t>
            </a:r>
            <a:r>
              <a:rPr lang="en" b="1" i="1" dirty="0">
                <a:solidFill>
                  <a:srgbClr val="FF0000"/>
                </a:solidFill>
              </a:rPr>
              <a:t>predecessor</a:t>
            </a:r>
            <a:r>
              <a:rPr lang="en" dirty="0">
                <a:solidFill>
                  <a:srgbClr val="FF0000"/>
                </a:solidFill>
              </a:rPr>
              <a:t> </a:t>
            </a:r>
            <a:r>
              <a:rPr lang="en" dirty="0"/>
              <a:t>and the </a:t>
            </a:r>
            <a:r>
              <a:rPr lang="en" b="1" i="1" dirty="0">
                <a:solidFill>
                  <a:srgbClr val="FF0000"/>
                </a:solidFill>
              </a:rPr>
              <a:t>total distance </a:t>
            </a:r>
            <a:r>
              <a:rPr lang="en" dirty="0"/>
              <a:t>from the</a:t>
            </a:r>
            <a:r>
              <a:rPr lang="en" b="1" i="1" dirty="0"/>
              <a:t> </a:t>
            </a:r>
            <a:r>
              <a:rPr lang="en" b="1" i="1" dirty="0">
                <a:solidFill>
                  <a:srgbClr val="FF0000"/>
                </a:solidFill>
              </a:rPr>
              <a:t>starting vertex</a:t>
            </a:r>
            <a:r>
              <a:rPr lang="en" dirty="0"/>
              <a:t>.</a:t>
            </a:r>
            <a:endParaRPr dirty="0"/>
          </a:p>
          <a:p>
            <a:pPr marL="914400" lvl="1" indent="-298450" algn="l" rtl="0">
              <a:spcBef>
                <a:spcPts val="0"/>
              </a:spcBef>
              <a:spcAft>
                <a:spcPts val="0"/>
              </a:spcAft>
              <a:buSzPts val="1100"/>
              <a:buChar char="○"/>
            </a:pPr>
            <a:r>
              <a:rPr lang="en" dirty="0">
                <a:highlight>
                  <a:srgbClr val="FFFF00"/>
                </a:highlight>
              </a:rPr>
              <a:t>We'll use this information to pick the next closest vertex each time.</a:t>
            </a:r>
            <a:endParaRPr dirty="0">
              <a:highlight>
                <a:srgbClr val="FFFF00"/>
              </a:highlight>
            </a:endParaRPr>
          </a:p>
          <a:p>
            <a:pPr marL="457200" lvl="0" indent="-311150" algn="l" rtl="0">
              <a:spcBef>
                <a:spcPts val="1000"/>
              </a:spcBef>
              <a:spcAft>
                <a:spcPts val="0"/>
              </a:spcAft>
              <a:buSzPts val="1300"/>
              <a:buChar char="●"/>
            </a:pPr>
            <a:r>
              <a:rPr lang="en" dirty="0"/>
              <a:t>We will need a data structure to store the path tuples in such a way that we can find the next closest one.</a:t>
            </a:r>
            <a:endParaRPr dirty="0"/>
          </a:p>
          <a:p>
            <a:pPr marL="914400" lvl="1" indent="-298450" algn="l" rtl="0">
              <a:spcBef>
                <a:spcPts val="0"/>
              </a:spcBef>
              <a:spcAft>
                <a:spcPts val="0"/>
              </a:spcAft>
              <a:buSzPts val="1100"/>
              <a:buChar char="○"/>
            </a:pPr>
            <a:r>
              <a:rPr lang="en" dirty="0"/>
              <a:t>This sounds like a </a:t>
            </a:r>
            <a:r>
              <a:rPr lang="en" b="1" i="1" dirty="0">
                <a:solidFill>
                  <a:srgbClr val="FF0000"/>
                </a:solidFill>
              </a:rPr>
              <a:t>priority queue</a:t>
            </a:r>
            <a:r>
              <a:rPr lang="en" dirty="0"/>
              <a:t> of path tuples!</a:t>
            </a:r>
            <a:endParaRPr b="1" i="1" dirty="0"/>
          </a:p>
        </p:txBody>
      </p:sp>
      <p:sp>
        <p:nvSpPr>
          <p:cNvPr id="783" name="Google Shape;783;p5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784" name="Google Shape;784;p57"/>
          <p:cNvSpPr txBox="1">
            <a:spLocks noGrp="1"/>
          </p:cNvSpPr>
          <p:nvPr>
            <p:ph type="body" idx="3"/>
          </p:nvPr>
        </p:nvSpPr>
        <p:spPr>
          <a:xfrm>
            <a:off x="5192225" y="433595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To begin with, the </a:t>
            </a:r>
            <a:r>
              <a:rPr lang="en" b="1" i="1" dirty="0">
                <a:solidFill>
                  <a:srgbClr val="FF0000"/>
                </a:solidFill>
              </a:rPr>
              <a:t>only vertex</a:t>
            </a:r>
            <a:r>
              <a:rPr lang="en" dirty="0"/>
              <a:t> with a distance that is less than </a:t>
            </a:r>
            <a:r>
              <a:rPr lang="en" b="1" i="1" dirty="0">
                <a:solidFill>
                  <a:srgbClr val="FF0000"/>
                </a:solidFill>
              </a:rPr>
              <a:t>infinity</a:t>
            </a:r>
            <a:r>
              <a:rPr lang="en" dirty="0">
                <a:solidFill>
                  <a:srgbClr val="FF0000"/>
                </a:solidFill>
              </a:rPr>
              <a:t> </a:t>
            </a:r>
            <a:r>
              <a:rPr lang="en" dirty="0"/>
              <a:t>is the </a:t>
            </a:r>
            <a:r>
              <a:rPr lang="en" b="1" i="1" dirty="0">
                <a:solidFill>
                  <a:srgbClr val="FF0000"/>
                </a:solidFill>
              </a:rPr>
              <a:t>starting vertex</a:t>
            </a:r>
            <a:r>
              <a:rPr lang="en" dirty="0"/>
              <a:t>, and so it will always be returned first.</a:t>
            </a:r>
            <a:endParaRPr dirty="0"/>
          </a:p>
        </p:txBody>
      </p:sp>
      <p:pic>
        <p:nvPicPr>
          <p:cNvPr id="785" name="Google Shape;785;p57"/>
          <p:cNvPicPr preferRelativeResize="0"/>
          <p:nvPr/>
        </p:nvPicPr>
        <p:blipFill>
          <a:blip r:embed="rId3">
            <a:alphaModFix/>
          </a:blip>
          <a:stretch>
            <a:fillRect/>
          </a:stretch>
        </p:blipFill>
        <p:spPr>
          <a:xfrm>
            <a:off x="6042225" y="681825"/>
            <a:ext cx="1935275" cy="2355025"/>
          </a:xfrm>
          <a:prstGeom prst="rect">
            <a:avLst/>
          </a:prstGeom>
          <a:noFill/>
          <a:ln>
            <a:noFill/>
          </a:ln>
        </p:spPr>
      </p:pic>
      <p:sp>
        <p:nvSpPr>
          <p:cNvPr id="786" name="Google Shape;786;p57"/>
          <p:cNvSpPr txBox="1"/>
          <p:nvPr/>
        </p:nvSpPr>
        <p:spPr>
          <a:xfrm>
            <a:off x="5192225" y="3058252"/>
            <a:ext cx="3706500" cy="1200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787" name="Google Shape;787;p57"/>
          <p:cNvSpPr txBox="1"/>
          <p:nvPr/>
        </p:nvSpPr>
        <p:spPr>
          <a:xfrm>
            <a:off x="5496475" y="315447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788" name="Google Shape;788;p57"/>
          <p:cNvSpPr txBox="1"/>
          <p:nvPr/>
        </p:nvSpPr>
        <p:spPr>
          <a:xfrm>
            <a:off x="7659850" y="3591518"/>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89" name="Google Shape;789;p57"/>
          <p:cNvSpPr txBox="1"/>
          <p:nvPr/>
        </p:nvSpPr>
        <p:spPr>
          <a:xfrm>
            <a:off x="7736050" y="33372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0" name="Google Shape;790;p57"/>
          <p:cNvSpPr txBox="1"/>
          <p:nvPr/>
        </p:nvSpPr>
        <p:spPr>
          <a:xfrm>
            <a:off x="5221450" y="38513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1" name="Google Shape;791;p57"/>
          <p:cNvSpPr txBox="1"/>
          <p:nvPr/>
        </p:nvSpPr>
        <p:spPr>
          <a:xfrm>
            <a:off x="7812250" y="3102171"/>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2" name="Google Shape;792;p57"/>
          <p:cNvSpPr txBox="1"/>
          <p:nvPr/>
        </p:nvSpPr>
        <p:spPr>
          <a:xfrm>
            <a:off x="6440650" y="32417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3" name="Google Shape;793;p57"/>
          <p:cNvSpPr txBox="1"/>
          <p:nvPr/>
        </p:nvSpPr>
        <p:spPr>
          <a:xfrm>
            <a:off x="6669250" y="3832024"/>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4" name="Google Shape;794;p57"/>
          <p:cNvSpPr txBox="1"/>
          <p:nvPr/>
        </p:nvSpPr>
        <p:spPr>
          <a:xfrm>
            <a:off x="6516850" y="35465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H:(null,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5" name="Google Shape;795;p57"/>
          <p:cNvSpPr txBox="1"/>
          <p:nvPr/>
        </p:nvSpPr>
        <p:spPr>
          <a:xfrm>
            <a:off x="7888450" y="38513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I:(null,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6" name="Google Shape;796;p57"/>
          <p:cNvSpPr txBox="1"/>
          <p:nvPr/>
        </p:nvSpPr>
        <p:spPr>
          <a:xfrm>
            <a:off x="5602450" y="36227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J:(null,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7" name="Google Shape;797;p57"/>
          <p:cNvSpPr txBox="1"/>
          <p:nvPr/>
        </p:nvSpPr>
        <p:spPr>
          <a:xfrm>
            <a:off x="5221450" y="33941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K:(null,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8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86"/>
                                        </p:tgtEl>
                                        <p:attrNameLst>
                                          <p:attrName>style.visibility</p:attrName>
                                        </p:attrNameLst>
                                      </p:cBhvr>
                                      <p:to>
                                        <p:strVal val="visible"/>
                                      </p:to>
                                    </p:set>
                                    <p:animEffect transition="in" filter="fade">
                                      <p:cBhvr>
                                        <p:cTn id="43" dur="1000"/>
                                        <p:tgtEl>
                                          <p:spTgt spid="786"/>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787"/>
                                        </p:tgtEl>
                                        <p:attrNameLst>
                                          <p:attrName>style.visibility</p:attrName>
                                        </p:attrNameLst>
                                      </p:cBhvr>
                                      <p:to>
                                        <p:strVal val="visible"/>
                                      </p:to>
                                    </p:set>
                                    <p:animEffect transition="in" filter="fade">
                                      <p:cBhvr>
                                        <p:cTn id="47" dur="1000"/>
                                        <p:tgtEl>
                                          <p:spTgt spid="787"/>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789"/>
                                        </p:tgtEl>
                                        <p:attrNameLst>
                                          <p:attrName>style.visibility</p:attrName>
                                        </p:attrNameLst>
                                      </p:cBhvr>
                                      <p:to>
                                        <p:strVal val="visible"/>
                                      </p:to>
                                    </p:set>
                                    <p:animEffect transition="in" filter="fade">
                                      <p:cBhvr>
                                        <p:cTn id="51" dur="1000"/>
                                        <p:tgtEl>
                                          <p:spTgt spid="789"/>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788"/>
                                        </p:tgtEl>
                                        <p:attrNameLst>
                                          <p:attrName>style.visibility</p:attrName>
                                        </p:attrNameLst>
                                      </p:cBhvr>
                                      <p:to>
                                        <p:strVal val="visible"/>
                                      </p:to>
                                    </p:set>
                                    <p:animEffect transition="in" filter="fade">
                                      <p:cBhvr>
                                        <p:cTn id="55" dur="1000"/>
                                        <p:tgtEl>
                                          <p:spTgt spid="788"/>
                                        </p:tgtEl>
                                      </p:cBhvr>
                                    </p:animEffect>
                                  </p:childTnLst>
                                </p:cTn>
                              </p:par>
                            </p:childTnLst>
                          </p:cTn>
                        </p:par>
                        <p:par>
                          <p:cTn id="56" fill="hold">
                            <p:stCondLst>
                              <p:cond delay="4000"/>
                            </p:stCondLst>
                            <p:childTnLst>
                              <p:par>
                                <p:cTn id="57" presetID="10" presetClass="entr" presetSubtype="0" fill="hold" nodeType="afterEffect">
                                  <p:stCondLst>
                                    <p:cond delay="0"/>
                                  </p:stCondLst>
                                  <p:childTnLst>
                                    <p:set>
                                      <p:cBhvr>
                                        <p:cTn id="58" dur="1" fill="hold">
                                          <p:stCondLst>
                                            <p:cond delay="0"/>
                                          </p:stCondLst>
                                        </p:cTn>
                                        <p:tgtEl>
                                          <p:spTgt spid="790"/>
                                        </p:tgtEl>
                                        <p:attrNameLst>
                                          <p:attrName>style.visibility</p:attrName>
                                        </p:attrNameLst>
                                      </p:cBhvr>
                                      <p:to>
                                        <p:strVal val="visible"/>
                                      </p:to>
                                    </p:set>
                                    <p:animEffect transition="in" filter="fade">
                                      <p:cBhvr>
                                        <p:cTn id="59" dur="1000"/>
                                        <p:tgtEl>
                                          <p:spTgt spid="790"/>
                                        </p:tgtEl>
                                      </p:cBhvr>
                                    </p:animEffect>
                                  </p:childTnLst>
                                </p:cTn>
                              </p:par>
                            </p:childTnLst>
                          </p:cTn>
                        </p:par>
                        <p:par>
                          <p:cTn id="60" fill="hold">
                            <p:stCondLst>
                              <p:cond delay="5000"/>
                            </p:stCondLst>
                            <p:childTnLst>
                              <p:par>
                                <p:cTn id="61" presetID="10" presetClass="entr" presetSubtype="0" fill="hold" nodeType="afterEffect">
                                  <p:stCondLst>
                                    <p:cond delay="0"/>
                                  </p:stCondLst>
                                  <p:childTnLst>
                                    <p:set>
                                      <p:cBhvr>
                                        <p:cTn id="62" dur="1" fill="hold">
                                          <p:stCondLst>
                                            <p:cond delay="0"/>
                                          </p:stCondLst>
                                        </p:cTn>
                                        <p:tgtEl>
                                          <p:spTgt spid="791"/>
                                        </p:tgtEl>
                                        <p:attrNameLst>
                                          <p:attrName>style.visibility</p:attrName>
                                        </p:attrNameLst>
                                      </p:cBhvr>
                                      <p:to>
                                        <p:strVal val="visible"/>
                                      </p:to>
                                    </p:set>
                                    <p:animEffect transition="in" filter="fade">
                                      <p:cBhvr>
                                        <p:cTn id="63" dur="1000"/>
                                        <p:tgtEl>
                                          <p:spTgt spid="791"/>
                                        </p:tgtEl>
                                      </p:cBhvr>
                                    </p:animEffect>
                                  </p:childTnLst>
                                </p:cTn>
                              </p:par>
                            </p:childTnLst>
                          </p:cTn>
                        </p:par>
                        <p:par>
                          <p:cTn id="64" fill="hold">
                            <p:stCondLst>
                              <p:cond delay="6000"/>
                            </p:stCondLst>
                            <p:childTnLst>
                              <p:par>
                                <p:cTn id="65" presetID="10" presetClass="entr" presetSubtype="0" fill="hold" nodeType="afterEffect">
                                  <p:stCondLst>
                                    <p:cond delay="0"/>
                                  </p:stCondLst>
                                  <p:childTnLst>
                                    <p:set>
                                      <p:cBhvr>
                                        <p:cTn id="66" dur="1" fill="hold">
                                          <p:stCondLst>
                                            <p:cond delay="0"/>
                                          </p:stCondLst>
                                        </p:cTn>
                                        <p:tgtEl>
                                          <p:spTgt spid="792"/>
                                        </p:tgtEl>
                                        <p:attrNameLst>
                                          <p:attrName>style.visibility</p:attrName>
                                        </p:attrNameLst>
                                      </p:cBhvr>
                                      <p:to>
                                        <p:strVal val="visible"/>
                                      </p:to>
                                    </p:set>
                                    <p:animEffect transition="in" filter="fade">
                                      <p:cBhvr>
                                        <p:cTn id="67" dur="1000"/>
                                        <p:tgtEl>
                                          <p:spTgt spid="792"/>
                                        </p:tgtEl>
                                      </p:cBhvr>
                                    </p:animEffect>
                                  </p:childTnLst>
                                </p:cTn>
                              </p:par>
                            </p:childTnLst>
                          </p:cTn>
                        </p:par>
                        <p:par>
                          <p:cTn id="68" fill="hold">
                            <p:stCondLst>
                              <p:cond delay="7000"/>
                            </p:stCondLst>
                            <p:childTnLst>
                              <p:par>
                                <p:cTn id="69" presetID="10" presetClass="entr" presetSubtype="0" fill="hold" nodeType="afterEffect">
                                  <p:stCondLst>
                                    <p:cond delay="0"/>
                                  </p:stCondLst>
                                  <p:childTnLst>
                                    <p:set>
                                      <p:cBhvr>
                                        <p:cTn id="70" dur="1" fill="hold">
                                          <p:stCondLst>
                                            <p:cond delay="0"/>
                                          </p:stCondLst>
                                        </p:cTn>
                                        <p:tgtEl>
                                          <p:spTgt spid="793"/>
                                        </p:tgtEl>
                                        <p:attrNameLst>
                                          <p:attrName>style.visibility</p:attrName>
                                        </p:attrNameLst>
                                      </p:cBhvr>
                                      <p:to>
                                        <p:strVal val="visible"/>
                                      </p:to>
                                    </p:set>
                                    <p:animEffect transition="in" filter="fade">
                                      <p:cBhvr>
                                        <p:cTn id="71" dur="1000"/>
                                        <p:tgtEl>
                                          <p:spTgt spid="793"/>
                                        </p:tgtEl>
                                      </p:cBhvr>
                                    </p:animEffect>
                                  </p:childTnLst>
                                </p:cTn>
                              </p:par>
                            </p:childTnLst>
                          </p:cTn>
                        </p:par>
                        <p:par>
                          <p:cTn id="72" fill="hold">
                            <p:stCondLst>
                              <p:cond delay="8000"/>
                            </p:stCondLst>
                            <p:childTnLst>
                              <p:par>
                                <p:cTn id="73" presetID="10" presetClass="entr" presetSubtype="0" fill="hold" nodeType="afterEffect">
                                  <p:stCondLst>
                                    <p:cond delay="0"/>
                                  </p:stCondLst>
                                  <p:childTnLst>
                                    <p:set>
                                      <p:cBhvr>
                                        <p:cTn id="74" dur="1" fill="hold">
                                          <p:stCondLst>
                                            <p:cond delay="0"/>
                                          </p:stCondLst>
                                        </p:cTn>
                                        <p:tgtEl>
                                          <p:spTgt spid="794"/>
                                        </p:tgtEl>
                                        <p:attrNameLst>
                                          <p:attrName>style.visibility</p:attrName>
                                        </p:attrNameLst>
                                      </p:cBhvr>
                                      <p:to>
                                        <p:strVal val="visible"/>
                                      </p:to>
                                    </p:set>
                                    <p:animEffect transition="in" filter="fade">
                                      <p:cBhvr>
                                        <p:cTn id="75" dur="1000"/>
                                        <p:tgtEl>
                                          <p:spTgt spid="794"/>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795"/>
                                        </p:tgtEl>
                                        <p:attrNameLst>
                                          <p:attrName>style.visibility</p:attrName>
                                        </p:attrNameLst>
                                      </p:cBhvr>
                                      <p:to>
                                        <p:strVal val="visible"/>
                                      </p:to>
                                    </p:set>
                                    <p:animEffect transition="in" filter="fade">
                                      <p:cBhvr>
                                        <p:cTn id="79" dur="1000"/>
                                        <p:tgtEl>
                                          <p:spTgt spid="795"/>
                                        </p:tgtEl>
                                      </p:cBhvr>
                                    </p:animEffect>
                                  </p:childTnLst>
                                </p:cTn>
                              </p:par>
                            </p:childTnLst>
                          </p:cTn>
                        </p:par>
                        <p:par>
                          <p:cTn id="80" fill="hold">
                            <p:stCondLst>
                              <p:cond delay="10000"/>
                            </p:stCondLst>
                            <p:childTnLst>
                              <p:par>
                                <p:cTn id="81" presetID="10" presetClass="entr" presetSubtype="0" fill="hold" nodeType="afterEffect">
                                  <p:stCondLst>
                                    <p:cond delay="0"/>
                                  </p:stCondLst>
                                  <p:childTnLst>
                                    <p:set>
                                      <p:cBhvr>
                                        <p:cTn id="82" dur="1" fill="hold">
                                          <p:stCondLst>
                                            <p:cond delay="0"/>
                                          </p:stCondLst>
                                        </p:cTn>
                                        <p:tgtEl>
                                          <p:spTgt spid="796"/>
                                        </p:tgtEl>
                                        <p:attrNameLst>
                                          <p:attrName>style.visibility</p:attrName>
                                        </p:attrNameLst>
                                      </p:cBhvr>
                                      <p:to>
                                        <p:strVal val="visible"/>
                                      </p:to>
                                    </p:set>
                                    <p:animEffect transition="in" filter="fade">
                                      <p:cBhvr>
                                        <p:cTn id="83" dur="1000"/>
                                        <p:tgtEl>
                                          <p:spTgt spid="796"/>
                                        </p:tgtEl>
                                      </p:cBhvr>
                                    </p:animEffect>
                                  </p:childTnLst>
                                </p:cTn>
                              </p:par>
                            </p:childTnLst>
                          </p:cTn>
                        </p:par>
                        <p:par>
                          <p:cTn id="84" fill="hold">
                            <p:stCondLst>
                              <p:cond delay="11000"/>
                            </p:stCondLst>
                            <p:childTnLst>
                              <p:par>
                                <p:cTn id="85" presetID="10" presetClass="entr" presetSubtype="0" fill="hold" nodeType="afterEffect">
                                  <p:stCondLst>
                                    <p:cond delay="0"/>
                                  </p:stCondLst>
                                  <p:childTnLst>
                                    <p:set>
                                      <p:cBhvr>
                                        <p:cTn id="86" dur="1" fill="hold">
                                          <p:stCondLst>
                                            <p:cond delay="0"/>
                                          </p:stCondLst>
                                        </p:cTn>
                                        <p:tgtEl>
                                          <p:spTgt spid="797"/>
                                        </p:tgtEl>
                                        <p:attrNameLst>
                                          <p:attrName>style.visibility</p:attrName>
                                        </p:attrNameLst>
                                      </p:cBhvr>
                                      <p:to>
                                        <p:strVal val="visible"/>
                                      </p:to>
                                    </p:set>
                                    <p:animEffect transition="in" filter="fade">
                                      <p:cBhvr>
                                        <p:cTn id="87" dur="1000"/>
                                        <p:tgtEl>
                                          <p:spTgt spid="79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784"/>
                                        </p:tgtEl>
                                        <p:attrNameLst>
                                          <p:attrName>style.visibility</p:attrName>
                                        </p:attrNameLst>
                                      </p:cBhvr>
                                      <p:to>
                                        <p:strVal val="visible"/>
                                      </p:to>
                                    </p:set>
                                    <p:animEffect transition="in" filter="fade">
                                      <p:cBhvr>
                                        <p:cTn id="92" dur="1000"/>
                                        <p:tgtEl>
                                          <p:spTgt spid="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graphicFrame>
        <p:nvGraphicFramePr>
          <p:cNvPr id="802" name="Google Shape;802;p58"/>
          <p:cNvGraphicFramePr/>
          <p:nvPr/>
        </p:nvGraphicFramePr>
        <p:xfrm>
          <a:off x="131500" y="4292424"/>
          <a:ext cx="8824750" cy="381000"/>
        </p:xfrm>
        <a:graphic>
          <a:graphicData uri="http://schemas.openxmlformats.org/drawingml/2006/table">
            <a:tbl>
              <a:tblPr>
                <a:noFill/>
                <a:tableStyleId>{89CCAE03-A2B2-4379-B0C2-E101A7E113D6}</a:tableStyleId>
              </a:tblPr>
              <a:tblGrid>
                <a:gridCol w="802250">
                  <a:extLst>
                    <a:ext uri="{9D8B030D-6E8A-4147-A177-3AD203B41FA5}">
                      <a16:colId xmlns:a16="http://schemas.microsoft.com/office/drawing/2014/main" val="20000"/>
                    </a:ext>
                  </a:extLst>
                </a:gridCol>
                <a:gridCol w="802250">
                  <a:extLst>
                    <a:ext uri="{9D8B030D-6E8A-4147-A177-3AD203B41FA5}">
                      <a16:colId xmlns:a16="http://schemas.microsoft.com/office/drawing/2014/main" val="20001"/>
                    </a:ext>
                  </a:extLst>
                </a:gridCol>
                <a:gridCol w="802250">
                  <a:extLst>
                    <a:ext uri="{9D8B030D-6E8A-4147-A177-3AD203B41FA5}">
                      <a16:colId xmlns:a16="http://schemas.microsoft.com/office/drawing/2014/main" val="20002"/>
                    </a:ext>
                  </a:extLst>
                </a:gridCol>
                <a:gridCol w="802250">
                  <a:extLst>
                    <a:ext uri="{9D8B030D-6E8A-4147-A177-3AD203B41FA5}">
                      <a16:colId xmlns:a16="http://schemas.microsoft.com/office/drawing/2014/main" val="20003"/>
                    </a:ext>
                  </a:extLst>
                </a:gridCol>
                <a:gridCol w="802250">
                  <a:extLst>
                    <a:ext uri="{9D8B030D-6E8A-4147-A177-3AD203B41FA5}">
                      <a16:colId xmlns:a16="http://schemas.microsoft.com/office/drawing/2014/main" val="20004"/>
                    </a:ext>
                  </a:extLst>
                </a:gridCol>
                <a:gridCol w="802250">
                  <a:extLst>
                    <a:ext uri="{9D8B030D-6E8A-4147-A177-3AD203B41FA5}">
                      <a16:colId xmlns:a16="http://schemas.microsoft.com/office/drawing/2014/main" val="20005"/>
                    </a:ext>
                  </a:extLst>
                </a:gridCol>
                <a:gridCol w="802250">
                  <a:extLst>
                    <a:ext uri="{9D8B030D-6E8A-4147-A177-3AD203B41FA5}">
                      <a16:colId xmlns:a16="http://schemas.microsoft.com/office/drawing/2014/main" val="20006"/>
                    </a:ext>
                  </a:extLst>
                </a:gridCol>
                <a:gridCol w="802250">
                  <a:extLst>
                    <a:ext uri="{9D8B030D-6E8A-4147-A177-3AD203B41FA5}">
                      <a16:colId xmlns:a16="http://schemas.microsoft.com/office/drawing/2014/main" val="20007"/>
                    </a:ext>
                  </a:extLst>
                </a:gridCol>
                <a:gridCol w="802250">
                  <a:extLst>
                    <a:ext uri="{9D8B030D-6E8A-4147-A177-3AD203B41FA5}">
                      <a16:colId xmlns:a16="http://schemas.microsoft.com/office/drawing/2014/main" val="20008"/>
                    </a:ext>
                  </a:extLst>
                </a:gridCol>
                <a:gridCol w="802250">
                  <a:extLst>
                    <a:ext uri="{9D8B030D-6E8A-4147-A177-3AD203B41FA5}">
                      <a16:colId xmlns:a16="http://schemas.microsoft.com/office/drawing/2014/main" val="20009"/>
                    </a:ext>
                  </a:extLst>
                </a:gridCol>
                <a:gridCol w="802250">
                  <a:extLst>
                    <a:ext uri="{9D8B030D-6E8A-4147-A177-3AD203B41FA5}">
                      <a16:colId xmlns:a16="http://schemas.microsoft.com/office/drawing/2014/main" val="20010"/>
                    </a:ext>
                  </a:extLst>
                </a:gridCol>
              </a:tblGrid>
              <a:tr h="381000">
                <a:tc>
                  <a:txBody>
                    <a:bodyPr/>
                    <a:lstStyle/>
                    <a:p>
                      <a:pPr marL="0" lvl="0" indent="0" algn="ctr" rtl="0">
                        <a:spcBef>
                          <a:spcPts val="0"/>
                        </a:spcBef>
                        <a:spcAft>
                          <a:spcPts val="0"/>
                        </a:spcAft>
                        <a:buNone/>
                      </a:pPr>
                      <a:r>
                        <a:rPr lang="en" sz="1000">
                          <a:solidFill>
                            <a:srgbClr val="4A86E8"/>
                          </a:solidFill>
                        </a:rPr>
                        <a:t>A:(null, 0)</a:t>
                      </a:r>
                      <a:endParaRPr sz="1000">
                        <a:solidFill>
                          <a:srgbClr val="4A86E8"/>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F:(null,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H:(null,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D:(null,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J:(null,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C:(null,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G:(null,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B:(null,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I:(null,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E:(null,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K:(null,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803" name="Google Shape;803;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804" name="Google Shape;804;p5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Unfortunately...Java's Priority Queue Won't Work</a:t>
            </a:r>
            <a:endParaRPr sz="2700"/>
          </a:p>
        </p:txBody>
      </p:sp>
      <p:graphicFrame>
        <p:nvGraphicFramePr>
          <p:cNvPr id="805" name="Google Shape;805;p58"/>
          <p:cNvGraphicFramePr/>
          <p:nvPr/>
        </p:nvGraphicFramePr>
        <p:xfrm>
          <a:off x="131500" y="2349800"/>
          <a:ext cx="8824750" cy="381000"/>
        </p:xfrm>
        <a:graphic>
          <a:graphicData uri="http://schemas.openxmlformats.org/drawingml/2006/table">
            <a:tbl>
              <a:tblPr>
                <a:noFill/>
                <a:tableStyleId>{89CCAE03-A2B2-4379-B0C2-E101A7E113D6}</a:tableStyleId>
              </a:tblPr>
              <a:tblGrid>
                <a:gridCol w="802250">
                  <a:extLst>
                    <a:ext uri="{9D8B030D-6E8A-4147-A177-3AD203B41FA5}">
                      <a16:colId xmlns:a16="http://schemas.microsoft.com/office/drawing/2014/main" val="20000"/>
                    </a:ext>
                  </a:extLst>
                </a:gridCol>
                <a:gridCol w="802250">
                  <a:extLst>
                    <a:ext uri="{9D8B030D-6E8A-4147-A177-3AD203B41FA5}">
                      <a16:colId xmlns:a16="http://schemas.microsoft.com/office/drawing/2014/main" val="20001"/>
                    </a:ext>
                  </a:extLst>
                </a:gridCol>
                <a:gridCol w="802250">
                  <a:extLst>
                    <a:ext uri="{9D8B030D-6E8A-4147-A177-3AD203B41FA5}">
                      <a16:colId xmlns:a16="http://schemas.microsoft.com/office/drawing/2014/main" val="20002"/>
                    </a:ext>
                  </a:extLst>
                </a:gridCol>
                <a:gridCol w="802250">
                  <a:extLst>
                    <a:ext uri="{9D8B030D-6E8A-4147-A177-3AD203B41FA5}">
                      <a16:colId xmlns:a16="http://schemas.microsoft.com/office/drawing/2014/main" val="20003"/>
                    </a:ext>
                  </a:extLst>
                </a:gridCol>
                <a:gridCol w="802250">
                  <a:extLst>
                    <a:ext uri="{9D8B030D-6E8A-4147-A177-3AD203B41FA5}">
                      <a16:colId xmlns:a16="http://schemas.microsoft.com/office/drawing/2014/main" val="20004"/>
                    </a:ext>
                  </a:extLst>
                </a:gridCol>
                <a:gridCol w="802250">
                  <a:extLst>
                    <a:ext uri="{9D8B030D-6E8A-4147-A177-3AD203B41FA5}">
                      <a16:colId xmlns:a16="http://schemas.microsoft.com/office/drawing/2014/main" val="20005"/>
                    </a:ext>
                  </a:extLst>
                </a:gridCol>
                <a:gridCol w="802250">
                  <a:extLst>
                    <a:ext uri="{9D8B030D-6E8A-4147-A177-3AD203B41FA5}">
                      <a16:colId xmlns:a16="http://schemas.microsoft.com/office/drawing/2014/main" val="20006"/>
                    </a:ext>
                  </a:extLst>
                </a:gridCol>
                <a:gridCol w="802250">
                  <a:extLst>
                    <a:ext uri="{9D8B030D-6E8A-4147-A177-3AD203B41FA5}">
                      <a16:colId xmlns:a16="http://schemas.microsoft.com/office/drawing/2014/main" val="20007"/>
                    </a:ext>
                  </a:extLst>
                </a:gridCol>
                <a:gridCol w="802250">
                  <a:extLst>
                    <a:ext uri="{9D8B030D-6E8A-4147-A177-3AD203B41FA5}">
                      <a16:colId xmlns:a16="http://schemas.microsoft.com/office/drawing/2014/main" val="20008"/>
                    </a:ext>
                  </a:extLst>
                </a:gridCol>
                <a:gridCol w="802250">
                  <a:extLst>
                    <a:ext uri="{9D8B030D-6E8A-4147-A177-3AD203B41FA5}">
                      <a16:colId xmlns:a16="http://schemas.microsoft.com/office/drawing/2014/main" val="20009"/>
                    </a:ext>
                  </a:extLst>
                </a:gridCol>
                <a:gridCol w="802250">
                  <a:extLst>
                    <a:ext uri="{9D8B030D-6E8A-4147-A177-3AD203B41FA5}">
                      <a16:colId xmlns:a16="http://schemas.microsoft.com/office/drawing/2014/main" val="20010"/>
                    </a:ext>
                  </a:extLst>
                </a:gridCol>
              </a:tblGrid>
              <a:tr h="381000">
                <a:tc>
                  <a:txBody>
                    <a:bodyPr/>
                    <a:lstStyle/>
                    <a:p>
                      <a:pPr marL="0" lvl="0" indent="0" algn="ctr" rtl="0">
                        <a:spcBef>
                          <a:spcPts val="0"/>
                        </a:spcBef>
                        <a:spcAft>
                          <a:spcPts val="0"/>
                        </a:spcAft>
                        <a:buNone/>
                      </a:pPr>
                      <a:r>
                        <a:rPr lang="en" sz="1000">
                          <a:solidFill>
                            <a:srgbClr val="4A86E8"/>
                          </a:solidFill>
                        </a:rPr>
                        <a:t>A:(null, 0)</a:t>
                      </a:r>
                      <a:endParaRPr sz="1000">
                        <a:solidFill>
                          <a:srgbClr val="4A86E8"/>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F:(null,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H:(null,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D:(null,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J:(null,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C:(null,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G:(null,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B:(null,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I:(null,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E:(null,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K:(null,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806" name="Google Shape;806;p58"/>
          <p:cNvSpPr txBox="1">
            <a:spLocks noGrp="1"/>
          </p:cNvSpPr>
          <p:nvPr>
            <p:ph type="body" idx="4294967295"/>
          </p:nvPr>
        </p:nvSpPr>
        <p:spPr>
          <a:xfrm>
            <a:off x="131450" y="1403200"/>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Java's </a:t>
            </a:r>
            <a:r>
              <a:rPr lang="en" sz="1200"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PriorityQueue</a:t>
            </a:r>
            <a:r>
              <a:rPr lang="en" sz="1200" dirty="0">
                <a:solidFill>
                  <a:srgbClr val="000000"/>
                </a:solidFill>
                <a:latin typeface="Arial"/>
                <a:ea typeface="Arial"/>
                <a:cs typeface="Arial"/>
                <a:sym typeface="Arial"/>
              </a:rPr>
              <a:t> internally uses an array-based </a:t>
            </a:r>
            <a:r>
              <a:rPr lang="en" sz="1200" b="1" i="1" dirty="0">
                <a:solidFill>
                  <a:srgbClr val="FF0000"/>
                </a:solidFill>
                <a:latin typeface="Arial"/>
                <a:ea typeface="Arial"/>
                <a:cs typeface="Arial"/>
                <a:sym typeface="Arial"/>
              </a:rPr>
              <a:t>heap</a:t>
            </a:r>
            <a:r>
              <a:rPr lang="en" sz="1200" dirty="0">
                <a:solidFill>
                  <a:srgbClr val="000000"/>
                </a:solidFill>
                <a:latin typeface="Arial"/>
                <a:ea typeface="Arial"/>
                <a:cs typeface="Arial"/>
                <a:sym typeface="Arial"/>
              </a:rPr>
              <a:t> to arrange the values in priority order. </a:t>
            </a:r>
            <a:endParaRPr sz="1200" dirty="0">
              <a:solidFill>
                <a:srgbClr val="000000"/>
              </a:solidFill>
              <a:latin typeface="Arial"/>
              <a:ea typeface="Arial"/>
              <a:cs typeface="Arial"/>
              <a:sym typeface="Arial"/>
            </a:endParaRPr>
          </a:p>
        </p:txBody>
      </p:sp>
      <p:sp>
        <p:nvSpPr>
          <p:cNvPr id="807" name="Google Shape;807;p58"/>
          <p:cNvSpPr txBox="1">
            <a:spLocks noGrp="1"/>
          </p:cNvSpPr>
          <p:nvPr>
            <p:ph type="body" idx="4294967295"/>
          </p:nvPr>
        </p:nvSpPr>
        <p:spPr>
          <a:xfrm>
            <a:off x="3147440" y="14032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As you know, a heap arranges values into priority order </a:t>
            </a:r>
            <a:r>
              <a:rPr lang="en" sz="1200" b="1" i="1" dirty="0">
                <a:solidFill>
                  <a:srgbClr val="FF0000"/>
                </a:solidFill>
                <a:latin typeface="Arial"/>
                <a:ea typeface="Arial"/>
                <a:cs typeface="Arial"/>
                <a:sym typeface="Arial"/>
              </a:rPr>
              <a:t>as they are added</a:t>
            </a:r>
            <a:r>
              <a:rPr lang="en" sz="1200" dirty="0">
                <a:solidFill>
                  <a:srgbClr val="000000"/>
                </a:solidFill>
                <a:latin typeface="Arial"/>
                <a:ea typeface="Arial"/>
                <a:cs typeface="Arial"/>
                <a:sym typeface="Arial"/>
              </a:rPr>
              <a:t> to the heap.</a:t>
            </a:r>
            <a:endParaRPr sz="1200" dirty="0">
              <a:solidFill>
                <a:srgbClr val="000000"/>
              </a:solidFill>
              <a:latin typeface="Arial"/>
              <a:ea typeface="Arial"/>
              <a:cs typeface="Arial"/>
              <a:sym typeface="Arial"/>
            </a:endParaRPr>
          </a:p>
        </p:txBody>
      </p:sp>
      <p:sp>
        <p:nvSpPr>
          <p:cNvPr id="808" name="Google Shape;808;p58"/>
          <p:cNvSpPr txBox="1">
            <a:spLocks noGrp="1"/>
          </p:cNvSpPr>
          <p:nvPr>
            <p:ph type="body" idx="4294967295"/>
          </p:nvPr>
        </p:nvSpPr>
        <p:spPr>
          <a:xfrm>
            <a:off x="6128154" y="14032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highlight>
                  <a:srgbClr val="FFFF00"/>
                </a:highlight>
                <a:latin typeface="Arial"/>
                <a:ea typeface="Arial"/>
                <a:cs typeface="Arial"/>
                <a:sym typeface="Arial"/>
              </a:rPr>
              <a:t>To start, all but one of the tuples has a distance of </a:t>
            </a:r>
            <a:r>
              <a:rPr lang="en" sz="1200" b="1" i="1" dirty="0">
                <a:solidFill>
                  <a:srgbClr val="FF0000"/>
                </a:solidFill>
                <a:highlight>
                  <a:srgbClr val="FFFF00"/>
                </a:highlight>
                <a:latin typeface="Arial"/>
                <a:ea typeface="Arial"/>
                <a:cs typeface="Arial"/>
                <a:sym typeface="Arial"/>
              </a:rPr>
              <a:t>infinity</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meaning that they have the </a:t>
            </a:r>
            <a:r>
              <a:rPr lang="en" sz="1200" b="1" i="1" dirty="0">
                <a:solidFill>
                  <a:srgbClr val="FF0000"/>
                </a:solidFill>
                <a:highlight>
                  <a:srgbClr val="FFFF00"/>
                </a:highlight>
                <a:latin typeface="Arial"/>
                <a:ea typeface="Arial"/>
                <a:cs typeface="Arial"/>
                <a:sym typeface="Arial"/>
              </a:rPr>
              <a:t>same priority</a:t>
            </a:r>
            <a:r>
              <a:rPr lang="en" sz="1200" dirty="0">
                <a:solidFill>
                  <a:srgbClr val="000000"/>
                </a:solidFill>
                <a:highlight>
                  <a:srgbClr val="FFFF00"/>
                </a:highlight>
                <a:latin typeface="Arial"/>
                <a:ea typeface="Arial"/>
                <a:cs typeface="Arial"/>
                <a:sym typeface="Arial"/>
              </a:rPr>
              <a:t>.</a:t>
            </a:r>
            <a:endParaRPr sz="1200" dirty="0">
              <a:solidFill>
                <a:srgbClr val="000000"/>
              </a:solidFill>
              <a:highlight>
                <a:srgbClr val="FFFF00"/>
              </a:highlight>
              <a:latin typeface="Arial"/>
              <a:ea typeface="Arial"/>
              <a:cs typeface="Arial"/>
              <a:sym typeface="Arial"/>
            </a:endParaRPr>
          </a:p>
        </p:txBody>
      </p:sp>
      <p:sp>
        <p:nvSpPr>
          <p:cNvPr id="809" name="Google Shape;809;p58"/>
          <p:cNvSpPr txBox="1"/>
          <p:nvPr/>
        </p:nvSpPr>
        <p:spPr>
          <a:xfrm>
            <a:off x="4184171" y="4340774"/>
            <a:ext cx="733500" cy="278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rPr>
              <a:t>C:(A, 5)</a:t>
            </a:r>
            <a:endParaRPr sz="1000">
              <a:solidFill>
                <a:srgbClr val="4A86E8"/>
              </a:solidFill>
            </a:endParaRPr>
          </a:p>
        </p:txBody>
      </p:sp>
      <p:sp>
        <p:nvSpPr>
          <p:cNvPr id="810" name="Google Shape;810;p58"/>
          <p:cNvSpPr txBox="1">
            <a:spLocks noGrp="1"/>
          </p:cNvSpPr>
          <p:nvPr>
            <p:ph type="body" idx="4294967295"/>
          </p:nvPr>
        </p:nvSpPr>
        <p:spPr>
          <a:xfrm>
            <a:off x="3147450" y="32513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...and others will be </a:t>
            </a:r>
            <a:r>
              <a:rPr lang="en" sz="1200" b="1" i="1">
                <a:solidFill>
                  <a:srgbClr val="FF0000"/>
                </a:solidFill>
                <a:latin typeface="Arial"/>
                <a:ea typeface="Arial"/>
                <a:cs typeface="Arial"/>
                <a:sym typeface="Arial"/>
              </a:rPr>
              <a:t>updated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with new values for the shortest known distance from the starting vertex.</a:t>
            </a:r>
            <a:endParaRPr sz="1200">
              <a:solidFill>
                <a:srgbClr val="000000"/>
              </a:solidFill>
              <a:latin typeface="Arial"/>
              <a:ea typeface="Arial"/>
              <a:cs typeface="Arial"/>
              <a:sym typeface="Arial"/>
            </a:endParaRPr>
          </a:p>
        </p:txBody>
      </p:sp>
      <p:sp>
        <p:nvSpPr>
          <p:cNvPr id="811" name="Google Shape;811;p58"/>
          <p:cNvSpPr txBox="1">
            <a:spLocks noGrp="1"/>
          </p:cNvSpPr>
          <p:nvPr>
            <p:ph type="body" idx="4294967295"/>
          </p:nvPr>
        </p:nvSpPr>
        <p:spPr>
          <a:xfrm>
            <a:off x="131450" y="325128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As</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Dijkstra's Algorithm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runs, the values of some of the tuples in the heap will be </a:t>
            </a:r>
            <a:r>
              <a:rPr lang="en" sz="1200" b="1" i="1">
                <a:solidFill>
                  <a:srgbClr val="FF0000"/>
                </a:solidFill>
                <a:latin typeface="Arial"/>
                <a:ea typeface="Arial"/>
                <a:cs typeface="Arial"/>
                <a:sym typeface="Arial"/>
              </a:rPr>
              <a:t>removed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12" name="Google Shape;812;p58"/>
          <p:cNvSpPr txBox="1"/>
          <p:nvPr/>
        </p:nvSpPr>
        <p:spPr>
          <a:xfrm>
            <a:off x="5778894" y="4340774"/>
            <a:ext cx="733500" cy="278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rPr>
              <a:t>B:(A, 4)</a:t>
            </a:r>
            <a:endParaRPr sz="1000">
              <a:solidFill>
                <a:srgbClr val="4A86E8"/>
              </a:solidFill>
            </a:endParaRPr>
          </a:p>
        </p:txBody>
      </p:sp>
      <p:sp>
        <p:nvSpPr>
          <p:cNvPr id="813" name="Google Shape;813;p58"/>
          <p:cNvSpPr txBox="1">
            <a:spLocks noGrp="1"/>
          </p:cNvSpPr>
          <p:nvPr>
            <p:ph type="body" idx="4294967295"/>
          </p:nvPr>
        </p:nvSpPr>
        <p:spPr>
          <a:xfrm>
            <a:off x="6119250" y="3251288"/>
            <a:ext cx="28632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As the tuples change, the heap </a:t>
            </a:r>
            <a:r>
              <a:rPr lang="en" sz="1200" b="1" i="1" dirty="0">
                <a:solidFill>
                  <a:srgbClr val="FF0000"/>
                </a:solidFill>
                <a:latin typeface="Arial"/>
                <a:ea typeface="Arial"/>
                <a:cs typeface="Arial"/>
                <a:sym typeface="Arial"/>
              </a:rPr>
              <a:t>will not</a:t>
            </a:r>
            <a:r>
              <a:rPr lang="en" sz="1200" dirty="0">
                <a:solidFill>
                  <a:srgbClr val="000000"/>
                </a:solidFill>
                <a:latin typeface="Arial"/>
                <a:ea typeface="Arial"/>
                <a:cs typeface="Arial"/>
                <a:sym typeface="Arial"/>
              </a:rPr>
              <a:t> automatically rearrange them into priority order. </a:t>
            </a:r>
            <a:r>
              <a:rPr lang="en" sz="1200" dirty="0">
                <a:solidFill>
                  <a:srgbClr val="000000"/>
                </a:solidFill>
                <a:highlight>
                  <a:srgbClr val="FFFF00"/>
                </a:highlight>
                <a:latin typeface="Arial"/>
                <a:ea typeface="Arial"/>
                <a:cs typeface="Arial"/>
                <a:sym typeface="Arial"/>
              </a:rPr>
              <a:t>And so they will dequeue in the </a:t>
            </a:r>
            <a:r>
              <a:rPr lang="en" sz="1200" b="1" i="1" dirty="0">
                <a:solidFill>
                  <a:srgbClr val="FF0000"/>
                </a:solidFill>
                <a:highlight>
                  <a:srgbClr val="FFFF00"/>
                </a:highlight>
                <a:latin typeface="Arial"/>
                <a:ea typeface="Arial"/>
                <a:cs typeface="Arial"/>
                <a:sym typeface="Arial"/>
              </a:rPr>
              <a:t>wrong order</a:t>
            </a:r>
            <a:r>
              <a:rPr lang="en" sz="1200" dirty="0">
                <a:solidFill>
                  <a:srgbClr val="000000"/>
                </a:solidFill>
                <a:highlight>
                  <a:srgbClr val="FFFF00"/>
                </a:highlight>
                <a:latin typeface="Arial"/>
                <a:ea typeface="Arial"/>
                <a:cs typeface="Arial"/>
                <a:sym typeface="Arial"/>
              </a:rPr>
              <a:t>.</a:t>
            </a:r>
            <a:endParaRPr sz="1200" dirty="0">
              <a:solidFill>
                <a:srgbClr val="000000"/>
              </a:solidFill>
              <a:highlight>
                <a:srgbClr val="FFFF00"/>
              </a:highlight>
              <a:latin typeface="Arial"/>
              <a:ea typeface="Arial"/>
              <a:cs typeface="Arial"/>
              <a:sym typeface="Arial"/>
            </a:endParaRPr>
          </a:p>
        </p:txBody>
      </p:sp>
      <p:grpSp>
        <p:nvGrpSpPr>
          <p:cNvPr id="814" name="Google Shape;814;p58"/>
          <p:cNvGrpSpPr/>
          <p:nvPr/>
        </p:nvGrpSpPr>
        <p:grpSpPr>
          <a:xfrm>
            <a:off x="230579" y="2765866"/>
            <a:ext cx="604500" cy="274012"/>
            <a:chOff x="147950" y="2854925"/>
            <a:chExt cx="604500" cy="274012"/>
          </a:xfrm>
        </p:grpSpPr>
        <p:sp>
          <p:nvSpPr>
            <p:cNvPr id="815" name="Google Shape;815;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6" name="Google Shape;816;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817" name="Google Shape;817;p58"/>
          <p:cNvGrpSpPr/>
          <p:nvPr/>
        </p:nvGrpSpPr>
        <p:grpSpPr>
          <a:xfrm>
            <a:off x="230579" y="4722301"/>
            <a:ext cx="604500" cy="274012"/>
            <a:chOff x="147950" y="2854925"/>
            <a:chExt cx="604500" cy="274012"/>
          </a:xfrm>
        </p:grpSpPr>
        <p:sp>
          <p:nvSpPr>
            <p:cNvPr id="818" name="Google Shape;818;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9" name="Google Shape;819;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820" name="Google Shape;820;p58"/>
          <p:cNvGrpSpPr/>
          <p:nvPr/>
        </p:nvGrpSpPr>
        <p:grpSpPr>
          <a:xfrm>
            <a:off x="992579" y="4722301"/>
            <a:ext cx="604500" cy="274012"/>
            <a:chOff x="147950" y="2854925"/>
            <a:chExt cx="604500" cy="274012"/>
          </a:xfrm>
        </p:grpSpPr>
        <p:sp>
          <p:nvSpPr>
            <p:cNvPr id="821" name="Google Shape;821;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22" name="Google Shape;822;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sp>
        <p:nvSpPr>
          <p:cNvPr id="823" name="Google Shape;823;p58"/>
          <p:cNvSpPr txBox="1"/>
          <p:nvPr/>
        </p:nvSpPr>
        <p:spPr>
          <a:xfrm>
            <a:off x="70313" y="4207699"/>
            <a:ext cx="855600" cy="792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rgbClr val="4A86E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6"/>
                                        </p:tgtEl>
                                        <p:attrNameLst>
                                          <p:attrName>style.visibility</p:attrName>
                                        </p:attrNameLst>
                                      </p:cBhvr>
                                      <p:to>
                                        <p:strVal val="visible"/>
                                      </p:to>
                                    </p:set>
                                    <p:animEffect transition="in" filter="fade">
                                      <p:cBhvr>
                                        <p:cTn id="7" dur="1000"/>
                                        <p:tgtEl>
                                          <p:spTgt spid="8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7"/>
                                        </p:tgtEl>
                                        <p:attrNameLst>
                                          <p:attrName>style.visibility</p:attrName>
                                        </p:attrNameLst>
                                      </p:cBhvr>
                                      <p:to>
                                        <p:strVal val="visible"/>
                                      </p:to>
                                    </p:set>
                                    <p:animEffect transition="in" filter="fade">
                                      <p:cBhvr>
                                        <p:cTn id="12" dur="1000"/>
                                        <p:tgtEl>
                                          <p:spTgt spid="8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08"/>
                                        </p:tgtEl>
                                        <p:attrNameLst>
                                          <p:attrName>style.visibility</p:attrName>
                                        </p:attrNameLst>
                                      </p:cBhvr>
                                      <p:to>
                                        <p:strVal val="visible"/>
                                      </p:to>
                                    </p:set>
                                    <p:animEffect transition="in" filter="fade">
                                      <p:cBhvr>
                                        <p:cTn id="17" dur="1000"/>
                                        <p:tgtEl>
                                          <p:spTgt spid="808"/>
                                        </p:tgtEl>
                                      </p:cBhvr>
                                    </p:animEffect>
                                  </p:childTnLst>
                                </p:cTn>
                              </p:par>
                              <p:par>
                                <p:cTn id="18" presetID="10" presetClass="entr" presetSubtype="0" fill="hold" nodeType="withEffect">
                                  <p:stCondLst>
                                    <p:cond delay="0"/>
                                  </p:stCondLst>
                                  <p:childTnLst>
                                    <p:set>
                                      <p:cBhvr>
                                        <p:cTn id="19" dur="1" fill="hold">
                                          <p:stCondLst>
                                            <p:cond delay="0"/>
                                          </p:stCondLst>
                                        </p:cTn>
                                        <p:tgtEl>
                                          <p:spTgt spid="805"/>
                                        </p:tgtEl>
                                        <p:attrNameLst>
                                          <p:attrName>style.visibility</p:attrName>
                                        </p:attrNameLst>
                                      </p:cBhvr>
                                      <p:to>
                                        <p:strVal val="visible"/>
                                      </p:to>
                                    </p:set>
                                    <p:animEffect transition="in" filter="fade">
                                      <p:cBhvr>
                                        <p:cTn id="20" dur="1000"/>
                                        <p:tgtEl>
                                          <p:spTgt spid="805"/>
                                        </p:tgtEl>
                                      </p:cBhvr>
                                    </p:animEffect>
                                  </p:childTnLst>
                                </p:cTn>
                              </p:par>
                              <p:par>
                                <p:cTn id="21" presetID="10" presetClass="entr" presetSubtype="0" fill="hold" nodeType="withEffect">
                                  <p:stCondLst>
                                    <p:cond delay="0"/>
                                  </p:stCondLst>
                                  <p:childTnLst>
                                    <p:set>
                                      <p:cBhvr>
                                        <p:cTn id="22" dur="1" fill="hold">
                                          <p:stCondLst>
                                            <p:cond delay="0"/>
                                          </p:stCondLst>
                                        </p:cTn>
                                        <p:tgtEl>
                                          <p:spTgt spid="814"/>
                                        </p:tgtEl>
                                        <p:attrNameLst>
                                          <p:attrName>style.visibility</p:attrName>
                                        </p:attrNameLst>
                                      </p:cBhvr>
                                      <p:to>
                                        <p:strVal val="visible"/>
                                      </p:to>
                                    </p:set>
                                    <p:animEffect transition="in" filter="fade">
                                      <p:cBhvr>
                                        <p:cTn id="23" dur="1000"/>
                                        <p:tgtEl>
                                          <p:spTgt spid="8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11"/>
                                        </p:tgtEl>
                                        <p:attrNameLst>
                                          <p:attrName>style.visibility</p:attrName>
                                        </p:attrNameLst>
                                      </p:cBhvr>
                                      <p:to>
                                        <p:strVal val="visible"/>
                                      </p:to>
                                    </p:set>
                                    <p:animEffect transition="in" filter="fade">
                                      <p:cBhvr>
                                        <p:cTn id="28" dur="1000"/>
                                        <p:tgtEl>
                                          <p:spTgt spid="811"/>
                                        </p:tgtEl>
                                      </p:cBhvr>
                                    </p:animEffect>
                                  </p:childTnLst>
                                </p:cTn>
                              </p:par>
                              <p:par>
                                <p:cTn id="29" presetID="10" presetClass="entr" presetSubtype="0" fill="hold" nodeType="withEffect">
                                  <p:stCondLst>
                                    <p:cond delay="0"/>
                                  </p:stCondLst>
                                  <p:childTnLst>
                                    <p:set>
                                      <p:cBhvr>
                                        <p:cTn id="30" dur="1" fill="hold">
                                          <p:stCondLst>
                                            <p:cond delay="0"/>
                                          </p:stCondLst>
                                        </p:cTn>
                                        <p:tgtEl>
                                          <p:spTgt spid="802"/>
                                        </p:tgtEl>
                                        <p:attrNameLst>
                                          <p:attrName>style.visibility</p:attrName>
                                        </p:attrNameLst>
                                      </p:cBhvr>
                                      <p:to>
                                        <p:strVal val="visible"/>
                                      </p:to>
                                    </p:set>
                                    <p:animEffect transition="in" filter="fade">
                                      <p:cBhvr>
                                        <p:cTn id="31" dur="1000"/>
                                        <p:tgtEl>
                                          <p:spTgt spid="802"/>
                                        </p:tgtEl>
                                      </p:cBhvr>
                                    </p:animEffect>
                                  </p:childTnLst>
                                </p:cTn>
                              </p:par>
                              <p:par>
                                <p:cTn id="32" presetID="10" presetClass="entr" presetSubtype="0" fill="hold" nodeType="withEffect">
                                  <p:stCondLst>
                                    <p:cond delay="0"/>
                                  </p:stCondLst>
                                  <p:childTnLst>
                                    <p:set>
                                      <p:cBhvr>
                                        <p:cTn id="33" dur="1" fill="hold">
                                          <p:stCondLst>
                                            <p:cond delay="0"/>
                                          </p:stCondLst>
                                        </p:cTn>
                                        <p:tgtEl>
                                          <p:spTgt spid="817"/>
                                        </p:tgtEl>
                                        <p:attrNameLst>
                                          <p:attrName>style.visibility</p:attrName>
                                        </p:attrNameLst>
                                      </p:cBhvr>
                                      <p:to>
                                        <p:strVal val="visible"/>
                                      </p:to>
                                    </p:set>
                                    <p:animEffect transition="in" filter="fade">
                                      <p:cBhvr>
                                        <p:cTn id="34" dur="1000"/>
                                        <p:tgtEl>
                                          <p:spTgt spid="8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23"/>
                                        </p:tgtEl>
                                        <p:attrNameLst>
                                          <p:attrName>style.visibility</p:attrName>
                                        </p:attrNameLst>
                                      </p:cBhvr>
                                      <p:to>
                                        <p:strVal val="visible"/>
                                      </p:to>
                                    </p:set>
                                    <p:animEffect transition="in" filter="fade">
                                      <p:cBhvr>
                                        <p:cTn id="39" dur="1000"/>
                                        <p:tgtEl>
                                          <p:spTgt spid="823"/>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820"/>
                                        </p:tgtEl>
                                        <p:attrNameLst>
                                          <p:attrName>style.visibility</p:attrName>
                                        </p:attrNameLst>
                                      </p:cBhvr>
                                      <p:to>
                                        <p:strVal val="visible"/>
                                      </p:to>
                                    </p:set>
                                    <p:animEffect transition="in" filter="fade">
                                      <p:cBhvr>
                                        <p:cTn id="43" dur="1000"/>
                                        <p:tgtEl>
                                          <p:spTgt spid="82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10"/>
                                        </p:tgtEl>
                                        <p:attrNameLst>
                                          <p:attrName>style.visibility</p:attrName>
                                        </p:attrNameLst>
                                      </p:cBhvr>
                                      <p:to>
                                        <p:strVal val="visible"/>
                                      </p:to>
                                    </p:set>
                                    <p:animEffect transition="in" filter="fade">
                                      <p:cBhvr>
                                        <p:cTn id="48" dur="1000"/>
                                        <p:tgtEl>
                                          <p:spTgt spid="810"/>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812"/>
                                        </p:tgtEl>
                                        <p:attrNameLst>
                                          <p:attrName>style.visibility</p:attrName>
                                        </p:attrNameLst>
                                      </p:cBhvr>
                                      <p:to>
                                        <p:strVal val="visible"/>
                                      </p:to>
                                    </p:set>
                                    <p:animEffect transition="in" filter="fade">
                                      <p:cBhvr>
                                        <p:cTn id="52" dur="1000"/>
                                        <p:tgtEl>
                                          <p:spTgt spid="812"/>
                                        </p:tgtEl>
                                      </p:cBhvr>
                                    </p:animEffect>
                                  </p:childTnLst>
                                </p:cTn>
                              </p:par>
                            </p:childTnLst>
                          </p:cTn>
                        </p:par>
                        <p:par>
                          <p:cTn id="53" fill="hold">
                            <p:stCondLst>
                              <p:cond delay="2000"/>
                            </p:stCondLst>
                            <p:childTnLst>
                              <p:par>
                                <p:cTn id="54" presetID="10" presetClass="entr" presetSubtype="0" fill="hold" nodeType="afterEffect">
                                  <p:stCondLst>
                                    <p:cond delay="0"/>
                                  </p:stCondLst>
                                  <p:childTnLst>
                                    <p:set>
                                      <p:cBhvr>
                                        <p:cTn id="55" dur="1" fill="hold">
                                          <p:stCondLst>
                                            <p:cond delay="0"/>
                                          </p:stCondLst>
                                        </p:cTn>
                                        <p:tgtEl>
                                          <p:spTgt spid="809"/>
                                        </p:tgtEl>
                                        <p:attrNameLst>
                                          <p:attrName>style.visibility</p:attrName>
                                        </p:attrNameLst>
                                      </p:cBhvr>
                                      <p:to>
                                        <p:strVal val="visible"/>
                                      </p:to>
                                    </p:set>
                                    <p:animEffect transition="in" filter="fade">
                                      <p:cBhvr>
                                        <p:cTn id="56" dur="1000"/>
                                        <p:tgtEl>
                                          <p:spTgt spid="80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813"/>
                                        </p:tgtEl>
                                        <p:attrNameLst>
                                          <p:attrName>style.visibility</p:attrName>
                                        </p:attrNameLst>
                                      </p:cBhvr>
                                      <p:to>
                                        <p:strVal val="visible"/>
                                      </p:to>
                                    </p:set>
                                    <p:animEffect transition="in" filter="fade">
                                      <p:cBhvr>
                                        <p:cTn id="61" dur="1000"/>
                                        <p:tgtEl>
                                          <p:spTgt spid="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pic>
        <p:nvPicPr>
          <p:cNvPr id="828" name="Google Shape;828;p59"/>
          <p:cNvPicPr preferRelativeResize="0"/>
          <p:nvPr/>
        </p:nvPicPr>
        <p:blipFill>
          <a:blip r:embed="rId3">
            <a:alphaModFix/>
          </a:blip>
          <a:stretch>
            <a:fillRect/>
          </a:stretch>
        </p:blipFill>
        <p:spPr>
          <a:xfrm>
            <a:off x="16451" y="1767924"/>
            <a:ext cx="3128325" cy="2062800"/>
          </a:xfrm>
          <a:prstGeom prst="rect">
            <a:avLst/>
          </a:prstGeom>
          <a:noFill/>
          <a:ln>
            <a:noFill/>
          </a:ln>
        </p:spPr>
      </p:pic>
      <p:sp>
        <p:nvSpPr>
          <p:cNvPr id="829" name="Google Shape;829;p5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Tuple Queue</a:t>
            </a:r>
            <a:endParaRPr/>
          </a:p>
        </p:txBody>
      </p:sp>
      <p:sp>
        <p:nvSpPr>
          <p:cNvPr id="830" name="Google Shape;830;p5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Unfortunately, Java's </a:t>
            </a:r>
            <a:r>
              <a:rPr lang="en">
                <a:latin typeface="Courier New"/>
                <a:ea typeface="Courier New"/>
                <a:cs typeface="Courier New"/>
                <a:sym typeface="Courier New"/>
              </a:rPr>
              <a:t>PriorityQueue</a:t>
            </a:r>
            <a:r>
              <a:rPr lang="en"/>
              <a:t> will not rearrange values if/when they change while already inside of the queue. We'll need to use our own (and find tuples using a linear search). Examine the code now.</a:t>
            </a:r>
            <a:endParaRPr/>
          </a:p>
        </p:txBody>
      </p:sp>
      <p:sp>
        <p:nvSpPr>
          <p:cNvPr id="831" name="Google Shape;831;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832" name="Google Shape;832;p5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13.17</a:t>
            </a:r>
            <a:endParaRPr/>
          </a:p>
        </p:txBody>
      </p:sp>
      <p:sp>
        <p:nvSpPr>
          <p:cNvPr id="833" name="Google Shape;833;p59"/>
          <p:cNvSpPr txBox="1">
            <a:spLocks noGrp="1"/>
          </p:cNvSpPr>
          <p:nvPr>
            <p:ph type="body" idx="2"/>
          </p:nvPr>
        </p:nvSpPr>
        <p:spPr>
          <a:xfrm>
            <a:off x="3038300" y="1926725"/>
            <a:ext cx="5715600" cy="2379083"/>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the </a:t>
            </a:r>
            <a:r>
              <a:rPr lang="en" sz="1700" dirty="0">
                <a:highlight>
                  <a:srgbClr val="FFFF00"/>
                </a:highlight>
              </a:rPr>
              <a:t>"</a:t>
            </a:r>
            <a:r>
              <a:rPr lang="en" sz="1700" dirty="0">
                <a:solidFill>
                  <a:srgbClr val="FF0000"/>
                </a:solidFill>
                <a:highlight>
                  <a:srgbClr val="FFFF00"/>
                </a:highlight>
                <a:latin typeface="Courier New"/>
                <a:ea typeface="Courier New"/>
                <a:cs typeface="Courier New"/>
                <a:sym typeface="Courier New"/>
              </a:rPr>
              <a:t>TupleQueue</a:t>
            </a:r>
            <a:r>
              <a:rPr lang="en" sz="1700" dirty="0">
                <a:highlight>
                  <a:srgbClr val="FFFF00"/>
                </a:highlight>
              </a:rPr>
              <a:t>" </a:t>
            </a:r>
            <a:r>
              <a:rPr lang="en" sz="1700" dirty="0"/>
              <a:t>class that has been provided to you in the </a:t>
            </a:r>
            <a:r>
              <a:rPr lang="en" sz="1700" dirty="0">
                <a:latin typeface="Courier New"/>
                <a:ea typeface="Courier New"/>
                <a:cs typeface="Courier New"/>
                <a:sym typeface="Courier New"/>
              </a:rPr>
              <a:t>weighted</a:t>
            </a:r>
            <a:r>
              <a:rPr lang="en" sz="1700" dirty="0"/>
              <a:t> package.</a:t>
            </a:r>
            <a:endParaRPr sz="1700" dirty="0"/>
          </a:p>
          <a:p>
            <a:pPr marL="914400" lvl="1" indent="-323850" algn="l" rtl="0">
              <a:spcBef>
                <a:spcPts val="0"/>
              </a:spcBef>
              <a:spcAft>
                <a:spcPts val="0"/>
              </a:spcAft>
              <a:buSzPts val="1500"/>
              <a:buChar char="○"/>
            </a:pPr>
            <a:r>
              <a:rPr lang="en" sz="1500" dirty="0">
                <a:latin typeface="Courier New"/>
                <a:ea typeface="Courier New"/>
                <a:cs typeface="Courier New"/>
                <a:sym typeface="Courier New"/>
              </a:rPr>
              <a:t>PathTuple</a:t>
            </a:r>
            <a:r>
              <a:rPr lang="en" sz="1500" dirty="0"/>
              <a:t> elements are stored in a linked list.</a:t>
            </a:r>
            <a:endParaRPr sz="1500" dirty="0"/>
          </a:p>
          <a:p>
            <a:pPr marL="914400" lvl="1" indent="-323850" algn="l" rtl="0">
              <a:spcBef>
                <a:spcPts val="0"/>
              </a:spcBef>
              <a:spcAft>
                <a:spcPts val="0"/>
              </a:spcAft>
              <a:buSzPts val="1500"/>
              <a:buChar char="○"/>
            </a:pPr>
            <a:r>
              <a:rPr lang="en" sz="1500" dirty="0"/>
              <a:t>The </a:t>
            </a:r>
            <a:r>
              <a:rPr lang="en" sz="1500" dirty="0">
                <a:latin typeface="Courier New"/>
                <a:ea typeface="Courier New"/>
                <a:cs typeface="Courier New"/>
                <a:sym typeface="Courier New"/>
              </a:rPr>
              <a:t>enqueue</a:t>
            </a:r>
            <a:r>
              <a:rPr lang="en" sz="1500" dirty="0"/>
              <a:t> method adds elements at the back.</a:t>
            </a:r>
            <a:endParaRPr sz="1500" dirty="0"/>
          </a:p>
          <a:p>
            <a:pPr marL="914400" lvl="1" indent="-323850" algn="l" rtl="0">
              <a:spcBef>
                <a:spcPts val="0"/>
              </a:spcBef>
              <a:spcAft>
                <a:spcPts val="0"/>
              </a:spcAft>
              <a:buSzPts val="1500"/>
              <a:buChar char="○"/>
            </a:pPr>
            <a:r>
              <a:rPr lang="en" sz="1500" dirty="0">
                <a:highlight>
                  <a:srgbClr val="FFFF00"/>
                </a:highlight>
              </a:rPr>
              <a:t>The </a:t>
            </a:r>
            <a:r>
              <a:rPr lang="en" sz="1500" dirty="0">
                <a:highlight>
                  <a:srgbClr val="FFFF00"/>
                </a:highlight>
                <a:latin typeface="Courier New"/>
                <a:ea typeface="Courier New"/>
                <a:cs typeface="Courier New"/>
                <a:sym typeface="Courier New"/>
              </a:rPr>
              <a:t>dequeue</a:t>
            </a:r>
            <a:r>
              <a:rPr lang="en" sz="1500" dirty="0">
                <a:highlight>
                  <a:srgbClr val="FFFF00"/>
                </a:highlight>
              </a:rPr>
              <a:t> method performs a linear search for the </a:t>
            </a:r>
            <a:r>
              <a:rPr lang="en" sz="1500" dirty="0">
                <a:highlight>
                  <a:srgbClr val="FFFF00"/>
                </a:highlight>
                <a:latin typeface="Courier New"/>
                <a:ea typeface="Courier New"/>
                <a:cs typeface="Courier New"/>
                <a:sym typeface="Courier New"/>
              </a:rPr>
              <a:t>PathTuple</a:t>
            </a:r>
            <a:r>
              <a:rPr lang="en" sz="1500" dirty="0">
                <a:highlight>
                  <a:srgbClr val="FFFF00"/>
                </a:highlight>
              </a:rPr>
              <a:t> with the shortest distance from the start vertex.</a:t>
            </a:r>
            <a:endParaRPr sz="1500" dirty="0">
              <a:highlight>
                <a:srgbClr val="FFFF00"/>
              </a:highlight>
            </a:endParaRPr>
          </a:p>
          <a:p>
            <a:pPr marL="914400" lvl="1" indent="-323850" algn="l" rtl="0">
              <a:spcBef>
                <a:spcPts val="0"/>
              </a:spcBef>
              <a:spcAft>
                <a:spcPts val="0"/>
              </a:spcAft>
              <a:buSzPts val="1500"/>
              <a:buChar char="○"/>
            </a:pPr>
            <a:r>
              <a:rPr lang="en" sz="1500" dirty="0"/>
              <a:t>If you have any questions, </a:t>
            </a:r>
            <a:r>
              <a:rPr lang="en" sz="1500" b="1" i="1" dirty="0">
                <a:solidFill>
                  <a:srgbClr val="FF0000"/>
                </a:solidFill>
              </a:rPr>
              <a:t>raise your hand!</a:t>
            </a:r>
            <a:endParaRPr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6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1: Setup</a:t>
            </a:r>
            <a:endParaRPr/>
          </a:p>
        </p:txBody>
      </p:sp>
      <p:sp>
        <p:nvSpPr>
          <p:cNvPr id="839" name="Google Shape;839;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grpSp>
        <p:nvGrpSpPr>
          <p:cNvPr id="840" name="Google Shape;840;p60"/>
          <p:cNvGrpSpPr/>
          <p:nvPr/>
        </p:nvGrpSpPr>
        <p:grpSpPr>
          <a:xfrm>
            <a:off x="3192110" y="4071628"/>
            <a:ext cx="2901250" cy="985200"/>
            <a:chOff x="3192110" y="4071628"/>
            <a:chExt cx="2901250" cy="985200"/>
          </a:xfrm>
        </p:grpSpPr>
        <p:sp>
          <p:nvSpPr>
            <p:cNvPr id="841" name="Google Shape;841;p60"/>
            <p:cNvSpPr txBox="1"/>
            <p:nvPr/>
          </p:nvSpPr>
          <p:spPr>
            <a:xfrm>
              <a:off x="3197475" y="4071628"/>
              <a:ext cx="2863200" cy="985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842" name="Google Shape;842;p60"/>
            <p:cNvSpPr txBox="1"/>
            <p:nvPr/>
          </p:nvSpPr>
          <p:spPr>
            <a:xfrm>
              <a:off x="3192110" y="420323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843" name="Google Shape;843;p60"/>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4" name="Google Shape;844;p60"/>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5" name="Google Shape;845;p60"/>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6" name="Google Shape;846;p60"/>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7" name="Google Shape;847;p60"/>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8" name="Google Shape;848;p60"/>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graphicFrame>
        <p:nvGraphicFramePr>
          <p:cNvPr id="849" name="Google Shape;849;p60"/>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850" name="Google Shape;850;p60"/>
          <p:cNvSpPr txBox="1">
            <a:spLocks noGrp="1"/>
          </p:cNvSpPr>
          <p:nvPr>
            <p:ph type="body" idx="4294967295"/>
          </p:nvPr>
        </p:nvSpPr>
        <p:spPr>
          <a:xfrm>
            <a:off x="131450" y="1366438"/>
            <a:ext cx="2863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The setup of Dijkstra's Algorithm requires </a:t>
            </a:r>
            <a:r>
              <a:rPr lang="en" sz="1200" dirty="0">
                <a:solidFill>
                  <a:srgbClr val="000000"/>
                </a:solidFill>
                <a:highlight>
                  <a:srgbClr val="FFFF00"/>
                </a:highlight>
                <a:latin typeface="Arial"/>
                <a:ea typeface="Arial"/>
                <a:cs typeface="Arial"/>
                <a:sym typeface="Arial"/>
              </a:rPr>
              <a:t>two different data structures.</a:t>
            </a:r>
            <a:endParaRPr sz="1200" dirty="0">
              <a:solidFill>
                <a:srgbClr val="000000"/>
              </a:solidFill>
              <a:highlight>
                <a:srgbClr val="FFFF00"/>
              </a:highlight>
              <a:latin typeface="Arial"/>
              <a:ea typeface="Arial"/>
              <a:cs typeface="Arial"/>
              <a:sym typeface="Arial"/>
            </a:endParaRPr>
          </a:p>
        </p:txBody>
      </p:sp>
      <p:grpSp>
        <p:nvGrpSpPr>
          <p:cNvPr id="851" name="Google Shape;851;p60"/>
          <p:cNvGrpSpPr/>
          <p:nvPr/>
        </p:nvGrpSpPr>
        <p:grpSpPr>
          <a:xfrm>
            <a:off x="6244267" y="1458389"/>
            <a:ext cx="2587178" cy="2330671"/>
            <a:chOff x="338125" y="1610890"/>
            <a:chExt cx="3334852" cy="3004217"/>
          </a:xfrm>
        </p:grpSpPr>
        <p:sp>
          <p:nvSpPr>
            <p:cNvPr id="852" name="Google Shape;852;p60"/>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853" name="Google Shape;853;p60"/>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854" name="Google Shape;854;p60"/>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855" name="Google Shape;855;p60"/>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856" name="Google Shape;856;p60"/>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857" name="Google Shape;857;p60"/>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858" name="Google Shape;858;p60"/>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859" name="Google Shape;859;p60"/>
            <p:cNvCxnSpPr>
              <a:stCxn id="852" idx="3"/>
              <a:endCxn id="85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860" name="Google Shape;860;p60"/>
            <p:cNvCxnSpPr>
              <a:stCxn id="852" idx="6"/>
              <a:endCxn id="85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861" name="Google Shape;861;p60"/>
            <p:cNvCxnSpPr>
              <a:stCxn id="852" idx="5"/>
              <a:endCxn id="85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862" name="Google Shape;862;p60"/>
            <p:cNvCxnSpPr>
              <a:stCxn id="853" idx="6"/>
              <a:endCxn id="85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863" name="Google Shape;863;p60"/>
            <p:cNvCxnSpPr>
              <a:stCxn id="857" idx="4"/>
              <a:endCxn id="85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864" name="Google Shape;864;p60"/>
            <p:cNvCxnSpPr>
              <a:stCxn id="853" idx="3"/>
              <a:endCxn id="85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865" name="Google Shape;865;p60"/>
            <p:cNvCxnSpPr>
              <a:stCxn id="858" idx="6"/>
              <a:endCxn id="85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866" name="Google Shape;866;p60"/>
            <p:cNvCxnSpPr>
              <a:stCxn id="854" idx="6"/>
              <a:endCxn id="85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867" name="Google Shape;867;p60"/>
            <p:cNvCxnSpPr>
              <a:stCxn id="855" idx="5"/>
              <a:endCxn id="85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868" name="Google Shape;868;p6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869" name="Google Shape;869;p6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870" name="Google Shape;870;p6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1" name="Google Shape;871;p6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872" name="Google Shape;872;p6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873" name="Google Shape;873;p6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4" name="Google Shape;874;p6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5" name="Google Shape;875;p6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876" name="Google Shape;876;p6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877" name="Google Shape;877;p60"/>
            <p:cNvCxnSpPr>
              <a:stCxn id="854" idx="5"/>
              <a:endCxn id="85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878" name="Google Shape;878;p6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879" name="Google Shape;879;p60"/>
          <p:cNvSpPr txBox="1">
            <a:spLocks noGrp="1"/>
          </p:cNvSpPr>
          <p:nvPr>
            <p:ph type="body" idx="4294967295"/>
          </p:nvPr>
        </p:nvSpPr>
        <p:spPr>
          <a:xfrm>
            <a:off x="131450" y="201324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The first is a </a:t>
            </a:r>
            <a:r>
              <a:rPr lang="en" sz="1200" b="1" i="1" dirty="0">
                <a:solidFill>
                  <a:srgbClr val="FF0000"/>
                </a:solidFill>
                <a:latin typeface="Arial"/>
                <a:ea typeface="Arial"/>
                <a:cs typeface="Arial"/>
                <a:sym typeface="Arial"/>
              </a:rPr>
              <a:t>map</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to keep track of </a:t>
            </a:r>
            <a:r>
              <a:rPr lang="en" sz="1200" b="1" i="1" dirty="0">
                <a:solidFill>
                  <a:srgbClr val="FF0000"/>
                </a:solidFill>
                <a:latin typeface="Arial"/>
                <a:ea typeface="Arial"/>
                <a:cs typeface="Arial"/>
                <a:sym typeface="Arial"/>
              </a:rPr>
              <a:t>every</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vertex in the graph and its </a:t>
            </a:r>
            <a:r>
              <a:rPr lang="en" sz="1200" b="1" i="1" dirty="0">
                <a:solidFill>
                  <a:srgbClr val="FF0000"/>
                </a:solidFill>
                <a:latin typeface="Arial"/>
                <a:ea typeface="Arial"/>
                <a:cs typeface="Arial"/>
                <a:sym typeface="Arial"/>
              </a:rPr>
              <a:t>path tuple</a:t>
            </a:r>
            <a:r>
              <a:rPr lang="en" sz="1200" dirty="0">
                <a:solidFill>
                  <a:srgbClr val="000000"/>
                </a:solidFill>
                <a:latin typeface="Arial"/>
                <a:ea typeface="Arial"/>
                <a:cs typeface="Arial"/>
                <a:sym typeface="Arial"/>
              </a:rPr>
              <a:t>. The vertices are the keys.</a:t>
            </a:r>
            <a:endParaRPr sz="1200" dirty="0">
              <a:solidFill>
                <a:srgbClr val="000000"/>
              </a:solidFill>
              <a:latin typeface="Arial"/>
              <a:ea typeface="Arial"/>
              <a:cs typeface="Arial"/>
              <a:sym typeface="Arial"/>
            </a:endParaRPr>
          </a:p>
        </p:txBody>
      </p:sp>
      <p:sp>
        <p:nvSpPr>
          <p:cNvPr id="880" name="Google Shape;880;p60"/>
          <p:cNvSpPr txBox="1">
            <a:spLocks noGrp="1"/>
          </p:cNvSpPr>
          <p:nvPr>
            <p:ph type="body" idx="4294967295"/>
          </p:nvPr>
        </p:nvSpPr>
        <p:spPr>
          <a:xfrm>
            <a:off x="131450" y="4461723"/>
            <a:ext cx="2863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All of the path tuples are also placed into a </a:t>
            </a:r>
            <a:r>
              <a:rPr lang="en" sz="1200" b="1" i="1" dirty="0">
                <a:solidFill>
                  <a:srgbClr val="FF0000"/>
                </a:solidFill>
                <a:latin typeface="Arial"/>
                <a:ea typeface="Arial"/>
                <a:cs typeface="Arial"/>
                <a:sym typeface="Arial"/>
              </a:rPr>
              <a:t>priority queue</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
        <p:nvSpPr>
          <p:cNvPr id="881" name="Google Shape;881;p60"/>
          <p:cNvSpPr/>
          <p:nvPr/>
        </p:nvSpPr>
        <p:spPr>
          <a:xfrm>
            <a:off x="2853775" y="1785935"/>
            <a:ext cx="715150" cy="1212450"/>
          </a:xfrm>
          <a:custGeom>
            <a:avLst/>
            <a:gdLst/>
            <a:ahLst/>
            <a:cxnLst/>
            <a:rect l="l" t="t" r="r" b="b"/>
            <a:pathLst>
              <a:path w="28606" h="48498" extrusionOk="0">
                <a:moveTo>
                  <a:pt x="0" y="48498"/>
                </a:moveTo>
                <a:cubicBezTo>
                  <a:pt x="2155" y="46664"/>
                  <a:pt x="11232" y="45106"/>
                  <a:pt x="12928" y="37496"/>
                </a:cubicBezTo>
                <a:cubicBezTo>
                  <a:pt x="14624" y="29886"/>
                  <a:pt x="7564" y="8753"/>
                  <a:pt x="10177" y="2839"/>
                </a:cubicBezTo>
                <a:cubicBezTo>
                  <a:pt x="12790" y="-3075"/>
                  <a:pt x="25535" y="2152"/>
                  <a:pt x="28606" y="201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2" name="Google Shape;882;p60"/>
          <p:cNvSpPr txBox="1">
            <a:spLocks noGrp="1"/>
          </p:cNvSpPr>
          <p:nvPr>
            <p:ph type="body" idx="4294967295"/>
          </p:nvPr>
        </p:nvSpPr>
        <p:spPr>
          <a:xfrm>
            <a:off x="131450" y="2844855"/>
            <a:ext cx="28632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dirty="0">
                <a:solidFill>
                  <a:srgbClr val="000000"/>
                </a:solidFill>
                <a:latin typeface="Arial"/>
                <a:ea typeface="Arial"/>
                <a:cs typeface="Arial"/>
                <a:sym typeface="Arial"/>
              </a:rPr>
              <a:t>The path tuple for the </a:t>
            </a:r>
            <a:r>
              <a:rPr lang="en" sz="1100" b="1" i="1" dirty="0">
                <a:solidFill>
                  <a:srgbClr val="FF0000"/>
                </a:solidFill>
                <a:latin typeface="Arial"/>
                <a:ea typeface="Arial"/>
                <a:cs typeface="Arial"/>
                <a:sym typeface="Arial"/>
              </a:rPr>
              <a:t>start</a:t>
            </a:r>
            <a:r>
              <a:rPr lang="en" sz="1100" dirty="0">
                <a:solidFill>
                  <a:srgbClr val="FF0000"/>
                </a:solidFill>
                <a:latin typeface="Arial"/>
                <a:ea typeface="Arial"/>
                <a:cs typeface="Arial"/>
                <a:sym typeface="Arial"/>
              </a:rPr>
              <a:t> </a:t>
            </a:r>
            <a:r>
              <a:rPr lang="en" sz="1100" dirty="0">
                <a:solidFill>
                  <a:srgbClr val="000000"/>
                </a:solidFill>
                <a:latin typeface="Arial"/>
                <a:ea typeface="Arial"/>
                <a:cs typeface="Arial"/>
                <a:sym typeface="Arial"/>
              </a:rPr>
              <a:t>vertex has a </a:t>
            </a:r>
            <a:r>
              <a:rPr lang="en" sz="1100" dirty="0">
                <a:solidFill>
                  <a:srgbClr val="FF0000"/>
                </a:solidFill>
                <a:latin typeface="Courier New"/>
                <a:ea typeface="Courier New"/>
                <a:cs typeface="Courier New"/>
                <a:sym typeface="Courier New"/>
              </a:rPr>
              <a:t>null</a:t>
            </a:r>
            <a:r>
              <a:rPr lang="en" sz="1100" dirty="0">
                <a:solidFill>
                  <a:srgbClr val="FF0000"/>
                </a:solidFill>
                <a:latin typeface="Arial"/>
                <a:ea typeface="Arial"/>
                <a:cs typeface="Arial"/>
                <a:sym typeface="Arial"/>
              </a:rPr>
              <a:t> </a:t>
            </a:r>
            <a:r>
              <a:rPr lang="en" sz="1100" b="1" i="1" dirty="0">
                <a:solidFill>
                  <a:srgbClr val="FF0000"/>
                </a:solidFill>
                <a:latin typeface="Arial"/>
                <a:ea typeface="Arial"/>
                <a:cs typeface="Arial"/>
                <a:sym typeface="Arial"/>
              </a:rPr>
              <a:t>predecessor</a:t>
            </a:r>
            <a:r>
              <a:rPr lang="en" sz="1100" dirty="0">
                <a:solidFill>
                  <a:srgbClr val="FF0000"/>
                </a:solidFill>
                <a:latin typeface="Arial"/>
                <a:ea typeface="Arial"/>
                <a:cs typeface="Arial"/>
                <a:sym typeface="Arial"/>
              </a:rPr>
              <a:t> </a:t>
            </a:r>
            <a:r>
              <a:rPr lang="en" sz="1100" dirty="0">
                <a:solidFill>
                  <a:srgbClr val="000000"/>
                </a:solidFill>
                <a:latin typeface="Arial"/>
                <a:ea typeface="Arial"/>
                <a:cs typeface="Arial"/>
                <a:sym typeface="Arial"/>
              </a:rPr>
              <a:t>(because there isn't one) and a </a:t>
            </a:r>
            <a:r>
              <a:rPr lang="en" sz="1100" b="1" i="1" dirty="0">
                <a:solidFill>
                  <a:srgbClr val="FF0000"/>
                </a:solidFill>
                <a:latin typeface="Arial"/>
                <a:ea typeface="Arial"/>
                <a:cs typeface="Arial"/>
                <a:sym typeface="Arial"/>
              </a:rPr>
              <a:t>distance of 0</a:t>
            </a:r>
            <a:r>
              <a:rPr lang="en" sz="1100" dirty="0">
                <a:solidFill>
                  <a:srgbClr val="000000"/>
                </a:solidFill>
                <a:latin typeface="Arial"/>
                <a:ea typeface="Arial"/>
                <a:cs typeface="Arial"/>
                <a:sym typeface="Arial"/>
              </a:rPr>
              <a:t> (to itself).</a:t>
            </a:r>
            <a:endParaRPr sz="1100" dirty="0">
              <a:solidFill>
                <a:srgbClr val="000000"/>
              </a:solidFill>
              <a:latin typeface="Arial"/>
              <a:ea typeface="Arial"/>
              <a:cs typeface="Arial"/>
              <a:sym typeface="Arial"/>
            </a:endParaRPr>
          </a:p>
        </p:txBody>
      </p:sp>
      <p:grpSp>
        <p:nvGrpSpPr>
          <p:cNvPr id="883" name="Google Shape;883;p60"/>
          <p:cNvGrpSpPr/>
          <p:nvPr/>
        </p:nvGrpSpPr>
        <p:grpSpPr>
          <a:xfrm>
            <a:off x="2888150" y="2076950"/>
            <a:ext cx="667450" cy="2014775"/>
            <a:chOff x="2888150" y="2076950"/>
            <a:chExt cx="667450" cy="2014775"/>
          </a:xfrm>
        </p:grpSpPr>
        <p:sp>
          <p:nvSpPr>
            <p:cNvPr id="884" name="Google Shape;884;p60"/>
            <p:cNvSpPr/>
            <p:nvPr/>
          </p:nvSpPr>
          <p:spPr>
            <a:xfrm>
              <a:off x="3418200" y="2076950"/>
              <a:ext cx="137400" cy="1849800"/>
            </a:xfrm>
            <a:prstGeom prst="leftBrace">
              <a:avLst>
                <a:gd name="adj1" fmla="val 50000"/>
                <a:gd name="adj2" fmla="val 50000"/>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0"/>
            <p:cNvSpPr/>
            <p:nvPr/>
          </p:nvSpPr>
          <p:spPr>
            <a:xfrm>
              <a:off x="2888150" y="2991500"/>
              <a:ext cx="570750" cy="1100225"/>
            </a:xfrm>
            <a:custGeom>
              <a:avLst/>
              <a:gdLst/>
              <a:ahLst/>
              <a:cxnLst/>
              <a:rect l="l" t="t" r="r" b="b"/>
              <a:pathLst>
                <a:path w="22830" h="44009" extrusionOk="0">
                  <a:moveTo>
                    <a:pt x="0" y="44009"/>
                  </a:moveTo>
                  <a:cubicBezTo>
                    <a:pt x="2934" y="39471"/>
                    <a:pt x="15495" y="23700"/>
                    <a:pt x="17604" y="16778"/>
                  </a:cubicBezTo>
                  <a:cubicBezTo>
                    <a:pt x="19713" y="9856"/>
                    <a:pt x="11782" y="5272"/>
                    <a:pt x="12653" y="2476"/>
                  </a:cubicBezTo>
                  <a:cubicBezTo>
                    <a:pt x="13524" y="-320"/>
                    <a:pt x="21134" y="413"/>
                    <a:pt x="22830" y="0"/>
                  </a:cubicBez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886" name="Google Shape;886;p60"/>
          <p:cNvSpPr txBox="1">
            <a:spLocks noGrp="1"/>
          </p:cNvSpPr>
          <p:nvPr>
            <p:ph type="body" idx="4294967295"/>
          </p:nvPr>
        </p:nvSpPr>
        <p:spPr>
          <a:xfrm>
            <a:off x="131450" y="3630176"/>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dirty="0">
                <a:solidFill>
                  <a:srgbClr val="FF0000"/>
                </a:solidFill>
                <a:latin typeface="Arial"/>
                <a:ea typeface="Arial"/>
                <a:cs typeface="Arial"/>
                <a:sym typeface="Arial"/>
              </a:rPr>
              <a:t>Every other vertex</a:t>
            </a:r>
            <a:r>
              <a:rPr lang="en" sz="1200" dirty="0">
                <a:solidFill>
                  <a:srgbClr val="000000"/>
                </a:solidFill>
                <a:latin typeface="Arial"/>
                <a:ea typeface="Arial"/>
                <a:cs typeface="Arial"/>
                <a:sym typeface="Arial"/>
              </a:rPr>
              <a:t> in the graph has a </a:t>
            </a:r>
            <a:r>
              <a:rPr lang="en" sz="1200" dirty="0">
                <a:solidFill>
                  <a:srgbClr val="FF0000"/>
                </a:solidFill>
                <a:latin typeface="Courier New"/>
                <a:ea typeface="Courier New"/>
                <a:cs typeface="Courier New"/>
                <a:sym typeface="Courier New"/>
              </a:rPr>
              <a:t>null</a:t>
            </a:r>
            <a:r>
              <a:rPr lang="en" sz="1200" dirty="0">
                <a:solidFill>
                  <a:srgbClr val="FF0000"/>
                </a:solidFill>
                <a:latin typeface="Arial"/>
                <a:ea typeface="Arial"/>
                <a:cs typeface="Arial"/>
                <a:sym typeface="Arial"/>
              </a:rPr>
              <a:t> </a:t>
            </a:r>
            <a:r>
              <a:rPr lang="en" sz="1200" b="1" i="1" dirty="0">
                <a:solidFill>
                  <a:srgbClr val="FF0000"/>
                </a:solidFill>
                <a:latin typeface="Arial"/>
                <a:ea typeface="Arial"/>
                <a:cs typeface="Arial"/>
                <a:sym typeface="Arial"/>
              </a:rPr>
              <a:t>predecessor</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and a </a:t>
            </a:r>
            <a:r>
              <a:rPr lang="en" sz="1200" b="1" i="1" dirty="0">
                <a:solidFill>
                  <a:srgbClr val="FF0000"/>
                </a:solidFill>
                <a:latin typeface="Arial"/>
                <a:ea typeface="Arial"/>
                <a:cs typeface="Arial"/>
                <a:sym typeface="Arial"/>
              </a:rPr>
              <a:t>distance of infinity</a:t>
            </a:r>
            <a:r>
              <a:rPr lang="en" sz="1200" dirty="0">
                <a:solidFill>
                  <a:srgbClr val="000000"/>
                </a:solidFill>
                <a:latin typeface="Arial"/>
                <a:ea typeface="Arial"/>
                <a:cs typeface="Arial"/>
                <a:sym typeface="Arial"/>
              </a:rPr>
              <a:t> (because we don't know yet).</a:t>
            </a:r>
            <a:endParaRPr sz="1200"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1000"/>
                                        <p:tgtEl>
                                          <p:spTgt spid="8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9"/>
                                        </p:tgtEl>
                                        <p:attrNameLst>
                                          <p:attrName>style.visibility</p:attrName>
                                        </p:attrNameLst>
                                      </p:cBhvr>
                                      <p:to>
                                        <p:strVal val="visible"/>
                                      </p:to>
                                    </p:set>
                                    <p:animEffect transition="in" filter="fade">
                                      <p:cBhvr>
                                        <p:cTn id="12" dur="1000"/>
                                        <p:tgtEl>
                                          <p:spTgt spid="87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849"/>
                                        </p:tgtEl>
                                        <p:attrNameLst>
                                          <p:attrName>style.visibility</p:attrName>
                                        </p:attrNameLst>
                                      </p:cBhvr>
                                      <p:to>
                                        <p:strVal val="visible"/>
                                      </p:to>
                                    </p:set>
                                    <p:animEffect transition="in" filter="fade">
                                      <p:cBhvr>
                                        <p:cTn id="16" dur="1000"/>
                                        <p:tgtEl>
                                          <p:spTgt spid="84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82"/>
                                        </p:tgtEl>
                                        <p:attrNameLst>
                                          <p:attrName>style.visibility</p:attrName>
                                        </p:attrNameLst>
                                      </p:cBhvr>
                                      <p:to>
                                        <p:strVal val="visible"/>
                                      </p:to>
                                    </p:set>
                                    <p:animEffect transition="in" filter="fade">
                                      <p:cBhvr>
                                        <p:cTn id="21" dur="1000"/>
                                        <p:tgtEl>
                                          <p:spTgt spid="882"/>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881"/>
                                        </p:tgtEl>
                                        <p:attrNameLst>
                                          <p:attrName>style.visibility</p:attrName>
                                        </p:attrNameLst>
                                      </p:cBhvr>
                                      <p:to>
                                        <p:strVal val="visible"/>
                                      </p:to>
                                    </p:set>
                                    <p:animEffect transition="in" filter="fade">
                                      <p:cBhvr>
                                        <p:cTn id="25" dur="1000"/>
                                        <p:tgtEl>
                                          <p:spTgt spid="88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86"/>
                                        </p:tgtEl>
                                        <p:attrNameLst>
                                          <p:attrName>style.visibility</p:attrName>
                                        </p:attrNameLst>
                                      </p:cBhvr>
                                      <p:to>
                                        <p:strVal val="visible"/>
                                      </p:to>
                                    </p:set>
                                    <p:animEffect transition="in" filter="fade">
                                      <p:cBhvr>
                                        <p:cTn id="30" dur="1000"/>
                                        <p:tgtEl>
                                          <p:spTgt spid="886"/>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883"/>
                                        </p:tgtEl>
                                        <p:attrNameLst>
                                          <p:attrName>style.visibility</p:attrName>
                                        </p:attrNameLst>
                                      </p:cBhvr>
                                      <p:to>
                                        <p:strVal val="visible"/>
                                      </p:to>
                                    </p:set>
                                    <p:animEffect transition="in" filter="fade">
                                      <p:cBhvr>
                                        <p:cTn id="34" dur="1000"/>
                                        <p:tgtEl>
                                          <p:spTgt spid="88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80"/>
                                        </p:tgtEl>
                                        <p:attrNameLst>
                                          <p:attrName>style.visibility</p:attrName>
                                        </p:attrNameLst>
                                      </p:cBhvr>
                                      <p:to>
                                        <p:strVal val="visible"/>
                                      </p:to>
                                    </p:set>
                                    <p:animEffect transition="in" filter="fade">
                                      <p:cBhvr>
                                        <p:cTn id="39" dur="1000"/>
                                        <p:tgtEl>
                                          <p:spTgt spid="880"/>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840"/>
                                        </p:tgtEl>
                                        <p:attrNameLst>
                                          <p:attrName>style.visibility</p:attrName>
                                        </p:attrNameLst>
                                      </p:cBhvr>
                                      <p:to>
                                        <p:strVal val="visible"/>
                                      </p:to>
                                    </p:set>
                                    <p:animEffect transition="in" filter="fade">
                                      <p:cBhvr>
                                        <p:cTn id="43" dur="1000"/>
                                        <p:tgtEl>
                                          <p:spTgt spid="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1: Setup</a:t>
            </a:r>
            <a:endParaRPr b="0">
              <a:latin typeface="Courier New"/>
              <a:ea typeface="Courier New"/>
              <a:cs typeface="Courier New"/>
              <a:sym typeface="Courier New"/>
            </a:endParaRPr>
          </a:p>
        </p:txBody>
      </p:sp>
      <p:sp>
        <p:nvSpPr>
          <p:cNvPr id="892" name="Google Shape;892;p6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Dijkstra's Shortest Path is probably the most complex algorithm that we will examine in this entire course. Let's take is slowly by examining it in relatively small pieces, one at a time. As usual, the algorithm begins by creating the necessary data structures.</a:t>
            </a:r>
            <a:endParaRPr/>
          </a:p>
        </p:txBody>
      </p:sp>
      <p:sp>
        <p:nvSpPr>
          <p:cNvPr id="893" name="Google Shape;893;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894" name="Google Shape;894;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13.18</a:t>
            </a:r>
            <a:endParaRPr/>
          </a:p>
        </p:txBody>
      </p:sp>
      <p:pic>
        <p:nvPicPr>
          <p:cNvPr id="895" name="Google Shape;895;p61"/>
          <p:cNvPicPr preferRelativeResize="0"/>
          <p:nvPr/>
        </p:nvPicPr>
        <p:blipFill>
          <a:blip r:embed="rId3">
            <a:alphaModFix/>
          </a:blip>
          <a:stretch>
            <a:fillRect/>
          </a:stretch>
        </p:blipFill>
        <p:spPr>
          <a:xfrm flipH="1">
            <a:off x="224438" y="2529232"/>
            <a:ext cx="2152525" cy="2303200"/>
          </a:xfrm>
          <a:prstGeom prst="rect">
            <a:avLst/>
          </a:prstGeom>
          <a:noFill/>
          <a:ln w="19050" cap="flat" cmpd="sng">
            <a:solidFill>
              <a:srgbClr val="000000"/>
            </a:solidFill>
            <a:prstDash val="solid"/>
            <a:round/>
            <a:headEnd type="none" w="sm" len="sm"/>
            <a:tailEnd type="none" w="sm" len="sm"/>
          </a:ln>
        </p:spPr>
      </p:pic>
      <p:sp>
        <p:nvSpPr>
          <p:cNvPr id="896" name="Google Shape;896;p61"/>
          <p:cNvSpPr/>
          <p:nvPr/>
        </p:nvSpPr>
        <p:spPr>
          <a:xfrm>
            <a:off x="198925" y="1760075"/>
            <a:ext cx="2178300" cy="536400"/>
          </a:xfrm>
          <a:prstGeom prst="wedgeRoundRectCallout">
            <a:avLst>
              <a:gd name="adj1" fmla="val -11222"/>
              <a:gd name="adj2" fmla="val 12691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And...</a:t>
            </a:r>
            <a:r>
              <a:rPr lang="en" sz="1600" b="1" i="1">
                <a:solidFill>
                  <a:srgbClr val="FF0000"/>
                </a:solidFill>
              </a:rPr>
              <a:t>we're off!</a:t>
            </a:r>
            <a:endParaRPr sz="1800" b="1" i="1">
              <a:solidFill>
                <a:srgbClr val="FF0000"/>
              </a:solidFill>
            </a:endParaRPr>
          </a:p>
        </p:txBody>
      </p:sp>
      <p:sp>
        <p:nvSpPr>
          <p:cNvPr id="897" name="Google Shape;897;p61"/>
          <p:cNvSpPr txBox="1">
            <a:spLocks noGrp="1"/>
          </p:cNvSpPr>
          <p:nvPr>
            <p:ph type="body" idx="2"/>
          </p:nvPr>
        </p:nvSpPr>
        <p:spPr>
          <a:xfrm>
            <a:off x="2538050" y="1683875"/>
            <a:ext cx="6289200" cy="3086969"/>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solidFill>
                  <a:srgbClr val="FF0000"/>
                </a:solidFill>
                <a:latin typeface="Courier New"/>
                <a:ea typeface="Courier New"/>
                <a:cs typeface="Courier New"/>
                <a:sym typeface="Courier New"/>
              </a:rPr>
              <a:t>WAdjacencyGraph</a:t>
            </a:r>
            <a:r>
              <a:rPr lang="en" sz="1400" dirty="0">
                <a:solidFill>
                  <a:srgbClr val="FF0000"/>
                </a:solidFill>
              </a:rPr>
              <a:t> </a:t>
            </a:r>
            <a:r>
              <a:rPr lang="en" sz="1400" dirty="0"/>
              <a:t>class and navigate to the </a:t>
            </a:r>
            <a:r>
              <a:rPr lang="en" sz="1400" dirty="0">
                <a:solidFill>
                  <a:srgbClr val="FF0000"/>
                </a:solidFill>
                <a:latin typeface="Courier New"/>
                <a:ea typeface="Courier New"/>
                <a:cs typeface="Courier New"/>
                <a:sym typeface="Courier New"/>
              </a:rPr>
              <a:t>dijkstrasPath</a:t>
            </a:r>
            <a:r>
              <a:rPr lang="en" sz="1400" dirty="0"/>
              <a:t> method. Together with your instructor, examine the first part of the algorithm: </a:t>
            </a:r>
            <a:r>
              <a:rPr lang="en" sz="1400" b="1" i="1" dirty="0">
                <a:solidFill>
                  <a:srgbClr val="FF0000"/>
                </a:solidFill>
                <a:highlight>
                  <a:srgbClr val="FFFF00"/>
                </a:highlight>
              </a:rPr>
              <a:t>step 1: setup</a:t>
            </a:r>
            <a:r>
              <a:rPr lang="en" sz="1400" dirty="0">
                <a:highlight>
                  <a:srgbClr val="FFFF00"/>
                </a:highlight>
              </a:rPr>
              <a:t>.</a:t>
            </a:r>
            <a:endParaRPr sz="1400" dirty="0">
              <a:highlight>
                <a:srgbClr val="FFFF00"/>
              </a:highlight>
            </a:endParaRPr>
          </a:p>
          <a:p>
            <a:pPr marL="914400" lvl="1" indent="-304800" algn="l" rtl="0">
              <a:spcBef>
                <a:spcPts val="0"/>
              </a:spcBef>
              <a:spcAft>
                <a:spcPts val="0"/>
              </a:spcAft>
              <a:buSzPts val="1200"/>
              <a:buChar char="○"/>
            </a:pPr>
            <a:r>
              <a:rPr lang="en" sz="1200" dirty="0"/>
              <a:t>It uses the </a:t>
            </a:r>
            <a:r>
              <a:rPr lang="en" sz="1200" dirty="0">
                <a:latin typeface="Courier New"/>
                <a:ea typeface="Courier New"/>
                <a:cs typeface="Courier New"/>
                <a:sym typeface="Courier New"/>
              </a:rPr>
              <a:t>start</a:t>
            </a:r>
            <a:r>
              <a:rPr lang="en" sz="1200" dirty="0"/>
              <a:t> and </a:t>
            </a:r>
            <a:r>
              <a:rPr lang="en" sz="1200" dirty="0">
                <a:latin typeface="Courier New"/>
                <a:ea typeface="Courier New"/>
                <a:cs typeface="Courier New"/>
                <a:sym typeface="Courier New"/>
              </a:rPr>
              <a:t>end</a:t>
            </a:r>
            <a:r>
              <a:rPr lang="en" sz="1200" dirty="0"/>
              <a:t> values to retrieve the corresponding vertices.</a:t>
            </a:r>
            <a:endParaRPr sz="1200" dirty="0"/>
          </a:p>
          <a:p>
            <a:pPr marL="914400" lvl="1" indent="-304800" algn="l" rtl="0">
              <a:spcBef>
                <a:spcPts val="0"/>
              </a:spcBef>
              <a:spcAft>
                <a:spcPts val="0"/>
              </a:spcAft>
              <a:buSzPts val="1200"/>
              <a:buChar char="○"/>
            </a:pPr>
            <a:r>
              <a:rPr lang="en" sz="1200" dirty="0"/>
              <a:t>It creates a </a:t>
            </a:r>
            <a:r>
              <a:rPr lang="en" sz="1200" dirty="0">
                <a:solidFill>
                  <a:srgbClr val="FF0000"/>
                </a:solidFill>
                <a:latin typeface="Courier New"/>
                <a:ea typeface="Courier New"/>
                <a:cs typeface="Courier New"/>
                <a:sym typeface="Courier New"/>
              </a:rPr>
              <a:t>Map</a:t>
            </a:r>
            <a:r>
              <a:rPr lang="en" sz="1200" dirty="0">
                <a:solidFill>
                  <a:srgbClr val="FF0000"/>
                </a:solidFill>
              </a:rPr>
              <a:t> </a:t>
            </a:r>
            <a:r>
              <a:rPr lang="en" sz="1200" dirty="0"/>
              <a:t>to store </a:t>
            </a:r>
            <a:r>
              <a:rPr lang="en" sz="1200" dirty="0">
                <a:latin typeface="Courier New"/>
                <a:ea typeface="Courier New"/>
                <a:cs typeface="Courier New"/>
                <a:sym typeface="Courier New"/>
              </a:rPr>
              <a:t>WVertex</a:t>
            </a:r>
            <a:r>
              <a:rPr lang="en" sz="1200" dirty="0"/>
              <a:t> keys and </a:t>
            </a:r>
            <a:r>
              <a:rPr lang="en" sz="1200" dirty="0">
                <a:latin typeface="Courier New"/>
                <a:ea typeface="Courier New"/>
                <a:cs typeface="Courier New"/>
                <a:sym typeface="Courier New"/>
              </a:rPr>
              <a:t>PathTuple</a:t>
            </a:r>
            <a:r>
              <a:rPr lang="en" sz="1200" dirty="0"/>
              <a:t> values.</a:t>
            </a:r>
            <a:endParaRPr sz="1200" dirty="0"/>
          </a:p>
          <a:p>
            <a:pPr marL="914400" lvl="1" indent="-304800" algn="l" rtl="0">
              <a:spcBef>
                <a:spcPts val="0"/>
              </a:spcBef>
              <a:spcAft>
                <a:spcPts val="0"/>
              </a:spcAft>
              <a:buSzPts val="1200"/>
              <a:buChar char="○"/>
            </a:pPr>
            <a:r>
              <a:rPr lang="en" sz="1200" dirty="0"/>
              <a:t>It creates a </a:t>
            </a:r>
            <a:r>
              <a:rPr lang="en" sz="1200" dirty="0">
                <a:solidFill>
                  <a:srgbClr val="FF0000"/>
                </a:solidFill>
                <a:latin typeface="Courier New"/>
                <a:ea typeface="Courier New"/>
                <a:cs typeface="Courier New"/>
                <a:sym typeface="Courier New"/>
              </a:rPr>
              <a:t>TupleQueue</a:t>
            </a:r>
            <a:r>
              <a:rPr lang="en" sz="1200" dirty="0"/>
              <a:t>.</a:t>
            </a:r>
            <a:endParaRPr sz="1200" dirty="0"/>
          </a:p>
          <a:p>
            <a:pPr marL="914400" lvl="1" indent="-304800" algn="l" rtl="0">
              <a:spcBef>
                <a:spcPts val="0"/>
              </a:spcBef>
              <a:spcAft>
                <a:spcPts val="0"/>
              </a:spcAft>
              <a:buSzPts val="1200"/>
              <a:buChar char="○"/>
            </a:pPr>
            <a:r>
              <a:rPr lang="en" sz="1200" dirty="0"/>
              <a:t>It iterates over the vertices in the graph (</a:t>
            </a:r>
            <a:r>
              <a:rPr lang="en" sz="1200" b="1" i="1" dirty="0">
                <a:solidFill>
                  <a:srgbClr val="FF0000"/>
                </a:solidFill>
              </a:rPr>
              <a:t>including the start vertex</a:t>
            </a:r>
            <a:r>
              <a:rPr lang="en" sz="1200" dirty="0"/>
              <a:t>):</a:t>
            </a:r>
            <a:endParaRPr sz="1200" dirty="0"/>
          </a:p>
          <a:p>
            <a:pPr marL="1371600" lvl="2" indent="-304800" algn="l" rtl="0">
              <a:spcBef>
                <a:spcPts val="0"/>
              </a:spcBef>
              <a:spcAft>
                <a:spcPts val="0"/>
              </a:spcAft>
              <a:buSzPts val="1200"/>
              <a:buChar char="■"/>
            </a:pPr>
            <a:r>
              <a:rPr lang="en" sz="1200" b="1" i="1" dirty="0">
                <a:solidFill>
                  <a:srgbClr val="FF0000"/>
                </a:solidFill>
              </a:rPr>
              <a:t>Makes</a:t>
            </a:r>
            <a:r>
              <a:rPr lang="en" sz="1200" dirty="0"/>
              <a:t> a new </a:t>
            </a:r>
            <a:r>
              <a:rPr lang="en" sz="1200" dirty="0">
                <a:solidFill>
                  <a:schemeClr val="lt2"/>
                </a:solidFill>
                <a:latin typeface="Courier New"/>
                <a:ea typeface="Courier New"/>
                <a:cs typeface="Courier New"/>
                <a:sym typeface="Courier New"/>
              </a:rPr>
              <a:t>PathTuple</a:t>
            </a:r>
            <a:r>
              <a:rPr lang="en" sz="1200" dirty="0">
                <a:solidFill>
                  <a:schemeClr val="lt2"/>
                </a:solidFill>
              </a:rPr>
              <a:t> </a:t>
            </a:r>
            <a:r>
              <a:rPr lang="en" sz="1200" dirty="0"/>
              <a:t>for the vertex.</a:t>
            </a:r>
            <a:endParaRPr sz="1200" dirty="0"/>
          </a:p>
          <a:p>
            <a:pPr marL="1371600" lvl="2" indent="-304800" algn="l" rtl="0">
              <a:spcBef>
                <a:spcPts val="0"/>
              </a:spcBef>
              <a:spcAft>
                <a:spcPts val="0"/>
              </a:spcAft>
              <a:buSzPts val="1200"/>
              <a:buChar char="■"/>
            </a:pPr>
            <a:r>
              <a:rPr lang="en" sz="1200" b="1" i="1" dirty="0">
                <a:solidFill>
                  <a:srgbClr val="FF0000"/>
                </a:solidFill>
              </a:rPr>
              <a:t>Adds both</a:t>
            </a:r>
            <a:r>
              <a:rPr lang="en" sz="1200" dirty="0"/>
              <a:t> to the </a:t>
            </a:r>
            <a:r>
              <a:rPr lang="en" sz="1200" dirty="0">
                <a:latin typeface="Courier New"/>
                <a:ea typeface="Courier New"/>
                <a:cs typeface="Courier New"/>
                <a:sym typeface="Courier New"/>
              </a:rPr>
              <a:t>Map</a:t>
            </a:r>
            <a:r>
              <a:rPr lang="en" sz="1200" dirty="0"/>
              <a:t>.</a:t>
            </a:r>
            <a:endParaRPr sz="1200" dirty="0"/>
          </a:p>
          <a:p>
            <a:pPr marL="1371600" lvl="2" indent="-304800" algn="l" rtl="0">
              <a:spcBef>
                <a:spcPts val="0"/>
              </a:spcBef>
              <a:spcAft>
                <a:spcPts val="0"/>
              </a:spcAft>
              <a:buSzPts val="1200"/>
              <a:buChar char="■"/>
            </a:pPr>
            <a:r>
              <a:rPr lang="en" sz="1200" b="1" i="1" dirty="0">
                <a:solidFill>
                  <a:srgbClr val="FF0000"/>
                </a:solidFill>
              </a:rPr>
              <a:t>Adds</a:t>
            </a:r>
            <a:r>
              <a:rPr lang="en" sz="1200" dirty="0"/>
              <a:t> the tuple to the </a:t>
            </a:r>
            <a:r>
              <a:rPr lang="en" sz="1200" dirty="0">
                <a:latin typeface="Courier New"/>
                <a:ea typeface="Courier New"/>
                <a:cs typeface="Courier New"/>
                <a:sym typeface="Courier New"/>
              </a:rPr>
              <a:t>TupleQueue</a:t>
            </a:r>
            <a:r>
              <a:rPr lang="en" sz="1200" dirty="0"/>
              <a:t>.</a:t>
            </a:r>
            <a:endParaRPr sz="1200" dirty="0"/>
          </a:p>
          <a:p>
            <a:pPr marL="914400" lvl="1" indent="-304800" algn="l" rtl="0">
              <a:spcBef>
                <a:spcPts val="0"/>
              </a:spcBef>
              <a:spcAft>
                <a:spcPts val="0"/>
              </a:spcAft>
              <a:buSzPts val="1200"/>
              <a:buChar char="○"/>
            </a:pPr>
            <a:r>
              <a:rPr lang="en" sz="1200" b="1" i="1" dirty="0">
                <a:solidFill>
                  <a:srgbClr val="FF0000"/>
                </a:solidFill>
              </a:rPr>
              <a:t>After</a:t>
            </a:r>
            <a:r>
              <a:rPr lang="en" sz="1200" dirty="0">
                <a:solidFill>
                  <a:srgbClr val="FF0000"/>
                </a:solidFill>
              </a:rPr>
              <a:t> </a:t>
            </a:r>
            <a:r>
              <a:rPr lang="en" sz="1200" dirty="0"/>
              <a:t>the initial setup is complete, it fetches the </a:t>
            </a:r>
            <a:r>
              <a:rPr lang="en" sz="1200" dirty="0">
                <a:latin typeface="Courier New"/>
                <a:ea typeface="Courier New"/>
                <a:cs typeface="Courier New"/>
                <a:sym typeface="Courier New"/>
              </a:rPr>
              <a:t>PathTuple</a:t>
            </a:r>
            <a:r>
              <a:rPr lang="en" sz="1200" dirty="0"/>
              <a:t> for the start vertex from the map and updates it to a </a:t>
            </a:r>
            <a:r>
              <a:rPr lang="en" sz="1200" b="1" i="1" dirty="0">
                <a:solidFill>
                  <a:srgbClr val="FF0000"/>
                </a:solidFill>
                <a:highlight>
                  <a:srgbClr val="FFFF00"/>
                </a:highlight>
              </a:rPr>
              <a:t>distance of 0</a:t>
            </a:r>
            <a:r>
              <a:rPr lang="en" sz="1200" dirty="0">
                <a:highlight>
                  <a:srgbClr val="FFFF00"/>
                </a:highlight>
              </a:rPr>
              <a:t>.</a:t>
            </a:r>
            <a:endParaRPr sz="1200" dirty="0">
              <a:highlight>
                <a:srgbClr val="FFFF00"/>
              </a:highlight>
            </a:endParaRPr>
          </a:p>
          <a:p>
            <a:pPr marL="457200" lvl="0" indent="-317500" algn="l" rtl="0">
              <a:spcBef>
                <a:spcPts val="0"/>
              </a:spcBef>
              <a:spcAft>
                <a:spcPts val="0"/>
              </a:spcAft>
              <a:buSzPts val="1400"/>
              <a:buChar char="●"/>
            </a:pPr>
            <a:r>
              <a:rPr lang="en" sz="1400" dirty="0"/>
              <a:t>If you have any questions, </a:t>
            </a:r>
            <a:r>
              <a:rPr lang="en" sz="1400" b="1" i="1" dirty="0">
                <a:solidFill>
                  <a:srgbClr val="FF0000"/>
                </a:solidFill>
              </a:rPr>
              <a:t>raise your hand!</a:t>
            </a:r>
            <a:r>
              <a:rPr lang="en" sz="1400" dirty="0"/>
              <a:t>.</a:t>
            </a:r>
            <a:endParaRPr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6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903" name="Google Shape;903;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904" name="Google Shape;904;p62"/>
          <p:cNvSpPr txBox="1"/>
          <p:nvPr/>
        </p:nvSpPr>
        <p:spPr>
          <a:xfrm>
            <a:off x="3197475" y="4071628"/>
            <a:ext cx="2863200" cy="985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905" name="Google Shape;905;p62"/>
          <p:cNvSpPr txBox="1"/>
          <p:nvPr/>
        </p:nvSpPr>
        <p:spPr>
          <a:xfrm>
            <a:off x="3192110" y="420323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06" name="Google Shape;906;p62"/>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7" name="Google Shape;907;p62"/>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8" name="Google Shape;908;p62"/>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9" name="Google Shape;909;p62"/>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0" name="Google Shape;910;p62"/>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1" name="Google Shape;911;p62"/>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12" name="Google Shape;912;p62"/>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913" name="Google Shape;913;p62"/>
          <p:cNvSpPr txBox="1">
            <a:spLocks noGrp="1"/>
          </p:cNvSpPr>
          <p:nvPr>
            <p:ph type="body" idx="4294967295"/>
          </p:nvPr>
        </p:nvSpPr>
        <p:spPr>
          <a:xfrm>
            <a:off x="131450" y="136643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Next, the main loop begins. The path tuple with the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shortest distance</a:t>
            </a:r>
            <a:r>
              <a:rPr lang="en" sz="1200" b="1" i="1">
                <a:solidFill>
                  <a:srgbClr val="000000"/>
                </a:solidFill>
                <a:latin typeface="Arial"/>
                <a:ea typeface="Arial"/>
                <a:cs typeface="Arial"/>
                <a:sym typeface="Arial"/>
              </a:rPr>
              <a:t> </a:t>
            </a:r>
            <a:r>
              <a:rPr lang="en" sz="1200">
                <a:solidFill>
                  <a:srgbClr val="000000"/>
                </a:solidFill>
                <a:latin typeface="Arial"/>
                <a:ea typeface="Arial"/>
                <a:cs typeface="Arial"/>
                <a:sym typeface="Arial"/>
              </a:rPr>
              <a:t>from start is </a:t>
            </a:r>
            <a:r>
              <a:rPr lang="en" sz="1200" b="1" i="1">
                <a:solidFill>
                  <a:srgbClr val="FF0000"/>
                </a:solidFill>
                <a:latin typeface="Arial"/>
                <a:ea typeface="Arial"/>
                <a:cs typeface="Arial"/>
                <a:sym typeface="Arial"/>
              </a:rPr>
              <a:t>removed </a:t>
            </a:r>
            <a:r>
              <a:rPr lang="en" sz="1200">
                <a:solidFill>
                  <a:srgbClr val="000000"/>
                </a:solidFill>
                <a:latin typeface="Arial"/>
                <a:ea typeface="Arial"/>
                <a:cs typeface="Arial"/>
                <a:sym typeface="Arial"/>
              </a:rPr>
              <a:t>from the tuple queue.</a:t>
            </a:r>
            <a:endParaRPr sz="1200">
              <a:solidFill>
                <a:srgbClr val="000000"/>
              </a:solidFill>
              <a:latin typeface="Arial"/>
              <a:ea typeface="Arial"/>
              <a:cs typeface="Arial"/>
              <a:sym typeface="Arial"/>
            </a:endParaRPr>
          </a:p>
        </p:txBody>
      </p:sp>
      <p:sp>
        <p:nvSpPr>
          <p:cNvPr id="914" name="Google Shape;914;p62"/>
          <p:cNvSpPr txBox="1">
            <a:spLocks noGrp="1"/>
          </p:cNvSpPr>
          <p:nvPr>
            <p:ph type="body" idx="4294967295"/>
          </p:nvPr>
        </p:nvSpPr>
        <p:spPr>
          <a:xfrm>
            <a:off x="131450" y="2204638"/>
            <a:ext cx="2863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i="1">
                <a:solidFill>
                  <a:srgbClr val="000000"/>
                </a:solidFill>
                <a:latin typeface="Arial"/>
                <a:ea typeface="Arial"/>
                <a:cs typeface="Arial"/>
                <a:sym typeface="Arial"/>
              </a:rPr>
              <a:t>(this should be the </a:t>
            </a:r>
            <a:r>
              <a:rPr lang="en" sz="1200" b="1" i="1">
                <a:solidFill>
                  <a:srgbClr val="FF0000"/>
                </a:solidFill>
                <a:latin typeface="Arial"/>
                <a:ea typeface="Arial"/>
                <a:cs typeface="Arial"/>
                <a:sym typeface="Arial"/>
              </a:rPr>
              <a:t>start vertex</a:t>
            </a:r>
            <a:r>
              <a:rPr lang="en" sz="1200" i="1">
                <a:solidFill>
                  <a:srgbClr val="000000"/>
                </a:solidFill>
                <a:latin typeface="Arial"/>
                <a:ea typeface="Arial"/>
                <a:cs typeface="Arial"/>
                <a:sym typeface="Arial"/>
              </a:rPr>
              <a:t> first)</a:t>
            </a:r>
            <a:endParaRPr sz="1200">
              <a:solidFill>
                <a:srgbClr val="000000"/>
              </a:solidFill>
              <a:latin typeface="Arial"/>
              <a:ea typeface="Arial"/>
              <a:cs typeface="Arial"/>
              <a:sym typeface="Arial"/>
            </a:endParaRPr>
          </a:p>
        </p:txBody>
      </p:sp>
      <p:sp>
        <p:nvSpPr>
          <p:cNvPr id="915" name="Google Shape;915;p62"/>
          <p:cNvSpPr txBox="1"/>
          <p:nvPr/>
        </p:nvSpPr>
        <p:spPr>
          <a:xfrm>
            <a:off x="7130310" y="3928760"/>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16" name="Google Shape;916;p62"/>
          <p:cNvSpPr txBox="1">
            <a:spLocks noGrp="1"/>
          </p:cNvSpPr>
          <p:nvPr>
            <p:ph type="body" idx="4294967295"/>
          </p:nvPr>
        </p:nvSpPr>
        <p:spPr>
          <a:xfrm>
            <a:off x="131450" y="2668714"/>
            <a:ext cx="28632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idea is that, if </a:t>
            </a:r>
            <a:r>
              <a:rPr lang="en" sz="1200" b="1" i="1">
                <a:solidFill>
                  <a:srgbClr val="FF0000"/>
                </a:solidFill>
                <a:latin typeface="Arial"/>
                <a:ea typeface="Arial"/>
                <a:cs typeface="Arial"/>
                <a:sym typeface="Arial"/>
              </a:rPr>
              <a:t>every other </a:t>
            </a:r>
            <a:r>
              <a:rPr lang="en" sz="1200">
                <a:solidFill>
                  <a:srgbClr val="000000"/>
                </a:solidFill>
                <a:latin typeface="Arial"/>
                <a:ea typeface="Arial"/>
                <a:cs typeface="Arial"/>
                <a:sym typeface="Arial"/>
              </a:rPr>
              <a:t>vertex still in the queue is </a:t>
            </a:r>
            <a:r>
              <a:rPr lang="en" sz="1200" b="1" i="1">
                <a:solidFill>
                  <a:srgbClr val="FF0000"/>
                </a:solidFill>
                <a:latin typeface="Arial"/>
                <a:ea typeface="Arial"/>
                <a:cs typeface="Arial"/>
                <a:sym typeface="Arial"/>
              </a:rPr>
              <a:t>farther away</a:t>
            </a:r>
            <a:r>
              <a:rPr lang="en" sz="1200">
                <a:solidFill>
                  <a:srgbClr val="000000"/>
                </a:solidFill>
                <a:latin typeface="Arial"/>
                <a:ea typeface="Arial"/>
                <a:cs typeface="Arial"/>
                <a:sym typeface="Arial"/>
              </a:rPr>
              <a:t>, then we must already know the optimal path to </a:t>
            </a:r>
            <a:r>
              <a:rPr lang="en" sz="1200" b="1" i="1">
                <a:solidFill>
                  <a:srgbClr val="FF0000"/>
                </a:solidFill>
                <a:latin typeface="Arial"/>
                <a:ea typeface="Arial"/>
                <a:cs typeface="Arial"/>
                <a:sym typeface="Arial"/>
              </a:rPr>
              <a:t>this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vertex.</a:t>
            </a:r>
            <a:endParaRPr sz="1200">
              <a:solidFill>
                <a:srgbClr val="000000"/>
              </a:solidFill>
              <a:latin typeface="Arial"/>
              <a:ea typeface="Arial"/>
              <a:cs typeface="Arial"/>
              <a:sym typeface="Arial"/>
            </a:endParaRPr>
          </a:p>
        </p:txBody>
      </p:sp>
      <p:sp>
        <p:nvSpPr>
          <p:cNvPr id="917" name="Google Shape;917;p62"/>
          <p:cNvSpPr txBox="1">
            <a:spLocks noGrp="1"/>
          </p:cNvSpPr>
          <p:nvPr>
            <p:ph type="body" idx="4294967295"/>
          </p:nvPr>
        </p:nvSpPr>
        <p:spPr>
          <a:xfrm>
            <a:off x="131450" y="3694256"/>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In other words, there can't be a </a:t>
            </a:r>
            <a:r>
              <a:rPr lang="en" sz="1200" b="1" i="1" dirty="0">
                <a:solidFill>
                  <a:srgbClr val="FF0000"/>
                </a:solidFill>
                <a:latin typeface="Arial"/>
                <a:ea typeface="Arial"/>
                <a:cs typeface="Arial"/>
                <a:sym typeface="Arial"/>
              </a:rPr>
              <a:t>shorter path</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through another vertex that is </a:t>
            </a:r>
            <a:r>
              <a:rPr lang="en" sz="1200" b="1" i="1" dirty="0">
                <a:solidFill>
                  <a:srgbClr val="FF0000"/>
                </a:solidFill>
                <a:latin typeface="Arial"/>
                <a:ea typeface="Arial"/>
                <a:cs typeface="Arial"/>
                <a:sym typeface="Arial"/>
              </a:rPr>
              <a:t>farther away</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grpSp>
        <p:nvGrpSpPr>
          <p:cNvPr id="918" name="Google Shape;918;p62"/>
          <p:cNvGrpSpPr/>
          <p:nvPr/>
        </p:nvGrpSpPr>
        <p:grpSpPr>
          <a:xfrm>
            <a:off x="6244267" y="1458389"/>
            <a:ext cx="2587178" cy="2330671"/>
            <a:chOff x="338125" y="1610890"/>
            <a:chExt cx="3334852" cy="3004217"/>
          </a:xfrm>
        </p:grpSpPr>
        <p:sp>
          <p:nvSpPr>
            <p:cNvPr id="919" name="Google Shape;919;p62"/>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920" name="Google Shape;920;p62"/>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921" name="Google Shape;921;p62"/>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922" name="Google Shape;922;p62"/>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923" name="Google Shape;923;p62"/>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924" name="Google Shape;924;p62"/>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925" name="Google Shape;925;p62"/>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926" name="Google Shape;926;p62"/>
            <p:cNvCxnSpPr>
              <a:stCxn id="919" idx="3"/>
              <a:endCxn id="921"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927" name="Google Shape;927;p62"/>
            <p:cNvCxnSpPr>
              <a:stCxn id="919" idx="6"/>
              <a:endCxn id="922"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928" name="Google Shape;928;p62"/>
            <p:cNvCxnSpPr>
              <a:stCxn id="919" idx="5"/>
              <a:endCxn id="920"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929" name="Google Shape;929;p62"/>
            <p:cNvCxnSpPr>
              <a:stCxn id="920" idx="6"/>
              <a:endCxn id="924"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930" name="Google Shape;930;p62"/>
            <p:cNvCxnSpPr>
              <a:stCxn id="924" idx="4"/>
              <a:endCxn id="923"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931" name="Google Shape;931;p62"/>
            <p:cNvCxnSpPr>
              <a:stCxn id="920" idx="3"/>
              <a:endCxn id="925"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932" name="Google Shape;932;p62"/>
            <p:cNvCxnSpPr>
              <a:stCxn id="925" idx="6"/>
              <a:endCxn id="923"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933" name="Google Shape;933;p62"/>
            <p:cNvCxnSpPr>
              <a:stCxn id="921" idx="6"/>
              <a:endCxn id="920"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934" name="Google Shape;934;p62"/>
            <p:cNvCxnSpPr>
              <a:stCxn id="922" idx="5"/>
              <a:endCxn id="924"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935" name="Google Shape;935;p6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36" name="Google Shape;936;p6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37" name="Google Shape;937;p6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38" name="Google Shape;938;p6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39" name="Google Shape;939;p6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40" name="Google Shape;940;p6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1" name="Google Shape;941;p6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2" name="Google Shape;942;p6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43" name="Google Shape;943;p6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44" name="Google Shape;944;p62"/>
            <p:cNvCxnSpPr>
              <a:stCxn id="921" idx="5"/>
              <a:endCxn id="925"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945" name="Google Shape;945;p6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46" name="Google Shape;946;p62"/>
          <p:cNvSpPr txBox="1"/>
          <p:nvPr/>
        </p:nvSpPr>
        <p:spPr>
          <a:xfrm>
            <a:off x="3259475" y="4229250"/>
            <a:ext cx="818400" cy="3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947" name="Google Shape;947;p62"/>
          <p:cNvSpPr txBox="1">
            <a:spLocks noGrp="1"/>
          </p:cNvSpPr>
          <p:nvPr>
            <p:ph type="body" idx="4294967295"/>
          </p:nvPr>
        </p:nvSpPr>
        <p:spPr>
          <a:xfrm>
            <a:off x="131450" y="4532456"/>
            <a:ext cx="2863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Let's call this vertex </a:t>
            </a:r>
            <a:r>
              <a:rPr lang="en" sz="1200" b="1" i="1" dirty="0">
                <a:solidFill>
                  <a:srgbClr val="FF0000"/>
                </a:solidFill>
                <a:latin typeface="Arial"/>
                <a:ea typeface="Arial"/>
                <a:cs typeface="Arial"/>
                <a:sym typeface="Arial"/>
              </a:rPr>
              <a:t>V</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3"/>
                                        </p:tgtEl>
                                        <p:attrNameLst>
                                          <p:attrName>style.visibility</p:attrName>
                                        </p:attrNameLst>
                                      </p:cBhvr>
                                      <p:to>
                                        <p:strVal val="visible"/>
                                      </p:to>
                                    </p:set>
                                    <p:animEffect transition="in" filter="fade">
                                      <p:cBhvr>
                                        <p:cTn id="7" dur="1000"/>
                                        <p:tgtEl>
                                          <p:spTgt spid="91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4"/>
                                        </p:tgtEl>
                                        <p:attrNameLst>
                                          <p:attrName>style.visibility</p:attrName>
                                        </p:attrNameLst>
                                      </p:cBhvr>
                                      <p:to>
                                        <p:strVal val="visible"/>
                                      </p:to>
                                    </p:set>
                                    <p:animEffect transition="in" filter="fade">
                                      <p:cBhvr>
                                        <p:cTn id="11" dur="1000"/>
                                        <p:tgtEl>
                                          <p:spTgt spid="91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946"/>
                                        </p:tgtEl>
                                        <p:attrNameLst>
                                          <p:attrName>style.visibility</p:attrName>
                                        </p:attrNameLst>
                                      </p:cBhvr>
                                      <p:to>
                                        <p:strVal val="visible"/>
                                      </p:to>
                                    </p:set>
                                    <p:animEffect transition="in" filter="fade">
                                      <p:cBhvr>
                                        <p:cTn id="15" dur="1000"/>
                                        <p:tgtEl>
                                          <p:spTgt spid="946"/>
                                        </p:tgtEl>
                                      </p:cBhvr>
                                    </p:animEffect>
                                  </p:childTnLst>
                                </p:cTn>
                              </p:par>
                              <p:par>
                                <p:cTn id="16" presetID="10" presetClass="entr" presetSubtype="0" fill="hold" nodeType="withEffect">
                                  <p:stCondLst>
                                    <p:cond delay="0"/>
                                  </p:stCondLst>
                                  <p:childTnLst>
                                    <p:set>
                                      <p:cBhvr>
                                        <p:cTn id="17" dur="1" fill="hold">
                                          <p:stCondLst>
                                            <p:cond delay="0"/>
                                          </p:stCondLst>
                                        </p:cTn>
                                        <p:tgtEl>
                                          <p:spTgt spid="915"/>
                                        </p:tgtEl>
                                        <p:attrNameLst>
                                          <p:attrName>style.visibility</p:attrName>
                                        </p:attrNameLst>
                                      </p:cBhvr>
                                      <p:to>
                                        <p:strVal val="visible"/>
                                      </p:to>
                                    </p:set>
                                    <p:animEffect transition="in" filter="fade">
                                      <p:cBhvr>
                                        <p:cTn id="18" dur="1000"/>
                                        <p:tgtEl>
                                          <p:spTgt spid="9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16"/>
                                        </p:tgtEl>
                                        <p:attrNameLst>
                                          <p:attrName>style.visibility</p:attrName>
                                        </p:attrNameLst>
                                      </p:cBhvr>
                                      <p:to>
                                        <p:strVal val="visible"/>
                                      </p:to>
                                    </p:set>
                                    <p:animEffect transition="in" filter="fade">
                                      <p:cBhvr>
                                        <p:cTn id="23" dur="1000"/>
                                        <p:tgtEl>
                                          <p:spTgt spid="9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17"/>
                                        </p:tgtEl>
                                        <p:attrNameLst>
                                          <p:attrName>style.visibility</p:attrName>
                                        </p:attrNameLst>
                                      </p:cBhvr>
                                      <p:to>
                                        <p:strVal val="visible"/>
                                      </p:to>
                                    </p:set>
                                    <p:animEffect transition="in" filter="fade">
                                      <p:cBhvr>
                                        <p:cTn id="28" dur="1000"/>
                                        <p:tgtEl>
                                          <p:spTgt spid="9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47"/>
                                        </p:tgtEl>
                                        <p:attrNameLst>
                                          <p:attrName>style.visibility</p:attrName>
                                        </p:attrNameLst>
                                      </p:cBhvr>
                                      <p:to>
                                        <p:strVal val="visible"/>
                                      </p:to>
                                    </p:set>
                                    <p:animEffect transition="in" filter="fade">
                                      <p:cBhvr>
                                        <p:cTn id="33" dur="1000"/>
                                        <p:tgtEl>
                                          <p:spTgt spid="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63"/>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3" name="Google Shape;953;p6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954" name="Google Shape;954;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955" name="Google Shape;955;p63"/>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6" name="Google Shape;956;p63"/>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7" name="Google Shape;957;p63"/>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8" name="Google Shape;958;p63"/>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9" name="Google Shape;959;p63"/>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60" name="Google Shape;960;p63"/>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961" name="Google Shape;961;p63"/>
          <p:cNvSpPr txBox="1">
            <a:spLocks noGrp="1"/>
          </p:cNvSpPr>
          <p:nvPr>
            <p:ph type="body" idx="4294967295"/>
          </p:nvPr>
        </p:nvSpPr>
        <p:spPr>
          <a:xfrm>
            <a:off x="110821" y="13664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Next, we look at each of V's neighbors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and we compute the distance from the start to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962" name="Google Shape;962;p63"/>
          <p:cNvSpPr txBox="1"/>
          <p:nvPr/>
        </p:nvSpPr>
        <p:spPr>
          <a:xfrm>
            <a:off x="7130310" y="3928760"/>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grpSp>
        <p:nvGrpSpPr>
          <p:cNvPr id="963" name="Google Shape;963;p63"/>
          <p:cNvGrpSpPr/>
          <p:nvPr/>
        </p:nvGrpSpPr>
        <p:grpSpPr>
          <a:xfrm>
            <a:off x="6244267" y="1458389"/>
            <a:ext cx="2587178" cy="2330671"/>
            <a:chOff x="338125" y="1610890"/>
            <a:chExt cx="3334852" cy="3004217"/>
          </a:xfrm>
        </p:grpSpPr>
        <p:sp>
          <p:nvSpPr>
            <p:cNvPr id="964" name="Google Shape;964;p6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965" name="Google Shape;965;p6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966" name="Google Shape;966;p6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967" name="Google Shape;967;p6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968" name="Google Shape;968;p6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969" name="Google Shape;969;p6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970" name="Google Shape;970;p6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971" name="Google Shape;971;p63"/>
            <p:cNvCxnSpPr>
              <a:stCxn id="964" idx="3"/>
              <a:endCxn id="966"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972" name="Google Shape;972;p63"/>
            <p:cNvCxnSpPr>
              <a:stCxn id="964" idx="6"/>
              <a:endCxn id="967"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973" name="Google Shape;973;p63"/>
            <p:cNvCxnSpPr>
              <a:stCxn id="964" idx="5"/>
              <a:endCxn id="965"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974" name="Google Shape;974;p63"/>
            <p:cNvCxnSpPr>
              <a:stCxn id="965" idx="6"/>
              <a:endCxn id="969"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975" name="Google Shape;975;p63"/>
            <p:cNvCxnSpPr>
              <a:stCxn id="969" idx="4"/>
              <a:endCxn id="968"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976" name="Google Shape;976;p63"/>
            <p:cNvCxnSpPr>
              <a:stCxn id="965" idx="3"/>
              <a:endCxn id="970"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977" name="Google Shape;977;p63"/>
            <p:cNvCxnSpPr>
              <a:stCxn id="970" idx="6"/>
              <a:endCxn id="968"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978" name="Google Shape;978;p63"/>
            <p:cNvCxnSpPr>
              <a:stCxn id="966" idx="6"/>
              <a:endCxn id="965"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979" name="Google Shape;979;p63"/>
            <p:cNvCxnSpPr>
              <a:stCxn id="967" idx="5"/>
              <a:endCxn id="969"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980" name="Google Shape;980;p6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81" name="Google Shape;981;p6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82" name="Google Shape;982;p6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3" name="Google Shape;983;p6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84" name="Google Shape;984;p6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85" name="Google Shape;985;p6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6" name="Google Shape;986;p6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7" name="Google Shape;987;p6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88" name="Google Shape;988;p6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89" name="Google Shape;989;p63"/>
            <p:cNvCxnSpPr>
              <a:stCxn id="966" idx="5"/>
              <a:endCxn id="970"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990" name="Google Shape;990;p6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91" name="Google Shape;991;p63"/>
          <p:cNvSpPr txBox="1">
            <a:spLocks noGrp="1"/>
          </p:cNvSpPr>
          <p:nvPr>
            <p:ph type="body" idx="4294967295"/>
          </p:nvPr>
        </p:nvSpPr>
        <p:spPr>
          <a:xfrm>
            <a:off x="110821" y="2204649"/>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That distance is the </a:t>
            </a:r>
            <a:r>
              <a:rPr lang="en" sz="1200" b="1" i="1">
                <a:solidFill>
                  <a:srgbClr val="FF0000"/>
                </a:solidFill>
                <a:latin typeface="Arial"/>
                <a:ea typeface="Arial"/>
                <a:cs typeface="Arial"/>
                <a:sym typeface="Arial"/>
              </a:rPr>
              <a:t>sum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distance in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path tuple and the </a:t>
            </a:r>
            <a:r>
              <a:rPr lang="en" sz="1200" b="1" i="1">
                <a:solidFill>
                  <a:srgbClr val="FF0000"/>
                </a:solidFill>
                <a:latin typeface="Arial"/>
                <a:ea typeface="Arial"/>
                <a:cs typeface="Arial"/>
                <a:sym typeface="Arial"/>
              </a:rPr>
              <a:t>weight of the edge</a:t>
            </a:r>
            <a:r>
              <a:rPr lang="en" sz="1200">
                <a:solidFill>
                  <a:srgbClr val="000000"/>
                </a:solidFill>
                <a:latin typeface="Arial"/>
                <a:ea typeface="Arial"/>
                <a:cs typeface="Arial"/>
                <a:sym typeface="Arial"/>
              </a:rPr>
              <a:t> between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p:txBody>
      </p:sp>
      <p:sp>
        <p:nvSpPr>
          <p:cNvPr id="992" name="Google Shape;992;p63"/>
          <p:cNvSpPr txBox="1">
            <a:spLocks noGrp="1"/>
          </p:cNvSpPr>
          <p:nvPr>
            <p:ph type="body" idx="4294967295"/>
          </p:nvPr>
        </p:nvSpPr>
        <p:spPr>
          <a:xfrm>
            <a:off x="110821" y="3042848"/>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For example, the distance from the </a:t>
            </a:r>
            <a:r>
              <a:rPr lang="en" sz="1200" b="1" i="1">
                <a:solidFill>
                  <a:srgbClr val="FF0000"/>
                </a:solidFill>
                <a:latin typeface="Arial"/>
                <a:ea typeface="Arial"/>
                <a:cs typeface="Arial"/>
                <a:sym typeface="Arial"/>
              </a:rPr>
              <a:t>start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a:t>
            </a:r>
            <a:r>
              <a:rPr lang="en" sz="1200" b="1" i="1">
                <a:solidFill>
                  <a:srgbClr val="FF0000"/>
                </a:solidFill>
                <a:latin typeface="Arial"/>
                <a:ea typeface="Arial"/>
                <a:cs typeface="Arial"/>
                <a:sym typeface="Arial"/>
              </a:rPr>
              <a:t>B</a:t>
            </a:r>
            <a:r>
              <a:rPr lang="en" sz="1200">
                <a:solidFill>
                  <a:srgbClr val="000000"/>
                </a:solidFill>
                <a:latin typeface="Arial"/>
                <a:ea typeface="Arial"/>
                <a:cs typeface="Arial"/>
                <a:sym typeface="Arial"/>
              </a:rPr>
              <a:t> through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 is the </a:t>
            </a:r>
            <a:r>
              <a:rPr lang="en" sz="1200" b="1" i="1">
                <a:solidFill>
                  <a:srgbClr val="FF0000"/>
                </a:solidFill>
                <a:latin typeface="Arial"/>
                <a:ea typeface="Arial"/>
                <a:cs typeface="Arial"/>
                <a:sym typeface="Arial"/>
              </a:rPr>
              <a:t>distance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's path tuple (</a:t>
            </a:r>
            <a:r>
              <a:rPr lang="en" sz="1200" b="1" i="1">
                <a:solidFill>
                  <a:srgbClr val="FF0000"/>
                </a:solidFill>
                <a:latin typeface="Arial"/>
                <a:ea typeface="Arial"/>
                <a:cs typeface="Arial"/>
                <a:sym typeface="Arial"/>
              </a:rPr>
              <a:t>0</a:t>
            </a:r>
            <a:r>
              <a:rPr lang="en" sz="1200">
                <a:solidFill>
                  <a:srgbClr val="000000"/>
                </a:solidFill>
                <a:latin typeface="Arial"/>
                <a:ea typeface="Arial"/>
                <a:cs typeface="Arial"/>
                <a:sym typeface="Arial"/>
              </a:rPr>
              <a:t>) plus the </a:t>
            </a:r>
            <a:r>
              <a:rPr lang="en" sz="1200" b="1" i="1">
                <a:solidFill>
                  <a:srgbClr val="FF0000"/>
                </a:solidFill>
                <a:latin typeface="Arial"/>
                <a:ea typeface="Arial"/>
                <a:cs typeface="Arial"/>
                <a:sym typeface="Arial"/>
              </a:rPr>
              <a:t>weight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edge between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B</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6</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0 + 6 = 6</a:t>
            </a:r>
            <a:endParaRPr sz="1200">
              <a:solidFill>
                <a:srgbClr val="000000"/>
              </a:solidFill>
              <a:latin typeface="Arial"/>
              <a:ea typeface="Arial"/>
              <a:cs typeface="Arial"/>
              <a:sym typeface="Arial"/>
            </a:endParaRPr>
          </a:p>
        </p:txBody>
      </p:sp>
      <p:sp>
        <p:nvSpPr>
          <p:cNvPr id="993" name="Google Shape;993;p63"/>
          <p:cNvSpPr txBox="1">
            <a:spLocks noGrp="1"/>
          </p:cNvSpPr>
          <p:nvPr>
            <p:ph type="body" idx="4294967295"/>
          </p:nvPr>
        </p:nvSpPr>
        <p:spPr>
          <a:xfrm>
            <a:off x="110821" y="4060951"/>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highlight>
                  <a:srgbClr val="FFFF00"/>
                </a:highlight>
                <a:latin typeface="Arial"/>
                <a:ea typeface="Arial"/>
                <a:cs typeface="Arial"/>
                <a:sym typeface="Arial"/>
              </a:rPr>
              <a:t>If this distance is </a:t>
            </a:r>
            <a:r>
              <a:rPr lang="en" sz="1200" b="1" i="1" dirty="0">
                <a:solidFill>
                  <a:srgbClr val="FF0000"/>
                </a:solidFill>
                <a:highlight>
                  <a:srgbClr val="FFFF00"/>
                </a:highlight>
                <a:latin typeface="Arial"/>
                <a:ea typeface="Arial"/>
                <a:cs typeface="Arial"/>
                <a:sym typeface="Arial"/>
              </a:rPr>
              <a:t>shorter</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than the distance currently in </a:t>
            </a:r>
            <a:r>
              <a:rPr lang="en" sz="1200" b="1" i="1" dirty="0">
                <a:solidFill>
                  <a:srgbClr val="FF0000"/>
                </a:solidFill>
                <a:highlight>
                  <a:srgbClr val="FFFF00"/>
                </a:highlight>
                <a:latin typeface="Arial"/>
                <a:ea typeface="Arial"/>
                <a:cs typeface="Arial"/>
                <a:sym typeface="Arial"/>
              </a:rPr>
              <a:t>N</a:t>
            </a:r>
            <a:r>
              <a:rPr lang="en" sz="1200" dirty="0">
                <a:solidFill>
                  <a:srgbClr val="000000"/>
                </a:solidFill>
                <a:highlight>
                  <a:srgbClr val="FFFF00"/>
                </a:highlight>
                <a:latin typeface="Arial"/>
                <a:ea typeface="Arial"/>
                <a:cs typeface="Arial"/>
                <a:sym typeface="Arial"/>
              </a:rPr>
              <a:t>'s path tuple, </a:t>
            </a:r>
            <a:r>
              <a:rPr lang="en" sz="1200" dirty="0">
                <a:solidFill>
                  <a:srgbClr val="000000"/>
                </a:solidFill>
                <a:latin typeface="Arial"/>
                <a:ea typeface="Arial"/>
                <a:cs typeface="Arial"/>
                <a:sym typeface="Arial"/>
              </a:rPr>
              <a:t>then the path tuple is updated with the new distance and </a:t>
            </a:r>
            <a:r>
              <a:rPr lang="en" sz="1200" b="1" i="1" dirty="0">
                <a:solidFill>
                  <a:srgbClr val="FF0000"/>
                </a:solidFill>
                <a:latin typeface="Arial"/>
                <a:ea typeface="Arial"/>
                <a:cs typeface="Arial"/>
                <a:sym typeface="Arial"/>
              </a:rPr>
              <a:t>V</a:t>
            </a:r>
            <a:r>
              <a:rPr lang="en" sz="1200" dirty="0">
                <a:solidFill>
                  <a:srgbClr val="000000"/>
                </a:solidFill>
                <a:latin typeface="Arial"/>
                <a:ea typeface="Arial"/>
                <a:cs typeface="Arial"/>
                <a:sym typeface="Arial"/>
              </a:rPr>
              <a:t> as the predecessor of</a:t>
            </a:r>
            <a:r>
              <a:rPr lang="en" sz="1200" dirty="0">
                <a:solidFill>
                  <a:srgbClr val="FF0000"/>
                </a:solidFill>
                <a:latin typeface="Arial"/>
                <a:ea typeface="Arial"/>
                <a:cs typeface="Arial"/>
                <a:sym typeface="Arial"/>
              </a:rPr>
              <a:t> </a:t>
            </a:r>
            <a:r>
              <a:rPr lang="en" sz="1200" b="1" i="1" dirty="0">
                <a:solidFill>
                  <a:srgbClr val="FF0000"/>
                </a:solidFill>
                <a:latin typeface="Arial"/>
                <a:ea typeface="Arial"/>
                <a:cs typeface="Arial"/>
                <a:sym typeface="Arial"/>
              </a:rPr>
              <a:t>N</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grpSp>
        <p:nvGrpSpPr>
          <p:cNvPr id="994" name="Google Shape;994;p63"/>
          <p:cNvGrpSpPr/>
          <p:nvPr/>
        </p:nvGrpSpPr>
        <p:grpSpPr>
          <a:xfrm>
            <a:off x="4608575" y="2059658"/>
            <a:ext cx="1373950" cy="2507017"/>
            <a:chOff x="4608575" y="2059658"/>
            <a:chExt cx="1373950" cy="2507017"/>
          </a:xfrm>
        </p:grpSpPr>
        <p:sp>
          <p:nvSpPr>
            <p:cNvPr id="995" name="Google Shape;995;p63"/>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B:(A, 6)</a:t>
              </a:r>
              <a:endParaRPr sz="1000">
                <a:solidFill>
                  <a:srgbClr val="FF9900"/>
                </a:solidFill>
                <a:latin typeface="Consolas"/>
                <a:ea typeface="Consolas"/>
                <a:cs typeface="Consolas"/>
                <a:sym typeface="Consolas"/>
              </a:endParaRPr>
            </a:p>
          </p:txBody>
        </p:sp>
        <p:sp>
          <p:nvSpPr>
            <p:cNvPr id="996" name="Google Shape;996;p63"/>
            <p:cNvSpPr txBox="1"/>
            <p:nvPr/>
          </p:nvSpPr>
          <p:spPr>
            <a:xfrm>
              <a:off x="4608575" y="20596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6)</a:t>
              </a:r>
              <a:endParaRPr sz="1000">
                <a:solidFill>
                  <a:srgbClr val="FF9900"/>
                </a:solidFill>
                <a:latin typeface="Consolas"/>
                <a:ea typeface="Consolas"/>
                <a:cs typeface="Consolas"/>
                <a:sym typeface="Consolas"/>
              </a:endParaRPr>
            </a:p>
          </p:txBody>
        </p:sp>
      </p:grpSp>
      <p:grpSp>
        <p:nvGrpSpPr>
          <p:cNvPr id="997" name="Google Shape;997;p63"/>
          <p:cNvGrpSpPr/>
          <p:nvPr/>
        </p:nvGrpSpPr>
        <p:grpSpPr>
          <a:xfrm>
            <a:off x="4220675" y="2391963"/>
            <a:ext cx="1443000" cy="2250912"/>
            <a:chOff x="4220675" y="2391963"/>
            <a:chExt cx="1443000" cy="2250912"/>
          </a:xfrm>
        </p:grpSpPr>
        <p:sp>
          <p:nvSpPr>
            <p:cNvPr id="998" name="Google Shape;998;p63"/>
            <p:cNvSpPr txBox="1"/>
            <p:nvPr/>
          </p:nvSpPr>
          <p:spPr>
            <a:xfrm>
              <a:off x="4608575" y="2391963"/>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1)</a:t>
              </a:r>
              <a:endParaRPr sz="1000">
                <a:solidFill>
                  <a:srgbClr val="FF9900"/>
                </a:solidFill>
                <a:latin typeface="Consolas"/>
                <a:ea typeface="Consolas"/>
                <a:cs typeface="Consolas"/>
                <a:sym typeface="Consolas"/>
              </a:endParaRPr>
            </a:p>
          </p:txBody>
        </p:sp>
        <p:sp>
          <p:nvSpPr>
            <p:cNvPr id="999" name="Google Shape;999;p63"/>
            <p:cNvSpPr txBox="1"/>
            <p:nvPr/>
          </p:nvSpPr>
          <p:spPr>
            <a:xfrm>
              <a:off x="4220675" y="43392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C:(A, 1)</a:t>
              </a:r>
              <a:endParaRPr sz="1000">
                <a:solidFill>
                  <a:srgbClr val="FF9900"/>
                </a:solidFill>
                <a:latin typeface="Consolas"/>
                <a:ea typeface="Consolas"/>
                <a:cs typeface="Consolas"/>
                <a:sym typeface="Consolas"/>
              </a:endParaRPr>
            </a:p>
          </p:txBody>
        </p:sp>
      </p:grpSp>
      <p:grpSp>
        <p:nvGrpSpPr>
          <p:cNvPr id="1000" name="Google Shape;1000;p63"/>
          <p:cNvGrpSpPr/>
          <p:nvPr/>
        </p:nvGrpSpPr>
        <p:grpSpPr>
          <a:xfrm>
            <a:off x="3285646" y="2724829"/>
            <a:ext cx="2378029" cy="2070446"/>
            <a:chOff x="3285646" y="2724829"/>
            <a:chExt cx="2378029" cy="2070446"/>
          </a:xfrm>
        </p:grpSpPr>
        <p:sp>
          <p:nvSpPr>
            <p:cNvPr id="1001" name="Google Shape;1001;p63"/>
            <p:cNvSpPr txBox="1"/>
            <p:nvPr/>
          </p:nvSpPr>
          <p:spPr>
            <a:xfrm>
              <a:off x="4608575" y="2724829"/>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2)</a:t>
              </a:r>
              <a:endParaRPr sz="1000">
                <a:solidFill>
                  <a:srgbClr val="FF9900"/>
                </a:solidFill>
                <a:latin typeface="Consolas"/>
                <a:ea typeface="Consolas"/>
                <a:cs typeface="Consolas"/>
                <a:sym typeface="Consolas"/>
              </a:endParaRPr>
            </a:p>
          </p:txBody>
        </p:sp>
        <p:sp>
          <p:nvSpPr>
            <p:cNvPr id="1002" name="Google Shape;1002;p63"/>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D:(A, 2)</a:t>
              </a:r>
              <a:endParaRPr sz="1000">
                <a:solidFill>
                  <a:srgbClr val="FF9900"/>
                </a:solidFill>
                <a:latin typeface="Consolas"/>
                <a:ea typeface="Consolas"/>
                <a:cs typeface="Consolas"/>
                <a:sym typeface="Consolas"/>
              </a:endParaRPr>
            </a:p>
          </p:txBody>
        </p:sp>
      </p:grpSp>
      <p:sp>
        <p:nvSpPr>
          <p:cNvPr id="1003" name="Google Shape;1003;p63"/>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004" name="Google Shape;1004;p63"/>
          <p:cNvSpPr txBox="1"/>
          <p:nvPr/>
        </p:nvSpPr>
        <p:spPr>
          <a:xfrm>
            <a:off x="6753213" y="4216076"/>
            <a:ext cx="1569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to B = 0 + 6 = 6</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A to C = 0 + 1 = 1</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A to D = 0 + 2 = 2</a:t>
            </a:r>
            <a:endParaRPr sz="1000">
              <a:solidFill>
                <a:srgbClr val="FF99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61"/>
                                        </p:tgtEl>
                                        <p:attrNameLst>
                                          <p:attrName>style.visibility</p:attrName>
                                        </p:attrNameLst>
                                      </p:cBhvr>
                                      <p:to>
                                        <p:strVal val="visible"/>
                                      </p:to>
                                    </p:set>
                                    <p:animEffect transition="in" filter="fade">
                                      <p:cBhvr>
                                        <p:cTn id="7" dur="1000"/>
                                        <p:tgtEl>
                                          <p:spTgt spid="9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1"/>
                                        </p:tgtEl>
                                        <p:attrNameLst>
                                          <p:attrName>style.visibility</p:attrName>
                                        </p:attrNameLst>
                                      </p:cBhvr>
                                      <p:to>
                                        <p:strVal val="visible"/>
                                      </p:to>
                                    </p:set>
                                    <p:animEffect transition="in" filter="fade">
                                      <p:cBhvr>
                                        <p:cTn id="12" dur="1000"/>
                                        <p:tgtEl>
                                          <p:spTgt spid="9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2"/>
                                        </p:tgtEl>
                                        <p:attrNameLst>
                                          <p:attrName>style.visibility</p:attrName>
                                        </p:attrNameLst>
                                      </p:cBhvr>
                                      <p:to>
                                        <p:strVal val="visible"/>
                                      </p:to>
                                    </p:set>
                                    <p:animEffect transition="in" filter="fade">
                                      <p:cBhvr>
                                        <p:cTn id="17" dur="1000"/>
                                        <p:tgtEl>
                                          <p:spTgt spid="99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004"/>
                                        </p:tgtEl>
                                        <p:attrNameLst>
                                          <p:attrName>style.visibility</p:attrName>
                                        </p:attrNameLst>
                                      </p:cBhvr>
                                      <p:to>
                                        <p:strVal val="visible"/>
                                      </p:to>
                                    </p:set>
                                    <p:animEffect transition="in" filter="fade">
                                      <p:cBhvr>
                                        <p:cTn id="21" dur="1000"/>
                                        <p:tgtEl>
                                          <p:spTgt spid="100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93"/>
                                        </p:tgtEl>
                                        <p:attrNameLst>
                                          <p:attrName>style.visibility</p:attrName>
                                        </p:attrNameLst>
                                      </p:cBhvr>
                                      <p:to>
                                        <p:strVal val="visible"/>
                                      </p:to>
                                    </p:set>
                                    <p:animEffect transition="in" filter="fade">
                                      <p:cBhvr>
                                        <p:cTn id="26" dur="1000"/>
                                        <p:tgtEl>
                                          <p:spTgt spid="993"/>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994"/>
                                        </p:tgtEl>
                                        <p:attrNameLst>
                                          <p:attrName>style.visibility</p:attrName>
                                        </p:attrNameLst>
                                      </p:cBhvr>
                                      <p:to>
                                        <p:strVal val="visible"/>
                                      </p:to>
                                    </p:set>
                                    <p:animEffect transition="in" filter="fade">
                                      <p:cBhvr>
                                        <p:cTn id="30" dur="1000"/>
                                        <p:tgtEl>
                                          <p:spTgt spid="994"/>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997"/>
                                        </p:tgtEl>
                                        <p:attrNameLst>
                                          <p:attrName>style.visibility</p:attrName>
                                        </p:attrNameLst>
                                      </p:cBhvr>
                                      <p:to>
                                        <p:strVal val="visible"/>
                                      </p:to>
                                    </p:set>
                                    <p:animEffect transition="in" filter="fade">
                                      <p:cBhvr>
                                        <p:cTn id="34" dur="1000"/>
                                        <p:tgtEl>
                                          <p:spTgt spid="997"/>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1000"/>
                                        </p:tgtEl>
                                        <p:attrNameLst>
                                          <p:attrName>style.visibility</p:attrName>
                                        </p:attrNameLst>
                                      </p:cBhvr>
                                      <p:to>
                                        <p:strVal val="visible"/>
                                      </p:to>
                                    </p:set>
                                    <p:animEffect transition="in" filter="fade">
                                      <p:cBhvr>
                                        <p:cTn id="38" dur="1000"/>
                                        <p:tgtEl>
                                          <p:spTgt spid="1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graphicFrame>
        <p:nvGraphicFramePr>
          <p:cNvPr id="1009" name="Google Shape;1009;p64"/>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(A,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(A, 2)</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010" name="Google Shape;1010;p64"/>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D:(A, 2)</a:t>
            </a:r>
            <a:endParaRPr sz="1000">
              <a:solidFill>
                <a:srgbClr val="FF0000"/>
              </a:solidFill>
              <a:latin typeface="Consolas"/>
              <a:ea typeface="Consolas"/>
              <a:cs typeface="Consolas"/>
              <a:sym typeface="Consolas"/>
            </a:endParaRPr>
          </a:p>
        </p:txBody>
      </p:sp>
      <p:sp>
        <p:nvSpPr>
          <p:cNvPr id="1011" name="Google Shape;1011;p64"/>
          <p:cNvSpPr txBox="1"/>
          <p:nvPr/>
        </p:nvSpPr>
        <p:spPr>
          <a:xfrm>
            <a:off x="4220675" y="43392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12" name="Google Shape;1012;p64"/>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B:(A, 6)</a:t>
            </a:r>
            <a:endParaRPr sz="1000">
              <a:solidFill>
                <a:srgbClr val="FF0000"/>
              </a:solidFill>
              <a:latin typeface="Consolas"/>
              <a:ea typeface="Consolas"/>
              <a:cs typeface="Consolas"/>
              <a:sym typeface="Consolas"/>
            </a:endParaRPr>
          </a:p>
        </p:txBody>
      </p:sp>
      <p:sp>
        <p:nvSpPr>
          <p:cNvPr id="1013" name="Google Shape;1013;p6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014" name="Google Shape;1014;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1015" name="Google Shape;1015;p64"/>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6" name="Google Shape;1016;p64"/>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7" name="Google Shape;1017;p64"/>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We continue to repeat this process, removing the </a:t>
            </a:r>
            <a:r>
              <a:rPr lang="en" sz="1200" b="1" i="1" dirty="0">
                <a:solidFill>
                  <a:srgbClr val="FF0000"/>
                </a:solidFill>
                <a:latin typeface="Arial"/>
                <a:ea typeface="Arial"/>
                <a:cs typeface="Arial"/>
                <a:sym typeface="Arial"/>
              </a:rPr>
              <a:t>V</a:t>
            </a:r>
            <a:r>
              <a:rPr lang="en" sz="1200" dirty="0">
                <a:solidFill>
                  <a:srgbClr val="000000"/>
                </a:solidFill>
                <a:latin typeface="Arial"/>
                <a:ea typeface="Arial"/>
                <a:cs typeface="Arial"/>
                <a:sym typeface="Arial"/>
              </a:rPr>
              <a:t> with the </a:t>
            </a:r>
            <a:r>
              <a:rPr lang="en" sz="1200" b="1" i="1" dirty="0">
                <a:solidFill>
                  <a:srgbClr val="FF0000"/>
                </a:solidFill>
                <a:latin typeface="Arial"/>
                <a:ea typeface="Arial"/>
                <a:cs typeface="Arial"/>
                <a:sym typeface="Arial"/>
              </a:rPr>
              <a:t>shortest distance</a:t>
            </a:r>
            <a:r>
              <a:rPr lang="en" sz="1200" dirty="0">
                <a:solidFill>
                  <a:srgbClr val="000000"/>
                </a:solidFill>
                <a:latin typeface="Arial"/>
                <a:ea typeface="Arial"/>
                <a:cs typeface="Arial"/>
                <a:sym typeface="Arial"/>
              </a:rPr>
              <a:t> from the tuple queue...</a:t>
            </a:r>
            <a:endParaRPr sz="1200" dirty="0">
              <a:solidFill>
                <a:srgbClr val="000000"/>
              </a:solidFill>
              <a:latin typeface="Arial"/>
              <a:ea typeface="Arial"/>
              <a:cs typeface="Arial"/>
              <a:sym typeface="Arial"/>
            </a:endParaRPr>
          </a:p>
        </p:txBody>
      </p:sp>
      <p:grpSp>
        <p:nvGrpSpPr>
          <p:cNvPr id="1018" name="Google Shape;1018;p64"/>
          <p:cNvGrpSpPr/>
          <p:nvPr/>
        </p:nvGrpSpPr>
        <p:grpSpPr>
          <a:xfrm>
            <a:off x="6244267" y="1458389"/>
            <a:ext cx="2587178" cy="2330671"/>
            <a:chOff x="338125" y="1610890"/>
            <a:chExt cx="3334852" cy="3004217"/>
          </a:xfrm>
        </p:grpSpPr>
        <p:sp>
          <p:nvSpPr>
            <p:cNvPr id="1019" name="Google Shape;1019;p64"/>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020" name="Google Shape;1020;p64"/>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021" name="Google Shape;1021;p64"/>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022" name="Google Shape;1022;p64"/>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023" name="Google Shape;1023;p64"/>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024" name="Google Shape;1024;p64"/>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025" name="Google Shape;1025;p64"/>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026" name="Google Shape;1026;p64"/>
            <p:cNvCxnSpPr>
              <a:stCxn id="1019" idx="3"/>
              <a:endCxn id="1021"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027" name="Google Shape;1027;p64"/>
            <p:cNvCxnSpPr>
              <a:stCxn id="1019" idx="6"/>
              <a:endCxn id="1022"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028" name="Google Shape;1028;p64"/>
            <p:cNvCxnSpPr>
              <a:stCxn id="1019" idx="5"/>
              <a:endCxn id="1020"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029" name="Google Shape;1029;p64"/>
            <p:cNvCxnSpPr>
              <a:stCxn id="1020" idx="6"/>
              <a:endCxn id="1024"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030" name="Google Shape;1030;p64"/>
            <p:cNvCxnSpPr>
              <a:stCxn id="1024" idx="4"/>
              <a:endCxn id="1023"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031" name="Google Shape;1031;p64"/>
            <p:cNvCxnSpPr>
              <a:stCxn id="1020" idx="3"/>
              <a:endCxn id="1025"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032" name="Google Shape;1032;p64"/>
            <p:cNvCxnSpPr>
              <a:stCxn id="1025" idx="6"/>
              <a:endCxn id="1023"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033" name="Google Shape;1033;p64"/>
            <p:cNvCxnSpPr>
              <a:stCxn id="1021" idx="6"/>
              <a:endCxn id="1020"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034" name="Google Shape;1034;p64"/>
            <p:cNvCxnSpPr>
              <a:stCxn id="1022" idx="5"/>
              <a:endCxn id="1024"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035" name="Google Shape;1035;p64"/>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36" name="Google Shape;1036;p64"/>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37" name="Google Shape;1037;p64"/>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38" name="Google Shape;1038;p64"/>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39" name="Google Shape;1039;p64"/>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40" name="Google Shape;1040;p64"/>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1" name="Google Shape;1041;p64"/>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2" name="Google Shape;1042;p64"/>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43" name="Google Shape;1043;p64"/>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44" name="Google Shape;1044;p64"/>
            <p:cNvCxnSpPr>
              <a:stCxn id="1021" idx="5"/>
              <a:endCxn id="1025"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045" name="Google Shape;1045;p64"/>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046" name="Google Shape;1046;p64"/>
          <p:cNvGrpSpPr/>
          <p:nvPr/>
        </p:nvGrpSpPr>
        <p:grpSpPr>
          <a:xfrm>
            <a:off x="4250075" y="3817618"/>
            <a:ext cx="3769010" cy="779728"/>
            <a:chOff x="4250075" y="3963142"/>
            <a:chExt cx="3769010" cy="779728"/>
          </a:xfrm>
        </p:grpSpPr>
        <p:sp>
          <p:nvSpPr>
            <p:cNvPr id="1047" name="Google Shape;1047;p64"/>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48" name="Google Shape;1048;p64"/>
            <p:cNvSpPr txBox="1"/>
            <p:nvPr/>
          </p:nvSpPr>
          <p:spPr>
            <a:xfrm>
              <a:off x="4250075" y="4540370"/>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049" name="Google Shape;1049;p64"/>
          <p:cNvSpPr txBox="1">
            <a:spLocks noGrp="1"/>
          </p:cNvSpPr>
          <p:nvPr>
            <p:ph type="body" idx="4294967295"/>
          </p:nvPr>
        </p:nvSpPr>
        <p:spPr>
          <a:xfrm>
            <a:off x="110821" y="2343297"/>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...computing the distance to each of its neighbors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050" name="Google Shape;1050;p64"/>
          <p:cNvSpPr txBox="1">
            <a:spLocks noGrp="1"/>
          </p:cNvSpPr>
          <p:nvPr>
            <p:ph type="body" idx="4294967295"/>
          </p:nvPr>
        </p:nvSpPr>
        <p:spPr>
          <a:xfrm>
            <a:off x="110821" y="2987279"/>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i="1">
                <a:solidFill>
                  <a:srgbClr val="000000"/>
                </a:solidFill>
                <a:latin typeface="Arial"/>
                <a:ea typeface="Arial"/>
                <a:cs typeface="Arial"/>
                <a:sym typeface="Arial"/>
              </a:rPr>
              <a:t>(again, this is the distance in </a:t>
            </a:r>
            <a:r>
              <a:rPr lang="en" sz="1200" b="1" i="1">
                <a:solidFill>
                  <a:srgbClr val="FF0000"/>
                </a:solidFill>
                <a:latin typeface="Arial"/>
                <a:ea typeface="Arial"/>
                <a:cs typeface="Arial"/>
                <a:sym typeface="Arial"/>
              </a:rPr>
              <a:t>V</a:t>
            </a:r>
            <a:r>
              <a:rPr lang="en" sz="1200" i="1">
                <a:solidFill>
                  <a:srgbClr val="000000"/>
                </a:solidFill>
                <a:latin typeface="Arial"/>
                <a:ea typeface="Arial"/>
                <a:cs typeface="Arial"/>
                <a:sym typeface="Arial"/>
              </a:rPr>
              <a:t>'s path tuple plus the weight of the edge between </a:t>
            </a:r>
            <a:r>
              <a:rPr lang="en" sz="1200" b="1" i="1">
                <a:solidFill>
                  <a:srgbClr val="FF0000"/>
                </a:solidFill>
                <a:latin typeface="Arial"/>
                <a:ea typeface="Arial"/>
                <a:cs typeface="Arial"/>
                <a:sym typeface="Arial"/>
              </a:rPr>
              <a:t>V</a:t>
            </a:r>
            <a:r>
              <a:rPr lang="en" sz="1200" i="1">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N</a:t>
            </a:r>
            <a:r>
              <a:rPr lang="en" sz="1200" i="1">
                <a:solidFill>
                  <a:srgbClr val="000000"/>
                </a:solidFill>
                <a:latin typeface="Arial"/>
                <a:ea typeface="Arial"/>
                <a:cs typeface="Arial"/>
                <a:sym typeface="Arial"/>
              </a:rPr>
              <a:t>)</a:t>
            </a:r>
            <a:endParaRPr sz="1200" i="1">
              <a:solidFill>
                <a:srgbClr val="000000"/>
              </a:solidFill>
              <a:latin typeface="Arial"/>
              <a:ea typeface="Arial"/>
              <a:cs typeface="Arial"/>
              <a:sym typeface="Arial"/>
            </a:endParaRPr>
          </a:p>
        </p:txBody>
      </p:sp>
      <p:sp>
        <p:nvSpPr>
          <p:cNvPr id="1051" name="Google Shape;1051;p64"/>
          <p:cNvSpPr txBox="1"/>
          <p:nvPr/>
        </p:nvSpPr>
        <p:spPr>
          <a:xfrm>
            <a:off x="6753213" y="4216076"/>
            <a:ext cx="1569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to A = 1 + 1 = 2</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C to B = 1 + 2 = 3</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C to G = 1 + 5 = 6</a:t>
            </a:r>
            <a:endParaRPr sz="1000">
              <a:solidFill>
                <a:srgbClr val="FF9900"/>
              </a:solidFill>
              <a:latin typeface="Consolas"/>
              <a:ea typeface="Consolas"/>
              <a:cs typeface="Consolas"/>
              <a:sym typeface="Consolas"/>
            </a:endParaRPr>
          </a:p>
        </p:txBody>
      </p:sp>
      <p:sp>
        <p:nvSpPr>
          <p:cNvPr id="1052" name="Google Shape;1052;p64"/>
          <p:cNvSpPr txBox="1">
            <a:spLocks noGrp="1"/>
          </p:cNvSpPr>
          <p:nvPr>
            <p:ph type="body" idx="4294967295"/>
          </p:nvPr>
        </p:nvSpPr>
        <p:spPr>
          <a:xfrm>
            <a:off x="110821" y="3825479"/>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If the computed distance is </a:t>
            </a:r>
            <a:r>
              <a:rPr lang="en" sz="1200" b="1" i="1">
                <a:solidFill>
                  <a:srgbClr val="FF0000"/>
                </a:solidFill>
                <a:latin typeface="Arial"/>
                <a:ea typeface="Arial"/>
                <a:cs typeface="Arial"/>
                <a:sym typeface="Arial"/>
              </a:rPr>
              <a:t>shorter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than the distance already in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's path tuple, then the path tuple is updated with the new distance and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as the predecessor.</a:t>
            </a:r>
            <a:endParaRPr sz="1200">
              <a:solidFill>
                <a:srgbClr val="000000"/>
              </a:solidFill>
              <a:latin typeface="Arial"/>
              <a:ea typeface="Arial"/>
              <a:cs typeface="Arial"/>
              <a:sym typeface="Arial"/>
            </a:endParaRPr>
          </a:p>
        </p:txBody>
      </p:sp>
      <p:grpSp>
        <p:nvGrpSpPr>
          <p:cNvPr id="1053" name="Google Shape;1053;p64"/>
          <p:cNvGrpSpPr/>
          <p:nvPr/>
        </p:nvGrpSpPr>
        <p:grpSpPr>
          <a:xfrm>
            <a:off x="4567317" y="2059658"/>
            <a:ext cx="1415208" cy="2507017"/>
            <a:chOff x="4567317" y="2059658"/>
            <a:chExt cx="1415208" cy="2507017"/>
          </a:xfrm>
        </p:grpSpPr>
        <p:sp>
          <p:nvSpPr>
            <p:cNvPr id="1054" name="Google Shape;1054;p64"/>
            <p:cNvSpPr txBox="1"/>
            <p:nvPr/>
          </p:nvSpPr>
          <p:spPr>
            <a:xfrm>
              <a:off x="4567317" y="20596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 3)</a:t>
              </a:r>
              <a:endParaRPr sz="1000">
                <a:solidFill>
                  <a:srgbClr val="FF9900"/>
                </a:solidFill>
                <a:latin typeface="Consolas"/>
                <a:ea typeface="Consolas"/>
                <a:cs typeface="Consolas"/>
                <a:sym typeface="Consolas"/>
              </a:endParaRPr>
            </a:p>
          </p:txBody>
        </p:sp>
        <p:sp>
          <p:nvSpPr>
            <p:cNvPr id="1055" name="Google Shape;1055;p64"/>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B:(C, 3)</a:t>
              </a:r>
              <a:endParaRPr sz="1000">
                <a:solidFill>
                  <a:srgbClr val="FF9900"/>
                </a:solidFill>
                <a:latin typeface="Consolas"/>
                <a:ea typeface="Consolas"/>
                <a:cs typeface="Consolas"/>
                <a:sym typeface="Consolas"/>
              </a:endParaRPr>
            </a:p>
          </p:txBody>
        </p:sp>
      </p:grpSp>
      <p:grpSp>
        <p:nvGrpSpPr>
          <p:cNvPr id="1056" name="Google Shape;1056;p64"/>
          <p:cNvGrpSpPr/>
          <p:nvPr/>
        </p:nvGrpSpPr>
        <p:grpSpPr>
          <a:xfrm>
            <a:off x="4567317" y="3736058"/>
            <a:ext cx="1055100" cy="1287817"/>
            <a:chOff x="4567317" y="3736058"/>
            <a:chExt cx="1055100" cy="1287817"/>
          </a:xfrm>
        </p:grpSpPr>
        <p:sp>
          <p:nvSpPr>
            <p:cNvPr id="1057" name="Google Shape;1057;p64"/>
            <p:cNvSpPr txBox="1"/>
            <p:nvPr/>
          </p:nvSpPr>
          <p:spPr>
            <a:xfrm>
              <a:off x="4601672" y="47202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G:(C, 6)</a:t>
              </a:r>
              <a:endParaRPr sz="1000">
                <a:solidFill>
                  <a:srgbClr val="FF9900"/>
                </a:solidFill>
                <a:latin typeface="Consolas"/>
                <a:ea typeface="Consolas"/>
                <a:cs typeface="Consolas"/>
                <a:sym typeface="Consolas"/>
              </a:endParaRPr>
            </a:p>
          </p:txBody>
        </p:sp>
        <p:sp>
          <p:nvSpPr>
            <p:cNvPr id="1058" name="Google Shape;1058;p64"/>
            <p:cNvSpPr txBox="1"/>
            <p:nvPr/>
          </p:nvSpPr>
          <p:spPr>
            <a:xfrm>
              <a:off x="4567317" y="37360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 6)</a:t>
              </a:r>
              <a:endParaRPr sz="1000">
                <a:solidFill>
                  <a:srgbClr val="FF9900"/>
                </a:solidFill>
                <a:latin typeface="Consolas"/>
                <a:ea typeface="Consolas"/>
                <a:cs typeface="Consolas"/>
                <a:sym typeface="Consolas"/>
              </a:endParaRPr>
            </a:p>
          </p:txBody>
        </p:sp>
      </p:grpSp>
      <p:sp>
        <p:nvSpPr>
          <p:cNvPr id="1059" name="Google Shape;1059;p64"/>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60" name="Google Shape;1060;p64"/>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46"/>
                                        </p:tgtEl>
                                        <p:attrNameLst>
                                          <p:attrName>style.visibility</p:attrName>
                                        </p:attrNameLst>
                                      </p:cBhvr>
                                      <p:to>
                                        <p:strVal val="visible"/>
                                      </p:to>
                                    </p:set>
                                    <p:animEffect transition="in" filter="fade">
                                      <p:cBhvr>
                                        <p:cTn id="11" dur="1000"/>
                                        <p:tgtEl>
                                          <p:spTgt spid="104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49"/>
                                        </p:tgtEl>
                                        <p:attrNameLst>
                                          <p:attrName>style.visibility</p:attrName>
                                        </p:attrNameLst>
                                      </p:cBhvr>
                                      <p:to>
                                        <p:strVal val="visible"/>
                                      </p:to>
                                    </p:set>
                                    <p:animEffect transition="in" filter="fade">
                                      <p:cBhvr>
                                        <p:cTn id="16" dur="1000"/>
                                        <p:tgtEl>
                                          <p:spTgt spid="104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50"/>
                                        </p:tgtEl>
                                        <p:attrNameLst>
                                          <p:attrName>style.visibility</p:attrName>
                                        </p:attrNameLst>
                                      </p:cBhvr>
                                      <p:to>
                                        <p:strVal val="visible"/>
                                      </p:to>
                                    </p:set>
                                    <p:animEffect transition="in" filter="fade">
                                      <p:cBhvr>
                                        <p:cTn id="20" dur="1000"/>
                                        <p:tgtEl>
                                          <p:spTgt spid="105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051"/>
                                        </p:tgtEl>
                                        <p:attrNameLst>
                                          <p:attrName>style.visibility</p:attrName>
                                        </p:attrNameLst>
                                      </p:cBhvr>
                                      <p:to>
                                        <p:strVal val="visible"/>
                                      </p:to>
                                    </p:set>
                                    <p:animEffect transition="in" filter="fade">
                                      <p:cBhvr>
                                        <p:cTn id="24" dur="1000"/>
                                        <p:tgtEl>
                                          <p:spTgt spid="10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52"/>
                                        </p:tgtEl>
                                        <p:attrNameLst>
                                          <p:attrName>style.visibility</p:attrName>
                                        </p:attrNameLst>
                                      </p:cBhvr>
                                      <p:to>
                                        <p:strVal val="visible"/>
                                      </p:to>
                                    </p:set>
                                    <p:animEffect transition="in" filter="fade">
                                      <p:cBhvr>
                                        <p:cTn id="29" dur="1000"/>
                                        <p:tgtEl>
                                          <p:spTgt spid="105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053"/>
                                        </p:tgtEl>
                                        <p:attrNameLst>
                                          <p:attrName>style.visibility</p:attrName>
                                        </p:attrNameLst>
                                      </p:cBhvr>
                                      <p:to>
                                        <p:strVal val="visible"/>
                                      </p:to>
                                    </p:set>
                                    <p:animEffect transition="in" filter="fade">
                                      <p:cBhvr>
                                        <p:cTn id="33" dur="1000"/>
                                        <p:tgtEl>
                                          <p:spTgt spid="1053"/>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056"/>
                                        </p:tgtEl>
                                        <p:attrNameLst>
                                          <p:attrName>style.visibility</p:attrName>
                                        </p:attrNameLst>
                                      </p:cBhvr>
                                      <p:to>
                                        <p:strVal val="visible"/>
                                      </p:to>
                                    </p:set>
                                    <p:animEffect transition="in" filter="fade">
                                      <p:cBhvr>
                                        <p:cTn id="37" dur="1000"/>
                                        <p:tgtEl>
                                          <p:spTgt spid="1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65"/>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066" name="Google Shape;1066;p65"/>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3)</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067" name="Google Shape;1067;p65"/>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068" name="Google Shape;1068;p65"/>
          <p:cNvSpPr txBox="1"/>
          <p:nvPr/>
        </p:nvSpPr>
        <p:spPr>
          <a:xfrm>
            <a:off x="5072625" y="4263075"/>
            <a:ext cx="909900" cy="30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B:(C, 3)</a:t>
            </a:r>
            <a:endParaRPr sz="1000">
              <a:solidFill>
                <a:srgbClr val="FF0000"/>
              </a:solidFill>
              <a:latin typeface="Consolas"/>
              <a:ea typeface="Consolas"/>
              <a:cs typeface="Consolas"/>
              <a:sym typeface="Consolas"/>
            </a:endParaRPr>
          </a:p>
        </p:txBody>
      </p:sp>
      <p:sp>
        <p:nvSpPr>
          <p:cNvPr id="1069" name="Google Shape;1069;p6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070" name="Google Shape;1070;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071" name="Google Shape;1071;p65"/>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72" name="Google Shape;1072;p65"/>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073" name="Google Shape;1073;p65"/>
          <p:cNvGrpSpPr/>
          <p:nvPr/>
        </p:nvGrpSpPr>
        <p:grpSpPr>
          <a:xfrm>
            <a:off x="6244267" y="1458389"/>
            <a:ext cx="2587178" cy="2330671"/>
            <a:chOff x="338125" y="1610890"/>
            <a:chExt cx="3334852" cy="3004217"/>
          </a:xfrm>
        </p:grpSpPr>
        <p:sp>
          <p:nvSpPr>
            <p:cNvPr id="1074" name="Google Shape;1074;p65"/>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075" name="Google Shape;1075;p65"/>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076" name="Google Shape;1076;p65"/>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077" name="Google Shape;1077;p65"/>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078" name="Google Shape;1078;p65"/>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079" name="Google Shape;1079;p65"/>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080" name="Google Shape;1080;p65"/>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081" name="Google Shape;1081;p65"/>
            <p:cNvCxnSpPr>
              <a:stCxn id="1074" idx="3"/>
              <a:endCxn id="1076"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082" name="Google Shape;1082;p65"/>
            <p:cNvCxnSpPr>
              <a:stCxn id="1074" idx="6"/>
              <a:endCxn id="1077"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083" name="Google Shape;1083;p65"/>
            <p:cNvCxnSpPr>
              <a:stCxn id="1074" idx="5"/>
              <a:endCxn id="1075"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084" name="Google Shape;1084;p65"/>
            <p:cNvCxnSpPr>
              <a:stCxn id="1075" idx="6"/>
              <a:endCxn id="1079"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085" name="Google Shape;1085;p65"/>
            <p:cNvCxnSpPr>
              <a:stCxn id="1079" idx="4"/>
              <a:endCxn id="1078"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086" name="Google Shape;1086;p65"/>
            <p:cNvCxnSpPr>
              <a:stCxn id="1075" idx="3"/>
              <a:endCxn id="1080"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087" name="Google Shape;1087;p65"/>
            <p:cNvCxnSpPr>
              <a:stCxn id="1080" idx="6"/>
              <a:endCxn id="1078"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088" name="Google Shape;1088;p65"/>
            <p:cNvCxnSpPr>
              <a:stCxn id="1076" idx="6"/>
              <a:endCxn id="1075"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089" name="Google Shape;1089;p65"/>
            <p:cNvCxnSpPr>
              <a:stCxn id="1077" idx="5"/>
              <a:endCxn id="1079"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090" name="Google Shape;1090;p65"/>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91" name="Google Shape;1091;p65"/>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92" name="Google Shape;1092;p65"/>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3" name="Google Shape;1093;p65"/>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94" name="Google Shape;1094;p65"/>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95" name="Google Shape;1095;p65"/>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6" name="Google Shape;1096;p65"/>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7" name="Google Shape;1097;p65"/>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98" name="Google Shape;1098;p65"/>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99" name="Google Shape;1099;p65"/>
            <p:cNvCxnSpPr>
              <a:stCxn id="1076" idx="5"/>
              <a:endCxn id="1080"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00" name="Google Shape;1100;p65"/>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01" name="Google Shape;1101;p65"/>
          <p:cNvGrpSpPr/>
          <p:nvPr/>
        </p:nvGrpSpPr>
        <p:grpSpPr>
          <a:xfrm>
            <a:off x="3349428" y="4046218"/>
            <a:ext cx="4669657" cy="703528"/>
            <a:chOff x="3349428" y="3963142"/>
            <a:chExt cx="4669657" cy="703528"/>
          </a:xfrm>
        </p:grpSpPr>
        <p:sp>
          <p:nvSpPr>
            <p:cNvPr id="1102" name="Google Shape;1102;p65"/>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103" name="Google Shape;1103;p65"/>
            <p:cNvSpPr txBox="1"/>
            <p:nvPr/>
          </p:nvSpPr>
          <p:spPr>
            <a:xfrm>
              <a:off x="3349428" y="4464170"/>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104" name="Google Shape;1104;p65"/>
          <p:cNvSpPr txBox="1"/>
          <p:nvPr/>
        </p:nvSpPr>
        <p:spPr>
          <a:xfrm>
            <a:off x="6753213" y="4292276"/>
            <a:ext cx="15693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 to A = 2 + 2 = 4</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D to F = 2 + 7 = 9</a:t>
            </a:r>
            <a:endParaRPr sz="1000">
              <a:solidFill>
                <a:srgbClr val="FF9900"/>
              </a:solidFill>
              <a:latin typeface="Consolas"/>
              <a:ea typeface="Consolas"/>
              <a:cs typeface="Consolas"/>
              <a:sym typeface="Consolas"/>
            </a:endParaRPr>
          </a:p>
        </p:txBody>
      </p:sp>
      <p:sp>
        <p:nvSpPr>
          <p:cNvPr id="1105" name="Google Shape;1105;p65"/>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nvGrpSpPr>
          <p:cNvPr id="1106" name="Google Shape;1106;p65"/>
          <p:cNvGrpSpPr/>
          <p:nvPr/>
        </p:nvGrpSpPr>
        <p:grpSpPr>
          <a:xfrm>
            <a:off x="4567317" y="3396876"/>
            <a:ext cx="1436100" cy="1447247"/>
            <a:chOff x="4567317" y="3396876"/>
            <a:chExt cx="1436100" cy="1447247"/>
          </a:xfrm>
        </p:grpSpPr>
        <p:sp>
          <p:nvSpPr>
            <p:cNvPr id="1107" name="Google Shape;1107;p65"/>
            <p:cNvSpPr txBox="1"/>
            <p:nvPr/>
          </p:nvSpPr>
          <p:spPr>
            <a:xfrm>
              <a:off x="4567317" y="3396876"/>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(D, 9)</a:t>
              </a:r>
              <a:endParaRPr sz="1000">
                <a:solidFill>
                  <a:srgbClr val="FF9900"/>
                </a:solidFill>
                <a:latin typeface="Consolas"/>
                <a:ea typeface="Consolas"/>
                <a:cs typeface="Consolas"/>
                <a:sym typeface="Consolas"/>
              </a:endParaRPr>
            </a:p>
          </p:txBody>
        </p:sp>
        <p:sp>
          <p:nvSpPr>
            <p:cNvPr id="1108" name="Google Shape;1108;p65"/>
            <p:cNvSpPr txBox="1"/>
            <p:nvPr/>
          </p:nvSpPr>
          <p:spPr>
            <a:xfrm>
              <a:off x="4948317" y="46023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F:(D, 9)</a:t>
              </a:r>
              <a:endParaRPr sz="1000">
                <a:solidFill>
                  <a:srgbClr val="FF9900"/>
                </a:solidFill>
                <a:latin typeface="Consolas"/>
                <a:ea typeface="Consolas"/>
                <a:cs typeface="Consolas"/>
                <a:sym typeface="Consolas"/>
              </a:endParaRPr>
            </a:p>
          </p:txBody>
        </p:sp>
      </p:grpSp>
      <p:sp>
        <p:nvSpPr>
          <p:cNvPr id="1109" name="Google Shape;1109;p65"/>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72"/>
                                        </p:tgtEl>
                                        <p:attrNameLst>
                                          <p:attrName>style.visibility</p:attrName>
                                        </p:attrNameLst>
                                      </p:cBhvr>
                                      <p:to>
                                        <p:strVal val="visible"/>
                                      </p:to>
                                    </p:set>
                                    <p:animEffect transition="in" filter="fade">
                                      <p:cBhvr>
                                        <p:cTn id="7" dur="1000"/>
                                        <p:tgtEl>
                                          <p:spTgt spid="107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01"/>
                                        </p:tgtEl>
                                        <p:attrNameLst>
                                          <p:attrName>style.visibility</p:attrName>
                                        </p:attrNameLst>
                                      </p:cBhvr>
                                      <p:to>
                                        <p:strVal val="visible"/>
                                      </p:to>
                                    </p:set>
                                    <p:animEffect transition="in" filter="fade">
                                      <p:cBhvr>
                                        <p:cTn id="11" dur="1000"/>
                                        <p:tgtEl>
                                          <p:spTgt spid="110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04"/>
                                        </p:tgtEl>
                                        <p:attrNameLst>
                                          <p:attrName>style.visibility</p:attrName>
                                        </p:attrNameLst>
                                      </p:cBhvr>
                                      <p:to>
                                        <p:strVal val="visible"/>
                                      </p:to>
                                    </p:set>
                                    <p:animEffect transition="in" filter="fade">
                                      <p:cBhvr>
                                        <p:cTn id="16" dur="1000"/>
                                        <p:tgtEl>
                                          <p:spTgt spid="110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06"/>
                                        </p:tgtEl>
                                        <p:attrNameLst>
                                          <p:attrName>style.visibility</p:attrName>
                                        </p:attrNameLst>
                                      </p:cBhvr>
                                      <p:to>
                                        <p:strVal val="visible"/>
                                      </p:to>
                                    </p:set>
                                    <p:animEffect transition="in" filter="fade">
                                      <p:cBhvr>
                                        <p:cTn id="20" dur="1000"/>
                                        <p:tgtEl>
                                          <p:spTgt spid="1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66"/>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115" name="Google Shape;1115;p66"/>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 9)</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116" name="Google Shape;1116;p66"/>
          <p:cNvSpPr txBox="1"/>
          <p:nvPr/>
        </p:nvSpPr>
        <p:spPr>
          <a:xfrm>
            <a:off x="5072625" y="4263075"/>
            <a:ext cx="909900" cy="30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17" name="Google Shape;1117;p6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118" name="Google Shape;1118;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119" name="Google Shape;1119;p66"/>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20" name="Google Shape;1120;p66"/>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21" name="Google Shape;1121;p66"/>
          <p:cNvGrpSpPr/>
          <p:nvPr/>
        </p:nvGrpSpPr>
        <p:grpSpPr>
          <a:xfrm>
            <a:off x="6244267" y="1458389"/>
            <a:ext cx="2587178" cy="2330671"/>
            <a:chOff x="338125" y="1610890"/>
            <a:chExt cx="3334852" cy="3004217"/>
          </a:xfrm>
        </p:grpSpPr>
        <p:sp>
          <p:nvSpPr>
            <p:cNvPr id="1122" name="Google Shape;1122;p66"/>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123" name="Google Shape;1123;p66"/>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124" name="Google Shape;1124;p66"/>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125" name="Google Shape;1125;p66"/>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126" name="Google Shape;1126;p66"/>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127" name="Google Shape;1127;p66"/>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128" name="Google Shape;1128;p66"/>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129" name="Google Shape;1129;p66"/>
            <p:cNvCxnSpPr>
              <a:stCxn id="1122" idx="3"/>
              <a:endCxn id="112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130" name="Google Shape;1130;p66"/>
            <p:cNvCxnSpPr>
              <a:stCxn id="1122" idx="6"/>
              <a:endCxn id="112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131" name="Google Shape;1131;p66"/>
            <p:cNvCxnSpPr>
              <a:stCxn id="1122" idx="5"/>
              <a:endCxn id="112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132" name="Google Shape;1132;p66"/>
            <p:cNvCxnSpPr>
              <a:stCxn id="1123" idx="6"/>
              <a:endCxn id="112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133" name="Google Shape;1133;p66"/>
            <p:cNvCxnSpPr>
              <a:stCxn id="1127" idx="4"/>
              <a:endCxn id="112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134" name="Google Shape;1134;p66"/>
            <p:cNvCxnSpPr>
              <a:stCxn id="1123" idx="3"/>
              <a:endCxn id="112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135" name="Google Shape;1135;p66"/>
            <p:cNvCxnSpPr>
              <a:stCxn id="1128" idx="6"/>
              <a:endCxn id="112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136" name="Google Shape;1136;p66"/>
            <p:cNvCxnSpPr>
              <a:stCxn id="1124" idx="6"/>
              <a:endCxn id="112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137" name="Google Shape;1137;p66"/>
            <p:cNvCxnSpPr>
              <a:stCxn id="1125" idx="5"/>
              <a:endCxn id="112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138" name="Google Shape;1138;p6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39" name="Google Shape;1139;p6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40" name="Google Shape;1140;p6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1" name="Google Shape;1141;p6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42" name="Google Shape;1142;p6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43" name="Google Shape;1143;p6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4" name="Google Shape;1144;p6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5" name="Google Shape;1145;p6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46" name="Google Shape;1146;p6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47" name="Google Shape;1147;p66"/>
            <p:cNvCxnSpPr>
              <a:stCxn id="1124" idx="5"/>
              <a:endCxn id="112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48" name="Google Shape;1148;p6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49" name="Google Shape;1149;p66"/>
          <p:cNvGrpSpPr/>
          <p:nvPr/>
        </p:nvGrpSpPr>
        <p:grpSpPr>
          <a:xfrm>
            <a:off x="5115780" y="4046218"/>
            <a:ext cx="2903304" cy="468051"/>
            <a:chOff x="5115780" y="3963142"/>
            <a:chExt cx="2903304" cy="468051"/>
          </a:xfrm>
        </p:grpSpPr>
        <p:sp>
          <p:nvSpPr>
            <p:cNvPr id="1150" name="Google Shape;1150;p66"/>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51" name="Google Shape;1151;p66"/>
            <p:cNvSpPr txBox="1"/>
            <p:nvPr/>
          </p:nvSpPr>
          <p:spPr>
            <a:xfrm>
              <a:off x="5115780" y="4228693"/>
              <a:ext cx="818400" cy="20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152" name="Google Shape;1152;p66"/>
          <p:cNvSpPr txBox="1"/>
          <p:nvPr/>
        </p:nvSpPr>
        <p:spPr>
          <a:xfrm>
            <a:off x="6753213" y="4292276"/>
            <a:ext cx="15693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 to A = 3 + 6 = 9</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0000"/>
                </a:solidFill>
                <a:latin typeface="Consolas"/>
                <a:ea typeface="Consolas"/>
                <a:cs typeface="Consolas"/>
                <a:sym typeface="Consolas"/>
              </a:rPr>
              <a:t>B to C = 3 + 2 = 5</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B to F = 3 + 5 = 8</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0000"/>
                </a:solidFill>
                <a:latin typeface="Consolas"/>
                <a:ea typeface="Consolas"/>
                <a:cs typeface="Consolas"/>
                <a:sym typeface="Consolas"/>
              </a:rPr>
              <a:t>B to G = 3 + 4 = 7</a:t>
            </a:r>
            <a:endParaRPr sz="1000">
              <a:solidFill>
                <a:srgbClr val="FF0000"/>
              </a:solidFill>
              <a:latin typeface="Consolas"/>
              <a:ea typeface="Consolas"/>
              <a:cs typeface="Consolas"/>
              <a:sym typeface="Consolas"/>
            </a:endParaRPr>
          </a:p>
        </p:txBody>
      </p:sp>
      <p:sp>
        <p:nvSpPr>
          <p:cNvPr id="1153" name="Google Shape;1153;p66"/>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F:(D, 9)</a:t>
            </a:r>
            <a:endParaRPr sz="1000">
              <a:solidFill>
                <a:srgbClr val="FF0000"/>
              </a:solidFill>
              <a:latin typeface="Consolas"/>
              <a:ea typeface="Consolas"/>
              <a:cs typeface="Consolas"/>
              <a:sym typeface="Consolas"/>
            </a:endParaRPr>
          </a:p>
        </p:txBody>
      </p:sp>
      <p:sp>
        <p:nvSpPr>
          <p:cNvPr id="1154" name="Google Shape;1154;p66"/>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grpSp>
        <p:nvGrpSpPr>
          <p:cNvPr id="1155" name="Google Shape;1155;p66"/>
          <p:cNvGrpSpPr/>
          <p:nvPr/>
        </p:nvGrpSpPr>
        <p:grpSpPr>
          <a:xfrm>
            <a:off x="4567317" y="3396876"/>
            <a:ext cx="1436100" cy="1447247"/>
            <a:chOff x="4567317" y="3396876"/>
            <a:chExt cx="1436100" cy="1447247"/>
          </a:xfrm>
        </p:grpSpPr>
        <p:sp>
          <p:nvSpPr>
            <p:cNvPr id="1156" name="Google Shape;1156;p66"/>
            <p:cNvSpPr txBox="1"/>
            <p:nvPr/>
          </p:nvSpPr>
          <p:spPr>
            <a:xfrm>
              <a:off x="4948317" y="46023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F:(B, 8)</a:t>
              </a:r>
              <a:endParaRPr sz="1000">
                <a:solidFill>
                  <a:srgbClr val="FF9900"/>
                </a:solidFill>
                <a:latin typeface="Consolas"/>
                <a:ea typeface="Consolas"/>
                <a:cs typeface="Consolas"/>
                <a:sym typeface="Consolas"/>
              </a:endParaRPr>
            </a:p>
          </p:txBody>
        </p:sp>
        <p:sp>
          <p:nvSpPr>
            <p:cNvPr id="1157" name="Google Shape;1157;p66"/>
            <p:cNvSpPr txBox="1"/>
            <p:nvPr/>
          </p:nvSpPr>
          <p:spPr>
            <a:xfrm>
              <a:off x="4567317" y="3396876"/>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 8)</a:t>
              </a:r>
              <a:endParaRPr sz="1000">
                <a:solidFill>
                  <a:srgbClr val="FF9900"/>
                </a:solidFill>
                <a:latin typeface="Consolas"/>
                <a:ea typeface="Consolas"/>
                <a:cs typeface="Consolas"/>
                <a:sym typeface="Consola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49"/>
                                        </p:tgtEl>
                                        <p:attrNameLst>
                                          <p:attrName>style.visibility</p:attrName>
                                        </p:attrNameLst>
                                      </p:cBhvr>
                                      <p:to>
                                        <p:strVal val="visible"/>
                                      </p:to>
                                    </p:set>
                                    <p:animEffect transition="in" filter="fade">
                                      <p:cBhvr>
                                        <p:cTn id="7" dur="1000"/>
                                        <p:tgtEl>
                                          <p:spTgt spid="11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2"/>
                                        </p:tgtEl>
                                        <p:attrNameLst>
                                          <p:attrName>style.visibility</p:attrName>
                                        </p:attrNameLst>
                                      </p:cBhvr>
                                      <p:to>
                                        <p:strVal val="visible"/>
                                      </p:to>
                                    </p:set>
                                    <p:animEffect transition="in" filter="fade">
                                      <p:cBhvr>
                                        <p:cTn id="12" dur="1000"/>
                                        <p:tgtEl>
                                          <p:spTgt spid="115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155"/>
                                        </p:tgtEl>
                                        <p:attrNameLst>
                                          <p:attrName>style.visibility</p:attrName>
                                        </p:attrNameLst>
                                      </p:cBhvr>
                                      <p:to>
                                        <p:strVal val="visible"/>
                                      </p:to>
                                    </p:set>
                                    <p:animEffect transition="in" filter="fade">
                                      <p:cBhvr>
                                        <p:cTn id="16" dur="1000"/>
                                        <p:tgtEl>
                                          <p:spTgt spid="1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67"/>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163" name="Google Shape;1163;p67"/>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graphicFrame>
        <p:nvGraphicFramePr>
          <p:cNvPr id="1164" name="Google Shape;1164;p67"/>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 8)</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165" name="Google Shape;1165;p6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166" name="Google Shape;1166;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1167" name="Google Shape;1167;p67"/>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68" name="Google Shape;1168;p67"/>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69" name="Google Shape;1169;p67"/>
          <p:cNvGrpSpPr/>
          <p:nvPr/>
        </p:nvGrpSpPr>
        <p:grpSpPr>
          <a:xfrm>
            <a:off x="6244267" y="1458389"/>
            <a:ext cx="2587178" cy="2330671"/>
            <a:chOff x="338125" y="1610890"/>
            <a:chExt cx="3334852" cy="3004217"/>
          </a:xfrm>
        </p:grpSpPr>
        <p:sp>
          <p:nvSpPr>
            <p:cNvPr id="1170" name="Google Shape;1170;p67"/>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171" name="Google Shape;1171;p67"/>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172" name="Google Shape;1172;p67"/>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173" name="Google Shape;1173;p67"/>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174" name="Google Shape;1174;p67"/>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175" name="Google Shape;1175;p67"/>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176" name="Google Shape;1176;p67"/>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177" name="Google Shape;1177;p67"/>
            <p:cNvCxnSpPr>
              <a:stCxn id="1170" idx="3"/>
              <a:endCxn id="1172"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178" name="Google Shape;1178;p67"/>
            <p:cNvCxnSpPr>
              <a:stCxn id="1170" idx="6"/>
              <a:endCxn id="1173"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179" name="Google Shape;1179;p67"/>
            <p:cNvCxnSpPr>
              <a:stCxn id="1170" idx="5"/>
              <a:endCxn id="1171"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180" name="Google Shape;1180;p67"/>
            <p:cNvCxnSpPr>
              <a:stCxn id="1171" idx="6"/>
              <a:endCxn id="1175"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181" name="Google Shape;1181;p67"/>
            <p:cNvCxnSpPr>
              <a:stCxn id="1175" idx="4"/>
              <a:endCxn id="1174"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182" name="Google Shape;1182;p67"/>
            <p:cNvCxnSpPr>
              <a:stCxn id="1171" idx="3"/>
              <a:endCxn id="1176"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183" name="Google Shape;1183;p67"/>
            <p:cNvCxnSpPr>
              <a:stCxn id="1176" idx="6"/>
              <a:endCxn id="1174"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184" name="Google Shape;1184;p67"/>
            <p:cNvCxnSpPr>
              <a:stCxn id="1172" idx="6"/>
              <a:endCxn id="1171"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185" name="Google Shape;1185;p67"/>
            <p:cNvCxnSpPr>
              <a:stCxn id="1173" idx="5"/>
              <a:endCxn id="1175"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186" name="Google Shape;1186;p6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87" name="Google Shape;1187;p6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88" name="Google Shape;1188;p6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89" name="Google Shape;1189;p6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90" name="Google Shape;1190;p6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91" name="Google Shape;1191;p6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2" name="Google Shape;1192;p6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3" name="Google Shape;1193;p6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94" name="Google Shape;1194;p6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95" name="Google Shape;1195;p67"/>
            <p:cNvCxnSpPr>
              <a:stCxn id="1172" idx="5"/>
              <a:endCxn id="1176"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96" name="Google Shape;1196;p6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97" name="Google Shape;1197;p67"/>
          <p:cNvGrpSpPr/>
          <p:nvPr/>
        </p:nvGrpSpPr>
        <p:grpSpPr>
          <a:xfrm>
            <a:off x="4658580" y="4046218"/>
            <a:ext cx="3360504" cy="959633"/>
            <a:chOff x="4658580" y="3963142"/>
            <a:chExt cx="3360504" cy="959633"/>
          </a:xfrm>
        </p:grpSpPr>
        <p:sp>
          <p:nvSpPr>
            <p:cNvPr id="1198" name="Google Shape;1198;p67"/>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sp>
          <p:nvSpPr>
            <p:cNvPr id="1199" name="Google Shape;1199;p67"/>
            <p:cNvSpPr txBox="1"/>
            <p:nvPr/>
          </p:nvSpPr>
          <p:spPr>
            <a:xfrm>
              <a:off x="4658580" y="47202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00" name="Google Shape;1200;p67"/>
          <p:cNvSpPr txBox="1"/>
          <p:nvPr/>
        </p:nvSpPr>
        <p:spPr>
          <a:xfrm>
            <a:off x="6753213" y="4292276"/>
            <a:ext cx="156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 to B = 6 + 4 = 10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G to C = 6 + 5 = 11</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9900"/>
                </a:solidFill>
                <a:latin typeface="Consolas"/>
                <a:ea typeface="Consolas"/>
                <a:cs typeface="Consolas"/>
                <a:sym typeface="Consolas"/>
              </a:rPr>
              <a:t>G to E = 6 + 4 = 10</a:t>
            </a:r>
            <a:endParaRPr sz="1000">
              <a:solidFill>
                <a:srgbClr val="FF0000"/>
              </a:solidFill>
              <a:latin typeface="Consolas"/>
              <a:ea typeface="Consolas"/>
              <a:cs typeface="Consolas"/>
              <a:sym typeface="Consolas"/>
            </a:endParaRPr>
          </a:p>
        </p:txBody>
      </p:sp>
      <p:sp>
        <p:nvSpPr>
          <p:cNvPr id="1201" name="Google Shape;1201;p67"/>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F:(B, 8)</a:t>
            </a:r>
            <a:endParaRPr sz="1000">
              <a:solidFill>
                <a:srgbClr val="FF0000"/>
              </a:solidFill>
              <a:latin typeface="Consolas"/>
              <a:ea typeface="Consolas"/>
              <a:cs typeface="Consolas"/>
              <a:sym typeface="Consolas"/>
            </a:endParaRPr>
          </a:p>
        </p:txBody>
      </p:sp>
      <p:grpSp>
        <p:nvGrpSpPr>
          <p:cNvPr id="1202" name="Google Shape;1202;p67"/>
          <p:cNvGrpSpPr/>
          <p:nvPr/>
        </p:nvGrpSpPr>
        <p:grpSpPr>
          <a:xfrm>
            <a:off x="3271917" y="3064011"/>
            <a:ext cx="2350500" cy="1932513"/>
            <a:chOff x="3271917" y="3064011"/>
            <a:chExt cx="2350500" cy="1932513"/>
          </a:xfrm>
        </p:grpSpPr>
        <p:sp>
          <p:nvSpPr>
            <p:cNvPr id="1203" name="Google Shape;1203;p67"/>
            <p:cNvSpPr txBox="1"/>
            <p:nvPr/>
          </p:nvSpPr>
          <p:spPr>
            <a:xfrm>
              <a:off x="3271917" y="47547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E:(G, 10)</a:t>
              </a:r>
              <a:endParaRPr sz="1000">
                <a:solidFill>
                  <a:srgbClr val="FF9900"/>
                </a:solidFill>
                <a:latin typeface="Consolas"/>
                <a:ea typeface="Consolas"/>
                <a:cs typeface="Consolas"/>
                <a:sym typeface="Consolas"/>
              </a:endParaRPr>
            </a:p>
          </p:txBody>
        </p:sp>
        <p:sp>
          <p:nvSpPr>
            <p:cNvPr id="1204" name="Google Shape;1204;p67"/>
            <p:cNvSpPr txBox="1"/>
            <p:nvPr/>
          </p:nvSpPr>
          <p:spPr>
            <a:xfrm>
              <a:off x="4567317" y="3064011"/>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(G, 10)</a:t>
              </a:r>
              <a:endParaRPr sz="1000">
                <a:solidFill>
                  <a:srgbClr val="FF9900"/>
                </a:solidFill>
                <a:latin typeface="Consolas"/>
                <a:ea typeface="Consolas"/>
                <a:cs typeface="Consolas"/>
                <a:sym typeface="Consola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97"/>
                                        </p:tgtEl>
                                        <p:attrNameLst>
                                          <p:attrName>style.visibility</p:attrName>
                                        </p:attrNameLst>
                                      </p:cBhvr>
                                      <p:to>
                                        <p:strVal val="visible"/>
                                      </p:to>
                                    </p:set>
                                    <p:animEffect transition="in" filter="fade">
                                      <p:cBhvr>
                                        <p:cTn id="7" dur="1000"/>
                                        <p:tgtEl>
                                          <p:spTgt spid="1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0"/>
                                        </p:tgtEl>
                                        <p:attrNameLst>
                                          <p:attrName>style.visibility</p:attrName>
                                        </p:attrNameLst>
                                      </p:cBhvr>
                                      <p:to>
                                        <p:strVal val="visible"/>
                                      </p:to>
                                    </p:set>
                                    <p:animEffect transition="in" filter="fade">
                                      <p:cBhvr>
                                        <p:cTn id="12" dur="1000"/>
                                        <p:tgtEl>
                                          <p:spTgt spid="1200"/>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202"/>
                                        </p:tgtEl>
                                        <p:attrNameLst>
                                          <p:attrName>style.visibility</p:attrName>
                                        </p:attrNameLst>
                                      </p:cBhvr>
                                      <p:to>
                                        <p:strVal val="visible"/>
                                      </p:to>
                                    </p:set>
                                    <p:animEffect transition="in" filter="fade">
                                      <p:cBhvr>
                                        <p:cTn id="16" dur="1000"/>
                                        <p:tgtEl>
                                          <p:spTgt spid="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68"/>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10" name="Google Shape;1210;p68"/>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11" name="Google Shape;1211;p68"/>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 10)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12" name="Google Shape;1212;p6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13" name="Google Shape;1213;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214" name="Google Shape;1214;p68"/>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E:(G, 10)</a:t>
            </a:r>
            <a:endParaRPr sz="1000">
              <a:solidFill>
                <a:srgbClr val="FF0000"/>
              </a:solidFill>
              <a:latin typeface="Consolas"/>
              <a:ea typeface="Consolas"/>
              <a:cs typeface="Consolas"/>
              <a:sym typeface="Consolas"/>
            </a:endParaRPr>
          </a:p>
        </p:txBody>
      </p:sp>
      <p:sp>
        <p:nvSpPr>
          <p:cNvPr id="1215" name="Google Shape;1215;p68"/>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16" name="Google Shape;1216;p68"/>
          <p:cNvGrpSpPr/>
          <p:nvPr/>
        </p:nvGrpSpPr>
        <p:grpSpPr>
          <a:xfrm>
            <a:off x="6244267" y="1458389"/>
            <a:ext cx="2587178" cy="2330671"/>
            <a:chOff x="338125" y="1610890"/>
            <a:chExt cx="3334852" cy="3004217"/>
          </a:xfrm>
        </p:grpSpPr>
        <p:sp>
          <p:nvSpPr>
            <p:cNvPr id="1217" name="Google Shape;1217;p68"/>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218" name="Google Shape;1218;p68"/>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219" name="Google Shape;1219;p68"/>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220" name="Google Shape;1220;p68"/>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221" name="Google Shape;1221;p68"/>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222" name="Google Shape;1222;p68"/>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223" name="Google Shape;1223;p68"/>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224" name="Google Shape;1224;p68"/>
            <p:cNvCxnSpPr>
              <a:stCxn id="1217" idx="3"/>
              <a:endCxn id="1219"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225" name="Google Shape;1225;p68"/>
            <p:cNvCxnSpPr>
              <a:stCxn id="1217" idx="6"/>
              <a:endCxn id="1220"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226" name="Google Shape;1226;p68"/>
            <p:cNvCxnSpPr>
              <a:stCxn id="1217" idx="5"/>
              <a:endCxn id="1218"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227" name="Google Shape;1227;p68"/>
            <p:cNvCxnSpPr>
              <a:stCxn id="1218" idx="6"/>
              <a:endCxn id="1222"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228" name="Google Shape;1228;p68"/>
            <p:cNvCxnSpPr>
              <a:stCxn id="1222" idx="4"/>
              <a:endCxn id="1221"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229" name="Google Shape;1229;p68"/>
            <p:cNvCxnSpPr>
              <a:stCxn id="1218" idx="3"/>
              <a:endCxn id="1223"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230" name="Google Shape;1230;p68"/>
            <p:cNvCxnSpPr>
              <a:stCxn id="1223" idx="6"/>
              <a:endCxn id="1221"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231" name="Google Shape;1231;p68"/>
            <p:cNvCxnSpPr>
              <a:stCxn id="1219" idx="6"/>
              <a:endCxn id="1218"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232" name="Google Shape;1232;p68"/>
            <p:cNvCxnSpPr>
              <a:stCxn id="1220" idx="5"/>
              <a:endCxn id="1222"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233" name="Google Shape;1233;p68"/>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34" name="Google Shape;1234;p68"/>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35" name="Google Shape;1235;p68"/>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6" name="Google Shape;1236;p68"/>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37" name="Google Shape;1237;p68"/>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38" name="Google Shape;1238;p68"/>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9" name="Google Shape;1239;p68"/>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40" name="Google Shape;1240;p68"/>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41" name="Google Shape;1241;p68"/>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42" name="Google Shape;1242;p68"/>
            <p:cNvCxnSpPr>
              <a:stCxn id="1219" idx="5"/>
              <a:endCxn id="1223"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243" name="Google Shape;1243;p68"/>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44" name="Google Shape;1244;p68"/>
          <p:cNvGrpSpPr/>
          <p:nvPr/>
        </p:nvGrpSpPr>
        <p:grpSpPr>
          <a:xfrm>
            <a:off x="5115780" y="4046218"/>
            <a:ext cx="2903304" cy="807233"/>
            <a:chOff x="5115780" y="3963142"/>
            <a:chExt cx="2903304" cy="807233"/>
          </a:xfrm>
        </p:grpSpPr>
        <p:sp>
          <p:nvSpPr>
            <p:cNvPr id="1245" name="Google Shape;1245;p68"/>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46" name="Google Shape;1246;p68"/>
            <p:cNvSpPr txBox="1"/>
            <p:nvPr/>
          </p:nvSpPr>
          <p:spPr>
            <a:xfrm>
              <a:off x="5115780" y="45678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47" name="Google Shape;1247;p68"/>
          <p:cNvSpPr txBox="1"/>
          <p:nvPr/>
        </p:nvSpPr>
        <p:spPr>
          <a:xfrm>
            <a:off x="6753213" y="4292276"/>
            <a:ext cx="156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F to B = 8 + 5 = 13</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F to D = 8 + 7 = 15</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F to E = 8 + 4 = 12</a:t>
            </a:r>
            <a:endParaRPr sz="1000">
              <a:solidFill>
                <a:srgbClr val="FF0000"/>
              </a:solidFill>
              <a:latin typeface="Consolas"/>
              <a:ea typeface="Consolas"/>
              <a:cs typeface="Consolas"/>
              <a:sym typeface="Consolas"/>
            </a:endParaRPr>
          </a:p>
        </p:txBody>
      </p:sp>
      <p:sp>
        <p:nvSpPr>
          <p:cNvPr id="1248" name="Google Shape;1248;p68"/>
          <p:cNvSpPr txBox="1">
            <a:spLocks noGrp="1"/>
          </p:cNvSpPr>
          <p:nvPr>
            <p:ph type="body" idx="4294967295"/>
          </p:nvPr>
        </p:nvSpPr>
        <p:spPr>
          <a:xfrm>
            <a:off x="110821" y="2357050"/>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Sometimes, none of the neighbor vertices are updated, because the path through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is longer than the currently known </a:t>
            </a:r>
            <a:r>
              <a:rPr lang="en" sz="1200" b="1" i="1">
                <a:solidFill>
                  <a:srgbClr val="FF0000"/>
                </a:solidFill>
                <a:latin typeface="Arial"/>
                <a:ea typeface="Arial"/>
                <a:cs typeface="Arial"/>
                <a:sym typeface="Arial"/>
              </a:rPr>
              <a:t>shortest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path.</a:t>
            </a:r>
            <a:endParaRPr sz="1200" b="1" i="1">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44"/>
                                        </p:tgtEl>
                                        <p:attrNameLst>
                                          <p:attrName>style.visibility</p:attrName>
                                        </p:attrNameLst>
                                      </p:cBhvr>
                                      <p:to>
                                        <p:strVal val="visible"/>
                                      </p:to>
                                    </p:set>
                                    <p:animEffect transition="in" filter="fade">
                                      <p:cBhvr>
                                        <p:cTn id="7" dur="1000"/>
                                        <p:tgtEl>
                                          <p:spTgt spid="12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7"/>
                                        </p:tgtEl>
                                        <p:attrNameLst>
                                          <p:attrName>style.visibility</p:attrName>
                                        </p:attrNameLst>
                                      </p:cBhvr>
                                      <p:to>
                                        <p:strVal val="visible"/>
                                      </p:to>
                                    </p:set>
                                    <p:animEffect transition="in" filter="fade">
                                      <p:cBhvr>
                                        <p:cTn id="12" dur="1000"/>
                                        <p:tgtEl>
                                          <p:spTgt spid="12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48"/>
                                        </p:tgtEl>
                                        <p:attrNameLst>
                                          <p:attrName>style.visibility</p:attrName>
                                        </p:attrNameLst>
                                      </p:cBhvr>
                                      <p:to>
                                        <p:strVal val="visible"/>
                                      </p:to>
                                    </p:set>
                                    <p:animEffect transition="in" filter="fade">
                                      <p:cBhvr>
                                        <p:cTn id="17" dur="1000"/>
                                        <p:tgtEl>
                                          <p:spTgt spid="1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69"/>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54" name="Google Shape;1254;p69"/>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55" name="Google Shape;1255;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56" name="Google Shape;1256;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257" name="Google Shape;1257;p69"/>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58" name="Google Shape;1258;p69"/>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59" name="Google Shape;1259;p69"/>
          <p:cNvGrpSpPr/>
          <p:nvPr/>
        </p:nvGrpSpPr>
        <p:grpSpPr>
          <a:xfrm>
            <a:off x="6244267" y="1458389"/>
            <a:ext cx="2587178" cy="2330671"/>
            <a:chOff x="338125" y="1610890"/>
            <a:chExt cx="3334852" cy="3004217"/>
          </a:xfrm>
        </p:grpSpPr>
        <p:sp>
          <p:nvSpPr>
            <p:cNvPr id="1260" name="Google Shape;1260;p69"/>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261" name="Google Shape;1261;p69"/>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262" name="Google Shape;1262;p69"/>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263" name="Google Shape;1263;p69"/>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264" name="Google Shape;1264;p69"/>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265" name="Google Shape;1265;p69"/>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266" name="Google Shape;1266;p69"/>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267" name="Google Shape;1267;p69"/>
            <p:cNvCxnSpPr>
              <a:stCxn id="1260" idx="3"/>
              <a:endCxn id="1262"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268" name="Google Shape;1268;p69"/>
            <p:cNvCxnSpPr>
              <a:stCxn id="1260" idx="6"/>
              <a:endCxn id="1263"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269" name="Google Shape;1269;p69"/>
            <p:cNvCxnSpPr>
              <a:stCxn id="1260" idx="5"/>
              <a:endCxn id="1261"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270" name="Google Shape;1270;p69"/>
            <p:cNvCxnSpPr>
              <a:stCxn id="1261" idx="6"/>
              <a:endCxn id="1265"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271" name="Google Shape;1271;p69"/>
            <p:cNvCxnSpPr>
              <a:stCxn id="1265" idx="4"/>
              <a:endCxn id="1264"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272" name="Google Shape;1272;p69"/>
            <p:cNvCxnSpPr>
              <a:stCxn id="1261" idx="3"/>
              <a:endCxn id="1266"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273" name="Google Shape;1273;p69"/>
            <p:cNvCxnSpPr>
              <a:stCxn id="1266" idx="6"/>
              <a:endCxn id="1264"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274" name="Google Shape;1274;p69"/>
            <p:cNvCxnSpPr>
              <a:stCxn id="1262" idx="6"/>
              <a:endCxn id="1261"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275" name="Google Shape;1275;p69"/>
            <p:cNvCxnSpPr>
              <a:stCxn id="1263" idx="5"/>
              <a:endCxn id="1265"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276" name="Google Shape;1276;p69"/>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77" name="Google Shape;1277;p69"/>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78" name="Google Shape;1278;p69"/>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79" name="Google Shape;1279;p69"/>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80" name="Google Shape;1280;p69"/>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81" name="Google Shape;1281;p69"/>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2" name="Google Shape;1282;p69"/>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3" name="Google Shape;1283;p69"/>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84" name="Google Shape;1284;p69"/>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85" name="Google Shape;1285;p69"/>
            <p:cNvCxnSpPr>
              <a:stCxn id="1262" idx="5"/>
              <a:endCxn id="1266"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286" name="Google Shape;1286;p69"/>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87" name="Google Shape;1287;p69"/>
          <p:cNvGrpSpPr/>
          <p:nvPr/>
        </p:nvGrpSpPr>
        <p:grpSpPr>
          <a:xfrm>
            <a:off x="3363180" y="4046218"/>
            <a:ext cx="4655904" cy="959633"/>
            <a:chOff x="3363180" y="3963142"/>
            <a:chExt cx="4655904" cy="959633"/>
          </a:xfrm>
        </p:grpSpPr>
        <p:sp>
          <p:nvSpPr>
            <p:cNvPr id="1288" name="Google Shape;1288;p69"/>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89" name="Google Shape;1289;p69"/>
            <p:cNvSpPr txBox="1"/>
            <p:nvPr/>
          </p:nvSpPr>
          <p:spPr>
            <a:xfrm>
              <a:off x="3363180" y="47202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90" name="Google Shape;1290;p69"/>
          <p:cNvSpPr txBox="1"/>
          <p:nvPr/>
        </p:nvSpPr>
        <p:spPr>
          <a:xfrm>
            <a:off x="6753227" y="4292275"/>
            <a:ext cx="178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E to F = 10 + 4 = 14</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E to G = 10 + 4 = 14</a:t>
            </a:r>
            <a:endParaRPr sz="1000">
              <a:solidFill>
                <a:srgbClr val="FF0000"/>
              </a:solidFill>
              <a:latin typeface="Consolas"/>
              <a:ea typeface="Consolas"/>
              <a:cs typeface="Consolas"/>
              <a:sym typeface="Consolas"/>
            </a:endParaRPr>
          </a:p>
        </p:txBody>
      </p:sp>
      <p:sp>
        <p:nvSpPr>
          <p:cNvPr id="1291" name="Google Shape;1291;p69"/>
          <p:cNvSpPr txBox="1">
            <a:spLocks noGrp="1"/>
          </p:cNvSpPr>
          <p:nvPr>
            <p:ph type="body" idx="4294967295"/>
          </p:nvPr>
        </p:nvSpPr>
        <p:spPr>
          <a:xfrm>
            <a:off x="110821" y="2357050"/>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Once the </a:t>
            </a:r>
            <a:r>
              <a:rPr lang="en" sz="1200" b="1" i="1">
                <a:solidFill>
                  <a:srgbClr val="FF0000"/>
                </a:solidFill>
                <a:latin typeface="Arial"/>
                <a:ea typeface="Arial"/>
                <a:cs typeface="Arial"/>
                <a:sym typeface="Arial"/>
              </a:rPr>
              <a:t>tuple queue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empty, the main loop is complete. Unless...</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87"/>
                                        </p:tgtEl>
                                        <p:attrNameLst>
                                          <p:attrName>style.visibility</p:attrName>
                                        </p:attrNameLst>
                                      </p:cBhvr>
                                      <p:to>
                                        <p:strVal val="visible"/>
                                      </p:to>
                                    </p:set>
                                    <p:animEffect transition="in" filter="fade">
                                      <p:cBhvr>
                                        <p:cTn id="7" dur="1000"/>
                                        <p:tgtEl>
                                          <p:spTgt spid="12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0"/>
                                        </p:tgtEl>
                                        <p:attrNameLst>
                                          <p:attrName>style.visibility</p:attrName>
                                        </p:attrNameLst>
                                      </p:cBhvr>
                                      <p:to>
                                        <p:strVal val="visible"/>
                                      </p:to>
                                    </p:set>
                                    <p:animEffect transition="in" filter="fade">
                                      <p:cBhvr>
                                        <p:cTn id="12" dur="1000"/>
                                        <p:tgtEl>
                                          <p:spTgt spid="12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1"/>
                                        </p:tgtEl>
                                        <p:attrNameLst>
                                          <p:attrName>style.visibility</p:attrName>
                                        </p:attrNameLst>
                                      </p:cBhvr>
                                      <p:to>
                                        <p:strVal val="visible"/>
                                      </p:to>
                                    </p:set>
                                    <p:animEffect transition="in" filter="fade">
                                      <p:cBhvr>
                                        <p:cTn id="17" dur="1000"/>
                                        <p:tgtEl>
                                          <p:spTgt spid="1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70"/>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97" name="Google Shape;1297;p70"/>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X</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Y</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Z</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98" name="Google Shape;1298;p7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99" name="Google Shape;1299;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300" name="Google Shape;1300;p70"/>
          <p:cNvSpPr txBox="1"/>
          <p:nvPr/>
        </p:nvSpPr>
        <p:spPr>
          <a:xfrm>
            <a:off x="3285660" y="43531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01" name="Google Shape;1301;p70"/>
          <p:cNvSpPr txBox="1">
            <a:spLocks noGrp="1"/>
          </p:cNvSpPr>
          <p:nvPr>
            <p:ph type="body" idx="4294967295"/>
          </p:nvPr>
        </p:nvSpPr>
        <p:spPr>
          <a:xfrm>
            <a:off x="110821" y="1518850"/>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Consider this hypothetical scenario where the tuple queue </a:t>
            </a:r>
            <a:r>
              <a:rPr lang="en" sz="1200" b="1" i="1">
                <a:solidFill>
                  <a:srgbClr val="FF0000"/>
                </a:solidFill>
                <a:latin typeface="Arial"/>
                <a:ea typeface="Arial"/>
                <a:cs typeface="Arial"/>
                <a:sym typeface="Arial"/>
              </a:rPr>
              <a:t>is not empty</a:t>
            </a:r>
            <a:r>
              <a:rPr lang="en" sz="1200">
                <a:solidFill>
                  <a:srgbClr val="000000"/>
                </a:solidFill>
                <a:latin typeface="Arial"/>
                <a:ea typeface="Arial"/>
                <a:cs typeface="Arial"/>
                <a:sym typeface="Arial"/>
              </a:rPr>
              <a:t>, but the vertex that is </a:t>
            </a:r>
            <a:r>
              <a:rPr lang="en" sz="1200" b="1" i="1">
                <a:solidFill>
                  <a:srgbClr val="FF0000"/>
                </a:solidFill>
                <a:latin typeface="Arial"/>
                <a:ea typeface="Arial"/>
                <a:cs typeface="Arial"/>
                <a:sym typeface="Arial"/>
              </a:rPr>
              <a:t>closest </a:t>
            </a:r>
            <a:r>
              <a:rPr lang="en" sz="1200">
                <a:solidFill>
                  <a:srgbClr val="000000"/>
                </a:solidFill>
                <a:latin typeface="Arial"/>
                <a:ea typeface="Arial"/>
                <a:cs typeface="Arial"/>
                <a:sym typeface="Arial"/>
              </a:rPr>
              <a:t>to start has a distance of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302" name="Google Shape;1302;p70"/>
          <p:cNvGrpSpPr/>
          <p:nvPr/>
        </p:nvGrpSpPr>
        <p:grpSpPr>
          <a:xfrm>
            <a:off x="6244267" y="1458389"/>
            <a:ext cx="2587178" cy="2330671"/>
            <a:chOff x="338125" y="1610890"/>
            <a:chExt cx="3334852" cy="3004217"/>
          </a:xfrm>
        </p:grpSpPr>
        <p:sp>
          <p:nvSpPr>
            <p:cNvPr id="1303" name="Google Shape;1303;p70"/>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304" name="Google Shape;1304;p70"/>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305" name="Google Shape;1305;p70"/>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306" name="Google Shape;1306;p70"/>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307" name="Google Shape;1307;p70"/>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308" name="Google Shape;1308;p70"/>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309" name="Google Shape;1309;p70"/>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310" name="Google Shape;1310;p70"/>
            <p:cNvCxnSpPr>
              <a:stCxn id="1303" idx="3"/>
              <a:endCxn id="130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311" name="Google Shape;1311;p70"/>
            <p:cNvCxnSpPr>
              <a:stCxn id="1303" idx="6"/>
              <a:endCxn id="130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312" name="Google Shape;1312;p70"/>
            <p:cNvCxnSpPr>
              <a:stCxn id="1303" idx="5"/>
              <a:endCxn id="130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313" name="Google Shape;1313;p70"/>
            <p:cNvCxnSpPr>
              <a:stCxn id="1304" idx="6"/>
              <a:endCxn id="130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314" name="Google Shape;1314;p70"/>
            <p:cNvCxnSpPr>
              <a:stCxn id="1308" idx="4"/>
              <a:endCxn id="130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315" name="Google Shape;1315;p70"/>
            <p:cNvCxnSpPr>
              <a:stCxn id="1304" idx="3"/>
              <a:endCxn id="130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316" name="Google Shape;1316;p70"/>
            <p:cNvCxnSpPr>
              <a:stCxn id="1309" idx="6"/>
              <a:endCxn id="130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317" name="Google Shape;1317;p70"/>
            <p:cNvCxnSpPr>
              <a:stCxn id="1305" idx="6"/>
              <a:endCxn id="130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318" name="Google Shape;1318;p70"/>
            <p:cNvCxnSpPr>
              <a:stCxn id="1306" idx="5"/>
              <a:endCxn id="130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319" name="Google Shape;1319;p7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20" name="Google Shape;1320;p7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21" name="Google Shape;1321;p7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2" name="Google Shape;1322;p7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23" name="Google Shape;1323;p7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24" name="Google Shape;1324;p7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5" name="Google Shape;1325;p7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6" name="Google Shape;1326;p7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27" name="Google Shape;1327;p7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28" name="Google Shape;1328;p70"/>
            <p:cNvCxnSpPr>
              <a:stCxn id="1305" idx="5"/>
              <a:endCxn id="130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329" name="Google Shape;1329;p7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30" name="Google Shape;1330;p70"/>
          <p:cNvSpPr txBox="1">
            <a:spLocks noGrp="1"/>
          </p:cNvSpPr>
          <p:nvPr>
            <p:ph type="body" idx="4294967295"/>
          </p:nvPr>
        </p:nvSpPr>
        <p:spPr>
          <a:xfrm>
            <a:off x="110821" y="2530079"/>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This means that any vertex still left in the tuple queue has never been updated.</a:t>
            </a:r>
            <a:endParaRPr sz="1200">
              <a:solidFill>
                <a:srgbClr val="000000"/>
              </a:solidFill>
              <a:latin typeface="Arial"/>
              <a:ea typeface="Arial"/>
              <a:cs typeface="Arial"/>
              <a:sym typeface="Arial"/>
            </a:endParaRPr>
          </a:p>
        </p:txBody>
      </p:sp>
      <p:sp>
        <p:nvSpPr>
          <p:cNvPr id="1331" name="Google Shape;1331;p70"/>
          <p:cNvSpPr txBox="1"/>
          <p:nvPr/>
        </p:nvSpPr>
        <p:spPr>
          <a:xfrm>
            <a:off x="4733460" y="4581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32" name="Google Shape;1332;p70"/>
          <p:cNvSpPr txBox="1"/>
          <p:nvPr/>
        </p:nvSpPr>
        <p:spPr>
          <a:xfrm>
            <a:off x="43524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sp>
        <p:nvSpPr>
          <p:cNvPr id="1333" name="Google Shape;1333;p70"/>
          <p:cNvSpPr/>
          <p:nvPr/>
        </p:nvSpPr>
        <p:spPr>
          <a:xfrm>
            <a:off x="6838242" y="43588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X</a:t>
            </a:r>
            <a:endParaRPr/>
          </a:p>
        </p:txBody>
      </p:sp>
      <p:sp>
        <p:nvSpPr>
          <p:cNvPr id="1334" name="Google Shape;1334;p70"/>
          <p:cNvSpPr/>
          <p:nvPr/>
        </p:nvSpPr>
        <p:spPr>
          <a:xfrm>
            <a:off x="7676442" y="44350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Y</a:t>
            </a:r>
            <a:endParaRPr/>
          </a:p>
        </p:txBody>
      </p:sp>
      <p:sp>
        <p:nvSpPr>
          <p:cNvPr id="1335" name="Google Shape;1335;p70"/>
          <p:cNvSpPr/>
          <p:nvPr/>
        </p:nvSpPr>
        <p:spPr>
          <a:xfrm>
            <a:off x="7371642" y="38254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Z</a:t>
            </a:r>
            <a:endParaRPr/>
          </a:p>
        </p:txBody>
      </p:sp>
      <p:cxnSp>
        <p:nvCxnSpPr>
          <p:cNvPr id="1336" name="Google Shape;1336;p70"/>
          <p:cNvCxnSpPr>
            <a:stCxn id="1333" idx="7"/>
            <a:endCxn id="1335" idx="3"/>
          </p:cNvCxnSpPr>
          <p:nvPr/>
        </p:nvCxnSpPr>
        <p:spPr>
          <a:xfrm rot="10800000" flipH="1">
            <a:off x="7197502" y="4184706"/>
            <a:ext cx="235800" cy="235800"/>
          </a:xfrm>
          <a:prstGeom prst="straightConnector1">
            <a:avLst/>
          </a:prstGeom>
          <a:noFill/>
          <a:ln w="19050" cap="flat" cmpd="sng">
            <a:solidFill>
              <a:srgbClr val="000000"/>
            </a:solidFill>
            <a:prstDash val="solid"/>
            <a:round/>
            <a:headEnd type="none" w="med" len="med"/>
            <a:tailEnd type="none" w="med" len="med"/>
          </a:ln>
        </p:spPr>
      </p:cxnSp>
      <p:cxnSp>
        <p:nvCxnSpPr>
          <p:cNvPr id="1337" name="Google Shape;1337;p70"/>
          <p:cNvCxnSpPr>
            <a:stCxn id="1335" idx="5"/>
            <a:endCxn id="1334" idx="0"/>
          </p:cNvCxnSpPr>
          <p:nvPr/>
        </p:nvCxnSpPr>
        <p:spPr>
          <a:xfrm>
            <a:off x="7730902" y="4184727"/>
            <a:ext cx="156000" cy="250200"/>
          </a:xfrm>
          <a:prstGeom prst="straightConnector1">
            <a:avLst/>
          </a:prstGeom>
          <a:noFill/>
          <a:ln w="19050" cap="flat" cmpd="sng">
            <a:solidFill>
              <a:srgbClr val="000000"/>
            </a:solidFill>
            <a:prstDash val="solid"/>
            <a:round/>
            <a:headEnd type="none" w="med" len="med"/>
            <a:tailEnd type="none" w="med" len="med"/>
          </a:ln>
        </p:spPr>
      </p:cxnSp>
      <p:cxnSp>
        <p:nvCxnSpPr>
          <p:cNvPr id="1338" name="Google Shape;1338;p70"/>
          <p:cNvCxnSpPr>
            <a:stCxn id="1333" idx="6"/>
            <a:endCxn id="1334" idx="2"/>
          </p:cNvCxnSpPr>
          <p:nvPr/>
        </p:nvCxnSpPr>
        <p:spPr>
          <a:xfrm>
            <a:off x="7259142" y="4569316"/>
            <a:ext cx="417300" cy="76200"/>
          </a:xfrm>
          <a:prstGeom prst="straightConnector1">
            <a:avLst/>
          </a:prstGeom>
          <a:noFill/>
          <a:ln w="19050" cap="flat" cmpd="sng">
            <a:solidFill>
              <a:srgbClr val="000000"/>
            </a:solidFill>
            <a:prstDash val="solid"/>
            <a:round/>
            <a:headEnd type="none" w="med" len="med"/>
            <a:tailEnd type="none" w="med" len="med"/>
          </a:ln>
        </p:spPr>
      </p:cxnSp>
      <p:sp>
        <p:nvSpPr>
          <p:cNvPr id="1339" name="Google Shape;1339;p70"/>
          <p:cNvSpPr txBox="1"/>
          <p:nvPr/>
        </p:nvSpPr>
        <p:spPr>
          <a:xfrm>
            <a:off x="7063236" y="40359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40" name="Google Shape;1340;p70"/>
          <p:cNvSpPr txBox="1"/>
          <p:nvPr/>
        </p:nvSpPr>
        <p:spPr>
          <a:xfrm>
            <a:off x="7291836" y="45693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41" name="Google Shape;1341;p70"/>
          <p:cNvSpPr txBox="1"/>
          <p:nvPr/>
        </p:nvSpPr>
        <p:spPr>
          <a:xfrm>
            <a:off x="7783978" y="414022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342" name="Google Shape;1342;p70"/>
          <p:cNvSpPr txBox="1">
            <a:spLocks noGrp="1"/>
          </p:cNvSpPr>
          <p:nvPr>
            <p:ph type="body" idx="4294967295"/>
          </p:nvPr>
        </p:nvSpPr>
        <p:spPr>
          <a:xfrm>
            <a:off x="110821" y="3181497"/>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This means that there is </a:t>
            </a:r>
            <a:r>
              <a:rPr lang="en" sz="1200" b="1" i="1">
                <a:solidFill>
                  <a:srgbClr val="FF0000"/>
                </a:solidFill>
                <a:latin typeface="Arial"/>
                <a:ea typeface="Arial"/>
                <a:cs typeface="Arial"/>
                <a:sym typeface="Arial"/>
              </a:rPr>
              <a:t>no path</a:t>
            </a:r>
            <a:r>
              <a:rPr lang="en" sz="1200">
                <a:solidFill>
                  <a:srgbClr val="000000"/>
                </a:solidFill>
                <a:latin typeface="Arial"/>
                <a:ea typeface="Arial"/>
                <a:cs typeface="Arial"/>
                <a:sym typeface="Arial"/>
              </a:rPr>
              <a:t> from start to any vertex left in the tuple queue. The main loop should </a:t>
            </a:r>
            <a:r>
              <a:rPr lang="en" sz="1200" b="1" i="1">
                <a:solidFill>
                  <a:srgbClr val="FF0000"/>
                </a:solidFill>
                <a:latin typeface="Arial"/>
                <a:ea typeface="Arial"/>
                <a:cs typeface="Arial"/>
                <a:sym typeface="Arial"/>
              </a:rPr>
              <a:t>stop</a:t>
            </a:r>
            <a:r>
              <a:rPr lang="en" sz="1200">
                <a:solidFill>
                  <a:srgbClr val="000000"/>
                </a:solidFill>
                <a:latin typeface="Arial"/>
                <a:ea typeface="Arial"/>
                <a:cs typeface="Arial"/>
                <a:sym typeface="Arial"/>
              </a:rPr>
              <a:t> even though the queue is not empty.</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1"/>
                                        </p:tgtEl>
                                        <p:attrNameLst>
                                          <p:attrName>style.visibility</p:attrName>
                                        </p:attrNameLst>
                                      </p:cBhvr>
                                      <p:to>
                                        <p:strVal val="visible"/>
                                      </p:to>
                                    </p:set>
                                    <p:animEffect transition="in" filter="fade">
                                      <p:cBhvr>
                                        <p:cTn id="7" dur="1000"/>
                                        <p:tgtEl>
                                          <p:spTgt spid="13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0"/>
                                        </p:tgtEl>
                                        <p:attrNameLst>
                                          <p:attrName>style.visibility</p:attrName>
                                        </p:attrNameLst>
                                      </p:cBhvr>
                                      <p:to>
                                        <p:strVal val="visible"/>
                                      </p:to>
                                    </p:set>
                                    <p:animEffect transition="in" filter="fade">
                                      <p:cBhvr>
                                        <p:cTn id="12" dur="1000"/>
                                        <p:tgtEl>
                                          <p:spTgt spid="13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42"/>
                                        </p:tgtEl>
                                        <p:attrNameLst>
                                          <p:attrName>style.visibility</p:attrName>
                                        </p:attrNameLst>
                                      </p:cBhvr>
                                      <p:to>
                                        <p:strVal val="visible"/>
                                      </p:to>
                                    </p:set>
                                    <p:animEffect transition="in" filter="fade">
                                      <p:cBhvr>
                                        <p:cTn id="17" dur="1000"/>
                                        <p:tgtEl>
                                          <p:spTgt spid="1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sp>
        <p:nvSpPr>
          <p:cNvPr id="1347" name="Google Shape;1347;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2: The Main Loop</a:t>
            </a:r>
            <a:endParaRPr/>
          </a:p>
        </p:txBody>
      </p:sp>
      <p:sp>
        <p:nvSpPr>
          <p:cNvPr id="1348" name="Google Shape;1348;p7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goal of the main loop in Dijkstra's Shortest Path algorithm is to update the path tuple for </a:t>
            </a:r>
            <a:r>
              <a:rPr lang="en" i="1"/>
              <a:t>every</a:t>
            </a:r>
            <a:r>
              <a:rPr lang="en"/>
              <a:t> vertex that is reachable from the starting vertex. If a vertex is not reachable, its distance will remain set to infinity (and its predecessor will be null). Examine the main loop now.</a:t>
            </a:r>
            <a:endParaRPr/>
          </a:p>
        </p:txBody>
      </p:sp>
      <p:sp>
        <p:nvSpPr>
          <p:cNvPr id="1349" name="Google Shape;1349;p7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350" name="Google Shape;1350;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13.19</a:t>
            </a:r>
            <a:endParaRPr/>
          </a:p>
        </p:txBody>
      </p:sp>
      <p:pic>
        <p:nvPicPr>
          <p:cNvPr id="1351" name="Google Shape;1351;p71"/>
          <p:cNvPicPr preferRelativeResize="0"/>
          <p:nvPr/>
        </p:nvPicPr>
        <p:blipFill>
          <a:blip r:embed="rId3">
            <a:alphaModFix/>
          </a:blip>
          <a:stretch>
            <a:fillRect/>
          </a:stretch>
        </p:blipFill>
        <p:spPr>
          <a:xfrm>
            <a:off x="228600" y="1773175"/>
            <a:ext cx="2371300" cy="2371300"/>
          </a:xfrm>
          <a:prstGeom prst="rect">
            <a:avLst/>
          </a:prstGeom>
          <a:noFill/>
          <a:ln w="19050" cap="flat" cmpd="sng">
            <a:solidFill>
              <a:schemeClr val="dk2"/>
            </a:solidFill>
            <a:prstDash val="solid"/>
            <a:round/>
            <a:headEnd type="none" w="sm" len="sm"/>
            <a:tailEnd type="none" w="sm" len="sm"/>
          </a:ln>
        </p:spPr>
      </p:pic>
      <p:sp>
        <p:nvSpPr>
          <p:cNvPr id="1352" name="Google Shape;1352;p71"/>
          <p:cNvSpPr txBox="1"/>
          <p:nvPr/>
        </p:nvSpPr>
        <p:spPr>
          <a:xfrm>
            <a:off x="2560525" y="1581125"/>
            <a:ext cx="6460500" cy="3414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2"/>
              </a:buClr>
              <a:buSzPts val="1400"/>
              <a:buFont typeface="Roboto"/>
              <a:buChar char="●"/>
            </a:pPr>
            <a:r>
              <a:rPr lang="en" dirty="0">
                <a:solidFill>
                  <a:schemeClr val="dk2"/>
                </a:solidFill>
                <a:latin typeface="Roboto"/>
                <a:ea typeface="Roboto"/>
                <a:cs typeface="Roboto"/>
                <a:sym typeface="Roboto"/>
              </a:rPr>
              <a:t>Open the </a:t>
            </a:r>
            <a:r>
              <a:rPr lang="en" dirty="0">
                <a:solidFill>
                  <a:schemeClr val="dk2"/>
                </a:solidFill>
                <a:latin typeface="Courier New"/>
                <a:ea typeface="Courier New"/>
                <a:cs typeface="Courier New"/>
                <a:sym typeface="Courier New"/>
              </a:rPr>
              <a:t>WAdjacencyGraph</a:t>
            </a:r>
            <a:r>
              <a:rPr lang="en" dirty="0">
                <a:solidFill>
                  <a:schemeClr val="dk2"/>
                </a:solidFill>
                <a:latin typeface="Roboto"/>
                <a:ea typeface="Roboto"/>
                <a:cs typeface="Roboto"/>
                <a:sym typeface="Roboto"/>
              </a:rPr>
              <a:t> class, navigate to the </a:t>
            </a:r>
            <a:r>
              <a:rPr lang="en" dirty="0">
                <a:solidFill>
                  <a:schemeClr val="dk2"/>
                </a:solidFill>
                <a:latin typeface="Courier New"/>
                <a:ea typeface="Courier New"/>
                <a:cs typeface="Courier New"/>
                <a:sym typeface="Courier New"/>
              </a:rPr>
              <a:t>dijkstrasPath</a:t>
            </a:r>
            <a:r>
              <a:rPr lang="en" dirty="0">
                <a:solidFill>
                  <a:schemeClr val="dk2"/>
                </a:solidFill>
                <a:latin typeface="Roboto"/>
                <a:ea typeface="Roboto"/>
                <a:cs typeface="Roboto"/>
                <a:sym typeface="Roboto"/>
              </a:rPr>
              <a:t> method, and examine </a:t>
            </a:r>
            <a:r>
              <a:rPr lang="en" b="1" i="1" dirty="0">
                <a:solidFill>
                  <a:srgbClr val="FF0000"/>
                </a:solidFill>
                <a:latin typeface="Roboto"/>
                <a:ea typeface="Roboto"/>
                <a:cs typeface="Roboto"/>
                <a:sym typeface="Roboto"/>
              </a:rPr>
              <a:t>step 2: main loop</a:t>
            </a:r>
            <a:r>
              <a:rPr lang="en" dirty="0">
                <a:solidFill>
                  <a:schemeClr val="dk2"/>
                </a:solidFill>
                <a:latin typeface="Roboto"/>
                <a:ea typeface="Roboto"/>
                <a:cs typeface="Roboto"/>
                <a:sym typeface="Roboto"/>
              </a:rPr>
              <a:t>.</a:t>
            </a:r>
            <a:endParaRPr dirty="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As long as the </a:t>
            </a:r>
            <a:r>
              <a:rPr lang="en" sz="1200" dirty="0">
                <a:solidFill>
                  <a:srgbClr val="FF0000"/>
                </a:solidFill>
                <a:latin typeface="Courier New"/>
                <a:ea typeface="Courier New"/>
                <a:cs typeface="Courier New"/>
                <a:sym typeface="Courier New"/>
              </a:rPr>
              <a:t>TupleQueue</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created in step 1 is </a:t>
            </a:r>
            <a:r>
              <a:rPr lang="en" sz="1200" dirty="0">
                <a:solidFill>
                  <a:srgbClr val="FF0000"/>
                </a:solidFill>
                <a:latin typeface="Roboto"/>
                <a:ea typeface="Roboto"/>
                <a:cs typeface="Roboto"/>
                <a:sym typeface="Roboto"/>
              </a:rPr>
              <a:t>not empty</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dirty="0">
                <a:solidFill>
                  <a:schemeClr val="lt2"/>
                </a:solidFill>
                <a:latin typeface="Roboto"/>
                <a:ea typeface="Roboto"/>
                <a:cs typeface="Roboto"/>
                <a:sym typeface="Roboto"/>
              </a:rPr>
              <a:t>It </a:t>
            </a:r>
            <a:r>
              <a:rPr lang="en" sz="1200" dirty="0">
                <a:solidFill>
                  <a:srgbClr val="FF0000"/>
                </a:solidFill>
                <a:latin typeface="Roboto"/>
                <a:ea typeface="Roboto"/>
                <a:cs typeface="Roboto"/>
                <a:sym typeface="Roboto"/>
              </a:rPr>
              <a:t>dequeues </a:t>
            </a:r>
            <a:r>
              <a:rPr lang="en" sz="1200" dirty="0">
                <a:solidFill>
                  <a:schemeClr val="dk2"/>
                </a:solidFill>
                <a:latin typeface="Roboto"/>
                <a:ea typeface="Roboto"/>
                <a:cs typeface="Roboto"/>
                <a:sym typeface="Roboto"/>
              </a:rPr>
              <a:t>the </a:t>
            </a:r>
            <a:r>
              <a:rPr lang="en" sz="1200" dirty="0">
                <a:solidFill>
                  <a:schemeClr val="dk2"/>
                </a:solidFill>
                <a:latin typeface="Courier New"/>
                <a:ea typeface="Courier New"/>
                <a:cs typeface="Courier New"/>
                <a:sym typeface="Courier New"/>
              </a:rPr>
              <a:t>PathTuple</a:t>
            </a:r>
            <a:r>
              <a:rPr lang="en" sz="1200" dirty="0">
                <a:solidFill>
                  <a:schemeClr val="dk2"/>
                </a:solidFill>
                <a:latin typeface="Roboto"/>
                <a:ea typeface="Roboto"/>
                <a:cs typeface="Roboto"/>
                <a:sym typeface="Roboto"/>
              </a:rPr>
              <a:t> with the next shortest distance from start.</a:t>
            </a:r>
            <a:endParaRPr sz="1200" dirty="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If the distance in the tuple is </a:t>
            </a:r>
            <a:r>
              <a:rPr lang="en" sz="1200" b="1" i="1" dirty="0">
                <a:solidFill>
                  <a:srgbClr val="FF0000"/>
                </a:solidFill>
                <a:latin typeface="Roboto"/>
                <a:ea typeface="Roboto"/>
                <a:cs typeface="Roboto"/>
                <a:sym typeface="Roboto"/>
              </a:rPr>
              <a:t>infinity</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a:t>
            </a:r>
            <a:r>
              <a:rPr lang="en" sz="1200" dirty="0">
                <a:solidFill>
                  <a:srgbClr val="FF0000"/>
                </a:solidFill>
                <a:latin typeface="Courier New"/>
                <a:ea typeface="Courier New"/>
                <a:cs typeface="Courier New"/>
                <a:sym typeface="Courier New"/>
              </a:rPr>
              <a:t>Double.POSITIVE_INFINITY</a:t>
            </a:r>
            <a:r>
              <a:rPr lang="en" sz="1200" dirty="0">
                <a:solidFill>
                  <a:schemeClr val="dk2"/>
                </a:solidFill>
                <a:latin typeface="Roboto"/>
                <a:ea typeface="Roboto"/>
                <a:cs typeface="Roboto"/>
                <a:sym typeface="Roboto"/>
              </a:rPr>
              <a:t>), the algorithm </a:t>
            </a:r>
            <a:r>
              <a:rPr lang="en" sz="1200" dirty="0">
                <a:solidFill>
                  <a:srgbClr val="FF0000"/>
                </a:solidFill>
                <a:latin typeface="Roboto"/>
                <a:ea typeface="Roboto"/>
                <a:cs typeface="Roboto"/>
                <a:sym typeface="Roboto"/>
              </a:rPr>
              <a:t>stops</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Otherwise, it gets the vertex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 from the tuple.</a:t>
            </a:r>
            <a:endParaRPr sz="1200" dirty="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It gets the </a:t>
            </a:r>
            <a:r>
              <a:rPr lang="en" sz="1200" b="1" i="1" dirty="0">
                <a:solidFill>
                  <a:srgbClr val="FF0000"/>
                </a:solidFill>
                <a:latin typeface="Roboto"/>
                <a:ea typeface="Roboto"/>
                <a:cs typeface="Roboto"/>
                <a:sym typeface="Roboto"/>
              </a:rPr>
              <a:t>neighbors </a:t>
            </a:r>
            <a:r>
              <a:rPr lang="en" sz="1200" dirty="0">
                <a:solidFill>
                  <a:schemeClr val="dk2"/>
                </a:solidFill>
                <a:latin typeface="Roboto"/>
                <a:ea typeface="Roboto"/>
                <a:cs typeface="Roboto"/>
                <a:sym typeface="Roboto"/>
              </a:rPr>
              <a:t>map from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For each neighbor </a:t>
            </a:r>
            <a:r>
              <a:rPr lang="en" sz="1200" b="1" i="1" dirty="0">
                <a:solidFill>
                  <a:srgbClr val="FF0000"/>
                </a:solidFill>
                <a:latin typeface="Roboto"/>
                <a:ea typeface="Roboto"/>
                <a:cs typeface="Roboto"/>
                <a:sym typeface="Roboto"/>
              </a:rPr>
              <a:t>N</a:t>
            </a:r>
            <a:r>
              <a:rPr lang="en" sz="1200" b="1" i="1" dirty="0">
                <a:solidFill>
                  <a:schemeClr val="dk2"/>
                </a:solidFill>
                <a:latin typeface="Roboto"/>
                <a:ea typeface="Roboto"/>
                <a:cs typeface="Roboto"/>
                <a:sym typeface="Roboto"/>
              </a:rPr>
              <a:t> </a:t>
            </a:r>
            <a:r>
              <a:rPr lang="en" sz="1200" dirty="0">
                <a:solidFill>
                  <a:schemeClr val="dk2"/>
                </a:solidFill>
                <a:latin typeface="Roboto"/>
                <a:ea typeface="Roboto"/>
                <a:cs typeface="Roboto"/>
                <a:sym typeface="Roboto"/>
              </a:rPr>
              <a:t>in </a:t>
            </a:r>
            <a:r>
              <a:rPr lang="en" sz="1200" b="1" i="1" dirty="0">
                <a:solidFill>
                  <a:srgbClr val="FF0000"/>
                </a:solidFill>
                <a:latin typeface="Roboto"/>
                <a:ea typeface="Roboto"/>
                <a:cs typeface="Roboto"/>
                <a:sym typeface="Roboto"/>
              </a:rPr>
              <a:t>neighbors</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It gets the </a:t>
            </a:r>
            <a:r>
              <a:rPr lang="en" sz="1200" b="1" i="1" dirty="0">
                <a:solidFill>
                  <a:srgbClr val="FF0000"/>
                </a:solidFill>
                <a:latin typeface="Roboto"/>
                <a:ea typeface="Roboto"/>
                <a:cs typeface="Roboto"/>
                <a:sym typeface="Roboto"/>
              </a:rPr>
              <a:t>distance</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from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 to </a:t>
            </a:r>
            <a:r>
              <a:rPr lang="en" sz="1200" b="1" i="1" dirty="0">
                <a:solidFill>
                  <a:srgbClr val="FF0000"/>
                </a:solidFill>
                <a:latin typeface="Roboto"/>
                <a:ea typeface="Roboto"/>
                <a:cs typeface="Roboto"/>
                <a:sym typeface="Roboto"/>
              </a:rPr>
              <a:t>N</a:t>
            </a:r>
            <a:r>
              <a:rPr lang="en" sz="1200" dirty="0">
                <a:solidFill>
                  <a:schemeClr val="dk2"/>
                </a:solidFill>
                <a:latin typeface="Roboto"/>
                <a:ea typeface="Roboto"/>
                <a:cs typeface="Roboto"/>
                <a:sym typeface="Roboto"/>
              </a:rPr>
              <a:t> from </a:t>
            </a:r>
            <a:r>
              <a:rPr lang="en" sz="1200" b="1" i="1" dirty="0">
                <a:solidFill>
                  <a:srgbClr val="FF0000"/>
                </a:solidFill>
                <a:latin typeface="Roboto"/>
                <a:ea typeface="Roboto"/>
                <a:cs typeface="Roboto"/>
                <a:sym typeface="Roboto"/>
              </a:rPr>
              <a:t>neighbors</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Let</a:t>
            </a:r>
            <a:r>
              <a:rPr lang="en" sz="1200" dirty="0">
                <a:solidFill>
                  <a:srgbClr val="FF0000"/>
                </a:solidFill>
                <a:latin typeface="Roboto"/>
                <a:ea typeface="Roboto"/>
                <a:cs typeface="Roboto"/>
                <a:sym typeface="Roboto"/>
              </a:rPr>
              <a:t> </a:t>
            </a:r>
            <a:r>
              <a:rPr lang="en" sz="1200" b="1" i="1" dirty="0">
                <a:solidFill>
                  <a:srgbClr val="FF0000"/>
                </a:solidFill>
                <a:latin typeface="Roboto"/>
                <a:ea typeface="Roboto"/>
                <a:cs typeface="Roboto"/>
                <a:sym typeface="Roboto"/>
              </a:rPr>
              <a:t>DV</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be the</a:t>
            </a:r>
            <a:r>
              <a:rPr lang="en" sz="1200" dirty="0">
                <a:solidFill>
                  <a:srgbClr val="FF0000"/>
                </a:solidFill>
                <a:latin typeface="Roboto"/>
                <a:ea typeface="Roboto"/>
                <a:cs typeface="Roboto"/>
                <a:sym typeface="Roboto"/>
              </a:rPr>
              <a:t> </a:t>
            </a:r>
            <a:r>
              <a:rPr lang="en" sz="1200" i="1" dirty="0">
                <a:solidFill>
                  <a:schemeClr val="dk2"/>
                </a:solidFill>
                <a:latin typeface="Roboto"/>
                <a:ea typeface="Roboto"/>
                <a:cs typeface="Roboto"/>
                <a:sym typeface="Roboto"/>
              </a:rPr>
              <a:t>distance from start to </a:t>
            </a:r>
            <a:r>
              <a:rPr lang="en" sz="1200" b="1" i="1" dirty="0">
                <a:solidFill>
                  <a:srgbClr val="FF0000"/>
                </a:solidFill>
                <a:latin typeface="Roboto"/>
                <a:ea typeface="Roboto"/>
                <a:cs typeface="Roboto"/>
                <a:sym typeface="Roboto"/>
              </a:rPr>
              <a:t>N</a:t>
            </a:r>
            <a:r>
              <a:rPr lang="en" sz="1200" dirty="0">
                <a:solidFill>
                  <a:schemeClr val="dk2"/>
                </a:solidFill>
                <a:latin typeface="Roboto"/>
                <a:ea typeface="Roboto"/>
                <a:cs typeface="Roboto"/>
                <a:sym typeface="Roboto"/>
              </a:rPr>
              <a:t> through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 </a:t>
            </a:r>
            <a:r>
              <a:rPr lang="en" sz="1200" b="1" i="1" dirty="0">
                <a:solidFill>
                  <a:srgbClr val="FF0000"/>
                </a:solidFill>
                <a:latin typeface="Roboto"/>
                <a:ea typeface="Roboto"/>
                <a:cs typeface="Roboto"/>
                <a:sym typeface="Roboto"/>
              </a:rPr>
              <a:t>Hint</a:t>
            </a:r>
            <a:r>
              <a:rPr lang="en" sz="1200" dirty="0">
                <a:solidFill>
                  <a:schemeClr val="dk2"/>
                </a:solidFill>
                <a:latin typeface="Roboto"/>
                <a:ea typeface="Roboto"/>
                <a:cs typeface="Roboto"/>
                <a:sym typeface="Roboto"/>
              </a:rPr>
              <a:t>: this is the distance in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's path tuple plus the </a:t>
            </a:r>
            <a:r>
              <a:rPr lang="en" sz="1200" b="1" i="1" dirty="0">
                <a:solidFill>
                  <a:srgbClr val="FF0000"/>
                </a:solidFill>
                <a:latin typeface="Roboto"/>
                <a:ea typeface="Roboto"/>
                <a:cs typeface="Roboto"/>
                <a:sym typeface="Roboto"/>
              </a:rPr>
              <a:t>distance</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from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 to</a:t>
            </a:r>
            <a:r>
              <a:rPr lang="en" sz="1200" dirty="0">
                <a:solidFill>
                  <a:srgbClr val="FF0000"/>
                </a:solidFill>
                <a:latin typeface="Roboto"/>
                <a:ea typeface="Roboto"/>
                <a:cs typeface="Roboto"/>
                <a:sym typeface="Roboto"/>
              </a:rPr>
              <a:t> </a:t>
            </a:r>
            <a:r>
              <a:rPr lang="en" sz="1200" b="1" i="1" dirty="0">
                <a:solidFill>
                  <a:srgbClr val="FF0000"/>
                </a:solidFill>
                <a:latin typeface="Roboto"/>
                <a:ea typeface="Roboto"/>
                <a:cs typeface="Roboto"/>
                <a:sym typeface="Roboto"/>
              </a:rPr>
              <a:t>N</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It uses </a:t>
            </a:r>
            <a:r>
              <a:rPr lang="en" sz="1200" b="1" i="1" dirty="0">
                <a:solidFill>
                  <a:srgbClr val="FF0000"/>
                </a:solidFill>
                <a:latin typeface="Roboto"/>
                <a:ea typeface="Roboto"/>
                <a:cs typeface="Roboto"/>
                <a:sym typeface="Roboto"/>
              </a:rPr>
              <a:t>N</a:t>
            </a:r>
            <a:r>
              <a:rPr lang="en" sz="1200" dirty="0">
                <a:solidFill>
                  <a:schemeClr val="dk2"/>
                </a:solidFill>
                <a:latin typeface="Roboto"/>
                <a:ea typeface="Roboto"/>
                <a:cs typeface="Roboto"/>
                <a:sym typeface="Roboto"/>
              </a:rPr>
              <a:t> to get its tuple from the </a:t>
            </a:r>
            <a:r>
              <a:rPr lang="en" sz="1200" b="1" i="1" dirty="0">
                <a:solidFill>
                  <a:srgbClr val="FF0000"/>
                </a:solidFill>
                <a:latin typeface="Roboto"/>
                <a:ea typeface="Roboto"/>
                <a:cs typeface="Roboto"/>
                <a:sym typeface="Roboto"/>
              </a:rPr>
              <a:t>map</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created in step 1.</a:t>
            </a:r>
            <a:endParaRPr sz="1200" dirty="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dirty="0">
                <a:solidFill>
                  <a:schemeClr val="dk2"/>
                </a:solidFill>
                <a:latin typeface="Roboto"/>
                <a:ea typeface="Roboto"/>
                <a:cs typeface="Roboto"/>
                <a:sym typeface="Roboto"/>
              </a:rPr>
              <a:t>It </a:t>
            </a:r>
            <a:r>
              <a:rPr lang="en" sz="1200" b="1" i="1" dirty="0">
                <a:solidFill>
                  <a:srgbClr val="FF0000"/>
                </a:solidFill>
                <a:latin typeface="Roboto"/>
                <a:ea typeface="Roboto"/>
                <a:cs typeface="Roboto"/>
                <a:sym typeface="Roboto"/>
              </a:rPr>
              <a:t>updates</a:t>
            </a:r>
            <a:r>
              <a:rPr lang="en" sz="1200" dirty="0">
                <a:solidFill>
                  <a:srgbClr val="FF0000"/>
                </a:solidFill>
                <a:latin typeface="Roboto"/>
                <a:ea typeface="Roboto"/>
                <a:cs typeface="Roboto"/>
                <a:sym typeface="Roboto"/>
              </a:rPr>
              <a:t> </a:t>
            </a:r>
            <a:r>
              <a:rPr lang="en" sz="1200" dirty="0">
                <a:solidFill>
                  <a:schemeClr val="dk2"/>
                </a:solidFill>
                <a:latin typeface="Roboto"/>
                <a:ea typeface="Roboto"/>
                <a:cs typeface="Roboto"/>
                <a:sym typeface="Roboto"/>
              </a:rPr>
              <a:t>the tuple with</a:t>
            </a:r>
            <a:r>
              <a:rPr lang="en" sz="1200" dirty="0">
                <a:solidFill>
                  <a:srgbClr val="FF0000"/>
                </a:solidFill>
                <a:latin typeface="Roboto"/>
                <a:ea typeface="Roboto"/>
                <a:cs typeface="Roboto"/>
                <a:sym typeface="Roboto"/>
              </a:rPr>
              <a:t> </a:t>
            </a:r>
            <a:r>
              <a:rPr lang="en" sz="1200" b="1" i="1" dirty="0">
                <a:solidFill>
                  <a:srgbClr val="FF0000"/>
                </a:solidFill>
                <a:latin typeface="Roboto"/>
                <a:ea typeface="Roboto"/>
                <a:cs typeface="Roboto"/>
                <a:sym typeface="Roboto"/>
              </a:rPr>
              <a:t>V</a:t>
            </a:r>
            <a:r>
              <a:rPr lang="en" sz="1200" dirty="0">
                <a:solidFill>
                  <a:schemeClr val="dk2"/>
                </a:solidFill>
                <a:latin typeface="Roboto"/>
                <a:ea typeface="Roboto"/>
                <a:cs typeface="Roboto"/>
                <a:sym typeface="Roboto"/>
              </a:rPr>
              <a:t> and </a:t>
            </a:r>
            <a:r>
              <a:rPr lang="en" sz="1200" b="1" i="1" dirty="0">
                <a:solidFill>
                  <a:srgbClr val="FF0000"/>
                </a:solidFill>
                <a:latin typeface="Roboto"/>
                <a:ea typeface="Roboto"/>
                <a:cs typeface="Roboto"/>
                <a:sym typeface="Roboto"/>
              </a:rPr>
              <a:t>DV</a:t>
            </a:r>
            <a:r>
              <a:rPr lang="en" sz="1200" dirty="0">
                <a:solidFill>
                  <a:schemeClr val="dk2"/>
                </a:solidFill>
                <a:latin typeface="Roboto"/>
                <a:ea typeface="Roboto"/>
                <a:cs typeface="Roboto"/>
                <a:sym typeface="Roboto"/>
              </a:rPr>
              <a:t>. Remember, the update will be ignored if the new distance is not less than the current distance.</a:t>
            </a:r>
            <a:endParaRPr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7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358" name="Google Shape;1358;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graphicFrame>
        <p:nvGraphicFramePr>
          <p:cNvPr id="1359" name="Google Shape;1359;p72"/>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360" name="Google Shape;1360;p72"/>
          <p:cNvGrpSpPr/>
          <p:nvPr/>
        </p:nvGrpSpPr>
        <p:grpSpPr>
          <a:xfrm>
            <a:off x="6244267" y="1458389"/>
            <a:ext cx="2587178" cy="2330671"/>
            <a:chOff x="338125" y="1610890"/>
            <a:chExt cx="3334852" cy="3004217"/>
          </a:xfrm>
        </p:grpSpPr>
        <p:sp>
          <p:nvSpPr>
            <p:cNvPr id="1361" name="Google Shape;1361;p72"/>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362" name="Google Shape;1362;p72"/>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363" name="Google Shape;1363;p72"/>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364" name="Google Shape;1364;p72"/>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365" name="Google Shape;1365;p72"/>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366" name="Google Shape;1366;p72"/>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367" name="Google Shape;1367;p72"/>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368" name="Google Shape;1368;p72"/>
            <p:cNvCxnSpPr>
              <a:stCxn id="1361" idx="3"/>
              <a:endCxn id="1363"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369" name="Google Shape;1369;p72"/>
            <p:cNvCxnSpPr>
              <a:stCxn id="1361" idx="6"/>
              <a:endCxn id="1364"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370" name="Google Shape;1370;p72"/>
            <p:cNvCxnSpPr>
              <a:stCxn id="1361" idx="5"/>
              <a:endCxn id="1362"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371" name="Google Shape;1371;p72"/>
            <p:cNvCxnSpPr>
              <a:stCxn id="1362" idx="6"/>
              <a:endCxn id="1366"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372" name="Google Shape;1372;p72"/>
            <p:cNvCxnSpPr>
              <a:stCxn id="1366" idx="4"/>
              <a:endCxn id="1365"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373" name="Google Shape;1373;p72"/>
            <p:cNvCxnSpPr>
              <a:stCxn id="1362" idx="3"/>
              <a:endCxn id="1367"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374" name="Google Shape;1374;p72"/>
            <p:cNvCxnSpPr>
              <a:stCxn id="1367" idx="6"/>
              <a:endCxn id="1365"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375" name="Google Shape;1375;p72"/>
            <p:cNvCxnSpPr>
              <a:stCxn id="1363" idx="6"/>
              <a:endCxn id="1362"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376" name="Google Shape;1376;p72"/>
            <p:cNvCxnSpPr>
              <a:stCxn id="1364" idx="5"/>
              <a:endCxn id="1366"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377" name="Google Shape;1377;p7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78" name="Google Shape;1378;p7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79" name="Google Shape;1379;p7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0" name="Google Shape;1380;p7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81" name="Google Shape;1381;p7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82" name="Google Shape;1382;p7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3" name="Google Shape;1383;p7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4" name="Google Shape;1384;p7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85" name="Google Shape;1385;p7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86" name="Google Shape;1386;p72"/>
            <p:cNvCxnSpPr>
              <a:stCxn id="1363" idx="5"/>
              <a:endCxn id="1367"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387" name="Google Shape;1387;p7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88" name="Google Shape;1388;p72"/>
          <p:cNvSpPr txBox="1">
            <a:spLocks noGrp="1"/>
          </p:cNvSpPr>
          <p:nvPr>
            <p:ph type="body" idx="4294967295"/>
          </p:nvPr>
        </p:nvSpPr>
        <p:spPr>
          <a:xfrm>
            <a:off x="110821" y="13664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If there are any vertices left in the priority queue, you can </a:t>
            </a:r>
            <a:r>
              <a:rPr lang="en" sz="1200" b="1" i="1" dirty="0">
                <a:solidFill>
                  <a:srgbClr val="FF0000"/>
                </a:solidFill>
                <a:latin typeface="Arial"/>
                <a:ea typeface="Arial"/>
                <a:cs typeface="Arial"/>
                <a:sym typeface="Arial"/>
              </a:rPr>
              <a:t>forget them</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(they are unreachable from the start).</a:t>
            </a:r>
            <a:endParaRPr sz="1200" dirty="0">
              <a:solidFill>
                <a:srgbClr val="000000"/>
              </a:solidFill>
              <a:latin typeface="Arial"/>
              <a:ea typeface="Arial"/>
              <a:cs typeface="Arial"/>
              <a:sym typeface="Arial"/>
            </a:endParaRPr>
          </a:p>
        </p:txBody>
      </p:sp>
      <p:grpSp>
        <p:nvGrpSpPr>
          <p:cNvPr id="1389" name="Google Shape;1389;p72"/>
          <p:cNvGrpSpPr/>
          <p:nvPr/>
        </p:nvGrpSpPr>
        <p:grpSpPr>
          <a:xfrm>
            <a:off x="3197475" y="4071628"/>
            <a:ext cx="2863200" cy="985200"/>
            <a:chOff x="3197475" y="4071628"/>
            <a:chExt cx="2863200" cy="985200"/>
          </a:xfrm>
        </p:grpSpPr>
        <p:sp>
          <p:nvSpPr>
            <p:cNvPr id="1390" name="Google Shape;1390;p72"/>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391" name="Google Shape;1391;p72"/>
            <p:cNvSpPr txBox="1"/>
            <p:nvPr/>
          </p:nvSpPr>
          <p:spPr>
            <a:xfrm>
              <a:off x="3285660" y="43531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92" name="Google Shape;1392;p72"/>
            <p:cNvSpPr txBox="1"/>
            <p:nvPr/>
          </p:nvSpPr>
          <p:spPr>
            <a:xfrm>
              <a:off x="4733460" y="4581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93" name="Google Shape;1393;p72"/>
            <p:cNvSpPr txBox="1"/>
            <p:nvPr/>
          </p:nvSpPr>
          <p:spPr>
            <a:xfrm>
              <a:off x="43524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grpSp>
      <p:grpSp>
        <p:nvGrpSpPr>
          <p:cNvPr id="1394" name="Google Shape;1394;p72"/>
          <p:cNvGrpSpPr/>
          <p:nvPr/>
        </p:nvGrpSpPr>
        <p:grpSpPr>
          <a:xfrm>
            <a:off x="6838242" y="3825466"/>
            <a:ext cx="1259100" cy="1030500"/>
            <a:chOff x="6838242" y="3825466"/>
            <a:chExt cx="1259100" cy="1030500"/>
          </a:xfrm>
        </p:grpSpPr>
        <p:sp>
          <p:nvSpPr>
            <p:cNvPr id="1395" name="Google Shape;1395;p72"/>
            <p:cNvSpPr/>
            <p:nvPr/>
          </p:nvSpPr>
          <p:spPr>
            <a:xfrm>
              <a:off x="6838242" y="43588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X</a:t>
              </a:r>
              <a:endParaRPr/>
            </a:p>
          </p:txBody>
        </p:sp>
        <p:sp>
          <p:nvSpPr>
            <p:cNvPr id="1396" name="Google Shape;1396;p72"/>
            <p:cNvSpPr/>
            <p:nvPr/>
          </p:nvSpPr>
          <p:spPr>
            <a:xfrm>
              <a:off x="7676442" y="44350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Y</a:t>
              </a:r>
              <a:endParaRPr/>
            </a:p>
          </p:txBody>
        </p:sp>
        <p:sp>
          <p:nvSpPr>
            <p:cNvPr id="1397" name="Google Shape;1397;p72"/>
            <p:cNvSpPr/>
            <p:nvPr/>
          </p:nvSpPr>
          <p:spPr>
            <a:xfrm>
              <a:off x="7371642" y="38254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Z</a:t>
              </a:r>
              <a:endParaRPr/>
            </a:p>
          </p:txBody>
        </p:sp>
        <p:cxnSp>
          <p:nvCxnSpPr>
            <p:cNvPr id="1398" name="Google Shape;1398;p72"/>
            <p:cNvCxnSpPr>
              <a:stCxn id="1395" idx="7"/>
              <a:endCxn id="1397" idx="3"/>
            </p:cNvCxnSpPr>
            <p:nvPr/>
          </p:nvCxnSpPr>
          <p:spPr>
            <a:xfrm rot="10800000" flipH="1">
              <a:off x="7197502" y="4184706"/>
              <a:ext cx="235800" cy="235800"/>
            </a:xfrm>
            <a:prstGeom prst="straightConnector1">
              <a:avLst/>
            </a:prstGeom>
            <a:noFill/>
            <a:ln w="19050" cap="flat" cmpd="sng">
              <a:solidFill>
                <a:srgbClr val="000000"/>
              </a:solidFill>
              <a:prstDash val="solid"/>
              <a:round/>
              <a:headEnd type="none" w="med" len="med"/>
              <a:tailEnd type="none" w="med" len="med"/>
            </a:ln>
          </p:spPr>
        </p:cxnSp>
        <p:cxnSp>
          <p:nvCxnSpPr>
            <p:cNvPr id="1399" name="Google Shape;1399;p72"/>
            <p:cNvCxnSpPr>
              <a:stCxn id="1397" idx="5"/>
              <a:endCxn id="1396" idx="0"/>
            </p:cNvCxnSpPr>
            <p:nvPr/>
          </p:nvCxnSpPr>
          <p:spPr>
            <a:xfrm>
              <a:off x="7730902" y="4184727"/>
              <a:ext cx="156000" cy="250200"/>
            </a:xfrm>
            <a:prstGeom prst="straightConnector1">
              <a:avLst/>
            </a:prstGeom>
            <a:noFill/>
            <a:ln w="19050" cap="flat" cmpd="sng">
              <a:solidFill>
                <a:srgbClr val="000000"/>
              </a:solidFill>
              <a:prstDash val="solid"/>
              <a:round/>
              <a:headEnd type="none" w="med" len="med"/>
              <a:tailEnd type="none" w="med" len="med"/>
            </a:ln>
          </p:spPr>
        </p:cxnSp>
        <p:cxnSp>
          <p:nvCxnSpPr>
            <p:cNvPr id="1400" name="Google Shape;1400;p72"/>
            <p:cNvCxnSpPr>
              <a:stCxn id="1395" idx="6"/>
              <a:endCxn id="1396" idx="2"/>
            </p:cNvCxnSpPr>
            <p:nvPr/>
          </p:nvCxnSpPr>
          <p:spPr>
            <a:xfrm>
              <a:off x="7259142" y="4569316"/>
              <a:ext cx="417300" cy="76200"/>
            </a:xfrm>
            <a:prstGeom prst="straightConnector1">
              <a:avLst/>
            </a:prstGeom>
            <a:noFill/>
            <a:ln w="19050" cap="flat" cmpd="sng">
              <a:solidFill>
                <a:srgbClr val="000000"/>
              </a:solidFill>
              <a:prstDash val="solid"/>
              <a:round/>
              <a:headEnd type="none" w="med" len="med"/>
              <a:tailEnd type="none" w="med" len="med"/>
            </a:ln>
          </p:spPr>
        </p:cxnSp>
        <p:sp>
          <p:nvSpPr>
            <p:cNvPr id="1401" name="Google Shape;1401;p72"/>
            <p:cNvSpPr txBox="1"/>
            <p:nvPr/>
          </p:nvSpPr>
          <p:spPr>
            <a:xfrm>
              <a:off x="7063236" y="40359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02" name="Google Shape;1402;p72"/>
            <p:cNvSpPr txBox="1"/>
            <p:nvPr/>
          </p:nvSpPr>
          <p:spPr>
            <a:xfrm>
              <a:off x="7291836" y="45693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03" name="Google Shape;1403;p72"/>
            <p:cNvSpPr txBox="1"/>
            <p:nvPr/>
          </p:nvSpPr>
          <p:spPr>
            <a:xfrm>
              <a:off x="7783978" y="414022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8"/>
                                        </p:tgtEl>
                                        <p:attrNameLst>
                                          <p:attrName>style.visibility</p:attrName>
                                        </p:attrNameLst>
                                      </p:cBhvr>
                                      <p:to>
                                        <p:strVal val="visible"/>
                                      </p:to>
                                    </p:set>
                                    <p:animEffect transition="in" filter="fade">
                                      <p:cBhvr>
                                        <p:cTn id="7" dur="1000"/>
                                        <p:tgtEl>
                                          <p:spTgt spid="1388"/>
                                        </p:tgtEl>
                                      </p:cBhvr>
                                    </p:animEffect>
                                  </p:childTnLst>
                                </p:cTn>
                              </p:par>
                            </p:childTnLst>
                          </p:cTn>
                        </p:par>
                        <p:par>
                          <p:cTn id="8" fill="hold">
                            <p:stCondLst>
                              <p:cond delay="1000"/>
                            </p:stCondLst>
                            <p:childTnLst>
                              <p:par>
                                <p:cTn id="9" presetID="10" presetClass="exit" presetSubtype="0" fill="hold" nodeType="afterEffect">
                                  <p:stCondLst>
                                    <p:cond delay="0"/>
                                  </p:stCondLst>
                                  <p:childTnLst>
                                    <p:animEffect transition="out" filter="fade">
                                      <p:cBhvr>
                                        <p:cTn id="10" dur="1000"/>
                                        <p:tgtEl>
                                          <p:spTgt spid="1389"/>
                                        </p:tgtEl>
                                      </p:cBhvr>
                                    </p:animEffect>
                                    <p:set>
                                      <p:cBhvr>
                                        <p:cTn id="11" dur="1" fill="hold">
                                          <p:stCondLst>
                                            <p:cond delay="1000"/>
                                          </p:stCondLst>
                                        </p:cTn>
                                        <p:tgtEl>
                                          <p:spTgt spid="1389"/>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1000"/>
                                        <p:tgtEl>
                                          <p:spTgt spid="1394"/>
                                        </p:tgtEl>
                                      </p:cBhvr>
                                    </p:animEffect>
                                    <p:set>
                                      <p:cBhvr>
                                        <p:cTn id="14" dur="1" fill="hold">
                                          <p:stCondLst>
                                            <p:cond delay="1000"/>
                                          </p:stCondLst>
                                        </p:cTn>
                                        <p:tgtEl>
                                          <p:spTgt spid="13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7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409" name="Google Shape;1409;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graphicFrame>
        <p:nvGraphicFramePr>
          <p:cNvPr id="1410" name="Google Shape;1410;p73"/>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411" name="Google Shape;1411;p73"/>
          <p:cNvGrpSpPr/>
          <p:nvPr/>
        </p:nvGrpSpPr>
        <p:grpSpPr>
          <a:xfrm>
            <a:off x="6244267" y="1458389"/>
            <a:ext cx="2587178" cy="2330671"/>
            <a:chOff x="338125" y="1610890"/>
            <a:chExt cx="3334852" cy="3004217"/>
          </a:xfrm>
        </p:grpSpPr>
        <p:sp>
          <p:nvSpPr>
            <p:cNvPr id="1412" name="Google Shape;1412;p7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413" name="Google Shape;1413;p7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414" name="Google Shape;1414;p7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415" name="Google Shape;1415;p7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416" name="Google Shape;1416;p7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417" name="Google Shape;1417;p7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418" name="Google Shape;1418;p7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419" name="Google Shape;1419;p73"/>
            <p:cNvCxnSpPr>
              <a:stCxn id="1412" idx="3"/>
              <a:endCxn id="141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420" name="Google Shape;1420;p73"/>
            <p:cNvCxnSpPr>
              <a:stCxn id="1412" idx="6"/>
              <a:endCxn id="141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421" name="Google Shape;1421;p73"/>
            <p:cNvCxnSpPr>
              <a:stCxn id="1412" idx="5"/>
              <a:endCxn id="141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422" name="Google Shape;1422;p73"/>
            <p:cNvCxnSpPr>
              <a:stCxn id="1413" idx="6"/>
              <a:endCxn id="141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423" name="Google Shape;1423;p73"/>
            <p:cNvCxnSpPr>
              <a:stCxn id="1417" idx="4"/>
              <a:endCxn id="141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424" name="Google Shape;1424;p73"/>
            <p:cNvCxnSpPr>
              <a:stCxn id="1413" idx="3"/>
              <a:endCxn id="141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425" name="Google Shape;1425;p73"/>
            <p:cNvCxnSpPr>
              <a:stCxn id="1418" idx="6"/>
              <a:endCxn id="141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426" name="Google Shape;1426;p73"/>
            <p:cNvCxnSpPr>
              <a:stCxn id="1414" idx="6"/>
              <a:endCxn id="141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427" name="Google Shape;1427;p73"/>
            <p:cNvCxnSpPr>
              <a:stCxn id="1415" idx="5"/>
              <a:endCxn id="141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428" name="Google Shape;1428;p7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29" name="Google Shape;1429;p7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30" name="Google Shape;1430;p7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1" name="Google Shape;1431;p7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32" name="Google Shape;1432;p7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33" name="Google Shape;1433;p7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4" name="Google Shape;1434;p7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5" name="Google Shape;1435;p7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36" name="Google Shape;1436;p7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37" name="Google Shape;1437;p73"/>
            <p:cNvCxnSpPr>
              <a:stCxn id="1414" idx="5"/>
              <a:endCxn id="141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438" name="Google Shape;1438;p7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39" name="Google Shape;1439;p73"/>
          <p:cNvSpPr txBox="1">
            <a:spLocks noGrp="1"/>
          </p:cNvSpPr>
          <p:nvPr>
            <p:ph type="body" idx="4294967295"/>
          </p:nvPr>
        </p:nvSpPr>
        <p:spPr>
          <a:xfrm>
            <a:off x="110821" y="1352697"/>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Building a path from the start vertex to </a:t>
            </a:r>
            <a:r>
              <a:rPr lang="en" sz="1200" b="1" i="1" dirty="0">
                <a:solidFill>
                  <a:srgbClr val="FF0000"/>
                </a:solidFill>
                <a:latin typeface="Arial"/>
                <a:ea typeface="Arial"/>
                <a:cs typeface="Arial"/>
                <a:sym typeface="Arial"/>
              </a:rPr>
              <a:t>any reachable vertex</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works a lot like it does in BFS.</a:t>
            </a:r>
            <a:endParaRPr sz="1200" dirty="0">
              <a:solidFill>
                <a:srgbClr val="000000"/>
              </a:solidFill>
              <a:latin typeface="Arial"/>
              <a:ea typeface="Arial"/>
              <a:cs typeface="Arial"/>
              <a:sym typeface="Arial"/>
            </a:endParaRPr>
          </a:p>
        </p:txBody>
      </p:sp>
      <p:sp>
        <p:nvSpPr>
          <p:cNvPr id="1440" name="Google Shape;1440;p73"/>
          <p:cNvSpPr txBox="1">
            <a:spLocks noGrp="1"/>
          </p:cNvSpPr>
          <p:nvPr>
            <p:ph type="body" idx="4294967295"/>
          </p:nvPr>
        </p:nvSpPr>
        <p:spPr>
          <a:xfrm>
            <a:off x="110821" y="2190897"/>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Start by using the </a:t>
            </a:r>
            <a:r>
              <a:rPr lang="en" sz="1200" b="1" i="1">
                <a:solidFill>
                  <a:srgbClr val="FF0000"/>
                </a:solidFill>
                <a:latin typeface="Arial"/>
                <a:ea typeface="Arial"/>
                <a:cs typeface="Arial"/>
                <a:sym typeface="Arial"/>
              </a:rPr>
              <a:t>end vertex</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t>
            </a:r>
            <a:r>
              <a:rPr lang="en" sz="1200" b="1" i="1">
                <a:solidFill>
                  <a:srgbClr val="FF0000"/>
                </a:solidFill>
                <a:latin typeface="Arial"/>
                <a:ea typeface="Arial"/>
                <a:cs typeface="Arial"/>
                <a:sym typeface="Arial"/>
              </a:rPr>
              <a:t>E</a:t>
            </a:r>
            <a:r>
              <a:rPr lang="en" sz="1200">
                <a:solidFill>
                  <a:srgbClr val="000000"/>
                </a:solidFill>
                <a:latin typeface="Arial"/>
                <a:ea typeface="Arial"/>
                <a:cs typeface="Arial"/>
                <a:sym typeface="Arial"/>
              </a:rPr>
              <a:t>) to retrieve its </a:t>
            </a:r>
            <a:r>
              <a:rPr lang="en" sz="1200" b="1" i="1">
                <a:solidFill>
                  <a:srgbClr val="FF0000"/>
                </a:solidFill>
                <a:latin typeface="Arial"/>
                <a:ea typeface="Arial"/>
                <a:cs typeface="Arial"/>
                <a:sym typeface="Arial"/>
              </a:rPr>
              <a:t>path tuple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from the </a:t>
            </a:r>
            <a:r>
              <a:rPr lang="en" sz="1200" b="1" i="1">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1441" name="Google Shape;1441;p73"/>
          <p:cNvGraphicFramePr/>
          <p:nvPr/>
        </p:nvGraphicFramePr>
        <p:xfrm>
          <a:off x="3197475" y="4189725"/>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42" name="Google Shape;1442;p73"/>
          <p:cNvSpPr txBox="1">
            <a:spLocks noGrp="1"/>
          </p:cNvSpPr>
          <p:nvPr>
            <p:ph type="body" idx="4294967295"/>
          </p:nvPr>
        </p:nvSpPr>
        <p:spPr>
          <a:xfrm>
            <a:off x="110821" y="2841728"/>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000000"/>
                </a:solidFill>
                <a:latin typeface="Arial"/>
                <a:ea typeface="Arial"/>
                <a:cs typeface="Arial"/>
                <a:sym typeface="Arial"/>
              </a:rPr>
              <a:t>If the distance in the path tuple is </a:t>
            </a:r>
            <a:r>
              <a:rPr lang="en" sz="1200" b="1" i="1" dirty="0">
                <a:solidFill>
                  <a:srgbClr val="FF0000"/>
                </a:solidFill>
                <a:latin typeface="Arial"/>
                <a:ea typeface="Arial"/>
                <a:cs typeface="Arial"/>
                <a:sym typeface="Arial"/>
              </a:rPr>
              <a:t>infinity</a:t>
            </a:r>
            <a:r>
              <a:rPr lang="en" sz="1200" dirty="0">
                <a:solidFill>
                  <a:srgbClr val="000000"/>
                </a:solidFill>
                <a:latin typeface="Arial"/>
                <a:ea typeface="Arial"/>
                <a:cs typeface="Arial"/>
                <a:sym typeface="Arial"/>
              </a:rPr>
              <a:t>, then </a:t>
            </a:r>
            <a:r>
              <a:rPr lang="en" sz="1200" b="1" i="1" dirty="0">
                <a:solidFill>
                  <a:srgbClr val="FF0000"/>
                </a:solidFill>
                <a:latin typeface="Arial"/>
                <a:ea typeface="Arial"/>
                <a:cs typeface="Arial"/>
                <a:sym typeface="Arial"/>
              </a:rPr>
              <a:t>there is no path</a:t>
            </a:r>
            <a:r>
              <a:rPr lang="en" sz="1200" dirty="0">
                <a:solidFill>
                  <a:srgbClr val="000000"/>
                </a:solidFill>
                <a:latin typeface="Arial"/>
                <a:ea typeface="Arial"/>
                <a:cs typeface="Arial"/>
                <a:sym typeface="Arial"/>
              </a:rPr>
              <a:t> from start. </a:t>
            </a:r>
            <a:r>
              <a:rPr lang="en" sz="1200" b="1" i="1" dirty="0">
                <a:solidFill>
                  <a:srgbClr val="FF0000"/>
                </a:solidFill>
                <a:latin typeface="Arial"/>
                <a:ea typeface="Arial"/>
                <a:cs typeface="Arial"/>
                <a:sym typeface="Arial"/>
              </a:rPr>
              <a:t>Return </a:t>
            </a:r>
            <a:r>
              <a:rPr lang="en" sz="1200" dirty="0">
                <a:solidFill>
                  <a:srgbClr val="FF0000"/>
                </a:solidFill>
                <a:latin typeface="Courier New"/>
                <a:ea typeface="Courier New"/>
                <a:cs typeface="Courier New"/>
                <a:sym typeface="Courier New"/>
              </a:rPr>
              <a:t>null</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
        <p:nvSpPr>
          <p:cNvPr id="1443" name="Google Shape;1443;p73"/>
          <p:cNvSpPr txBox="1"/>
          <p:nvPr/>
        </p:nvSpPr>
        <p:spPr>
          <a:xfrm>
            <a:off x="4737854" y="4652075"/>
            <a:ext cx="1313400" cy="369300"/>
          </a:xfrm>
          <a:prstGeom prst="rect">
            <a:avLst/>
          </a:prstGeom>
          <a:noFill/>
          <a:ln>
            <a:noFill/>
          </a:ln>
        </p:spPr>
        <p:txBody>
          <a:bodyPr spcFirstLastPara="1" wrap="square" lIns="91425" tIns="91425" rIns="91425" bIns="91425" anchor="ctr" anchorCtr="0">
            <a:spAutoFit/>
          </a:bodyPr>
          <a:lstStyle/>
          <a:p>
            <a:pPr marL="0" lvl="0" indent="0" algn="r" rtl="0">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cxnSp>
        <p:nvCxnSpPr>
          <p:cNvPr id="1444" name="Google Shape;1444;p73"/>
          <p:cNvCxnSpPr/>
          <p:nvPr/>
        </p:nvCxnSpPr>
        <p:spPr>
          <a:xfrm>
            <a:off x="3781525" y="31858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45" name="Google Shape;1445;p73"/>
          <p:cNvSpPr txBox="1">
            <a:spLocks noGrp="1"/>
          </p:cNvSpPr>
          <p:nvPr>
            <p:ph type="body" idx="4294967295"/>
          </p:nvPr>
        </p:nvSpPr>
        <p:spPr>
          <a:xfrm>
            <a:off x="110821" y="3679928"/>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Otherwise,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create a path</a:t>
            </a:r>
            <a:r>
              <a:rPr lang="en" sz="1200">
                <a:solidFill>
                  <a:srgbClr val="000000"/>
                </a:solidFill>
                <a:latin typeface="Arial"/>
                <a:ea typeface="Arial"/>
                <a:cs typeface="Arial"/>
                <a:sym typeface="Arial"/>
              </a:rPr>
              <a:t> with the vertex's </a:t>
            </a:r>
            <a:r>
              <a:rPr lang="en" sz="1200" b="1" i="1">
                <a:solidFill>
                  <a:srgbClr val="FF0000"/>
                </a:solidFill>
                <a:latin typeface="Arial"/>
                <a:ea typeface="Arial"/>
                <a:cs typeface="Arial"/>
                <a:sym typeface="Arial"/>
              </a:rPr>
              <a:t>value </a:t>
            </a:r>
            <a:r>
              <a:rPr lang="en" sz="1200">
                <a:solidFill>
                  <a:srgbClr val="000000"/>
                </a:solidFill>
                <a:latin typeface="Arial"/>
                <a:ea typeface="Arial"/>
                <a:cs typeface="Arial"/>
                <a:sym typeface="Arial"/>
              </a:rPr>
              <a:t>and </a:t>
            </a:r>
            <a:r>
              <a:rPr lang="en" sz="1200" b="1" i="1">
                <a:solidFill>
                  <a:srgbClr val="FF0000"/>
                </a:solidFill>
                <a:latin typeface="Arial"/>
                <a:ea typeface="Arial"/>
                <a:cs typeface="Arial"/>
                <a:sym typeface="Arial"/>
              </a:rPr>
              <a:t>distance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46" name="Google Shape;1446;p73"/>
          <p:cNvSpPr txBox="1"/>
          <p:nvPr/>
        </p:nvSpPr>
        <p:spPr>
          <a:xfrm>
            <a:off x="5377350"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9"/>
                                        </p:tgtEl>
                                        <p:attrNameLst>
                                          <p:attrName>style.visibility</p:attrName>
                                        </p:attrNameLst>
                                      </p:cBhvr>
                                      <p:to>
                                        <p:strVal val="visible"/>
                                      </p:to>
                                    </p:set>
                                    <p:animEffect transition="in" filter="fade">
                                      <p:cBhvr>
                                        <p:cTn id="7" dur="1000"/>
                                        <p:tgtEl>
                                          <p:spTgt spid="14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0"/>
                                        </p:tgtEl>
                                        <p:attrNameLst>
                                          <p:attrName>style.visibility</p:attrName>
                                        </p:attrNameLst>
                                      </p:cBhvr>
                                      <p:to>
                                        <p:strVal val="visible"/>
                                      </p:to>
                                    </p:set>
                                    <p:animEffect transition="in" filter="fade">
                                      <p:cBhvr>
                                        <p:cTn id="12" dur="1000"/>
                                        <p:tgtEl>
                                          <p:spTgt spid="1440"/>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444"/>
                                        </p:tgtEl>
                                        <p:attrNameLst>
                                          <p:attrName>style.visibility</p:attrName>
                                        </p:attrNameLst>
                                      </p:cBhvr>
                                      <p:to>
                                        <p:strVal val="visible"/>
                                      </p:to>
                                    </p:set>
                                    <p:animEffect transition="in" filter="fade">
                                      <p:cBhvr>
                                        <p:cTn id="16" dur="1000"/>
                                        <p:tgtEl>
                                          <p:spTgt spid="144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42"/>
                                        </p:tgtEl>
                                        <p:attrNameLst>
                                          <p:attrName>style.visibility</p:attrName>
                                        </p:attrNameLst>
                                      </p:cBhvr>
                                      <p:to>
                                        <p:strVal val="visible"/>
                                      </p:to>
                                    </p:set>
                                    <p:animEffect transition="in" filter="fade">
                                      <p:cBhvr>
                                        <p:cTn id="21" dur="1000"/>
                                        <p:tgtEl>
                                          <p:spTgt spid="14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45"/>
                                        </p:tgtEl>
                                        <p:attrNameLst>
                                          <p:attrName>style.visibility</p:attrName>
                                        </p:attrNameLst>
                                      </p:cBhvr>
                                      <p:to>
                                        <p:strVal val="visible"/>
                                      </p:to>
                                    </p:set>
                                    <p:animEffect transition="in" filter="fade">
                                      <p:cBhvr>
                                        <p:cTn id="26" dur="1000"/>
                                        <p:tgtEl>
                                          <p:spTgt spid="144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441"/>
                                        </p:tgtEl>
                                        <p:attrNameLst>
                                          <p:attrName>style.visibility</p:attrName>
                                        </p:attrNameLst>
                                      </p:cBhvr>
                                      <p:to>
                                        <p:strVal val="visible"/>
                                      </p:to>
                                    </p:set>
                                    <p:animEffect transition="in" filter="fade">
                                      <p:cBhvr>
                                        <p:cTn id="30" dur="1000"/>
                                        <p:tgtEl>
                                          <p:spTgt spid="1441"/>
                                        </p:tgtEl>
                                      </p:cBhvr>
                                    </p:animEffect>
                                  </p:childTnLst>
                                </p:cTn>
                              </p:par>
                              <p:par>
                                <p:cTn id="31" presetID="10" presetClass="entr" presetSubtype="0" fill="hold" nodeType="withEffect">
                                  <p:stCondLst>
                                    <p:cond delay="0"/>
                                  </p:stCondLst>
                                  <p:childTnLst>
                                    <p:set>
                                      <p:cBhvr>
                                        <p:cTn id="32" dur="1" fill="hold">
                                          <p:stCondLst>
                                            <p:cond delay="0"/>
                                          </p:stCondLst>
                                        </p:cTn>
                                        <p:tgtEl>
                                          <p:spTgt spid="1446"/>
                                        </p:tgtEl>
                                        <p:attrNameLst>
                                          <p:attrName>style.visibility</p:attrName>
                                        </p:attrNameLst>
                                      </p:cBhvr>
                                      <p:to>
                                        <p:strVal val="visible"/>
                                      </p:to>
                                    </p:set>
                                    <p:animEffect transition="in" filter="fade">
                                      <p:cBhvr>
                                        <p:cTn id="33" dur="1000"/>
                                        <p:tgtEl>
                                          <p:spTgt spid="144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443"/>
                                        </p:tgtEl>
                                        <p:attrNameLst>
                                          <p:attrName>style.visibility</p:attrName>
                                        </p:attrNameLst>
                                      </p:cBhvr>
                                      <p:to>
                                        <p:strVal val="visible"/>
                                      </p:to>
                                    </p:set>
                                    <p:animEffect transition="in" filter="fade">
                                      <p:cBhvr>
                                        <p:cTn id="37" dur="1000"/>
                                        <p:tgtEl>
                                          <p:spTgt spid="1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50"/>
        <p:cNvGrpSpPr/>
        <p:nvPr/>
      </p:nvGrpSpPr>
      <p:grpSpPr>
        <a:xfrm>
          <a:off x="0" y="0"/>
          <a:ext cx="0" cy="0"/>
          <a:chOff x="0" y="0"/>
          <a:chExt cx="0" cy="0"/>
        </a:xfrm>
      </p:grpSpPr>
      <p:sp>
        <p:nvSpPr>
          <p:cNvPr id="1451" name="Google Shape;1451;p7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452" name="Google Shape;1452;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graphicFrame>
        <p:nvGraphicFramePr>
          <p:cNvPr id="1453" name="Google Shape;1453;p74"/>
          <p:cNvGraphicFramePr/>
          <p:nvPr/>
        </p:nvGraphicFramePr>
        <p:xfrm>
          <a:off x="3197475" y="1338125"/>
          <a:ext cx="2863200" cy="2682000"/>
        </p:xfrm>
        <a:graphic>
          <a:graphicData uri="http://schemas.openxmlformats.org/drawingml/2006/table">
            <a:tbl>
              <a:tblPr>
                <a:noFill/>
                <a:tableStyleId>{89CCAE03-A2B2-4379-B0C2-E101A7E113D6}</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454" name="Google Shape;1454;p74"/>
          <p:cNvGrpSpPr/>
          <p:nvPr/>
        </p:nvGrpSpPr>
        <p:grpSpPr>
          <a:xfrm>
            <a:off x="6244267" y="1458389"/>
            <a:ext cx="2587178" cy="2330671"/>
            <a:chOff x="338125" y="1610890"/>
            <a:chExt cx="3334852" cy="3004217"/>
          </a:xfrm>
        </p:grpSpPr>
        <p:sp>
          <p:nvSpPr>
            <p:cNvPr id="1455" name="Google Shape;1455;p74"/>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456" name="Google Shape;1456;p74"/>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457" name="Google Shape;1457;p74"/>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458" name="Google Shape;1458;p74"/>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459" name="Google Shape;1459;p74"/>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460" name="Google Shape;1460;p74"/>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461" name="Google Shape;1461;p74"/>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462" name="Google Shape;1462;p74"/>
            <p:cNvCxnSpPr>
              <a:stCxn id="1455" idx="3"/>
              <a:endCxn id="1457"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463" name="Google Shape;1463;p74"/>
            <p:cNvCxnSpPr>
              <a:stCxn id="1455" idx="6"/>
              <a:endCxn id="1458"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464" name="Google Shape;1464;p74"/>
            <p:cNvCxnSpPr>
              <a:stCxn id="1455" idx="5"/>
              <a:endCxn id="1456"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465" name="Google Shape;1465;p74"/>
            <p:cNvCxnSpPr>
              <a:stCxn id="1456" idx="6"/>
              <a:endCxn id="1460"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466" name="Google Shape;1466;p74"/>
            <p:cNvCxnSpPr>
              <a:stCxn id="1460" idx="4"/>
              <a:endCxn id="1459"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467" name="Google Shape;1467;p74"/>
            <p:cNvCxnSpPr>
              <a:stCxn id="1456" idx="3"/>
              <a:endCxn id="1461"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468" name="Google Shape;1468;p74"/>
            <p:cNvCxnSpPr>
              <a:stCxn id="1461" idx="6"/>
              <a:endCxn id="1459"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469" name="Google Shape;1469;p74"/>
            <p:cNvCxnSpPr>
              <a:stCxn id="1457" idx="6"/>
              <a:endCxn id="1456"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470" name="Google Shape;1470;p74"/>
            <p:cNvCxnSpPr>
              <a:stCxn id="1458" idx="5"/>
              <a:endCxn id="1460"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471" name="Google Shape;1471;p74"/>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72" name="Google Shape;1472;p74"/>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73" name="Google Shape;1473;p74"/>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4" name="Google Shape;1474;p74"/>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75" name="Google Shape;1475;p74"/>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76" name="Google Shape;1476;p74"/>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7" name="Google Shape;1477;p74"/>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8" name="Google Shape;1478;p74"/>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79" name="Google Shape;1479;p74"/>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80" name="Google Shape;1480;p74"/>
            <p:cNvCxnSpPr>
              <a:stCxn id="1457" idx="5"/>
              <a:endCxn id="1461"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481" name="Google Shape;1481;p74"/>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82" name="Google Shape;1482;p74"/>
          <p:cNvSpPr txBox="1">
            <a:spLocks noGrp="1"/>
          </p:cNvSpPr>
          <p:nvPr>
            <p:ph type="body" idx="4294967295"/>
          </p:nvPr>
        </p:nvSpPr>
        <p:spPr>
          <a:xfrm>
            <a:off x="110821" y="1366450"/>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Now, we will build the path </a:t>
            </a:r>
            <a:r>
              <a:rPr lang="en" sz="1200" b="1" i="1">
                <a:solidFill>
                  <a:srgbClr val="FF0000"/>
                </a:solidFill>
                <a:latin typeface="Arial"/>
                <a:ea typeface="Arial"/>
                <a:cs typeface="Arial"/>
                <a:sym typeface="Arial"/>
              </a:rPr>
              <a:t>backward</a:t>
            </a:r>
            <a:r>
              <a:rPr lang="en" sz="1200">
                <a:solidFill>
                  <a:srgbClr val="000000"/>
                </a:solidFill>
                <a:latin typeface="Arial"/>
                <a:ea typeface="Arial"/>
                <a:cs typeface="Arial"/>
                <a:sym typeface="Arial"/>
              </a:rPr>
              <a:t>, just like the BF Path algorithm does.</a:t>
            </a:r>
            <a:endParaRPr sz="1200">
              <a:solidFill>
                <a:srgbClr val="000000"/>
              </a:solidFill>
              <a:latin typeface="Arial"/>
              <a:ea typeface="Arial"/>
              <a:cs typeface="Arial"/>
              <a:sym typeface="Arial"/>
            </a:endParaRPr>
          </a:p>
        </p:txBody>
      </p:sp>
      <p:graphicFrame>
        <p:nvGraphicFramePr>
          <p:cNvPr id="1483" name="Google Shape;1483;p74"/>
          <p:cNvGraphicFramePr/>
          <p:nvPr/>
        </p:nvGraphicFramePr>
        <p:xfrm>
          <a:off x="3197475" y="4189725"/>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84" name="Google Shape;1484;p74"/>
          <p:cNvSpPr txBox="1"/>
          <p:nvPr/>
        </p:nvSpPr>
        <p:spPr>
          <a:xfrm>
            <a:off x="5377350"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cxnSp>
        <p:nvCxnSpPr>
          <p:cNvPr id="1485" name="Google Shape;1485;p74"/>
          <p:cNvCxnSpPr/>
          <p:nvPr/>
        </p:nvCxnSpPr>
        <p:spPr>
          <a:xfrm>
            <a:off x="3781525" y="31858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86" name="Google Shape;1486;p74"/>
          <p:cNvSpPr txBox="1">
            <a:spLocks noGrp="1"/>
          </p:cNvSpPr>
          <p:nvPr>
            <p:ph type="body" idx="4294967295"/>
          </p:nvPr>
        </p:nvSpPr>
        <p:spPr>
          <a:xfrm>
            <a:off x="110821" y="1996679"/>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the end vertex's </a:t>
            </a:r>
            <a:r>
              <a:rPr lang="en" sz="1200" b="1" i="1">
                <a:solidFill>
                  <a:srgbClr val="FF0000"/>
                </a:solidFill>
                <a:latin typeface="Arial"/>
                <a:ea typeface="Arial"/>
                <a:cs typeface="Arial"/>
                <a:sym typeface="Arial"/>
              </a:rPr>
              <a:t>predecessor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(get it from the tuple).</a:t>
            </a:r>
            <a:endParaRPr sz="1200">
              <a:solidFill>
                <a:srgbClr val="000000"/>
              </a:solidFill>
              <a:latin typeface="Arial"/>
              <a:ea typeface="Arial"/>
              <a:cs typeface="Arial"/>
              <a:sym typeface="Arial"/>
            </a:endParaRPr>
          </a:p>
        </p:txBody>
      </p:sp>
      <p:cxnSp>
        <p:nvCxnSpPr>
          <p:cNvPr id="1487" name="Google Shape;1487;p74"/>
          <p:cNvCxnSpPr/>
          <p:nvPr/>
        </p:nvCxnSpPr>
        <p:spPr>
          <a:xfrm>
            <a:off x="3781525" y="38716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88" name="Google Shape;1488;p74"/>
          <p:cNvSpPr txBox="1"/>
          <p:nvPr/>
        </p:nvSpPr>
        <p:spPr>
          <a:xfrm>
            <a:off x="4649732"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G</a:t>
            </a:r>
            <a:endParaRPr sz="2200">
              <a:solidFill>
                <a:srgbClr val="4A86E8"/>
              </a:solidFill>
              <a:latin typeface="Consolas"/>
              <a:ea typeface="Consolas"/>
              <a:cs typeface="Consolas"/>
              <a:sym typeface="Consolas"/>
            </a:endParaRPr>
          </a:p>
        </p:txBody>
      </p:sp>
      <p:sp>
        <p:nvSpPr>
          <p:cNvPr id="1489" name="Google Shape;1489;p74"/>
          <p:cNvSpPr txBox="1">
            <a:spLocks noGrp="1"/>
          </p:cNvSpPr>
          <p:nvPr>
            <p:ph type="body" idx="4294967295"/>
          </p:nvPr>
        </p:nvSpPr>
        <p:spPr>
          <a:xfrm>
            <a:off x="110821" y="2633748"/>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a:solidFill>
                  <a:srgbClr val="FF0000"/>
                </a:solidFill>
                <a:latin typeface="Arial"/>
                <a:ea typeface="Arial"/>
                <a:cs typeface="Arial"/>
                <a:sym typeface="Arial"/>
              </a:rPr>
              <a:t>Loop</a:t>
            </a:r>
            <a:r>
              <a:rPr lang="en" sz="1200">
                <a:solidFill>
                  <a:srgbClr val="000000"/>
                </a:solidFill>
                <a:latin typeface="Arial"/>
                <a:ea typeface="Arial"/>
                <a:cs typeface="Arial"/>
                <a:sym typeface="Arial"/>
              </a:rPr>
              <a:t> as long as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is</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not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add its </a:t>
            </a:r>
            <a:r>
              <a:rPr lang="en" sz="1200" b="1" i="1">
                <a:solidFill>
                  <a:srgbClr val="FF0000"/>
                </a:solidFill>
                <a:latin typeface="Arial"/>
                <a:ea typeface="Arial"/>
                <a:cs typeface="Arial"/>
                <a:sym typeface="Arial"/>
              </a:rPr>
              <a:t>value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path.</a:t>
            </a:r>
            <a:endParaRPr sz="1200">
              <a:solidFill>
                <a:srgbClr val="000000"/>
              </a:solidFill>
              <a:latin typeface="Arial"/>
              <a:ea typeface="Arial"/>
              <a:cs typeface="Arial"/>
              <a:sym typeface="Arial"/>
            </a:endParaRPr>
          </a:p>
        </p:txBody>
      </p:sp>
      <p:sp>
        <p:nvSpPr>
          <p:cNvPr id="1490" name="Google Shape;1490;p74"/>
          <p:cNvSpPr txBox="1">
            <a:spLocks noGrp="1"/>
          </p:cNvSpPr>
          <p:nvPr>
            <p:ph type="body" idx="4294967295"/>
          </p:nvPr>
        </p:nvSpPr>
        <p:spPr>
          <a:xfrm>
            <a:off x="110821" y="3278381"/>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Then get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tuple from the </a:t>
            </a:r>
            <a:r>
              <a:rPr lang="en" sz="1200" b="1" i="1">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 and set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a:t>
            </a:r>
            <a:r>
              <a:rPr lang="en" sz="1200" b="1" i="1">
                <a:solidFill>
                  <a:srgbClr val="FF0000"/>
                </a:solidFill>
                <a:latin typeface="Arial"/>
                <a:ea typeface="Arial"/>
                <a:cs typeface="Arial"/>
                <a:sym typeface="Arial"/>
              </a:rPr>
              <a:t>its own predecessor</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cxnSp>
        <p:nvCxnSpPr>
          <p:cNvPr id="1491" name="Google Shape;1491;p74"/>
          <p:cNvCxnSpPr/>
          <p:nvPr/>
        </p:nvCxnSpPr>
        <p:spPr>
          <a:xfrm>
            <a:off x="3781525" y="2535024"/>
            <a:ext cx="976500" cy="0"/>
          </a:xfrm>
          <a:prstGeom prst="straightConnector1">
            <a:avLst/>
          </a:prstGeom>
          <a:noFill/>
          <a:ln w="28575" cap="flat" cmpd="sng">
            <a:solidFill>
              <a:srgbClr val="FF0000"/>
            </a:solidFill>
            <a:prstDash val="solid"/>
            <a:round/>
            <a:headEnd type="none" w="med" len="med"/>
            <a:tailEnd type="triangle" w="med" len="med"/>
          </a:ln>
        </p:spPr>
      </p:cxnSp>
      <p:cxnSp>
        <p:nvCxnSpPr>
          <p:cNvPr id="1492" name="Google Shape;1492;p74"/>
          <p:cNvCxnSpPr/>
          <p:nvPr/>
        </p:nvCxnSpPr>
        <p:spPr>
          <a:xfrm>
            <a:off x="3781525" y="1849224"/>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93" name="Google Shape;1493;p74"/>
          <p:cNvSpPr/>
          <p:nvPr/>
        </p:nvSpPr>
        <p:spPr>
          <a:xfrm>
            <a:off x="4751657" y="1691872"/>
            <a:ext cx="548700" cy="2910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74"/>
          <p:cNvSpPr txBox="1"/>
          <p:nvPr/>
        </p:nvSpPr>
        <p:spPr>
          <a:xfrm>
            <a:off x="3935866"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C</a:t>
            </a:r>
            <a:endParaRPr sz="2200">
              <a:solidFill>
                <a:srgbClr val="4A86E8"/>
              </a:solidFill>
              <a:latin typeface="Consolas"/>
              <a:ea typeface="Consolas"/>
              <a:cs typeface="Consolas"/>
              <a:sym typeface="Consolas"/>
            </a:endParaRPr>
          </a:p>
        </p:txBody>
      </p:sp>
      <p:sp>
        <p:nvSpPr>
          <p:cNvPr id="1495" name="Google Shape;1495;p74"/>
          <p:cNvSpPr txBox="1"/>
          <p:nvPr/>
        </p:nvSpPr>
        <p:spPr>
          <a:xfrm>
            <a:off x="3229437"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A</a:t>
            </a:r>
            <a:endParaRPr sz="2200">
              <a:solidFill>
                <a:srgbClr val="4A86E8"/>
              </a:solidFill>
              <a:latin typeface="Consolas"/>
              <a:ea typeface="Consolas"/>
              <a:cs typeface="Consolas"/>
              <a:sym typeface="Consolas"/>
            </a:endParaRPr>
          </a:p>
        </p:txBody>
      </p:sp>
      <p:sp>
        <p:nvSpPr>
          <p:cNvPr id="1496" name="Google Shape;1496;p74"/>
          <p:cNvSpPr txBox="1">
            <a:spLocks noGrp="1"/>
          </p:cNvSpPr>
          <p:nvPr>
            <p:ph type="body" idx="4294967295"/>
          </p:nvPr>
        </p:nvSpPr>
        <p:spPr>
          <a:xfrm>
            <a:off x="110821" y="3916111"/>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should </a:t>
            </a:r>
            <a:r>
              <a:rPr lang="en" sz="1200" b="1" i="1">
                <a:solidFill>
                  <a:srgbClr val="FF0000"/>
                </a:solidFill>
                <a:latin typeface="Arial"/>
                <a:ea typeface="Arial"/>
                <a:cs typeface="Arial"/>
                <a:sym typeface="Arial"/>
              </a:rPr>
              <a:t>stop </a:t>
            </a:r>
            <a:r>
              <a:rPr lang="en" sz="1200">
                <a:solidFill>
                  <a:srgbClr val="000000"/>
                </a:solidFill>
                <a:latin typeface="Arial"/>
                <a:ea typeface="Arial"/>
                <a:cs typeface="Arial"/>
                <a:sym typeface="Arial"/>
              </a:rPr>
              <a:t>when you reach a </a:t>
            </a:r>
            <a:r>
              <a:rPr lang="en" sz="1200">
                <a:solidFill>
                  <a:srgbClr val="FF0000"/>
                </a:solidFill>
                <a:latin typeface="Courier New"/>
                <a:ea typeface="Courier New"/>
                <a:cs typeface="Courier New"/>
                <a:sym typeface="Courier New"/>
              </a:rPr>
              <a:t>null</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predecessor</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return</a:t>
            </a:r>
            <a:r>
              <a:rPr lang="en" sz="1200">
                <a:solidFill>
                  <a:srgbClr val="000000"/>
                </a:solidFill>
                <a:latin typeface="Arial"/>
                <a:ea typeface="Arial"/>
                <a:cs typeface="Arial"/>
                <a:sym typeface="Arial"/>
              </a:rPr>
              <a:t> the path.</a:t>
            </a:r>
            <a:endParaRPr sz="1200">
              <a:solidFill>
                <a:srgbClr val="000000"/>
              </a:solidFill>
              <a:latin typeface="Arial"/>
              <a:ea typeface="Arial"/>
              <a:cs typeface="Arial"/>
              <a:sym typeface="Arial"/>
            </a:endParaRPr>
          </a:p>
        </p:txBody>
      </p:sp>
      <p:sp>
        <p:nvSpPr>
          <p:cNvPr id="1497" name="Google Shape;1497;p74"/>
          <p:cNvSpPr txBox="1"/>
          <p:nvPr/>
        </p:nvSpPr>
        <p:spPr>
          <a:xfrm>
            <a:off x="4737854" y="4652075"/>
            <a:ext cx="1313400" cy="369300"/>
          </a:xfrm>
          <a:prstGeom prst="rect">
            <a:avLst/>
          </a:prstGeom>
          <a:noFill/>
          <a:ln>
            <a:noFill/>
          </a:ln>
        </p:spPr>
        <p:txBody>
          <a:bodyPr spcFirstLastPara="1" wrap="square" lIns="91425" tIns="91425" rIns="91425" bIns="91425" anchor="ctr" anchorCtr="0">
            <a:spAutoFit/>
          </a:bodyPr>
          <a:lstStyle/>
          <a:p>
            <a:pPr marL="0" lvl="0" indent="0" algn="r" rtl="0">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2"/>
                                        </p:tgtEl>
                                        <p:attrNameLst>
                                          <p:attrName>style.visibility</p:attrName>
                                        </p:attrNameLst>
                                      </p:cBhvr>
                                      <p:to>
                                        <p:strVal val="visible"/>
                                      </p:to>
                                    </p:set>
                                    <p:animEffect transition="in" filter="fade">
                                      <p:cBhvr>
                                        <p:cTn id="7" dur="1000"/>
                                        <p:tgtEl>
                                          <p:spTgt spid="1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6"/>
                                        </p:tgtEl>
                                        <p:attrNameLst>
                                          <p:attrName>style.visibility</p:attrName>
                                        </p:attrNameLst>
                                      </p:cBhvr>
                                      <p:to>
                                        <p:strVal val="visible"/>
                                      </p:to>
                                    </p:set>
                                    <p:animEffect transition="in" filter="fade">
                                      <p:cBhvr>
                                        <p:cTn id="12" dur="1000"/>
                                        <p:tgtEl>
                                          <p:spTgt spid="14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9"/>
                                        </p:tgtEl>
                                        <p:attrNameLst>
                                          <p:attrName>style.visibility</p:attrName>
                                        </p:attrNameLst>
                                      </p:cBhvr>
                                      <p:to>
                                        <p:strVal val="visible"/>
                                      </p:to>
                                    </p:set>
                                    <p:animEffect transition="in" filter="fade">
                                      <p:cBhvr>
                                        <p:cTn id="17" dur="1000"/>
                                        <p:tgtEl>
                                          <p:spTgt spid="1489"/>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488"/>
                                        </p:tgtEl>
                                        <p:attrNameLst>
                                          <p:attrName>style.visibility</p:attrName>
                                        </p:attrNameLst>
                                      </p:cBhvr>
                                      <p:to>
                                        <p:strVal val="visible"/>
                                      </p:to>
                                    </p:set>
                                    <p:animEffect transition="in" filter="fade">
                                      <p:cBhvr>
                                        <p:cTn id="21" dur="1000"/>
                                        <p:tgtEl>
                                          <p:spTgt spid="148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90"/>
                                        </p:tgtEl>
                                        <p:attrNameLst>
                                          <p:attrName>style.visibility</p:attrName>
                                        </p:attrNameLst>
                                      </p:cBhvr>
                                      <p:to>
                                        <p:strVal val="visible"/>
                                      </p:to>
                                    </p:set>
                                    <p:animEffect transition="in" filter="fade">
                                      <p:cBhvr>
                                        <p:cTn id="26" dur="1000"/>
                                        <p:tgtEl>
                                          <p:spTgt spid="1490"/>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487"/>
                                        </p:tgtEl>
                                        <p:attrNameLst>
                                          <p:attrName>style.visibility</p:attrName>
                                        </p:attrNameLst>
                                      </p:cBhvr>
                                      <p:to>
                                        <p:strVal val="visible"/>
                                      </p:to>
                                    </p:set>
                                    <p:animEffect transition="in" filter="fade">
                                      <p:cBhvr>
                                        <p:cTn id="30" dur="1000"/>
                                        <p:tgtEl>
                                          <p:spTgt spid="148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94"/>
                                        </p:tgtEl>
                                        <p:attrNameLst>
                                          <p:attrName>style.visibility</p:attrName>
                                        </p:attrNameLst>
                                      </p:cBhvr>
                                      <p:to>
                                        <p:strVal val="visible"/>
                                      </p:to>
                                    </p:set>
                                    <p:animEffect transition="in" filter="fade">
                                      <p:cBhvr>
                                        <p:cTn id="35" dur="1000"/>
                                        <p:tgtEl>
                                          <p:spTgt spid="1494"/>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491"/>
                                        </p:tgtEl>
                                        <p:attrNameLst>
                                          <p:attrName>style.visibility</p:attrName>
                                        </p:attrNameLst>
                                      </p:cBhvr>
                                      <p:to>
                                        <p:strVal val="visible"/>
                                      </p:to>
                                    </p:set>
                                    <p:animEffect transition="in" filter="fade">
                                      <p:cBhvr>
                                        <p:cTn id="39" dur="1000"/>
                                        <p:tgtEl>
                                          <p:spTgt spid="149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495"/>
                                        </p:tgtEl>
                                        <p:attrNameLst>
                                          <p:attrName>style.visibility</p:attrName>
                                        </p:attrNameLst>
                                      </p:cBhvr>
                                      <p:to>
                                        <p:strVal val="visible"/>
                                      </p:to>
                                    </p:set>
                                    <p:animEffect transition="in" filter="fade">
                                      <p:cBhvr>
                                        <p:cTn id="44" dur="1000"/>
                                        <p:tgtEl>
                                          <p:spTgt spid="149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496"/>
                                        </p:tgtEl>
                                        <p:attrNameLst>
                                          <p:attrName>style.visibility</p:attrName>
                                        </p:attrNameLst>
                                      </p:cBhvr>
                                      <p:to>
                                        <p:strVal val="visible"/>
                                      </p:to>
                                    </p:set>
                                    <p:animEffect transition="in" filter="fade">
                                      <p:cBhvr>
                                        <p:cTn id="49" dur="1000"/>
                                        <p:tgtEl>
                                          <p:spTgt spid="1496"/>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1492"/>
                                        </p:tgtEl>
                                        <p:attrNameLst>
                                          <p:attrName>style.visibility</p:attrName>
                                        </p:attrNameLst>
                                      </p:cBhvr>
                                      <p:to>
                                        <p:strVal val="visible"/>
                                      </p:to>
                                    </p:set>
                                    <p:animEffect transition="in" filter="fade">
                                      <p:cBhvr>
                                        <p:cTn id="53" dur="1000"/>
                                        <p:tgtEl>
                                          <p:spTgt spid="1492"/>
                                        </p:tgtEl>
                                      </p:cBhvr>
                                    </p:animEffect>
                                  </p:childTnLst>
                                </p:cTn>
                              </p:par>
                            </p:childTnLst>
                          </p:cTn>
                        </p:par>
                        <p:par>
                          <p:cTn id="54" fill="hold">
                            <p:stCondLst>
                              <p:cond delay="2000"/>
                            </p:stCondLst>
                            <p:childTnLst>
                              <p:par>
                                <p:cTn id="55" presetID="10" presetClass="entr" presetSubtype="0" fill="hold" nodeType="afterEffect">
                                  <p:stCondLst>
                                    <p:cond delay="0"/>
                                  </p:stCondLst>
                                  <p:childTnLst>
                                    <p:set>
                                      <p:cBhvr>
                                        <p:cTn id="56" dur="1" fill="hold">
                                          <p:stCondLst>
                                            <p:cond delay="0"/>
                                          </p:stCondLst>
                                        </p:cTn>
                                        <p:tgtEl>
                                          <p:spTgt spid="1493"/>
                                        </p:tgtEl>
                                        <p:attrNameLst>
                                          <p:attrName>style.visibility</p:attrName>
                                        </p:attrNameLst>
                                      </p:cBhvr>
                                      <p:to>
                                        <p:strVal val="visible"/>
                                      </p:to>
                                    </p:set>
                                    <p:animEffect transition="in" filter="fade">
                                      <p:cBhvr>
                                        <p:cTn id="57" dur="1000"/>
                                        <p:tgtEl>
                                          <p:spTgt spid="1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p7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3: Build the Path</a:t>
            </a:r>
            <a:endParaRPr/>
          </a:p>
        </p:txBody>
      </p:sp>
      <p:sp>
        <p:nvSpPr>
          <p:cNvPr id="1503" name="Google Shape;1503;p7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final step of Dijkstra's Shortest Path algorithm is to build the weighted path using the path tuples stored in the map. Let's examine that now.</a:t>
            </a:r>
            <a:endParaRPr/>
          </a:p>
        </p:txBody>
      </p:sp>
      <p:sp>
        <p:nvSpPr>
          <p:cNvPr id="1504" name="Google Shape;1504;p75"/>
          <p:cNvSpPr txBox="1">
            <a:spLocks noGrp="1"/>
          </p:cNvSpPr>
          <p:nvPr>
            <p:ph type="sldNum" idx="12"/>
          </p:nvPr>
        </p:nvSpPr>
        <p:spPr>
          <a:xfrm>
            <a:off x="31858" y="470976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57</a:t>
            </a:fld>
            <a:endParaRPr/>
          </a:p>
        </p:txBody>
      </p:sp>
      <p:sp>
        <p:nvSpPr>
          <p:cNvPr id="1505" name="Google Shape;1505;p7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13.20</a:t>
            </a:r>
            <a:endParaRPr/>
          </a:p>
        </p:txBody>
      </p:sp>
      <p:pic>
        <p:nvPicPr>
          <p:cNvPr id="1506" name="Google Shape;1506;p75"/>
          <p:cNvPicPr preferRelativeResize="0"/>
          <p:nvPr/>
        </p:nvPicPr>
        <p:blipFill rotWithShape="1">
          <a:blip r:embed="rId3">
            <a:alphaModFix/>
          </a:blip>
          <a:srcRect r="18100"/>
          <a:stretch/>
        </p:blipFill>
        <p:spPr>
          <a:xfrm>
            <a:off x="217725" y="1616200"/>
            <a:ext cx="2941900" cy="2155200"/>
          </a:xfrm>
          <a:prstGeom prst="rect">
            <a:avLst/>
          </a:prstGeom>
          <a:noFill/>
          <a:ln w="19050" cap="flat" cmpd="sng">
            <a:solidFill>
              <a:schemeClr val="dk2"/>
            </a:solidFill>
            <a:prstDash val="solid"/>
            <a:round/>
            <a:headEnd type="none" w="sm" len="sm"/>
            <a:tailEnd type="none" w="sm" len="sm"/>
          </a:ln>
        </p:spPr>
      </p:pic>
      <p:sp>
        <p:nvSpPr>
          <p:cNvPr id="1507" name="Google Shape;1507;p75"/>
          <p:cNvSpPr txBox="1">
            <a:spLocks noGrp="1"/>
          </p:cNvSpPr>
          <p:nvPr>
            <p:ph type="body" idx="2"/>
          </p:nvPr>
        </p:nvSpPr>
        <p:spPr>
          <a:xfrm>
            <a:off x="3218025" y="1479725"/>
            <a:ext cx="5646900" cy="3570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WAdjacencyGraph</a:t>
            </a:r>
            <a:r>
              <a:rPr lang="en"/>
              <a:t> class, navigate to the </a:t>
            </a:r>
            <a:r>
              <a:rPr lang="en">
                <a:latin typeface="Courier New"/>
                <a:ea typeface="Courier New"/>
                <a:cs typeface="Courier New"/>
                <a:sym typeface="Courier New"/>
              </a:rPr>
              <a:t>diskstrasPath</a:t>
            </a:r>
            <a:r>
              <a:rPr lang="en"/>
              <a:t> method, and examine </a:t>
            </a:r>
            <a:r>
              <a:rPr lang="en" b="1" i="1">
                <a:solidFill>
                  <a:srgbClr val="FF0000"/>
                </a:solidFill>
              </a:rPr>
              <a:t>step 3: build the path</a:t>
            </a:r>
            <a:r>
              <a:rPr lang="en"/>
              <a:t>.</a:t>
            </a:r>
            <a:endParaRPr/>
          </a:p>
          <a:p>
            <a:pPr marL="914400" lvl="1" indent="-298450" algn="l" rtl="0">
              <a:spcBef>
                <a:spcPts val="0"/>
              </a:spcBef>
              <a:spcAft>
                <a:spcPts val="0"/>
              </a:spcAft>
              <a:buSzPts val="1100"/>
              <a:buChar char="○"/>
            </a:pPr>
            <a:r>
              <a:rPr lang="en"/>
              <a:t>It uses the </a:t>
            </a:r>
            <a:r>
              <a:rPr lang="en" b="1" i="1">
                <a:solidFill>
                  <a:srgbClr val="FF0000"/>
                </a:solidFill>
              </a:rPr>
              <a:t>end vertex</a:t>
            </a:r>
            <a:r>
              <a:rPr lang="en" i="1">
                <a:solidFill>
                  <a:srgbClr val="FF0000"/>
                </a:solidFill>
              </a:rPr>
              <a:t> </a:t>
            </a:r>
            <a:r>
              <a:rPr lang="en"/>
              <a:t>to retrieve its </a:t>
            </a:r>
            <a:r>
              <a:rPr lang="en">
                <a:solidFill>
                  <a:srgbClr val="FF0000"/>
                </a:solidFill>
                <a:latin typeface="Courier New"/>
                <a:ea typeface="Courier New"/>
                <a:cs typeface="Courier New"/>
                <a:sym typeface="Courier New"/>
              </a:rPr>
              <a:t>PathTuple</a:t>
            </a:r>
            <a:r>
              <a:rPr lang="en">
                <a:solidFill>
                  <a:srgbClr val="FF0000"/>
                </a:solidFill>
              </a:rPr>
              <a:t> </a:t>
            </a:r>
            <a:r>
              <a:rPr lang="en"/>
              <a:t>from the </a:t>
            </a:r>
            <a:r>
              <a:rPr lang="en" b="1" i="1">
                <a:solidFill>
                  <a:srgbClr val="FF0000"/>
                </a:solidFill>
              </a:rPr>
              <a:t>map</a:t>
            </a:r>
            <a:r>
              <a:rPr lang="en">
                <a:solidFill>
                  <a:srgbClr val="FF0000"/>
                </a:solidFill>
              </a:rPr>
              <a:t> </a:t>
            </a:r>
            <a:r>
              <a:rPr lang="en"/>
              <a:t>created in step 1 and save the </a:t>
            </a:r>
            <a:r>
              <a:rPr lang="en">
                <a:solidFill>
                  <a:srgbClr val="FF0000"/>
                </a:solidFill>
                <a:latin typeface="Courier New"/>
                <a:ea typeface="Courier New"/>
                <a:cs typeface="Courier New"/>
                <a:sym typeface="Courier New"/>
              </a:rPr>
              <a:t>distance</a:t>
            </a:r>
            <a:r>
              <a:rPr lang="en">
                <a:solidFill>
                  <a:srgbClr val="FF0000"/>
                </a:solidFill>
              </a:rPr>
              <a:t> </a:t>
            </a:r>
            <a:r>
              <a:rPr lang="en"/>
              <a:t>in a temporary variable.</a:t>
            </a:r>
            <a:endParaRPr/>
          </a:p>
          <a:p>
            <a:pPr marL="914400" lvl="1" indent="-298450" algn="l" rtl="0">
              <a:spcBef>
                <a:spcPts val="0"/>
              </a:spcBef>
              <a:spcAft>
                <a:spcPts val="0"/>
              </a:spcAft>
              <a:buSzPts val="1100"/>
              <a:buChar char="○"/>
            </a:pPr>
            <a:r>
              <a:rPr lang="en"/>
              <a:t>If the </a:t>
            </a:r>
            <a:r>
              <a:rPr lang="en">
                <a:latin typeface="Courier New"/>
                <a:ea typeface="Courier New"/>
                <a:cs typeface="Courier New"/>
                <a:sym typeface="Courier New"/>
              </a:rPr>
              <a:t>distance</a:t>
            </a:r>
            <a:r>
              <a:rPr lang="en"/>
              <a:t> in the tuple is </a:t>
            </a:r>
            <a:r>
              <a:rPr lang="en" b="1" i="1">
                <a:solidFill>
                  <a:srgbClr val="FF0000"/>
                </a:solidFill>
              </a:rPr>
              <a:t>infinity </a:t>
            </a:r>
            <a:r>
              <a:rPr lang="en"/>
              <a:t>(</a:t>
            </a:r>
            <a:r>
              <a:rPr lang="en">
                <a:solidFill>
                  <a:srgbClr val="FF0000"/>
                </a:solidFill>
                <a:latin typeface="Courier New"/>
                <a:ea typeface="Courier New"/>
                <a:cs typeface="Courier New"/>
                <a:sym typeface="Courier New"/>
              </a:rPr>
              <a:t>Double.POSITIVE_INFINITY</a:t>
            </a:r>
            <a:r>
              <a:rPr lang="en"/>
              <a:t>), there is no path. The algorithm </a:t>
            </a:r>
            <a:r>
              <a:rPr lang="en" b="1" i="1">
                <a:solidFill>
                  <a:srgbClr val="FF0000"/>
                </a:solidFill>
              </a:rPr>
              <a:t>returns </a:t>
            </a:r>
            <a:r>
              <a:rPr lang="en">
                <a:solidFill>
                  <a:srgbClr val="FF0000"/>
                </a:solidFill>
                <a:latin typeface="Courier New"/>
                <a:ea typeface="Courier New"/>
                <a:cs typeface="Courier New"/>
                <a:sym typeface="Courier New"/>
              </a:rPr>
              <a:t>null</a:t>
            </a:r>
            <a:r>
              <a:rPr lang="en"/>
              <a:t>.</a:t>
            </a:r>
            <a:endParaRPr/>
          </a:p>
          <a:p>
            <a:pPr marL="914400" lvl="1" indent="-298450" algn="l" rtl="0">
              <a:spcBef>
                <a:spcPts val="0"/>
              </a:spcBef>
              <a:spcAft>
                <a:spcPts val="0"/>
              </a:spcAft>
              <a:buSzPts val="1100"/>
              <a:buChar char="○"/>
            </a:pPr>
            <a:r>
              <a:rPr lang="en"/>
              <a:t>Otherwise, it </a:t>
            </a:r>
            <a:r>
              <a:rPr lang="en" b="1" i="1">
                <a:solidFill>
                  <a:srgbClr val="FF0000"/>
                </a:solidFill>
              </a:rPr>
              <a:t>creates a new</a:t>
            </a:r>
            <a:r>
              <a:rPr lang="en">
                <a:solidFill>
                  <a:srgbClr val="FF0000"/>
                </a:solidFill>
              </a:rPr>
              <a:t> </a:t>
            </a:r>
            <a:r>
              <a:rPr lang="en">
                <a:solidFill>
                  <a:srgbClr val="FF0000"/>
                </a:solidFill>
                <a:latin typeface="Courier New"/>
                <a:ea typeface="Courier New"/>
                <a:cs typeface="Courier New"/>
                <a:sym typeface="Courier New"/>
              </a:rPr>
              <a:t>WPath</a:t>
            </a:r>
            <a:r>
              <a:rPr lang="en"/>
              <a:t> with the end vertex's </a:t>
            </a:r>
            <a:r>
              <a:rPr lang="en" b="1" i="1">
                <a:solidFill>
                  <a:srgbClr val="FF0000"/>
                </a:solidFill>
              </a:rPr>
              <a:t>value</a:t>
            </a:r>
            <a:r>
              <a:rPr lang="en">
                <a:solidFill>
                  <a:srgbClr val="FF0000"/>
                </a:solidFill>
              </a:rPr>
              <a:t> </a:t>
            </a:r>
            <a:r>
              <a:rPr lang="en">
                <a:solidFill>
                  <a:srgbClr val="666666"/>
                </a:solidFill>
              </a:rPr>
              <a:t>and </a:t>
            </a:r>
            <a:r>
              <a:rPr lang="en" b="1" i="1">
                <a:solidFill>
                  <a:srgbClr val="FF0000"/>
                </a:solidFill>
              </a:rPr>
              <a:t>distance</a:t>
            </a:r>
            <a:r>
              <a:rPr lang="en"/>
              <a:t>. Remember that this is the </a:t>
            </a:r>
            <a:r>
              <a:rPr lang="en" i="1"/>
              <a:t>total distance from start</a:t>
            </a:r>
            <a:r>
              <a:rPr lang="en"/>
              <a:t>, so there is no need to add any additional distance later.</a:t>
            </a:r>
            <a:endParaRPr/>
          </a:p>
          <a:p>
            <a:pPr marL="914400" lvl="1" indent="-298450" algn="l" rtl="0">
              <a:spcBef>
                <a:spcPts val="0"/>
              </a:spcBef>
              <a:spcAft>
                <a:spcPts val="0"/>
              </a:spcAft>
              <a:buSzPts val="1100"/>
              <a:buChar char="○"/>
            </a:pPr>
            <a:r>
              <a:rPr lang="en"/>
              <a:t>Let</a:t>
            </a:r>
            <a:r>
              <a:rPr lang="en">
                <a:solidFill>
                  <a:srgbClr val="FF0000"/>
                </a:solidFill>
              </a:rPr>
              <a:t> </a:t>
            </a:r>
            <a:r>
              <a:rPr lang="en" b="1" i="1">
                <a:solidFill>
                  <a:srgbClr val="FF0000"/>
                </a:solidFill>
              </a:rPr>
              <a:t>V</a:t>
            </a:r>
            <a:r>
              <a:rPr lang="en"/>
              <a:t> be the end vertex's </a:t>
            </a:r>
            <a:r>
              <a:rPr lang="en" b="1" i="1">
                <a:solidFill>
                  <a:srgbClr val="FF0000"/>
                </a:solidFill>
              </a:rPr>
              <a:t>predecessor</a:t>
            </a:r>
            <a:r>
              <a:rPr lang="en">
                <a:solidFill>
                  <a:srgbClr val="FF0000"/>
                </a:solidFill>
              </a:rPr>
              <a:t> </a:t>
            </a:r>
            <a:r>
              <a:rPr lang="en"/>
              <a:t>(get it from the tuple).</a:t>
            </a:r>
            <a:endParaRPr/>
          </a:p>
          <a:p>
            <a:pPr marL="914400" lvl="1" indent="-298450" algn="l" rtl="0">
              <a:spcBef>
                <a:spcPts val="0"/>
              </a:spcBef>
              <a:spcAft>
                <a:spcPts val="0"/>
              </a:spcAft>
              <a:buSzPts val="1100"/>
              <a:buChar char="○"/>
            </a:pPr>
            <a:r>
              <a:rPr lang="en"/>
              <a:t>As long as </a:t>
            </a:r>
            <a:r>
              <a:rPr lang="en" b="1" i="1">
                <a:solidFill>
                  <a:srgbClr val="FF0000"/>
                </a:solidFill>
              </a:rPr>
              <a:t>V</a:t>
            </a:r>
            <a:r>
              <a:rPr lang="en">
                <a:solidFill>
                  <a:srgbClr val="FF0000"/>
                </a:solidFill>
              </a:rPr>
              <a:t> </a:t>
            </a:r>
            <a:r>
              <a:rPr lang="en" b="1" i="1">
                <a:solidFill>
                  <a:srgbClr val="FF0000"/>
                </a:solidFill>
              </a:rPr>
              <a:t>is not</a:t>
            </a:r>
            <a:r>
              <a:rPr lang="en">
                <a:solidFill>
                  <a:srgbClr val="FF0000"/>
                </a:solidFill>
              </a:rPr>
              <a:t> </a:t>
            </a:r>
            <a:r>
              <a:rPr lang="en">
                <a:solidFill>
                  <a:srgbClr val="FF0000"/>
                </a:solidFill>
                <a:latin typeface="Courier New"/>
                <a:ea typeface="Courier New"/>
                <a:cs typeface="Courier New"/>
                <a:sym typeface="Courier New"/>
              </a:rPr>
              <a:t>null</a:t>
            </a:r>
            <a:r>
              <a:rPr lang="en"/>
              <a:t>:</a:t>
            </a:r>
            <a:endParaRPr/>
          </a:p>
          <a:p>
            <a:pPr marL="1371600" lvl="2" indent="-298450" algn="l" rtl="0">
              <a:spcBef>
                <a:spcPts val="0"/>
              </a:spcBef>
              <a:spcAft>
                <a:spcPts val="0"/>
              </a:spcAft>
              <a:buSzPts val="1100"/>
              <a:buChar char="■"/>
            </a:pPr>
            <a:r>
              <a:rPr lang="en"/>
              <a:t>It adds </a:t>
            </a:r>
            <a:r>
              <a:rPr lang="en" b="1" i="1">
                <a:solidFill>
                  <a:srgbClr val="FF0000"/>
                </a:solidFill>
              </a:rPr>
              <a:t>V</a:t>
            </a:r>
            <a:r>
              <a:rPr lang="en"/>
              <a:t>'s value to the </a:t>
            </a:r>
            <a:r>
              <a:rPr lang="en" b="1" i="1">
                <a:solidFill>
                  <a:srgbClr val="FF0000"/>
                </a:solidFill>
              </a:rPr>
              <a:t>front</a:t>
            </a:r>
            <a:r>
              <a:rPr lang="en">
                <a:solidFill>
                  <a:srgbClr val="FF0000"/>
                </a:solidFill>
              </a:rPr>
              <a:t> </a:t>
            </a:r>
            <a:r>
              <a:rPr lang="en"/>
              <a:t>of the path.</a:t>
            </a:r>
            <a:endParaRPr/>
          </a:p>
          <a:p>
            <a:pPr marL="1371600" lvl="2" indent="-298450" algn="l" rtl="0">
              <a:spcBef>
                <a:spcPts val="0"/>
              </a:spcBef>
              <a:spcAft>
                <a:spcPts val="0"/>
              </a:spcAft>
              <a:buSzPts val="1100"/>
              <a:buChar char="■"/>
            </a:pPr>
            <a:r>
              <a:rPr lang="en"/>
              <a:t>It gets </a:t>
            </a:r>
            <a:r>
              <a:rPr lang="en" b="1" i="1">
                <a:solidFill>
                  <a:srgbClr val="FF0000"/>
                </a:solidFill>
              </a:rPr>
              <a:t>V</a:t>
            </a:r>
            <a:r>
              <a:rPr lang="en"/>
              <a:t>'s tuple from the map.</a:t>
            </a:r>
            <a:endParaRPr/>
          </a:p>
          <a:p>
            <a:pPr marL="1371600" lvl="2" indent="-298450" algn="l" rtl="0">
              <a:spcBef>
                <a:spcPts val="0"/>
              </a:spcBef>
              <a:spcAft>
                <a:spcPts val="0"/>
              </a:spcAft>
              <a:buSzPts val="1100"/>
              <a:buChar char="■"/>
            </a:pPr>
            <a:r>
              <a:rPr lang="en"/>
              <a:t>It sets </a:t>
            </a:r>
            <a:r>
              <a:rPr lang="en" b="1" i="1">
                <a:solidFill>
                  <a:srgbClr val="FF0000"/>
                </a:solidFill>
              </a:rPr>
              <a:t>V</a:t>
            </a:r>
            <a:r>
              <a:rPr lang="en"/>
              <a:t> to </a:t>
            </a:r>
            <a:r>
              <a:rPr lang="en" b="1" i="1">
                <a:solidFill>
                  <a:srgbClr val="FF0000"/>
                </a:solidFill>
              </a:rPr>
              <a:t>its own</a:t>
            </a:r>
            <a:r>
              <a:rPr lang="en">
                <a:solidFill>
                  <a:srgbClr val="FF0000"/>
                </a:solidFill>
              </a:rPr>
              <a:t> </a:t>
            </a:r>
            <a:r>
              <a:rPr lang="en" b="1" i="1">
                <a:solidFill>
                  <a:srgbClr val="FF0000"/>
                </a:solidFill>
              </a:rPr>
              <a:t>predecessor</a:t>
            </a:r>
            <a:r>
              <a:rPr lang="en"/>
              <a:t>.</a:t>
            </a:r>
            <a:endParaRPr/>
          </a:p>
          <a:p>
            <a:pPr marL="914400" lvl="1" indent="-298450" algn="l" rtl="0">
              <a:spcBef>
                <a:spcPts val="0"/>
              </a:spcBef>
              <a:spcAft>
                <a:spcPts val="0"/>
              </a:spcAft>
              <a:buSzPts val="1100"/>
              <a:buChar char="○"/>
            </a:pPr>
            <a:r>
              <a:rPr lang="en"/>
              <a:t>When </a:t>
            </a:r>
            <a:r>
              <a:rPr lang="en" b="1" i="1">
                <a:solidFill>
                  <a:srgbClr val="FF0000"/>
                </a:solidFill>
              </a:rPr>
              <a:t>V</a:t>
            </a:r>
            <a:r>
              <a:rPr lang="en"/>
              <a:t> is </a:t>
            </a:r>
            <a:r>
              <a:rPr lang="en">
                <a:latin typeface="Courier New"/>
                <a:ea typeface="Courier New"/>
                <a:cs typeface="Courier New"/>
                <a:sym typeface="Courier New"/>
              </a:rPr>
              <a:t>null</a:t>
            </a:r>
            <a:r>
              <a:rPr lang="en"/>
              <a:t>, it has reached the start vertex. The algorithm </a:t>
            </a:r>
            <a:r>
              <a:rPr lang="en" b="1" i="1">
                <a:solidFill>
                  <a:srgbClr val="FF0000"/>
                </a:solidFill>
              </a:rPr>
              <a:t>returns </a:t>
            </a:r>
            <a:r>
              <a:rPr lang="en"/>
              <a:t>the path.</a:t>
            </a:r>
            <a:endParaRPr/>
          </a:p>
          <a:p>
            <a:pPr marL="457200" lvl="0" indent="-311150" algn="l" rtl="0">
              <a:spcBef>
                <a:spcPts val="0"/>
              </a:spcBef>
              <a:spcAft>
                <a:spcPts val="0"/>
              </a:spcAft>
              <a:buSzPts val="1300"/>
              <a:buChar char="●"/>
            </a:pPr>
            <a:r>
              <a:rPr lang="en" b="1" i="1">
                <a:solidFill>
                  <a:srgbClr val="FF0000"/>
                </a:solidFill>
              </a:rPr>
              <a:t>Test</a:t>
            </a:r>
            <a:r>
              <a:rPr lang="en">
                <a:solidFill>
                  <a:srgbClr val="FF0000"/>
                </a:solidFill>
              </a:rPr>
              <a:t> </a:t>
            </a:r>
            <a:r>
              <a:rPr lang="en"/>
              <a:t>the implementation using the provided </a:t>
            </a:r>
            <a:r>
              <a:rPr lang="en">
                <a:solidFill>
                  <a:srgbClr val="FF0000"/>
                </a:solidFill>
                <a:latin typeface="Courier New"/>
                <a:ea typeface="Courier New"/>
                <a:cs typeface="Courier New"/>
                <a:sym typeface="Courier New"/>
              </a:rPr>
              <a:t>DijkstrasPathTest</a:t>
            </a:r>
            <a:r>
              <a:rPr lang="en"/>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p7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Let's see how Dijkstra compares to Nearest Neighbor when finding a path through the cities in the contiguous United States.</a:t>
            </a:r>
            <a:endParaRPr dirty="0"/>
          </a:p>
        </p:txBody>
      </p:sp>
      <p:sp>
        <p:nvSpPr>
          <p:cNvPr id="1513" name="Google Shape;1513;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1514" name="Google Shape;1514;p76"/>
          <p:cNvSpPr txBox="1">
            <a:spLocks noGrp="1"/>
          </p:cNvSpPr>
          <p:nvPr>
            <p:ph type="body" idx="2"/>
          </p:nvPr>
        </p:nvSpPr>
        <p:spPr>
          <a:xfrm>
            <a:off x="3311000" y="1729125"/>
            <a:ext cx="5478600" cy="1650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the </a:t>
            </a:r>
            <a:r>
              <a:rPr lang="en" sz="1700" dirty="0">
                <a:latin typeface="Courier New"/>
                <a:ea typeface="Courier New"/>
                <a:cs typeface="Courier New"/>
                <a:sym typeface="Courier New"/>
              </a:rPr>
              <a:t>MapMaker</a:t>
            </a:r>
            <a:r>
              <a:rPr lang="en" sz="1700" dirty="0"/>
              <a:t> and navigate to the </a:t>
            </a:r>
            <a:r>
              <a:rPr lang="en" sz="1700" dirty="0">
                <a:latin typeface="Courier New"/>
                <a:ea typeface="Courier New"/>
                <a:cs typeface="Courier New"/>
                <a:sym typeface="Courier New"/>
              </a:rPr>
              <a:t>main</a:t>
            </a:r>
            <a:r>
              <a:rPr lang="en" sz="1700" dirty="0"/>
              <a:t> method.</a:t>
            </a:r>
            <a:endParaRPr sz="1700" dirty="0"/>
          </a:p>
          <a:p>
            <a:pPr marL="457200" lvl="0" indent="-336550" algn="l" rtl="0">
              <a:spcBef>
                <a:spcPts val="0"/>
              </a:spcBef>
              <a:spcAft>
                <a:spcPts val="0"/>
              </a:spcAft>
              <a:buSzPts val="1700"/>
              <a:buChar char="●"/>
            </a:pPr>
            <a:r>
              <a:rPr lang="en" sz="1700" dirty="0"/>
              <a:t>Use </a:t>
            </a:r>
            <a:r>
              <a:rPr lang="en" sz="1700" i="1" dirty="0"/>
              <a:t>Dijkstra's Shortest Path</a:t>
            </a:r>
            <a:r>
              <a:rPr lang="en" sz="1700" dirty="0"/>
              <a:t> algorithm to find a path from </a:t>
            </a:r>
            <a:r>
              <a:rPr lang="en" sz="1700" i="1" dirty="0"/>
              <a:t>Boston, Massachusetts</a:t>
            </a:r>
            <a:r>
              <a:rPr lang="en" sz="1700" dirty="0"/>
              <a:t> to </a:t>
            </a:r>
            <a:r>
              <a:rPr lang="en" sz="1700" i="1" dirty="0"/>
              <a:t>Los Angeles, California</a:t>
            </a:r>
            <a:r>
              <a:rPr lang="en" sz="1700" dirty="0"/>
              <a:t> and print it to standard output.</a:t>
            </a:r>
            <a:endParaRPr sz="1700" dirty="0"/>
          </a:p>
        </p:txBody>
      </p:sp>
      <p:sp>
        <p:nvSpPr>
          <p:cNvPr id="1515" name="Google Shape;1515;p7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Traveling Dijkstra</a:t>
            </a:r>
            <a:endParaRPr/>
          </a:p>
        </p:txBody>
      </p:sp>
      <p:sp>
        <p:nvSpPr>
          <p:cNvPr id="1516" name="Google Shape;1516;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13.21</a:t>
            </a:r>
            <a:endParaRPr/>
          </a:p>
        </p:txBody>
      </p:sp>
      <p:sp>
        <p:nvSpPr>
          <p:cNvPr id="1517" name="Google Shape;1517;p76"/>
          <p:cNvSpPr txBox="1">
            <a:spLocks noGrp="1"/>
          </p:cNvSpPr>
          <p:nvPr>
            <p:ph type="body" idx="4"/>
          </p:nvPr>
        </p:nvSpPr>
        <p:spPr>
          <a:xfrm>
            <a:off x="141600" y="37535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How does </a:t>
            </a:r>
            <a:r>
              <a:rPr lang="en" i="1"/>
              <a:t>Dijkstra's Shortest Path</a:t>
            </a:r>
            <a:r>
              <a:rPr lang="en"/>
              <a:t> compare to the path found by </a:t>
            </a:r>
            <a:r>
              <a:rPr lang="en" i="1"/>
              <a:t>Nearest Neighbor</a:t>
            </a:r>
            <a:r>
              <a:rPr lang="en"/>
              <a:t>?</a:t>
            </a:r>
            <a:endParaRPr/>
          </a:p>
        </p:txBody>
      </p:sp>
      <p:pic>
        <p:nvPicPr>
          <p:cNvPr id="1518" name="Google Shape;1518;p76"/>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77"/>
          <p:cNvSpPr txBox="1"/>
          <p:nvPr/>
        </p:nvSpPr>
        <p:spPr>
          <a:xfrm>
            <a:off x="6182472" y="47188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24" name="Google Shape;1524;p7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Dijkstra’s Shortest Path Diagram</a:t>
            </a:r>
            <a:endParaRPr/>
          </a:p>
        </p:txBody>
      </p:sp>
      <p:sp>
        <p:nvSpPr>
          <p:cNvPr id="1525" name="Google Shape;152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graphicFrame>
        <p:nvGraphicFramePr>
          <p:cNvPr id="1526" name="Google Shape;1526;p77"/>
          <p:cNvGraphicFramePr/>
          <p:nvPr/>
        </p:nvGraphicFramePr>
        <p:xfrm>
          <a:off x="130800" y="1351167"/>
          <a:ext cx="5894550" cy="3626850"/>
        </p:xfrm>
        <a:graphic>
          <a:graphicData uri="http://schemas.openxmlformats.org/drawingml/2006/table">
            <a:tbl>
              <a:tblPr>
                <a:noFill/>
                <a:tableStyleId>{89CCAE03-A2B2-4379-B0C2-E101A7E113D6}</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gridCol w="654950">
                  <a:extLst>
                    <a:ext uri="{9D8B030D-6E8A-4147-A177-3AD203B41FA5}">
                      <a16:colId xmlns:a16="http://schemas.microsoft.com/office/drawing/2014/main" val="20008"/>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G</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pSp>
        <p:nvGrpSpPr>
          <p:cNvPr id="1527" name="Google Shape;1527;p77"/>
          <p:cNvGrpSpPr/>
          <p:nvPr/>
        </p:nvGrpSpPr>
        <p:grpSpPr>
          <a:xfrm>
            <a:off x="6320467" y="1450631"/>
            <a:ext cx="2587231" cy="2330777"/>
            <a:chOff x="6244267" y="1458389"/>
            <a:chExt cx="2587231" cy="2330777"/>
          </a:xfrm>
        </p:grpSpPr>
        <p:sp>
          <p:nvSpPr>
            <p:cNvPr id="1528" name="Google Shape;1528;p77"/>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529" name="Google Shape;1529;p77"/>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530" name="Google Shape;1530;p77"/>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531" name="Google Shape;1531;p77"/>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532" name="Google Shape;1532;p77"/>
            <p:cNvSpPr/>
            <p:nvPr/>
          </p:nvSpPr>
          <p:spPr>
            <a:xfrm>
              <a:off x="8203274" y="3368266"/>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533" name="Google Shape;1533;p77"/>
            <p:cNvSpPr/>
            <p:nvPr/>
          </p:nvSpPr>
          <p:spPr>
            <a:xfrm>
              <a:off x="8395346" y="2425277"/>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534" name="Google Shape;1534;p77"/>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535" name="Google Shape;1535;p77"/>
            <p:cNvCxnSpPr>
              <a:stCxn id="1528" idx="3"/>
              <a:endCxn id="1530"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536" name="Google Shape;1536;p77"/>
            <p:cNvCxnSpPr>
              <a:stCxn id="1528" idx="6"/>
              <a:endCxn id="1531"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537" name="Google Shape;1537;p77"/>
            <p:cNvCxnSpPr>
              <a:stCxn id="1528" idx="5"/>
              <a:endCxn id="1529"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538" name="Google Shape;1538;p77"/>
            <p:cNvCxnSpPr>
              <a:stCxn id="1529" idx="6"/>
              <a:endCxn id="1533" idx="2"/>
            </p:cNvCxnSpPr>
            <p:nvPr/>
          </p:nvCxnSpPr>
          <p:spPr>
            <a:xfrm rot="10800000" flipH="1">
              <a:off x="7778236" y="2635629"/>
              <a:ext cx="617100" cy="33900"/>
            </a:xfrm>
            <a:prstGeom prst="straightConnector1">
              <a:avLst/>
            </a:prstGeom>
            <a:noFill/>
            <a:ln w="19050" cap="flat" cmpd="sng">
              <a:solidFill>
                <a:srgbClr val="000000"/>
              </a:solidFill>
              <a:prstDash val="solid"/>
              <a:round/>
              <a:headEnd type="none" w="med" len="med"/>
              <a:tailEnd type="none" w="med" len="med"/>
            </a:ln>
          </p:spPr>
        </p:cxnSp>
        <p:cxnSp>
          <p:nvCxnSpPr>
            <p:cNvPr id="1539" name="Google Shape;1539;p77"/>
            <p:cNvCxnSpPr>
              <a:stCxn id="1533" idx="4"/>
              <a:endCxn id="1532" idx="7"/>
            </p:cNvCxnSpPr>
            <p:nvPr/>
          </p:nvCxnSpPr>
          <p:spPr>
            <a:xfrm flipH="1">
              <a:off x="8562596" y="2846177"/>
              <a:ext cx="43200" cy="583800"/>
            </a:xfrm>
            <a:prstGeom prst="straightConnector1">
              <a:avLst/>
            </a:prstGeom>
            <a:noFill/>
            <a:ln w="19050" cap="flat" cmpd="sng">
              <a:solidFill>
                <a:srgbClr val="000000"/>
              </a:solidFill>
              <a:prstDash val="solid"/>
              <a:round/>
              <a:headEnd type="none" w="med" len="med"/>
              <a:tailEnd type="none" w="med" len="med"/>
            </a:ln>
          </p:spPr>
        </p:cxnSp>
        <p:cxnSp>
          <p:nvCxnSpPr>
            <p:cNvPr id="1540" name="Google Shape;1540;p77"/>
            <p:cNvCxnSpPr>
              <a:stCxn id="1529" idx="3"/>
              <a:endCxn id="1534" idx="0"/>
            </p:cNvCxnSpPr>
            <p:nvPr/>
          </p:nvCxnSpPr>
          <p:spPr>
            <a:xfrm flipH="1">
              <a:off x="7201176" y="2818340"/>
              <a:ext cx="217800" cy="549900"/>
            </a:xfrm>
            <a:prstGeom prst="straightConnector1">
              <a:avLst/>
            </a:prstGeom>
            <a:noFill/>
            <a:ln w="19050" cap="flat" cmpd="sng">
              <a:solidFill>
                <a:srgbClr val="000000"/>
              </a:solidFill>
              <a:prstDash val="solid"/>
              <a:round/>
              <a:headEnd type="none" w="med" len="med"/>
              <a:tailEnd type="none" w="med" len="med"/>
            </a:ln>
          </p:spPr>
        </p:cxnSp>
        <p:cxnSp>
          <p:nvCxnSpPr>
            <p:cNvPr id="1541" name="Google Shape;1541;p77"/>
            <p:cNvCxnSpPr>
              <a:stCxn id="1534" idx="6"/>
              <a:endCxn id="1532" idx="2"/>
            </p:cNvCxnSpPr>
            <p:nvPr/>
          </p:nvCxnSpPr>
          <p:spPr>
            <a:xfrm>
              <a:off x="7411542" y="3578716"/>
              <a:ext cx="791700" cy="0"/>
            </a:xfrm>
            <a:prstGeom prst="straightConnector1">
              <a:avLst/>
            </a:prstGeom>
            <a:noFill/>
            <a:ln w="19050" cap="flat" cmpd="sng">
              <a:solidFill>
                <a:srgbClr val="000000"/>
              </a:solidFill>
              <a:prstDash val="solid"/>
              <a:round/>
              <a:headEnd type="none" w="med" len="med"/>
              <a:tailEnd type="none" w="med" len="med"/>
            </a:ln>
          </p:spPr>
        </p:cxnSp>
        <p:cxnSp>
          <p:nvCxnSpPr>
            <p:cNvPr id="1542" name="Google Shape;1542;p77"/>
            <p:cNvCxnSpPr>
              <a:stCxn id="1530" idx="6"/>
              <a:endCxn id="1529"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543" name="Google Shape;1543;p77"/>
            <p:cNvCxnSpPr>
              <a:stCxn id="1531" idx="5"/>
              <a:endCxn id="1533" idx="1"/>
            </p:cNvCxnSpPr>
            <p:nvPr/>
          </p:nvCxnSpPr>
          <p:spPr>
            <a:xfrm>
              <a:off x="8188225" y="1882592"/>
              <a:ext cx="268800" cy="604200"/>
            </a:xfrm>
            <a:prstGeom prst="straightConnector1">
              <a:avLst/>
            </a:prstGeom>
            <a:noFill/>
            <a:ln w="19050" cap="flat" cmpd="sng">
              <a:solidFill>
                <a:srgbClr val="000000"/>
              </a:solidFill>
              <a:prstDash val="solid"/>
              <a:round/>
              <a:headEnd type="none" w="med" len="med"/>
              <a:tailEnd type="none" w="med" len="med"/>
            </a:ln>
          </p:spPr>
        </p:cxnSp>
        <p:sp>
          <p:nvSpPr>
            <p:cNvPr id="1544" name="Google Shape;1544;p77"/>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45" name="Google Shape;1545;p77"/>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46" name="Google Shape;1546;p77"/>
            <p:cNvSpPr txBox="1"/>
            <p:nvPr/>
          </p:nvSpPr>
          <p:spPr>
            <a:xfrm>
              <a:off x="8562397" y="301621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47" name="Google Shape;1547;p77"/>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48" name="Google Shape;1548;p77"/>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49" name="Google Shape;1549;p77"/>
            <p:cNvSpPr txBox="1"/>
            <p:nvPr/>
          </p:nvSpPr>
          <p:spPr>
            <a:xfrm>
              <a:off x="7090026" y="291366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0" name="Google Shape;1550;p77"/>
            <p:cNvSpPr txBox="1"/>
            <p:nvPr/>
          </p:nvSpPr>
          <p:spPr>
            <a:xfrm>
              <a:off x="7672836" y="33501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1" name="Google Shape;1551;p77"/>
            <p:cNvSpPr txBox="1"/>
            <p:nvPr/>
          </p:nvSpPr>
          <p:spPr>
            <a:xfrm>
              <a:off x="8293350" y="1948966"/>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52" name="Google Shape;1552;p77"/>
            <p:cNvSpPr txBox="1"/>
            <p:nvPr/>
          </p:nvSpPr>
          <p:spPr>
            <a:xfrm>
              <a:off x="7280291" y="14583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53" name="Google Shape;1553;p77"/>
            <p:cNvCxnSpPr>
              <a:stCxn id="1530" idx="5"/>
              <a:endCxn id="1534"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554" name="Google Shape;1554;p77"/>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55" name="Google Shape;1555;p77"/>
          <p:cNvGraphicFramePr/>
          <p:nvPr/>
        </p:nvGraphicFramePr>
        <p:xfrm>
          <a:off x="6182463" y="4322617"/>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56" name="Google Shape;1556;p77"/>
          <p:cNvSpPr txBox="1"/>
          <p:nvPr/>
        </p:nvSpPr>
        <p:spPr>
          <a:xfrm>
            <a:off x="6182472" y="39224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78"/>
          <p:cNvSpPr txBox="1"/>
          <p:nvPr/>
        </p:nvSpPr>
        <p:spPr>
          <a:xfrm>
            <a:off x="6182472" y="47188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62" name="Google Shape;1562;p7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Dijkstra’s Shortest Path Diagram</a:t>
            </a:r>
            <a:endParaRPr/>
          </a:p>
        </p:txBody>
      </p:sp>
      <p:sp>
        <p:nvSpPr>
          <p:cNvPr id="1563" name="Google Shape;1563;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graphicFrame>
        <p:nvGraphicFramePr>
          <p:cNvPr id="1564" name="Google Shape;1564;p78"/>
          <p:cNvGraphicFramePr/>
          <p:nvPr/>
        </p:nvGraphicFramePr>
        <p:xfrm>
          <a:off x="130800" y="1351167"/>
          <a:ext cx="5894550" cy="3626850"/>
        </p:xfrm>
        <a:graphic>
          <a:graphicData uri="http://schemas.openxmlformats.org/drawingml/2006/table">
            <a:tbl>
              <a:tblPr>
                <a:noFill/>
                <a:tableStyleId>{89CCAE03-A2B2-4379-B0C2-E101A7E113D6}</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gridCol w="654950">
                  <a:extLst>
                    <a:ext uri="{9D8B030D-6E8A-4147-A177-3AD203B41FA5}">
                      <a16:colId xmlns:a16="http://schemas.microsoft.com/office/drawing/2014/main" val="20008"/>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G</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pSp>
        <p:nvGrpSpPr>
          <p:cNvPr id="1565" name="Google Shape;1565;p78"/>
          <p:cNvGrpSpPr/>
          <p:nvPr/>
        </p:nvGrpSpPr>
        <p:grpSpPr>
          <a:xfrm>
            <a:off x="6320467" y="1450631"/>
            <a:ext cx="2587231" cy="2330777"/>
            <a:chOff x="6244267" y="1458389"/>
            <a:chExt cx="2587231" cy="2330777"/>
          </a:xfrm>
        </p:grpSpPr>
        <p:sp>
          <p:nvSpPr>
            <p:cNvPr id="1566" name="Google Shape;1566;p78"/>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567" name="Google Shape;1567;p78"/>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568" name="Google Shape;1568;p78"/>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569" name="Google Shape;1569;p78"/>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570" name="Google Shape;1570;p78"/>
            <p:cNvSpPr/>
            <p:nvPr/>
          </p:nvSpPr>
          <p:spPr>
            <a:xfrm>
              <a:off x="8203274" y="3368266"/>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571" name="Google Shape;1571;p78"/>
            <p:cNvSpPr/>
            <p:nvPr/>
          </p:nvSpPr>
          <p:spPr>
            <a:xfrm>
              <a:off x="8395346" y="2425277"/>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572" name="Google Shape;1572;p78"/>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573" name="Google Shape;1573;p78"/>
            <p:cNvCxnSpPr>
              <a:stCxn id="1566" idx="3"/>
              <a:endCxn id="1568"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574" name="Google Shape;1574;p78"/>
            <p:cNvCxnSpPr>
              <a:stCxn id="1566" idx="6"/>
              <a:endCxn id="1569"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575" name="Google Shape;1575;p78"/>
            <p:cNvCxnSpPr>
              <a:stCxn id="1566" idx="5"/>
              <a:endCxn id="1567"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576" name="Google Shape;1576;p78"/>
            <p:cNvCxnSpPr>
              <a:stCxn id="1567" idx="6"/>
              <a:endCxn id="1571" idx="2"/>
            </p:cNvCxnSpPr>
            <p:nvPr/>
          </p:nvCxnSpPr>
          <p:spPr>
            <a:xfrm rot="10800000" flipH="1">
              <a:off x="7778236" y="2635629"/>
              <a:ext cx="617100" cy="33900"/>
            </a:xfrm>
            <a:prstGeom prst="straightConnector1">
              <a:avLst/>
            </a:prstGeom>
            <a:noFill/>
            <a:ln w="19050" cap="flat" cmpd="sng">
              <a:solidFill>
                <a:srgbClr val="000000"/>
              </a:solidFill>
              <a:prstDash val="solid"/>
              <a:round/>
              <a:headEnd type="none" w="med" len="med"/>
              <a:tailEnd type="none" w="med" len="med"/>
            </a:ln>
          </p:spPr>
        </p:cxnSp>
        <p:cxnSp>
          <p:nvCxnSpPr>
            <p:cNvPr id="1577" name="Google Shape;1577;p78"/>
            <p:cNvCxnSpPr>
              <a:stCxn id="1571" idx="4"/>
              <a:endCxn id="1570" idx="7"/>
            </p:cNvCxnSpPr>
            <p:nvPr/>
          </p:nvCxnSpPr>
          <p:spPr>
            <a:xfrm flipH="1">
              <a:off x="8562596" y="2846177"/>
              <a:ext cx="43200" cy="583800"/>
            </a:xfrm>
            <a:prstGeom prst="straightConnector1">
              <a:avLst/>
            </a:prstGeom>
            <a:noFill/>
            <a:ln w="19050" cap="flat" cmpd="sng">
              <a:solidFill>
                <a:srgbClr val="000000"/>
              </a:solidFill>
              <a:prstDash val="solid"/>
              <a:round/>
              <a:headEnd type="none" w="med" len="med"/>
              <a:tailEnd type="none" w="med" len="med"/>
            </a:ln>
          </p:spPr>
        </p:cxnSp>
        <p:cxnSp>
          <p:nvCxnSpPr>
            <p:cNvPr id="1578" name="Google Shape;1578;p78"/>
            <p:cNvCxnSpPr>
              <a:stCxn id="1567" idx="3"/>
              <a:endCxn id="1572" idx="0"/>
            </p:cNvCxnSpPr>
            <p:nvPr/>
          </p:nvCxnSpPr>
          <p:spPr>
            <a:xfrm flipH="1">
              <a:off x="7201176" y="2818340"/>
              <a:ext cx="217800" cy="549900"/>
            </a:xfrm>
            <a:prstGeom prst="straightConnector1">
              <a:avLst/>
            </a:prstGeom>
            <a:noFill/>
            <a:ln w="19050" cap="flat" cmpd="sng">
              <a:solidFill>
                <a:srgbClr val="000000"/>
              </a:solidFill>
              <a:prstDash val="solid"/>
              <a:round/>
              <a:headEnd type="none" w="med" len="med"/>
              <a:tailEnd type="none" w="med" len="med"/>
            </a:ln>
          </p:spPr>
        </p:cxnSp>
        <p:cxnSp>
          <p:nvCxnSpPr>
            <p:cNvPr id="1579" name="Google Shape;1579;p78"/>
            <p:cNvCxnSpPr>
              <a:stCxn id="1572" idx="6"/>
              <a:endCxn id="1570" idx="2"/>
            </p:cNvCxnSpPr>
            <p:nvPr/>
          </p:nvCxnSpPr>
          <p:spPr>
            <a:xfrm>
              <a:off x="7411542" y="3578716"/>
              <a:ext cx="791700" cy="0"/>
            </a:xfrm>
            <a:prstGeom prst="straightConnector1">
              <a:avLst/>
            </a:prstGeom>
            <a:noFill/>
            <a:ln w="19050" cap="flat" cmpd="sng">
              <a:solidFill>
                <a:srgbClr val="000000"/>
              </a:solidFill>
              <a:prstDash val="solid"/>
              <a:round/>
              <a:headEnd type="none" w="med" len="med"/>
              <a:tailEnd type="none" w="med" len="med"/>
            </a:ln>
          </p:spPr>
        </p:cxnSp>
        <p:cxnSp>
          <p:nvCxnSpPr>
            <p:cNvPr id="1580" name="Google Shape;1580;p78"/>
            <p:cNvCxnSpPr>
              <a:stCxn id="1568" idx="6"/>
              <a:endCxn id="1567"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581" name="Google Shape;1581;p78"/>
            <p:cNvCxnSpPr>
              <a:stCxn id="1569" idx="5"/>
              <a:endCxn id="1571" idx="1"/>
            </p:cNvCxnSpPr>
            <p:nvPr/>
          </p:nvCxnSpPr>
          <p:spPr>
            <a:xfrm>
              <a:off x="8188225" y="1882592"/>
              <a:ext cx="268800" cy="604200"/>
            </a:xfrm>
            <a:prstGeom prst="straightConnector1">
              <a:avLst/>
            </a:prstGeom>
            <a:noFill/>
            <a:ln w="19050" cap="flat" cmpd="sng">
              <a:solidFill>
                <a:srgbClr val="000000"/>
              </a:solidFill>
              <a:prstDash val="solid"/>
              <a:round/>
              <a:headEnd type="none" w="med" len="med"/>
              <a:tailEnd type="none" w="med" len="med"/>
            </a:ln>
          </p:spPr>
        </p:cxnSp>
        <p:sp>
          <p:nvSpPr>
            <p:cNvPr id="1582" name="Google Shape;1582;p78"/>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83" name="Google Shape;1583;p78"/>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84" name="Google Shape;1584;p78"/>
            <p:cNvSpPr txBox="1"/>
            <p:nvPr/>
          </p:nvSpPr>
          <p:spPr>
            <a:xfrm>
              <a:off x="8562397" y="301621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5" name="Google Shape;1585;p78"/>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6" name="Google Shape;1586;p78"/>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87" name="Google Shape;1587;p78"/>
            <p:cNvSpPr txBox="1"/>
            <p:nvPr/>
          </p:nvSpPr>
          <p:spPr>
            <a:xfrm>
              <a:off x="7090026" y="291366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8" name="Google Shape;1588;p78"/>
            <p:cNvSpPr txBox="1"/>
            <p:nvPr/>
          </p:nvSpPr>
          <p:spPr>
            <a:xfrm>
              <a:off x="7672836" y="33501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9" name="Google Shape;1589;p78"/>
            <p:cNvSpPr txBox="1"/>
            <p:nvPr/>
          </p:nvSpPr>
          <p:spPr>
            <a:xfrm>
              <a:off x="8293350" y="1948966"/>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90" name="Google Shape;1590;p78"/>
            <p:cNvSpPr txBox="1"/>
            <p:nvPr/>
          </p:nvSpPr>
          <p:spPr>
            <a:xfrm>
              <a:off x="7280291" y="14583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91" name="Google Shape;1591;p78"/>
            <p:cNvCxnSpPr>
              <a:stCxn id="1568" idx="5"/>
              <a:endCxn id="1572"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592" name="Google Shape;1592;p78"/>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93" name="Google Shape;1593;p78"/>
          <p:cNvGraphicFramePr/>
          <p:nvPr/>
        </p:nvGraphicFramePr>
        <p:xfrm>
          <a:off x="6182463" y="4322617"/>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94" name="Google Shape;1594;p78"/>
          <p:cNvSpPr txBox="1"/>
          <p:nvPr/>
        </p:nvSpPr>
        <p:spPr>
          <a:xfrm>
            <a:off x="6182472" y="39224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
        <p:nvSpPr>
          <p:cNvPr id="1595" name="Google Shape;1595;p78"/>
          <p:cNvSpPr txBox="1"/>
          <p:nvPr/>
        </p:nvSpPr>
        <p:spPr>
          <a:xfrm>
            <a:off x="1620025" y="224909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596" name="Google Shape;1596;p78"/>
          <p:cNvSpPr txBox="1"/>
          <p:nvPr/>
        </p:nvSpPr>
        <p:spPr>
          <a:xfrm>
            <a:off x="2201976" y="225616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6, A</a:t>
            </a:r>
            <a:endParaRPr sz="2000">
              <a:solidFill>
                <a:srgbClr val="FF0000"/>
              </a:solidFill>
              <a:latin typeface="Shadows Into Light"/>
              <a:ea typeface="Shadows Into Light"/>
              <a:cs typeface="Shadows Into Light"/>
              <a:sym typeface="Shadows Into Light"/>
            </a:endParaRPr>
          </a:p>
        </p:txBody>
      </p:sp>
      <p:sp>
        <p:nvSpPr>
          <p:cNvPr id="1597" name="Google Shape;1597;p78"/>
          <p:cNvSpPr txBox="1"/>
          <p:nvPr/>
        </p:nvSpPr>
        <p:spPr>
          <a:xfrm>
            <a:off x="2902797" y="224909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1, A</a:t>
            </a:r>
            <a:endParaRPr sz="2000">
              <a:solidFill>
                <a:srgbClr val="FF0000"/>
              </a:solidFill>
              <a:latin typeface="Shadows Into Light"/>
              <a:ea typeface="Shadows Into Light"/>
              <a:cs typeface="Shadows Into Light"/>
              <a:sym typeface="Shadows Into Light"/>
            </a:endParaRPr>
          </a:p>
        </p:txBody>
      </p:sp>
      <p:sp>
        <p:nvSpPr>
          <p:cNvPr id="1598" name="Google Shape;1598;p78"/>
          <p:cNvSpPr txBox="1"/>
          <p:nvPr/>
        </p:nvSpPr>
        <p:spPr>
          <a:xfrm>
            <a:off x="3524425" y="2249092"/>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599" name="Google Shape;1599;p78"/>
          <p:cNvSpPr txBox="1"/>
          <p:nvPr/>
        </p:nvSpPr>
        <p:spPr>
          <a:xfrm>
            <a:off x="2201976" y="263716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3, C</a:t>
            </a:r>
            <a:endParaRPr sz="2000">
              <a:solidFill>
                <a:srgbClr val="FF0000"/>
              </a:solidFill>
              <a:latin typeface="Shadows Into Light"/>
              <a:ea typeface="Shadows Into Light"/>
              <a:cs typeface="Shadows Into Light"/>
              <a:sym typeface="Shadows Into Light"/>
            </a:endParaRPr>
          </a:p>
        </p:txBody>
      </p:sp>
      <p:sp>
        <p:nvSpPr>
          <p:cNvPr id="1600" name="Google Shape;1600;p78"/>
          <p:cNvSpPr txBox="1"/>
          <p:nvPr/>
        </p:nvSpPr>
        <p:spPr>
          <a:xfrm>
            <a:off x="5494092" y="2644925"/>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6, C</a:t>
            </a:r>
            <a:endParaRPr sz="2000">
              <a:solidFill>
                <a:srgbClr val="FF0000"/>
              </a:solidFill>
              <a:latin typeface="Shadows Into Light"/>
              <a:ea typeface="Shadows Into Light"/>
              <a:cs typeface="Shadows Into Light"/>
              <a:sym typeface="Shadows Into Light"/>
            </a:endParaRPr>
          </a:p>
        </p:txBody>
      </p:sp>
      <p:sp>
        <p:nvSpPr>
          <p:cNvPr id="1601" name="Google Shape;1601;p78"/>
          <p:cNvSpPr txBox="1"/>
          <p:nvPr/>
        </p:nvSpPr>
        <p:spPr>
          <a:xfrm>
            <a:off x="2923183" y="2644229"/>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2" name="Google Shape;1602;p78"/>
          <p:cNvSpPr txBox="1"/>
          <p:nvPr/>
        </p:nvSpPr>
        <p:spPr>
          <a:xfrm>
            <a:off x="3602815" y="3033916"/>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3" name="Google Shape;1603;p78"/>
          <p:cNvSpPr txBox="1"/>
          <p:nvPr/>
        </p:nvSpPr>
        <p:spPr>
          <a:xfrm>
            <a:off x="4868983" y="303391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9, D</a:t>
            </a:r>
            <a:endParaRPr sz="2000">
              <a:solidFill>
                <a:srgbClr val="FF0000"/>
              </a:solidFill>
              <a:latin typeface="Shadows Into Light"/>
              <a:ea typeface="Shadows Into Light"/>
              <a:cs typeface="Shadows Into Light"/>
              <a:sym typeface="Shadows Into Light"/>
            </a:endParaRPr>
          </a:p>
        </p:txBody>
      </p:sp>
      <p:sp>
        <p:nvSpPr>
          <p:cNvPr id="1604" name="Google Shape;1604;p78"/>
          <p:cNvSpPr txBox="1"/>
          <p:nvPr/>
        </p:nvSpPr>
        <p:spPr>
          <a:xfrm>
            <a:off x="4868975" y="3422441"/>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8, B</a:t>
            </a:r>
            <a:endParaRPr sz="2000">
              <a:solidFill>
                <a:srgbClr val="FF0000"/>
              </a:solidFill>
              <a:latin typeface="Shadows Into Light"/>
              <a:ea typeface="Shadows Into Light"/>
              <a:cs typeface="Shadows Into Light"/>
              <a:sym typeface="Shadows Into Light"/>
            </a:endParaRPr>
          </a:p>
        </p:txBody>
      </p:sp>
      <p:sp>
        <p:nvSpPr>
          <p:cNvPr id="1605" name="Google Shape;1605;p78"/>
          <p:cNvSpPr txBox="1"/>
          <p:nvPr/>
        </p:nvSpPr>
        <p:spPr>
          <a:xfrm>
            <a:off x="2288923" y="3422441"/>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6" name="Google Shape;1606;p78"/>
          <p:cNvSpPr txBox="1"/>
          <p:nvPr/>
        </p:nvSpPr>
        <p:spPr>
          <a:xfrm>
            <a:off x="4190941" y="383470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10, G</a:t>
            </a:r>
            <a:endParaRPr sz="2000">
              <a:solidFill>
                <a:srgbClr val="FF0000"/>
              </a:solidFill>
              <a:latin typeface="Shadows Into Light"/>
              <a:ea typeface="Shadows Into Light"/>
              <a:cs typeface="Shadows Into Light"/>
              <a:sym typeface="Shadows Into Light"/>
            </a:endParaRPr>
          </a:p>
        </p:txBody>
      </p:sp>
      <p:sp>
        <p:nvSpPr>
          <p:cNvPr id="1607" name="Google Shape;1607;p78"/>
          <p:cNvSpPr txBox="1"/>
          <p:nvPr/>
        </p:nvSpPr>
        <p:spPr>
          <a:xfrm>
            <a:off x="5533698" y="3834716"/>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8" name="Google Shape;1608;p78"/>
          <p:cNvSpPr txBox="1"/>
          <p:nvPr/>
        </p:nvSpPr>
        <p:spPr>
          <a:xfrm>
            <a:off x="4894445" y="423123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9" name="Google Shape;1609;p78"/>
          <p:cNvSpPr txBox="1"/>
          <p:nvPr/>
        </p:nvSpPr>
        <p:spPr>
          <a:xfrm>
            <a:off x="4231919" y="4635505"/>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10" name="Google Shape;1610;p78"/>
          <p:cNvSpPr txBox="1"/>
          <p:nvPr/>
        </p:nvSpPr>
        <p:spPr>
          <a:xfrm>
            <a:off x="8431766" y="4374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11" name="Google Shape;1611;p78"/>
          <p:cNvSpPr txBox="1"/>
          <p:nvPr/>
        </p:nvSpPr>
        <p:spPr>
          <a:xfrm>
            <a:off x="77459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12" name="Google Shape;1612;p78"/>
          <p:cNvSpPr txBox="1"/>
          <p:nvPr/>
        </p:nvSpPr>
        <p:spPr>
          <a:xfrm>
            <a:off x="70601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3" name="Google Shape;1613;p78"/>
          <p:cNvSpPr txBox="1"/>
          <p:nvPr/>
        </p:nvSpPr>
        <p:spPr>
          <a:xfrm>
            <a:off x="63743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4" name="Google Shape;1614;p78"/>
          <p:cNvSpPr txBox="1"/>
          <p:nvPr/>
        </p:nvSpPr>
        <p:spPr>
          <a:xfrm>
            <a:off x="7327166" y="47650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615" name="Google Shape;1615;p78"/>
          <p:cNvSpPr txBox="1"/>
          <p:nvPr/>
        </p:nvSpPr>
        <p:spPr>
          <a:xfrm>
            <a:off x="906576" y="22561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6" name="Google Shape;1616;p78"/>
          <p:cNvSpPr txBox="1"/>
          <p:nvPr/>
        </p:nvSpPr>
        <p:spPr>
          <a:xfrm>
            <a:off x="906576" y="26371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7" name="Google Shape;1617;p78"/>
          <p:cNvSpPr txBox="1"/>
          <p:nvPr/>
        </p:nvSpPr>
        <p:spPr>
          <a:xfrm>
            <a:off x="906576" y="3055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18" name="Google Shape;1618;p78"/>
          <p:cNvSpPr txBox="1"/>
          <p:nvPr/>
        </p:nvSpPr>
        <p:spPr>
          <a:xfrm>
            <a:off x="906576" y="3436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19" name="Google Shape;1619;p78"/>
          <p:cNvSpPr txBox="1"/>
          <p:nvPr/>
        </p:nvSpPr>
        <p:spPr>
          <a:xfrm>
            <a:off x="906576" y="3817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20" name="Google Shape;1620;p78"/>
          <p:cNvSpPr txBox="1"/>
          <p:nvPr/>
        </p:nvSpPr>
        <p:spPr>
          <a:xfrm>
            <a:off x="906576" y="42437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21" name="Google Shape;1621;p78"/>
          <p:cNvSpPr txBox="1"/>
          <p:nvPr/>
        </p:nvSpPr>
        <p:spPr>
          <a:xfrm>
            <a:off x="906576" y="46247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15"/>
                                        </p:tgtEl>
                                        <p:attrNameLst>
                                          <p:attrName>style.visibility</p:attrName>
                                        </p:attrNameLst>
                                      </p:cBhvr>
                                      <p:to>
                                        <p:strVal val="visible"/>
                                      </p:to>
                                    </p:set>
                                    <p:animEffect transition="in" filter="fade">
                                      <p:cBhvr>
                                        <p:cTn id="7" dur="1000"/>
                                        <p:tgtEl>
                                          <p:spTgt spid="161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596"/>
                                        </p:tgtEl>
                                        <p:attrNameLst>
                                          <p:attrName>style.visibility</p:attrName>
                                        </p:attrNameLst>
                                      </p:cBhvr>
                                      <p:to>
                                        <p:strVal val="visible"/>
                                      </p:to>
                                    </p:set>
                                    <p:animEffect transition="in" filter="fade">
                                      <p:cBhvr>
                                        <p:cTn id="11" dur="1000"/>
                                        <p:tgtEl>
                                          <p:spTgt spid="159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97"/>
                                        </p:tgtEl>
                                        <p:attrNameLst>
                                          <p:attrName>style.visibility</p:attrName>
                                        </p:attrNameLst>
                                      </p:cBhvr>
                                      <p:to>
                                        <p:strVal val="visible"/>
                                      </p:to>
                                    </p:set>
                                    <p:animEffect transition="in" filter="fade">
                                      <p:cBhvr>
                                        <p:cTn id="15" dur="1000"/>
                                        <p:tgtEl>
                                          <p:spTgt spid="1597"/>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598"/>
                                        </p:tgtEl>
                                        <p:attrNameLst>
                                          <p:attrName>style.visibility</p:attrName>
                                        </p:attrNameLst>
                                      </p:cBhvr>
                                      <p:to>
                                        <p:strVal val="visible"/>
                                      </p:to>
                                    </p:set>
                                    <p:animEffect transition="in" filter="fade">
                                      <p:cBhvr>
                                        <p:cTn id="19" dur="1000"/>
                                        <p:tgtEl>
                                          <p:spTgt spid="1598"/>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595"/>
                                        </p:tgtEl>
                                        <p:attrNameLst>
                                          <p:attrName>style.visibility</p:attrName>
                                        </p:attrNameLst>
                                      </p:cBhvr>
                                      <p:to>
                                        <p:strVal val="visible"/>
                                      </p:to>
                                    </p:set>
                                    <p:animEffect transition="in" filter="fade">
                                      <p:cBhvr>
                                        <p:cTn id="23" dur="1000"/>
                                        <p:tgtEl>
                                          <p:spTgt spid="159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16"/>
                                        </p:tgtEl>
                                        <p:attrNameLst>
                                          <p:attrName>style.visibility</p:attrName>
                                        </p:attrNameLst>
                                      </p:cBhvr>
                                      <p:to>
                                        <p:strVal val="visible"/>
                                      </p:to>
                                    </p:set>
                                    <p:animEffect transition="in" filter="fade">
                                      <p:cBhvr>
                                        <p:cTn id="28" dur="1000"/>
                                        <p:tgtEl>
                                          <p:spTgt spid="1616"/>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599"/>
                                        </p:tgtEl>
                                        <p:attrNameLst>
                                          <p:attrName>style.visibility</p:attrName>
                                        </p:attrNameLst>
                                      </p:cBhvr>
                                      <p:to>
                                        <p:strVal val="visible"/>
                                      </p:to>
                                    </p:set>
                                    <p:animEffect transition="in" filter="fade">
                                      <p:cBhvr>
                                        <p:cTn id="32" dur="1000"/>
                                        <p:tgtEl>
                                          <p:spTgt spid="1599"/>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1600"/>
                                        </p:tgtEl>
                                        <p:attrNameLst>
                                          <p:attrName>style.visibility</p:attrName>
                                        </p:attrNameLst>
                                      </p:cBhvr>
                                      <p:to>
                                        <p:strVal val="visible"/>
                                      </p:to>
                                    </p:set>
                                    <p:animEffect transition="in" filter="fade">
                                      <p:cBhvr>
                                        <p:cTn id="36" dur="1000"/>
                                        <p:tgtEl>
                                          <p:spTgt spid="1600"/>
                                        </p:tgtEl>
                                      </p:cBhvr>
                                    </p:animEffect>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1601"/>
                                        </p:tgtEl>
                                        <p:attrNameLst>
                                          <p:attrName>style.visibility</p:attrName>
                                        </p:attrNameLst>
                                      </p:cBhvr>
                                      <p:to>
                                        <p:strVal val="visible"/>
                                      </p:to>
                                    </p:set>
                                    <p:animEffect transition="in" filter="fade">
                                      <p:cBhvr>
                                        <p:cTn id="40" dur="1000"/>
                                        <p:tgtEl>
                                          <p:spTgt spid="160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17"/>
                                        </p:tgtEl>
                                        <p:attrNameLst>
                                          <p:attrName>style.visibility</p:attrName>
                                        </p:attrNameLst>
                                      </p:cBhvr>
                                      <p:to>
                                        <p:strVal val="visible"/>
                                      </p:to>
                                    </p:set>
                                    <p:animEffect transition="in" filter="fade">
                                      <p:cBhvr>
                                        <p:cTn id="45" dur="1000"/>
                                        <p:tgtEl>
                                          <p:spTgt spid="1617"/>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603"/>
                                        </p:tgtEl>
                                        <p:attrNameLst>
                                          <p:attrName>style.visibility</p:attrName>
                                        </p:attrNameLst>
                                      </p:cBhvr>
                                      <p:to>
                                        <p:strVal val="visible"/>
                                      </p:to>
                                    </p:set>
                                    <p:animEffect transition="in" filter="fade">
                                      <p:cBhvr>
                                        <p:cTn id="49" dur="1000"/>
                                        <p:tgtEl>
                                          <p:spTgt spid="1603"/>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602"/>
                                        </p:tgtEl>
                                        <p:attrNameLst>
                                          <p:attrName>style.visibility</p:attrName>
                                        </p:attrNameLst>
                                      </p:cBhvr>
                                      <p:to>
                                        <p:strVal val="visible"/>
                                      </p:to>
                                    </p:set>
                                    <p:animEffect transition="in" filter="fade">
                                      <p:cBhvr>
                                        <p:cTn id="53" dur="1000"/>
                                        <p:tgtEl>
                                          <p:spTgt spid="160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618"/>
                                        </p:tgtEl>
                                        <p:attrNameLst>
                                          <p:attrName>style.visibility</p:attrName>
                                        </p:attrNameLst>
                                      </p:cBhvr>
                                      <p:to>
                                        <p:strVal val="visible"/>
                                      </p:to>
                                    </p:set>
                                    <p:animEffect transition="in" filter="fade">
                                      <p:cBhvr>
                                        <p:cTn id="58" dur="1000"/>
                                        <p:tgtEl>
                                          <p:spTgt spid="1618"/>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604"/>
                                        </p:tgtEl>
                                        <p:attrNameLst>
                                          <p:attrName>style.visibility</p:attrName>
                                        </p:attrNameLst>
                                      </p:cBhvr>
                                      <p:to>
                                        <p:strVal val="visible"/>
                                      </p:to>
                                    </p:set>
                                    <p:animEffect transition="in" filter="fade">
                                      <p:cBhvr>
                                        <p:cTn id="62" dur="1000"/>
                                        <p:tgtEl>
                                          <p:spTgt spid="1604"/>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605"/>
                                        </p:tgtEl>
                                        <p:attrNameLst>
                                          <p:attrName>style.visibility</p:attrName>
                                        </p:attrNameLst>
                                      </p:cBhvr>
                                      <p:to>
                                        <p:strVal val="visible"/>
                                      </p:to>
                                    </p:set>
                                    <p:animEffect transition="in" filter="fade">
                                      <p:cBhvr>
                                        <p:cTn id="66" dur="1000"/>
                                        <p:tgtEl>
                                          <p:spTgt spid="160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619"/>
                                        </p:tgtEl>
                                        <p:attrNameLst>
                                          <p:attrName>style.visibility</p:attrName>
                                        </p:attrNameLst>
                                      </p:cBhvr>
                                      <p:to>
                                        <p:strVal val="visible"/>
                                      </p:to>
                                    </p:set>
                                    <p:animEffect transition="in" filter="fade">
                                      <p:cBhvr>
                                        <p:cTn id="71" dur="1000"/>
                                        <p:tgtEl>
                                          <p:spTgt spid="1619"/>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606"/>
                                        </p:tgtEl>
                                        <p:attrNameLst>
                                          <p:attrName>style.visibility</p:attrName>
                                        </p:attrNameLst>
                                      </p:cBhvr>
                                      <p:to>
                                        <p:strVal val="visible"/>
                                      </p:to>
                                    </p:set>
                                    <p:animEffect transition="in" filter="fade">
                                      <p:cBhvr>
                                        <p:cTn id="75" dur="1000"/>
                                        <p:tgtEl>
                                          <p:spTgt spid="1606"/>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607"/>
                                        </p:tgtEl>
                                        <p:attrNameLst>
                                          <p:attrName>style.visibility</p:attrName>
                                        </p:attrNameLst>
                                      </p:cBhvr>
                                      <p:to>
                                        <p:strVal val="visible"/>
                                      </p:to>
                                    </p:set>
                                    <p:animEffect transition="in" filter="fade">
                                      <p:cBhvr>
                                        <p:cTn id="79" dur="1000"/>
                                        <p:tgtEl>
                                          <p:spTgt spid="160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20"/>
                                        </p:tgtEl>
                                        <p:attrNameLst>
                                          <p:attrName>style.visibility</p:attrName>
                                        </p:attrNameLst>
                                      </p:cBhvr>
                                      <p:to>
                                        <p:strVal val="visible"/>
                                      </p:to>
                                    </p:set>
                                    <p:animEffect transition="in" filter="fade">
                                      <p:cBhvr>
                                        <p:cTn id="84" dur="1000"/>
                                        <p:tgtEl>
                                          <p:spTgt spid="1620"/>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608"/>
                                        </p:tgtEl>
                                        <p:attrNameLst>
                                          <p:attrName>style.visibility</p:attrName>
                                        </p:attrNameLst>
                                      </p:cBhvr>
                                      <p:to>
                                        <p:strVal val="visible"/>
                                      </p:to>
                                    </p:set>
                                    <p:animEffect transition="in" filter="fade">
                                      <p:cBhvr>
                                        <p:cTn id="88" dur="1000"/>
                                        <p:tgtEl>
                                          <p:spTgt spid="1608"/>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621"/>
                                        </p:tgtEl>
                                        <p:attrNameLst>
                                          <p:attrName>style.visibility</p:attrName>
                                        </p:attrNameLst>
                                      </p:cBhvr>
                                      <p:to>
                                        <p:strVal val="visible"/>
                                      </p:to>
                                    </p:set>
                                    <p:animEffect transition="in" filter="fade">
                                      <p:cBhvr>
                                        <p:cTn id="93" dur="1000"/>
                                        <p:tgtEl>
                                          <p:spTgt spid="1621"/>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609"/>
                                        </p:tgtEl>
                                        <p:attrNameLst>
                                          <p:attrName>style.visibility</p:attrName>
                                        </p:attrNameLst>
                                      </p:cBhvr>
                                      <p:to>
                                        <p:strVal val="visible"/>
                                      </p:to>
                                    </p:set>
                                    <p:animEffect transition="in" filter="fade">
                                      <p:cBhvr>
                                        <p:cTn id="97" dur="1000"/>
                                        <p:tgtEl>
                                          <p:spTgt spid="160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610"/>
                                        </p:tgtEl>
                                        <p:attrNameLst>
                                          <p:attrName>style.visibility</p:attrName>
                                        </p:attrNameLst>
                                      </p:cBhvr>
                                      <p:to>
                                        <p:strVal val="visible"/>
                                      </p:to>
                                    </p:set>
                                    <p:animEffect transition="in" filter="fade">
                                      <p:cBhvr>
                                        <p:cTn id="102" dur="1000"/>
                                        <p:tgtEl>
                                          <p:spTgt spid="1610"/>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614"/>
                                        </p:tgtEl>
                                        <p:attrNameLst>
                                          <p:attrName>style.visibility</p:attrName>
                                        </p:attrNameLst>
                                      </p:cBhvr>
                                      <p:to>
                                        <p:strVal val="visible"/>
                                      </p:to>
                                    </p:set>
                                    <p:animEffect transition="in" filter="fade">
                                      <p:cBhvr>
                                        <p:cTn id="106" dur="1000"/>
                                        <p:tgtEl>
                                          <p:spTgt spid="161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611"/>
                                        </p:tgtEl>
                                        <p:attrNameLst>
                                          <p:attrName>style.visibility</p:attrName>
                                        </p:attrNameLst>
                                      </p:cBhvr>
                                      <p:to>
                                        <p:strVal val="visible"/>
                                      </p:to>
                                    </p:set>
                                    <p:animEffect transition="in" filter="fade">
                                      <p:cBhvr>
                                        <p:cTn id="111" dur="1000"/>
                                        <p:tgtEl>
                                          <p:spTgt spid="1611"/>
                                        </p:tgtEl>
                                      </p:cBhvr>
                                    </p:animEffect>
                                  </p:childTnLst>
                                </p:cTn>
                              </p:par>
                            </p:childTnLst>
                          </p:cTn>
                        </p:par>
                        <p:par>
                          <p:cTn id="112" fill="hold">
                            <p:stCondLst>
                              <p:cond delay="1000"/>
                            </p:stCondLst>
                            <p:childTnLst>
                              <p:par>
                                <p:cTn id="113" presetID="10" presetClass="entr" presetSubtype="0" fill="hold" nodeType="afterEffect">
                                  <p:stCondLst>
                                    <p:cond delay="0"/>
                                  </p:stCondLst>
                                  <p:childTnLst>
                                    <p:set>
                                      <p:cBhvr>
                                        <p:cTn id="114" dur="1" fill="hold">
                                          <p:stCondLst>
                                            <p:cond delay="0"/>
                                          </p:stCondLst>
                                        </p:cTn>
                                        <p:tgtEl>
                                          <p:spTgt spid="1612"/>
                                        </p:tgtEl>
                                        <p:attrNameLst>
                                          <p:attrName>style.visibility</p:attrName>
                                        </p:attrNameLst>
                                      </p:cBhvr>
                                      <p:to>
                                        <p:strVal val="visible"/>
                                      </p:to>
                                    </p:set>
                                    <p:animEffect transition="in" filter="fade">
                                      <p:cBhvr>
                                        <p:cTn id="115" dur="1000"/>
                                        <p:tgtEl>
                                          <p:spTgt spid="1612"/>
                                        </p:tgtEl>
                                      </p:cBhvr>
                                    </p:animEffect>
                                  </p:childTnLst>
                                </p:cTn>
                              </p:par>
                            </p:childTnLst>
                          </p:cTn>
                        </p:par>
                        <p:par>
                          <p:cTn id="116" fill="hold">
                            <p:stCondLst>
                              <p:cond delay="2000"/>
                            </p:stCondLst>
                            <p:childTnLst>
                              <p:par>
                                <p:cTn id="117" presetID="10" presetClass="entr" presetSubtype="0" fill="hold" nodeType="afterEffect">
                                  <p:stCondLst>
                                    <p:cond delay="0"/>
                                  </p:stCondLst>
                                  <p:childTnLst>
                                    <p:set>
                                      <p:cBhvr>
                                        <p:cTn id="118" dur="1" fill="hold">
                                          <p:stCondLst>
                                            <p:cond delay="0"/>
                                          </p:stCondLst>
                                        </p:cTn>
                                        <p:tgtEl>
                                          <p:spTgt spid="1613"/>
                                        </p:tgtEl>
                                        <p:attrNameLst>
                                          <p:attrName>style.visibility</p:attrName>
                                        </p:attrNameLst>
                                      </p:cBhvr>
                                      <p:to>
                                        <p:strVal val="visible"/>
                                      </p:to>
                                    </p:set>
                                    <p:animEffect transition="in" filter="fade">
                                      <p:cBhvr>
                                        <p:cTn id="119" dur="1000"/>
                                        <p:tgtEl>
                                          <p:spTgt spid="1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79"/>
          <p:cNvSpPr txBox="1"/>
          <p:nvPr/>
        </p:nvSpPr>
        <p:spPr>
          <a:xfrm>
            <a:off x="5953872" y="43455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27" name="Google Shape;1627;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628" name="Google Shape;1628;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graphicFrame>
        <p:nvGraphicFramePr>
          <p:cNvPr id="1629" name="Google Shape;1629;p79"/>
          <p:cNvGraphicFramePr/>
          <p:nvPr/>
        </p:nvGraphicFramePr>
        <p:xfrm>
          <a:off x="354350" y="1019050"/>
          <a:ext cx="5239600" cy="3626850"/>
        </p:xfrm>
        <a:graphic>
          <a:graphicData uri="http://schemas.openxmlformats.org/drawingml/2006/table">
            <a:tbl>
              <a:tblPr>
                <a:noFill/>
                <a:tableStyleId>{89CCAE03-A2B2-4379-B0C2-E101A7E113D6}</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aphicFrame>
        <p:nvGraphicFramePr>
          <p:cNvPr id="1630" name="Google Shape;1630;p79"/>
          <p:cNvGraphicFramePr/>
          <p:nvPr/>
        </p:nvGraphicFramePr>
        <p:xfrm>
          <a:off x="5953863" y="3949375"/>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631" name="Google Shape;1631;p79"/>
          <p:cNvSpPr txBox="1"/>
          <p:nvPr/>
        </p:nvSpPr>
        <p:spPr>
          <a:xfrm>
            <a:off x="5953872" y="35491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32" name="Google Shape;1632;p79"/>
          <p:cNvGrpSpPr/>
          <p:nvPr/>
        </p:nvGrpSpPr>
        <p:grpSpPr>
          <a:xfrm>
            <a:off x="6091867" y="1077400"/>
            <a:ext cx="2571979" cy="2246554"/>
            <a:chOff x="6244267" y="1458400"/>
            <a:chExt cx="2571979" cy="2246554"/>
          </a:xfrm>
        </p:grpSpPr>
        <p:sp>
          <p:nvSpPr>
            <p:cNvPr id="1633" name="Google Shape;1633;p79"/>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634" name="Google Shape;1634;p79"/>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635" name="Google Shape;1635;p79"/>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636" name="Google Shape;1636;p79"/>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637" name="Google Shape;1637;p79"/>
            <p:cNvSpPr/>
            <p:nvPr/>
          </p:nvSpPr>
          <p:spPr>
            <a:xfrm>
              <a:off x="7621762" y="328405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638" name="Google Shape;1638;p79"/>
            <p:cNvSpPr/>
            <p:nvPr/>
          </p:nvSpPr>
          <p:spPr>
            <a:xfrm>
              <a:off x="8395346" y="2425277"/>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D</a:t>
              </a:r>
              <a:endParaRPr/>
            </a:p>
          </p:txBody>
        </p:sp>
        <p:cxnSp>
          <p:nvCxnSpPr>
            <p:cNvPr id="1639" name="Google Shape;1639;p79"/>
            <p:cNvCxnSpPr>
              <a:stCxn id="1633" idx="3"/>
              <a:endCxn id="1635"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640" name="Google Shape;1640;p79"/>
            <p:cNvCxnSpPr>
              <a:stCxn id="1633" idx="6"/>
              <a:endCxn id="1636"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641" name="Google Shape;1641;p79"/>
            <p:cNvCxnSpPr>
              <a:stCxn id="1633" idx="5"/>
              <a:endCxn id="1634"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642" name="Google Shape;1642;p79"/>
            <p:cNvCxnSpPr>
              <a:stCxn id="1634" idx="4"/>
              <a:endCxn id="1637" idx="0"/>
            </p:cNvCxnSpPr>
            <p:nvPr/>
          </p:nvCxnSpPr>
          <p:spPr>
            <a:xfrm>
              <a:off x="7567786" y="2879979"/>
              <a:ext cx="264300" cy="404100"/>
            </a:xfrm>
            <a:prstGeom prst="straightConnector1">
              <a:avLst/>
            </a:prstGeom>
            <a:noFill/>
            <a:ln w="19050" cap="flat" cmpd="sng">
              <a:solidFill>
                <a:srgbClr val="000000"/>
              </a:solidFill>
              <a:prstDash val="solid"/>
              <a:round/>
              <a:headEnd type="none" w="med" len="med"/>
              <a:tailEnd type="none" w="med" len="med"/>
            </a:ln>
          </p:spPr>
        </p:cxnSp>
        <p:cxnSp>
          <p:nvCxnSpPr>
            <p:cNvPr id="1643" name="Google Shape;1643;p79"/>
            <p:cNvCxnSpPr>
              <a:stCxn id="1638" idx="4"/>
              <a:endCxn id="1637" idx="7"/>
            </p:cNvCxnSpPr>
            <p:nvPr/>
          </p:nvCxnSpPr>
          <p:spPr>
            <a:xfrm flipH="1">
              <a:off x="7980896" y="2846177"/>
              <a:ext cx="624900" cy="499500"/>
            </a:xfrm>
            <a:prstGeom prst="straightConnector1">
              <a:avLst/>
            </a:prstGeom>
            <a:noFill/>
            <a:ln w="19050" cap="flat" cmpd="sng">
              <a:solidFill>
                <a:srgbClr val="000000"/>
              </a:solidFill>
              <a:prstDash val="solid"/>
              <a:round/>
              <a:headEnd type="none" w="med" len="med"/>
              <a:tailEnd type="none" w="med" len="med"/>
            </a:ln>
          </p:spPr>
        </p:cxnSp>
        <p:cxnSp>
          <p:nvCxnSpPr>
            <p:cNvPr id="1644" name="Google Shape;1644;p79"/>
            <p:cNvCxnSpPr>
              <a:stCxn id="1635" idx="6"/>
              <a:endCxn id="1634"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645" name="Google Shape;1645;p79"/>
            <p:cNvCxnSpPr>
              <a:stCxn id="1636" idx="5"/>
              <a:endCxn id="1638" idx="0"/>
            </p:cNvCxnSpPr>
            <p:nvPr/>
          </p:nvCxnSpPr>
          <p:spPr>
            <a:xfrm>
              <a:off x="8188225" y="1882592"/>
              <a:ext cx="417600" cy="542700"/>
            </a:xfrm>
            <a:prstGeom prst="straightConnector1">
              <a:avLst/>
            </a:prstGeom>
            <a:noFill/>
            <a:ln w="19050" cap="flat" cmpd="sng">
              <a:solidFill>
                <a:srgbClr val="000000"/>
              </a:solidFill>
              <a:prstDash val="solid"/>
              <a:round/>
              <a:headEnd type="none" w="med" len="med"/>
              <a:tailEnd type="none" w="med" len="med"/>
            </a:ln>
          </p:spPr>
        </p:cxnSp>
        <p:sp>
          <p:nvSpPr>
            <p:cNvPr id="1646" name="Google Shape;1646;p79"/>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47" name="Google Shape;1647;p79"/>
            <p:cNvSpPr txBox="1"/>
            <p:nvPr/>
          </p:nvSpPr>
          <p:spPr>
            <a:xfrm>
              <a:off x="8276097" y="305064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48" name="Google Shape;1648;p79"/>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49" name="Google Shape;1649;p79"/>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50" name="Google Shape;1650;p79"/>
            <p:cNvSpPr txBox="1"/>
            <p:nvPr/>
          </p:nvSpPr>
          <p:spPr>
            <a:xfrm>
              <a:off x="7666774" y="29104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51" name="Google Shape;1651;p79"/>
            <p:cNvSpPr txBox="1"/>
            <p:nvPr/>
          </p:nvSpPr>
          <p:spPr>
            <a:xfrm>
              <a:off x="8337225" y="1965988"/>
              <a:ext cx="3228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52" name="Google Shape;1652;p79"/>
            <p:cNvSpPr txBox="1"/>
            <p:nvPr/>
          </p:nvSpPr>
          <p:spPr>
            <a:xfrm>
              <a:off x="7123999" y="1458400"/>
              <a:ext cx="548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53" name="Google Shape;1653;p79"/>
            <p:cNvCxnSpPr>
              <a:stCxn id="1635" idx="5"/>
              <a:endCxn id="1637" idx="2"/>
            </p:cNvCxnSpPr>
            <p:nvPr/>
          </p:nvCxnSpPr>
          <p:spPr>
            <a:xfrm>
              <a:off x="6603527" y="2857299"/>
              <a:ext cx="1018200" cy="637200"/>
            </a:xfrm>
            <a:prstGeom prst="straightConnector1">
              <a:avLst/>
            </a:prstGeom>
            <a:noFill/>
            <a:ln w="19050" cap="flat" cmpd="sng">
              <a:solidFill>
                <a:srgbClr val="000000"/>
              </a:solidFill>
              <a:prstDash val="solid"/>
              <a:round/>
              <a:headEnd type="none" w="med" len="med"/>
              <a:tailEnd type="none" w="med" len="med"/>
            </a:ln>
          </p:spPr>
        </p:cxnSp>
        <p:sp>
          <p:nvSpPr>
            <p:cNvPr id="1654" name="Google Shape;1654;p79"/>
            <p:cNvSpPr txBox="1"/>
            <p:nvPr/>
          </p:nvSpPr>
          <p:spPr>
            <a:xfrm>
              <a:off x="6790876" y="3153713"/>
              <a:ext cx="440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55" name="Google Shape;1655;p79"/>
            <p:cNvCxnSpPr>
              <a:stCxn id="1636" idx="4"/>
              <a:endCxn id="1634" idx="7"/>
            </p:cNvCxnSpPr>
            <p:nvPr/>
          </p:nvCxnSpPr>
          <p:spPr>
            <a:xfrm flipH="1">
              <a:off x="7716614" y="1944231"/>
              <a:ext cx="322800" cy="576600"/>
            </a:xfrm>
            <a:prstGeom prst="straightConnector1">
              <a:avLst/>
            </a:prstGeom>
            <a:noFill/>
            <a:ln w="19050" cap="flat" cmpd="sng">
              <a:solidFill>
                <a:srgbClr val="000000"/>
              </a:solidFill>
              <a:prstDash val="solid"/>
              <a:round/>
              <a:headEnd type="none" w="med" len="med"/>
              <a:tailEnd type="none" w="med" len="med"/>
            </a:ln>
          </p:spPr>
        </p:cxnSp>
        <p:sp>
          <p:nvSpPr>
            <p:cNvPr id="1656" name="Google Shape;1656;p79"/>
            <p:cNvSpPr txBox="1"/>
            <p:nvPr/>
          </p:nvSpPr>
          <p:spPr>
            <a:xfrm>
              <a:off x="7772538" y="227910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57" name="Google Shape;1657;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13.22</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sp>
        <p:nvSpPr>
          <p:cNvPr id="1662" name="Google Shape;1662;p80"/>
          <p:cNvSpPr txBox="1"/>
          <p:nvPr/>
        </p:nvSpPr>
        <p:spPr>
          <a:xfrm>
            <a:off x="5953872" y="43455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63" name="Google Shape;1663;p8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664" name="Google Shape;1664;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graphicFrame>
        <p:nvGraphicFramePr>
          <p:cNvPr id="1665" name="Google Shape;1665;p80"/>
          <p:cNvGraphicFramePr/>
          <p:nvPr/>
        </p:nvGraphicFramePr>
        <p:xfrm>
          <a:off x="354350" y="1019050"/>
          <a:ext cx="5239600" cy="3626850"/>
        </p:xfrm>
        <a:graphic>
          <a:graphicData uri="http://schemas.openxmlformats.org/drawingml/2006/table">
            <a:tbl>
              <a:tblPr>
                <a:noFill/>
                <a:tableStyleId>{89CCAE03-A2B2-4379-B0C2-E101A7E113D6}</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aphicFrame>
        <p:nvGraphicFramePr>
          <p:cNvPr id="1666" name="Google Shape;1666;p80"/>
          <p:cNvGraphicFramePr/>
          <p:nvPr/>
        </p:nvGraphicFramePr>
        <p:xfrm>
          <a:off x="5953863" y="3949375"/>
          <a:ext cx="2863200" cy="396210"/>
        </p:xfrm>
        <a:graphic>
          <a:graphicData uri="http://schemas.openxmlformats.org/drawingml/2006/table">
            <a:tbl>
              <a:tblPr>
                <a:noFill/>
                <a:tableStyleId>{89CCAE03-A2B2-4379-B0C2-E101A7E113D6}</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667" name="Google Shape;1667;p80"/>
          <p:cNvSpPr txBox="1"/>
          <p:nvPr/>
        </p:nvSpPr>
        <p:spPr>
          <a:xfrm>
            <a:off x="5953872" y="35491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68" name="Google Shape;1668;p80"/>
          <p:cNvGrpSpPr/>
          <p:nvPr/>
        </p:nvGrpSpPr>
        <p:grpSpPr>
          <a:xfrm>
            <a:off x="6091867" y="1077400"/>
            <a:ext cx="2571979" cy="2246554"/>
            <a:chOff x="6244267" y="1458400"/>
            <a:chExt cx="2571979" cy="2246554"/>
          </a:xfrm>
        </p:grpSpPr>
        <p:sp>
          <p:nvSpPr>
            <p:cNvPr id="1669" name="Google Shape;1669;p80"/>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670" name="Google Shape;1670;p80"/>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671" name="Google Shape;1671;p80"/>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672" name="Google Shape;1672;p80"/>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673" name="Google Shape;1673;p80"/>
            <p:cNvSpPr/>
            <p:nvPr/>
          </p:nvSpPr>
          <p:spPr>
            <a:xfrm>
              <a:off x="7621762" y="328405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674" name="Google Shape;1674;p80"/>
            <p:cNvSpPr/>
            <p:nvPr/>
          </p:nvSpPr>
          <p:spPr>
            <a:xfrm>
              <a:off x="8395346" y="2425277"/>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D</a:t>
              </a:r>
              <a:endParaRPr/>
            </a:p>
          </p:txBody>
        </p:sp>
        <p:cxnSp>
          <p:nvCxnSpPr>
            <p:cNvPr id="1675" name="Google Shape;1675;p80"/>
            <p:cNvCxnSpPr>
              <a:stCxn id="1669" idx="3"/>
              <a:endCxn id="1671"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676" name="Google Shape;1676;p80"/>
            <p:cNvCxnSpPr>
              <a:stCxn id="1669" idx="6"/>
              <a:endCxn id="1672"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677" name="Google Shape;1677;p80"/>
            <p:cNvCxnSpPr>
              <a:stCxn id="1669" idx="5"/>
              <a:endCxn id="1670"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678" name="Google Shape;1678;p80"/>
            <p:cNvCxnSpPr>
              <a:stCxn id="1670" idx="4"/>
              <a:endCxn id="1673" idx="0"/>
            </p:cNvCxnSpPr>
            <p:nvPr/>
          </p:nvCxnSpPr>
          <p:spPr>
            <a:xfrm>
              <a:off x="7567786" y="2879979"/>
              <a:ext cx="264300" cy="404100"/>
            </a:xfrm>
            <a:prstGeom prst="straightConnector1">
              <a:avLst/>
            </a:prstGeom>
            <a:noFill/>
            <a:ln w="19050" cap="flat" cmpd="sng">
              <a:solidFill>
                <a:srgbClr val="000000"/>
              </a:solidFill>
              <a:prstDash val="solid"/>
              <a:round/>
              <a:headEnd type="none" w="med" len="med"/>
              <a:tailEnd type="none" w="med" len="med"/>
            </a:ln>
          </p:spPr>
        </p:cxnSp>
        <p:cxnSp>
          <p:nvCxnSpPr>
            <p:cNvPr id="1679" name="Google Shape;1679;p80"/>
            <p:cNvCxnSpPr>
              <a:stCxn id="1674" idx="4"/>
              <a:endCxn id="1673" idx="7"/>
            </p:cNvCxnSpPr>
            <p:nvPr/>
          </p:nvCxnSpPr>
          <p:spPr>
            <a:xfrm flipH="1">
              <a:off x="7980896" y="2846177"/>
              <a:ext cx="624900" cy="499500"/>
            </a:xfrm>
            <a:prstGeom prst="straightConnector1">
              <a:avLst/>
            </a:prstGeom>
            <a:noFill/>
            <a:ln w="19050" cap="flat" cmpd="sng">
              <a:solidFill>
                <a:srgbClr val="000000"/>
              </a:solidFill>
              <a:prstDash val="solid"/>
              <a:round/>
              <a:headEnd type="none" w="med" len="med"/>
              <a:tailEnd type="none" w="med" len="med"/>
            </a:ln>
          </p:spPr>
        </p:cxnSp>
        <p:cxnSp>
          <p:nvCxnSpPr>
            <p:cNvPr id="1680" name="Google Shape;1680;p80"/>
            <p:cNvCxnSpPr>
              <a:stCxn id="1671" idx="6"/>
              <a:endCxn id="1670"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681" name="Google Shape;1681;p80"/>
            <p:cNvCxnSpPr>
              <a:stCxn id="1672" idx="5"/>
              <a:endCxn id="1674" idx="0"/>
            </p:cNvCxnSpPr>
            <p:nvPr/>
          </p:nvCxnSpPr>
          <p:spPr>
            <a:xfrm>
              <a:off x="8188225" y="1882592"/>
              <a:ext cx="417600" cy="542700"/>
            </a:xfrm>
            <a:prstGeom prst="straightConnector1">
              <a:avLst/>
            </a:prstGeom>
            <a:noFill/>
            <a:ln w="19050" cap="flat" cmpd="sng">
              <a:solidFill>
                <a:srgbClr val="000000"/>
              </a:solidFill>
              <a:prstDash val="solid"/>
              <a:round/>
              <a:headEnd type="none" w="med" len="med"/>
              <a:tailEnd type="none" w="med" len="med"/>
            </a:ln>
          </p:spPr>
        </p:cxnSp>
        <p:sp>
          <p:nvSpPr>
            <p:cNvPr id="1682" name="Google Shape;1682;p80"/>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3" name="Google Shape;1683;p80"/>
            <p:cNvSpPr txBox="1"/>
            <p:nvPr/>
          </p:nvSpPr>
          <p:spPr>
            <a:xfrm>
              <a:off x="8276097" y="305064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84" name="Google Shape;1684;p80"/>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85" name="Google Shape;1685;p80"/>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86" name="Google Shape;1686;p80"/>
            <p:cNvSpPr txBox="1"/>
            <p:nvPr/>
          </p:nvSpPr>
          <p:spPr>
            <a:xfrm>
              <a:off x="7666774" y="29104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87" name="Google Shape;1687;p80"/>
            <p:cNvSpPr txBox="1"/>
            <p:nvPr/>
          </p:nvSpPr>
          <p:spPr>
            <a:xfrm>
              <a:off x="8337225" y="1965988"/>
              <a:ext cx="3228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8" name="Google Shape;1688;p80"/>
            <p:cNvSpPr txBox="1"/>
            <p:nvPr/>
          </p:nvSpPr>
          <p:spPr>
            <a:xfrm>
              <a:off x="7123999" y="1458400"/>
              <a:ext cx="548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89" name="Google Shape;1689;p80"/>
            <p:cNvCxnSpPr>
              <a:stCxn id="1671" idx="5"/>
              <a:endCxn id="1673" idx="2"/>
            </p:cNvCxnSpPr>
            <p:nvPr/>
          </p:nvCxnSpPr>
          <p:spPr>
            <a:xfrm>
              <a:off x="6603527" y="2857299"/>
              <a:ext cx="1018200" cy="637200"/>
            </a:xfrm>
            <a:prstGeom prst="straightConnector1">
              <a:avLst/>
            </a:prstGeom>
            <a:noFill/>
            <a:ln w="19050" cap="flat" cmpd="sng">
              <a:solidFill>
                <a:srgbClr val="000000"/>
              </a:solidFill>
              <a:prstDash val="solid"/>
              <a:round/>
              <a:headEnd type="none" w="med" len="med"/>
              <a:tailEnd type="none" w="med" len="med"/>
            </a:ln>
          </p:spPr>
        </p:cxnSp>
        <p:sp>
          <p:nvSpPr>
            <p:cNvPr id="1690" name="Google Shape;1690;p80"/>
            <p:cNvSpPr txBox="1"/>
            <p:nvPr/>
          </p:nvSpPr>
          <p:spPr>
            <a:xfrm>
              <a:off x="6790876" y="3153713"/>
              <a:ext cx="440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91" name="Google Shape;1691;p80"/>
            <p:cNvCxnSpPr>
              <a:stCxn id="1672" idx="4"/>
              <a:endCxn id="1670" idx="7"/>
            </p:cNvCxnSpPr>
            <p:nvPr/>
          </p:nvCxnSpPr>
          <p:spPr>
            <a:xfrm flipH="1">
              <a:off x="7716614" y="1944231"/>
              <a:ext cx="322800" cy="576600"/>
            </a:xfrm>
            <a:prstGeom prst="straightConnector1">
              <a:avLst/>
            </a:prstGeom>
            <a:noFill/>
            <a:ln w="19050" cap="flat" cmpd="sng">
              <a:solidFill>
                <a:srgbClr val="000000"/>
              </a:solidFill>
              <a:prstDash val="solid"/>
              <a:round/>
              <a:headEnd type="none" w="med" len="med"/>
              <a:tailEnd type="none" w="med" len="med"/>
            </a:ln>
          </p:spPr>
        </p:cxnSp>
        <p:sp>
          <p:nvSpPr>
            <p:cNvPr id="1692" name="Google Shape;1692;p80"/>
            <p:cNvSpPr txBox="1"/>
            <p:nvPr/>
          </p:nvSpPr>
          <p:spPr>
            <a:xfrm>
              <a:off x="7772538" y="227910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93" name="Google Shape;1693;p80"/>
          <p:cNvSpPr txBox="1"/>
          <p:nvPr/>
        </p:nvSpPr>
        <p:spPr>
          <a:xfrm>
            <a:off x="1135176" y="19139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94" name="Google Shape;1694;p80"/>
          <p:cNvSpPr txBox="1"/>
          <p:nvPr/>
        </p:nvSpPr>
        <p:spPr>
          <a:xfrm>
            <a:off x="1135176" y="22949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95" name="Google Shape;1695;p80"/>
          <p:cNvSpPr txBox="1"/>
          <p:nvPr/>
        </p:nvSpPr>
        <p:spPr>
          <a:xfrm>
            <a:off x="1135176" y="2713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96" name="Google Shape;1696;p80"/>
          <p:cNvSpPr txBox="1"/>
          <p:nvPr/>
        </p:nvSpPr>
        <p:spPr>
          <a:xfrm>
            <a:off x="1135176" y="3094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97" name="Google Shape;1697;p80"/>
          <p:cNvSpPr txBox="1"/>
          <p:nvPr/>
        </p:nvSpPr>
        <p:spPr>
          <a:xfrm>
            <a:off x="1135176" y="3475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98" name="Google Shape;1698;p80"/>
          <p:cNvSpPr txBox="1"/>
          <p:nvPr/>
        </p:nvSpPr>
        <p:spPr>
          <a:xfrm>
            <a:off x="1135176" y="390153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99" name="Google Shape;1699;p80"/>
          <p:cNvSpPr txBox="1"/>
          <p:nvPr/>
        </p:nvSpPr>
        <p:spPr>
          <a:xfrm>
            <a:off x="1901551" y="189912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0" name="Google Shape;1700;p80"/>
          <p:cNvSpPr txBox="1"/>
          <p:nvPr/>
        </p:nvSpPr>
        <p:spPr>
          <a:xfrm>
            <a:off x="2438334" y="19217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A</a:t>
            </a:r>
            <a:endParaRPr sz="2000">
              <a:solidFill>
                <a:srgbClr val="FF0000"/>
              </a:solidFill>
              <a:latin typeface="Shadows Into Light"/>
              <a:ea typeface="Shadows Into Light"/>
              <a:cs typeface="Shadows Into Light"/>
              <a:sym typeface="Shadows Into Light"/>
            </a:endParaRPr>
          </a:p>
        </p:txBody>
      </p:sp>
      <p:sp>
        <p:nvSpPr>
          <p:cNvPr id="1701" name="Google Shape;1701;p80"/>
          <p:cNvSpPr txBox="1"/>
          <p:nvPr/>
        </p:nvSpPr>
        <p:spPr>
          <a:xfrm>
            <a:off x="4395768" y="191464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14, A</a:t>
            </a:r>
            <a:endParaRPr sz="2000">
              <a:solidFill>
                <a:srgbClr val="FF0000"/>
              </a:solidFill>
              <a:latin typeface="Shadows Into Light"/>
              <a:ea typeface="Shadows Into Light"/>
              <a:cs typeface="Shadows Into Light"/>
              <a:sym typeface="Shadows Into Light"/>
            </a:endParaRPr>
          </a:p>
        </p:txBody>
      </p:sp>
      <p:sp>
        <p:nvSpPr>
          <p:cNvPr id="1702" name="Google Shape;1702;p80"/>
          <p:cNvSpPr txBox="1"/>
          <p:nvPr/>
        </p:nvSpPr>
        <p:spPr>
          <a:xfrm>
            <a:off x="5017393" y="1914640"/>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9, A</a:t>
            </a:r>
            <a:endParaRPr sz="2000">
              <a:solidFill>
                <a:srgbClr val="FF0000"/>
              </a:solidFill>
              <a:latin typeface="Shadows Into Light"/>
              <a:ea typeface="Shadows Into Light"/>
              <a:cs typeface="Shadows Into Light"/>
              <a:sym typeface="Shadows Into Light"/>
            </a:endParaRPr>
          </a:p>
        </p:txBody>
      </p:sp>
      <p:sp>
        <p:nvSpPr>
          <p:cNvPr id="1703" name="Google Shape;1703;p80"/>
          <p:cNvSpPr txBox="1"/>
          <p:nvPr/>
        </p:nvSpPr>
        <p:spPr>
          <a:xfrm>
            <a:off x="2511151" y="23033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4" name="Google Shape;1704;p80"/>
          <p:cNvSpPr txBox="1"/>
          <p:nvPr/>
        </p:nvSpPr>
        <p:spPr>
          <a:xfrm>
            <a:off x="3016900" y="2318233"/>
            <a:ext cx="54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22, B</a:t>
            </a:r>
            <a:endParaRPr sz="2000">
              <a:solidFill>
                <a:srgbClr val="FF0000"/>
              </a:solidFill>
              <a:latin typeface="Shadows Into Light"/>
              <a:ea typeface="Shadows Into Light"/>
              <a:cs typeface="Shadows Into Light"/>
              <a:sym typeface="Shadows Into Light"/>
            </a:endParaRPr>
          </a:p>
        </p:txBody>
      </p:sp>
      <p:sp>
        <p:nvSpPr>
          <p:cNvPr id="1705" name="Google Shape;1705;p80"/>
          <p:cNvSpPr txBox="1"/>
          <p:nvPr/>
        </p:nvSpPr>
        <p:spPr>
          <a:xfrm>
            <a:off x="5134012" y="2715429"/>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6" name="Google Shape;1706;p80"/>
          <p:cNvSpPr txBox="1"/>
          <p:nvPr/>
        </p:nvSpPr>
        <p:spPr>
          <a:xfrm>
            <a:off x="3093102" y="2713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15, F</a:t>
            </a:r>
            <a:endParaRPr sz="2000">
              <a:solidFill>
                <a:srgbClr val="FF0000"/>
              </a:solidFill>
              <a:latin typeface="Shadows Into Light"/>
              <a:ea typeface="Shadows Into Light"/>
              <a:cs typeface="Shadows Into Light"/>
              <a:sym typeface="Shadows Into Light"/>
            </a:endParaRPr>
          </a:p>
        </p:txBody>
      </p:sp>
      <p:sp>
        <p:nvSpPr>
          <p:cNvPr id="1707" name="Google Shape;1707;p80"/>
          <p:cNvSpPr txBox="1"/>
          <p:nvPr/>
        </p:nvSpPr>
        <p:spPr>
          <a:xfrm>
            <a:off x="4411284" y="271405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708" name="Google Shape;1708;p80"/>
          <p:cNvSpPr txBox="1"/>
          <p:nvPr/>
        </p:nvSpPr>
        <p:spPr>
          <a:xfrm>
            <a:off x="4448212" y="3096429"/>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9" name="Google Shape;1709;p80"/>
          <p:cNvSpPr txBox="1"/>
          <p:nvPr/>
        </p:nvSpPr>
        <p:spPr>
          <a:xfrm>
            <a:off x="3725484" y="309505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20, E</a:t>
            </a:r>
            <a:endParaRPr sz="2000">
              <a:solidFill>
                <a:srgbClr val="FF0000"/>
              </a:solidFill>
              <a:latin typeface="Shadows Into Light"/>
              <a:ea typeface="Shadows Into Light"/>
              <a:cs typeface="Shadows Into Light"/>
              <a:sym typeface="Shadows Into Light"/>
            </a:endParaRPr>
          </a:p>
        </p:txBody>
      </p:sp>
      <p:sp>
        <p:nvSpPr>
          <p:cNvPr id="1710" name="Google Shape;1710;p80"/>
          <p:cNvSpPr txBox="1"/>
          <p:nvPr/>
        </p:nvSpPr>
        <p:spPr>
          <a:xfrm>
            <a:off x="3189193" y="3491566"/>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1" name="Google Shape;1711;p80"/>
          <p:cNvSpPr txBox="1"/>
          <p:nvPr/>
        </p:nvSpPr>
        <p:spPr>
          <a:xfrm>
            <a:off x="3694942" y="3506401"/>
            <a:ext cx="54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19, C</a:t>
            </a:r>
            <a:endParaRPr sz="2000">
              <a:solidFill>
                <a:srgbClr val="FF0000"/>
              </a:solidFill>
              <a:latin typeface="Shadows Into Light"/>
              <a:ea typeface="Shadows Into Light"/>
              <a:cs typeface="Shadows Into Light"/>
              <a:sym typeface="Shadows Into Light"/>
            </a:endParaRPr>
          </a:p>
        </p:txBody>
      </p:sp>
      <p:sp>
        <p:nvSpPr>
          <p:cNvPr id="1712" name="Google Shape;1712;p80"/>
          <p:cNvSpPr txBox="1"/>
          <p:nvPr/>
        </p:nvSpPr>
        <p:spPr>
          <a:xfrm>
            <a:off x="3798793" y="3888082"/>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3" name="Google Shape;1713;p80"/>
          <p:cNvSpPr txBox="1"/>
          <p:nvPr/>
        </p:nvSpPr>
        <p:spPr>
          <a:xfrm>
            <a:off x="82031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14" name="Google Shape;1714;p80"/>
          <p:cNvSpPr txBox="1"/>
          <p:nvPr/>
        </p:nvSpPr>
        <p:spPr>
          <a:xfrm>
            <a:off x="75173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15" name="Google Shape;1715;p80"/>
          <p:cNvSpPr txBox="1"/>
          <p:nvPr/>
        </p:nvSpPr>
        <p:spPr>
          <a:xfrm>
            <a:off x="68315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16" name="Google Shape;1716;p80"/>
          <p:cNvSpPr txBox="1"/>
          <p:nvPr/>
        </p:nvSpPr>
        <p:spPr>
          <a:xfrm>
            <a:off x="61457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17" name="Google Shape;1717;p80"/>
          <p:cNvSpPr txBox="1"/>
          <p:nvPr/>
        </p:nvSpPr>
        <p:spPr>
          <a:xfrm>
            <a:off x="7022366" y="43917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19</a:t>
            </a:r>
            <a:endParaRPr sz="2000">
              <a:solidFill>
                <a:srgbClr val="FF0000"/>
              </a:solidFill>
              <a:latin typeface="Shadows Into Light"/>
              <a:ea typeface="Shadows Into Light"/>
              <a:cs typeface="Shadows Into Light"/>
              <a:sym typeface="Shadows Into Light"/>
            </a:endParaRPr>
          </a:p>
        </p:txBody>
      </p:sp>
      <p:sp>
        <p:nvSpPr>
          <p:cNvPr id="1718" name="Google Shape;1718;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93"/>
                                        </p:tgtEl>
                                        <p:attrNameLst>
                                          <p:attrName>style.visibility</p:attrName>
                                        </p:attrNameLst>
                                      </p:cBhvr>
                                      <p:to>
                                        <p:strVal val="visible"/>
                                      </p:to>
                                    </p:set>
                                    <p:animEffect transition="in" filter="fade">
                                      <p:cBhvr>
                                        <p:cTn id="7" dur="1000"/>
                                        <p:tgtEl>
                                          <p:spTgt spid="169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700"/>
                                        </p:tgtEl>
                                        <p:attrNameLst>
                                          <p:attrName>style.visibility</p:attrName>
                                        </p:attrNameLst>
                                      </p:cBhvr>
                                      <p:to>
                                        <p:strVal val="visible"/>
                                      </p:to>
                                    </p:set>
                                    <p:animEffect transition="in" filter="fade">
                                      <p:cBhvr>
                                        <p:cTn id="11" dur="1000"/>
                                        <p:tgtEl>
                                          <p:spTgt spid="1700"/>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701"/>
                                        </p:tgtEl>
                                        <p:attrNameLst>
                                          <p:attrName>style.visibility</p:attrName>
                                        </p:attrNameLst>
                                      </p:cBhvr>
                                      <p:to>
                                        <p:strVal val="visible"/>
                                      </p:to>
                                    </p:set>
                                    <p:animEffect transition="in" filter="fade">
                                      <p:cBhvr>
                                        <p:cTn id="15" dur="1100"/>
                                        <p:tgtEl>
                                          <p:spTgt spid="1701"/>
                                        </p:tgtEl>
                                      </p:cBhvr>
                                    </p:animEffect>
                                  </p:childTnLst>
                                </p:cTn>
                              </p:par>
                            </p:childTnLst>
                          </p:cTn>
                        </p:par>
                        <p:par>
                          <p:cTn id="16" fill="hold">
                            <p:stCondLst>
                              <p:cond delay="3100"/>
                            </p:stCondLst>
                            <p:childTnLst>
                              <p:par>
                                <p:cTn id="17" presetID="10" presetClass="entr" presetSubtype="0" fill="hold" nodeType="afterEffect">
                                  <p:stCondLst>
                                    <p:cond delay="0"/>
                                  </p:stCondLst>
                                  <p:childTnLst>
                                    <p:set>
                                      <p:cBhvr>
                                        <p:cTn id="18" dur="1" fill="hold">
                                          <p:stCondLst>
                                            <p:cond delay="0"/>
                                          </p:stCondLst>
                                        </p:cTn>
                                        <p:tgtEl>
                                          <p:spTgt spid="1702"/>
                                        </p:tgtEl>
                                        <p:attrNameLst>
                                          <p:attrName>style.visibility</p:attrName>
                                        </p:attrNameLst>
                                      </p:cBhvr>
                                      <p:to>
                                        <p:strVal val="visible"/>
                                      </p:to>
                                    </p:set>
                                    <p:animEffect transition="in" filter="fade">
                                      <p:cBhvr>
                                        <p:cTn id="19" dur="1000"/>
                                        <p:tgtEl>
                                          <p:spTgt spid="1702"/>
                                        </p:tgtEl>
                                      </p:cBhvr>
                                    </p:animEffect>
                                  </p:childTnLst>
                                </p:cTn>
                              </p:par>
                            </p:childTnLst>
                          </p:cTn>
                        </p:par>
                        <p:par>
                          <p:cTn id="20" fill="hold">
                            <p:stCondLst>
                              <p:cond delay="4100"/>
                            </p:stCondLst>
                            <p:childTnLst>
                              <p:par>
                                <p:cTn id="21" presetID="10" presetClass="entr" presetSubtype="0" fill="hold" nodeType="afterEffect">
                                  <p:stCondLst>
                                    <p:cond delay="0"/>
                                  </p:stCondLst>
                                  <p:childTnLst>
                                    <p:set>
                                      <p:cBhvr>
                                        <p:cTn id="22" dur="1" fill="hold">
                                          <p:stCondLst>
                                            <p:cond delay="0"/>
                                          </p:stCondLst>
                                        </p:cTn>
                                        <p:tgtEl>
                                          <p:spTgt spid="1699"/>
                                        </p:tgtEl>
                                        <p:attrNameLst>
                                          <p:attrName>style.visibility</p:attrName>
                                        </p:attrNameLst>
                                      </p:cBhvr>
                                      <p:to>
                                        <p:strVal val="visible"/>
                                      </p:to>
                                    </p:set>
                                    <p:animEffect transition="in" filter="fade">
                                      <p:cBhvr>
                                        <p:cTn id="23" dur="1000"/>
                                        <p:tgtEl>
                                          <p:spTgt spid="169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94"/>
                                        </p:tgtEl>
                                        <p:attrNameLst>
                                          <p:attrName>style.visibility</p:attrName>
                                        </p:attrNameLst>
                                      </p:cBhvr>
                                      <p:to>
                                        <p:strVal val="visible"/>
                                      </p:to>
                                    </p:set>
                                    <p:animEffect transition="in" filter="fade">
                                      <p:cBhvr>
                                        <p:cTn id="28" dur="1000"/>
                                        <p:tgtEl>
                                          <p:spTgt spid="1694"/>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704"/>
                                        </p:tgtEl>
                                        <p:attrNameLst>
                                          <p:attrName>style.visibility</p:attrName>
                                        </p:attrNameLst>
                                      </p:cBhvr>
                                      <p:to>
                                        <p:strVal val="visible"/>
                                      </p:to>
                                    </p:set>
                                    <p:animEffect transition="in" filter="fade">
                                      <p:cBhvr>
                                        <p:cTn id="32" dur="1000"/>
                                        <p:tgtEl>
                                          <p:spTgt spid="1704"/>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1703"/>
                                        </p:tgtEl>
                                        <p:attrNameLst>
                                          <p:attrName>style.visibility</p:attrName>
                                        </p:attrNameLst>
                                      </p:cBhvr>
                                      <p:to>
                                        <p:strVal val="visible"/>
                                      </p:to>
                                    </p:set>
                                    <p:animEffect transition="in" filter="fade">
                                      <p:cBhvr>
                                        <p:cTn id="36" dur="1000"/>
                                        <p:tgtEl>
                                          <p:spTgt spid="170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95"/>
                                        </p:tgtEl>
                                        <p:attrNameLst>
                                          <p:attrName>style.visibility</p:attrName>
                                        </p:attrNameLst>
                                      </p:cBhvr>
                                      <p:to>
                                        <p:strVal val="visible"/>
                                      </p:to>
                                    </p:set>
                                    <p:animEffect transition="in" filter="fade">
                                      <p:cBhvr>
                                        <p:cTn id="41" dur="1000"/>
                                        <p:tgtEl>
                                          <p:spTgt spid="1695"/>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706"/>
                                        </p:tgtEl>
                                        <p:attrNameLst>
                                          <p:attrName>style.visibility</p:attrName>
                                        </p:attrNameLst>
                                      </p:cBhvr>
                                      <p:to>
                                        <p:strVal val="visible"/>
                                      </p:to>
                                    </p:set>
                                    <p:animEffect transition="in" filter="fade">
                                      <p:cBhvr>
                                        <p:cTn id="45" dur="1000"/>
                                        <p:tgtEl>
                                          <p:spTgt spid="1706"/>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1707"/>
                                        </p:tgtEl>
                                        <p:attrNameLst>
                                          <p:attrName>style.visibility</p:attrName>
                                        </p:attrNameLst>
                                      </p:cBhvr>
                                      <p:to>
                                        <p:strVal val="visible"/>
                                      </p:to>
                                    </p:set>
                                    <p:animEffect transition="in" filter="fade">
                                      <p:cBhvr>
                                        <p:cTn id="49" dur="1000"/>
                                        <p:tgtEl>
                                          <p:spTgt spid="1707"/>
                                        </p:tgtEl>
                                      </p:cBhvr>
                                    </p:animEffect>
                                  </p:childTnLst>
                                </p:cTn>
                              </p:par>
                            </p:childTnLst>
                          </p:cTn>
                        </p:par>
                        <p:par>
                          <p:cTn id="50" fill="hold">
                            <p:stCondLst>
                              <p:cond delay="3000"/>
                            </p:stCondLst>
                            <p:childTnLst>
                              <p:par>
                                <p:cTn id="51" presetID="10" presetClass="entr" presetSubtype="0" fill="hold" nodeType="afterEffect">
                                  <p:stCondLst>
                                    <p:cond delay="0"/>
                                  </p:stCondLst>
                                  <p:childTnLst>
                                    <p:set>
                                      <p:cBhvr>
                                        <p:cTn id="52" dur="1" fill="hold">
                                          <p:stCondLst>
                                            <p:cond delay="0"/>
                                          </p:stCondLst>
                                        </p:cTn>
                                        <p:tgtEl>
                                          <p:spTgt spid="1705"/>
                                        </p:tgtEl>
                                        <p:attrNameLst>
                                          <p:attrName>style.visibility</p:attrName>
                                        </p:attrNameLst>
                                      </p:cBhvr>
                                      <p:to>
                                        <p:strVal val="visible"/>
                                      </p:to>
                                    </p:set>
                                    <p:animEffect transition="in" filter="fade">
                                      <p:cBhvr>
                                        <p:cTn id="53" dur="1000"/>
                                        <p:tgtEl>
                                          <p:spTgt spid="170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696"/>
                                        </p:tgtEl>
                                        <p:attrNameLst>
                                          <p:attrName>style.visibility</p:attrName>
                                        </p:attrNameLst>
                                      </p:cBhvr>
                                      <p:to>
                                        <p:strVal val="visible"/>
                                      </p:to>
                                    </p:set>
                                    <p:animEffect transition="in" filter="fade">
                                      <p:cBhvr>
                                        <p:cTn id="58" dur="1000"/>
                                        <p:tgtEl>
                                          <p:spTgt spid="1696"/>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709"/>
                                        </p:tgtEl>
                                        <p:attrNameLst>
                                          <p:attrName>style.visibility</p:attrName>
                                        </p:attrNameLst>
                                      </p:cBhvr>
                                      <p:to>
                                        <p:strVal val="visible"/>
                                      </p:to>
                                    </p:set>
                                    <p:animEffect transition="in" filter="fade">
                                      <p:cBhvr>
                                        <p:cTn id="62" dur="1000"/>
                                        <p:tgtEl>
                                          <p:spTgt spid="1709"/>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708"/>
                                        </p:tgtEl>
                                        <p:attrNameLst>
                                          <p:attrName>style.visibility</p:attrName>
                                        </p:attrNameLst>
                                      </p:cBhvr>
                                      <p:to>
                                        <p:strVal val="visible"/>
                                      </p:to>
                                    </p:set>
                                    <p:animEffect transition="in" filter="fade">
                                      <p:cBhvr>
                                        <p:cTn id="66" dur="1000"/>
                                        <p:tgtEl>
                                          <p:spTgt spid="170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697"/>
                                        </p:tgtEl>
                                        <p:attrNameLst>
                                          <p:attrName>style.visibility</p:attrName>
                                        </p:attrNameLst>
                                      </p:cBhvr>
                                      <p:to>
                                        <p:strVal val="visible"/>
                                      </p:to>
                                    </p:set>
                                    <p:animEffect transition="in" filter="fade">
                                      <p:cBhvr>
                                        <p:cTn id="71" dur="1000"/>
                                        <p:tgtEl>
                                          <p:spTgt spid="1697"/>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711"/>
                                        </p:tgtEl>
                                        <p:attrNameLst>
                                          <p:attrName>style.visibility</p:attrName>
                                        </p:attrNameLst>
                                      </p:cBhvr>
                                      <p:to>
                                        <p:strVal val="visible"/>
                                      </p:to>
                                    </p:set>
                                    <p:animEffect transition="in" filter="fade">
                                      <p:cBhvr>
                                        <p:cTn id="75" dur="1000"/>
                                        <p:tgtEl>
                                          <p:spTgt spid="1711"/>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710"/>
                                        </p:tgtEl>
                                        <p:attrNameLst>
                                          <p:attrName>style.visibility</p:attrName>
                                        </p:attrNameLst>
                                      </p:cBhvr>
                                      <p:to>
                                        <p:strVal val="visible"/>
                                      </p:to>
                                    </p:set>
                                    <p:animEffect transition="in" filter="fade">
                                      <p:cBhvr>
                                        <p:cTn id="79" dur="1000"/>
                                        <p:tgtEl>
                                          <p:spTgt spid="171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98"/>
                                        </p:tgtEl>
                                        <p:attrNameLst>
                                          <p:attrName>style.visibility</p:attrName>
                                        </p:attrNameLst>
                                      </p:cBhvr>
                                      <p:to>
                                        <p:strVal val="visible"/>
                                      </p:to>
                                    </p:set>
                                    <p:animEffect transition="in" filter="fade">
                                      <p:cBhvr>
                                        <p:cTn id="84" dur="1000"/>
                                        <p:tgtEl>
                                          <p:spTgt spid="1698"/>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712"/>
                                        </p:tgtEl>
                                        <p:attrNameLst>
                                          <p:attrName>style.visibility</p:attrName>
                                        </p:attrNameLst>
                                      </p:cBhvr>
                                      <p:to>
                                        <p:strVal val="visible"/>
                                      </p:to>
                                    </p:set>
                                    <p:animEffect transition="in" filter="fade">
                                      <p:cBhvr>
                                        <p:cTn id="88" dur="1000"/>
                                        <p:tgtEl>
                                          <p:spTgt spid="171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713"/>
                                        </p:tgtEl>
                                        <p:attrNameLst>
                                          <p:attrName>style.visibility</p:attrName>
                                        </p:attrNameLst>
                                      </p:cBhvr>
                                      <p:to>
                                        <p:strVal val="visible"/>
                                      </p:to>
                                    </p:set>
                                    <p:animEffect transition="in" filter="fade">
                                      <p:cBhvr>
                                        <p:cTn id="93" dur="1000"/>
                                        <p:tgtEl>
                                          <p:spTgt spid="1713"/>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717"/>
                                        </p:tgtEl>
                                        <p:attrNameLst>
                                          <p:attrName>style.visibility</p:attrName>
                                        </p:attrNameLst>
                                      </p:cBhvr>
                                      <p:to>
                                        <p:strVal val="visible"/>
                                      </p:to>
                                    </p:set>
                                    <p:animEffect transition="in" filter="fade">
                                      <p:cBhvr>
                                        <p:cTn id="97" dur="1000"/>
                                        <p:tgtEl>
                                          <p:spTgt spid="1717"/>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714"/>
                                        </p:tgtEl>
                                        <p:attrNameLst>
                                          <p:attrName>style.visibility</p:attrName>
                                        </p:attrNameLst>
                                      </p:cBhvr>
                                      <p:to>
                                        <p:strVal val="visible"/>
                                      </p:to>
                                    </p:set>
                                    <p:animEffect transition="in" filter="fade">
                                      <p:cBhvr>
                                        <p:cTn id="102" dur="1000"/>
                                        <p:tgtEl>
                                          <p:spTgt spid="1714"/>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715"/>
                                        </p:tgtEl>
                                        <p:attrNameLst>
                                          <p:attrName>style.visibility</p:attrName>
                                        </p:attrNameLst>
                                      </p:cBhvr>
                                      <p:to>
                                        <p:strVal val="visible"/>
                                      </p:to>
                                    </p:set>
                                    <p:animEffect transition="in" filter="fade">
                                      <p:cBhvr>
                                        <p:cTn id="106" dur="1000"/>
                                        <p:tgtEl>
                                          <p:spTgt spid="1715"/>
                                        </p:tgtEl>
                                      </p:cBhvr>
                                    </p:animEffect>
                                  </p:childTnLst>
                                </p:cTn>
                              </p:par>
                            </p:childTnLst>
                          </p:cTn>
                        </p:par>
                        <p:par>
                          <p:cTn id="107" fill="hold">
                            <p:stCondLst>
                              <p:cond delay="2000"/>
                            </p:stCondLst>
                            <p:childTnLst>
                              <p:par>
                                <p:cTn id="108" presetID="10" presetClass="entr" presetSubtype="0" fill="hold" nodeType="afterEffect">
                                  <p:stCondLst>
                                    <p:cond delay="0"/>
                                  </p:stCondLst>
                                  <p:childTnLst>
                                    <p:set>
                                      <p:cBhvr>
                                        <p:cTn id="109" dur="1" fill="hold">
                                          <p:stCondLst>
                                            <p:cond delay="0"/>
                                          </p:stCondLst>
                                        </p:cTn>
                                        <p:tgtEl>
                                          <p:spTgt spid="1716"/>
                                        </p:tgtEl>
                                        <p:attrNameLst>
                                          <p:attrName>style.visibility</p:attrName>
                                        </p:attrNameLst>
                                      </p:cBhvr>
                                      <p:to>
                                        <p:strVal val="visible"/>
                                      </p:to>
                                    </p:set>
                                    <p:animEffect transition="in" filter="fade">
                                      <p:cBhvr>
                                        <p:cTn id="110" dur="1000"/>
                                        <p:tgtEl>
                                          <p:spTgt spid="1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724" name="Google Shape;1724;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graphicFrame>
        <p:nvGraphicFramePr>
          <p:cNvPr id="1725" name="Google Shape;1725;p81"/>
          <p:cNvGraphicFramePr/>
          <p:nvPr/>
        </p:nvGraphicFramePr>
        <p:xfrm>
          <a:off x="6204357" y="4002301"/>
          <a:ext cx="2819750" cy="396210"/>
        </p:xfrm>
        <a:graphic>
          <a:graphicData uri="http://schemas.openxmlformats.org/drawingml/2006/table">
            <a:tbl>
              <a:tblPr>
                <a:noFill/>
                <a:tableStyleId>{89CCAE03-A2B2-4379-B0C2-E101A7E113D6}</a:tableStyleId>
              </a:tblPr>
              <a:tblGrid>
                <a:gridCol w="563950">
                  <a:extLst>
                    <a:ext uri="{9D8B030D-6E8A-4147-A177-3AD203B41FA5}">
                      <a16:colId xmlns:a16="http://schemas.microsoft.com/office/drawing/2014/main" val="20000"/>
                    </a:ext>
                  </a:extLst>
                </a:gridCol>
                <a:gridCol w="563950">
                  <a:extLst>
                    <a:ext uri="{9D8B030D-6E8A-4147-A177-3AD203B41FA5}">
                      <a16:colId xmlns:a16="http://schemas.microsoft.com/office/drawing/2014/main" val="20001"/>
                    </a:ext>
                  </a:extLst>
                </a:gridCol>
                <a:gridCol w="563950">
                  <a:extLst>
                    <a:ext uri="{9D8B030D-6E8A-4147-A177-3AD203B41FA5}">
                      <a16:colId xmlns:a16="http://schemas.microsoft.com/office/drawing/2014/main" val="20002"/>
                    </a:ext>
                  </a:extLst>
                </a:gridCol>
                <a:gridCol w="563950">
                  <a:extLst>
                    <a:ext uri="{9D8B030D-6E8A-4147-A177-3AD203B41FA5}">
                      <a16:colId xmlns:a16="http://schemas.microsoft.com/office/drawing/2014/main" val="20003"/>
                    </a:ext>
                  </a:extLst>
                </a:gridCol>
                <a:gridCol w="563950">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26" name="Google Shape;1726;p81"/>
          <p:cNvSpPr txBox="1"/>
          <p:nvPr/>
        </p:nvSpPr>
        <p:spPr>
          <a:xfrm>
            <a:off x="6204367" y="43985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27" name="Google Shape;1727;p81"/>
          <p:cNvGraphicFramePr/>
          <p:nvPr/>
        </p:nvGraphicFramePr>
        <p:xfrm>
          <a:off x="152695" y="1028101"/>
          <a:ext cx="5894500" cy="3700695"/>
        </p:xfrm>
        <a:graphic>
          <a:graphicData uri="http://schemas.openxmlformats.org/drawingml/2006/table">
            <a:tbl>
              <a:tblPr>
                <a:noFill/>
                <a:tableStyleId>{89CCAE03-A2B2-4379-B0C2-E101A7E113D6}</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595959"/>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728" name="Google Shape;1728;p81"/>
          <p:cNvSpPr txBox="1"/>
          <p:nvPr/>
        </p:nvSpPr>
        <p:spPr>
          <a:xfrm>
            <a:off x="6204367" y="36021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729" name="Google Shape;1729;p81"/>
          <p:cNvGrpSpPr/>
          <p:nvPr/>
        </p:nvGrpSpPr>
        <p:grpSpPr>
          <a:xfrm>
            <a:off x="6173204" y="1068352"/>
            <a:ext cx="2819709" cy="2625031"/>
            <a:chOff x="6128035" y="1373152"/>
            <a:chExt cx="2819709" cy="2625031"/>
          </a:xfrm>
        </p:grpSpPr>
        <p:sp>
          <p:nvSpPr>
            <p:cNvPr id="1730" name="Google Shape;1730;p81"/>
            <p:cNvSpPr/>
            <p:nvPr/>
          </p:nvSpPr>
          <p:spPr>
            <a:xfrm>
              <a:off x="6339634" y="1410609"/>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731" name="Google Shape;1731;p81"/>
            <p:cNvSpPr/>
            <p:nvPr/>
          </p:nvSpPr>
          <p:spPr>
            <a:xfrm>
              <a:off x="6236777" y="22315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732" name="Google Shape;1732;p81"/>
            <p:cNvSpPr/>
            <p:nvPr/>
          </p:nvSpPr>
          <p:spPr>
            <a:xfrm>
              <a:off x="7251100" y="137315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cxnSp>
          <p:nvCxnSpPr>
            <p:cNvPr id="1733" name="Google Shape;1733;p81"/>
            <p:cNvCxnSpPr>
              <a:stCxn id="1730" idx="6"/>
              <a:endCxn id="1732" idx="2"/>
            </p:cNvCxnSpPr>
            <p:nvPr/>
          </p:nvCxnSpPr>
          <p:spPr>
            <a:xfrm rot="10800000" flipH="1">
              <a:off x="6760534" y="1583559"/>
              <a:ext cx="490500" cy="37500"/>
            </a:xfrm>
            <a:prstGeom prst="straightConnector1">
              <a:avLst/>
            </a:prstGeom>
            <a:noFill/>
            <a:ln w="19050" cap="flat" cmpd="sng">
              <a:solidFill>
                <a:srgbClr val="000000"/>
              </a:solidFill>
              <a:prstDash val="solid"/>
              <a:round/>
              <a:headEnd type="none" w="med" len="med"/>
              <a:tailEnd type="none" w="med" len="med"/>
            </a:ln>
          </p:spPr>
        </p:cxnSp>
        <p:cxnSp>
          <p:nvCxnSpPr>
            <p:cNvPr id="1734" name="Google Shape;1734;p81"/>
            <p:cNvCxnSpPr>
              <a:stCxn id="1730" idx="4"/>
              <a:endCxn id="1731" idx="0"/>
            </p:cNvCxnSpPr>
            <p:nvPr/>
          </p:nvCxnSpPr>
          <p:spPr>
            <a:xfrm flipH="1">
              <a:off x="6447184" y="1831509"/>
              <a:ext cx="102900" cy="400200"/>
            </a:xfrm>
            <a:prstGeom prst="straightConnector1">
              <a:avLst/>
            </a:prstGeom>
            <a:noFill/>
            <a:ln w="19050" cap="flat" cmpd="sng">
              <a:solidFill>
                <a:srgbClr val="000000"/>
              </a:solidFill>
              <a:prstDash val="solid"/>
              <a:round/>
              <a:headEnd type="none" w="med" len="med"/>
              <a:tailEnd type="none" w="med" len="med"/>
            </a:ln>
          </p:spPr>
        </p:cxnSp>
        <p:cxnSp>
          <p:nvCxnSpPr>
            <p:cNvPr id="1735" name="Google Shape;1735;p81"/>
            <p:cNvCxnSpPr>
              <a:endCxn id="1732" idx="3"/>
            </p:cNvCxnSpPr>
            <p:nvPr/>
          </p:nvCxnSpPr>
          <p:spPr>
            <a:xfrm rot="10800000" flipH="1">
              <a:off x="6596039" y="1732419"/>
              <a:ext cx="716700" cy="560700"/>
            </a:xfrm>
            <a:prstGeom prst="straightConnector1">
              <a:avLst/>
            </a:prstGeom>
            <a:noFill/>
            <a:ln w="19050" cap="flat" cmpd="sng">
              <a:solidFill>
                <a:srgbClr val="000000"/>
              </a:solidFill>
              <a:prstDash val="solid"/>
              <a:round/>
              <a:headEnd type="none" w="med" len="med"/>
              <a:tailEnd type="none" w="med" len="med"/>
            </a:ln>
          </p:spPr>
        </p:cxnSp>
        <p:sp>
          <p:nvSpPr>
            <p:cNvPr id="1736" name="Google Shape;1736;p81"/>
            <p:cNvSpPr/>
            <p:nvPr/>
          </p:nvSpPr>
          <p:spPr>
            <a:xfrm>
              <a:off x="7837950" y="197063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737" name="Google Shape;1737;p81"/>
            <p:cNvSpPr/>
            <p:nvPr/>
          </p:nvSpPr>
          <p:spPr>
            <a:xfrm>
              <a:off x="8169900" y="26524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738" name="Google Shape;1738;p81"/>
            <p:cNvSpPr/>
            <p:nvPr/>
          </p:nvSpPr>
          <p:spPr>
            <a:xfrm>
              <a:off x="6568225" y="300387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739" name="Google Shape;1739;p81"/>
            <p:cNvCxnSpPr>
              <a:stCxn id="1732" idx="5"/>
              <a:endCxn id="1736" idx="1"/>
            </p:cNvCxnSpPr>
            <p:nvPr/>
          </p:nvCxnSpPr>
          <p:spPr>
            <a:xfrm>
              <a:off x="7610360" y="1732419"/>
              <a:ext cx="289200" cy="300000"/>
            </a:xfrm>
            <a:prstGeom prst="straightConnector1">
              <a:avLst/>
            </a:prstGeom>
            <a:noFill/>
            <a:ln w="19050" cap="flat" cmpd="sng">
              <a:solidFill>
                <a:srgbClr val="000000"/>
              </a:solidFill>
              <a:prstDash val="solid"/>
              <a:round/>
              <a:headEnd type="none" w="med" len="med"/>
              <a:tailEnd type="none" w="med" len="med"/>
            </a:ln>
          </p:spPr>
        </p:cxnSp>
        <p:cxnSp>
          <p:nvCxnSpPr>
            <p:cNvPr id="1740" name="Google Shape;1740;p81"/>
            <p:cNvCxnSpPr>
              <a:stCxn id="1731" idx="4"/>
              <a:endCxn id="1738" idx="1"/>
            </p:cNvCxnSpPr>
            <p:nvPr/>
          </p:nvCxnSpPr>
          <p:spPr>
            <a:xfrm>
              <a:off x="6447227" y="2652466"/>
              <a:ext cx="182700" cy="413100"/>
            </a:xfrm>
            <a:prstGeom prst="straightConnector1">
              <a:avLst/>
            </a:prstGeom>
            <a:noFill/>
            <a:ln w="19050" cap="flat" cmpd="sng">
              <a:solidFill>
                <a:srgbClr val="000000"/>
              </a:solidFill>
              <a:prstDash val="solid"/>
              <a:round/>
              <a:headEnd type="none" w="med" len="med"/>
              <a:tailEnd type="none" w="med" len="med"/>
            </a:ln>
          </p:spPr>
        </p:cxnSp>
        <p:cxnSp>
          <p:nvCxnSpPr>
            <p:cNvPr id="1741" name="Google Shape;1741;p81"/>
            <p:cNvCxnSpPr>
              <a:stCxn id="1738" idx="6"/>
              <a:endCxn id="1737" idx="2"/>
            </p:cNvCxnSpPr>
            <p:nvPr/>
          </p:nvCxnSpPr>
          <p:spPr>
            <a:xfrm rot="10800000" flipH="1">
              <a:off x="6989125" y="2863021"/>
              <a:ext cx="1180800" cy="351300"/>
            </a:xfrm>
            <a:prstGeom prst="straightConnector1">
              <a:avLst/>
            </a:prstGeom>
            <a:noFill/>
            <a:ln w="19050" cap="flat" cmpd="sng">
              <a:solidFill>
                <a:srgbClr val="000000"/>
              </a:solidFill>
              <a:prstDash val="solid"/>
              <a:round/>
              <a:headEnd type="none" w="med" len="med"/>
              <a:tailEnd type="none" w="med" len="med"/>
            </a:ln>
          </p:spPr>
        </p:cxnSp>
        <p:cxnSp>
          <p:nvCxnSpPr>
            <p:cNvPr id="1742" name="Google Shape;1742;p81"/>
            <p:cNvCxnSpPr>
              <a:stCxn id="1738" idx="7"/>
              <a:endCxn id="1736" idx="3"/>
            </p:cNvCxnSpPr>
            <p:nvPr/>
          </p:nvCxnSpPr>
          <p:spPr>
            <a:xfrm rot="10800000" flipH="1">
              <a:off x="6927485" y="2329911"/>
              <a:ext cx="972000" cy="735600"/>
            </a:xfrm>
            <a:prstGeom prst="straightConnector1">
              <a:avLst/>
            </a:prstGeom>
            <a:noFill/>
            <a:ln w="19050" cap="flat" cmpd="sng">
              <a:solidFill>
                <a:srgbClr val="000000"/>
              </a:solidFill>
              <a:prstDash val="solid"/>
              <a:round/>
              <a:headEnd type="none" w="med" len="med"/>
              <a:tailEnd type="none" w="med" len="med"/>
            </a:ln>
          </p:spPr>
        </p:cxnSp>
        <p:cxnSp>
          <p:nvCxnSpPr>
            <p:cNvPr id="1743" name="Google Shape;1743;p81"/>
            <p:cNvCxnSpPr>
              <a:stCxn id="1736" idx="5"/>
              <a:endCxn id="1737" idx="0"/>
            </p:cNvCxnSpPr>
            <p:nvPr/>
          </p:nvCxnSpPr>
          <p:spPr>
            <a:xfrm>
              <a:off x="8197210" y="2329894"/>
              <a:ext cx="183000" cy="322500"/>
            </a:xfrm>
            <a:prstGeom prst="straightConnector1">
              <a:avLst/>
            </a:prstGeom>
            <a:noFill/>
            <a:ln w="19050" cap="flat" cmpd="sng">
              <a:solidFill>
                <a:srgbClr val="000000"/>
              </a:solidFill>
              <a:prstDash val="solid"/>
              <a:round/>
              <a:headEnd type="none" w="med" len="med"/>
              <a:tailEnd type="none" w="med" len="med"/>
            </a:ln>
          </p:spPr>
        </p:cxnSp>
        <p:sp>
          <p:nvSpPr>
            <p:cNvPr id="1744" name="Google Shape;1744;p81"/>
            <p:cNvSpPr/>
            <p:nvPr/>
          </p:nvSpPr>
          <p:spPr>
            <a:xfrm>
              <a:off x="8380225" y="3471909"/>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745" name="Google Shape;1745;p81"/>
            <p:cNvSpPr/>
            <p:nvPr/>
          </p:nvSpPr>
          <p:spPr>
            <a:xfrm>
              <a:off x="7312750" y="35772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746" name="Google Shape;1746;p81"/>
            <p:cNvCxnSpPr>
              <a:stCxn id="1738" idx="5"/>
              <a:endCxn id="1745" idx="1"/>
            </p:cNvCxnSpPr>
            <p:nvPr/>
          </p:nvCxnSpPr>
          <p:spPr>
            <a:xfrm>
              <a:off x="6927485" y="3363132"/>
              <a:ext cx="447000" cy="275700"/>
            </a:xfrm>
            <a:prstGeom prst="straightConnector1">
              <a:avLst/>
            </a:prstGeom>
            <a:noFill/>
            <a:ln w="19050" cap="flat" cmpd="sng">
              <a:solidFill>
                <a:srgbClr val="000000"/>
              </a:solidFill>
              <a:prstDash val="solid"/>
              <a:round/>
              <a:headEnd type="none" w="med" len="med"/>
              <a:tailEnd type="none" w="med" len="med"/>
            </a:ln>
          </p:spPr>
        </p:cxnSp>
        <p:cxnSp>
          <p:nvCxnSpPr>
            <p:cNvPr id="1747" name="Google Shape;1747;p81"/>
            <p:cNvCxnSpPr>
              <a:stCxn id="1745" idx="6"/>
              <a:endCxn id="1744" idx="2"/>
            </p:cNvCxnSpPr>
            <p:nvPr/>
          </p:nvCxnSpPr>
          <p:spPr>
            <a:xfrm rot="10800000" flipH="1">
              <a:off x="7733650" y="3682434"/>
              <a:ext cx="646500" cy="105300"/>
            </a:xfrm>
            <a:prstGeom prst="straightConnector1">
              <a:avLst/>
            </a:prstGeom>
            <a:noFill/>
            <a:ln w="19050" cap="flat" cmpd="sng">
              <a:solidFill>
                <a:srgbClr val="000000"/>
              </a:solidFill>
              <a:prstDash val="solid"/>
              <a:round/>
              <a:headEnd type="none" w="med" len="med"/>
              <a:tailEnd type="none" w="med" len="med"/>
            </a:ln>
          </p:spPr>
        </p:cxnSp>
        <p:cxnSp>
          <p:nvCxnSpPr>
            <p:cNvPr id="1748" name="Google Shape;1748;p81"/>
            <p:cNvCxnSpPr>
              <a:stCxn id="1737" idx="5"/>
              <a:endCxn id="1744" idx="0"/>
            </p:cNvCxnSpPr>
            <p:nvPr/>
          </p:nvCxnSpPr>
          <p:spPr>
            <a:xfrm>
              <a:off x="8529160" y="3011744"/>
              <a:ext cx="61500" cy="460200"/>
            </a:xfrm>
            <a:prstGeom prst="straightConnector1">
              <a:avLst/>
            </a:prstGeom>
            <a:noFill/>
            <a:ln w="19050" cap="flat" cmpd="sng">
              <a:solidFill>
                <a:srgbClr val="000000"/>
              </a:solidFill>
              <a:prstDash val="solid"/>
              <a:round/>
              <a:headEnd type="none" w="med" len="med"/>
              <a:tailEnd type="none" w="med" len="med"/>
            </a:ln>
          </p:spPr>
        </p:cxnSp>
        <p:sp>
          <p:nvSpPr>
            <p:cNvPr id="1749" name="Google Shape;1749;p81"/>
            <p:cNvSpPr txBox="1"/>
            <p:nvPr/>
          </p:nvSpPr>
          <p:spPr>
            <a:xfrm>
              <a:off x="6754835" y="1373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0" name="Google Shape;1750;p81"/>
            <p:cNvSpPr txBox="1"/>
            <p:nvPr/>
          </p:nvSpPr>
          <p:spPr>
            <a:xfrm>
              <a:off x="6128035" y="18911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1" name="Google Shape;1751;p81"/>
            <p:cNvSpPr txBox="1"/>
            <p:nvPr/>
          </p:nvSpPr>
          <p:spPr>
            <a:xfrm>
              <a:off x="6869198" y="19403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752" name="Google Shape;1752;p81"/>
            <p:cNvSpPr txBox="1"/>
            <p:nvPr/>
          </p:nvSpPr>
          <p:spPr>
            <a:xfrm>
              <a:off x="7690223" y="1698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753" name="Google Shape;1753;p81"/>
            <p:cNvSpPr txBox="1"/>
            <p:nvPr/>
          </p:nvSpPr>
          <p:spPr>
            <a:xfrm>
              <a:off x="6166223" y="27653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754" name="Google Shape;1754;p81"/>
            <p:cNvSpPr txBox="1"/>
            <p:nvPr/>
          </p:nvSpPr>
          <p:spPr>
            <a:xfrm>
              <a:off x="7080623" y="2460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5" name="Google Shape;1755;p81"/>
            <p:cNvSpPr txBox="1"/>
            <p:nvPr/>
          </p:nvSpPr>
          <p:spPr>
            <a:xfrm>
              <a:off x="7379044" y="27886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756" name="Google Shape;1756;p81"/>
            <p:cNvSpPr txBox="1"/>
            <p:nvPr/>
          </p:nvSpPr>
          <p:spPr>
            <a:xfrm>
              <a:off x="8445844" y="3093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57" name="Google Shape;1757;p81"/>
            <p:cNvSpPr txBox="1"/>
            <p:nvPr/>
          </p:nvSpPr>
          <p:spPr>
            <a:xfrm>
              <a:off x="7760044" y="37030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758" name="Google Shape;1758;p81"/>
            <p:cNvSpPr txBox="1"/>
            <p:nvPr/>
          </p:nvSpPr>
          <p:spPr>
            <a:xfrm>
              <a:off x="6837886" y="3474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9" name="Google Shape;1759;p81"/>
            <p:cNvSpPr txBox="1"/>
            <p:nvPr/>
          </p:nvSpPr>
          <p:spPr>
            <a:xfrm>
              <a:off x="8223623" y="2308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760" name="Google Shape;1760;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13.23</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5" name="Google Shape;1765;p82"/>
          <p:cNvSpPr txBox="1"/>
          <p:nvPr/>
        </p:nvSpPr>
        <p:spPr>
          <a:xfrm>
            <a:off x="8510636"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66" name="Google Shape;1766;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1767" name="Google Shape;1767;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graphicFrame>
        <p:nvGraphicFramePr>
          <p:cNvPr id="1768" name="Google Shape;1768;p82"/>
          <p:cNvGraphicFramePr/>
          <p:nvPr/>
        </p:nvGraphicFramePr>
        <p:xfrm>
          <a:off x="6204357" y="4002301"/>
          <a:ext cx="2819750" cy="396210"/>
        </p:xfrm>
        <a:graphic>
          <a:graphicData uri="http://schemas.openxmlformats.org/drawingml/2006/table">
            <a:tbl>
              <a:tblPr>
                <a:noFill/>
                <a:tableStyleId>{89CCAE03-A2B2-4379-B0C2-E101A7E113D6}</a:tableStyleId>
              </a:tblPr>
              <a:tblGrid>
                <a:gridCol w="563950">
                  <a:extLst>
                    <a:ext uri="{9D8B030D-6E8A-4147-A177-3AD203B41FA5}">
                      <a16:colId xmlns:a16="http://schemas.microsoft.com/office/drawing/2014/main" val="20000"/>
                    </a:ext>
                  </a:extLst>
                </a:gridCol>
                <a:gridCol w="563950">
                  <a:extLst>
                    <a:ext uri="{9D8B030D-6E8A-4147-A177-3AD203B41FA5}">
                      <a16:colId xmlns:a16="http://schemas.microsoft.com/office/drawing/2014/main" val="20001"/>
                    </a:ext>
                  </a:extLst>
                </a:gridCol>
                <a:gridCol w="563950">
                  <a:extLst>
                    <a:ext uri="{9D8B030D-6E8A-4147-A177-3AD203B41FA5}">
                      <a16:colId xmlns:a16="http://schemas.microsoft.com/office/drawing/2014/main" val="20002"/>
                    </a:ext>
                  </a:extLst>
                </a:gridCol>
                <a:gridCol w="563950">
                  <a:extLst>
                    <a:ext uri="{9D8B030D-6E8A-4147-A177-3AD203B41FA5}">
                      <a16:colId xmlns:a16="http://schemas.microsoft.com/office/drawing/2014/main" val="20003"/>
                    </a:ext>
                  </a:extLst>
                </a:gridCol>
                <a:gridCol w="563950">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69" name="Google Shape;1769;p82"/>
          <p:cNvSpPr txBox="1"/>
          <p:nvPr/>
        </p:nvSpPr>
        <p:spPr>
          <a:xfrm>
            <a:off x="6204367" y="43985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70" name="Google Shape;1770;p82"/>
          <p:cNvGraphicFramePr/>
          <p:nvPr/>
        </p:nvGraphicFramePr>
        <p:xfrm>
          <a:off x="152695" y="1028101"/>
          <a:ext cx="5894500" cy="3700695"/>
        </p:xfrm>
        <a:graphic>
          <a:graphicData uri="http://schemas.openxmlformats.org/drawingml/2006/table">
            <a:tbl>
              <a:tblPr>
                <a:noFill/>
                <a:tableStyleId>{89CCAE03-A2B2-4379-B0C2-E101A7E113D6}</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595959"/>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771" name="Google Shape;1771;p82"/>
          <p:cNvSpPr txBox="1"/>
          <p:nvPr/>
        </p:nvSpPr>
        <p:spPr>
          <a:xfrm>
            <a:off x="6204367" y="36021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sp>
        <p:nvSpPr>
          <p:cNvPr id="1772" name="Google Shape;1772;p82"/>
          <p:cNvSpPr txBox="1"/>
          <p:nvPr/>
        </p:nvSpPr>
        <p:spPr>
          <a:xfrm>
            <a:off x="828997" y="18532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73" name="Google Shape;1773;p82"/>
          <p:cNvSpPr txBox="1"/>
          <p:nvPr/>
        </p:nvSpPr>
        <p:spPr>
          <a:xfrm>
            <a:off x="783828" y="22187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74" name="Google Shape;1774;p82"/>
          <p:cNvSpPr txBox="1"/>
          <p:nvPr/>
        </p:nvSpPr>
        <p:spPr>
          <a:xfrm>
            <a:off x="791586" y="258424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775" name="Google Shape;1775;p82"/>
          <p:cNvSpPr txBox="1"/>
          <p:nvPr/>
        </p:nvSpPr>
        <p:spPr>
          <a:xfrm>
            <a:off x="783828" y="296524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776" name="Google Shape;1776;p82"/>
          <p:cNvSpPr txBox="1"/>
          <p:nvPr/>
        </p:nvSpPr>
        <p:spPr>
          <a:xfrm>
            <a:off x="783828" y="33229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777" name="Google Shape;1777;p82"/>
          <p:cNvSpPr txBox="1"/>
          <p:nvPr/>
        </p:nvSpPr>
        <p:spPr>
          <a:xfrm>
            <a:off x="783828" y="368845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78" name="Google Shape;1778;p82"/>
          <p:cNvSpPr txBox="1"/>
          <p:nvPr/>
        </p:nvSpPr>
        <p:spPr>
          <a:xfrm>
            <a:off x="776070" y="40242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79" name="Google Shape;1779;p82"/>
          <p:cNvSpPr txBox="1"/>
          <p:nvPr/>
        </p:nvSpPr>
        <p:spPr>
          <a:xfrm>
            <a:off x="776070" y="43897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80" name="Google Shape;1780;p82"/>
          <p:cNvSpPr txBox="1"/>
          <p:nvPr/>
        </p:nvSpPr>
        <p:spPr>
          <a:xfrm>
            <a:off x="1413320" y="185395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1" name="Google Shape;1781;p82"/>
          <p:cNvSpPr txBox="1"/>
          <p:nvPr/>
        </p:nvSpPr>
        <p:spPr>
          <a:xfrm>
            <a:off x="1957860" y="18532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 A</a:t>
            </a:r>
            <a:endParaRPr sz="2000">
              <a:solidFill>
                <a:srgbClr val="FF0000"/>
              </a:solidFill>
              <a:latin typeface="Shadows Into Light"/>
              <a:ea typeface="Shadows Into Light"/>
              <a:cs typeface="Shadows Into Light"/>
              <a:sym typeface="Shadows Into Light"/>
            </a:endParaRPr>
          </a:p>
        </p:txBody>
      </p:sp>
      <p:sp>
        <p:nvSpPr>
          <p:cNvPr id="1782" name="Google Shape;1782;p82"/>
          <p:cNvSpPr txBox="1"/>
          <p:nvPr/>
        </p:nvSpPr>
        <p:spPr>
          <a:xfrm>
            <a:off x="2512662" y="1853957"/>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783" name="Google Shape;1783;p82"/>
          <p:cNvSpPr txBox="1"/>
          <p:nvPr/>
        </p:nvSpPr>
        <p:spPr>
          <a:xfrm>
            <a:off x="3731862" y="2197546"/>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C</a:t>
            </a:r>
            <a:endParaRPr sz="2000">
              <a:solidFill>
                <a:srgbClr val="FF0000"/>
              </a:solidFill>
              <a:latin typeface="Shadows Into Light"/>
              <a:ea typeface="Shadows Into Light"/>
              <a:cs typeface="Shadows Into Light"/>
              <a:sym typeface="Shadows Into Light"/>
            </a:endParaRPr>
          </a:p>
        </p:txBody>
      </p:sp>
      <p:sp>
        <p:nvSpPr>
          <p:cNvPr id="1784" name="Google Shape;1784;p82"/>
          <p:cNvSpPr txBox="1"/>
          <p:nvPr/>
        </p:nvSpPr>
        <p:spPr>
          <a:xfrm>
            <a:off x="2623382" y="220392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5" name="Google Shape;1785;p82"/>
          <p:cNvSpPr txBox="1"/>
          <p:nvPr/>
        </p:nvSpPr>
        <p:spPr>
          <a:xfrm>
            <a:off x="3167431" y="2578546"/>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14, B</a:t>
            </a:r>
            <a:endParaRPr sz="2000">
              <a:solidFill>
                <a:srgbClr val="FF0000"/>
              </a:solidFill>
              <a:latin typeface="Shadows Into Light"/>
              <a:ea typeface="Shadows Into Light"/>
              <a:cs typeface="Shadows Into Light"/>
              <a:sym typeface="Shadows Into Light"/>
            </a:endParaRPr>
          </a:p>
        </p:txBody>
      </p:sp>
      <p:sp>
        <p:nvSpPr>
          <p:cNvPr id="1786" name="Google Shape;1786;p82"/>
          <p:cNvSpPr txBox="1"/>
          <p:nvPr/>
        </p:nvSpPr>
        <p:spPr>
          <a:xfrm>
            <a:off x="2021540" y="256165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7" name="Google Shape;1787;p82"/>
          <p:cNvSpPr txBox="1"/>
          <p:nvPr/>
        </p:nvSpPr>
        <p:spPr>
          <a:xfrm>
            <a:off x="31674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9, E</a:t>
            </a:r>
            <a:endParaRPr sz="2000">
              <a:solidFill>
                <a:srgbClr val="FF0000"/>
              </a:solidFill>
              <a:latin typeface="Shadows Into Light"/>
              <a:ea typeface="Shadows Into Light"/>
              <a:cs typeface="Shadows Into Light"/>
              <a:sym typeface="Shadows Into Light"/>
            </a:endParaRPr>
          </a:p>
        </p:txBody>
      </p:sp>
      <p:sp>
        <p:nvSpPr>
          <p:cNvPr id="1788" name="Google Shape;1788;p82"/>
          <p:cNvSpPr txBox="1"/>
          <p:nvPr/>
        </p:nvSpPr>
        <p:spPr>
          <a:xfrm>
            <a:off x="43104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 E</a:t>
            </a:r>
            <a:endParaRPr sz="2000">
              <a:solidFill>
                <a:srgbClr val="FF0000"/>
              </a:solidFill>
              <a:latin typeface="Shadows Into Light"/>
              <a:ea typeface="Shadows Into Light"/>
              <a:cs typeface="Shadows Into Light"/>
              <a:sym typeface="Shadows Into Light"/>
            </a:endParaRPr>
          </a:p>
        </p:txBody>
      </p:sp>
      <p:sp>
        <p:nvSpPr>
          <p:cNvPr id="1789" name="Google Shape;1789;p82"/>
          <p:cNvSpPr txBox="1"/>
          <p:nvPr/>
        </p:nvSpPr>
        <p:spPr>
          <a:xfrm>
            <a:off x="49200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E</a:t>
            </a:r>
            <a:endParaRPr sz="2000">
              <a:solidFill>
                <a:srgbClr val="FF0000"/>
              </a:solidFill>
              <a:latin typeface="Shadows Into Light"/>
              <a:ea typeface="Shadows Into Light"/>
              <a:cs typeface="Shadows Into Light"/>
              <a:sym typeface="Shadows Into Light"/>
            </a:endParaRPr>
          </a:p>
        </p:txBody>
      </p:sp>
      <p:sp>
        <p:nvSpPr>
          <p:cNvPr id="1790" name="Google Shape;1790;p82"/>
          <p:cNvSpPr txBox="1"/>
          <p:nvPr/>
        </p:nvSpPr>
        <p:spPr>
          <a:xfrm>
            <a:off x="3812930" y="294265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91" name="Google Shape;1791;p82"/>
          <p:cNvSpPr txBox="1"/>
          <p:nvPr/>
        </p:nvSpPr>
        <p:spPr>
          <a:xfrm>
            <a:off x="5514115" y="3309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 G</a:t>
            </a:r>
            <a:endParaRPr sz="2000">
              <a:solidFill>
                <a:srgbClr val="FF0000"/>
              </a:solidFill>
              <a:latin typeface="Shadows Into Light"/>
              <a:ea typeface="Shadows Into Light"/>
              <a:cs typeface="Shadows Into Light"/>
              <a:sym typeface="Shadows Into Light"/>
            </a:endParaRPr>
          </a:p>
        </p:txBody>
      </p:sp>
      <p:sp>
        <p:nvSpPr>
          <p:cNvPr id="1792" name="Google Shape;1792;p82"/>
          <p:cNvSpPr txBox="1"/>
          <p:nvPr/>
        </p:nvSpPr>
        <p:spPr>
          <a:xfrm>
            <a:off x="5010235" y="329261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grpSp>
        <p:nvGrpSpPr>
          <p:cNvPr id="1793" name="Google Shape;1793;p82"/>
          <p:cNvGrpSpPr/>
          <p:nvPr/>
        </p:nvGrpSpPr>
        <p:grpSpPr>
          <a:xfrm>
            <a:off x="6173204" y="1068352"/>
            <a:ext cx="2819709" cy="2625031"/>
            <a:chOff x="6128035" y="1373152"/>
            <a:chExt cx="2819709" cy="2625031"/>
          </a:xfrm>
        </p:grpSpPr>
        <p:sp>
          <p:nvSpPr>
            <p:cNvPr id="1794" name="Google Shape;1794;p82"/>
            <p:cNvSpPr/>
            <p:nvPr/>
          </p:nvSpPr>
          <p:spPr>
            <a:xfrm>
              <a:off x="6339634" y="1410609"/>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795" name="Google Shape;1795;p82"/>
            <p:cNvSpPr/>
            <p:nvPr/>
          </p:nvSpPr>
          <p:spPr>
            <a:xfrm>
              <a:off x="6236777" y="22315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796" name="Google Shape;1796;p82"/>
            <p:cNvSpPr/>
            <p:nvPr/>
          </p:nvSpPr>
          <p:spPr>
            <a:xfrm>
              <a:off x="7251100" y="137315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cxnSp>
          <p:nvCxnSpPr>
            <p:cNvPr id="1797" name="Google Shape;1797;p82"/>
            <p:cNvCxnSpPr>
              <a:stCxn id="1794" idx="6"/>
              <a:endCxn id="1796" idx="2"/>
            </p:cNvCxnSpPr>
            <p:nvPr/>
          </p:nvCxnSpPr>
          <p:spPr>
            <a:xfrm rot="10800000" flipH="1">
              <a:off x="6760534" y="1583559"/>
              <a:ext cx="490500" cy="37500"/>
            </a:xfrm>
            <a:prstGeom prst="straightConnector1">
              <a:avLst/>
            </a:prstGeom>
            <a:noFill/>
            <a:ln w="19050" cap="flat" cmpd="sng">
              <a:solidFill>
                <a:srgbClr val="000000"/>
              </a:solidFill>
              <a:prstDash val="solid"/>
              <a:round/>
              <a:headEnd type="none" w="med" len="med"/>
              <a:tailEnd type="none" w="med" len="med"/>
            </a:ln>
          </p:spPr>
        </p:cxnSp>
        <p:cxnSp>
          <p:nvCxnSpPr>
            <p:cNvPr id="1798" name="Google Shape;1798;p82"/>
            <p:cNvCxnSpPr>
              <a:stCxn id="1794" idx="4"/>
              <a:endCxn id="1795" idx="0"/>
            </p:cNvCxnSpPr>
            <p:nvPr/>
          </p:nvCxnSpPr>
          <p:spPr>
            <a:xfrm flipH="1">
              <a:off x="6447184" y="1831509"/>
              <a:ext cx="102900" cy="400200"/>
            </a:xfrm>
            <a:prstGeom prst="straightConnector1">
              <a:avLst/>
            </a:prstGeom>
            <a:noFill/>
            <a:ln w="19050" cap="flat" cmpd="sng">
              <a:solidFill>
                <a:srgbClr val="000000"/>
              </a:solidFill>
              <a:prstDash val="solid"/>
              <a:round/>
              <a:headEnd type="none" w="med" len="med"/>
              <a:tailEnd type="none" w="med" len="med"/>
            </a:ln>
          </p:spPr>
        </p:cxnSp>
        <p:cxnSp>
          <p:nvCxnSpPr>
            <p:cNvPr id="1799" name="Google Shape;1799;p82"/>
            <p:cNvCxnSpPr>
              <a:endCxn id="1796" idx="3"/>
            </p:cNvCxnSpPr>
            <p:nvPr/>
          </p:nvCxnSpPr>
          <p:spPr>
            <a:xfrm rot="10800000" flipH="1">
              <a:off x="6596039" y="1732419"/>
              <a:ext cx="716700" cy="560700"/>
            </a:xfrm>
            <a:prstGeom prst="straightConnector1">
              <a:avLst/>
            </a:prstGeom>
            <a:noFill/>
            <a:ln w="19050" cap="flat" cmpd="sng">
              <a:solidFill>
                <a:srgbClr val="000000"/>
              </a:solidFill>
              <a:prstDash val="solid"/>
              <a:round/>
              <a:headEnd type="none" w="med" len="med"/>
              <a:tailEnd type="none" w="med" len="med"/>
            </a:ln>
          </p:spPr>
        </p:cxnSp>
        <p:sp>
          <p:nvSpPr>
            <p:cNvPr id="1800" name="Google Shape;1800;p82"/>
            <p:cNvSpPr/>
            <p:nvPr/>
          </p:nvSpPr>
          <p:spPr>
            <a:xfrm>
              <a:off x="7837950" y="197063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01" name="Google Shape;1801;p82"/>
            <p:cNvSpPr/>
            <p:nvPr/>
          </p:nvSpPr>
          <p:spPr>
            <a:xfrm>
              <a:off x="8169900" y="26524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02" name="Google Shape;1802;p82"/>
            <p:cNvSpPr/>
            <p:nvPr/>
          </p:nvSpPr>
          <p:spPr>
            <a:xfrm>
              <a:off x="6568225" y="300387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03" name="Google Shape;1803;p82"/>
            <p:cNvCxnSpPr>
              <a:stCxn id="1796" idx="5"/>
              <a:endCxn id="1800" idx="1"/>
            </p:cNvCxnSpPr>
            <p:nvPr/>
          </p:nvCxnSpPr>
          <p:spPr>
            <a:xfrm>
              <a:off x="7610360" y="1732419"/>
              <a:ext cx="289200" cy="300000"/>
            </a:xfrm>
            <a:prstGeom prst="straightConnector1">
              <a:avLst/>
            </a:prstGeom>
            <a:noFill/>
            <a:ln w="19050" cap="flat" cmpd="sng">
              <a:solidFill>
                <a:srgbClr val="000000"/>
              </a:solidFill>
              <a:prstDash val="solid"/>
              <a:round/>
              <a:headEnd type="none" w="med" len="med"/>
              <a:tailEnd type="none" w="med" len="med"/>
            </a:ln>
          </p:spPr>
        </p:cxnSp>
        <p:cxnSp>
          <p:nvCxnSpPr>
            <p:cNvPr id="1804" name="Google Shape;1804;p82"/>
            <p:cNvCxnSpPr>
              <a:stCxn id="1795" idx="4"/>
              <a:endCxn id="1802" idx="1"/>
            </p:cNvCxnSpPr>
            <p:nvPr/>
          </p:nvCxnSpPr>
          <p:spPr>
            <a:xfrm>
              <a:off x="6447227" y="2652466"/>
              <a:ext cx="182700" cy="413100"/>
            </a:xfrm>
            <a:prstGeom prst="straightConnector1">
              <a:avLst/>
            </a:prstGeom>
            <a:noFill/>
            <a:ln w="19050" cap="flat" cmpd="sng">
              <a:solidFill>
                <a:srgbClr val="000000"/>
              </a:solidFill>
              <a:prstDash val="solid"/>
              <a:round/>
              <a:headEnd type="none" w="med" len="med"/>
              <a:tailEnd type="none" w="med" len="med"/>
            </a:ln>
          </p:spPr>
        </p:cxnSp>
        <p:cxnSp>
          <p:nvCxnSpPr>
            <p:cNvPr id="1805" name="Google Shape;1805;p82"/>
            <p:cNvCxnSpPr>
              <a:stCxn id="1802" idx="6"/>
              <a:endCxn id="1801" idx="2"/>
            </p:cNvCxnSpPr>
            <p:nvPr/>
          </p:nvCxnSpPr>
          <p:spPr>
            <a:xfrm rot="10800000" flipH="1">
              <a:off x="6989125" y="2863021"/>
              <a:ext cx="1180800" cy="351300"/>
            </a:xfrm>
            <a:prstGeom prst="straightConnector1">
              <a:avLst/>
            </a:prstGeom>
            <a:noFill/>
            <a:ln w="19050" cap="flat" cmpd="sng">
              <a:solidFill>
                <a:srgbClr val="000000"/>
              </a:solidFill>
              <a:prstDash val="solid"/>
              <a:round/>
              <a:headEnd type="none" w="med" len="med"/>
              <a:tailEnd type="none" w="med" len="med"/>
            </a:ln>
          </p:spPr>
        </p:cxnSp>
        <p:cxnSp>
          <p:nvCxnSpPr>
            <p:cNvPr id="1806" name="Google Shape;1806;p82"/>
            <p:cNvCxnSpPr>
              <a:stCxn id="1802" idx="7"/>
              <a:endCxn id="1800" idx="3"/>
            </p:cNvCxnSpPr>
            <p:nvPr/>
          </p:nvCxnSpPr>
          <p:spPr>
            <a:xfrm rot="10800000" flipH="1">
              <a:off x="6927485" y="2329911"/>
              <a:ext cx="972000" cy="735600"/>
            </a:xfrm>
            <a:prstGeom prst="straightConnector1">
              <a:avLst/>
            </a:prstGeom>
            <a:noFill/>
            <a:ln w="19050" cap="flat" cmpd="sng">
              <a:solidFill>
                <a:srgbClr val="000000"/>
              </a:solidFill>
              <a:prstDash val="solid"/>
              <a:round/>
              <a:headEnd type="none" w="med" len="med"/>
              <a:tailEnd type="none" w="med" len="med"/>
            </a:ln>
          </p:spPr>
        </p:cxnSp>
        <p:cxnSp>
          <p:nvCxnSpPr>
            <p:cNvPr id="1807" name="Google Shape;1807;p82"/>
            <p:cNvCxnSpPr>
              <a:stCxn id="1800" idx="5"/>
              <a:endCxn id="1801" idx="0"/>
            </p:cNvCxnSpPr>
            <p:nvPr/>
          </p:nvCxnSpPr>
          <p:spPr>
            <a:xfrm>
              <a:off x="8197210" y="2329894"/>
              <a:ext cx="183000" cy="322500"/>
            </a:xfrm>
            <a:prstGeom prst="straightConnector1">
              <a:avLst/>
            </a:prstGeom>
            <a:noFill/>
            <a:ln w="19050" cap="flat" cmpd="sng">
              <a:solidFill>
                <a:srgbClr val="000000"/>
              </a:solidFill>
              <a:prstDash val="solid"/>
              <a:round/>
              <a:headEnd type="none" w="med" len="med"/>
              <a:tailEnd type="none" w="med" len="med"/>
            </a:ln>
          </p:spPr>
        </p:cxnSp>
        <p:sp>
          <p:nvSpPr>
            <p:cNvPr id="1808" name="Google Shape;1808;p82"/>
            <p:cNvSpPr/>
            <p:nvPr/>
          </p:nvSpPr>
          <p:spPr>
            <a:xfrm>
              <a:off x="8380225" y="3471909"/>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09" name="Google Shape;1809;p82"/>
            <p:cNvSpPr/>
            <p:nvPr/>
          </p:nvSpPr>
          <p:spPr>
            <a:xfrm>
              <a:off x="7312750" y="35772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810" name="Google Shape;1810;p82"/>
            <p:cNvCxnSpPr>
              <a:stCxn id="1802" idx="5"/>
              <a:endCxn id="1809" idx="1"/>
            </p:cNvCxnSpPr>
            <p:nvPr/>
          </p:nvCxnSpPr>
          <p:spPr>
            <a:xfrm>
              <a:off x="6927485" y="3363132"/>
              <a:ext cx="447000" cy="275700"/>
            </a:xfrm>
            <a:prstGeom prst="straightConnector1">
              <a:avLst/>
            </a:prstGeom>
            <a:noFill/>
            <a:ln w="19050" cap="flat" cmpd="sng">
              <a:solidFill>
                <a:srgbClr val="000000"/>
              </a:solidFill>
              <a:prstDash val="solid"/>
              <a:round/>
              <a:headEnd type="none" w="med" len="med"/>
              <a:tailEnd type="none" w="med" len="med"/>
            </a:ln>
          </p:spPr>
        </p:cxnSp>
        <p:cxnSp>
          <p:nvCxnSpPr>
            <p:cNvPr id="1811" name="Google Shape;1811;p82"/>
            <p:cNvCxnSpPr>
              <a:stCxn id="1809" idx="6"/>
              <a:endCxn id="1808" idx="2"/>
            </p:cNvCxnSpPr>
            <p:nvPr/>
          </p:nvCxnSpPr>
          <p:spPr>
            <a:xfrm rot="10800000" flipH="1">
              <a:off x="7733650" y="3682434"/>
              <a:ext cx="646500" cy="105300"/>
            </a:xfrm>
            <a:prstGeom prst="straightConnector1">
              <a:avLst/>
            </a:prstGeom>
            <a:noFill/>
            <a:ln w="19050" cap="flat" cmpd="sng">
              <a:solidFill>
                <a:srgbClr val="000000"/>
              </a:solidFill>
              <a:prstDash val="solid"/>
              <a:round/>
              <a:headEnd type="none" w="med" len="med"/>
              <a:tailEnd type="none" w="med" len="med"/>
            </a:ln>
          </p:spPr>
        </p:cxnSp>
        <p:cxnSp>
          <p:nvCxnSpPr>
            <p:cNvPr id="1812" name="Google Shape;1812;p82"/>
            <p:cNvCxnSpPr>
              <a:stCxn id="1801" idx="5"/>
              <a:endCxn id="1808" idx="0"/>
            </p:cNvCxnSpPr>
            <p:nvPr/>
          </p:nvCxnSpPr>
          <p:spPr>
            <a:xfrm>
              <a:off x="8529160" y="3011744"/>
              <a:ext cx="61500" cy="460200"/>
            </a:xfrm>
            <a:prstGeom prst="straightConnector1">
              <a:avLst/>
            </a:prstGeom>
            <a:noFill/>
            <a:ln w="19050" cap="flat" cmpd="sng">
              <a:solidFill>
                <a:srgbClr val="000000"/>
              </a:solidFill>
              <a:prstDash val="solid"/>
              <a:round/>
              <a:headEnd type="none" w="med" len="med"/>
              <a:tailEnd type="none" w="med" len="med"/>
            </a:ln>
          </p:spPr>
        </p:cxnSp>
        <p:sp>
          <p:nvSpPr>
            <p:cNvPr id="1813" name="Google Shape;1813;p82"/>
            <p:cNvSpPr txBox="1"/>
            <p:nvPr/>
          </p:nvSpPr>
          <p:spPr>
            <a:xfrm>
              <a:off x="6754835" y="1373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4" name="Google Shape;1814;p82"/>
            <p:cNvSpPr txBox="1"/>
            <p:nvPr/>
          </p:nvSpPr>
          <p:spPr>
            <a:xfrm>
              <a:off x="6128035" y="18911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15" name="Google Shape;1815;p82"/>
            <p:cNvSpPr txBox="1"/>
            <p:nvPr/>
          </p:nvSpPr>
          <p:spPr>
            <a:xfrm>
              <a:off x="6869198" y="19403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16" name="Google Shape;1816;p82"/>
            <p:cNvSpPr txBox="1"/>
            <p:nvPr/>
          </p:nvSpPr>
          <p:spPr>
            <a:xfrm>
              <a:off x="7690223" y="1698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817" name="Google Shape;1817;p82"/>
            <p:cNvSpPr txBox="1"/>
            <p:nvPr/>
          </p:nvSpPr>
          <p:spPr>
            <a:xfrm>
              <a:off x="6166223" y="27653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18" name="Google Shape;1818;p82"/>
            <p:cNvSpPr txBox="1"/>
            <p:nvPr/>
          </p:nvSpPr>
          <p:spPr>
            <a:xfrm>
              <a:off x="7080623" y="2460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9" name="Google Shape;1819;p82"/>
            <p:cNvSpPr txBox="1"/>
            <p:nvPr/>
          </p:nvSpPr>
          <p:spPr>
            <a:xfrm>
              <a:off x="7379044" y="27886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820" name="Google Shape;1820;p82"/>
            <p:cNvSpPr txBox="1"/>
            <p:nvPr/>
          </p:nvSpPr>
          <p:spPr>
            <a:xfrm>
              <a:off x="8445844" y="3093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21" name="Google Shape;1821;p82"/>
            <p:cNvSpPr txBox="1"/>
            <p:nvPr/>
          </p:nvSpPr>
          <p:spPr>
            <a:xfrm>
              <a:off x="7760044" y="37030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22" name="Google Shape;1822;p82"/>
            <p:cNvSpPr txBox="1"/>
            <p:nvPr/>
          </p:nvSpPr>
          <p:spPr>
            <a:xfrm>
              <a:off x="6837886" y="3474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23" name="Google Shape;1823;p82"/>
            <p:cNvSpPr txBox="1"/>
            <p:nvPr/>
          </p:nvSpPr>
          <p:spPr>
            <a:xfrm>
              <a:off x="8223623" y="2308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824" name="Google Shape;1824;p82"/>
          <p:cNvSpPr txBox="1"/>
          <p:nvPr/>
        </p:nvSpPr>
        <p:spPr>
          <a:xfrm>
            <a:off x="3235741" y="366586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5" name="Google Shape;1825;p82"/>
          <p:cNvSpPr txBox="1"/>
          <p:nvPr/>
        </p:nvSpPr>
        <p:spPr>
          <a:xfrm>
            <a:off x="4447366" y="402428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6" name="Google Shape;1826;p82"/>
          <p:cNvSpPr txBox="1"/>
          <p:nvPr/>
        </p:nvSpPr>
        <p:spPr>
          <a:xfrm>
            <a:off x="5584466" y="438978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7" name="Google Shape;1827;p82"/>
          <p:cNvSpPr txBox="1"/>
          <p:nvPr/>
        </p:nvSpPr>
        <p:spPr>
          <a:xfrm>
            <a:off x="7188465" y="4444690"/>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a:t>
            </a:r>
            <a:endParaRPr sz="2000">
              <a:solidFill>
                <a:srgbClr val="FF0000"/>
              </a:solidFill>
              <a:latin typeface="Shadows Into Light"/>
              <a:ea typeface="Shadows Into Light"/>
              <a:cs typeface="Shadows Into Light"/>
              <a:sym typeface="Shadows Into Light"/>
            </a:endParaRPr>
          </a:p>
        </p:txBody>
      </p:sp>
      <p:sp>
        <p:nvSpPr>
          <p:cNvPr id="1828" name="Google Shape;1828;p82"/>
          <p:cNvSpPr txBox="1"/>
          <p:nvPr/>
        </p:nvSpPr>
        <p:spPr>
          <a:xfrm>
            <a:off x="7977236"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829" name="Google Shape;1829;p82"/>
          <p:cNvSpPr txBox="1"/>
          <p:nvPr/>
        </p:nvSpPr>
        <p:spPr>
          <a:xfrm>
            <a:off x="7412804"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830" name="Google Shape;1830;p82"/>
          <p:cNvSpPr txBox="1"/>
          <p:nvPr/>
        </p:nvSpPr>
        <p:spPr>
          <a:xfrm>
            <a:off x="6841994"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831" name="Google Shape;1831;p82"/>
          <p:cNvSpPr txBox="1"/>
          <p:nvPr/>
        </p:nvSpPr>
        <p:spPr>
          <a:xfrm>
            <a:off x="6216878" y="4054250"/>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832" name="Google Shape;1832;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72"/>
                                        </p:tgtEl>
                                        <p:attrNameLst>
                                          <p:attrName>style.visibility</p:attrName>
                                        </p:attrNameLst>
                                      </p:cBhvr>
                                      <p:to>
                                        <p:strVal val="visible"/>
                                      </p:to>
                                    </p:set>
                                    <p:animEffect transition="in" filter="fade">
                                      <p:cBhvr>
                                        <p:cTn id="7" dur="1000"/>
                                        <p:tgtEl>
                                          <p:spTgt spid="177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781"/>
                                        </p:tgtEl>
                                        <p:attrNameLst>
                                          <p:attrName>style.visibility</p:attrName>
                                        </p:attrNameLst>
                                      </p:cBhvr>
                                      <p:to>
                                        <p:strVal val="visible"/>
                                      </p:to>
                                    </p:set>
                                    <p:animEffect transition="in" filter="fade">
                                      <p:cBhvr>
                                        <p:cTn id="11" dur="1000"/>
                                        <p:tgtEl>
                                          <p:spTgt spid="1781"/>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782"/>
                                        </p:tgtEl>
                                        <p:attrNameLst>
                                          <p:attrName>style.visibility</p:attrName>
                                        </p:attrNameLst>
                                      </p:cBhvr>
                                      <p:to>
                                        <p:strVal val="visible"/>
                                      </p:to>
                                    </p:set>
                                    <p:animEffect transition="in" filter="fade">
                                      <p:cBhvr>
                                        <p:cTn id="15" dur="1000"/>
                                        <p:tgtEl>
                                          <p:spTgt spid="178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780"/>
                                        </p:tgtEl>
                                        <p:attrNameLst>
                                          <p:attrName>style.visibility</p:attrName>
                                        </p:attrNameLst>
                                      </p:cBhvr>
                                      <p:to>
                                        <p:strVal val="visible"/>
                                      </p:to>
                                    </p:set>
                                    <p:animEffect transition="in" filter="fade">
                                      <p:cBhvr>
                                        <p:cTn id="19" dur="1000"/>
                                        <p:tgtEl>
                                          <p:spTgt spid="178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773"/>
                                        </p:tgtEl>
                                        <p:attrNameLst>
                                          <p:attrName>style.visibility</p:attrName>
                                        </p:attrNameLst>
                                      </p:cBhvr>
                                      <p:to>
                                        <p:strVal val="visible"/>
                                      </p:to>
                                    </p:set>
                                    <p:animEffect transition="in" filter="fade">
                                      <p:cBhvr>
                                        <p:cTn id="24" dur="1000"/>
                                        <p:tgtEl>
                                          <p:spTgt spid="1773"/>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783"/>
                                        </p:tgtEl>
                                        <p:attrNameLst>
                                          <p:attrName>style.visibility</p:attrName>
                                        </p:attrNameLst>
                                      </p:cBhvr>
                                      <p:to>
                                        <p:strVal val="visible"/>
                                      </p:to>
                                    </p:set>
                                    <p:animEffect transition="in" filter="fade">
                                      <p:cBhvr>
                                        <p:cTn id="28" dur="1000"/>
                                        <p:tgtEl>
                                          <p:spTgt spid="1783"/>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1784"/>
                                        </p:tgtEl>
                                        <p:attrNameLst>
                                          <p:attrName>style.visibility</p:attrName>
                                        </p:attrNameLst>
                                      </p:cBhvr>
                                      <p:to>
                                        <p:strVal val="visible"/>
                                      </p:to>
                                    </p:set>
                                    <p:animEffect transition="in" filter="fade">
                                      <p:cBhvr>
                                        <p:cTn id="32" dur="1000"/>
                                        <p:tgtEl>
                                          <p:spTgt spid="178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74"/>
                                        </p:tgtEl>
                                        <p:attrNameLst>
                                          <p:attrName>style.visibility</p:attrName>
                                        </p:attrNameLst>
                                      </p:cBhvr>
                                      <p:to>
                                        <p:strVal val="visible"/>
                                      </p:to>
                                    </p:set>
                                    <p:animEffect transition="in" filter="fade">
                                      <p:cBhvr>
                                        <p:cTn id="37" dur="1000"/>
                                        <p:tgtEl>
                                          <p:spTgt spid="1774"/>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785"/>
                                        </p:tgtEl>
                                        <p:attrNameLst>
                                          <p:attrName>style.visibility</p:attrName>
                                        </p:attrNameLst>
                                      </p:cBhvr>
                                      <p:to>
                                        <p:strVal val="visible"/>
                                      </p:to>
                                    </p:set>
                                    <p:animEffect transition="in" filter="fade">
                                      <p:cBhvr>
                                        <p:cTn id="41" dur="1000"/>
                                        <p:tgtEl>
                                          <p:spTgt spid="1785"/>
                                        </p:tgtEl>
                                      </p:cBhvr>
                                    </p:animEffect>
                                  </p:childTnLst>
                                </p:cTn>
                              </p:par>
                            </p:childTnLst>
                          </p:cTn>
                        </p:par>
                        <p:par>
                          <p:cTn id="42" fill="hold">
                            <p:stCondLst>
                              <p:cond delay="2000"/>
                            </p:stCondLst>
                            <p:childTnLst>
                              <p:par>
                                <p:cTn id="43" presetID="10" presetClass="entr" presetSubtype="0" fill="hold" nodeType="afterEffect">
                                  <p:stCondLst>
                                    <p:cond delay="0"/>
                                  </p:stCondLst>
                                  <p:childTnLst>
                                    <p:set>
                                      <p:cBhvr>
                                        <p:cTn id="44" dur="1" fill="hold">
                                          <p:stCondLst>
                                            <p:cond delay="0"/>
                                          </p:stCondLst>
                                        </p:cTn>
                                        <p:tgtEl>
                                          <p:spTgt spid="1786"/>
                                        </p:tgtEl>
                                        <p:attrNameLst>
                                          <p:attrName>style.visibility</p:attrName>
                                        </p:attrNameLst>
                                      </p:cBhvr>
                                      <p:to>
                                        <p:strVal val="visible"/>
                                      </p:to>
                                    </p:set>
                                    <p:animEffect transition="in" filter="fade">
                                      <p:cBhvr>
                                        <p:cTn id="45" dur="1000"/>
                                        <p:tgtEl>
                                          <p:spTgt spid="178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75"/>
                                        </p:tgtEl>
                                        <p:attrNameLst>
                                          <p:attrName>style.visibility</p:attrName>
                                        </p:attrNameLst>
                                      </p:cBhvr>
                                      <p:to>
                                        <p:strVal val="visible"/>
                                      </p:to>
                                    </p:set>
                                    <p:animEffect transition="in" filter="fade">
                                      <p:cBhvr>
                                        <p:cTn id="50" dur="1000"/>
                                        <p:tgtEl>
                                          <p:spTgt spid="1775"/>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1787"/>
                                        </p:tgtEl>
                                        <p:attrNameLst>
                                          <p:attrName>style.visibility</p:attrName>
                                        </p:attrNameLst>
                                      </p:cBhvr>
                                      <p:to>
                                        <p:strVal val="visible"/>
                                      </p:to>
                                    </p:set>
                                    <p:animEffect transition="in" filter="fade">
                                      <p:cBhvr>
                                        <p:cTn id="54" dur="1000"/>
                                        <p:tgtEl>
                                          <p:spTgt spid="1787"/>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1788"/>
                                        </p:tgtEl>
                                        <p:attrNameLst>
                                          <p:attrName>style.visibility</p:attrName>
                                        </p:attrNameLst>
                                      </p:cBhvr>
                                      <p:to>
                                        <p:strVal val="visible"/>
                                      </p:to>
                                    </p:set>
                                    <p:animEffect transition="in" filter="fade">
                                      <p:cBhvr>
                                        <p:cTn id="58" dur="1000"/>
                                        <p:tgtEl>
                                          <p:spTgt spid="1788"/>
                                        </p:tgtEl>
                                      </p:cBhvr>
                                    </p:animEffect>
                                  </p:childTnLst>
                                </p:cTn>
                              </p:par>
                            </p:childTnLst>
                          </p:cTn>
                        </p:par>
                        <p:par>
                          <p:cTn id="59" fill="hold">
                            <p:stCondLst>
                              <p:cond delay="3000"/>
                            </p:stCondLst>
                            <p:childTnLst>
                              <p:par>
                                <p:cTn id="60" presetID="10" presetClass="entr" presetSubtype="0" fill="hold" nodeType="afterEffect">
                                  <p:stCondLst>
                                    <p:cond delay="0"/>
                                  </p:stCondLst>
                                  <p:childTnLst>
                                    <p:set>
                                      <p:cBhvr>
                                        <p:cTn id="61" dur="1" fill="hold">
                                          <p:stCondLst>
                                            <p:cond delay="0"/>
                                          </p:stCondLst>
                                        </p:cTn>
                                        <p:tgtEl>
                                          <p:spTgt spid="1789"/>
                                        </p:tgtEl>
                                        <p:attrNameLst>
                                          <p:attrName>style.visibility</p:attrName>
                                        </p:attrNameLst>
                                      </p:cBhvr>
                                      <p:to>
                                        <p:strVal val="visible"/>
                                      </p:to>
                                    </p:set>
                                    <p:animEffect transition="in" filter="fade">
                                      <p:cBhvr>
                                        <p:cTn id="62" dur="1000"/>
                                        <p:tgtEl>
                                          <p:spTgt spid="1789"/>
                                        </p:tgtEl>
                                      </p:cBhvr>
                                    </p:animEffect>
                                  </p:childTnLst>
                                </p:cTn>
                              </p:par>
                            </p:childTnLst>
                          </p:cTn>
                        </p:par>
                        <p:par>
                          <p:cTn id="63" fill="hold">
                            <p:stCondLst>
                              <p:cond delay="4000"/>
                            </p:stCondLst>
                            <p:childTnLst>
                              <p:par>
                                <p:cTn id="64" presetID="10" presetClass="entr" presetSubtype="0" fill="hold" nodeType="afterEffect">
                                  <p:stCondLst>
                                    <p:cond delay="0"/>
                                  </p:stCondLst>
                                  <p:childTnLst>
                                    <p:set>
                                      <p:cBhvr>
                                        <p:cTn id="65" dur="1" fill="hold">
                                          <p:stCondLst>
                                            <p:cond delay="0"/>
                                          </p:stCondLst>
                                        </p:cTn>
                                        <p:tgtEl>
                                          <p:spTgt spid="1790"/>
                                        </p:tgtEl>
                                        <p:attrNameLst>
                                          <p:attrName>style.visibility</p:attrName>
                                        </p:attrNameLst>
                                      </p:cBhvr>
                                      <p:to>
                                        <p:strVal val="visible"/>
                                      </p:to>
                                    </p:set>
                                    <p:animEffect transition="in" filter="fade">
                                      <p:cBhvr>
                                        <p:cTn id="66" dur="1000"/>
                                        <p:tgtEl>
                                          <p:spTgt spid="179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76"/>
                                        </p:tgtEl>
                                        <p:attrNameLst>
                                          <p:attrName>style.visibility</p:attrName>
                                        </p:attrNameLst>
                                      </p:cBhvr>
                                      <p:to>
                                        <p:strVal val="visible"/>
                                      </p:to>
                                    </p:set>
                                    <p:animEffect transition="in" filter="fade">
                                      <p:cBhvr>
                                        <p:cTn id="71" dur="1000"/>
                                        <p:tgtEl>
                                          <p:spTgt spid="1776"/>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791"/>
                                        </p:tgtEl>
                                        <p:attrNameLst>
                                          <p:attrName>style.visibility</p:attrName>
                                        </p:attrNameLst>
                                      </p:cBhvr>
                                      <p:to>
                                        <p:strVal val="visible"/>
                                      </p:to>
                                    </p:set>
                                    <p:animEffect transition="in" filter="fade">
                                      <p:cBhvr>
                                        <p:cTn id="75" dur="1000"/>
                                        <p:tgtEl>
                                          <p:spTgt spid="1791"/>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792"/>
                                        </p:tgtEl>
                                        <p:attrNameLst>
                                          <p:attrName>style.visibility</p:attrName>
                                        </p:attrNameLst>
                                      </p:cBhvr>
                                      <p:to>
                                        <p:strVal val="visible"/>
                                      </p:to>
                                    </p:set>
                                    <p:animEffect transition="in" filter="fade">
                                      <p:cBhvr>
                                        <p:cTn id="79" dur="1000"/>
                                        <p:tgtEl>
                                          <p:spTgt spid="179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777"/>
                                        </p:tgtEl>
                                        <p:attrNameLst>
                                          <p:attrName>style.visibility</p:attrName>
                                        </p:attrNameLst>
                                      </p:cBhvr>
                                      <p:to>
                                        <p:strVal val="visible"/>
                                      </p:to>
                                    </p:set>
                                    <p:animEffect transition="in" filter="fade">
                                      <p:cBhvr>
                                        <p:cTn id="84" dur="1000"/>
                                        <p:tgtEl>
                                          <p:spTgt spid="1777"/>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824"/>
                                        </p:tgtEl>
                                        <p:attrNameLst>
                                          <p:attrName>style.visibility</p:attrName>
                                        </p:attrNameLst>
                                      </p:cBhvr>
                                      <p:to>
                                        <p:strVal val="visible"/>
                                      </p:to>
                                    </p:set>
                                    <p:animEffect transition="in" filter="fade">
                                      <p:cBhvr>
                                        <p:cTn id="88" dur="1000"/>
                                        <p:tgtEl>
                                          <p:spTgt spid="182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778"/>
                                        </p:tgtEl>
                                        <p:attrNameLst>
                                          <p:attrName>style.visibility</p:attrName>
                                        </p:attrNameLst>
                                      </p:cBhvr>
                                      <p:to>
                                        <p:strVal val="visible"/>
                                      </p:to>
                                    </p:set>
                                    <p:animEffect transition="in" filter="fade">
                                      <p:cBhvr>
                                        <p:cTn id="93" dur="1000"/>
                                        <p:tgtEl>
                                          <p:spTgt spid="1778"/>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825"/>
                                        </p:tgtEl>
                                        <p:attrNameLst>
                                          <p:attrName>style.visibility</p:attrName>
                                        </p:attrNameLst>
                                      </p:cBhvr>
                                      <p:to>
                                        <p:strVal val="visible"/>
                                      </p:to>
                                    </p:set>
                                    <p:animEffect transition="in" filter="fade">
                                      <p:cBhvr>
                                        <p:cTn id="97" dur="1000"/>
                                        <p:tgtEl>
                                          <p:spTgt spid="182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779"/>
                                        </p:tgtEl>
                                        <p:attrNameLst>
                                          <p:attrName>style.visibility</p:attrName>
                                        </p:attrNameLst>
                                      </p:cBhvr>
                                      <p:to>
                                        <p:strVal val="visible"/>
                                      </p:to>
                                    </p:set>
                                    <p:animEffect transition="in" filter="fade">
                                      <p:cBhvr>
                                        <p:cTn id="102" dur="1000"/>
                                        <p:tgtEl>
                                          <p:spTgt spid="1779"/>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826"/>
                                        </p:tgtEl>
                                        <p:attrNameLst>
                                          <p:attrName>style.visibility</p:attrName>
                                        </p:attrNameLst>
                                      </p:cBhvr>
                                      <p:to>
                                        <p:strVal val="visible"/>
                                      </p:to>
                                    </p:set>
                                    <p:animEffect transition="in" filter="fade">
                                      <p:cBhvr>
                                        <p:cTn id="106" dur="1000"/>
                                        <p:tgtEl>
                                          <p:spTgt spid="182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765"/>
                                        </p:tgtEl>
                                        <p:attrNameLst>
                                          <p:attrName>style.visibility</p:attrName>
                                        </p:attrNameLst>
                                      </p:cBhvr>
                                      <p:to>
                                        <p:strVal val="visible"/>
                                      </p:to>
                                    </p:set>
                                    <p:animEffect transition="in" filter="fade">
                                      <p:cBhvr>
                                        <p:cTn id="111" dur="1000"/>
                                        <p:tgtEl>
                                          <p:spTgt spid="1765"/>
                                        </p:tgtEl>
                                      </p:cBhvr>
                                    </p:animEffect>
                                  </p:childTnLst>
                                </p:cTn>
                              </p:par>
                            </p:childTnLst>
                          </p:cTn>
                        </p:par>
                        <p:par>
                          <p:cTn id="112" fill="hold">
                            <p:stCondLst>
                              <p:cond delay="1000"/>
                            </p:stCondLst>
                            <p:childTnLst>
                              <p:par>
                                <p:cTn id="113" presetID="10" presetClass="entr" presetSubtype="0" fill="hold" nodeType="afterEffect">
                                  <p:stCondLst>
                                    <p:cond delay="0"/>
                                  </p:stCondLst>
                                  <p:childTnLst>
                                    <p:set>
                                      <p:cBhvr>
                                        <p:cTn id="114" dur="1" fill="hold">
                                          <p:stCondLst>
                                            <p:cond delay="0"/>
                                          </p:stCondLst>
                                        </p:cTn>
                                        <p:tgtEl>
                                          <p:spTgt spid="1827"/>
                                        </p:tgtEl>
                                        <p:attrNameLst>
                                          <p:attrName>style.visibility</p:attrName>
                                        </p:attrNameLst>
                                      </p:cBhvr>
                                      <p:to>
                                        <p:strVal val="visible"/>
                                      </p:to>
                                    </p:set>
                                    <p:animEffect transition="in" filter="fade">
                                      <p:cBhvr>
                                        <p:cTn id="115" dur="1000"/>
                                        <p:tgtEl>
                                          <p:spTgt spid="1827"/>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1828"/>
                                        </p:tgtEl>
                                        <p:attrNameLst>
                                          <p:attrName>style.visibility</p:attrName>
                                        </p:attrNameLst>
                                      </p:cBhvr>
                                      <p:to>
                                        <p:strVal val="visible"/>
                                      </p:to>
                                    </p:set>
                                    <p:animEffect transition="in" filter="fade">
                                      <p:cBhvr>
                                        <p:cTn id="120" dur="1000"/>
                                        <p:tgtEl>
                                          <p:spTgt spid="1828"/>
                                        </p:tgtEl>
                                      </p:cBhvr>
                                    </p:animEffect>
                                  </p:childTnLst>
                                </p:cTn>
                              </p:par>
                            </p:childTnLst>
                          </p:cTn>
                        </p:par>
                        <p:par>
                          <p:cTn id="121" fill="hold">
                            <p:stCondLst>
                              <p:cond delay="1000"/>
                            </p:stCondLst>
                            <p:childTnLst>
                              <p:par>
                                <p:cTn id="122" presetID="10" presetClass="entr" presetSubtype="0" fill="hold" nodeType="afterEffect">
                                  <p:stCondLst>
                                    <p:cond delay="0"/>
                                  </p:stCondLst>
                                  <p:childTnLst>
                                    <p:set>
                                      <p:cBhvr>
                                        <p:cTn id="123" dur="1" fill="hold">
                                          <p:stCondLst>
                                            <p:cond delay="0"/>
                                          </p:stCondLst>
                                        </p:cTn>
                                        <p:tgtEl>
                                          <p:spTgt spid="1829"/>
                                        </p:tgtEl>
                                        <p:attrNameLst>
                                          <p:attrName>style.visibility</p:attrName>
                                        </p:attrNameLst>
                                      </p:cBhvr>
                                      <p:to>
                                        <p:strVal val="visible"/>
                                      </p:to>
                                    </p:set>
                                    <p:animEffect transition="in" filter="fade">
                                      <p:cBhvr>
                                        <p:cTn id="124" dur="1000"/>
                                        <p:tgtEl>
                                          <p:spTgt spid="1829"/>
                                        </p:tgtEl>
                                      </p:cBhvr>
                                    </p:animEffect>
                                  </p:childTnLst>
                                </p:cTn>
                              </p:par>
                            </p:childTnLst>
                          </p:cTn>
                        </p:par>
                        <p:par>
                          <p:cTn id="125" fill="hold">
                            <p:stCondLst>
                              <p:cond delay="2000"/>
                            </p:stCondLst>
                            <p:childTnLst>
                              <p:par>
                                <p:cTn id="126" presetID="10" presetClass="entr" presetSubtype="0" fill="hold" nodeType="afterEffect">
                                  <p:stCondLst>
                                    <p:cond delay="0"/>
                                  </p:stCondLst>
                                  <p:childTnLst>
                                    <p:set>
                                      <p:cBhvr>
                                        <p:cTn id="127" dur="1" fill="hold">
                                          <p:stCondLst>
                                            <p:cond delay="0"/>
                                          </p:stCondLst>
                                        </p:cTn>
                                        <p:tgtEl>
                                          <p:spTgt spid="1830"/>
                                        </p:tgtEl>
                                        <p:attrNameLst>
                                          <p:attrName>style.visibility</p:attrName>
                                        </p:attrNameLst>
                                      </p:cBhvr>
                                      <p:to>
                                        <p:strVal val="visible"/>
                                      </p:to>
                                    </p:set>
                                    <p:animEffect transition="in" filter="fade">
                                      <p:cBhvr>
                                        <p:cTn id="128" dur="1000"/>
                                        <p:tgtEl>
                                          <p:spTgt spid="1830"/>
                                        </p:tgtEl>
                                      </p:cBhvr>
                                    </p:animEffect>
                                  </p:childTnLst>
                                </p:cTn>
                              </p:par>
                            </p:childTnLst>
                          </p:cTn>
                        </p:par>
                        <p:par>
                          <p:cTn id="129" fill="hold">
                            <p:stCondLst>
                              <p:cond delay="3000"/>
                            </p:stCondLst>
                            <p:childTnLst>
                              <p:par>
                                <p:cTn id="130" presetID="10" presetClass="entr" presetSubtype="0" fill="hold" nodeType="afterEffect">
                                  <p:stCondLst>
                                    <p:cond delay="0"/>
                                  </p:stCondLst>
                                  <p:childTnLst>
                                    <p:set>
                                      <p:cBhvr>
                                        <p:cTn id="131" dur="1" fill="hold">
                                          <p:stCondLst>
                                            <p:cond delay="0"/>
                                          </p:stCondLst>
                                        </p:cTn>
                                        <p:tgtEl>
                                          <p:spTgt spid="1831"/>
                                        </p:tgtEl>
                                        <p:attrNameLst>
                                          <p:attrName>style.visibility</p:attrName>
                                        </p:attrNameLst>
                                      </p:cBhvr>
                                      <p:to>
                                        <p:strVal val="visible"/>
                                      </p:to>
                                    </p:set>
                                    <p:animEffect transition="in" filter="fade">
                                      <p:cBhvr>
                                        <p:cTn id="132" dur="1000"/>
                                        <p:tgtEl>
                                          <p:spTgt spid="1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36"/>
        <p:cNvGrpSpPr/>
        <p:nvPr/>
      </p:nvGrpSpPr>
      <p:grpSpPr>
        <a:xfrm>
          <a:off x="0" y="0"/>
          <a:ext cx="0" cy="0"/>
          <a:chOff x="0" y="0"/>
          <a:chExt cx="0" cy="0"/>
        </a:xfrm>
      </p:grpSpPr>
      <p:graphicFrame>
        <p:nvGraphicFramePr>
          <p:cNvPr id="1837" name="Google Shape;1837;p83"/>
          <p:cNvGraphicFramePr/>
          <p:nvPr/>
        </p:nvGraphicFramePr>
        <p:xfrm>
          <a:off x="6135915" y="3865417"/>
          <a:ext cx="2863175" cy="396210"/>
        </p:xfrm>
        <a:graphic>
          <a:graphicData uri="http://schemas.openxmlformats.org/drawingml/2006/table">
            <a:tbl>
              <a:tblPr>
                <a:noFill/>
                <a:tableStyleId>{89CCAE03-A2B2-4379-B0C2-E101A7E113D6}</a:tableStyleId>
              </a:tblPr>
              <a:tblGrid>
                <a:gridCol w="409025">
                  <a:extLst>
                    <a:ext uri="{9D8B030D-6E8A-4147-A177-3AD203B41FA5}">
                      <a16:colId xmlns:a16="http://schemas.microsoft.com/office/drawing/2014/main" val="20000"/>
                    </a:ext>
                  </a:extLst>
                </a:gridCol>
                <a:gridCol w="409025">
                  <a:extLst>
                    <a:ext uri="{9D8B030D-6E8A-4147-A177-3AD203B41FA5}">
                      <a16:colId xmlns:a16="http://schemas.microsoft.com/office/drawing/2014/main" val="20001"/>
                    </a:ext>
                  </a:extLst>
                </a:gridCol>
                <a:gridCol w="409025">
                  <a:extLst>
                    <a:ext uri="{9D8B030D-6E8A-4147-A177-3AD203B41FA5}">
                      <a16:colId xmlns:a16="http://schemas.microsoft.com/office/drawing/2014/main" val="20002"/>
                    </a:ext>
                  </a:extLst>
                </a:gridCol>
                <a:gridCol w="409025">
                  <a:extLst>
                    <a:ext uri="{9D8B030D-6E8A-4147-A177-3AD203B41FA5}">
                      <a16:colId xmlns:a16="http://schemas.microsoft.com/office/drawing/2014/main" val="20003"/>
                    </a:ext>
                  </a:extLst>
                </a:gridCol>
                <a:gridCol w="409025">
                  <a:extLst>
                    <a:ext uri="{9D8B030D-6E8A-4147-A177-3AD203B41FA5}">
                      <a16:colId xmlns:a16="http://schemas.microsoft.com/office/drawing/2014/main" val="20004"/>
                    </a:ext>
                  </a:extLst>
                </a:gridCol>
                <a:gridCol w="409025">
                  <a:extLst>
                    <a:ext uri="{9D8B030D-6E8A-4147-A177-3AD203B41FA5}">
                      <a16:colId xmlns:a16="http://schemas.microsoft.com/office/drawing/2014/main" val="20005"/>
                    </a:ext>
                  </a:extLst>
                </a:gridCol>
                <a:gridCol w="409025">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38" name="Google Shape;1838;p83"/>
          <p:cNvSpPr txBox="1"/>
          <p:nvPr/>
        </p:nvSpPr>
        <p:spPr>
          <a:xfrm>
            <a:off x="6135925" y="42616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39" name="Google Shape;1839;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graphicFrame>
        <p:nvGraphicFramePr>
          <p:cNvPr id="1840" name="Google Shape;1840;p83"/>
          <p:cNvGraphicFramePr/>
          <p:nvPr/>
        </p:nvGraphicFramePr>
        <p:xfrm>
          <a:off x="84252" y="891217"/>
          <a:ext cx="5894500" cy="3700695"/>
        </p:xfrm>
        <a:graphic>
          <a:graphicData uri="http://schemas.openxmlformats.org/drawingml/2006/table">
            <a:tbl>
              <a:tblPr>
                <a:noFill/>
                <a:tableStyleId>{89CCAE03-A2B2-4379-B0C2-E101A7E113D6}</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841" name="Google Shape;1841;p83"/>
          <p:cNvSpPr txBox="1"/>
          <p:nvPr/>
        </p:nvSpPr>
        <p:spPr>
          <a:xfrm>
            <a:off x="6135925" y="34652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42" name="Google Shape;1842;p83"/>
          <p:cNvGrpSpPr/>
          <p:nvPr/>
        </p:nvGrpSpPr>
        <p:grpSpPr>
          <a:xfrm>
            <a:off x="6273919" y="1025531"/>
            <a:ext cx="2787283" cy="2434444"/>
            <a:chOff x="6244267" y="1490489"/>
            <a:chExt cx="2787283" cy="2434444"/>
          </a:xfrm>
        </p:grpSpPr>
        <p:sp>
          <p:nvSpPr>
            <p:cNvPr id="1843" name="Google Shape;1843;p83"/>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844" name="Google Shape;1844;p83"/>
            <p:cNvSpPr/>
            <p:nvPr/>
          </p:nvSpPr>
          <p:spPr>
            <a:xfrm>
              <a:off x="7308611" y="22814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45" name="Google Shape;1845;p83"/>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846" name="Google Shape;1846;p83"/>
            <p:cNvSpPr/>
            <p:nvPr/>
          </p:nvSpPr>
          <p:spPr>
            <a:xfrm>
              <a:off x="75378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847" name="Google Shape;1847;p83"/>
            <p:cNvSpPr/>
            <p:nvPr/>
          </p:nvSpPr>
          <p:spPr>
            <a:xfrm>
              <a:off x="8610649" y="3126141"/>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48" name="Google Shape;1848;p83"/>
            <p:cNvSpPr/>
            <p:nvPr/>
          </p:nvSpPr>
          <p:spPr>
            <a:xfrm>
              <a:off x="8470371" y="214598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49" name="Google Shape;1849;p83"/>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50" name="Google Shape;1850;p83"/>
            <p:cNvCxnSpPr>
              <a:stCxn id="1843" idx="3"/>
              <a:endCxn id="1845"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851" name="Google Shape;1851;p83"/>
            <p:cNvCxnSpPr>
              <a:stCxn id="1843" idx="6"/>
              <a:endCxn id="1846" idx="2"/>
            </p:cNvCxnSpPr>
            <p:nvPr/>
          </p:nvCxnSpPr>
          <p:spPr>
            <a:xfrm>
              <a:off x="6929973" y="1733781"/>
              <a:ext cx="607800" cy="0"/>
            </a:xfrm>
            <a:prstGeom prst="straightConnector1">
              <a:avLst/>
            </a:prstGeom>
            <a:noFill/>
            <a:ln w="19050" cap="flat" cmpd="sng">
              <a:solidFill>
                <a:srgbClr val="000000"/>
              </a:solidFill>
              <a:prstDash val="solid"/>
              <a:round/>
              <a:headEnd type="none" w="med" len="med"/>
              <a:tailEnd type="none" w="med" len="med"/>
            </a:ln>
          </p:spPr>
        </p:cxnSp>
        <p:cxnSp>
          <p:nvCxnSpPr>
            <p:cNvPr id="1852" name="Google Shape;1852;p83"/>
            <p:cNvCxnSpPr>
              <a:stCxn id="1843" idx="5"/>
              <a:endCxn id="1844" idx="1"/>
            </p:cNvCxnSpPr>
            <p:nvPr/>
          </p:nvCxnSpPr>
          <p:spPr>
            <a:xfrm>
              <a:off x="6868334" y="1882592"/>
              <a:ext cx="501900" cy="460500"/>
            </a:xfrm>
            <a:prstGeom prst="straightConnector1">
              <a:avLst/>
            </a:prstGeom>
            <a:noFill/>
            <a:ln w="19050" cap="flat" cmpd="sng">
              <a:solidFill>
                <a:srgbClr val="000000"/>
              </a:solidFill>
              <a:prstDash val="solid"/>
              <a:round/>
              <a:headEnd type="none" w="med" len="med"/>
              <a:tailEnd type="none" w="med" len="med"/>
            </a:ln>
          </p:spPr>
        </p:cxnSp>
        <p:cxnSp>
          <p:nvCxnSpPr>
            <p:cNvPr id="1853" name="Google Shape;1853;p83"/>
            <p:cNvCxnSpPr>
              <a:stCxn id="1844" idx="6"/>
              <a:endCxn id="1848" idx="2"/>
            </p:cNvCxnSpPr>
            <p:nvPr/>
          </p:nvCxnSpPr>
          <p:spPr>
            <a:xfrm rot="10800000" flipH="1">
              <a:off x="7729511" y="2356329"/>
              <a:ext cx="741000" cy="135600"/>
            </a:xfrm>
            <a:prstGeom prst="straightConnector1">
              <a:avLst/>
            </a:prstGeom>
            <a:noFill/>
            <a:ln w="19050" cap="flat" cmpd="sng">
              <a:solidFill>
                <a:srgbClr val="000000"/>
              </a:solidFill>
              <a:prstDash val="solid"/>
              <a:round/>
              <a:headEnd type="none" w="med" len="med"/>
              <a:tailEnd type="none" w="med" len="med"/>
            </a:ln>
          </p:spPr>
        </p:cxnSp>
        <p:cxnSp>
          <p:nvCxnSpPr>
            <p:cNvPr id="1854" name="Google Shape;1854;p83"/>
            <p:cNvCxnSpPr>
              <a:stCxn id="1848" idx="4"/>
              <a:endCxn id="1847" idx="0"/>
            </p:cNvCxnSpPr>
            <p:nvPr/>
          </p:nvCxnSpPr>
          <p:spPr>
            <a:xfrm>
              <a:off x="8680821" y="2566889"/>
              <a:ext cx="140400" cy="559200"/>
            </a:xfrm>
            <a:prstGeom prst="straightConnector1">
              <a:avLst/>
            </a:prstGeom>
            <a:noFill/>
            <a:ln w="19050" cap="flat" cmpd="sng">
              <a:solidFill>
                <a:srgbClr val="000000"/>
              </a:solidFill>
              <a:prstDash val="solid"/>
              <a:round/>
              <a:headEnd type="none" w="med" len="med"/>
              <a:tailEnd type="none" w="med" len="med"/>
            </a:ln>
          </p:spPr>
        </p:cxnSp>
        <p:cxnSp>
          <p:nvCxnSpPr>
            <p:cNvPr id="1855" name="Google Shape;1855;p83"/>
            <p:cNvCxnSpPr>
              <a:stCxn id="1844" idx="3"/>
              <a:endCxn id="1849" idx="0"/>
            </p:cNvCxnSpPr>
            <p:nvPr/>
          </p:nvCxnSpPr>
          <p:spPr>
            <a:xfrm flipH="1">
              <a:off x="7201051" y="2640740"/>
              <a:ext cx="169200" cy="727500"/>
            </a:xfrm>
            <a:prstGeom prst="straightConnector1">
              <a:avLst/>
            </a:prstGeom>
            <a:noFill/>
            <a:ln w="19050" cap="flat" cmpd="sng">
              <a:solidFill>
                <a:srgbClr val="000000"/>
              </a:solidFill>
              <a:prstDash val="solid"/>
              <a:round/>
              <a:headEnd type="none" w="med" len="med"/>
              <a:tailEnd type="none" w="med" len="med"/>
            </a:ln>
          </p:spPr>
        </p:cxnSp>
        <p:cxnSp>
          <p:nvCxnSpPr>
            <p:cNvPr id="1856" name="Google Shape;1856;p83"/>
            <p:cNvCxnSpPr>
              <a:stCxn id="1849" idx="6"/>
              <a:endCxn id="1857" idx="2"/>
            </p:cNvCxnSpPr>
            <p:nvPr/>
          </p:nvCxnSpPr>
          <p:spPr>
            <a:xfrm>
              <a:off x="7411542" y="3578716"/>
              <a:ext cx="355800" cy="123600"/>
            </a:xfrm>
            <a:prstGeom prst="straightConnector1">
              <a:avLst/>
            </a:prstGeom>
            <a:noFill/>
            <a:ln w="19050" cap="flat" cmpd="sng">
              <a:solidFill>
                <a:srgbClr val="000000"/>
              </a:solidFill>
              <a:prstDash val="solid"/>
              <a:round/>
              <a:headEnd type="none" w="med" len="med"/>
              <a:tailEnd type="none" w="med" len="med"/>
            </a:ln>
          </p:spPr>
        </p:cxnSp>
        <p:cxnSp>
          <p:nvCxnSpPr>
            <p:cNvPr id="1858" name="Google Shape;1858;p83"/>
            <p:cNvCxnSpPr>
              <a:stCxn id="1845" idx="6"/>
              <a:endCxn id="1844" idx="2"/>
            </p:cNvCxnSpPr>
            <p:nvPr/>
          </p:nvCxnSpPr>
          <p:spPr>
            <a:xfrm rot="10800000" flipH="1">
              <a:off x="6665167" y="2491889"/>
              <a:ext cx="643500" cy="216600"/>
            </a:xfrm>
            <a:prstGeom prst="straightConnector1">
              <a:avLst/>
            </a:prstGeom>
            <a:noFill/>
            <a:ln w="19050" cap="flat" cmpd="sng">
              <a:solidFill>
                <a:srgbClr val="000000"/>
              </a:solidFill>
              <a:prstDash val="solid"/>
              <a:round/>
              <a:headEnd type="none" w="med" len="med"/>
              <a:tailEnd type="none" w="med" len="med"/>
            </a:ln>
          </p:spPr>
        </p:cxnSp>
        <p:cxnSp>
          <p:nvCxnSpPr>
            <p:cNvPr id="1859" name="Google Shape;1859;p83"/>
            <p:cNvCxnSpPr>
              <a:stCxn id="1846" idx="5"/>
              <a:endCxn id="1848" idx="1"/>
            </p:cNvCxnSpPr>
            <p:nvPr/>
          </p:nvCxnSpPr>
          <p:spPr>
            <a:xfrm>
              <a:off x="7897125" y="1882592"/>
              <a:ext cx="634800" cy="324900"/>
            </a:xfrm>
            <a:prstGeom prst="straightConnector1">
              <a:avLst/>
            </a:prstGeom>
            <a:noFill/>
            <a:ln w="19050" cap="flat" cmpd="sng">
              <a:solidFill>
                <a:srgbClr val="000000"/>
              </a:solidFill>
              <a:prstDash val="solid"/>
              <a:round/>
              <a:headEnd type="none" w="med" len="med"/>
              <a:tailEnd type="none" w="med" len="med"/>
            </a:ln>
          </p:spPr>
        </p:cxnSp>
        <p:sp>
          <p:nvSpPr>
            <p:cNvPr id="1860" name="Google Shape;1860;p83"/>
            <p:cNvSpPr txBox="1"/>
            <p:nvPr/>
          </p:nvSpPr>
          <p:spPr>
            <a:xfrm>
              <a:off x="7070694" y="192340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61" name="Google Shape;1861;p83"/>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62" name="Google Shape;1862;p83"/>
            <p:cNvSpPr txBox="1"/>
            <p:nvPr/>
          </p:nvSpPr>
          <p:spPr>
            <a:xfrm>
              <a:off x="8700372" y="272486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63" name="Google Shape;1863;p83"/>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4" name="Google Shape;1864;p83"/>
            <p:cNvSpPr txBox="1"/>
            <p:nvPr/>
          </p:nvSpPr>
          <p:spPr>
            <a:xfrm>
              <a:off x="6805118" y="235632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5" name="Google Shape;1865;p83"/>
            <p:cNvSpPr txBox="1"/>
            <p:nvPr/>
          </p:nvSpPr>
          <p:spPr>
            <a:xfrm>
              <a:off x="7070701" y="28572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6" name="Google Shape;1866;p83"/>
            <p:cNvSpPr txBox="1"/>
            <p:nvPr/>
          </p:nvSpPr>
          <p:spPr>
            <a:xfrm>
              <a:off x="7454899" y="36816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7" name="Google Shape;1867;p83"/>
            <p:cNvSpPr txBox="1"/>
            <p:nvPr/>
          </p:nvSpPr>
          <p:spPr>
            <a:xfrm>
              <a:off x="8060525" y="1823725"/>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868" name="Google Shape;1868;p83"/>
            <p:cNvSpPr txBox="1"/>
            <p:nvPr/>
          </p:nvSpPr>
          <p:spPr>
            <a:xfrm>
              <a:off x="7099366" y="14904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869" name="Google Shape;1869;p83"/>
            <p:cNvCxnSpPr>
              <a:stCxn id="1845" idx="5"/>
              <a:endCxn id="1849"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870" name="Google Shape;1870;p83"/>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57" name="Google Shape;1857;p83"/>
            <p:cNvSpPr/>
            <p:nvPr/>
          </p:nvSpPr>
          <p:spPr>
            <a:xfrm>
              <a:off x="7767317" y="349180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871" name="Google Shape;1871;p83"/>
            <p:cNvCxnSpPr>
              <a:stCxn id="1847" idx="2"/>
              <a:endCxn id="1857" idx="6"/>
            </p:cNvCxnSpPr>
            <p:nvPr/>
          </p:nvCxnSpPr>
          <p:spPr>
            <a:xfrm flipH="1">
              <a:off x="8188249" y="3336591"/>
              <a:ext cx="422400" cy="365700"/>
            </a:xfrm>
            <a:prstGeom prst="straightConnector1">
              <a:avLst/>
            </a:prstGeom>
            <a:noFill/>
            <a:ln w="19050" cap="flat" cmpd="sng">
              <a:solidFill>
                <a:srgbClr val="000000"/>
              </a:solidFill>
              <a:prstDash val="solid"/>
              <a:round/>
              <a:headEnd type="none" w="med" len="med"/>
              <a:tailEnd type="none" w="med" len="med"/>
            </a:ln>
          </p:spPr>
        </p:cxnSp>
        <p:cxnSp>
          <p:nvCxnSpPr>
            <p:cNvPr id="1872" name="Google Shape;1872;p83"/>
            <p:cNvCxnSpPr>
              <a:stCxn id="1848" idx="3"/>
              <a:endCxn id="1857" idx="0"/>
            </p:cNvCxnSpPr>
            <p:nvPr/>
          </p:nvCxnSpPr>
          <p:spPr>
            <a:xfrm flipH="1">
              <a:off x="7977910" y="2505250"/>
              <a:ext cx="554100" cy="986700"/>
            </a:xfrm>
            <a:prstGeom prst="straightConnector1">
              <a:avLst/>
            </a:prstGeom>
            <a:noFill/>
            <a:ln w="19050" cap="flat" cmpd="sng">
              <a:solidFill>
                <a:srgbClr val="000000"/>
              </a:solidFill>
              <a:prstDash val="solid"/>
              <a:round/>
              <a:headEnd type="none" w="med" len="med"/>
              <a:tailEnd type="none" w="med" len="med"/>
            </a:ln>
          </p:spPr>
        </p:cxnSp>
        <p:cxnSp>
          <p:nvCxnSpPr>
            <p:cNvPr id="1873" name="Google Shape;1873;p83"/>
            <p:cNvCxnSpPr>
              <a:stCxn id="1844" idx="5"/>
              <a:endCxn id="1857" idx="1"/>
            </p:cNvCxnSpPr>
            <p:nvPr/>
          </p:nvCxnSpPr>
          <p:spPr>
            <a:xfrm>
              <a:off x="7667872" y="2640740"/>
              <a:ext cx="161100" cy="912600"/>
            </a:xfrm>
            <a:prstGeom prst="straightConnector1">
              <a:avLst/>
            </a:prstGeom>
            <a:noFill/>
            <a:ln w="19050" cap="flat" cmpd="sng">
              <a:solidFill>
                <a:srgbClr val="000000"/>
              </a:solidFill>
              <a:prstDash val="solid"/>
              <a:round/>
              <a:headEnd type="none" w="med" len="med"/>
              <a:tailEnd type="none" w="med" len="med"/>
            </a:ln>
          </p:spPr>
        </p:cxnSp>
        <p:sp>
          <p:nvSpPr>
            <p:cNvPr id="1874" name="Google Shape;1874;p83"/>
            <p:cNvSpPr txBox="1"/>
            <p:nvPr/>
          </p:nvSpPr>
          <p:spPr>
            <a:xfrm>
              <a:off x="7685099" y="28702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75" name="Google Shape;1875;p83"/>
            <p:cNvSpPr txBox="1"/>
            <p:nvPr/>
          </p:nvSpPr>
          <p:spPr>
            <a:xfrm>
              <a:off x="8182961" y="30219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76" name="Google Shape;1876;p83"/>
            <p:cNvSpPr txBox="1"/>
            <p:nvPr/>
          </p:nvSpPr>
          <p:spPr>
            <a:xfrm>
              <a:off x="8341549" y="34934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877" name="Google Shape;1877;p83"/>
            <p:cNvCxnSpPr>
              <a:stCxn id="1846" idx="4"/>
              <a:endCxn id="1844" idx="0"/>
            </p:cNvCxnSpPr>
            <p:nvPr/>
          </p:nvCxnSpPr>
          <p:spPr>
            <a:xfrm flipH="1">
              <a:off x="7519114" y="1944231"/>
              <a:ext cx="229200" cy="337200"/>
            </a:xfrm>
            <a:prstGeom prst="straightConnector1">
              <a:avLst/>
            </a:prstGeom>
            <a:noFill/>
            <a:ln w="19050" cap="flat" cmpd="sng">
              <a:solidFill>
                <a:srgbClr val="000000"/>
              </a:solidFill>
              <a:prstDash val="solid"/>
              <a:round/>
              <a:headEnd type="none" w="med" len="med"/>
              <a:tailEnd type="none" w="med" len="med"/>
            </a:ln>
          </p:spPr>
        </p:cxnSp>
        <p:sp>
          <p:nvSpPr>
            <p:cNvPr id="1878" name="Google Shape;1878;p83"/>
            <p:cNvSpPr txBox="1"/>
            <p:nvPr/>
          </p:nvSpPr>
          <p:spPr>
            <a:xfrm>
              <a:off x="7613786" y="19911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879" name="Google Shape;1879;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880" name="Google Shape;1880;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13.24</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graphicFrame>
        <p:nvGraphicFramePr>
          <p:cNvPr id="1885" name="Google Shape;1885;p84"/>
          <p:cNvGraphicFramePr/>
          <p:nvPr/>
        </p:nvGraphicFramePr>
        <p:xfrm>
          <a:off x="6135915" y="3865417"/>
          <a:ext cx="2863175" cy="396210"/>
        </p:xfrm>
        <a:graphic>
          <a:graphicData uri="http://schemas.openxmlformats.org/drawingml/2006/table">
            <a:tbl>
              <a:tblPr>
                <a:noFill/>
                <a:tableStyleId>{89CCAE03-A2B2-4379-B0C2-E101A7E113D6}</a:tableStyleId>
              </a:tblPr>
              <a:tblGrid>
                <a:gridCol w="409025">
                  <a:extLst>
                    <a:ext uri="{9D8B030D-6E8A-4147-A177-3AD203B41FA5}">
                      <a16:colId xmlns:a16="http://schemas.microsoft.com/office/drawing/2014/main" val="20000"/>
                    </a:ext>
                  </a:extLst>
                </a:gridCol>
                <a:gridCol w="409025">
                  <a:extLst>
                    <a:ext uri="{9D8B030D-6E8A-4147-A177-3AD203B41FA5}">
                      <a16:colId xmlns:a16="http://schemas.microsoft.com/office/drawing/2014/main" val="20001"/>
                    </a:ext>
                  </a:extLst>
                </a:gridCol>
                <a:gridCol w="409025">
                  <a:extLst>
                    <a:ext uri="{9D8B030D-6E8A-4147-A177-3AD203B41FA5}">
                      <a16:colId xmlns:a16="http://schemas.microsoft.com/office/drawing/2014/main" val="20002"/>
                    </a:ext>
                  </a:extLst>
                </a:gridCol>
                <a:gridCol w="409025">
                  <a:extLst>
                    <a:ext uri="{9D8B030D-6E8A-4147-A177-3AD203B41FA5}">
                      <a16:colId xmlns:a16="http://schemas.microsoft.com/office/drawing/2014/main" val="20003"/>
                    </a:ext>
                  </a:extLst>
                </a:gridCol>
                <a:gridCol w="409025">
                  <a:extLst>
                    <a:ext uri="{9D8B030D-6E8A-4147-A177-3AD203B41FA5}">
                      <a16:colId xmlns:a16="http://schemas.microsoft.com/office/drawing/2014/main" val="20004"/>
                    </a:ext>
                  </a:extLst>
                </a:gridCol>
                <a:gridCol w="409025">
                  <a:extLst>
                    <a:ext uri="{9D8B030D-6E8A-4147-A177-3AD203B41FA5}">
                      <a16:colId xmlns:a16="http://schemas.microsoft.com/office/drawing/2014/main" val="20005"/>
                    </a:ext>
                  </a:extLst>
                </a:gridCol>
                <a:gridCol w="409025">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86" name="Google Shape;1886;p84"/>
          <p:cNvSpPr txBox="1"/>
          <p:nvPr/>
        </p:nvSpPr>
        <p:spPr>
          <a:xfrm>
            <a:off x="8598303"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887" name="Google Shape;1887;p84"/>
          <p:cNvSpPr txBox="1"/>
          <p:nvPr/>
        </p:nvSpPr>
        <p:spPr>
          <a:xfrm>
            <a:off x="6135925" y="42616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88" name="Google Shape;1888;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graphicFrame>
        <p:nvGraphicFramePr>
          <p:cNvPr id="1889" name="Google Shape;1889;p84"/>
          <p:cNvGraphicFramePr/>
          <p:nvPr/>
        </p:nvGraphicFramePr>
        <p:xfrm>
          <a:off x="84252" y="891217"/>
          <a:ext cx="5894500" cy="3700695"/>
        </p:xfrm>
        <a:graphic>
          <a:graphicData uri="http://schemas.openxmlformats.org/drawingml/2006/table">
            <a:tbl>
              <a:tblPr>
                <a:noFill/>
                <a:tableStyleId>{89CCAE03-A2B2-4379-B0C2-E101A7E113D6}</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890" name="Google Shape;1890;p84"/>
          <p:cNvSpPr txBox="1"/>
          <p:nvPr/>
        </p:nvSpPr>
        <p:spPr>
          <a:xfrm>
            <a:off x="6135925" y="34652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91" name="Google Shape;1891;p84"/>
          <p:cNvGrpSpPr/>
          <p:nvPr/>
        </p:nvGrpSpPr>
        <p:grpSpPr>
          <a:xfrm>
            <a:off x="6273919" y="1025531"/>
            <a:ext cx="2787283" cy="2434444"/>
            <a:chOff x="6244267" y="1490489"/>
            <a:chExt cx="2787283" cy="2434444"/>
          </a:xfrm>
        </p:grpSpPr>
        <p:sp>
          <p:nvSpPr>
            <p:cNvPr id="1892" name="Google Shape;1892;p84"/>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893" name="Google Shape;1893;p84"/>
            <p:cNvSpPr/>
            <p:nvPr/>
          </p:nvSpPr>
          <p:spPr>
            <a:xfrm>
              <a:off x="7308611" y="22814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94" name="Google Shape;1894;p84"/>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895" name="Google Shape;1895;p84"/>
            <p:cNvSpPr/>
            <p:nvPr/>
          </p:nvSpPr>
          <p:spPr>
            <a:xfrm>
              <a:off x="75378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896" name="Google Shape;1896;p84"/>
            <p:cNvSpPr/>
            <p:nvPr/>
          </p:nvSpPr>
          <p:spPr>
            <a:xfrm>
              <a:off x="8610649" y="3126141"/>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97" name="Google Shape;1897;p84"/>
            <p:cNvSpPr/>
            <p:nvPr/>
          </p:nvSpPr>
          <p:spPr>
            <a:xfrm>
              <a:off x="8470371" y="214598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98" name="Google Shape;1898;p84"/>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99" name="Google Shape;1899;p84"/>
            <p:cNvCxnSpPr>
              <a:stCxn id="1892" idx="3"/>
              <a:endCxn id="1894"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900" name="Google Shape;1900;p84"/>
            <p:cNvCxnSpPr>
              <a:stCxn id="1892" idx="6"/>
              <a:endCxn id="1895" idx="2"/>
            </p:cNvCxnSpPr>
            <p:nvPr/>
          </p:nvCxnSpPr>
          <p:spPr>
            <a:xfrm>
              <a:off x="6929973" y="1733781"/>
              <a:ext cx="607800" cy="0"/>
            </a:xfrm>
            <a:prstGeom prst="straightConnector1">
              <a:avLst/>
            </a:prstGeom>
            <a:noFill/>
            <a:ln w="19050" cap="flat" cmpd="sng">
              <a:solidFill>
                <a:srgbClr val="000000"/>
              </a:solidFill>
              <a:prstDash val="solid"/>
              <a:round/>
              <a:headEnd type="none" w="med" len="med"/>
              <a:tailEnd type="none" w="med" len="med"/>
            </a:ln>
          </p:spPr>
        </p:cxnSp>
        <p:cxnSp>
          <p:nvCxnSpPr>
            <p:cNvPr id="1901" name="Google Shape;1901;p84"/>
            <p:cNvCxnSpPr>
              <a:stCxn id="1892" idx="5"/>
              <a:endCxn id="1893" idx="1"/>
            </p:cNvCxnSpPr>
            <p:nvPr/>
          </p:nvCxnSpPr>
          <p:spPr>
            <a:xfrm>
              <a:off x="6868334" y="1882592"/>
              <a:ext cx="501900" cy="460500"/>
            </a:xfrm>
            <a:prstGeom prst="straightConnector1">
              <a:avLst/>
            </a:prstGeom>
            <a:noFill/>
            <a:ln w="19050" cap="flat" cmpd="sng">
              <a:solidFill>
                <a:srgbClr val="000000"/>
              </a:solidFill>
              <a:prstDash val="solid"/>
              <a:round/>
              <a:headEnd type="none" w="med" len="med"/>
              <a:tailEnd type="none" w="med" len="med"/>
            </a:ln>
          </p:spPr>
        </p:cxnSp>
        <p:cxnSp>
          <p:nvCxnSpPr>
            <p:cNvPr id="1902" name="Google Shape;1902;p84"/>
            <p:cNvCxnSpPr>
              <a:stCxn id="1893" idx="6"/>
              <a:endCxn id="1897" idx="2"/>
            </p:cNvCxnSpPr>
            <p:nvPr/>
          </p:nvCxnSpPr>
          <p:spPr>
            <a:xfrm rot="10800000" flipH="1">
              <a:off x="7729511" y="2356329"/>
              <a:ext cx="741000" cy="135600"/>
            </a:xfrm>
            <a:prstGeom prst="straightConnector1">
              <a:avLst/>
            </a:prstGeom>
            <a:noFill/>
            <a:ln w="19050" cap="flat" cmpd="sng">
              <a:solidFill>
                <a:srgbClr val="000000"/>
              </a:solidFill>
              <a:prstDash val="solid"/>
              <a:round/>
              <a:headEnd type="none" w="med" len="med"/>
              <a:tailEnd type="none" w="med" len="med"/>
            </a:ln>
          </p:spPr>
        </p:cxnSp>
        <p:cxnSp>
          <p:nvCxnSpPr>
            <p:cNvPr id="1903" name="Google Shape;1903;p84"/>
            <p:cNvCxnSpPr>
              <a:stCxn id="1897" idx="4"/>
              <a:endCxn id="1896" idx="0"/>
            </p:cNvCxnSpPr>
            <p:nvPr/>
          </p:nvCxnSpPr>
          <p:spPr>
            <a:xfrm>
              <a:off x="8680821" y="2566889"/>
              <a:ext cx="140400" cy="559200"/>
            </a:xfrm>
            <a:prstGeom prst="straightConnector1">
              <a:avLst/>
            </a:prstGeom>
            <a:noFill/>
            <a:ln w="19050" cap="flat" cmpd="sng">
              <a:solidFill>
                <a:srgbClr val="000000"/>
              </a:solidFill>
              <a:prstDash val="solid"/>
              <a:round/>
              <a:headEnd type="none" w="med" len="med"/>
              <a:tailEnd type="none" w="med" len="med"/>
            </a:ln>
          </p:spPr>
        </p:cxnSp>
        <p:cxnSp>
          <p:nvCxnSpPr>
            <p:cNvPr id="1904" name="Google Shape;1904;p84"/>
            <p:cNvCxnSpPr>
              <a:stCxn id="1893" idx="3"/>
              <a:endCxn id="1898" idx="0"/>
            </p:cNvCxnSpPr>
            <p:nvPr/>
          </p:nvCxnSpPr>
          <p:spPr>
            <a:xfrm flipH="1">
              <a:off x="7201051" y="2640740"/>
              <a:ext cx="169200" cy="727500"/>
            </a:xfrm>
            <a:prstGeom prst="straightConnector1">
              <a:avLst/>
            </a:prstGeom>
            <a:noFill/>
            <a:ln w="19050" cap="flat" cmpd="sng">
              <a:solidFill>
                <a:srgbClr val="000000"/>
              </a:solidFill>
              <a:prstDash val="solid"/>
              <a:round/>
              <a:headEnd type="none" w="med" len="med"/>
              <a:tailEnd type="none" w="med" len="med"/>
            </a:ln>
          </p:spPr>
        </p:cxnSp>
        <p:cxnSp>
          <p:nvCxnSpPr>
            <p:cNvPr id="1905" name="Google Shape;1905;p84"/>
            <p:cNvCxnSpPr>
              <a:stCxn id="1898" idx="6"/>
              <a:endCxn id="1906" idx="2"/>
            </p:cNvCxnSpPr>
            <p:nvPr/>
          </p:nvCxnSpPr>
          <p:spPr>
            <a:xfrm>
              <a:off x="7411542" y="3578716"/>
              <a:ext cx="355800" cy="123600"/>
            </a:xfrm>
            <a:prstGeom prst="straightConnector1">
              <a:avLst/>
            </a:prstGeom>
            <a:noFill/>
            <a:ln w="19050" cap="flat" cmpd="sng">
              <a:solidFill>
                <a:srgbClr val="000000"/>
              </a:solidFill>
              <a:prstDash val="solid"/>
              <a:round/>
              <a:headEnd type="none" w="med" len="med"/>
              <a:tailEnd type="none" w="med" len="med"/>
            </a:ln>
          </p:spPr>
        </p:cxnSp>
        <p:cxnSp>
          <p:nvCxnSpPr>
            <p:cNvPr id="1907" name="Google Shape;1907;p84"/>
            <p:cNvCxnSpPr>
              <a:stCxn id="1894" idx="6"/>
              <a:endCxn id="1893" idx="2"/>
            </p:cNvCxnSpPr>
            <p:nvPr/>
          </p:nvCxnSpPr>
          <p:spPr>
            <a:xfrm rot="10800000" flipH="1">
              <a:off x="6665167" y="2491889"/>
              <a:ext cx="643500" cy="216600"/>
            </a:xfrm>
            <a:prstGeom prst="straightConnector1">
              <a:avLst/>
            </a:prstGeom>
            <a:noFill/>
            <a:ln w="19050" cap="flat" cmpd="sng">
              <a:solidFill>
                <a:srgbClr val="000000"/>
              </a:solidFill>
              <a:prstDash val="solid"/>
              <a:round/>
              <a:headEnd type="none" w="med" len="med"/>
              <a:tailEnd type="none" w="med" len="med"/>
            </a:ln>
          </p:spPr>
        </p:cxnSp>
        <p:cxnSp>
          <p:nvCxnSpPr>
            <p:cNvPr id="1908" name="Google Shape;1908;p84"/>
            <p:cNvCxnSpPr>
              <a:stCxn id="1895" idx="5"/>
              <a:endCxn id="1897" idx="1"/>
            </p:cNvCxnSpPr>
            <p:nvPr/>
          </p:nvCxnSpPr>
          <p:spPr>
            <a:xfrm>
              <a:off x="7897125" y="1882592"/>
              <a:ext cx="634800" cy="324900"/>
            </a:xfrm>
            <a:prstGeom prst="straightConnector1">
              <a:avLst/>
            </a:prstGeom>
            <a:noFill/>
            <a:ln w="19050" cap="flat" cmpd="sng">
              <a:solidFill>
                <a:srgbClr val="000000"/>
              </a:solidFill>
              <a:prstDash val="solid"/>
              <a:round/>
              <a:headEnd type="none" w="med" len="med"/>
              <a:tailEnd type="none" w="med" len="med"/>
            </a:ln>
          </p:spPr>
        </p:cxnSp>
        <p:sp>
          <p:nvSpPr>
            <p:cNvPr id="1909" name="Google Shape;1909;p84"/>
            <p:cNvSpPr txBox="1"/>
            <p:nvPr/>
          </p:nvSpPr>
          <p:spPr>
            <a:xfrm>
              <a:off x="7070694" y="192340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10" name="Google Shape;1910;p84"/>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911" name="Google Shape;1911;p84"/>
            <p:cNvSpPr txBox="1"/>
            <p:nvPr/>
          </p:nvSpPr>
          <p:spPr>
            <a:xfrm>
              <a:off x="8700372" y="272486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12" name="Google Shape;1912;p84"/>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3" name="Google Shape;1913;p84"/>
            <p:cNvSpPr txBox="1"/>
            <p:nvPr/>
          </p:nvSpPr>
          <p:spPr>
            <a:xfrm>
              <a:off x="6805118" y="235632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4" name="Google Shape;1914;p84"/>
            <p:cNvSpPr txBox="1"/>
            <p:nvPr/>
          </p:nvSpPr>
          <p:spPr>
            <a:xfrm>
              <a:off x="7070701" y="28572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5" name="Google Shape;1915;p84"/>
            <p:cNvSpPr txBox="1"/>
            <p:nvPr/>
          </p:nvSpPr>
          <p:spPr>
            <a:xfrm>
              <a:off x="7454899" y="36816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6" name="Google Shape;1916;p84"/>
            <p:cNvSpPr txBox="1"/>
            <p:nvPr/>
          </p:nvSpPr>
          <p:spPr>
            <a:xfrm>
              <a:off x="8060525" y="1823725"/>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917" name="Google Shape;1917;p84"/>
            <p:cNvSpPr txBox="1"/>
            <p:nvPr/>
          </p:nvSpPr>
          <p:spPr>
            <a:xfrm>
              <a:off x="7099366" y="14904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918" name="Google Shape;1918;p84"/>
            <p:cNvCxnSpPr>
              <a:stCxn id="1894" idx="5"/>
              <a:endCxn id="1898"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919" name="Google Shape;1919;p84"/>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06" name="Google Shape;1906;p84"/>
            <p:cNvSpPr/>
            <p:nvPr/>
          </p:nvSpPr>
          <p:spPr>
            <a:xfrm>
              <a:off x="7767317" y="349180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920" name="Google Shape;1920;p84"/>
            <p:cNvCxnSpPr>
              <a:stCxn id="1896" idx="2"/>
              <a:endCxn id="1906" idx="6"/>
            </p:cNvCxnSpPr>
            <p:nvPr/>
          </p:nvCxnSpPr>
          <p:spPr>
            <a:xfrm flipH="1">
              <a:off x="8188249" y="3336591"/>
              <a:ext cx="422400" cy="365700"/>
            </a:xfrm>
            <a:prstGeom prst="straightConnector1">
              <a:avLst/>
            </a:prstGeom>
            <a:noFill/>
            <a:ln w="19050" cap="flat" cmpd="sng">
              <a:solidFill>
                <a:srgbClr val="000000"/>
              </a:solidFill>
              <a:prstDash val="solid"/>
              <a:round/>
              <a:headEnd type="none" w="med" len="med"/>
              <a:tailEnd type="none" w="med" len="med"/>
            </a:ln>
          </p:spPr>
        </p:cxnSp>
        <p:cxnSp>
          <p:nvCxnSpPr>
            <p:cNvPr id="1921" name="Google Shape;1921;p84"/>
            <p:cNvCxnSpPr>
              <a:stCxn id="1897" idx="3"/>
              <a:endCxn id="1906" idx="0"/>
            </p:cNvCxnSpPr>
            <p:nvPr/>
          </p:nvCxnSpPr>
          <p:spPr>
            <a:xfrm flipH="1">
              <a:off x="7977910" y="2505250"/>
              <a:ext cx="554100" cy="986700"/>
            </a:xfrm>
            <a:prstGeom prst="straightConnector1">
              <a:avLst/>
            </a:prstGeom>
            <a:noFill/>
            <a:ln w="19050" cap="flat" cmpd="sng">
              <a:solidFill>
                <a:srgbClr val="000000"/>
              </a:solidFill>
              <a:prstDash val="solid"/>
              <a:round/>
              <a:headEnd type="none" w="med" len="med"/>
              <a:tailEnd type="none" w="med" len="med"/>
            </a:ln>
          </p:spPr>
        </p:cxnSp>
        <p:cxnSp>
          <p:nvCxnSpPr>
            <p:cNvPr id="1922" name="Google Shape;1922;p84"/>
            <p:cNvCxnSpPr>
              <a:stCxn id="1893" idx="5"/>
              <a:endCxn id="1906" idx="1"/>
            </p:cNvCxnSpPr>
            <p:nvPr/>
          </p:nvCxnSpPr>
          <p:spPr>
            <a:xfrm>
              <a:off x="7667872" y="2640740"/>
              <a:ext cx="161100" cy="912600"/>
            </a:xfrm>
            <a:prstGeom prst="straightConnector1">
              <a:avLst/>
            </a:prstGeom>
            <a:noFill/>
            <a:ln w="19050" cap="flat" cmpd="sng">
              <a:solidFill>
                <a:srgbClr val="000000"/>
              </a:solidFill>
              <a:prstDash val="solid"/>
              <a:round/>
              <a:headEnd type="none" w="med" len="med"/>
              <a:tailEnd type="none" w="med" len="med"/>
            </a:ln>
          </p:spPr>
        </p:cxnSp>
        <p:sp>
          <p:nvSpPr>
            <p:cNvPr id="1923" name="Google Shape;1923;p84"/>
            <p:cNvSpPr txBox="1"/>
            <p:nvPr/>
          </p:nvSpPr>
          <p:spPr>
            <a:xfrm>
              <a:off x="7685099" y="28702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24" name="Google Shape;1924;p84"/>
            <p:cNvSpPr txBox="1"/>
            <p:nvPr/>
          </p:nvSpPr>
          <p:spPr>
            <a:xfrm>
              <a:off x="8182961" y="30219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25" name="Google Shape;1925;p84"/>
            <p:cNvSpPr txBox="1"/>
            <p:nvPr/>
          </p:nvSpPr>
          <p:spPr>
            <a:xfrm>
              <a:off x="8341549" y="34934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926" name="Google Shape;1926;p84"/>
            <p:cNvCxnSpPr>
              <a:stCxn id="1895" idx="4"/>
              <a:endCxn id="1893" idx="0"/>
            </p:cNvCxnSpPr>
            <p:nvPr/>
          </p:nvCxnSpPr>
          <p:spPr>
            <a:xfrm flipH="1">
              <a:off x="7519114" y="1944231"/>
              <a:ext cx="229200" cy="337200"/>
            </a:xfrm>
            <a:prstGeom prst="straightConnector1">
              <a:avLst/>
            </a:prstGeom>
            <a:noFill/>
            <a:ln w="19050" cap="flat" cmpd="sng">
              <a:solidFill>
                <a:srgbClr val="000000"/>
              </a:solidFill>
              <a:prstDash val="solid"/>
              <a:round/>
              <a:headEnd type="none" w="med" len="med"/>
              <a:tailEnd type="none" w="med" len="med"/>
            </a:ln>
          </p:spPr>
        </p:cxnSp>
        <p:sp>
          <p:nvSpPr>
            <p:cNvPr id="1927" name="Google Shape;1927;p84"/>
            <p:cNvSpPr txBox="1"/>
            <p:nvPr/>
          </p:nvSpPr>
          <p:spPr>
            <a:xfrm>
              <a:off x="7613786" y="19911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928" name="Google Shape;1928;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929" name="Google Shape;1929;p84"/>
          <p:cNvSpPr txBox="1"/>
          <p:nvPr/>
        </p:nvSpPr>
        <p:spPr>
          <a:xfrm>
            <a:off x="760554" y="17008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30" name="Google Shape;1930;p84"/>
          <p:cNvSpPr txBox="1"/>
          <p:nvPr/>
        </p:nvSpPr>
        <p:spPr>
          <a:xfrm>
            <a:off x="768312" y="205859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31" name="Google Shape;1931;p84"/>
          <p:cNvSpPr txBox="1"/>
          <p:nvPr/>
        </p:nvSpPr>
        <p:spPr>
          <a:xfrm>
            <a:off x="776070" y="24240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32" name="Google Shape;1932;p84"/>
          <p:cNvSpPr txBox="1"/>
          <p:nvPr/>
        </p:nvSpPr>
        <p:spPr>
          <a:xfrm>
            <a:off x="768312" y="28050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33" name="Google Shape;1933;p84"/>
          <p:cNvSpPr txBox="1"/>
          <p:nvPr/>
        </p:nvSpPr>
        <p:spPr>
          <a:xfrm>
            <a:off x="768312" y="316280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934" name="Google Shape;1934;p84"/>
          <p:cNvSpPr txBox="1"/>
          <p:nvPr/>
        </p:nvSpPr>
        <p:spPr>
          <a:xfrm>
            <a:off x="768312" y="352829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35" name="Google Shape;1935;p84"/>
          <p:cNvSpPr txBox="1"/>
          <p:nvPr/>
        </p:nvSpPr>
        <p:spPr>
          <a:xfrm>
            <a:off x="760554" y="386412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36" name="Google Shape;1936;p84"/>
          <p:cNvSpPr txBox="1"/>
          <p:nvPr/>
        </p:nvSpPr>
        <p:spPr>
          <a:xfrm>
            <a:off x="760554" y="422960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937" name="Google Shape;1937;p84"/>
          <p:cNvSpPr txBox="1"/>
          <p:nvPr/>
        </p:nvSpPr>
        <p:spPr>
          <a:xfrm>
            <a:off x="1397804" y="16937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38" name="Google Shape;1938;p84"/>
          <p:cNvSpPr txBox="1"/>
          <p:nvPr/>
        </p:nvSpPr>
        <p:spPr>
          <a:xfrm>
            <a:off x="1942344" y="16931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8, A</a:t>
            </a:r>
            <a:endParaRPr sz="2000">
              <a:solidFill>
                <a:srgbClr val="FF0000"/>
              </a:solidFill>
              <a:latin typeface="Shadows Into Light"/>
              <a:ea typeface="Shadows Into Light"/>
              <a:cs typeface="Shadows Into Light"/>
              <a:sym typeface="Shadows Into Light"/>
            </a:endParaRPr>
          </a:p>
        </p:txBody>
      </p:sp>
      <p:sp>
        <p:nvSpPr>
          <p:cNvPr id="1939" name="Google Shape;1939;p84"/>
          <p:cNvSpPr txBox="1"/>
          <p:nvPr/>
        </p:nvSpPr>
        <p:spPr>
          <a:xfrm>
            <a:off x="2497146" y="16937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940" name="Google Shape;1940;p84"/>
          <p:cNvSpPr txBox="1"/>
          <p:nvPr/>
        </p:nvSpPr>
        <p:spPr>
          <a:xfrm>
            <a:off x="3118772" y="1693798"/>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A</a:t>
            </a:r>
            <a:endParaRPr sz="2000">
              <a:solidFill>
                <a:srgbClr val="FF0000"/>
              </a:solidFill>
              <a:latin typeface="Shadows Into Light"/>
              <a:ea typeface="Shadows Into Light"/>
              <a:cs typeface="Shadows Into Light"/>
              <a:sym typeface="Shadows Into Light"/>
            </a:endParaRPr>
          </a:p>
        </p:txBody>
      </p:sp>
      <p:sp>
        <p:nvSpPr>
          <p:cNvPr id="1941" name="Google Shape;1941;p84"/>
          <p:cNvSpPr txBox="1"/>
          <p:nvPr/>
        </p:nvSpPr>
        <p:spPr>
          <a:xfrm>
            <a:off x="2564077" y="20747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2" name="Google Shape;1942;p84"/>
          <p:cNvSpPr txBox="1"/>
          <p:nvPr/>
        </p:nvSpPr>
        <p:spPr>
          <a:xfrm>
            <a:off x="3108618" y="20741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 C</a:t>
            </a:r>
            <a:endParaRPr sz="2000">
              <a:solidFill>
                <a:srgbClr val="FF0000"/>
              </a:solidFill>
              <a:latin typeface="Shadows Into Light"/>
              <a:ea typeface="Shadows Into Light"/>
              <a:cs typeface="Shadows Into Light"/>
              <a:sym typeface="Shadows Into Light"/>
            </a:endParaRPr>
          </a:p>
        </p:txBody>
      </p:sp>
      <p:sp>
        <p:nvSpPr>
          <p:cNvPr id="1943" name="Google Shape;1943;p84"/>
          <p:cNvSpPr txBox="1"/>
          <p:nvPr/>
        </p:nvSpPr>
        <p:spPr>
          <a:xfrm>
            <a:off x="3663420" y="20747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C</a:t>
            </a:r>
            <a:endParaRPr sz="2000">
              <a:solidFill>
                <a:srgbClr val="FF0000"/>
              </a:solidFill>
              <a:latin typeface="Shadows Into Light"/>
              <a:ea typeface="Shadows Into Light"/>
              <a:cs typeface="Shadows Into Light"/>
              <a:sym typeface="Shadows Into Light"/>
            </a:endParaRPr>
          </a:p>
        </p:txBody>
      </p:sp>
      <p:sp>
        <p:nvSpPr>
          <p:cNvPr id="1944" name="Google Shape;1944;p84"/>
          <p:cNvSpPr txBox="1"/>
          <p:nvPr/>
        </p:nvSpPr>
        <p:spPr>
          <a:xfrm>
            <a:off x="3158162" y="242614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5" name="Google Shape;1945;p84"/>
          <p:cNvSpPr txBox="1"/>
          <p:nvPr/>
        </p:nvSpPr>
        <p:spPr>
          <a:xfrm>
            <a:off x="1942344" y="242546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 D</a:t>
            </a:r>
            <a:endParaRPr sz="2000">
              <a:solidFill>
                <a:srgbClr val="FF0000"/>
              </a:solidFill>
              <a:latin typeface="Shadows Into Light"/>
              <a:ea typeface="Shadows Into Light"/>
              <a:cs typeface="Shadows Into Light"/>
              <a:sym typeface="Shadows Into Light"/>
            </a:endParaRPr>
          </a:p>
        </p:txBody>
      </p:sp>
      <p:sp>
        <p:nvSpPr>
          <p:cNvPr id="1946" name="Google Shape;1946;p84"/>
          <p:cNvSpPr txBox="1"/>
          <p:nvPr/>
        </p:nvSpPr>
        <p:spPr>
          <a:xfrm>
            <a:off x="3685315" y="243252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D</a:t>
            </a:r>
            <a:endParaRPr sz="2000">
              <a:solidFill>
                <a:srgbClr val="FF0000"/>
              </a:solidFill>
              <a:latin typeface="Shadows Into Light"/>
              <a:ea typeface="Shadows Into Light"/>
              <a:cs typeface="Shadows Into Light"/>
              <a:sym typeface="Shadows Into Light"/>
            </a:endParaRPr>
          </a:p>
        </p:txBody>
      </p:sp>
      <p:sp>
        <p:nvSpPr>
          <p:cNvPr id="1947" name="Google Shape;1947;p84"/>
          <p:cNvSpPr txBox="1"/>
          <p:nvPr/>
        </p:nvSpPr>
        <p:spPr>
          <a:xfrm>
            <a:off x="4299182" y="242614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 D</a:t>
            </a:r>
            <a:endParaRPr sz="2000">
              <a:solidFill>
                <a:srgbClr val="FF0000"/>
              </a:solidFill>
              <a:latin typeface="Shadows Into Light"/>
              <a:ea typeface="Shadows Into Light"/>
              <a:cs typeface="Shadows Into Light"/>
              <a:sym typeface="Shadows Into Light"/>
            </a:endParaRPr>
          </a:p>
        </p:txBody>
      </p:sp>
      <p:sp>
        <p:nvSpPr>
          <p:cNvPr id="1948" name="Google Shape;1948;p84"/>
          <p:cNvSpPr txBox="1"/>
          <p:nvPr/>
        </p:nvSpPr>
        <p:spPr>
          <a:xfrm>
            <a:off x="4885509" y="242614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D</a:t>
            </a:r>
            <a:endParaRPr sz="2000">
              <a:solidFill>
                <a:srgbClr val="FF0000"/>
              </a:solidFill>
              <a:latin typeface="Shadows Into Light"/>
              <a:ea typeface="Shadows Into Light"/>
              <a:cs typeface="Shadows Into Light"/>
              <a:sym typeface="Shadows Into Light"/>
            </a:endParaRPr>
          </a:p>
        </p:txBody>
      </p:sp>
      <p:sp>
        <p:nvSpPr>
          <p:cNvPr id="1949" name="Google Shape;1949;p84"/>
          <p:cNvSpPr txBox="1"/>
          <p:nvPr/>
        </p:nvSpPr>
        <p:spPr>
          <a:xfrm>
            <a:off x="3752246" y="279800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0" name="Google Shape;1950;p84"/>
          <p:cNvSpPr txBox="1"/>
          <p:nvPr/>
        </p:nvSpPr>
        <p:spPr>
          <a:xfrm>
            <a:off x="4876734" y="27909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 E</a:t>
            </a:r>
            <a:endParaRPr sz="2000">
              <a:solidFill>
                <a:srgbClr val="FF0000"/>
              </a:solidFill>
              <a:latin typeface="Shadows Into Light"/>
              <a:ea typeface="Shadows Into Light"/>
              <a:cs typeface="Shadows Into Light"/>
              <a:sym typeface="Shadows Into Light"/>
            </a:endParaRPr>
          </a:p>
        </p:txBody>
      </p:sp>
      <p:sp>
        <p:nvSpPr>
          <p:cNvPr id="1951" name="Google Shape;1951;p84"/>
          <p:cNvSpPr txBox="1"/>
          <p:nvPr/>
        </p:nvSpPr>
        <p:spPr>
          <a:xfrm>
            <a:off x="1984130" y="315573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2" name="Google Shape;1952;p84"/>
          <p:cNvSpPr txBox="1"/>
          <p:nvPr/>
        </p:nvSpPr>
        <p:spPr>
          <a:xfrm>
            <a:off x="4926277" y="35225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3" name="Google Shape;1953;p84"/>
          <p:cNvSpPr txBox="1"/>
          <p:nvPr/>
        </p:nvSpPr>
        <p:spPr>
          <a:xfrm>
            <a:off x="4304544" y="35219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8, G</a:t>
            </a:r>
            <a:endParaRPr sz="2000">
              <a:solidFill>
                <a:srgbClr val="FF0000"/>
              </a:solidFill>
              <a:latin typeface="Shadows Into Light"/>
              <a:ea typeface="Shadows Into Light"/>
              <a:cs typeface="Shadows Into Light"/>
              <a:sym typeface="Shadows Into Light"/>
            </a:endParaRPr>
          </a:p>
        </p:txBody>
      </p:sp>
      <p:sp>
        <p:nvSpPr>
          <p:cNvPr id="1954" name="Google Shape;1954;p84"/>
          <p:cNvSpPr txBox="1"/>
          <p:nvPr/>
        </p:nvSpPr>
        <p:spPr>
          <a:xfrm>
            <a:off x="5468946" y="35225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12, G</a:t>
            </a:r>
            <a:endParaRPr sz="2000">
              <a:solidFill>
                <a:srgbClr val="FF0000"/>
              </a:solidFill>
              <a:latin typeface="Shadows Into Light"/>
              <a:ea typeface="Shadows Into Light"/>
              <a:cs typeface="Shadows Into Light"/>
              <a:sym typeface="Shadows Into Light"/>
            </a:endParaRPr>
          </a:p>
        </p:txBody>
      </p:sp>
      <p:sp>
        <p:nvSpPr>
          <p:cNvPr id="1955" name="Google Shape;1955;p84"/>
          <p:cNvSpPr txBox="1"/>
          <p:nvPr/>
        </p:nvSpPr>
        <p:spPr>
          <a:xfrm>
            <a:off x="4316677" y="3888082"/>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6" name="Google Shape;1956;p84"/>
          <p:cNvSpPr txBox="1"/>
          <p:nvPr/>
        </p:nvSpPr>
        <p:spPr>
          <a:xfrm>
            <a:off x="5470818" y="38951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957" name="Google Shape;1957;p84"/>
          <p:cNvSpPr txBox="1"/>
          <p:nvPr/>
        </p:nvSpPr>
        <p:spPr>
          <a:xfrm>
            <a:off x="5528120" y="424580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8" name="Google Shape;1958;p84"/>
          <p:cNvSpPr txBox="1"/>
          <p:nvPr/>
        </p:nvSpPr>
        <p:spPr>
          <a:xfrm>
            <a:off x="8172134"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59" name="Google Shape;1959;p84"/>
          <p:cNvSpPr txBox="1"/>
          <p:nvPr/>
        </p:nvSpPr>
        <p:spPr>
          <a:xfrm>
            <a:off x="7775618"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60" name="Google Shape;1960;p84"/>
          <p:cNvSpPr txBox="1"/>
          <p:nvPr/>
        </p:nvSpPr>
        <p:spPr>
          <a:xfrm>
            <a:off x="7363587"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61" name="Google Shape;1961;p84"/>
          <p:cNvSpPr txBox="1"/>
          <p:nvPr/>
        </p:nvSpPr>
        <p:spPr>
          <a:xfrm>
            <a:off x="7204418" y="4307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a:t>
            </a:r>
            <a:endParaRPr sz="2000">
              <a:solidFill>
                <a:srgbClr val="FF0000"/>
              </a:solidFill>
              <a:latin typeface="Shadows Into Light"/>
              <a:ea typeface="Shadows Into Light"/>
              <a:cs typeface="Shadows Into Light"/>
              <a:sym typeface="Shadows Into Light"/>
            </a:endParaRPr>
          </a:p>
        </p:txBody>
      </p:sp>
      <p:sp>
        <p:nvSpPr>
          <p:cNvPr id="1962" name="Google Shape;1962;p84"/>
          <p:cNvSpPr txBox="1"/>
          <p:nvPr/>
        </p:nvSpPr>
        <p:spPr>
          <a:xfrm>
            <a:off x="6952934"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63" name="Google Shape;1963;p84"/>
          <p:cNvSpPr txBox="1"/>
          <p:nvPr/>
        </p:nvSpPr>
        <p:spPr>
          <a:xfrm>
            <a:off x="6556418"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64" name="Google Shape;1964;p84"/>
          <p:cNvSpPr txBox="1"/>
          <p:nvPr/>
        </p:nvSpPr>
        <p:spPr>
          <a:xfrm>
            <a:off x="6144387"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65" name="Google Shape;1965;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29"/>
                                        </p:tgtEl>
                                        <p:attrNameLst>
                                          <p:attrName>style.visibility</p:attrName>
                                        </p:attrNameLst>
                                      </p:cBhvr>
                                      <p:to>
                                        <p:strVal val="visible"/>
                                      </p:to>
                                    </p:set>
                                    <p:animEffect transition="in" filter="fade">
                                      <p:cBhvr>
                                        <p:cTn id="7" dur="1000"/>
                                        <p:tgtEl>
                                          <p:spTgt spid="192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938"/>
                                        </p:tgtEl>
                                        <p:attrNameLst>
                                          <p:attrName>style.visibility</p:attrName>
                                        </p:attrNameLst>
                                      </p:cBhvr>
                                      <p:to>
                                        <p:strVal val="visible"/>
                                      </p:to>
                                    </p:set>
                                    <p:animEffect transition="in" filter="fade">
                                      <p:cBhvr>
                                        <p:cTn id="11" dur="1000"/>
                                        <p:tgtEl>
                                          <p:spTgt spid="193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939"/>
                                        </p:tgtEl>
                                        <p:attrNameLst>
                                          <p:attrName>style.visibility</p:attrName>
                                        </p:attrNameLst>
                                      </p:cBhvr>
                                      <p:to>
                                        <p:strVal val="visible"/>
                                      </p:to>
                                    </p:set>
                                    <p:animEffect transition="in" filter="fade">
                                      <p:cBhvr>
                                        <p:cTn id="15" dur="1000"/>
                                        <p:tgtEl>
                                          <p:spTgt spid="193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940"/>
                                        </p:tgtEl>
                                        <p:attrNameLst>
                                          <p:attrName>style.visibility</p:attrName>
                                        </p:attrNameLst>
                                      </p:cBhvr>
                                      <p:to>
                                        <p:strVal val="visible"/>
                                      </p:to>
                                    </p:set>
                                    <p:animEffect transition="in" filter="fade">
                                      <p:cBhvr>
                                        <p:cTn id="19" dur="1000"/>
                                        <p:tgtEl>
                                          <p:spTgt spid="1940"/>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937"/>
                                        </p:tgtEl>
                                        <p:attrNameLst>
                                          <p:attrName>style.visibility</p:attrName>
                                        </p:attrNameLst>
                                      </p:cBhvr>
                                      <p:to>
                                        <p:strVal val="visible"/>
                                      </p:to>
                                    </p:set>
                                    <p:animEffect transition="in" filter="fade">
                                      <p:cBhvr>
                                        <p:cTn id="23" dur="1000"/>
                                        <p:tgtEl>
                                          <p:spTgt spid="19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930"/>
                                        </p:tgtEl>
                                        <p:attrNameLst>
                                          <p:attrName>style.visibility</p:attrName>
                                        </p:attrNameLst>
                                      </p:cBhvr>
                                      <p:to>
                                        <p:strVal val="visible"/>
                                      </p:to>
                                    </p:set>
                                    <p:animEffect transition="in" filter="fade">
                                      <p:cBhvr>
                                        <p:cTn id="28" dur="1000"/>
                                        <p:tgtEl>
                                          <p:spTgt spid="1930"/>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942"/>
                                        </p:tgtEl>
                                        <p:attrNameLst>
                                          <p:attrName>style.visibility</p:attrName>
                                        </p:attrNameLst>
                                      </p:cBhvr>
                                      <p:to>
                                        <p:strVal val="visible"/>
                                      </p:to>
                                    </p:set>
                                    <p:animEffect transition="in" filter="fade">
                                      <p:cBhvr>
                                        <p:cTn id="32" dur="1400"/>
                                        <p:tgtEl>
                                          <p:spTgt spid="1942"/>
                                        </p:tgtEl>
                                      </p:cBhvr>
                                    </p:animEffect>
                                  </p:childTnLst>
                                </p:cTn>
                              </p:par>
                            </p:childTnLst>
                          </p:cTn>
                        </p:par>
                        <p:par>
                          <p:cTn id="33" fill="hold">
                            <p:stCondLst>
                              <p:cond delay="2400"/>
                            </p:stCondLst>
                            <p:childTnLst>
                              <p:par>
                                <p:cTn id="34" presetID="10" presetClass="entr" presetSubtype="0" fill="hold" nodeType="afterEffect">
                                  <p:stCondLst>
                                    <p:cond delay="0"/>
                                  </p:stCondLst>
                                  <p:childTnLst>
                                    <p:set>
                                      <p:cBhvr>
                                        <p:cTn id="35" dur="1" fill="hold">
                                          <p:stCondLst>
                                            <p:cond delay="0"/>
                                          </p:stCondLst>
                                        </p:cTn>
                                        <p:tgtEl>
                                          <p:spTgt spid="1943"/>
                                        </p:tgtEl>
                                        <p:attrNameLst>
                                          <p:attrName>style.visibility</p:attrName>
                                        </p:attrNameLst>
                                      </p:cBhvr>
                                      <p:to>
                                        <p:strVal val="visible"/>
                                      </p:to>
                                    </p:set>
                                    <p:animEffect transition="in" filter="fade">
                                      <p:cBhvr>
                                        <p:cTn id="36" dur="1000"/>
                                        <p:tgtEl>
                                          <p:spTgt spid="1943"/>
                                        </p:tgtEl>
                                      </p:cBhvr>
                                    </p:animEffect>
                                  </p:childTnLst>
                                </p:cTn>
                              </p:par>
                            </p:childTnLst>
                          </p:cTn>
                        </p:par>
                        <p:par>
                          <p:cTn id="37" fill="hold">
                            <p:stCondLst>
                              <p:cond delay="3400"/>
                            </p:stCondLst>
                            <p:childTnLst>
                              <p:par>
                                <p:cTn id="38" presetID="10" presetClass="entr" presetSubtype="0" fill="hold" nodeType="afterEffect">
                                  <p:stCondLst>
                                    <p:cond delay="0"/>
                                  </p:stCondLst>
                                  <p:childTnLst>
                                    <p:set>
                                      <p:cBhvr>
                                        <p:cTn id="39" dur="1" fill="hold">
                                          <p:stCondLst>
                                            <p:cond delay="0"/>
                                          </p:stCondLst>
                                        </p:cTn>
                                        <p:tgtEl>
                                          <p:spTgt spid="1941"/>
                                        </p:tgtEl>
                                        <p:attrNameLst>
                                          <p:attrName>style.visibility</p:attrName>
                                        </p:attrNameLst>
                                      </p:cBhvr>
                                      <p:to>
                                        <p:strVal val="visible"/>
                                      </p:to>
                                    </p:set>
                                    <p:animEffect transition="in" filter="fade">
                                      <p:cBhvr>
                                        <p:cTn id="40" dur="1000"/>
                                        <p:tgtEl>
                                          <p:spTgt spid="194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31"/>
                                        </p:tgtEl>
                                        <p:attrNameLst>
                                          <p:attrName>style.visibility</p:attrName>
                                        </p:attrNameLst>
                                      </p:cBhvr>
                                      <p:to>
                                        <p:strVal val="visible"/>
                                      </p:to>
                                    </p:set>
                                    <p:animEffect transition="in" filter="fade">
                                      <p:cBhvr>
                                        <p:cTn id="45" dur="1000"/>
                                        <p:tgtEl>
                                          <p:spTgt spid="1931"/>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945"/>
                                        </p:tgtEl>
                                        <p:attrNameLst>
                                          <p:attrName>style.visibility</p:attrName>
                                        </p:attrNameLst>
                                      </p:cBhvr>
                                      <p:to>
                                        <p:strVal val="visible"/>
                                      </p:to>
                                    </p:set>
                                    <p:animEffect transition="in" filter="fade">
                                      <p:cBhvr>
                                        <p:cTn id="49" dur="1000"/>
                                        <p:tgtEl>
                                          <p:spTgt spid="1945"/>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946"/>
                                        </p:tgtEl>
                                        <p:attrNameLst>
                                          <p:attrName>style.visibility</p:attrName>
                                        </p:attrNameLst>
                                      </p:cBhvr>
                                      <p:to>
                                        <p:strVal val="visible"/>
                                      </p:to>
                                    </p:set>
                                    <p:animEffect transition="in" filter="fade">
                                      <p:cBhvr>
                                        <p:cTn id="53" dur="1000"/>
                                        <p:tgtEl>
                                          <p:spTgt spid="1946"/>
                                        </p:tgtEl>
                                      </p:cBhvr>
                                    </p:animEffect>
                                  </p:childTnLst>
                                </p:cTn>
                              </p:par>
                            </p:childTnLst>
                          </p:cTn>
                        </p:par>
                        <p:par>
                          <p:cTn id="54" fill="hold">
                            <p:stCondLst>
                              <p:cond delay="3000"/>
                            </p:stCondLst>
                            <p:childTnLst>
                              <p:par>
                                <p:cTn id="55" presetID="10" presetClass="entr" presetSubtype="0" fill="hold" nodeType="afterEffect">
                                  <p:stCondLst>
                                    <p:cond delay="0"/>
                                  </p:stCondLst>
                                  <p:childTnLst>
                                    <p:set>
                                      <p:cBhvr>
                                        <p:cTn id="56" dur="1" fill="hold">
                                          <p:stCondLst>
                                            <p:cond delay="0"/>
                                          </p:stCondLst>
                                        </p:cTn>
                                        <p:tgtEl>
                                          <p:spTgt spid="1947"/>
                                        </p:tgtEl>
                                        <p:attrNameLst>
                                          <p:attrName>style.visibility</p:attrName>
                                        </p:attrNameLst>
                                      </p:cBhvr>
                                      <p:to>
                                        <p:strVal val="visible"/>
                                      </p:to>
                                    </p:set>
                                    <p:animEffect transition="in" filter="fade">
                                      <p:cBhvr>
                                        <p:cTn id="57" dur="1000"/>
                                        <p:tgtEl>
                                          <p:spTgt spid="1947"/>
                                        </p:tgtEl>
                                      </p:cBhvr>
                                    </p:animEffect>
                                  </p:childTnLst>
                                </p:cTn>
                              </p:par>
                            </p:childTnLst>
                          </p:cTn>
                        </p:par>
                        <p:par>
                          <p:cTn id="58" fill="hold">
                            <p:stCondLst>
                              <p:cond delay="4000"/>
                            </p:stCondLst>
                            <p:childTnLst>
                              <p:par>
                                <p:cTn id="59" presetID="10" presetClass="entr" presetSubtype="0" fill="hold" nodeType="afterEffect">
                                  <p:stCondLst>
                                    <p:cond delay="0"/>
                                  </p:stCondLst>
                                  <p:childTnLst>
                                    <p:set>
                                      <p:cBhvr>
                                        <p:cTn id="60" dur="1" fill="hold">
                                          <p:stCondLst>
                                            <p:cond delay="0"/>
                                          </p:stCondLst>
                                        </p:cTn>
                                        <p:tgtEl>
                                          <p:spTgt spid="1948"/>
                                        </p:tgtEl>
                                        <p:attrNameLst>
                                          <p:attrName>style.visibility</p:attrName>
                                        </p:attrNameLst>
                                      </p:cBhvr>
                                      <p:to>
                                        <p:strVal val="visible"/>
                                      </p:to>
                                    </p:set>
                                    <p:animEffect transition="in" filter="fade">
                                      <p:cBhvr>
                                        <p:cTn id="61" dur="1000"/>
                                        <p:tgtEl>
                                          <p:spTgt spid="1948"/>
                                        </p:tgtEl>
                                      </p:cBhvr>
                                    </p:animEffect>
                                  </p:childTnLst>
                                </p:cTn>
                              </p:par>
                            </p:childTnLst>
                          </p:cTn>
                        </p:par>
                        <p:par>
                          <p:cTn id="62" fill="hold">
                            <p:stCondLst>
                              <p:cond delay="5000"/>
                            </p:stCondLst>
                            <p:childTnLst>
                              <p:par>
                                <p:cTn id="63" presetID="10" presetClass="entr" presetSubtype="0" fill="hold" nodeType="afterEffect">
                                  <p:stCondLst>
                                    <p:cond delay="0"/>
                                  </p:stCondLst>
                                  <p:childTnLst>
                                    <p:set>
                                      <p:cBhvr>
                                        <p:cTn id="64" dur="1" fill="hold">
                                          <p:stCondLst>
                                            <p:cond delay="0"/>
                                          </p:stCondLst>
                                        </p:cTn>
                                        <p:tgtEl>
                                          <p:spTgt spid="1944"/>
                                        </p:tgtEl>
                                        <p:attrNameLst>
                                          <p:attrName>style.visibility</p:attrName>
                                        </p:attrNameLst>
                                      </p:cBhvr>
                                      <p:to>
                                        <p:strVal val="visible"/>
                                      </p:to>
                                    </p:set>
                                    <p:animEffect transition="in" filter="fade">
                                      <p:cBhvr>
                                        <p:cTn id="65" dur="1000"/>
                                        <p:tgtEl>
                                          <p:spTgt spid="194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32"/>
                                        </p:tgtEl>
                                        <p:attrNameLst>
                                          <p:attrName>style.visibility</p:attrName>
                                        </p:attrNameLst>
                                      </p:cBhvr>
                                      <p:to>
                                        <p:strVal val="visible"/>
                                      </p:to>
                                    </p:set>
                                    <p:animEffect transition="in" filter="fade">
                                      <p:cBhvr>
                                        <p:cTn id="70" dur="1000"/>
                                        <p:tgtEl>
                                          <p:spTgt spid="1932"/>
                                        </p:tgtEl>
                                      </p:cBhvr>
                                    </p:animEffect>
                                  </p:childTnLst>
                                </p:cTn>
                              </p:par>
                            </p:childTnLst>
                          </p:cTn>
                        </p:par>
                        <p:par>
                          <p:cTn id="71" fill="hold">
                            <p:stCondLst>
                              <p:cond delay="1000"/>
                            </p:stCondLst>
                            <p:childTnLst>
                              <p:par>
                                <p:cTn id="72" presetID="10" presetClass="entr" presetSubtype="0" fill="hold" nodeType="afterEffect">
                                  <p:stCondLst>
                                    <p:cond delay="0"/>
                                  </p:stCondLst>
                                  <p:childTnLst>
                                    <p:set>
                                      <p:cBhvr>
                                        <p:cTn id="73" dur="1" fill="hold">
                                          <p:stCondLst>
                                            <p:cond delay="0"/>
                                          </p:stCondLst>
                                        </p:cTn>
                                        <p:tgtEl>
                                          <p:spTgt spid="1950"/>
                                        </p:tgtEl>
                                        <p:attrNameLst>
                                          <p:attrName>style.visibility</p:attrName>
                                        </p:attrNameLst>
                                      </p:cBhvr>
                                      <p:to>
                                        <p:strVal val="visible"/>
                                      </p:to>
                                    </p:set>
                                    <p:animEffect transition="in" filter="fade">
                                      <p:cBhvr>
                                        <p:cTn id="74" dur="1000"/>
                                        <p:tgtEl>
                                          <p:spTgt spid="1950"/>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949"/>
                                        </p:tgtEl>
                                        <p:attrNameLst>
                                          <p:attrName>style.visibility</p:attrName>
                                        </p:attrNameLst>
                                      </p:cBhvr>
                                      <p:to>
                                        <p:strVal val="visible"/>
                                      </p:to>
                                    </p:set>
                                    <p:animEffect transition="in" filter="fade">
                                      <p:cBhvr>
                                        <p:cTn id="78" dur="1000"/>
                                        <p:tgtEl>
                                          <p:spTgt spid="194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933"/>
                                        </p:tgtEl>
                                        <p:attrNameLst>
                                          <p:attrName>style.visibility</p:attrName>
                                        </p:attrNameLst>
                                      </p:cBhvr>
                                      <p:to>
                                        <p:strVal val="visible"/>
                                      </p:to>
                                    </p:set>
                                    <p:animEffect transition="in" filter="fade">
                                      <p:cBhvr>
                                        <p:cTn id="83" dur="1000"/>
                                        <p:tgtEl>
                                          <p:spTgt spid="1933"/>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1951"/>
                                        </p:tgtEl>
                                        <p:attrNameLst>
                                          <p:attrName>style.visibility</p:attrName>
                                        </p:attrNameLst>
                                      </p:cBhvr>
                                      <p:to>
                                        <p:strVal val="visible"/>
                                      </p:to>
                                    </p:set>
                                    <p:animEffect transition="in" filter="fade">
                                      <p:cBhvr>
                                        <p:cTn id="87" dur="1000"/>
                                        <p:tgtEl>
                                          <p:spTgt spid="195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934"/>
                                        </p:tgtEl>
                                        <p:attrNameLst>
                                          <p:attrName>style.visibility</p:attrName>
                                        </p:attrNameLst>
                                      </p:cBhvr>
                                      <p:to>
                                        <p:strVal val="visible"/>
                                      </p:to>
                                    </p:set>
                                    <p:animEffect transition="in" filter="fade">
                                      <p:cBhvr>
                                        <p:cTn id="92" dur="1000"/>
                                        <p:tgtEl>
                                          <p:spTgt spid="1934"/>
                                        </p:tgtEl>
                                      </p:cBhvr>
                                    </p:animEffect>
                                  </p:childTnLst>
                                </p:cTn>
                              </p:par>
                            </p:childTnLst>
                          </p:cTn>
                        </p:par>
                        <p:par>
                          <p:cTn id="93" fill="hold">
                            <p:stCondLst>
                              <p:cond delay="1000"/>
                            </p:stCondLst>
                            <p:childTnLst>
                              <p:par>
                                <p:cTn id="94" presetID="10" presetClass="entr" presetSubtype="0" fill="hold" nodeType="afterEffect">
                                  <p:stCondLst>
                                    <p:cond delay="0"/>
                                  </p:stCondLst>
                                  <p:childTnLst>
                                    <p:set>
                                      <p:cBhvr>
                                        <p:cTn id="95" dur="1" fill="hold">
                                          <p:stCondLst>
                                            <p:cond delay="0"/>
                                          </p:stCondLst>
                                        </p:cTn>
                                        <p:tgtEl>
                                          <p:spTgt spid="1953"/>
                                        </p:tgtEl>
                                        <p:attrNameLst>
                                          <p:attrName>style.visibility</p:attrName>
                                        </p:attrNameLst>
                                      </p:cBhvr>
                                      <p:to>
                                        <p:strVal val="visible"/>
                                      </p:to>
                                    </p:set>
                                    <p:animEffect transition="in" filter="fade">
                                      <p:cBhvr>
                                        <p:cTn id="96" dur="1000"/>
                                        <p:tgtEl>
                                          <p:spTgt spid="1953"/>
                                        </p:tgtEl>
                                      </p:cBhvr>
                                    </p:animEffect>
                                  </p:childTnLst>
                                </p:cTn>
                              </p:par>
                            </p:childTnLst>
                          </p:cTn>
                        </p:par>
                        <p:par>
                          <p:cTn id="97" fill="hold">
                            <p:stCondLst>
                              <p:cond delay="2000"/>
                            </p:stCondLst>
                            <p:childTnLst>
                              <p:par>
                                <p:cTn id="98" presetID="10" presetClass="entr" presetSubtype="0" fill="hold" nodeType="afterEffect">
                                  <p:stCondLst>
                                    <p:cond delay="0"/>
                                  </p:stCondLst>
                                  <p:childTnLst>
                                    <p:set>
                                      <p:cBhvr>
                                        <p:cTn id="99" dur="1" fill="hold">
                                          <p:stCondLst>
                                            <p:cond delay="0"/>
                                          </p:stCondLst>
                                        </p:cTn>
                                        <p:tgtEl>
                                          <p:spTgt spid="1954"/>
                                        </p:tgtEl>
                                        <p:attrNameLst>
                                          <p:attrName>style.visibility</p:attrName>
                                        </p:attrNameLst>
                                      </p:cBhvr>
                                      <p:to>
                                        <p:strVal val="visible"/>
                                      </p:to>
                                    </p:set>
                                    <p:animEffect transition="in" filter="fade">
                                      <p:cBhvr>
                                        <p:cTn id="100" dur="1000"/>
                                        <p:tgtEl>
                                          <p:spTgt spid="1954"/>
                                        </p:tgtEl>
                                      </p:cBhvr>
                                    </p:animEffect>
                                  </p:childTnLst>
                                </p:cTn>
                              </p:par>
                            </p:childTnLst>
                          </p:cTn>
                        </p:par>
                        <p:par>
                          <p:cTn id="101" fill="hold">
                            <p:stCondLst>
                              <p:cond delay="3000"/>
                            </p:stCondLst>
                            <p:childTnLst>
                              <p:par>
                                <p:cTn id="102" presetID="10" presetClass="entr" presetSubtype="0" fill="hold" nodeType="afterEffect">
                                  <p:stCondLst>
                                    <p:cond delay="0"/>
                                  </p:stCondLst>
                                  <p:childTnLst>
                                    <p:set>
                                      <p:cBhvr>
                                        <p:cTn id="103" dur="1" fill="hold">
                                          <p:stCondLst>
                                            <p:cond delay="0"/>
                                          </p:stCondLst>
                                        </p:cTn>
                                        <p:tgtEl>
                                          <p:spTgt spid="1952"/>
                                        </p:tgtEl>
                                        <p:attrNameLst>
                                          <p:attrName>style.visibility</p:attrName>
                                        </p:attrNameLst>
                                      </p:cBhvr>
                                      <p:to>
                                        <p:strVal val="visible"/>
                                      </p:to>
                                    </p:set>
                                    <p:animEffect transition="in" filter="fade">
                                      <p:cBhvr>
                                        <p:cTn id="104" dur="1000"/>
                                        <p:tgtEl>
                                          <p:spTgt spid="195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1935"/>
                                        </p:tgtEl>
                                        <p:attrNameLst>
                                          <p:attrName>style.visibility</p:attrName>
                                        </p:attrNameLst>
                                      </p:cBhvr>
                                      <p:to>
                                        <p:strVal val="visible"/>
                                      </p:to>
                                    </p:set>
                                    <p:animEffect transition="in" filter="fade">
                                      <p:cBhvr>
                                        <p:cTn id="109" dur="1300"/>
                                        <p:tgtEl>
                                          <p:spTgt spid="1935"/>
                                        </p:tgtEl>
                                      </p:cBhvr>
                                    </p:animEffect>
                                  </p:childTnLst>
                                </p:cTn>
                              </p:par>
                            </p:childTnLst>
                          </p:cTn>
                        </p:par>
                        <p:par>
                          <p:cTn id="110" fill="hold">
                            <p:stCondLst>
                              <p:cond delay="1300"/>
                            </p:stCondLst>
                            <p:childTnLst>
                              <p:par>
                                <p:cTn id="111" presetID="10" presetClass="entr" presetSubtype="0" fill="hold" nodeType="afterEffect">
                                  <p:stCondLst>
                                    <p:cond delay="0"/>
                                  </p:stCondLst>
                                  <p:childTnLst>
                                    <p:set>
                                      <p:cBhvr>
                                        <p:cTn id="112" dur="1" fill="hold">
                                          <p:stCondLst>
                                            <p:cond delay="0"/>
                                          </p:stCondLst>
                                        </p:cTn>
                                        <p:tgtEl>
                                          <p:spTgt spid="1956"/>
                                        </p:tgtEl>
                                        <p:attrNameLst>
                                          <p:attrName>style.visibility</p:attrName>
                                        </p:attrNameLst>
                                      </p:cBhvr>
                                      <p:to>
                                        <p:strVal val="visible"/>
                                      </p:to>
                                    </p:set>
                                    <p:animEffect transition="in" filter="fade">
                                      <p:cBhvr>
                                        <p:cTn id="113" dur="1000"/>
                                        <p:tgtEl>
                                          <p:spTgt spid="1956"/>
                                        </p:tgtEl>
                                      </p:cBhvr>
                                    </p:animEffect>
                                  </p:childTnLst>
                                </p:cTn>
                              </p:par>
                            </p:childTnLst>
                          </p:cTn>
                        </p:par>
                        <p:par>
                          <p:cTn id="114" fill="hold">
                            <p:stCondLst>
                              <p:cond delay="2300"/>
                            </p:stCondLst>
                            <p:childTnLst>
                              <p:par>
                                <p:cTn id="115" presetID="10" presetClass="entr" presetSubtype="0" fill="hold" nodeType="afterEffect">
                                  <p:stCondLst>
                                    <p:cond delay="0"/>
                                  </p:stCondLst>
                                  <p:childTnLst>
                                    <p:set>
                                      <p:cBhvr>
                                        <p:cTn id="116" dur="1" fill="hold">
                                          <p:stCondLst>
                                            <p:cond delay="0"/>
                                          </p:stCondLst>
                                        </p:cTn>
                                        <p:tgtEl>
                                          <p:spTgt spid="1955"/>
                                        </p:tgtEl>
                                        <p:attrNameLst>
                                          <p:attrName>style.visibility</p:attrName>
                                        </p:attrNameLst>
                                      </p:cBhvr>
                                      <p:to>
                                        <p:strVal val="visible"/>
                                      </p:to>
                                    </p:set>
                                    <p:animEffect transition="in" filter="fade">
                                      <p:cBhvr>
                                        <p:cTn id="117" dur="1000"/>
                                        <p:tgtEl>
                                          <p:spTgt spid="1955"/>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936"/>
                                        </p:tgtEl>
                                        <p:attrNameLst>
                                          <p:attrName>style.visibility</p:attrName>
                                        </p:attrNameLst>
                                      </p:cBhvr>
                                      <p:to>
                                        <p:strVal val="visible"/>
                                      </p:to>
                                    </p:set>
                                    <p:animEffect transition="in" filter="fade">
                                      <p:cBhvr>
                                        <p:cTn id="122" dur="1000"/>
                                        <p:tgtEl>
                                          <p:spTgt spid="1936"/>
                                        </p:tgtEl>
                                      </p:cBhvr>
                                    </p:animEffect>
                                  </p:childTnLst>
                                </p:cTn>
                              </p:par>
                            </p:childTnLst>
                          </p:cTn>
                        </p:par>
                        <p:par>
                          <p:cTn id="123" fill="hold">
                            <p:stCondLst>
                              <p:cond delay="1000"/>
                            </p:stCondLst>
                            <p:childTnLst>
                              <p:par>
                                <p:cTn id="124" presetID="10" presetClass="entr" presetSubtype="0" fill="hold" nodeType="afterEffect">
                                  <p:stCondLst>
                                    <p:cond delay="0"/>
                                  </p:stCondLst>
                                  <p:childTnLst>
                                    <p:set>
                                      <p:cBhvr>
                                        <p:cTn id="125" dur="1" fill="hold">
                                          <p:stCondLst>
                                            <p:cond delay="0"/>
                                          </p:stCondLst>
                                        </p:cTn>
                                        <p:tgtEl>
                                          <p:spTgt spid="1957"/>
                                        </p:tgtEl>
                                        <p:attrNameLst>
                                          <p:attrName>style.visibility</p:attrName>
                                        </p:attrNameLst>
                                      </p:cBhvr>
                                      <p:to>
                                        <p:strVal val="visible"/>
                                      </p:to>
                                    </p:set>
                                    <p:animEffect transition="in" filter="fade">
                                      <p:cBhvr>
                                        <p:cTn id="126" dur="1000"/>
                                        <p:tgtEl>
                                          <p:spTgt spid="1957"/>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886"/>
                                        </p:tgtEl>
                                        <p:attrNameLst>
                                          <p:attrName>style.visibility</p:attrName>
                                        </p:attrNameLst>
                                      </p:cBhvr>
                                      <p:to>
                                        <p:strVal val="visible"/>
                                      </p:to>
                                    </p:set>
                                    <p:animEffect transition="in" filter="fade">
                                      <p:cBhvr>
                                        <p:cTn id="131" dur="1000"/>
                                        <p:tgtEl>
                                          <p:spTgt spid="1886"/>
                                        </p:tgtEl>
                                      </p:cBhvr>
                                    </p:animEffect>
                                  </p:childTnLst>
                                </p:cTn>
                              </p:par>
                            </p:childTnLst>
                          </p:cTn>
                        </p:par>
                        <p:par>
                          <p:cTn id="132" fill="hold">
                            <p:stCondLst>
                              <p:cond delay="1000"/>
                            </p:stCondLst>
                            <p:childTnLst>
                              <p:par>
                                <p:cTn id="133" presetID="10" presetClass="entr" presetSubtype="0" fill="hold" nodeType="afterEffect">
                                  <p:stCondLst>
                                    <p:cond delay="0"/>
                                  </p:stCondLst>
                                  <p:childTnLst>
                                    <p:set>
                                      <p:cBhvr>
                                        <p:cTn id="134" dur="1" fill="hold">
                                          <p:stCondLst>
                                            <p:cond delay="0"/>
                                          </p:stCondLst>
                                        </p:cTn>
                                        <p:tgtEl>
                                          <p:spTgt spid="1961"/>
                                        </p:tgtEl>
                                        <p:attrNameLst>
                                          <p:attrName>style.visibility</p:attrName>
                                        </p:attrNameLst>
                                      </p:cBhvr>
                                      <p:to>
                                        <p:strVal val="visible"/>
                                      </p:to>
                                    </p:set>
                                    <p:animEffect transition="in" filter="fade">
                                      <p:cBhvr>
                                        <p:cTn id="135" dur="1000"/>
                                        <p:tgtEl>
                                          <p:spTgt spid="1961"/>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nodeType="clickEffect">
                                  <p:stCondLst>
                                    <p:cond delay="0"/>
                                  </p:stCondLst>
                                  <p:childTnLst>
                                    <p:set>
                                      <p:cBhvr>
                                        <p:cTn id="139" dur="1" fill="hold">
                                          <p:stCondLst>
                                            <p:cond delay="0"/>
                                          </p:stCondLst>
                                        </p:cTn>
                                        <p:tgtEl>
                                          <p:spTgt spid="1958"/>
                                        </p:tgtEl>
                                        <p:attrNameLst>
                                          <p:attrName>style.visibility</p:attrName>
                                        </p:attrNameLst>
                                      </p:cBhvr>
                                      <p:to>
                                        <p:strVal val="visible"/>
                                      </p:to>
                                    </p:set>
                                    <p:animEffect transition="in" filter="fade">
                                      <p:cBhvr>
                                        <p:cTn id="140" dur="1000"/>
                                        <p:tgtEl>
                                          <p:spTgt spid="1958"/>
                                        </p:tgtEl>
                                      </p:cBhvr>
                                    </p:animEffect>
                                  </p:childTnLst>
                                </p:cTn>
                              </p:par>
                            </p:childTnLst>
                          </p:cTn>
                        </p:par>
                        <p:par>
                          <p:cTn id="141" fill="hold">
                            <p:stCondLst>
                              <p:cond delay="1000"/>
                            </p:stCondLst>
                            <p:childTnLst>
                              <p:par>
                                <p:cTn id="142" presetID="10" presetClass="entr" presetSubtype="0" fill="hold" nodeType="afterEffect">
                                  <p:stCondLst>
                                    <p:cond delay="0"/>
                                  </p:stCondLst>
                                  <p:childTnLst>
                                    <p:set>
                                      <p:cBhvr>
                                        <p:cTn id="143" dur="1" fill="hold">
                                          <p:stCondLst>
                                            <p:cond delay="0"/>
                                          </p:stCondLst>
                                        </p:cTn>
                                        <p:tgtEl>
                                          <p:spTgt spid="1959"/>
                                        </p:tgtEl>
                                        <p:attrNameLst>
                                          <p:attrName>style.visibility</p:attrName>
                                        </p:attrNameLst>
                                      </p:cBhvr>
                                      <p:to>
                                        <p:strVal val="visible"/>
                                      </p:to>
                                    </p:set>
                                    <p:animEffect transition="in" filter="fade">
                                      <p:cBhvr>
                                        <p:cTn id="144" dur="1000"/>
                                        <p:tgtEl>
                                          <p:spTgt spid="1959"/>
                                        </p:tgtEl>
                                      </p:cBhvr>
                                    </p:animEffect>
                                  </p:childTnLst>
                                </p:cTn>
                              </p:par>
                            </p:childTnLst>
                          </p:cTn>
                        </p:par>
                        <p:par>
                          <p:cTn id="145" fill="hold">
                            <p:stCondLst>
                              <p:cond delay="2000"/>
                            </p:stCondLst>
                            <p:childTnLst>
                              <p:par>
                                <p:cTn id="146" presetID="10" presetClass="entr" presetSubtype="0" fill="hold" nodeType="afterEffect">
                                  <p:stCondLst>
                                    <p:cond delay="0"/>
                                  </p:stCondLst>
                                  <p:childTnLst>
                                    <p:set>
                                      <p:cBhvr>
                                        <p:cTn id="147" dur="1" fill="hold">
                                          <p:stCondLst>
                                            <p:cond delay="0"/>
                                          </p:stCondLst>
                                        </p:cTn>
                                        <p:tgtEl>
                                          <p:spTgt spid="1960"/>
                                        </p:tgtEl>
                                        <p:attrNameLst>
                                          <p:attrName>style.visibility</p:attrName>
                                        </p:attrNameLst>
                                      </p:cBhvr>
                                      <p:to>
                                        <p:strVal val="visible"/>
                                      </p:to>
                                    </p:set>
                                    <p:animEffect transition="in" filter="fade">
                                      <p:cBhvr>
                                        <p:cTn id="148" dur="1000"/>
                                        <p:tgtEl>
                                          <p:spTgt spid="1960"/>
                                        </p:tgtEl>
                                      </p:cBhvr>
                                    </p:animEffect>
                                  </p:childTnLst>
                                </p:cTn>
                              </p:par>
                            </p:childTnLst>
                          </p:cTn>
                        </p:par>
                        <p:par>
                          <p:cTn id="149" fill="hold">
                            <p:stCondLst>
                              <p:cond delay="3000"/>
                            </p:stCondLst>
                            <p:childTnLst>
                              <p:par>
                                <p:cTn id="150" presetID="10" presetClass="entr" presetSubtype="0" fill="hold" nodeType="afterEffect">
                                  <p:stCondLst>
                                    <p:cond delay="0"/>
                                  </p:stCondLst>
                                  <p:childTnLst>
                                    <p:set>
                                      <p:cBhvr>
                                        <p:cTn id="151" dur="1" fill="hold">
                                          <p:stCondLst>
                                            <p:cond delay="0"/>
                                          </p:stCondLst>
                                        </p:cTn>
                                        <p:tgtEl>
                                          <p:spTgt spid="1962"/>
                                        </p:tgtEl>
                                        <p:attrNameLst>
                                          <p:attrName>style.visibility</p:attrName>
                                        </p:attrNameLst>
                                      </p:cBhvr>
                                      <p:to>
                                        <p:strVal val="visible"/>
                                      </p:to>
                                    </p:set>
                                    <p:animEffect transition="in" filter="fade">
                                      <p:cBhvr>
                                        <p:cTn id="152" dur="1000"/>
                                        <p:tgtEl>
                                          <p:spTgt spid="1962"/>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963"/>
                                        </p:tgtEl>
                                        <p:attrNameLst>
                                          <p:attrName>style.visibility</p:attrName>
                                        </p:attrNameLst>
                                      </p:cBhvr>
                                      <p:to>
                                        <p:strVal val="visible"/>
                                      </p:to>
                                    </p:set>
                                    <p:animEffect transition="in" filter="fade">
                                      <p:cBhvr>
                                        <p:cTn id="156" dur="1000"/>
                                        <p:tgtEl>
                                          <p:spTgt spid="1963"/>
                                        </p:tgtEl>
                                      </p:cBhvr>
                                    </p:animEffect>
                                  </p:childTnLst>
                                </p:cTn>
                              </p:par>
                            </p:childTnLst>
                          </p:cTn>
                        </p:par>
                        <p:par>
                          <p:cTn id="157" fill="hold">
                            <p:stCondLst>
                              <p:cond delay="5000"/>
                            </p:stCondLst>
                            <p:childTnLst>
                              <p:par>
                                <p:cTn id="158" presetID="10" presetClass="entr" presetSubtype="0" fill="hold" nodeType="afterEffect">
                                  <p:stCondLst>
                                    <p:cond delay="0"/>
                                  </p:stCondLst>
                                  <p:childTnLst>
                                    <p:set>
                                      <p:cBhvr>
                                        <p:cTn id="159" dur="1" fill="hold">
                                          <p:stCondLst>
                                            <p:cond delay="0"/>
                                          </p:stCondLst>
                                        </p:cTn>
                                        <p:tgtEl>
                                          <p:spTgt spid="1964"/>
                                        </p:tgtEl>
                                        <p:attrNameLst>
                                          <p:attrName>style.visibility</p:attrName>
                                        </p:attrNameLst>
                                      </p:cBhvr>
                                      <p:to>
                                        <p:strVal val="visible"/>
                                      </p:to>
                                    </p:set>
                                    <p:animEffect transition="in" filter="fade">
                                      <p:cBhvr>
                                        <p:cTn id="160" dur="1000"/>
                                        <p:tgtEl>
                                          <p:spTgt spid="1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969"/>
        <p:cNvGrpSpPr/>
        <p:nvPr/>
      </p:nvGrpSpPr>
      <p:grpSpPr>
        <a:xfrm>
          <a:off x="0" y="0"/>
          <a:ext cx="0" cy="0"/>
          <a:chOff x="0" y="0"/>
          <a:chExt cx="0" cy="0"/>
        </a:xfrm>
      </p:grpSpPr>
      <p:sp>
        <p:nvSpPr>
          <p:cNvPr id="1970" name="Google Shape;1970;p85"/>
          <p:cNvSpPr txBox="1">
            <a:spLocks noGrp="1"/>
          </p:cNvSpPr>
          <p:nvPr>
            <p:ph type="title"/>
          </p:nvPr>
        </p:nvSpPr>
        <p:spPr>
          <a:xfrm>
            <a:off x="4989275" y="196125"/>
            <a:ext cx="40956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The 8-Queens Problem </a:t>
            </a:r>
            <a:endParaRPr sz="2500"/>
          </a:p>
        </p:txBody>
      </p:sp>
      <p:sp>
        <p:nvSpPr>
          <p:cNvPr id="1971" name="Google Shape;1971;p85"/>
          <p:cNvSpPr txBox="1">
            <a:spLocks noGrp="1"/>
          </p:cNvSpPr>
          <p:nvPr>
            <p:ph type="body" idx="1"/>
          </p:nvPr>
        </p:nvSpPr>
        <p:spPr>
          <a:xfrm>
            <a:off x="72675" y="43725"/>
            <a:ext cx="4645500" cy="5002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In chess, the </a:t>
            </a:r>
            <a:r>
              <a:rPr lang="en" b="1" i="1">
                <a:solidFill>
                  <a:srgbClr val="FF0000"/>
                </a:solidFill>
              </a:rPr>
              <a:t>queen </a:t>
            </a:r>
            <a:r>
              <a:rPr lang="en"/>
              <a:t>may move an unlimited number of squares in any direction: </a:t>
            </a:r>
            <a:r>
              <a:rPr lang="en" b="1" i="1">
                <a:solidFill>
                  <a:srgbClr val="FF0000"/>
                </a:solidFill>
              </a:rPr>
              <a:t>up</a:t>
            </a:r>
            <a:r>
              <a:rPr lang="en"/>
              <a:t>, </a:t>
            </a:r>
            <a:r>
              <a:rPr lang="en" b="1" i="1">
                <a:solidFill>
                  <a:srgbClr val="FF0000"/>
                </a:solidFill>
              </a:rPr>
              <a:t>down</a:t>
            </a:r>
            <a:r>
              <a:rPr lang="en"/>
              <a:t>, or </a:t>
            </a:r>
            <a:r>
              <a:rPr lang="en" b="1" i="1">
                <a:solidFill>
                  <a:srgbClr val="FF0000"/>
                </a:solidFill>
              </a:rPr>
              <a:t>diagonally</a:t>
            </a:r>
            <a:r>
              <a:rPr lang="en"/>
              <a:t>.</a:t>
            </a:r>
            <a:endParaRPr/>
          </a:p>
          <a:p>
            <a:pPr marL="457200" lvl="0" indent="-311150" algn="l" rtl="0">
              <a:lnSpc>
                <a:spcPct val="100000"/>
              </a:lnSpc>
              <a:spcBef>
                <a:spcPts val="1000"/>
              </a:spcBef>
              <a:spcAft>
                <a:spcPts val="0"/>
              </a:spcAft>
              <a:buSzPts val="1300"/>
              <a:buChar char="●"/>
            </a:pPr>
            <a:r>
              <a:rPr lang="en"/>
              <a:t>Imagine that you are given a standard 8x8 chessboard with 64 squares, and 8 queen pieces. You are challenged to </a:t>
            </a:r>
            <a:r>
              <a:rPr lang="en" b="1" i="1">
                <a:solidFill>
                  <a:srgbClr val="FF0000"/>
                </a:solidFill>
              </a:rPr>
              <a:t>place all 8 queens</a:t>
            </a:r>
            <a:r>
              <a:rPr lang="en"/>
              <a:t> on the board in a </a:t>
            </a:r>
            <a:r>
              <a:rPr lang="en" b="1" i="1">
                <a:solidFill>
                  <a:srgbClr val="FF0000"/>
                </a:solidFill>
              </a:rPr>
              <a:t>configuration </a:t>
            </a:r>
            <a:r>
              <a:rPr lang="en"/>
              <a:t>such that no two queens can attack each other.</a:t>
            </a:r>
            <a:endParaRPr/>
          </a:p>
          <a:p>
            <a:pPr marL="914400" lvl="1" indent="-298450" algn="l" rtl="0">
              <a:lnSpc>
                <a:spcPct val="100000"/>
              </a:lnSpc>
              <a:spcBef>
                <a:spcPts val="0"/>
              </a:spcBef>
              <a:spcAft>
                <a:spcPts val="0"/>
              </a:spcAft>
              <a:buSzPts val="1100"/>
              <a:buChar char="○"/>
            </a:pPr>
            <a:r>
              <a:rPr lang="en"/>
              <a:t>This means that no two queens can be in the same </a:t>
            </a:r>
            <a:r>
              <a:rPr lang="en" b="1" i="1">
                <a:solidFill>
                  <a:srgbClr val="FF0000"/>
                </a:solidFill>
              </a:rPr>
              <a:t>row</a:t>
            </a:r>
            <a:r>
              <a:rPr lang="en"/>
              <a:t>, </a:t>
            </a:r>
            <a:r>
              <a:rPr lang="en" b="1" i="1">
                <a:solidFill>
                  <a:srgbClr val="FF0000"/>
                </a:solidFill>
              </a:rPr>
              <a:t>column</a:t>
            </a:r>
            <a:r>
              <a:rPr lang="en"/>
              <a:t>, or </a:t>
            </a:r>
            <a:r>
              <a:rPr lang="en" b="1" i="1">
                <a:solidFill>
                  <a:srgbClr val="FF0000"/>
                </a:solidFill>
              </a:rPr>
              <a:t>diagonal</a:t>
            </a:r>
            <a:r>
              <a:rPr lang="en">
                <a:solidFill>
                  <a:srgbClr val="FF0000"/>
                </a:solidFill>
              </a:rPr>
              <a:t> </a:t>
            </a:r>
            <a:r>
              <a:rPr lang="en"/>
              <a:t>on the board.</a:t>
            </a:r>
            <a:endParaRPr/>
          </a:p>
          <a:p>
            <a:pPr marL="914400" lvl="1" indent="-298450" algn="l" rtl="0">
              <a:lnSpc>
                <a:spcPct val="100000"/>
              </a:lnSpc>
              <a:spcBef>
                <a:spcPts val="0"/>
              </a:spcBef>
              <a:spcAft>
                <a:spcPts val="0"/>
              </a:spcAft>
              <a:buSzPts val="1100"/>
              <a:buChar char="○"/>
            </a:pPr>
            <a:r>
              <a:rPr lang="en"/>
              <a:t>Is this even possible? </a:t>
            </a:r>
            <a:endParaRPr/>
          </a:p>
          <a:p>
            <a:pPr marL="914400" lvl="1" indent="-298450" algn="l" rtl="0">
              <a:lnSpc>
                <a:spcPct val="100000"/>
              </a:lnSpc>
              <a:spcBef>
                <a:spcPts val="0"/>
              </a:spcBef>
              <a:spcAft>
                <a:spcPts val="0"/>
              </a:spcAft>
              <a:buSzPts val="1100"/>
              <a:buChar char="○"/>
            </a:pPr>
            <a:r>
              <a:rPr lang="en"/>
              <a:t>How would you go about trying to find if a solution to the problem even exists?</a:t>
            </a:r>
            <a:endParaRPr/>
          </a:p>
          <a:p>
            <a:pPr marL="457200" lvl="0" indent="-311150" algn="l" rtl="0">
              <a:lnSpc>
                <a:spcPct val="100000"/>
              </a:lnSpc>
              <a:spcBef>
                <a:spcPts val="1000"/>
              </a:spcBef>
              <a:spcAft>
                <a:spcPts val="0"/>
              </a:spcAft>
              <a:buSzPts val="1300"/>
              <a:buChar char="●"/>
            </a:pPr>
            <a:r>
              <a:rPr lang="en"/>
              <a:t>You might start by placing the first queen on any square on the board, e.g. the top left square.</a:t>
            </a:r>
            <a:endParaRPr/>
          </a:p>
          <a:p>
            <a:pPr marL="914400" lvl="1" indent="-298450" algn="l" rtl="0">
              <a:lnSpc>
                <a:spcPct val="100000"/>
              </a:lnSpc>
              <a:spcBef>
                <a:spcPts val="0"/>
              </a:spcBef>
              <a:spcAft>
                <a:spcPts val="0"/>
              </a:spcAft>
              <a:buSzPts val="1100"/>
              <a:buChar char="○"/>
            </a:pPr>
            <a:r>
              <a:rPr lang="en"/>
              <a:t>For each subsequent queen, you would choose a square that cannot be attacked by any previously placed queen.</a:t>
            </a:r>
            <a:endParaRPr/>
          </a:p>
          <a:p>
            <a:pPr marL="457200" lvl="0" indent="-311150" algn="l" rtl="0">
              <a:lnSpc>
                <a:spcPct val="100000"/>
              </a:lnSpc>
              <a:spcBef>
                <a:spcPts val="1000"/>
              </a:spcBef>
              <a:spcAft>
                <a:spcPts val="0"/>
              </a:spcAft>
              <a:buSzPts val="1300"/>
              <a:buChar char="●"/>
            </a:pPr>
            <a:r>
              <a:rPr lang="en"/>
              <a:t>What would you do if you'd placed fewer than 8 queens on the board, but none of the remaining squares is safe?</a:t>
            </a:r>
            <a:endParaRPr/>
          </a:p>
          <a:p>
            <a:pPr marL="914400" lvl="1" indent="-298450" algn="l" rtl="0">
              <a:lnSpc>
                <a:spcPct val="100000"/>
              </a:lnSpc>
              <a:spcBef>
                <a:spcPts val="0"/>
              </a:spcBef>
              <a:spcAft>
                <a:spcPts val="0"/>
              </a:spcAft>
              <a:buSzPts val="1100"/>
              <a:buChar char="○"/>
            </a:pPr>
            <a:r>
              <a:rPr lang="en"/>
              <a:t>You will have reached a </a:t>
            </a:r>
            <a:r>
              <a:rPr lang="en" b="1" i="1">
                <a:solidFill>
                  <a:srgbClr val="FF0000"/>
                </a:solidFill>
              </a:rPr>
              <a:t>dead end</a:t>
            </a:r>
            <a:r>
              <a:rPr lang="en"/>
              <a:t>.</a:t>
            </a:r>
            <a:endParaRPr/>
          </a:p>
          <a:p>
            <a:pPr marL="914400" lvl="1" indent="-298450" algn="l" rtl="0">
              <a:lnSpc>
                <a:spcPct val="100000"/>
              </a:lnSpc>
              <a:spcBef>
                <a:spcPts val="0"/>
              </a:spcBef>
              <a:spcAft>
                <a:spcPts val="0"/>
              </a:spcAft>
              <a:buSzPts val="1100"/>
              <a:buChar char="○"/>
            </a:pPr>
            <a:r>
              <a:rPr lang="en"/>
              <a:t>You would need to </a:t>
            </a:r>
            <a:r>
              <a:rPr lang="en" b="1" i="1">
                <a:solidFill>
                  <a:srgbClr val="FF0000"/>
                </a:solidFill>
              </a:rPr>
              <a:t>backtrack</a:t>
            </a:r>
            <a:r>
              <a:rPr lang="en">
                <a:solidFill>
                  <a:srgbClr val="FF0000"/>
                </a:solidFill>
              </a:rPr>
              <a:t> </a:t>
            </a:r>
            <a:r>
              <a:rPr lang="en"/>
              <a:t>by picking up the last queen you played and trying it in a different square.</a:t>
            </a:r>
            <a:endParaRPr/>
          </a:p>
          <a:p>
            <a:pPr marL="914400" lvl="1" indent="-298450" algn="l" rtl="0">
              <a:lnSpc>
                <a:spcPct val="100000"/>
              </a:lnSpc>
              <a:spcBef>
                <a:spcPts val="0"/>
              </a:spcBef>
              <a:spcAft>
                <a:spcPts val="0"/>
              </a:spcAft>
              <a:buSzPts val="1100"/>
              <a:buChar char="○"/>
            </a:pPr>
            <a:r>
              <a:rPr lang="en"/>
              <a:t>You may need to </a:t>
            </a:r>
            <a:r>
              <a:rPr lang="en" b="1" i="1">
                <a:solidFill>
                  <a:srgbClr val="FF0000"/>
                </a:solidFill>
              </a:rPr>
              <a:t>backtrack</a:t>
            </a:r>
            <a:r>
              <a:rPr lang="en">
                <a:solidFill>
                  <a:srgbClr val="FF0000"/>
                </a:solidFill>
              </a:rPr>
              <a:t> </a:t>
            </a:r>
            <a:r>
              <a:rPr lang="en"/>
              <a:t>further and pick up two or more queens.</a:t>
            </a:r>
            <a:endParaRPr/>
          </a:p>
        </p:txBody>
      </p:sp>
      <p:sp>
        <p:nvSpPr>
          <p:cNvPr id="1972" name="Google Shape;1972;p8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sp>
        <p:nvSpPr>
          <p:cNvPr id="1973" name="Google Shape;1973;p85"/>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Today we will implement an algorithm that keeps trying, and backtracking, until it finds a solution (or tries every possible combination).</a:t>
            </a:r>
            <a:endParaRPr/>
          </a:p>
        </p:txBody>
      </p:sp>
      <p:graphicFrame>
        <p:nvGraphicFramePr>
          <p:cNvPr id="1974" name="Google Shape;1974;p85"/>
          <p:cNvGraphicFramePr/>
          <p:nvPr/>
        </p:nvGraphicFramePr>
        <p:xfrm>
          <a:off x="5333700" y="807175"/>
          <a:ext cx="3400450" cy="316968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pic>
        <p:nvPicPr>
          <p:cNvPr id="1975" name="Google Shape;1975;p85"/>
          <p:cNvPicPr preferRelativeResize="0"/>
          <p:nvPr/>
        </p:nvPicPr>
        <p:blipFill>
          <a:blip r:embed="rId3">
            <a:alphaModFix/>
          </a:blip>
          <a:stretch>
            <a:fillRect/>
          </a:stretch>
        </p:blipFill>
        <p:spPr>
          <a:xfrm>
            <a:off x="5431350" y="807025"/>
            <a:ext cx="232954" cy="393601"/>
          </a:xfrm>
          <a:prstGeom prst="rect">
            <a:avLst/>
          </a:prstGeom>
          <a:noFill/>
          <a:ln>
            <a:noFill/>
          </a:ln>
        </p:spPr>
      </p:pic>
      <p:pic>
        <p:nvPicPr>
          <p:cNvPr id="1976" name="Google Shape;1976;p85"/>
          <p:cNvPicPr preferRelativeResize="0"/>
          <p:nvPr/>
        </p:nvPicPr>
        <p:blipFill>
          <a:blip r:embed="rId3">
            <a:alphaModFix/>
          </a:blip>
          <a:stretch>
            <a:fillRect/>
          </a:stretch>
        </p:blipFill>
        <p:spPr>
          <a:xfrm>
            <a:off x="6275979" y="1200884"/>
            <a:ext cx="232954" cy="393601"/>
          </a:xfrm>
          <a:prstGeom prst="rect">
            <a:avLst/>
          </a:prstGeom>
          <a:noFill/>
          <a:ln>
            <a:noFill/>
          </a:ln>
        </p:spPr>
      </p:pic>
      <p:pic>
        <p:nvPicPr>
          <p:cNvPr id="1977" name="Google Shape;1977;p85"/>
          <p:cNvPicPr preferRelativeResize="0"/>
          <p:nvPr/>
        </p:nvPicPr>
        <p:blipFill>
          <a:blip r:embed="rId3">
            <a:alphaModFix/>
          </a:blip>
          <a:stretch>
            <a:fillRect/>
          </a:stretch>
        </p:blipFill>
        <p:spPr>
          <a:xfrm>
            <a:off x="7114179" y="1601172"/>
            <a:ext cx="232954" cy="393601"/>
          </a:xfrm>
          <a:prstGeom prst="rect">
            <a:avLst/>
          </a:prstGeom>
          <a:noFill/>
          <a:ln>
            <a:noFill/>
          </a:ln>
        </p:spPr>
      </p:pic>
      <p:pic>
        <p:nvPicPr>
          <p:cNvPr id="1978" name="Google Shape;1978;p85"/>
          <p:cNvPicPr preferRelativeResize="0"/>
          <p:nvPr/>
        </p:nvPicPr>
        <p:blipFill>
          <a:blip r:embed="rId3">
            <a:alphaModFix/>
          </a:blip>
          <a:stretch>
            <a:fillRect/>
          </a:stretch>
        </p:blipFill>
        <p:spPr>
          <a:xfrm>
            <a:off x="7971668" y="2001460"/>
            <a:ext cx="232954" cy="393601"/>
          </a:xfrm>
          <a:prstGeom prst="rect">
            <a:avLst/>
          </a:prstGeom>
          <a:noFill/>
          <a:ln>
            <a:noFill/>
          </a:ln>
        </p:spPr>
      </p:pic>
      <p:pic>
        <p:nvPicPr>
          <p:cNvPr id="1979" name="Google Shape;1979;p85"/>
          <p:cNvPicPr preferRelativeResize="0"/>
          <p:nvPr/>
        </p:nvPicPr>
        <p:blipFill>
          <a:blip r:embed="rId3">
            <a:alphaModFix/>
          </a:blip>
          <a:stretch>
            <a:fillRect/>
          </a:stretch>
        </p:blipFill>
        <p:spPr>
          <a:xfrm>
            <a:off x="6701985" y="2395319"/>
            <a:ext cx="232954" cy="393601"/>
          </a:xfrm>
          <a:prstGeom prst="rect">
            <a:avLst/>
          </a:prstGeom>
          <a:noFill/>
          <a:ln>
            <a:noFill/>
          </a:ln>
        </p:spPr>
      </p:pic>
      <p:pic>
        <p:nvPicPr>
          <p:cNvPr id="1980" name="Google Shape;1980;p85"/>
          <p:cNvPicPr preferRelativeResize="0"/>
          <p:nvPr/>
        </p:nvPicPr>
        <p:blipFill>
          <a:blip r:embed="rId3">
            <a:alphaModFix/>
          </a:blip>
          <a:stretch>
            <a:fillRect/>
          </a:stretch>
        </p:blipFill>
        <p:spPr>
          <a:xfrm>
            <a:off x="5863785" y="3583324"/>
            <a:ext cx="232954" cy="393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7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7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75"/>
                                        </p:tgtEl>
                                        <p:attrNameLst>
                                          <p:attrName>style.visibility</p:attrName>
                                        </p:attrNameLst>
                                      </p:cBhvr>
                                      <p:to>
                                        <p:strVal val="visible"/>
                                      </p:to>
                                    </p:set>
                                    <p:animEffect transition="in" filter="fade">
                                      <p:cBhvr>
                                        <p:cTn id="51" dur="1000"/>
                                        <p:tgtEl>
                                          <p:spTgt spid="197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76"/>
                                        </p:tgtEl>
                                        <p:attrNameLst>
                                          <p:attrName>style.visibility</p:attrName>
                                        </p:attrNameLst>
                                      </p:cBhvr>
                                      <p:to>
                                        <p:strVal val="visible"/>
                                      </p:to>
                                    </p:set>
                                    <p:animEffect transition="in" filter="fade">
                                      <p:cBhvr>
                                        <p:cTn id="56" dur="1000"/>
                                        <p:tgtEl>
                                          <p:spTgt spid="197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77"/>
                                        </p:tgtEl>
                                        <p:attrNameLst>
                                          <p:attrName>style.visibility</p:attrName>
                                        </p:attrNameLst>
                                      </p:cBhvr>
                                      <p:to>
                                        <p:strVal val="visible"/>
                                      </p:to>
                                    </p:set>
                                    <p:animEffect transition="in" filter="fade">
                                      <p:cBhvr>
                                        <p:cTn id="61" dur="1000"/>
                                        <p:tgtEl>
                                          <p:spTgt spid="197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978"/>
                                        </p:tgtEl>
                                        <p:attrNameLst>
                                          <p:attrName>style.visibility</p:attrName>
                                        </p:attrNameLst>
                                      </p:cBhvr>
                                      <p:to>
                                        <p:strVal val="visible"/>
                                      </p:to>
                                    </p:set>
                                    <p:animEffect transition="in" filter="fade">
                                      <p:cBhvr>
                                        <p:cTn id="66" dur="1000"/>
                                        <p:tgtEl>
                                          <p:spTgt spid="197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979"/>
                                        </p:tgtEl>
                                        <p:attrNameLst>
                                          <p:attrName>style.visibility</p:attrName>
                                        </p:attrNameLst>
                                      </p:cBhvr>
                                      <p:to>
                                        <p:strVal val="visible"/>
                                      </p:to>
                                    </p:set>
                                    <p:animEffect transition="in" filter="fade">
                                      <p:cBhvr>
                                        <p:cTn id="71" dur="1000"/>
                                        <p:tgtEl>
                                          <p:spTgt spid="197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980"/>
                                        </p:tgtEl>
                                        <p:attrNameLst>
                                          <p:attrName>style.visibility</p:attrName>
                                        </p:attrNameLst>
                                      </p:cBhvr>
                                      <p:to>
                                        <p:strVal val="visible"/>
                                      </p:to>
                                    </p:set>
                                    <p:animEffect transition="in" filter="fade">
                                      <p:cBhvr>
                                        <p:cTn id="76" dur="1000"/>
                                        <p:tgtEl>
                                          <p:spTgt spid="198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973"/>
                                        </p:tgtEl>
                                        <p:attrNameLst>
                                          <p:attrName>style.visibility</p:attrName>
                                        </p:attrNameLst>
                                      </p:cBhvr>
                                      <p:to>
                                        <p:strVal val="visible"/>
                                      </p:to>
                                    </p:set>
                                    <p:animEffect transition="in" filter="fade">
                                      <p:cBhvr>
                                        <p:cTn id="81" dur="1000"/>
                                        <p:tgtEl>
                                          <p:spTgt spid="1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sp>
        <p:nvSpPr>
          <p:cNvPr id="1985" name="Google Shape;1985;p8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Queen Fight!</a:t>
            </a:r>
            <a:endParaRPr/>
          </a:p>
        </p:txBody>
      </p:sp>
      <p:sp>
        <p:nvSpPr>
          <p:cNvPr id="1986" name="Google Shape;1986;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graphicFrame>
        <p:nvGraphicFramePr>
          <p:cNvPr id="1987" name="Google Shape;1987;p86"/>
          <p:cNvGraphicFramePr/>
          <p:nvPr/>
        </p:nvGraphicFramePr>
        <p:xfrm>
          <a:off x="3043000" y="1482950"/>
          <a:ext cx="3000000" cy="3000000"/>
        </p:xfrm>
        <a:graphic>
          <a:graphicData uri="http://schemas.openxmlformats.org/drawingml/2006/table">
            <a:tbl>
              <a:tblPr>
                <a:noFill/>
                <a:tableStyleId>{89CCAE03-A2B2-4379-B0C2-E101A7E113D6}</a:tableStyleId>
              </a:tblPr>
              <a:tblGrid>
                <a:gridCol w="484275">
                  <a:extLst>
                    <a:ext uri="{9D8B030D-6E8A-4147-A177-3AD203B41FA5}">
                      <a16:colId xmlns:a16="http://schemas.microsoft.com/office/drawing/2014/main" val="20000"/>
                    </a:ext>
                  </a:extLst>
                </a:gridCol>
                <a:gridCol w="484275">
                  <a:extLst>
                    <a:ext uri="{9D8B030D-6E8A-4147-A177-3AD203B41FA5}">
                      <a16:colId xmlns:a16="http://schemas.microsoft.com/office/drawing/2014/main" val="20001"/>
                    </a:ext>
                  </a:extLst>
                </a:gridCol>
                <a:gridCol w="484275">
                  <a:extLst>
                    <a:ext uri="{9D8B030D-6E8A-4147-A177-3AD203B41FA5}">
                      <a16:colId xmlns:a16="http://schemas.microsoft.com/office/drawing/2014/main" val="20002"/>
                    </a:ext>
                  </a:extLst>
                </a:gridCol>
                <a:gridCol w="484275">
                  <a:extLst>
                    <a:ext uri="{9D8B030D-6E8A-4147-A177-3AD203B41FA5}">
                      <a16:colId xmlns:a16="http://schemas.microsoft.com/office/drawing/2014/main" val="20003"/>
                    </a:ext>
                  </a:extLst>
                </a:gridCol>
                <a:gridCol w="484275">
                  <a:extLst>
                    <a:ext uri="{9D8B030D-6E8A-4147-A177-3AD203B41FA5}">
                      <a16:colId xmlns:a16="http://schemas.microsoft.com/office/drawing/2014/main" val="20004"/>
                    </a:ext>
                  </a:extLst>
                </a:gridCol>
                <a:gridCol w="484275">
                  <a:extLst>
                    <a:ext uri="{9D8B030D-6E8A-4147-A177-3AD203B41FA5}">
                      <a16:colId xmlns:a16="http://schemas.microsoft.com/office/drawing/2014/main" val="20005"/>
                    </a:ext>
                  </a:extLst>
                </a:gridCol>
              </a:tblGrid>
              <a:tr h="474525">
                <a:tc>
                  <a:txBody>
                    <a:bodyPr/>
                    <a:lstStyle/>
                    <a:p>
                      <a:pPr marL="0" lvl="0" indent="0" algn="l" rtl="0">
                        <a:spcBef>
                          <a:spcPts val="0"/>
                        </a:spcBef>
                        <a:spcAft>
                          <a:spcPts val="0"/>
                        </a:spcAft>
                        <a:buNone/>
                      </a:pPr>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93475">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bl>
          </a:graphicData>
        </a:graphic>
      </p:graphicFrame>
      <p:pic>
        <p:nvPicPr>
          <p:cNvPr id="1988" name="Google Shape;1988;p86"/>
          <p:cNvPicPr preferRelativeResize="0"/>
          <p:nvPr/>
        </p:nvPicPr>
        <p:blipFill>
          <a:blip r:embed="rId3">
            <a:alphaModFix/>
          </a:blip>
          <a:stretch>
            <a:fillRect/>
          </a:stretch>
        </p:blipFill>
        <p:spPr>
          <a:xfrm>
            <a:off x="4588534" y="2910676"/>
            <a:ext cx="279848" cy="472852"/>
          </a:xfrm>
          <a:prstGeom prst="rect">
            <a:avLst/>
          </a:prstGeom>
          <a:noFill/>
          <a:ln>
            <a:noFill/>
          </a:ln>
        </p:spPr>
      </p:pic>
      <p:sp>
        <p:nvSpPr>
          <p:cNvPr id="1989" name="Google Shape;1989;p86"/>
          <p:cNvSpPr txBox="1"/>
          <p:nvPr/>
        </p:nvSpPr>
        <p:spPr>
          <a:xfrm>
            <a:off x="191400" y="1641225"/>
            <a:ext cx="27627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essential part of solving the </a:t>
            </a:r>
            <a:r>
              <a:rPr lang="en" sz="1200" b="1" i="1">
                <a:solidFill>
                  <a:srgbClr val="FF0000"/>
                </a:solidFill>
              </a:rPr>
              <a:t>N-Queens</a:t>
            </a:r>
            <a:r>
              <a:rPr lang="en" sz="1200"/>
              <a:t> problem is being able to quickly determine whether or not two queens that have been placed on the board can </a:t>
            </a:r>
            <a:r>
              <a:rPr lang="en" sz="1200" b="1" i="1">
                <a:solidFill>
                  <a:srgbClr val="FF0000"/>
                </a:solidFill>
              </a:rPr>
              <a:t>attack each other</a:t>
            </a:r>
            <a:r>
              <a:rPr lang="en" sz="1200"/>
              <a:t>.</a:t>
            </a:r>
            <a:endParaRPr sz="1200"/>
          </a:p>
        </p:txBody>
      </p:sp>
      <p:sp>
        <p:nvSpPr>
          <p:cNvPr id="1990" name="Google Shape;1990;p86"/>
          <p:cNvSpPr txBox="1"/>
          <p:nvPr/>
        </p:nvSpPr>
        <p:spPr>
          <a:xfrm>
            <a:off x="191400" y="2870775"/>
            <a:ext cx="2762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is true if two queens are in the same </a:t>
            </a:r>
            <a:r>
              <a:rPr lang="en" sz="1200" b="1" i="1">
                <a:solidFill>
                  <a:srgbClr val="FF0000"/>
                </a:solidFill>
              </a:rPr>
              <a:t>row</a:t>
            </a:r>
            <a:r>
              <a:rPr lang="en" sz="1200"/>
              <a:t>...</a:t>
            </a:r>
            <a:endParaRPr sz="1200"/>
          </a:p>
        </p:txBody>
      </p:sp>
      <p:pic>
        <p:nvPicPr>
          <p:cNvPr id="1991" name="Google Shape;1991;p86"/>
          <p:cNvPicPr preferRelativeResize="0"/>
          <p:nvPr/>
        </p:nvPicPr>
        <p:blipFill>
          <a:blip r:embed="rId3">
            <a:alphaModFix/>
          </a:blip>
          <a:stretch>
            <a:fillRect/>
          </a:stretch>
        </p:blipFill>
        <p:spPr>
          <a:xfrm>
            <a:off x="3612085" y="2910676"/>
            <a:ext cx="279848" cy="472852"/>
          </a:xfrm>
          <a:prstGeom prst="rect">
            <a:avLst/>
          </a:prstGeom>
          <a:noFill/>
          <a:ln>
            <a:noFill/>
          </a:ln>
        </p:spPr>
      </p:pic>
      <p:cxnSp>
        <p:nvCxnSpPr>
          <p:cNvPr id="1992" name="Google Shape;1992;p86"/>
          <p:cNvCxnSpPr>
            <a:stCxn id="1991" idx="3"/>
            <a:endCxn id="1988" idx="1"/>
          </p:cNvCxnSpPr>
          <p:nvPr/>
        </p:nvCxnSpPr>
        <p:spPr>
          <a:xfrm>
            <a:off x="3891933" y="3147101"/>
            <a:ext cx="696600" cy="0"/>
          </a:xfrm>
          <a:prstGeom prst="straightConnector1">
            <a:avLst/>
          </a:prstGeom>
          <a:noFill/>
          <a:ln w="28575" cap="flat" cmpd="sng">
            <a:solidFill>
              <a:srgbClr val="FF0000"/>
            </a:solidFill>
            <a:prstDash val="solid"/>
            <a:round/>
            <a:headEnd type="stealth" w="med" len="med"/>
            <a:tailEnd type="stealth" w="med" len="med"/>
          </a:ln>
        </p:spPr>
      </p:cxnSp>
      <p:sp>
        <p:nvSpPr>
          <p:cNvPr id="1993" name="Google Shape;1993;p86"/>
          <p:cNvSpPr txBox="1"/>
          <p:nvPr/>
        </p:nvSpPr>
        <p:spPr>
          <a:xfrm>
            <a:off x="191400" y="3546225"/>
            <a:ext cx="2762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...or the same </a:t>
            </a:r>
            <a:r>
              <a:rPr lang="en" sz="1200" b="1" i="1">
                <a:solidFill>
                  <a:srgbClr val="FF0000"/>
                </a:solidFill>
              </a:rPr>
              <a:t>column</a:t>
            </a:r>
            <a:r>
              <a:rPr lang="en" sz="1200"/>
              <a:t>...</a:t>
            </a:r>
            <a:endParaRPr sz="1200"/>
          </a:p>
        </p:txBody>
      </p:sp>
      <p:pic>
        <p:nvPicPr>
          <p:cNvPr id="1994" name="Google Shape;1994;p86"/>
          <p:cNvPicPr preferRelativeResize="0"/>
          <p:nvPr/>
        </p:nvPicPr>
        <p:blipFill>
          <a:blip r:embed="rId3">
            <a:alphaModFix/>
          </a:blip>
          <a:stretch>
            <a:fillRect/>
          </a:stretch>
        </p:blipFill>
        <p:spPr>
          <a:xfrm>
            <a:off x="4588534" y="1957476"/>
            <a:ext cx="279848" cy="472852"/>
          </a:xfrm>
          <a:prstGeom prst="rect">
            <a:avLst/>
          </a:prstGeom>
          <a:noFill/>
          <a:ln>
            <a:noFill/>
          </a:ln>
        </p:spPr>
      </p:pic>
      <p:cxnSp>
        <p:nvCxnSpPr>
          <p:cNvPr id="1995" name="Google Shape;1995;p86"/>
          <p:cNvCxnSpPr>
            <a:stCxn id="1994" idx="2"/>
            <a:endCxn id="1988" idx="0"/>
          </p:cNvCxnSpPr>
          <p:nvPr/>
        </p:nvCxnSpPr>
        <p:spPr>
          <a:xfrm>
            <a:off x="4728458" y="2430328"/>
            <a:ext cx="0" cy="480300"/>
          </a:xfrm>
          <a:prstGeom prst="straightConnector1">
            <a:avLst/>
          </a:prstGeom>
          <a:noFill/>
          <a:ln w="28575" cap="flat" cmpd="sng">
            <a:solidFill>
              <a:srgbClr val="FF0000"/>
            </a:solidFill>
            <a:prstDash val="solid"/>
            <a:round/>
            <a:headEnd type="stealth" w="med" len="med"/>
            <a:tailEnd type="stealth" w="med" len="med"/>
          </a:ln>
        </p:spPr>
      </p:cxnSp>
      <p:cxnSp>
        <p:nvCxnSpPr>
          <p:cNvPr id="1996" name="Google Shape;1996;p86"/>
          <p:cNvCxnSpPr/>
          <p:nvPr/>
        </p:nvCxnSpPr>
        <p:spPr>
          <a:xfrm>
            <a:off x="4948920" y="3368765"/>
            <a:ext cx="482400" cy="499800"/>
          </a:xfrm>
          <a:prstGeom prst="straightConnector1">
            <a:avLst/>
          </a:prstGeom>
          <a:noFill/>
          <a:ln w="28575" cap="flat" cmpd="sng">
            <a:solidFill>
              <a:srgbClr val="FF0000"/>
            </a:solidFill>
            <a:prstDash val="solid"/>
            <a:round/>
            <a:headEnd type="stealth" w="med" len="med"/>
            <a:tailEnd type="stealth" w="med" len="med"/>
          </a:ln>
        </p:spPr>
      </p:cxnSp>
      <p:sp>
        <p:nvSpPr>
          <p:cNvPr id="1997" name="Google Shape;1997;p86"/>
          <p:cNvSpPr txBox="1"/>
          <p:nvPr/>
        </p:nvSpPr>
        <p:spPr>
          <a:xfrm>
            <a:off x="191400" y="4036875"/>
            <a:ext cx="2762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...or on the same </a:t>
            </a:r>
            <a:r>
              <a:rPr lang="en" sz="1200" b="1" i="1">
                <a:solidFill>
                  <a:srgbClr val="FF0000"/>
                </a:solidFill>
              </a:rPr>
              <a:t>diagonal</a:t>
            </a:r>
            <a:r>
              <a:rPr lang="en" sz="1200"/>
              <a:t>.</a:t>
            </a:r>
            <a:endParaRPr sz="1200"/>
          </a:p>
        </p:txBody>
      </p:sp>
      <p:pic>
        <p:nvPicPr>
          <p:cNvPr id="1998" name="Google Shape;1998;p86"/>
          <p:cNvPicPr preferRelativeResize="0"/>
          <p:nvPr/>
        </p:nvPicPr>
        <p:blipFill>
          <a:blip r:embed="rId3">
            <a:alphaModFix/>
          </a:blip>
          <a:stretch>
            <a:fillRect/>
          </a:stretch>
        </p:blipFill>
        <p:spPr>
          <a:xfrm>
            <a:off x="5546776" y="3875499"/>
            <a:ext cx="279848" cy="472852"/>
          </a:xfrm>
          <a:prstGeom prst="rect">
            <a:avLst/>
          </a:prstGeom>
          <a:noFill/>
          <a:ln>
            <a:noFill/>
          </a:ln>
        </p:spPr>
      </p:pic>
      <p:sp>
        <p:nvSpPr>
          <p:cNvPr id="1999" name="Google Shape;1999;p86"/>
          <p:cNvSpPr txBox="1"/>
          <p:nvPr/>
        </p:nvSpPr>
        <p:spPr>
          <a:xfrm>
            <a:off x="6239875" y="1717425"/>
            <a:ext cx="2762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Assuming that we know the </a:t>
            </a:r>
            <a:r>
              <a:rPr lang="en" sz="1200" b="1" i="1">
                <a:solidFill>
                  <a:srgbClr val="FF0000"/>
                </a:solidFill>
              </a:rPr>
              <a:t>row</a:t>
            </a:r>
            <a:r>
              <a:rPr lang="en" sz="1200">
                <a:solidFill>
                  <a:srgbClr val="FF0000"/>
                </a:solidFill>
              </a:rPr>
              <a:t> </a:t>
            </a:r>
            <a:r>
              <a:rPr lang="en" sz="1200"/>
              <a:t>and </a:t>
            </a:r>
            <a:r>
              <a:rPr lang="en" sz="1200" b="1" i="1">
                <a:solidFill>
                  <a:srgbClr val="FF0000"/>
                </a:solidFill>
              </a:rPr>
              <a:t>column</a:t>
            </a:r>
            <a:r>
              <a:rPr lang="en" sz="1200">
                <a:solidFill>
                  <a:srgbClr val="FF0000"/>
                </a:solidFill>
              </a:rPr>
              <a:t> </a:t>
            </a:r>
            <a:r>
              <a:rPr lang="en" sz="1200"/>
              <a:t>of each queen on the board, comparing those is easy.</a:t>
            </a:r>
            <a:endParaRPr sz="1200"/>
          </a:p>
        </p:txBody>
      </p:sp>
      <p:sp>
        <p:nvSpPr>
          <p:cNvPr id="2000" name="Google Shape;2000;p86"/>
          <p:cNvSpPr txBox="1"/>
          <p:nvPr/>
        </p:nvSpPr>
        <p:spPr>
          <a:xfrm>
            <a:off x="6239875" y="2568675"/>
            <a:ext cx="2762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Determining whether or not two queens are on the same diagonal is a </a:t>
            </a:r>
            <a:r>
              <a:rPr lang="en" sz="1200" b="1" i="1">
                <a:solidFill>
                  <a:srgbClr val="FF0000"/>
                </a:solidFill>
              </a:rPr>
              <a:t>little</a:t>
            </a:r>
            <a:r>
              <a:rPr lang="en" sz="1200">
                <a:solidFill>
                  <a:srgbClr val="FF0000"/>
                </a:solidFill>
              </a:rPr>
              <a:t> </a:t>
            </a:r>
            <a:r>
              <a:rPr lang="en" sz="1200"/>
              <a:t>more challenging...</a:t>
            </a:r>
            <a:endParaRPr sz="1200"/>
          </a:p>
        </p:txBody>
      </p:sp>
      <p:sp>
        <p:nvSpPr>
          <p:cNvPr id="2001" name="Google Shape;2001;p86"/>
          <p:cNvSpPr txBox="1"/>
          <p:nvPr/>
        </p:nvSpPr>
        <p:spPr>
          <a:xfrm>
            <a:off x="6239875" y="3406875"/>
            <a:ext cx="2762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First, calculate the difference between their </a:t>
            </a:r>
            <a:r>
              <a:rPr lang="en" sz="1200" b="1" i="1">
                <a:solidFill>
                  <a:srgbClr val="FF0000"/>
                </a:solidFill>
              </a:rPr>
              <a:t>rows</a:t>
            </a:r>
            <a:r>
              <a:rPr lang="en" sz="1200"/>
              <a:t> and </a:t>
            </a:r>
            <a:r>
              <a:rPr lang="en" sz="1200" b="1" i="1">
                <a:solidFill>
                  <a:srgbClr val="FF0000"/>
                </a:solidFill>
              </a:rPr>
              <a:t>columns</a:t>
            </a:r>
            <a:r>
              <a:rPr lang="en" sz="1200"/>
              <a:t>. If the </a:t>
            </a:r>
            <a:r>
              <a:rPr lang="en" sz="1200" b="1" i="1">
                <a:solidFill>
                  <a:srgbClr val="FF0000"/>
                </a:solidFill>
              </a:rPr>
              <a:t>absolute values</a:t>
            </a:r>
            <a:r>
              <a:rPr lang="en" sz="1200">
                <a:solidFill>
                  <a:srgbClr val="FF0000"/>
                </a:solidFill>
              </a:rPr>
              <a:t> </a:t>
            </a:r>
            <a:r>
              <a:rPr lang="en" sz="1200"/>
              <a:t>are the same, they are in the same diagonal.</a:t>
            </a:r>
            <a:endParaRPr sz="1200"/>
          </a:p>
        </p:txBody>
      </p:sp>
      <p:sp>
        <p:nvSpPr>
          <p:cNvPr id="2002" name="Google Shape;2002;p86"/>
          <p:cNvSpPr txBox="1"/>
          <p:nvPr/>
        </p:nvSpPr>
        <p:spPr>
          <a:xfrm>
            <a:off x="3529800" y="4494400"/>
            <a:ext cx="2449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Consolas"/>
                <a:ea typeface="Consolas"/>
                <a:cs typeface="Consolas"/>
                <a:sym typeface="Consolas"/>
              </a:rPr>
              <a:t>q1.row - q2.row = 2 - 4 = -2</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q1.col - q2.col = 2 - 4 = -2</a:t>
            </a:r>
            <a:endParaRPr sz="1000">
              <a:latin typeface="Consolas"/>
              <a:ea typeface="Consolas"/>
              <a:cs typeface="Consolas"/>
              <a:sym typeface="Consolas"/>
            </a:endParaRPr>
          </a:p>
        </p:txBody>
      </p:sp>
      <p:sp>
        <p:nvSpPr>
          <p:cNvPr id="2003" name="Google Shape;2003;p86"/>
          <p:cNvSpPr/>
          <p:nvPr/>
        </p:nvSpPr>
        <p:spPr>
          <a:xfrm>
            <a:off x="3600250" y="4565125"/>
            <a:ext cx="4824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4" name="Google Shape;2004;p86"/>
          <p:cNvCxnSpPr>
            <a:stCxn id="1988" idx="2"/>
            <a:endCxn id="2003" idx="0"/>
          </p:cNvCxnSpPr>
          <p:nvPr/>
        </p:nvCxnSpPr>
        <p:spPr>
          <a:xfrm rot="5400000">
            <a:off x="3694058" y="3530827"/>
            <a:ext cx="1181700" cy="887100"/>
          </a:xfrm>
          <a:prstGeom prst="curvedConnector3">
            <a:avLst>
              <a:gd name="adj1" fmla="val 49996"/>
            </a:avLst>
          </a:prstGeom>
          <a:noFill/>
          <a:ln w="19050" cap="flat" cmpd="sng">
            <a:solidFill>
              <a:srgbClr val="FF0000"/>
            </a:solidFill>
            <a:prstDash val="solid"/>
            <a:round/>
            <a:headEnd type="none" w="med" len="med"/>
            <a:tailEnd type="triangle" w="med" len="med"/>
          </a:ln>
        </p:spPr>
      </p:cxnSp>
      <p:sp>
        <p:nvSpPr>
          <p:cNvPr id="2005" name="Google Shape;2005;p86"/>
          <p:cNvSpPr/>
          <p:nvPr/>
        </p:nvSpPr>
        <p:spPr>
          <a:xfrm>
            <a:off x="4216279" y="4565125"/>
            <a:ext cx="4824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6" name="Google Shape;2006;p86"/>
          <p:cNvCxnSpPr>
            <a:endCxn id="2005" idx="0"/>
          </p:cNvCxnSpPr>
          <p:nvPr/>
        </p:nvCxnSpPr>
        <p:spPr>
          <a:xfrm flipH="1">
            <a:off x="4457479" y="4111825"/>
            <a:ext cx="1089300" cy="453300"/>
          </a:xfrm>
          <a:prstGeom prst="curvedConnector2">
            <a:avLst/>
          </a:prstGeom>
          <a:noFill/>
          <a:ln w="19050" cap="flat" cmpd="sng">
            <a:solidFill>
              <a:srgbClr val="FF0000"/>
            </a:solidFill>
            <a:prstDash val="solid"/>
            <a:round/>
            <a:headEnd type="none" w="med" len="med"/>
            <a:tailEnd type="triangle" w="med" len="med"/>
          </a:ln>
        </p:spPr>
      </p:cxnSp>
      <p:sp>
        <p:nvSpPr>
          <p:cNvPr id="2007" name="Google Shape;2007;p86"/>
          <p:cNvSpPr/>
          <p:nvPr/>
        </p:nvSpPr>
        <p:spPr>
          <a:xfrm>
            <a:off x="5396901" y="4565125"/>
            <a:ext cx="2799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8" name="Google Shape;2008;p86"/>
          <p:cNvCxnSpPr>
            <a:stCxn id="2001" idx="2"/>
            <a:endCxn id="2007" idx="3"/>
          </p:cNvCxnSpPr>
          <p:nvPr/>
        </p:nvCxnSpPr>
        <p:spPr>
          <a:xfrm rot="5400000">
            <a:off x="6439375" y="3567825"/>
            <a:ext cx="419400" cy="1944300"/>
          </a:xfrm>
          <a:prstGeom prst="curvedConnector2">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9"/>
                                        </p:tgtEl>
                                        <p:attrNameLst>
                                          <p:attrName>style.visibility</p:attrName>
                                        </p:attrNameLst>
                                      </p:cBhvr>
                                      <p:to>
                                        <p:strVal val="visible"/>
                                      </p:to>
                                    </p:set>
                                    <p:animEffect transition="in" filter="fade">
                                      <p:cBhvr>
                                        <p:cTn id="7" dur="1000"/>
                                        <p:tgtEl>
                                          <p:spTgt spid="19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0"/>
                                        </p:tgtEl>
                                        <p:attrNameLst>
                                          <p:attrName>style.visibility</p:attrName>
                                        </p:attrNameLst>
                                      </p:cBhvr>
                                      <p:to>
                                        <p:strVal val="visible"/>
                                      </p:to>
                                    </p:set>
                                    <p:animEffect transition="in" filter="fade">
                                      <p:cBhvr>
                                        <p:cTn id="12" dur="1000"/>
                                        <p:tgtEl>
                                          <p:spTgt spid="1990"/>
                                        </p:tgtEl>
                                      </p:cBhvr>
                                    </p:animEffect>
                                  </p:childTnLst>
                                </p:cTn>
                              </p:par>
                              <p:par>
                                <p:cTn id="13" presetID="10" presetClass="entr" presetSubtype="0" fill="hold" nodeType="withEffect">
                                  <p:stCondLst>
                                    <p:cond delay="0"/>
                                  </p:stCondLst>
                                  <p:childTnLst>
                                    <p:set>
                                      <p:cBhvr>
                                        <p:cTn id="14" dur="1" fill="hold">
                                          <p:stCondLst>
                                            <p:cond delay="0"/>
                                          </p:stCondLst>
                                        </p:cTn>
                                        <p:tgtEl>
                                          <p:spTgt spid="1991"/>
                                        </p:tgtEl>
                                        <p:attrNameLst>
                                          <p:attrName>style.visibility</p:attrName>
                                        </p:attrNameLst>
                                      </p:cBhvr>
                                      <p:to>
                                        <p:strVal val="visible"/>
                                      </p:to>
                                    </p:set>
                                    <p:animEffect transition="in" filter="fade">
                                      <p:cBhvr>
                                        <p:cTn id="15" dur="1000"/>
                                        <p:tgtEl>
                                          <p:spTgt spid="1991"/>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992"/>
                                        </p:tgtEl>
                                        <p:attrNameLst>
                                          <p:attrName>style.visibility</p:attrName>
                                        </p:attrNameLst>
                                      </p:cBhvr>
                                      <p:to>
                                        <p:strVal val="visible"/>
                                      </p:to>
                                    </p:set>
                                    <p:animEffect transition="in" filter="fade">
                                      <p:cBhvr>
                                        <p:cTn id="19" dur="1000"/>
                                        <p:tgtEl>
                                          <p:spTgt spid="199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93"/>
                                        </p:tgtEl>
                                        <p:attrNameLst>
                                          <p:attrName>style.visibility</p:attrName>
                                        </p:attrNameLst>
                                      </p:cBhvr>
                                      <p:to>
                                        <p:strVal val="visible"/>
                                      </p:to>
                                    </p:set>
                                    <p:animEffect transition="in" filter="fade">
                                      <p:cBhvr>
                                        <p:cTn id="24" dur="1000"/>
                                        <p:tgtEl>
                                          <p:spTgt spid="1993"/>
                                        </p:tgtEl>
                                      </p:cBhvr>
                                    </p:animEffect>
                                  </p:childTnLst>
                                </p:cTn>
                              </p:par>
                              <p:par>
                                <p:cTn id="25" presetID="10" presetClass="entr" presetSubtype="0" fill="hold" nodeType="withEffect">
                                  <p:stCondLst>
                                    <p:cond delay="0"/>
                                  </p:stCondLst>
                                  <p:childTnLst>
                                    <p:set>
                                      <p:cBhvr>
                                        <p:cTn id="26" dur="1" fill="hold">
                                          <p:stCondLst>
                                            <p:cond delay="0"/>
                                          </p:stCondLst>
                                        </p:cTn>
                                        <p:tgtEl>
                                          <p:spTgt spid="1994"/>
                                        </p:tgtEl>
                                        <p:attrNameLst>
                                          <p:attrName>style.visibility</p:attrName>
                                        </p:attrNameLst>
                                      </p:cBhvr>
                                      <p:to>
                                        <p:strVal val="visible"/>
                                      </p:to>
                                    </p:set>
                                    <p:animEffect transition="in" filter="fade">
                                      <p:cBhvr>
                                        <p:cTn id="27" dur="1000"/>
                                        <p:tgtEl>
                                          <p:spTgt spid="199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995"/>
                                        </p:tgtEl>
                                        <p:attrNameLst>
                                          <p:attrName>style.visibility</p:attrName>
                                        </p:attrNameLst>
                                      </p:cBhvr>
                                      <p:to>
                                        <p:strVal val="visible"/>
                                      </p:to>
                                    </p:set>
                                    <p:animEffect transition="in" filter="fade">
                                      <p:cBhvr>
                                        <p:cTn id="31" dur="1000"/>
                                        <p:tgtEl>
                                          <p:spTgt spid="199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997"/>
                                        </p:tgtEl>
                                        <p:attrNameLst>
                                          <p:attrName>style.visibility</p:attrName>
                                        </p:attrNameLst>
                                      </p:cBhvr>
                                      <p:to>
                                        <p:strVal val="visible"/>
                                      </p:to>
                                    </p:set>
                                    <p:animEffect transition="in" filter="fade">
                                      <p:cBhvr>
                                        <p:cTn id="36" dur="1000"/>
                                        <p:tgtEl>
                                          <p:spTgt spid="1997"/>
                                        </p:tgtEl>
                                      </p:cBhvr>
                                    </p:animEffect>
                                  </p:childTnLst>
                                </p:cTn>
                              </p:par>
                              <p:par>
                                <p:cTn id="37" presetID="10" presetClass="entr" presetSubtype="0" fill="hold" nodeType="withEffect">
                                  <p:stCondLst>
                                    <p:cond delay="0"/>
                                  </p:stCondLst>
                                  <p:childTnLst>
                                    <p:set>
                                      <p:cBhvr>
                                        <p:cTn id="38" dur="1" fill="hold">
                                          <p:stCondLst>
                                            <p:cond delay="0"/>
                                          </p:stCondLst>
                                        </p:cTn>
                                        <p:tgtEl>
                                          <p:spTgt spid="1998"/>
                                        </p:tgtEl>
                                        <p:attrNameLst>
                                          <p:attrName>style.visibility</p:attrName>
                                        </p:attrNameLst>
                                      </p:cBhvr>
                                      <p:to>
                                        <p:strVal val="visible"/>
                                      </p:to>
                                    </p:set>
                                    <p:animEffect transition="in" filter="fade">
                                      <p:cBhvr>
                                        <p:cTn id="39" dur="1000"/>
                                        <p:tgtEl>
                                          <p:spTgt spid="1998"/>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1996"/>
                                        </p:tgtEl>
                                        <p:attrNameLst>
                                          <p:attrName>style.visibility</p:attrName>
                                        </p:attrNameLst>
                                      </p:cBhvr>
                                      <p:to>
                                        <p:strVal val="visible"/>
                                      </p:to>
                                    </p:set>
                                    <p:animEffect transition="in" filter="fade">
                                      <p:cBhvr>
                                        <p:cTn id="43" dur="1000"/>
                                        <p:tgtEl>
                                          <p:spTgt spid="199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99"/>
                                        </p:tgtEl>
                                        <p:attrNameLst>
                                          <p:attrName>style.visibility</p:attrName>
                                        </p:attrNameLst>
                                      </p:cBhvr>
                                      <p:to>
                                        <p:strVal val="visible"/>
                                      </p:to>
                                    </p:set>
                                    <p:animEffect transition="in" filter="fade">
                                      <p:cBhvr>
                                        <p:cTn id="48" dur="1000"/>
                                        <p:tgtEl>
                                          <p:spTgt spid="199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000"/>
                                        </p:tgtEl>
                                        <p:attrNameLst>
                                          <p:attrName>style.visibility</p:attrName>
                                        </p:attrNameLst>
                                      </p:cBhvr>
                                      <p:to>
                                        <p:strVal val="visible"/>
                                      </p:to>
                                    </p:set>
                                    <p:animEffect transition="in" filter="fade">
                                      <p:cBhvr>
                                        <p:cTn id="53" dur="1000"/>
                                        <p:tgtEl>
                                          <p:spTgt spid="200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01"/>
                                        </p:tgtEl>
                                        <p:attrNameLst>
                                          <p:attrName>style.visibility</p:attrName>
                                        </p:attrNameLst>
                                      </p:cBhvr>
                                      <p:to>
                                        <p:strVal val="visible"/>
                                      </p:to>
                                    </p:set>
                                    <p:animEffect transition="in" filter="fade">
                                      <p:cBhvr>
                                        <p:cTn id="58" dur="1000"/>
                                        <p:tgtEl>
                                          <p:spTgt spid="200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2002"/>
                                        </p:tgtEl>
                                        <p:attrNameLst>
                                          <p:attrName>style.visibility</p:attrName>
                                        </p:attrNameLst>
                                      </p:cBhvr>
                                      <p:to>
                                        <p:strVal val="visible"/>
                                      </p:to>
                                    </p:set>
                                    <p:animEffect transition="in" filter="fade">
                                      <p:cBhvr>
                                        <p:cTn id="62" dur="1000"/>
                                        <p:tgtEl>
                                          <p:spTgt spid="2002"/>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2004"/>
                                        </p:tgtEl>
                                        <p:attrNameLst>
                                          <p:attrName>style.visibility</p:attrName>
                                        </p:attrNameLst>
                                      </p:cBhvr>
                                      <p:to>
                                        <p:strVal val="visible"/>
                                      </p:to>
                                    </p:set>
                                    <p:animEffect transition="in" filter="fade">
                                      <p:cBhvr>
                                        <p:cTn id="66" dur="1000"/>
                                        <p:tgtEl>
                                          <p:spTgt spid="2004"/>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2003"/>
                                        </p:tgtEl>
                                        <p:attrNameLst>
                                          <p:attrName>style.visibility</p:attrName>
                                        </p:attrNameLst>
                                      </p:cBhvr>
                                      <p:to>
                                        <p:strVal val="visible"/>
                                      </p:to>
                                    </p:set>
                                    <p:animEffect transition="in" filter="fade">
                                      <p:cBhvr>
                                        <p:cTn id="70" dur="1000"/>
                                        <p:tgtEl>
                                          <p:spTgt spid="2003"/>
                                        </p:tgtEl>
                                      </p:cBhvr>
                                    </p:animEffect>
                                  </p:childTnLst>
                                </p:cTn>
                              </p:par>
                            </p:childTnLst>
                          </p:cTn>
                        </p:par>
                        <p:par>
                          <p:cTn id="71" fill="hold">
                            <p:stCondLst>
                              <p:cond delay="4000"/>
                            </p:stCondLst>
                            <p:childTnLst>
                              <p:par>
                                <p:cTn id="72" presetID="10" presetClass="entr" presetSubtype="0" fill="hold" nodeType="afterEffect">
                                  <p:stCondLst>
                                    <p:cond delay="0"/>
                                  </p:stCondLst>
                                  <p:childTnLst>
                                    <p:set>
                                      <p:cBhvr>
                                        <p:cTn id="73" dur="1" fill="hold">
                                          <p:stCondLst>
                                            <p:cond delay="0"/>
                                          </p:stCondLst>
                                        </p:cTn>
                                        <p:tgtEl>
                                          <p:spTgt spid="2006"/>
                                        </p:tgtEl>
                                        <p:attrNameLst>
                                          <p:attrName>style.visibility</p:attrName>
                                        </p:attrNameLst>
                                      </p:cBhvr>
                                      <p:to>
                                        <p:strVal val="visible"/>
                                      </p:to>
                                    </p:set>
                                    <p:animEffect transition="in" filter="fade">
                                      <p:cBhvr>
                                        <p:cTn id="74" dur="1000"/>
                                        <p:tgtEl>
                                          <p:spTgt spid="2006"/>
                                        </p:tgtEl>
                                      </p:cBhvr>
                                    </p:animEffect>
                                  </p:childTnLst>
                                </p:cTn>
                              </p:par>
                            </p:childTnLst>
                          </p:cTn>
                        </p:par>
                        <p:par>
                          <p:cTn id="75" fill="hold">
                            <p:stCondLst>
                              <p:cond delay="5000"/>
                            </p:stCondLst>
                            <p:childTnLst>
                              <p:par>
                                <p:cTn id="76" presetID="10" presetClass="entr" presetSubtype="0" fill="hold" nodeType="afterEffect">
                                  <p:stCondLst>
                                    <p:cond delay="0"/>
                                  </p:stCondLst>
                                  <p:childTnLst>
                                    <p:set>
                                      <p:cBhvr>
                                        <p:cTn id="77" dur="1" fill="hold">
                                          <p:stCondLst>
                                            <p:cond delay="0"/>
                                          </p:stCondLst>
                                        </p:cTn>
                                        <p:tgtEl>
                                          <p:spTgt spid="2005"/>
                                        </p:tgtEl>
                                        <p:attrNameLst>
                                          <p:attrName>style.visibility</p:attrName>
                                        </p:attrNameLst>
                                      </p:cBhvr>
                                      <p:to>
                                        <p:strVal val="visible"/>
                                      </p:to>
                                    </p:set>
                                    <p:animEffect transition="in" filter="fade">
                                      <p:cBhvr>
                                        <p:cTn id="78" dur="1000"/>
                                        <p:tgtEl>
                                          <p:spTgt spid="2005"/>
                                        </p:tgtEl>
                                      </p:cBhvr>
                                    </p:animEffect>
                                  </p:childTnLst>
                                </p:cTn>
                              </p:par>
                            </p:childTnLst>
                          </p:cTn>
                        </p:par>
                        <p:par>
                          <p:cTn id="79" fill="hold">
                            <p:stCondLst>
                              <p:cond delay="6000"/>
                            </p:stCondLst>
                            <p:childTnLst>
                              <p:par>
                                <p:cTn id="80" presetID="10" presetClass="entr" presetSubtype="0" fill="hold" nodeType="afterEffect">
                                  <p:stCondLst>
                                    <p:cond delay="0"/>
                                  </p:stCondLst>
                                  <p:childTnLst>
                                    <p:set>
                                      <p:cBhvr>
                                        <p:cTn id="81" dur="1" fill="hold">
                                          <p:stCondLst>
                                            <p:cond delay="0"/>
                                          </p:stCondLst>
                                        </p:cTn>
                                        <p:tgtEl>
                                          <p:spTgt spid="2008"/>
                                        </p:tgtEl>
                                        <p:attrNameLst>
                                          <p:attrName>style.visibility</p:attrName>
                                        </p:attrNameLst>
                                      </p:cBhvr>
                                      <p:to>
                                        <p:strVal val="visible"/>
                                      </p:to>
                                    </p:set>
                                    <p:animEffect transition="in" filter="fade">
                                      <p:cBhvr>
                                        <p:cTn id="82" dur="1000"/>
                                        <p:tgtEl>
                                          <p:spTgt spid="2008"/>
                                        </p:tgtEl>
                                      </p:cBhvr>
                                    </p:animEffect>
                                  </p:childTnLst>
                                </p:cTn>
                              </p:par>
                            </p:childTnLst>
                          </p:cTn>
                        </p:par>
                        <p:par>
                          <p:cTn id="83" fill="hold">
                            <p:stCondLst>
                              <p:cond delay="7000"/>
                            </p:stCondLst>
                            <p:childTnLst>
                              <p:par>
                                <p:cTn id="84" presetID="10" presetClass="entr" presetSubtype="0" fill="hold" nodeType="afterEffect">
                                  <p:stCondLst>
                                    <p:cond delay="0"/>
                                  </p:stCondLst>
                                  <p:childTnLst>
                                    <p:set>
                                      <p:cBhvr>
                                        <p:cTn id="85" dur="1" fill="hold">
                                          <p:stCondLst>
                                            <p:cond delay="0"/>
                                          </p:stCondLst>
                                        </p:cTn>
                                        <p:tgtEl>
                                          <p:spTgt spid="2007"/>
                                        </p:tgtEl>
                                        <p:attrNameLst>
                                          <p:attrName>style.visibility</p:attrName>
                                        </p:attrNameLst>
                                      </p:cBhvr>
                                      <p:to>
                                        <p:strVal val="visible"/>
                                      </p:to>
                                    </p:set>
                                    <p:animEffect transition="in" filter="fade">
                                      <p:cBhvr>
                                        <p:cTn id="86" dur="1000"/>
                                        <p:tgtEl>
                                          <p:spTgt spid="2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012"/>
        <p:cNvGrpSpPr/>
        <p:nvPr/>
      </p:nvGrpSpPr>
      <p:grpSpPr>
        <a:xfrm>
          <a:off x="0" y="0"/>
          <a:ext cx="0" cy="0"/>
          <a:chOff x="0" y="0"/>
          <a:chExt cx="0" cy="0"/>
        </a:xfrm>
      </p:grpSpPr>
      <p:sp>
        <p:nvSpPr>
          <p:cNvPr id="2013" name="Google Shape;2013;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69</a:t>
            </a:fld>
            <a:endParaRPr/>
          </a:p>
        </p:txBody>
      </p:sp>
      <p:sp>
        <p:nvSpPr>
          <p:cNvPr id="2014" name="Google Shape;2014;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15" name="Google Shape;2015;p87"/>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016" name="Google Shape;2016;p87"/>
          <p:cNvSpPr txBox="1"/>
          <p:nvPr/>
        </p:nvSpPr>
        <p:spPr>
          <a:xfrm>
            <a:off x="5093650" y="172095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goal of the Eight Queens Problem is to place eight queens on a chessboard in such a way that no two queens can attack each other.</a:t>
            </a:r>
            <a:endParaRPr sz="1200"/>
          </a:p>
        </p:txBody>
      </p:sp>
      <p:sp>
        <p:nvSpPr>
          <p:cNvPr id="2017" name="Google Shape;2017;p87"/>
          <p:cNvSpPr txBox="1"/>
          <p:nvPr/>
        </p:nvSpPr>
        <p:spPr>
          <a:xfrm>
            <a:off x="5093650" y="256634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Q: If given a chessboard and 8 queens, how might you go about finding a solution to this problem?</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6"/>
                                        </p:tgtEl>
                                        <p:attrNameLst>
                                          <p:attrName>style.visibility</p:attrName>
                                        </p:attrNameLst>
                                      </p:cBhvr>
                                      <p:to>
                                        <p:strVal val="visible"/>
                                      </p:to>
                                    </p:set>
                                    <p:animEffect transition="in" filter="fade">
                                      <p:cBhvr>
                                        <p:cTn id="7" dur="1000"/>
                                        <p:tgtEl>
                                          <p:spTgt spid="20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7"/>
                                        </p:tgtEl>
                                        <p:attrNameLst>
                                          <p:attrName>style.visibility</p:attrName>
                                        </p:attrNameLst>
                                      </p:cBhvr>
                                      <p:to>
                                        <p:strVal val="visible"/>
                                      </p:to>
                                    </p:set>
                                    <p:animEffect transition="in" filter="fade">
                                      <p:cBhvr>
                                        <p:cTn id="12" dur="1000"/>
                                        <p:tgtEl>
                                          <p:spTgt spid="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021"/>
        <p:cNvGrpSpPr/>
        <p:nvPr/>
      </p:nvGrpSpPr>
      <p:grpSpPr>
        <a:xfrm>
          <a:off x="0" y="0"/>
          <a:ext cx="0" cy="0"/>
          <a:chOff x="0" y="0"/>
          <a:chExt cx="0" cy="0"/>
        </a:xfrm>
      </p:grpSpPr>
      <p:sp>
        <p:nvSpPr>
          <p:cNvPr id="2022" name="Google Shape;2022;p88"/>
          <p:cNvSpPr txBox="1"/>
          <p:nvPr/>
        </p:nvSpPr>
        <p:spPr>
          <a:xfrm>
            <a:off x="5093650" y="172095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would begin by placing a queen somewhere on the board.</a:t>
            </a:r>
            <a:endParaRPr sz="1200"/>
          </a:p>
        </p:txBody>
      </p:sp>
      <p:sp>
        <p:nvSpPr>
          <p:cNvPr id="2023" name="Google Shape;2023;p88"/>
          <p:cNvSpPr txBox="1"/>
          <p:nvPr/>
        </p:nvSpPr>
        <p:spPr>
          <a:xfrm>
            <a:off x="5093650" y="2392980"/>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Assuming that you wanted to take a methodical approach, you might choose to start in the top left corner.</a:t>
            </a:r>
            <a:endParaRPr sz="1200"/>
          </a:p>
        </p:txBody>
      </p:sp>
      <p:sp>
        <p:nvSpPr>
          <p:cNvPr id="2024" name="Google Shape;2024;p88"/>
          <p:cNvSpPr txBox="1"/>
          <p:nvPr/>
        </p:nvSpPr>
        <p:spPr>
          <a:xfrm>
            <a:off x="5093650" y="3251837"/>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Any square that the queen can attack is eliminated from consideration for the placement of a future queen.</a:t>
            </a:r>
            <a:endParaRPr sz="1200"/>
          </a:p>
        </p:txBody>
      </p:sp>
      <p:sp>
        <p:nvSpPr>
          <p:cNvPr id="2025" name="Google Shape;2025;p88"/>
          <p:cNvSpPr txBox="1"/>
          <p:nvPr/>
        </p:nvSpPr>
        <p:spPr>
          <a:xfrm>
            <a:off x="5093650" y="4090037"/>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includes any squares in the same row, column, or on the same diagonal. We'll mark </a:t>
            </a:r>
            <a:r>
              <a:rPr lang="en" sz="1200" b="1" i="1">
                <a:solidFill>
                  <a:srgbClr val="FF0000"/>
                </a:solidFill>
              </a:rPr>
              <a:t>invalid</a:t>
            </a:r>
            <a:r>
              <a:rPr lang="en" sz="1200" b="1" i="1"/>
              <a:t> </a:t>
            </a:r>
            <a:r>
              <a:rPr lang="en" sz="1200"/>
              <a:t>squares in </a:t>
            </a:r>
            <a:r>
              <a:rPr lang="en" sz="1200" b="1" i="1">
                <a:solidFill>
                  <a:srgbClr val="980000"/>
                </a:solidFill>
              </a:rPr>
              <a:t>red</a:t>
            </a:r>
            <a:r>
              <a:rPr lang="en" sz="1200"/>
              <a:t>.</a:t>
            </a:r>
            <a:endParaRPr sz="1200"/>
          </a:p>
        </p:txBody>
      </p:sp>
      <p:graphicFrame>
        <p:nvGraphicFramePr>
          <p:cNvPr id="2026" name="Google Shape;2026;p88"/>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027" name="Google Shape;2027;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sp>
        <p:nvSpPr>
          <p:cNvPr id="2028" name="Google Shape;2028;p8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29" name="Google Shape;2029;p88"/>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pSp>
        <p:nvGrpSpPr>
          <p:cNvPr id="2030" name="Google Shape;2030;p88"/>
          <p:cNvGrpSpPr/>
          <p:nvPr/>
        </p:nvGrpSpPr>
        <p:grpSpPr>
          <a:xfrm>
            <a:off x="397659" y="1131811"/>
            <a:ext cx="1221501" cy="1015219"/>
            <a:chOff x="397659" y="1124925"/>
            <a:chExt cx="1221501" cy="1015219"/>
          </a:xfrm>
        </p:grpSpPr>
        <p:pic>
          <p:nvPicPr>
            <p:cNvPr id="2031" name="Google Shape;2031;p88"/>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32" name="Google Shape;2032;p88"/>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cxnSp>
        <p:nvCxnSpPr>
          <p:cNvPr id="2033" name="Google Shape;2033;p88"/>
          <p:cNvCxnSpPr/>
          <p:nvPr/>
        </p:nvCxnSpPr>
        <p:spPr>
          <a:xfrm>
            <a:off x="1335850" y="2148600"/>
            <a:ext cx="2871300" cy="2657700"/>
          </a:xfrm>
          <a:prstGeom prst="straightConnector1">
            <a:avLst/>
          </a:prstGeom>
          <a:noFill/>
          <a:ln w="28575" cap="flat" cmpd="sng">
            <a:solidFill>
              <a:srgbClr val="FF0000"/>
            </a:solidFill>
            <a:prstDash val="solid"/>
            <a:round/>
            <a:headEnd type="none" w="med" len="med"/>
            <a:tailEnd type="stealth" w="med" len="med"/>
          </a:ln>
        </p:spPr>
      </p:cxnSp>
      <p:cxnSp>
        <p:nvCxnSpPr>
          <p:cNvPr id="2034" name="Google Shape;2034;p88"/>
          <p:cNvCxnSpPr/>
          <p:nvPr/>
        </p:nvCxnSpPr>
        <p:spPr>
          <a:xfrm>
            <a:off x="1335850" y="1942025"/>
            <a:ext cx="2775000" cy="0"/>
          </a:xfrm>
          <a:prstGeom prst="straightConnector1">
            <a:avLst/>
          </a:prstGeom>
          <a:noFill/>
          <a:ln w="28575" cap="flat" cmpd="sng">
            <a:solidFill>
              <a:srgbClr val="FF0000"/>
            </a:solidFill>
            <a:prstDash val="solid"/>
            <a:round/>
            <a:headEnd type="none" w="med" len="med"/>
            <a:tailEnd type="stealth" w="med" len="med"/>
          </a:ln>
        </p:spPr>
      </p:cxnSp>
      <p:cxnSp>
        <p:nvCxnSpPr>
          <p:cNvPr id="2035" name="Google Shape;2035;p88"/>
          <p:cNvCxnSpPr/>
          <p:nvPr/>
        </p:nvCxnSpPr>
        <p:spPr>
          <a:xfrm>
            <a:off x="1124092" y="2147030"/>
            <a:ext cx="0" cy="2590500"/>
          </a:xfrm>
          <a:prstGeom prst="straightConnector1">
            <a:avLst/>
          </a:prstGeom>
          <a:noFill/>
          <a:ln w="28575" cap="flat" cmpd="sng">
            <a:solidFill>
              <a:srgbClr val="FF0000"/>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2"/>
                                        </p:tgtEl>
                                        <p:attrNameLst>
                                          <p:attrName>style.visibility</p:attrName>
                                        </p:attrNameLst>
                                      </p:cBhvr>
                                      <p:to>
                                        <p:strVal val="visible"/>
                                      </p:to>
                                    </p:set>
                                    <p:animEffect transition="in" filter="fade">
                                      <p:cBhvr>
                                        <p:cTn id="7" dur="1000"/>
                                        <p:tgtEl>
                                          <p:spTgt spid="20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3"/>
                                        </p:tgtEl>
                                        <p:attrNameLst>
                                          <p:attrName>style.visibility</p:attrName>
                                        </p:attrNameLst>
                                      </p:cBhvr>
                                      <p:to>
                                        <p:strVal val="visible"/>
                                      </p:to>
                                    </p:set>
                                    <p:animEffect transition="in" filter="fade">
                                      <p:cBhvr>
                                        <p:cTn id="12" dur="1000"/>
                                        <p:tgtEl>
                                          <p:spTgt spid="2023"/>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030"/>
                                        </p:tgtEl>
                                        <p:attrNameLst>
                                          <p:attrName>style.visibility</p:attrName>
                                        </p:attrNameLst>
                                      </p:cBhvr>
                                      <p:to>
                                        <p:strVal val="visible"/>
                                      </p:to>
                                    </p:set>
                                    <p:anim calcmode="lin" valueType="num">
                                      <p:cBhvr additive="base">
                                        <p:cTn id="16" dur="1000"/>
                                        <p:tgtEl>
                                          <p:spTgt spid="2030"/>
                                        </p:tgtEl>
                                        <p:attrNameLst>
                                          <p:attrName>ppt_x</p:attrName>
                                        </p:attrNameLst>
                                      </p:cBhvr>
                                      <p:tavLst>
                                        <p:tav tm="0">
                                          <p:val>
                                            <p:strVal val="#ppt_x+1"/>
                                          </p:val>
                                        </p:tav>
                                        <p:tav tm="100000">
                                          <p:val>
                                            <p:strVal val="#ppt_x"/>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24"/>
                                        </p:tgtEl>
                                        <p:attrNameLst>
                                          <p:attrName>style.visibility</p:attrName>
                                        </p:attrNameLst>
                                      </p:cBhvr>
                                      <p:to>
                                        <p:strVal val="visible"/>
                                      </p:to>
                                    </p:set>
                                    <p:animEffect transition="in" filter="fade">
                                      <p:cBhvr>
                                        <p:cTn id="21" dur="1000"/>
                                        <p:tgtEl>
                                          <p:spTgt spid="20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25"/>
                                        </p:tgtEl>
                                        <p:attrNameLst>
                                          <p:attrName>style.visibility</p:attrName>
                                        </p:attrNameLst>
                                      </p:cBhvr>
                                      <p:to>
                                        <p:strVal val="visible"/>
                                      </p:to>
                                    </p:set>
                                    <p:animEffect transition="in" filter="fade">
                                      <p:cBhvr>
                                        <p:cTn id="26" dur="1000"/>
                                        <p:tgtEl>
                                          <p:spTgt spid="202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2034"/>
                                        </p:tgtEl>
                                        <p:attrNameLst>
                                          <p:attrName>style.visibility</p:attrName>
                                        </p:attrNameLst>
                                      </p:cBhvr>
                                      <p:to>
                                        <p:strVal val="visible"/>
                                      </p:to>
                                    </p:set>
                                    <p:animEffect transition="in" filter="fade">
                                      <p:cBhvr>
                                        <p:cTn id="30" dur="1000"/>
                                        <p:tgtEl>
                                          <p:spTgt spid="2034"/>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035"/>
                                        </p:tgtEl>
                                        <p:attrNameLst>
                                          <p:attrName>style.visibility</p:attrName>
                                        </p:attrNameLst>
                                      </p:cBhvr>
                                      <p:to>
                                        <p:strVal val="visible"/>
                                      </p:to>
                                    </p:set>
                                    <p:animEffect transition="in" filter="fade">
                                      <p:cBhvr>
                                        <p:cTn id="34" dur="1000"/>
                                        <p:tgtEl>
                                          <p:spTgt spid="2035"/>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2033"/>
                                        </p:tgtEl>
                                        <p:attrNameLst>
                                          <p:attrName>style.visibility</p:attrName>
                                        </p:attrNameLst>
                                      </p:cBhvr>
                                      <p:to>
                                        <p:strVal val="visible"/>
                                      </p:to>
                                    </p:set>
                                    <p:animEffect transition="in" filter="fade">
                                      <p:cBhvr>
                                        <p:cTn id="38" dur="1000"/>
                                        <p:tgtEl>
                                          <p:spTgt spid="2033"/>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2029"/>
                                        </p:tgtEl>
                                        <p:attrNameLst>
                                          <p:attrName>style.visibility</p:attrName>
                                        </p:attrNameLst>
                                      </p:cBhvr>
                                      <p:to>
                                        <p:strVal val="visible"/>
                                      </p:to>
                                    </p:set>
                                    <p:animEffect transition="in" filter="fade">
                                      <p:cBhvr>
                                        <p:cTn id="42" dur="1000"/>
                                        <p:tgtEl>
                                          <p:spTgt spid="2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039"/>
        <p:cNvGrpSpPr/>
        <p:nvPr/>
      </p:nvGrpSpPr>
      <p:grpSpPr>
        <a:xfrm>
          <a:off x="0" y="0"/>
          <a:ext cx="0" cy="0"/>
          <a:chOff x="0" y="0"/>
          <a:chExt cx="0" cy="0"/>
        </a:xfrm>
      </p:grpSpPr>
      <p:graphicFrame>
        <p:nvGraphicFramePr>
          <p:cNvPr id="2040" name="Google Shape;2040;p89"/>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41" name="Google Shape;2041;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sp>
        <p:nvSpPr>
          <p:cNvPr id="2042" name="Google Shape;2042;p8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43" name="Google Shape;2043;p89"/>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pic>
        <p:nvPicPr>
          <p:cNvPr id="2044" name="Google Shape;2044;p89"/>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45" name="Google Shape;2045;p89"/>
          <p:cNvSpPr txBox="1"/>
          <p:nvPr/>
        </p:nvSpPr>
        <p:spPr>
          <a:xfrm>
            <a:off x="5093650" y="174655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Continuing with your methodical approach, you might choose to place the next queen in the first open square in the next row. </a:t>
            </a:r>
            <a:endParaRPr sz="1200"/>
          </a:p>
        </p:txBody>
      </p:sp>
      <p:grpSp>
        <p:nvGrpSpPr>
          <p:cNvPr id="2046" name="Google Shape;2046;p89"/>
          <p:cNvGrpSpPr/>
          <p:nvPr/>
        </p:nvGrpSpPr>
        <p:grpSpPr>
          <a:xfrm>
            <a:off x="1263401" y="1526582"/>
            <a:ext cx="1221501" cy="1015219"/>
            <a:chOff x="397659" y="1124925"/>
            <a:chExt cx="1221501" cy="1015219"/>
          </a:xfrm>
        </p:grpSpPr>
        <p:pic>
          <p:nvPicPr>
            <p:cNvPr id="2047" name="Google Shape;2047;p89"/>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48" name="Google Shape;2048;p89"/>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
        <p:nvSpPr>
          <p:cNvPr id="2049" name="Google Shape;2049;p89"/>
          <p:cNvSpPr txBox="1"/>
          <p:nvPr/>
        </p:nvSpPr>
        <p:spPr>
          <a:xfrm>
            <a:off x="5093650" y="258475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would eliminate any additional squares that </a:t>
            </a:r>
            <a:r>
              <a:rPr lang="en" sz="1200" i="1"/>
              <a:t>this </a:t>
            </a:r>
            <a:r>
              <a:rPr lang="en" sz="1200"/>
              <a:t>queen can attack. </a:t>
            </a:r>
            <a:endParaRPr sz="1200"/>
          </a:p>
        </p:txBody>
      </p:sp>
      <p:sp>
        <p:nvSpPr>
          <p:cNvPr id="2050" name="Google Shape;2050;p89"/>
          <p:cNvSpPr txBox="1"/>
          <p:nvPr/>
        </p:nvSpPr>
        <p:spPr>
          <a:xfrm>
            <a:off x="5093650" y="3229238"/>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could repeat this process until you have either placed 8 queens on the board or...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5"/>
                                        </p:tgtEl>
                                        <p:attrNameLst>
                                          <p:attrName>style.visibility</p:attrName>
                                        </p:attrNameLst>
                                      </p:cBhvr>
                                      <p:to>
                                        <p:strVal val="visible"/>
                                      </p:to>
                                    </p:set>
                                    <p:animEffect transition="in" filter="fade">
                                      <p:cBhvr>
                                        <p:cTn id="7" dur="1000"/>
                                        <p:tgtEl>
                                          <p:spTgt spid="2045"/>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46"/>
                                        </p:tgtEl>
                                        <p:attrNameLst>
                                          <p:attrName>style.visibility</p:attrName>
                                        </p:attrNameLst>
                                      </p:cBhvr>
                                      <p:to>
                                        <p:strVal val="visible"/>
                                      </p:to>
                                    </p:set>
                                    <p:anim calcmode="lin" valueType="num">
                                      <p:cBhvr additive="base">
                                        <p:cTn id="11" dur="1000"/>
                                        <p:tgtEl>
                                          <p:spTgt spid="2046"/>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49"/>
                                        </p:tgtEl>
                                        <p:attrNameLst>
                                          <p:attrName>style.visibility</p:attrName>
                                        </p:attrNameLst>
                                      </p:cBhvr>
                                      <p:to>
                                        <p:strVal val="visible"/>
                                      </p:to>
                                    </p:set>
                                    <p:animEffect transition="in" filter="fade">
                                      <p:cBhvr>
                                        <p:cTn id="16" dur="1000"/>
                                        <p:tgtEl>
                                          <p:spTgt spid="204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043"/>
                                        </p:tgtEl>
                                        <p:attrNameLst>
                                          <p:attrName>style.visibility</p:attrName>
                                        </p:attrNameLst>
                                      </p:cBhvr>
                                      <p:to>
                                        <p:strVal val="visible"/>
                                      </p:to>
                                    </p:set>
                                    <p:animEffect transition="in" filter="fade">
                                      <p:cBhvr>
                                        <p:cTn id="20" dur="1000"/>
                                        <p:tgtEl>
                                          <p:spTgt spid="204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Effect transition="in" filter="fade">
                                      <p:cBhvr>
                                        <p:cTn id="25"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graphicFrame>
        <p:nvGraphicFramePr>
          <p:cNvPr id="2055" name="Google Shape;2055;p90"/>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56" name="Google Shape;2056;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sp>
        <p:nvSpPr>
          <p:cNvPr id="2057" name="Google Shape;2057;p9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58" name="Google Shape;2058;p90"/>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59" name="Google Shape;2059;p90"/>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pic>
        <p:nvPicPr>
          <p:cNvPr id="2060" name="Google Shape;2060;p90"/>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61" name="Google Shape;2061;p90"/>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62" name="Google Shape;2062;p90"/>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63" name="Google Shape;2063;p90"/>
          <p:cNvPicPr preferRelativeResize="0"/>
          <p:nvPr/>
        </p:nvPicPr>
        <p:blipFill>
          <a:blip r:embed="rId3">
            <a:alphaModFix/>
          </a:blip>
          <a:stretch>
            <a:fillRect/>
          </a:stretch>
        </p:blipFill>
        <p:spPr>
          <a:xfrm>
            <a:off x="2282359" y="3339399"/>
            <a:ext cx="232954" cy="393601"/>
          </a:xfrm>
          <a:prstGeom prst="rect">
            <a:avLst/>
          </a:prstGeom>
          <a:noFill/>
          <a:ln>
            <a:noFill/>
          </a:ln>
        </p:spPr>
      </p:pic>
      <p:sp>
        <p:nvSpPr>
          <p:cNvPr id="2064" name="Google Shape;2064;p90"/>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59"/>
                                        </p:tgtEl>
                                        <p:attrNameLst>
                                          <p:attrName>style.visibility</p:attrName>
                                        </p:attrNameLst>
                                      </p:cBhvr>
                                      <p:to>
                                        <p:strVal val="visible"/>
                                      </p:to>
                                    </p:set>
                                    <p:animEffect transition="in" filter="fade">
                                      <p:cBhvr>
                                        <p:cTn id="7" dur="1000"/>
                                        <p:tgtEl>
                                          <p:spTgt spid="20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64"/>
                                        </p:tgtEl>
                                        <p:attrNameLst>
                                          <p:attrName>style.visibility</p:attrName>
                                        </p:attrNameLst>
                                      </p:cBhvr>
                                      <p:to>
                                        <p:strVal val="visible"/>
                                      </p:to>
                                    </p:set>
                                    <p:animEffect transition="in" filter="fade">
                                      <p:cBhvr>
                                        <p:cTn id="12" dur="1000"/>
                                        <p:tgtEl>
                                          <p:spTgt spid="2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068"/>
        <p:cNvGrpSpPr/>
        <p:nvPr/>
      </p:nvGrpSpPr>
      <p:grpSpPr>
        <a:xfrm>
          <a:off x="0" y="0"/>
          <a:ext cx="0" cy="0"/>
          <a:chOff x="0" y="0"/>
          <a:chExt cx="0" cy="0"/>
        </a:xfrm>
      </p:grpSpPr>
      <p:sp>
        <p:nvSpPr>
          <p:cNvPr id="2069" name="Google Shape;2069;p91"/>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sp>
        <p:nvSpPr>
          <p:cNvPr id="2070" name="Google Shape;2070;p91"/>
          <p:cNvSpPr txBox="1"/>
          <p:nvPr/>
        </p:nvSpPr>
        <p:spPr>
          <a:xfrm>
            <a:off x="5093650" y="311474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can </a:t>
            </a:r>
            <a:r>
              <a:rPr lang="en" sz="1200" b="1" i="1">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71" name="Google Shape;2071;p91"/>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graphicFrame>
        <p:nvGraphicFramePr>
          <p:cNvPr id="2072" name="Google Shape;2072;p91"/>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aphicFrame>
        <p:nvGraphicFramePr>
          <p:cNvPr id="2073" name="Google Shape;2073;p91"/>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74" name="Google Shape;2074;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sp>
        <p:nvSpPr>
          <p:cNvPr id="2075" name="Google Shape;2075;p9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76" name="Google Shape;2076;p91"/>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77" name="Google Shape;2077;p91"/>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78" name="Google Shape;2078;p91"/>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79" name="Google Shape;2079;p91"/>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80" name="Google Shape;2080;p91"/>
          <p:cNvPicPr preferRelativeResize="0"/>
          <p:nvPr/>
        </p:nvPicPr>
        <p:blipFill>
          <a:blip r:embed="rId3">
            <a:alphaModFix/>
          </a:blip>
          <a:stretch>
            <a:fillRect/>
          </a:stretch>
        </p:blipFill>
        <p:spPr>
          <a:xfrm>
            <a:off x="2282359" y="3339399"/>
            <a:ext cx="232954" cy="393601"/>
          </a:xfrm>
          <a:prstGeom prst="rect">
            <a:avLst/>
          </a:prstGeom>
          <a:noFill/>
          <a:ln>
            <a:noFill/>
          </a:ln>
        </p:spPr>
      </p:pic>
      <p:pic>
        <p:nvPicPr>
          <p:cNvPr id="2081" name="Google Shape;2081;p91"/>
          <p:cNvPicPr preferRelativeResize="0"/>
          <p:nvPr/>
        </p:nvPicPr>
        <p:blipFill>
          <a:blip r:embed="rId4">
            <a:alphaModFix/>
          </a:blip>
          <a:stretch>
            <a:fillRect/>
          </a:stretch>
        </p:blipFill>
        <p:spPr>
          <a:xfrm rot="-5400000">
            <a:off x="1871703" y="2518939"/>
            <a:ext cx="822900" cy="12215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70"/>
                                        </p:tgtEl>
                                        <p:attrNameLst>
                                          <p:attrName>style.visibility</p:attrName>
                                        </p:attrNameLst>
                                      </p:cBhvr>
                                      <p:to>
                                        <p:strVal val="visible"/>
                                      </p:to>
                                    </p:set>
                                    <p:animEffect transition="in" filter="fade">
                                      <p:cBhvr>
                                        <p:cTn id="7" dur="1000"/>
                                        <p:tgtEl>
                                          <p:spTgt spid="2070"/>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81"/>
                                        </p:tgtEl>
                                        <p:attrNameLst>
                                          <p:attrName>style.visibility</p:attrName>
                                        </p:attrNameLst>
                                      </p:cBhvr>
                                      <p:to>
                                        <p:strVal val="visible"/>
                                      </p:to>
                                    </p:set>
                                    <p:anim calcmode="lin" valueType="num">
                                      <p:cBhvr additive="base">
                                        <p:cTn id="11" dur="2000"/>
                                        <p:tgtEl>
                                          <p:spTgt spid="2081"/>
                                        </p:tgtEl>
                                        <p:attrNameLst>
                                          <p:attrName>ppt_x</p:attrName>
                                        </p:attrNameLst>
                                      </p:cBhvr>
                                      <p:tavLst>
                                        <p:tav tm="0">
                                          <p:val>
                                            <p:strVal val="#ppt_x+1"/>
                                          </p:val>
                                        </p:tav>
                                        <p:tav tm="100000">
                                          <p:val>
                                            <p:strVal val="#ppt_x"/>
                                          </p:val>
                                        </p:tav>
                                      </p:tavLst>
                                    </p:anim>
                                  </p:childTnLst>
                                </p:cTn>
                              </p:par>
                            </p:childTnLst>
                          </p:cTn>
                        </p:par>
                        <p:par>
                          <p:cTn id="12" fill="hold">
                            <p:stCondLst>
                              <p:cond delay="3000"/>
                            </p:stCondLst>
                            <p:childTnLst>
                              <p:par>
                                <p:cTn id="13" presetID="2" presetClass="exit" presetSubtype="2" fill="hold" nodeType="afterEffect">
                                  <p:stCondLst>
                                    <p:cond delay="0"/>
                                  </p:stCondLst>
                                  <p:childTnLst>
                                    <p:anim calcmode="lin" valueType="num">
                                      <p:cBhvr additive="base">
                                        <p:cTn id="14" dur="2000"/>
                                        <p:tgtEl>
                                          <p:spTgt spid="2081"/>
                                        </p:tgtEl>
                                        <p:attrNameLst>
                                          <p:attrName>ppt_x</p:attrName>
                                        </p:attrNameLst>
                                      </p:cBhvr>
                                      <p:tavLst>
                                        <p:tav tm="0">
                                          <p:val>
                                            <p:strVal val="#ppt_x"/>
                                          </p:val>
                                        </p:tav>
                                        <p:tav tm="100000">
                                          <p:val>
                                            <p:strVal val="#ppt_x+1"/>
                                          </p:val>
                                        </p:tav>
                                      </p:tavLst>
                                    </p:anim>
                                    <p:set>
                                      <p:cBhvr>
                                        <p:cTn id="15" dur="1" fill="hold">
                                          <p:stCondLst>
                                            <p:cond delay="2000"/>
                                          </p:stCondLst>
                                        </p:cTn>
                                        <p:tgtEl>
                                          <p:spTgt spid="2081"/>
                                        </p:tgtEl>
                                        <p:attrNameLst>
                                          <p:attrName>style.visibility</p:attrName>
                                        </p:attrNameLst>
                                      </p:cBhvr>
                                      <p:to>
                                        <p:strVal val="hidden"/>
                                      </p:to>
                                    </p:set>
                                  </p:childTnLst>
                                </p:cTn>
                              </p:par>
                              <p:par>
                                <p:cTn id="16" presetID="2" presetClass="exit" presetSubtype="2" fill="hold" nodeType="withEffect">
                                  <p:stCondLst>
                                    <p:cond delay="0"/>
                                  </p:stCondLst>
                                  <p:childTnLst>
                                    <p:anim calcmode="lin" valueType="num">
                                      <p:cBhvr additive="base">
                                        <p:cTn id="17" dur="2000"/>
                                        <p:tgtEl>
                                          <p:spTgt spid="2080"/>
                                        </p:tgtEl>
                                        <p:attrNameLst>
                                          <p:attrName>ppt_x</p:attrName>
                                        </p:attrNameLst>
                                      </p:cBhvr>
                                      <p:tavLst>
                                        <p:tav tm="0">
                                          <p:val>
                                            <p:strVal val="#ppt_x"/>
                                          </p:val>
                                        </p:tav>
                                        <p:tav tm="100000">
                                          <p:val>
                                            <p:strVal val="#ppt_x+1"/>
                                          </p:val>
                                        </p:tav>
                                      </p:tavLst>
                                    </p:anim>
                                    <p:set>
                                      <p:cBhvr>
                                        <p:cTn id="18" dur="1" fill="hold">
                                          <p:stCondLst>
                                            <p:cond delay="2000"/>
                                          </p:stCondLst>
                                        </p:cTn>
                                        <p:tgtEl>
                                          <p:spTgt spid="2080"/>
                                        </p:tgtEl>
                                        <p:attrNameLst>
                                          <p:attrName>style.visibility</p:attrName>
                                        </p:attrNameLst>
                                      </p:cBhvr>
                                      <p:to>
                                        <p:strVal val="hidden"/>
                                      </p:to>
                                    </p:set>
                                  </p:childTnLst>
                                </p:cTn>
                              </p:par>
                            </p:childTnLst>
                          </p:cTn>
                        </p:par>
                        <p:par>
                          <p:cTn id="19" fill="hold">
                            <p:stCondLst>
                              <p:cond delay="5000"/>
                            </p:stCondLst>
                            <p:childTnLst>
                              <p:par>
                                <p:cTn id="20" presetID="10" presetClass="entr" presetSubtype="0" fill="hold" nodeType="afterEffect">
                                  <p:stCondLst>
                                    <p:cond delay="0"/>
                                  </p:stCondLst>
                                  <p:childTnLst>
                                    <p:set>
                                      <p:cBhvr>
                                        <p:cTn id="21" dur="1" fill="hold">
                                          <p:stCondLst>
                                            <p:cond delay="0"/>
                                          </p:stCondLst>
                                        </p:cTn>
                                        <p:tgtEl>
                                          <p:spTgt spid="2073"/>
                                        </p:tgtEl>
                                        <p:attrNameLst>
                                          <p:attrName>style.visibility</p:attrName>
                                        </p:attrNameLst>
                                      </p:cBhvr>
                                      <p:to>
                                        <p:strVal val="visible"/>
                                      </p:to>
                                    </p:set>
                                    <p:animEffect transition="in" filter="fade">
                                      <p:cBhvr>
                                        <p:cTn id="22" dur="1000"/>
                                        <p:tgtEl>
                                          <p:spTgt spid="2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graphicFrame>
        <p:nvGraphicFramePr>
          <p:cNvPr id="2086" name="Google Shape;2086;p92"/>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aphicFrame>
        <p:nvGraphicFramePr>
          <p:cNvPr id="2087" name="Google Shape;2087;p92"/>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88" name="Google Shape;2088;p92"/>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sp>
        <p:nvSpPr>
          <p:cNvPr id="2089" name="Google Shape;2089;p92"/>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sp>
        <p:nvSpPr>
          <p:cNvPr id="2090" name="Google Shape;2090;p92"/>
          <p:cNvSpPr txBox="1"/>
          <p:nvPr/>
        </p:nvSpPr>
        <p:spPr>
          <a:xfrm>
            <a:off x="5093650" y="311474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can </a:t>
            </a:r>
            <a:r>
              <a:rPr lang="en" sz="1200" b="1" i="1">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91" name="Google Shape;2091;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74</a:t>
            </a:fld>
            <a:endParaRPr/>
          </a:p>
        </p:txBody>
      </p:sp>
      <p:sp>
        <p:nvSpPr>
          <p:cNvPr id="2092" name="Google Shape;2092;p9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93" name="Google Shape;2093;p92"/>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94" name="Google Shape;2094;p92"/>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95" name="Google Shape;2095;p92"/>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96" name="Google Shape;2096;p92"/>
          <p:cNvPicPr preferRelativeResize="0"/>
          <p:nvPr/>
        </p:nvPicPr>
        <p:blipFill>
          <a:blip r:embed="rId3">
            <a:alphaModFix/>
          </a:blip>
          <a:stretch>
            <a:fillRect/>
          </a:stretch>
        </p:blipFill>
        <p:spPr>
          <a:xfrm>
            <a:off x="1443700" y="2944628"/>
            <a:ext cx="232954" cy="393601"/>
          </a:xfrm>
          <a:prstGeom prst="rect">
            <a:avLst/>
          </a:prstGeom>
          <a:noFill/>
          <a:ln>
            <a:noFill/>
          </a:ln>
        </p:spPr>
      </p:pic>
      <p:sp>
        <p:nvSpPr>
          <p:cNvPr id="2097" name="Google Shape;2097;p92"/>
          <p:cNvSpPr txBox="1"/>
          <p:nvPr/>
        </p:nvSpPr>
        <p:spPr>
          <a:xfrm>
            <a:off x="5093650" y="380054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then try playing it on a different square instead, which will hopefully leave you with a few more options.</a:t>
            </a:r>
            <a:endParaRPr sz="1200"/>
          </a:p>
        </p:txBody>
      </p:sp>
      <p:grpSp>
        <p:nvGrpSpPr>
          <p:cNvPr id="2098" name="Google Shape;2098;p92"/>
          <p:cNvGrpSpPr/>
          <p:nvPr/>
        </p:nvGrpSpPr>
        <p:grpSpPr>
          <a:xfrm>
            <a:off x="3397001" y="2717780"/>
            <a:ext cx="1221500" cy="1015219"/>
            <a:chOff x="397659" y="1124925"/>
            <a:chExt cx="1221501" cy="1015219"/>
          </a:xfrm>
        </p:grpSpPr>
        <p:pic>
          <p:nvPicPr>
            <p:cNvPr id="2099" name="Google Shape;2099;p92"/>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100" name="Google Shape;2100;p92"/>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97"/>
                                        </p:tgtEl>
                                        <p:attrNameLst>
                                          <p:attrName>style.visibility</p:attrName>
                                        </p:attrNameLst>
                                      </p:cBhvr>
                                      <p:to>
                                        <p:strVal val="visible"/>
                                      </p:to>
                                    </p:set>
                                    <p:animEffect transition="in" filter="fade">
                                      <p:cBhvr>
                                        <p:cTn id="7" dur="1000"/>
                                        <p:tgtEl>
                                          <p:spTgt spid="2097"/>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98"/>
                                        </p:tgtEl>
                                        <p:attrNameLst>
                                          <p:attrName>style.visibility</p:attrName>
                                        </p:attrNameLst>
                                      </p:cBhvr>
                                      <p:to>
                                        <p:strVal val="visible"/>
                                      </p:to>
                                    </p:set>
                                    <p:anim calcmode="lin" valueType="num">
                                      <p:cBhvr additive="base">
                                        <p:cTn id="11" dur="1000"/>
                                        <p:tgtEl>
                                          <p:spTgt spid="2098"/>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087"/>
                                        </p:tgtEl>
                                        <p:attrNameLst>
                                          <p:attrName>style.visibility</p:attrName>
                                        </p:attrNameLst>
                                      </p:cBhvr>
                                      <p:to>
                                        <p:strVal val="visible"/>
                                      </p:to>
                                    </p:set>
                                    <p:animEffect transition="in" filter="fade">
                                      <p:cBhvr>
                                        <p:cTn id="15" dur="1000"/>
                                        <p:tgtEl>
                                          <p:spTgt spid="2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graphicFrame>
        <p:nvGraphicFramePr>
          <p:cNvPr id="2105" name="Google Shape;2105;p93"/>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106" name="Google Shape;2106;p93"/>
          <p:cNvSpPr txBox="1"/>
          <p:nvPr/>
        </p:nvSpPr>
        <p:spPr>
          <a:xfrm>
            <a:off x="5093650" y="1750026"/>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Eventually, no matter where you try to play the last queen, you may have no choice but to </a:t>
            </a:r>
            <a:r>
              <a:rPr lang="en" sz="1200" b="1" i="1">
                <a:solidFill>
                  <a:srgbClr val="FF0000"/>
                </a:solidFill>
              </a:rPr>
              <a:t>backtrack farther</a:t>
            </a:r>
            <a:r>
              <a:rPr lang="en" sz="1200">
                <a:solidFill>
                  <a:srgbClr val="FF0000"/>
                </a:solidFill>
              </a:rPr>
              <a:t> </a:t>
            </a:r>
            <a:r>
              <a:rPr lang="en" sz="1200"/>
              <a:t>and pick up the last several queens.</a:t>
            </a:r>
            <a:endParaRPr sz="1200"/>
          </a:p>
        </p:txBody>
      </p:sp>
      <p:sp>
        <p:nvSpPr>
          <p:cNvPr id="2107" name="Google Shape;2107;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75</a:t>
            </a:fld>
            <a:endParaRPr/>
          </a:p>
        </p:txBody>
      </p:sp>
      <p:sp>
        <p:nvSpPr>
          <p:cNvPr id="2108" name="Google Shape;2108;p9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109" name="Google Shape;2109;p93"/>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110" name="Google Shape;2110;p93"/>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111" name="Google Shape;2111;p93"/>
          <p:cNvPicPr preferRelativeResize="0"/>
          <p:nvPr/>
        </p:nvPicPr>
        <p:blipFill>
          <a:blip r:embed="rId3">
            <a:alphaModFix/>
          </a:blip>
          <a:stretch>
            <a:fillRect/>
          </a:stretch>
        </p:blipFill>
        <p:spPr>
          <a:xfrm>
            <a:off x="2704672" y="2549857"/>
            <a:ext cx="232954" cy="393601"/>
          </a:xfrm>
          <a:prstGeom prst="rect">
            <a:avLst/>
          </a:prstGeom>
          <a:noFill/>
          <a:ln>
            <a:noFill/>
          </a:ln>
        </p:spPr>
      </p:pic>
      <p:grpSp>
        <p:nvGrpSpPr>
          <p:cNvPr id="2112" name="Google Shape;2112;p93"/>
          <p:cNvGrpSpPr/>
          <p:nvPr/>
        </p:nvGrpSpPr>
        <p:grpSpPr>
          <a:xfrm>
            <a:off x="1443700" y="2944628"/>
            <a:ext cx="2782441" cy="1979571"/>
            <a:chOff x="1443700" y="2944628"/>
            <a:chExt cx="2782441" cy="1979571"/>
          </a:xfrm>
        </p:grpSpPr>
        <p:pic>
          <p:nvPicPr>
            <p:cNvPr id="2113" name="Google Shape;2113;p93"/>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114" name="Google Shape;2114;p93"/>
            <p:cNvPicPr preferRelativeResize="0"/>
            <p:nvPr/>
          </p:nvPicPr>
          <p:blipFill>
            <a:blip r:embed="rId3">
              <a:alphaModFix/>
            </a:blip>
            <a:stretch>
              <a:fillRect/>
            </a:stretch>
          </p:blipFill>
          <p:spPr>
            <a:xfrm>
              <a:off x="3993186" y="3339399"/>
              <a:ext cx="232954" cy="393601"/>
            </a:xfrm>
            <a:prstGeom prst="rect">
              <a:avLst/>
            </a:prstGeom>
            <a:noFill/>
            <a:ln>
              <a:noFill/>
            </a:ln>
          </p:spPr>
        </p:pic>
        <p:pic>
          <p:nvPicPr>
            <p:cNvPr id="2115" name="Google Shape;2115;p93"/>
            <p:cNvPicPr preferRelativeResize="0"/>
            <p:nvPr/>
          </p:nvPicPr>
          <p:blipFill>
            <a:blip r:embed="rId3">
              <a:alphaModFix/>
            </a:blip>
            <a:stretch>
              <a:fillRect/>
            </a:stretch>
          </p:blipFill>
          <p:spPr>
            <a:xfrm>
              <a:off x="2275014" y="4135827"/>
              <a:ext cx="232954" cy="393601"/>
            </a:xfrm>
            <a:prstGeom prst="rect">
              <a:avLst/>
            </a:prstGeom>
            <a:noFill/>
            <a:ln>
              <a:noFill/>
            </a:ln>
          </p:spPr>
        </p:pic>
        <p:pic>
          <p:nvPicPr>
            <p:cNvPr id="2116" name="Google Shape;2116;p93"/>
            <p:cNvPicPr preferRelativeResize="0"/>
            <p:nvPr/>
          </p:nvPicPr>
          <p:blipFill>
            <a:blip r:embed="rId3">
              <a:alphaModFix/>
            </a:blip>
            <a:stretch>
              <a:fillRect/>
            </a:stretch>
          </p:blipFill>
          <p:spPr>
            <a:xfrm>
              <a:off x="3556643" y="4530598"/>
              <a:ext cx="232954" cy="393601"/>
            </a:xfrm>
            <a:prstGeom prst="rect">
              <a:avLst/>
            </a:prstGeom>
            <a:noFill/>
            <a:ln>
              <a:noFill/>
            </a:ln>
          </p:spPr>
        </p:pic>
      </p:grpSp>
      <p:sp>
        <p:nvSpPr>
          <p:cNvPr id="2117" name="Google Shape;2117;p93"/>
          <p:cNvSpPr txBox="1"/>
          <p:nvPr/>
        </p:nvSpPr>
        <p:spPr>
          <a:xfrm>
            <a:off x="5093650" y="2588226"/>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may even have to </a:t>
            </a:r>
            <a:r>
              <a:rPr lang="en" sz="1200" b="1" i="1">
                <a:solidFill>
                  <a:srgbClr val="FF0000"/>
                </a:solidFill>
              </a:rPr>
              <a:t>backtrack</a:t>
            </a:r>
            <a:r>
              <a:rPr lang="en" sz="1200">
                <a:solidFill>
                  <a:srgbClr val="FF0000"/>
                </a:solidFill>
              </a:rPr>
              <a:t> </a:t>
            </a:r>
            <a:r>
              <a:rPr lang="en" sz="1200"/>
              <a:t>all the way to the </a:t>
            </a:r>
            <a:r>
              <a:rPr lang="en" sz="1200" b="1" i="1">
                <a:solidFill>
                  <a:srgbClr val="FF0000"/>
                </a:solidFill>
              </a:rPr>
              <a:t>very first queen</a:t>
            </a:r>
            <a:r>
              <a:rPr lang="en" sz="1200"/>
              <a:t> that you placed on the board and try </a:t>
            </a:r>
            <a:r>
              <a:rPr lang="en" sz="1200" b="1" i="1">
                <a:solidFill>
                  <a:srgbClr val="FF0000"/>
                </a:solidFill>
              </a:rPr>
              <a:t>it</a:t>
            </a:r>
            <a:r>
              <a:rPr lang="en" sz="1200"/>
              <a:t> in a different spot!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6"/>
                                        </p:tgtEl>
                                        <p:attrNameLst>
                                          <p:attrName>style.visibility</p:attrName>
                                        </p:attrNameLst>
                                      </p:cBhvr>
                                      <p:to>
                                        <p:strVal val="visible"/>
                                      </p:to>
                                    </p:set>
                                    <p:animEffect transition="in" filter="fade">
                                      <p:cBhvr>
                                        <p:cTn id="7" dur="1000"/>
                                        <p:tgtEl>
                                          <p:spTgt spid="2106"/>
                                        </p:tgtEl>
                                      </p:cBhvr>
                                    </p:animEffect>
                                  </p:childTnLst>
                                </p:cTn>
                              </p:par>
                            </p:childTnLst>
                          </p:cTn>
                        </p:par>
                        <p:par>
                          <p:cTn id="8" fill="hold">
                            <p:stCondLst>
                              <p:cond delay="1000"/>
                            </p:stCondLst>
                            <p:childTnLst>
                              <p:par>
                                <p:cTn id="9" presetID="10" presetClass="exit" presetSubtype="0" fill="hold" nodeType="afterEffect">
                                  <p:stCondLst>
                                    <p:cond delay="0"/>
                                  </p:stCondLst>
                                  <p:childTnLst>
                                    <p:animEffect transition="out" filter="fade">
                                      <p:cBhvr>
                                        <p:cTn id="10" dur="1000"/>
                                        <p:tgtEl>
                                          <p:spTgt spid="2112"/>
                                        </p:tgtEl>
                                      </p:cBhvr>
                                    </p:animEffect>
                                    <p:set>
                                      <p:cBhvr>
                                        <p:cTn id="11" dur="1" fill="hold">
                                          <p:stCondLst>
                                            <p:cond delay="1000"/>
                                          </p:stCondLst>
                                        </p:cTn>
                                        <p:tgtEl>
                                          <p:spTgt spid="211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17"/>
                                        </p:tgtEl>
                                        <p:attrNameLst>
                                          <p:attrName>style.visibility</p:attrName>
                                        </p:attrNameLst>
                                      </p:cBhvr>
                                      <p:to>
                                        <p:strVal val="visible"/>
                                      </p:to>
                                    </p:set>
                                    <p:animEffect transition="in" filter="fade">
                                      <p:cBhvr>
                                        <p:cTn id="16" dur="1000"/>
                                        <p:tgtEl>
                                          <p:spTgt spid="2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9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N Queens Problem</a:t>
            </a:r>
            <a:endParaRPr/>
          </a:p>
        </p:txBody>
      </p:sp>
      <p:sp>
        <p:nvSpPr>
          <p:cNvPr id="2123" name="Google Shape;2123;p94"/>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Before designing a backtracking algorithm to solve the N-Queens problem, you should try it yourself! Your repository includes a JavaFX GUI that you can use to try to solve the N-Queens problem. Run the application now and see if you can solve the default configuration (8 queens).</a:t>
            </a:r>
            <a:endParaRPr sz="1100"/>
          </a:p>
        </p:txBody>
      </p:sp>
      <p:sp>
        <p:nvSpPr>
          <p:cNvPr id="2124" name="Google Shape;2124;p9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76</a:t>
            </a:fld>
            <a:endParaRPr/>
          </a:p>
        </p:txBody>
      </p:sp>
      <p:sp>
        <p:nvSpPr>
          <p:cNvPr id="2125" name="Google Shape;2125;p9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13.25</a:t>
            </a:r>
            <a:endParaRPr/>
          </a:p>
        </p:txBody>
      </p:sp>
      <p:pic>
        <p:nvPicPr>
          <p:cNvPr id="2126" name="Google Shape;2126;p94"/>
          <p:cNvPicPr preferRelativeResize="0"/>
          <p:nvPr/>
        </p:nvPicPr>
        <p:blipFill>
          <a:blip r:embed="rId3">
            <a:alphaModFix/>
          </a:blip>
          <a:stretch>
            <a:fillRect/>
          </a:stretch>
        </p:blipFill>
        <p:spPr>
          <a:xfrm>
            <a:off x="460124" y="1694050"/>
            <a:ext cx="1982040" cy="2634362"/>
          </a:xfrm>
          <a:prstGeom prst="rect">
            <a:avLst/>
          </a:prstGeom>
          <a:noFill/>
          <a:ln>
            <a:noFill/>
          </a:ln>
        </p:spPr>
      </p:pic>
      <p:sp>
        <p:nvSpPr>
          <p:cNvPr id="2127" name="Google Shape;2127;p94"/>
          <p:cNvSpPr txBox="1"/>
          <p:nvPr/>
        </p:nvSpPr>
        <p:spPr>
          <a:xfrm>
            <a:off x="221900" y="4443650"/>
            <a:ext cx="245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Note that the "</a:t>
            </a:r>
            <a:r>
              <a:rPr lang="en" sz="1200">
                <a:latin typeface="Courier New"/>
                <a:ea typeface="Courier New"/>
                <a:cs typeface="Courier New"/>
                <a:sym typeface="Courier New"/>
              </a:rPr>
              <a:t>Solve</a:t>
            </a:r>
            <a:r>
              <a:rPr lang="en" sz="1200">
                <a:latin typeface="Roboto"/>
                <a:ea typeface="Roboto"/>
                <a:cs typeface="Roboto"/>
                <a:sym typeface="Roboto"/>
              </a:rPr>
              <a:t>" button is not yet implemented!</a:t>
            </a:r>
            <a:endParaRPr sz="1200">
              <a:latin typeface="Roboto"/>
              <a:ea typeface="Roboto"/>
              <a:cs typeface="Roboto"/>
              <a:sym typeface="Roboto"/>
            </a:endParaRPr>
          </a:p>
        </p:txBody>
      </p:sp>
      <p:sp>
        <p:nvSpPr>
          <p:cNvPr id="2128" name="Google Shape;2128;p94"/>
          <p:cNvSpPr txBox="1">
            <a:spLocks noGrp="1"/>
          </p:cNvSpPr>
          <p:nvPr>
            <p:ph type="body" idx="2"/>
          </p:nvPr>
        </p:nvSpPr>
        <p:spPr>
          <a:xfrm>
            <a:off x="2717750" y="1555675"/>
            <a:ext cx="6260700" cy="3267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You will find the </a:t>
            </a:r>
            <a:r>
              <a:rPr lang="en" sz="1600">
                <a:solidFill>
                  <a:srgbClr val="FF0000"/>
                </a:solidFill>
                <a:latin typeface="Courier New"/>
                <a:ea typeface="Courier New"/>
                <a:cs typeface="Courier New"/>
                <a:sym typeface="Courier New"/>
              </a:rPr>
              <a:t>queens.view.NQueensGUI</a:t>
            </a:r>
            <a:r>
              <a:rPr lang="en" sz="1600"/>
              <a:t> application in your repository.</a:t>
            </a:r>
            <a:endParaRPr sz="1600"/>
          </a:p>
          <a:p>
            <a:pPr marL="914400" lvl="1" indent="-317500" algn="l" rtl="0">
              <a:spcBef>
                <a:spcPts val="0"/>
              </a:spcBef>
              <a:spcAft>
                <a:spcPts val="0"/>
              </a:spcAft>
              <a:buSzPts val="1400"/>
              <a:buChar char="○"/>
            </a:pPr>
            <a:r>
              <a:rPr lang="en" sz="1400"/>
              <a:t>It is configured to launch with an 8x8 board by default.</a:t>
            </a:r>
            <a:endParaRPr sz="1400"/>
          </a:p>
          <a:p>
            <a:pPr marL="914400" lvl="1" indent="-317500" algn="l" rtl="0">
              <a:spcBef>
                <a:spcPts val="0"/>
              </a:spcBef>
              <a:spcAft>
                <a:spcPts val="0"/>
              </a:spcAft>
              <a:buSzPts val="1400"/>
              <a:buChar char="○"/>
            </a:pPr>
            <a:r>
              <a:rPr lang="en" sz="1400"/>
              <a:t>Click to place a queen on any square. Click again to remove the queen.</a:t>
            </a:r>
            <a:endParaRPr sz="1400"/>
          </a:p>
          <a:p>
            <a:pPr marL="914400" lvl="1" indent="-317500" algn="l" rtl="0">
              <a:spcBef>
                <a:spcPts val="0"/>
              </a:spcBef>
              <a:spcAft>
                <a:spcPts val="0"/>
              </a:spcAft>
              <a:buSzPts val="1400"/>
              <a:buChar char="○"/>
            </a:pPr>
            <a:r>
              <a:rPr lang="en" sz="1400"/>
              <a:t>Invalid squares are marked in </a:t>
            </a:r>
            <a:r>
              <a:rPr lang="en" sz="1400" b="1" i="1">
                <a:solidFill>
                  <a:srgbClr val="FF0000"/>
                </a:solidFill>
              </a:rPr>
              <a:t>red</a:t>
            </a:r>
            <a:r>
              <a:rPr lang="en" sz="1400"/>
              <a:t> - you won't be able to place a queen there.</a:t>
            </a:r>
            <a:endParaRPr sz="1400"/>
          </a:p>
          <a:p>
            <a:pPr marL="457200" lvl="0" indent="-330200" algn="l" rtl="0">
              <a:spcBef>
                <a:spcPts val="0"/>
              </a:spcBef>
              <a:spcAft>
                <a:spcPts val="0"/>
              </a:spcAft>
              <a:buSzPts val="1600"/>
              <a:buChar char="●"/>
            </a:pPr>
            <a:r>
              <a:rPr lang="en" sz="1600"/>
              <a:t>You may change the size of the board by closing the application, and launching with a </a:t>
            </a:r>
            <a:r>
              <a:rPr lang="en" sz="1600" b="1" i="1">
                <a:solidFill>
                  <a:srgbClr val="FF0000"/>
                </a:solidFill>
              </a:rPr>
              <a:t>command line argument</a:t>
            </a:r>
            <a:r>
              <a:rPr lang="en" sz="1600"/>
              <a:t>.</a:t>
            </a:r>
            <a:endParaRPr sz="1600"/>
          </a:p>
          <a:p>
            <a:pPr marL="914400" lvl="1" indent="-317500" algn="l" rtl="0">
              <a:spcBef>
                <a:spcPts val="0"/>
              </a:spcBef>
              <a:spcAft>
                <a:spcPts val="0"/>
              </a:spcAft>
              <a:buSzPts val="1400"/>
              <a:buChar char="○"/>
            </a:pPr>
            <a:r>
              <a:rPr lang="en" sz="1400"/>
              <a:t>Press the up-arrow in the terminal to recall the last command.</a:t>
            </a:r>
            <a:endParaRPr sz="1400"/>
          </a:p>
          <a:p>
            <a:pPr marL="914400" lvl="1" indent="-317500" algn="l" rtl="0">
              <a:spcBef>
                <a:spcPts val="0"/>
              </a:spcBef>
              <a:spcAft>
                <a:spcPts val="0"/>
              </a:spcAft>
              <a:buSzPts val="1400"/>
              <a:buChar char="○"/>
            </a:pPr>
            <a:r>
              <a:rPr lang="en" sz="1400"/>
              <a:t>Type the size of the board after the command, e.g. </a:t>
            </a:r>
            <a:r>
              <a:rPr lang="en" sz="1400">
                <a:latin typeface="Courier New"/>
                <a:ea typeface="Courier New"/>
                <a:cs typeface="Courier New"/>
                <a:sym typeface="Courier New"/>
              </a:rPr>
              <a:t>4</a:t>
            </a:r>
            <a:r>
              <a:rPr lang="en" sz="1400"/>
              <a:t>, then press enter to run it.</a:t>
            </a:r>
            <a:endParaRPr sz="14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graphicFrame>
        <p:nvGraphicFramePr>
          <p:cNvPr id="2133" name="Google Shape;2133;p95"/>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134" name="Google Shape;2134;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77</a:t>
            </a:fld>
            <a:endParaRPr/>
          </a:p>
        </p:txBody>
      </p:sp>
      <p:sp>
        <p:nvSpPr>
          <p:cNvPr id="2135" name="Google Shape;2135;p9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pSp>
        <p:nvGrpSpPr>
          <p:cNvPr id="2136" name="Google Shape;2136;p95"/>
          <p:cNvGrpSpPr/>
          <p:nvPr/>
        </p:nvGrpSpPr>
        <p:grpSpPr>
          <a:xfrm>
            <a:off x="1012210" y="1750029"/>
            <a:ext cx="3215291" cy="3165617"/>
            <a:chOff x="1012210" y="1750029"/>
            <a:chExt cx="3215291" cy="3165617"/>
          </a:xfrm>
        </p:grpSpPr>
        <p:pic>
          <p:nvPicPr>
            <p:cNvPr id="2137" name="Google Shape;2137;p95"/>
            <p:cNvPicPr preferRelativeResize="0"/>
            <p:nvPr/>
          </p:nvPicPr>
          <p:blipFill>
            <a:blip r:embed="rId3">
              <a:alphaModFix/>
            </a:blip>
            <a:stretch>
              <a:fillRect/>
            </a:stretch>
          </p:blipFill>
          <p:spPr>
            <a:xfrm>
              <a:off x="1877501" y="1750029"/>
              <a:ext cx="232954" cy="393601"/>
            </a:xfrm>
            <a:prstGeom prst="rect">
              <a:avLst/>
            </a:prstGeom>
            <a:noFill/>
            <a:ln>
              <a:noFill/>
            </a:ln>
          </p:spPr>
        </p:pic>
        <p:pic>
          <p:nvPicPr>
            <p:cNvPr id="2138" name="Google Shape;2138;p95"/>
            <p:cNvPicPr preferRelativeResize="0"/>
            <p:nvPr/>
          </p:nvPicPr>
          <p:blipFill>
            <a:blip r:embed="rId3">
              <a:alphaModFix/>
            </a:blip>
            <a:stretch>
              <a:fillRect/>
            </a:stretch>
          </p:blipFill>
          <p:spPr>
            <a:xfrm>
              <a:off x="3135707" y="2143625"/>
              <a:ext cx="232954" cy="393601"/>
            </a:xfrm>
            <a:prstGeom prst="rect">
              <a:avLst/>
            </a:prstGeom>
            <a:noFill/>
            <a:ln>
              <a:noFill/>
            </a:ln>
          </p:spPr>
        </p:pic>
        <p:pic>
          <p:nvPicPr>
            <p:cNvPr id="2139" name="Google Shape;2139;p95"/>
            <p:cNvPicPr preferRelativeResize="0"/>
            <p:nvPr/>
          </p:nvPicPr>
          <p:blipFill>
            <a:blip r:embed="rId3">
              <a:alphaModFix/>
            </a:blip>
            <a:stretch>
              <a:fillRect/>
            </a:stretch>
          </p:blipFill>
          <p:spPr>
            <a:xfrm>
              <a:off x="3994547" y="2544118"/>
              <a:ext cx="232954" cy="393601"/>
            </a:xfrm>
            <a:prstGeom prst="rect">
              <a:avLst/>
            </a:prstGeom>
            <a:noFill/>
            <a:ln>
              <a:noFill/>
            </a:ln>
          </p:spPr>
        </p:pic>
        <p:pic>
          <p:nvPicPr>
            <p:cNvPr id="2140" name="Google Shape;2140;p95"/>
            <p:cNvPicPr preferRelativeResize="0"/>
            <p:nvPr/>
          </p:nvPicPr>
          <p:blipFill>
            <a:blip r:embed="rId3">
              <a:alphaModFix/>
            </a:blip>
            <a:stretch>
              <a:fillRect/>
            </a:stretch>
          </p:blipFill>
          <p:spPr>
            <a:xfrm>
              <a:off x="1012210" y="2937728"/>
              <a:ext cx="232954" cy="393601"/>
            </a:xfrm>
            <a:prstGeom prst="rect">
              <a:avLst/>
            </a:prstGeom>
            <a:noFill/>
            <a:ln>
              <a:noFill/>
            </a:ln>
          </p:spPr>
        </p:pic>
        <p:pic>
          <p:nvPicPr>
            <p:cNvPr id="2141" name="Google Shape;2141;p95"/>
            <p:cNvPicPr preferRelativeResize="0"/>
            <p:nvPr/>
          </p:nvPicPr>
          <p:blipFill>
            <a:blip r:embed="rId3">
              <a:alphaModFix/>
            </a:blip>
            <a:stretch>
              <a:fillRect/>
            </a:stretch>
          </p:blipFill>
          <p:spPr>
            <a:xfrm>
              <a:off x="2707886" y="4127274"/>
              <a:ext cx="232954" cy="393601"/>
            </a:xfrm>
            <a:prstGeom prst="rect">
              <a:avLst/>
            </a:prstGeom>
            <a:noFill/>
            <a:ln>
              <a:noFill/>
            </a:ln>
          </p:spPr>
        </p:pic>
        <p:pic>
          <p:nvPicPr>
            <p:cNvPr id="2142" name="Google Shape;2142;p95"/>
            <p:cNvPicPr preferRelativeResize="0"/>
            <p:nvPr/>
          </p:nvPicPr>
          <p:blipFill>
            <a:blip r:embed="rId3">
              <a:alphaModFix/>
            </a:blip>
            <a:stretch>
              <a:fillRect/>
            </a:stretch>
          </p:blipFill>
          <p:spPr>
            <a:xfrm>
              <a:off x="2284167" y="3330230"/>
              <a:ext cx="232954" cy="393601"/>
            </a:xfrm>
            <a:prstGeom prst="rect">
              <a:avLst/>
            </a:prstGeom>
            <a:noFill/>
            <a:ln>
              <a:noFill/>
            </a:ln>
          </p:spPr>
        </p:pic>
        <p:pic>
          <p:nvPicPr>
            <p:cNvPr id="2143" name="Google Shape;2143;p95"/>
            <p:cNvPicPr preferRelativeResize="0"/>
            <p:nvPr/>
          </p:nvPicPr>
          <p:blipFill>
            <a:blip r:embed="rId3">
              <a:alphaModFix/>
            </a:blip>
            <a:stretch>
              <a:fillRect/>
            </a:stretch>
          </p:blipFill>
          <p:spPr>
            <a:xfrm>
              <a:off x="3558928" y="3745641"/>
              <a:ext cx="232954" cy="393601"/>
            </a:xfrm>
            <a:prstGeom prst="rect">
              <a:avLst/>
            </a:prstGeom>
            <a:noFill/>
            <a:ln>
              <a:noFill/>
            </a:ln>
          </p:spPr>
        </p:pic>
        <p:pic>
          <p:nvPicPr>
            <p:cNvPr id="2144" name="Google Shape;2144;p95"/>
            <p:cNvPicPr preferRelativeResize="0"/>
            <p:nvPr/>
          </p:nvPicPr>
          <p:blipFill>
            <a:blip r:embed="rId3">
              <a:alphaModFix/>
            </a:blip>
            <a:stretch>
              <a:fillRect/>
            </a:stretch>
          </p:blipFill>
          <p:spPr>
            <a:xfrm>
              <a:off x="1440028" y="4522045"/>
              <a:ext cx="232954" cy="393601"/>
            </a:xfrm>
            <a:prstGeom prst="rect">
              <a:avLst/>
            </a:prstGeom>
            <a:noFill/>
            <a:ln>
              <a:noFill/>
            </a:ln>
          </p:spPr>
        </p:pic>
      </p:grpSp>
      <p:sp>
        <p:nvSpPr>
          <p:cNvPr id="2145" name="Google Shape;2145;p95"/>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t>
            </a:r>
            <a:r>
              <a:rPr lang="en" sz="1200" b="1" i="1">
                <a:solidFill>
                  <a:srgbClr val="FF0000"/>
                </a:solidFill>
              </a:rPr>
              <a:t>is</a:t>
            </a:r>
            <a:r>
              <a:rPr lang="en" sz="1200"/>
              <a:t> a valid solution for the 8-Queens Problem.</a:t>
            </a:r>
            <a:endParaRPr sz="1200"/>
          </a:p>
        </p:txBody>
      </p:sp>
      <p:sp>
        <p:nvSpPr>
          <p:cNvPr id="2146" name="Google Shape;2146;p95"/>
          <p:cNvSpPr txBox="1"/>
          <p:nvPr/>
        </p:nvSpPr>
        <p:spPr>
          <a:xfrm>
            <a:off x="5093650" y="2435826"/>
            <a:ext cx="3599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are actually </a:t>
            </a:r>
            <a:r>
              <a:rPr lang="en" sz="1200" b="1" i="1">
                <a:solidFill>
                  <a:srgbClr val="FF0000"/>
                </a:solidFill>
              </a:rPr>
              <a:t>lots</a:t>
            </a:r>
            <a:r>
              <a:rPr lang="en" sz="1200">
                <a:solidFill>
                  <a:srgbClr val="FF0000"/>
                </a:solidFill>
              </a:rPr>
              <a:t> </a:t>
            </a:r>
            <a:r>
              <a:rPr lang="en" sz="1200"/>
              <a:t>of solutions.</a:t>
            </a:r>
            <a:endParaRPr sz="1200"/>
          </a:p>
        </p:txBody>
      </p:sp>
      <p:sp>
        <p:nvSpPr>
          <p:cNvPr id="2147" name="Google Shape;2147;p95"/>
          <p:cNvSpPr txBox="1"/>
          <p:nvPr/>
        </p:nvSpPr>
        <p:spPr>
          <a:xfrm>
            <a:off x="5093650" y="296234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Today we are going to design an algorithm capable of solving the </a:t>
            </a:r>
            <a:r>
              <a:rPr lang="en" sz="1200" b="1" i="1">
                <a:solidFill>
                  <a:srgbClr val="FF0000"/>
                </a:solidFill>
              </a:rPr>
              <a:t>N-Queens</a:t>
            </a:r>
            <a:r>
              <a:rPr lang="en" sz="1200"/>
              <a:t> problem: placing </a:t>
            </a:r>
            <a:r>
              <a:rPr lang="en" sz="1200" b="1" i="1">
                <a:solidFill>
                  <a:srgbClr val="FF0000"/>
                </a:solidFill>
              </a:rPr>
              <a:t>N</a:t>
            </a:r>
            <a:r>
              <a:rPr lang="en" sz="1200"/>
              <a:t> queens on an </a:t>
            </a:r>
            <a:r>
              <a:rPr lang="en" sz="1200" b="1" i="1">
                <a:solidFill>
                  <a:srgbClr val="FF0000"/>
                </a:solidFill>
              </a:rPr>
              <a:t>N*N</a:t>
            </a:r>
            <a:r>
              <a:rPr lang="en" sz="1200">
                <a:solidFill>
                  <a:srgbClr val="FF0000"/>
                </a:solidFill>
              </a:rPr>
              <a:t> </a:t>
            </a:r>
            <a:r>
              <a:rPr lang="en" sz="1200"/>
              <a:t>chessboard.</a:t>
            </a:r>
            <a:endParaRPr sz="1200"/>
          </a:p>
        </p:txBody>
      </p:sp>
      <p:sp>
        <p:nvSpPr>
          <p:cNvPr id="2148" name="Google Shape;2148;p95"/>
          <p:cNvSpPr txBox="1"/>
          <p:nvPr/>
        </p:nvSpPr>
        <p:spPr>
          <a:xfrm>
            <a:off x="5093650" y="3800541"/>
            <a:ext cx="3599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i="1"/>
              <a:t>(we should be able to find solutions for any </a:t>
            </a:r>
            <a:r>
              <a:rPr lang="en" sz="1200" b="1" i="1">
                <a:solidFill>
                  <a:srgbClr val="FF0000"/>
                </a:solidFill>
              </a:rPr>
              <a:t>N&gt;3</a:t>
            </a:r>
            <a:r>
              <a:rPr lang="en" sz="1200" i="1"/>
              <a:t>)</a:t>
            </a:r>
            <a:endParaRPr sz="12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5"/>
                                        </p:tgtEl>
                                        <p:attrNameLst>
                                          <p:attrName>style.visibility</p:attrName>
                                        </p:attrNameLst>
                                      </p:cBhvr>
                                      <p:to>
                                        <p:strVal val="visible"/>
                                      </p:to>
                                    </p:set>
                                    <p:animEffect transition="in" filter="fade">
                                      <p:cBhvr>
                                        <p:cTn id="7" dur="1000"/>
                                        <p:tgtEl>
                                          <p:spTgt spid="214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136"/>
                                        </p:tgtEl>
                                        <p:attrNameLst>
                                          <p:attrName>style.visibility</p:attrName>
                                        </p:attrNameLst>
                                      </p:cBhvr>
                                      <p:to>
                                        <p:strVal val="visible"/>
                                      </p:to>
                                    </p:set>
                                    <p:animEffect transition="in" filter="fade">
                                      <p:cBhvr>
                                        <p:cTn id="11" dur="1000"/>
                                        <p:tgtEl>
                                          <p:spTgt spid="213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46"/>
                                        </p:tgtEl>
                                        <p:attrNameLst>
                                          <p:attrName>style.visibility</p:attrName>
                                        </p:attrNameLst>
                                      </p:cBhvr>
                                      <p:to>
                                        <p:strVal val="visible"/>
                                      </p:to>
                                    </p:set>
                                    <p:animEffect transition="in" filter="fade">
                                      <p:cBhvr>
                                        <p:cTn id="16" dur="1000"/>
                                        <p:tgtEl>
                                          <p:spTgt spid="21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47"/>
                                        </p:tgtEl>
                                        <p:attrNameLst>
                                          <p:attrName>style.visibility</p:attrName>
                                        </p:attrNameLst>
                                      </p:cBhvr>
                                      <p:to>
                                        <p:strVal val="visible"/>
                                      </p:to>
                                    </p:set>
                                    <p:animEffect transition="in" filter="fade">
                                      <p:cBhvr>
                                        <p:cTn id="21" dur="1000"/>
                                        <p:tgtEl>
                                          <p:spTgt spid="214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148"/>
                                        </p:tgtEl>
                                        <p:attrNameLst>
                                          <p:attrName>style.visibility</p:attrName>
                                        </p:attrNameLst>
                                      </p:cBhvr>
                                      <p:to>
                                        <p:strVal val="visible"/>
                                      </p:to>
                                    </p:set>
                                    <p:animEffect transition="in" filter="fade">
                                      <p:cBhvr>
                                        <p:cTn id="26" dur="1000"/>
                                        <p:tgtEl>
                                          <p:spTgt spid="2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52"/>
        <p:cNvGrpSpPr/>
        <p:nvPr/>
      </p:nvGrpSpPr>
      <p:grpSpPr>
        <a:xfrm>
          <a:off x="0" y="0"/>
          <a:ext cx="0" cy="0"/>
          <a:chOff x="0" y="0"/>
          <a:chExt cx="0" cy="0"/>
        </a:xfrm>
      </p:grpSpPr>
      <p:sp>
        <p:nvSpPr>
          <p:cNvPr id="2153" name="Google Shape;2153;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It's Good to be the Queen</a:t>
            </a:r>
            <a:endParaRPr/>
          </a:p>
        </p:txBody>
      </p:sp>
      <p:sp>
        <p:nvSpPr>
          <p:cNvPr id="2154" name="Google Shape;2154;p9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Not surprisingly, the core of the N-Queens problem is the </a:t>
            </a:r>
            <a:r>
              <a:rPr lang="en">
                <a:latin typeface="Courier New"/>
                <a:ea typeface="Courier New"/>
                <a:cs typeface="Courier New"/>
                <a:sym typeface="Courier New"/>
              </a:rPr>
              <a:t>Queen</a:t>
            </a:r>
            <a:r>
              <a:rPr lang="en"/>
              <a:t> class. Take a few moments to examine the code and ask any questions that you may have about the class. </a:t>
            </a:r>
            <a:endParaRPr/>
          </a:p>
        </p:txBody>
      </p:sp>
      <p:sp>
        <p:nvSpPr>
          <p:cNvPr id="2155" name="Google Shape;2155;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78</a:t>
            </a:fld>
            <a:endParaRPr/>
          </a:p>
        </p:txBody>
      </p:sp>
      <p:sp>
        <p:nvSpPr>
          <p:cNvPr id="2156" name="Google Shape;2156;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13.26</a:t>
            </a:r>
            <a:endParaRPr/>
          </a:p>
        </p:txBody>
      </p:sp>
      <p:pic>
        <p:nvPicPr>
          <p:cNvPr id="2157" name="Google Shape;2157;p96"/>
          <p:cNvPicPr preferRelativeResize="0"/>
          <p:nvPr/>
        </p:nvPicPr>
        <p:blipFill>
          <a:blip r:embed="rId3">
            <a:alphaModFix/>
          </a:blip>
          <a:stretch>
            <a:fillRect/>
          </a:stretch>
        </p:blipFill>
        <p:spPr>
          <a:xfrm>
            <a:off x="615300" y="2207202"/>
            <a:ext cx="1462525" cy="2471099"/>
          </a:xfrm>
          <a:prstGeom prst="rect">
            <a:avLst/>
          </a:prstGeom>
          <a:noFill/>
          <a:ln>
            <a:noFill/>
          </a:ln>
        </p:spPr>
      </p:pic>
      <p:sp>
        <p:nvSpPr>
          <p:cNvPr id="2158" name="Google Shape;2158;p96"/>
          <p:cNvSpPr/>
          <p:nvPr/>
        </p:nvSpPr>
        <p:spPr>
          <a:xfrm>
            <a:off x="531600" y="1619325"/>
            <a:ext cx="1501200" cy="588000"/>
          </a:xfrm>
          <a:prstGeom prst="wedgeRoundRectCallout">
            <a:avLst>
              <a:gd name="adj1" fmla="val -5509"/>
              <a:gd name="adj2" fmla="val 7295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We are </a:t>
            </a:r>
            <a:r>
              <a:rPr lang="en" i="1"/>
              <a:t>not</a:t>
            </a:r>
            <a:r>
              <a:rPr lang="en"/>
              <a:t> amused.</a:t>
            </a:r>
            <a:endParaRPr/>
          </a:p>
        </p:txBody>
      </p:sp>
      <p:sp>
        <p:nvSpPr>
          <p:cNvPr id="2159" name="Google Shape;2159;p96"/>
          <p:cNvSpPr txBox="1">
            <a:spLocks noGrp="1"/>
          </p:cNvSpPr>
          <p:nvPr>
            <p:ph type="body" idx="2"/>
          </p:nvPr>
        </p:nvSpPr>
        <p:spPr>
          <a:xfrm>
            <a:off x="2650350" y="1568725"/>
            <a:ext cx="6028800" cy="2555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queens.model.Queen</a:t>
            </a:r>
            <a:r>
              <a:rPr lang="en" sz="1600"/>
              <a:t>" class and examine the code inside.</a:t>
            </a:r>
            <a:endParaRPr sz="1600"/>
          </a:p>
          <a:p>
            <a:pPr marL="914400" lvl="1" indent="-317500" algn="l" rtl="0">
              <a:spcBef>
                <a:spcPts val="0"/>
              </a:spcBef>
              <a:spcAft>
                <a:spcPts val="0"/>
              </a:spcAft>
              <a:buSzPts val="1400"/>
              <a:buChar char="○"/>
            </a:pPr>
            <a:r>
              <a:rPr lang="en" sz="1400"/>
              <a:t>You will see that a </a:t>
            </a:r>
            <a:r>
              <a:rPr lang="en" sz="1400">
                <a:latin typeface="Courier New"/>
                <a:ea typeface="Courier New"/>
                <a:cs typeface="Courier New"/>
                <a:sym typeface="Courier New"/>
              </a:rPr>
              <a:t>Queen</a:t>
            </a:r>
            <a:r>
              <a:rPr lang="en" sz="1400"/>
              <a:t> is essentially a row, column location on the board and a few utility functions.</a:t>
            </a:r>
            <a:endParaRPr sz="1400"/>
          </a:p>
          <a:p>
            <a:pPr marL="914400" lvl="1" indent="-317500" algn="l" rtl="0">
              <a:spcBef>
                <a:spcPts val="0"/>
              </a:spcBef>
              <a:spcAft>
                <a:spcPts val="0"/>
              </a:spcAft>
              <a:buSzPts val="1400"/>
              <a:buChar char="○"/>
            </a:pPr>
            <a:r>
              <a:rPr lang="en" sz="1400"/>
              <a:t>You should also note that instances of the class can be used in hashing data structures.</a:t>
            </a:r>
            <a:endParaRPr sz="1400"/>
          </a:p>
          <a:p>
            <a:pPr marL="457200" lvl="0" indent="-330200" algn="l" rtl="0">
              <a:spcBef>
                <a:spcPts val="0"/>
              </a:spcBef>
              <a:spcAft>
                <a:spcPts val="0"/>
              </a:spcAft>
              <a:buSzPts val="1600"/>
              <a:buChar char="●"/>
            </a:pPr>
            <a:r>
              <a:rPr lang="en" sz="1600"/>
              <a:t>You will need to have a good understanding of the </a:t>
            </a:r>
            <a:r>
              <a:rPr lang="en" sz="1600">
                <a:latin typeface="Courier New"/>
                <a:ea typeface="Courier New"/>
                <a:cs typeface="Courier New"/>
                <a:sym typeface="Courier New"/>
              </a:rPr>
              <a:t>Queen</a:t>
            </a:r>
            <a:r>
              <a:rPr lang="en" sz="1600"/>
              <a:t> class in order to use it to implement your backtracking algorithm. If you have any questions, now is the time to ask!</a:t>
            </a:r>
            <a:endParaRPr sz="16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63"/>
        <p:cNvGrpSpPr/>
        <p:nvPr/>
      </p:nvGrpSpPr>
      <p:grpSpPr>
        <a:xfrm>
          <a:off x="0" y="0"/>
          <a:ext cx="0" cy="0"/>
          <a:chOff x="0" y="0"/>
          <a:chExt cx="0" cy="0"/>
        </a:xfrm>
      </p:grpSpPr>
      <p:sp>
        <p:nvSpPr>
          <p:cNvPr id="2164" name="Google Shape;2164;p97"/>
          <p:cNvSpPr txBox="1"/>
          <p:nvPr/>
        </p:nvSpPr>
        <p:spPr>
          <a:xfrm>
            <a:off x="6461832" y="3969246"/>
            <a:ext cx="2457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a:t>
            </a:r>
            <a:r>
              <a:rPr lang="en" sz="1200">
                <a:solidFill>
                  <a:srgbClr val="FF0000"/>
                </a:solidFill>
              </a:rPr>
              <a:t> </a:t>
            </a:r>
            <a:r>
              <a:rPr lang="en" sz="1200" b="1" i="1">
                <a:solidFill>
                  <a:srgbClr val="FF0000"/>
                </a:solidFill>
              </a:rPr>
              <a:t>N-Queens</a:t>
            </a:r>
            <a:r>
              <a:rPr lang="en" sz="1200">
                <a:solidFill>
                  <a:srgbClr val="FF0000"/>
                </a:solidFill>
              </a:rPr>
              <a:t> </a:t>
            </a:r>
            <a:r>
              <a:rPr lang="en" sz="1200"/>
              <a:t>problem this means</a:t>
            </a:r>
            <a:r>
              <a:rPr lang="en" sz="1200">
                <a:solidFill>
                  <a:srgbClr val="FF0000"/>
                </a:solidFill>
              </a:rPr>
              <a:t> </a:t>
            </a:r>
            <a:r>
              <a:rPr lang="en" sz="1200" b="1" i="1">
                <a:solidFill>
                  <a:srgbClr val="FF0000"/>
                </a:solidFill>
              </a:rPr>
              <a:t>N</a:t>
            </a:r>
            <a:r>
              <a:rPr lang="en" sz="1200">
                <a:solidFill>
                  <a:srgbClr val="FF0000"/>
                </a:solidFill>
              </a:rPr>
              <a:t> </a:t>
            </a:r>
            <a:r>
              <a:rPr lang="en" sz="1200"/>
              <a:t>queens have been placed and </a:t>
            </a:r>
            <a:r>
              <a:rPr lang="en" sz="1200" b="1" i="1">
                <a:solidFill>
                  <a:srgbClr val="FF0000"/>
                </a:solidFill>
              </a:rPr>
              <a:t>no two</a:t>
            </a:r>
            <a:r>
              <a:rPr lang="en" sz="1200">
                <a:solidFill>
                  <a:srgbClr val="FF0000"/>
                </a:solidFill>
              </a:rPr>
              <a:t> </a:t>
            </a:r>
            <a:r>
              <a:rPr lang="en" sz="1200"/>
              <a:t>can attack each other.</a:t>
            </a:r>
            <a:endParaRPr sz="1200"/>
          </a:p>
        </p:txBody>
      </p:sp>
      <p:sp>
        <p:nvSpPr>
          <p:cNvPr id="2165" name="Google Shape;2165;p97"/>
          <p:cNvSpPr txBox="1">
            <a:spLocks noGrp="1"/>
          </p:cNvSpPr>
          <p:nvPr>
            <p:ph type="title"/>
          </p:nvPr>
        </p:nvSpPr>
        <p:spPr>
          <a:xfrm>
            <a:off x="311725" y="1961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Backtracking Vocabulary</a:t>
            </a:r>
            <a:endParaRPr sz="2900"/>
          </a:p>
        </p:txBody>
      </p:sp>
      <p:sp>
        <p:nvSpPr>
          <p:cNvPr id="2166" name="Google Shape;2166;p97"/>
          <p:cNvSpPr txBox="1">
            <a:spLocks noGrp="1"/>
          </p:cNvSpPr>
          <p:nvPr>
            <p:ph type="sldNum" idx="12"/>
          </p:nvPr>
        </p:nvSpPr>
        <p:spPr>
          <a:xfrm>
            <a:off x="8605600" y="4886222"/>
            <a:ext cx="548700" cy="246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79</a:t>
            </a:fld>
            <a:endParaRPr/>
          </a:p>
        </p:txBody>
      </p:sp>
      <p:sp>
        <p:nvSpPr>
          <p:cNvPr id="2167" name="Google Shape;2167;p97"/>
          <p:cNvSpPr txBox="1"/>
          <p:nvPr/>
        </p:nvSpPr>
        <p:spPr>
          <a:xfrm>
            <a:off x="181325" y="1448225"/>
            <a:ext cx="2457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configuration</a:t>
            </a:r>
            <a:r>
              <a:rPr lang="en" sz="1200">
                <a:solidFill>
                  <a:srgbClr val="FF0000"/>
                </a:solidFill>
              </a:rPr>
              <a:t> </a:t>
            </a:r>
            <a:r>
              <a:rPr lang="en" sz="1200"/>
              <a:t>is an attempted solution at any stage.</a:t>
            </a:r>
            <a:endParaRPr sz="1200" b="1" i="1"/>
          </a:p>
        </p:txBody>
      </p:sp>
      <p:graphicFrame>
        <p:nvGraphicFramePr>
          <p:cNvPr id="2168" name="Google Shape;2168;p97"/>
          <p:cNvGraphicFramePr/>
          <p:nvPr/>
        </p:nvGraphicFramePr>
        <p:xfrm>
          <a:off x="2796875" y="1480332"/>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69" name="Google Shape;2169;p97"/>
          <p:cNvSpPr txBox="1"/>
          <p:nvPr/>
        </p:nvSpPr>
        <p:spPr>
          <a:xfrm>
            <a:off x="181325" y="21340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N-Queens</a:t>
            </a:r>
            <a:r>
              <a:rPr lang="en" sz="1200"/>
              <a:t> problem this would be a chessboard with </a:t>
            </a:r>
            <a:r>
              <a:rPr lang="en" sz="1200" b="1" i="1">
                <a:solidFill>
                  <a:srgbClr val="FF0000"/>
                </a:solidFill>
              </a:rPr>
              <a:t>0 or</a:t>
            </a:r>
            <a:r>
              <a:rPr lang="en" sz="1200" b="1" i="1"/>
              <a:t> </a:t>
            </a:r>
            <a:r>
              <a:rPr lang="en" sz="1200" b="1" i="1">
                <a:solidFill>
                  <a:srgbClr val="FF0000"/>
                </a:solidFill>
              </a:rPr>
              <a:t>more</a:t>
            </a:r>
            <a:r>
              <a:rPr lang="en" sz="1200">
                <a:solidFill>
                  <a:srgbClr val="FF0000"/>
                </a:solidFill>
              </a:rPr>
              <a:t> </a:t>
            </a:r>
            <a:r>
              <a:rPr lang="en" sz="1200"/>
              <a:t>queens placed on it.</a:t>
            </a:r>
            <a:endParaRPr sz="1200"/>
          </a:p>
        </p:txBody>
      </p:sp>
      <p:pic>
        <p:nvPicPr>
          <p:cNvPr id="2170" name="Google Shape;2170;p97"/>
          <p:cNvPicPr preferRelativeResize="0"/>
          <p:nvPr/>
        </p:nvPicPr>
        <p:blipFill>
          <a:blip r:embed="rId3">
            <a:alphaModFix/>
          </a:blip>
          <a:stretch>
            <a:fillRect/>
          </a:stretch>
        </p:blipFill>
        <p:spPr>
          <a:xfrm>
            <a:off x="2900189" y="1480326"/>
            <a:ext cx="200339" cy="338501"/>
          </a:xfrm>
          <a:prstGeom prst="rect">
            <a:avLst/>
          </a:prstGeom>
          <a:noFill/>
          <a:ln>
            <a:noFill/>
          </a:ln>
        </p:spPr>
      </p:pic>
      <p:sp>
        <p:nvSpPr>
          <p:cNvPr id="2171" name="Google Shape;2171;p97"/>
          <p:cNvSpPr txBox="1"/>
          <p:nvPr/>
        </p:nvSpPr>
        <p:spPr>
          <a:xfrm>
            <a:off x="181325" y="31246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successor</a:t>
            </a:r>
            <a:r>
              <a:rPr lang="en" sz="1200">
                <a:solidFill>
                  <a:srgbClr val="FF0000"/>
                </a:solidFill>
              </a:rPr>
              <a:t> </a:t>
            </a:r>
            <a:r>
              <a:rPr lang="en" sz="1200"/>
              <a:t>configuration is one where one of the </a:t>
            </a:r>
            <a:r>
              <a:rPr lang="en" sz="1200" b="1" i="1">
                <a:solidFill>
                  <a:srgbClr val="FF0000"/>
                </a:solidFill>
              </a:rPr>
              <a:t>possible next choices</a:t>
            </a:r>
            <a:r>
              <a:rPr lang="en" sz="1200"/>
              <a:t> has been made.</a:t>
            </a:r>
            <a:endParaRPr sz="1200"/>
          </a:p>
        </p:txBody>
      </p:sp>
      <p:graphicFrame>
        <p:nvGraphicFramePr>
          <p:cNvPr id="2172" name="Google Shape;2172;p97"/>
          <p:cNvGraphicFramePr/>
          <p:nvPr/>
        </p:nvGraphicFramePr>
        <p:xfrm>
          <a:off x="2796875" y="3359646"/>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73" name="Google Shape;2173;p97"/>
          <p:cNvSpPr txBox="1"/>
          <p:nvPr/>
        </p:nvSpPr>
        <p:spPr>
          <a:xfrm>
            <a:off x="181325" y="3962825"/>
            <a:ext cx="2457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N-Queens</a:t>
            </a:r>
            <a:r>
              <a:rPr lang="en" sz="1200"/>
              <a:t> problem, this would mean that </a:t>
            </a:r>
            <a:r>
              <a:rPr lang="en" sz="1200" b="1" i="1">
                <a:solidFill>
                  <a:srgbClr val="FF0000"/>
                </a:solidFill>
              </a:rPr>
              <a:t>an additional queen</a:t>
            </a:r>
            <a:r>
              <a:rPr lang="en" sz="1200"/>
              <a:t> has been placed in an unoccupied square.</a:t>
            </a:r>
            <a:endParaRPr sz="1200"/>
          </a:p>
        </p:txBody>
      </p:sp>
      <p:grpSp>
        <p:nvGrpSpPr>
          <p:cNvPr id="2174" name="Google Shape;2174;p97"/>
          <p:cNvGrpSpPr/>
          <p:nvPr/>
        </p:nvGrpSpPr>
        <p:grpSpPr>
          <a:xfrm>
            <a:off x="2900189" y="3359640"/>
            <a:ext cx="949497" cy="675407"/>
            <a:chOff x="2900189" y="3359640"/>
            <a:chExt cx="949497" cy="675407"/>
          </a:xfrm>
        </p:grpSpPr>
        <p:pic>
          <p:nvPicPr>
            <p:cNvPr id="2175" name="Google Shape;2175;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76" name="Google Shape;2176;p97"/>
            <p:cNvPicPr preferRelativeResize="0"/>
            <p:nvPr/>
          </p:nvPicPr>
          <p:blipFill>
            <a:blip r:embed="rId3">
              <a:alphaModFix/>
            </a:blip>
            <a:stretch>
              <a:fillRect/>
            </a:stretch>
          </p:blipFill>
          <p:spPr>
            <a:xfrm>
              <a:off x="3649346" y="3696547"/>
              <a:ext cx="200339" cy="338501"/>
            </a:xfrm>
            <a:prstGeom prst="rect">
              <a:avLst/>
            </a:prstGeom>
            <a:noFill/>
            <a:ln>
              <a:noFill/>
            </a:ln>
          </p:spPr>
        </p:pic>
      </p:grpSp>
      <p:graphicFrame>
        <p:nvGraphicFramePr>
          <p:cNvPr id="2177" name="Google Shape;2177;p97"/>
          <p:cNvGraphicFramePr/>
          <p:nvPr/>
        </p:nvGraphicFramePr>
        <p:xfrm>
          <a:off x="4778075" y="1480332"/>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78" name="Google Shape;2178;p97"/>
          <p:cNvSpPr txBox="1"/>
          <p:nvPr/>
        </p:nvSpPr>
        <p:spPr>
          <a:xfrm>
            <a:off x="6461832" y="14482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configuration is </a:t>
            </a:r>
            <a:r>
              <a:rPr lang="en" sz="1200" b="1" i="1">
                <a:solidFill>
                  <a:srgbClr val="FF0000"/>
                </a:solidFill>
              </a:rPr>
              <a:t>invalid</a:t>
            </a:r>
            <a:r>
              <a:rPr lang="en" sz="1200">
                <a:solidFill>
                  <a:srgbClr val="FF0000"/>
                </a:solidFill>
              </a:rPr>
              <a:t> </a:t>
            </a:r>
            <a:r>
              <a:rPr lang="en" sz="1200"/>
              <a:t>if it breaks the rules of the problem being solved. </a:t>
            </a:r>
            <a:endParaRPr sz="1200"/>
          </a:p>
        </p:txBody>
      </p:sp>
      <p:sp>
        <p:nvSpPr>
          <p:cNvPr id="2179" name="Google Shape;2179;p97"/>
          <p:cNvSpPr txBox="1"/>
          <p:nvPr/>
        </p:nvSpPr>
        <p:spPr>
          <a:xfrm>
            <a:off x="6461832" y="22864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a:t>
            </a:r>
            <a:r>
              <a:rPr lang="en" sz="1200">
                <a:solidFill>
                  <a:srgbClr val="FF0000"/>
                </a:solidFill>
              </a:rPr>
              <a:t> </a:t>
            </a:r>
            <a:r>
              <a:rPr lang="en" sz="1200" b="1" i="1">
                <a:solidFill>
                  <a:srgbClr val="FF0000"/>
                </a:solidFill>
              </a:rPr>
              <a:t>N-Queens</a:t>
            </a:r>
            <a:r>
              <a:rPr lang="en" sz="1200">
                <a:solidFill>
                  <a:srgbClr val="FF0000"/>
                </a:solidFill>
              </a:rPr>
              <a:t> </a:t>
            </a:r>
            <a:r>
              <a:rPr lang="en" sz="1200"/>
              <a:t>problem this would mean two queens can </a:t>
            </a:r>
            <a:r>
              <a:rPr lang="en" sz="1200" b="1" i="1">
                <a:solidFill>
                  <a:srgbClr val="FF0000"/>
                </a:solidFill>
              </a:rPr>
              <a:t>attack each other</a:t>
            </a:r>
            <a:r>
              <a:rPr lang="en" sz="1200"/>
              <a:t>.</a:t>
            </a:r>
            <a:endParaRPr sz="1200"/>
          </a:p>
        </p:txBody>
      </p:sp>
      <p:grpSp>
        <p:nvGrpSpPr>
          <p:cNvPr id="2180" name="Google Shape;2180;p97"/>
          <p:cNvGrpSpPr/>
          <p:nvPr/>
        </p:nvGrpSpPr>
        <p:grpSpPr>
          <a:xfrm>
            <a:off x="4874968" y="1480326"/>
            <a:ext cx="949497" cy="1348365"/>
            <a:chOff x="4874968" y="1480326"/>
            <a:chExt cx="949497" cy="1348365"/>
          </a:xfrm>
        </p:grpSpPr>
        <p:grpSp>
          <p:nvGrpSpPr>
            <p:cNvPr id="2181" name="Google Shape;2181;p97"/>
            <p:cNvGrpSpPr/>
            <p:nvPr/>
          </p:nvGrpSpPr>
          <p:grpSpPr>
            <a:xfrm>
              <a:off x="4874968" y="1480326"/>
              <a:ext cx="949497" cy="675407"/>
              <a:chOff x="2900189" y="3359640"/>
              <a:chExt cx="949497" cy="675407"/>
            </a:xfrm>
          </p:grpSpPr>
          <p:pic>
            <p:nvPicPr>
              <p:cNvPr id="2182" name="Google Shape;2182;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83" name="Google Shape;2183;p97"/>
              <p:cNvPicPr preferRelativeResize="0"/>
              <p:nvPr/>
            </p:nvPicPr>
            <p:blipFill>
              <a:blip r:embed="rId3">
                <a:alphaModFix/>
              </a:blip>
              <a:stretch>
                <a:fillRect/>
              </a:stretch>
            </p:blipFill>
            <p:spPr>
              <a:xfrm>
                <a:off x="3649346" y="3696547"/>
                <a:ext cx="200339" cy="338501"/>
              </a:xfrm>
              <a:prstGeom prst="rect">
                <a:avLst/>
              </a:prstGeom>
              <a:noFill/>
              <a:ln>
                <a:noFill/>
              </a:ln>
            </p:spPr>
          </p:pic>
        </p:grpSp>
        <p:pic>
          <p:nvPicPr>
            <p:cNvPr id="2184" name="Google Shape;2184;p97"/>
            <p:cNvPicPr preferRelativeResize="0"/>
            <p:nvPr/>
          </p:nvPicPr>
          <p:blipFill>
            <a:blip r:embed="rId3">
              <a:alphaModFix/>
            </a:blip>
            <a:stretch>
              <a:fillRect/>
            </a:stretch>
          </p:blipFill>
          <p:spPr>
            <a:xfrm>
              <a:off x="4887810" y="2490190"/>
              <a:ext cx="200339" cy="338501"/>
            </a:xfrm>
            <a:prstGeom prst="rect">
              <a:avLst/>
            </a:prstGeom>
            <a:noFill/>
            <a:ln>
              <a:noFill/>
            </a:ln>
          </p:spPr>
        </p:pic>
        <p:cxnSp>
          <p:nvCxnSpPr>
            <p:cNvPr id="2185" name="Google Shape;2185;p97"/>
            <p:cNvCxnSpPr/>
            <p:nvPr/>
          </p:nvCxnSpPr>
          <p:spPr>
            <a:xfrm rot="10800000" flipH="1">
              <a:off x="5156421" y="2151429"/>
              <a:ext cx="391800" cy="333900"/>
            </a:xfrm>
            <a:prstGeom prst="straightConnector1">
              <a:avLst/>
            </a:prstGeom>
            <a:noFill/>
            <a:ln w="19050" cap="flat" cmpd="sng">
              <a:solidFill>
                <a:srgbClr val="FF0000"/>
              </a:solidFill>
              <a:prstDash val="solid"/>
              <a:round/>
              <a:headEnd type="stealth" w="med" len="med"/>
              <a:tailEnd type="stealth" w="med" len="med"/>
            </a:ln>
          </p:spPr>
        </p:cxnSp>
      </p:grpSp>
      <p:graphicFrame>
        <p:nvGraphicFramePr>
          <p:cNvPr id="2186" name="Google Shape;2186;p97"/>
          <p:cNvGraphicFramePr/>
          <p:nvPr/>
        </p:nvGraphicFramePr>
        <p:xfrm>
          <a:off x="4778075" y="3359646"/>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87" name="Google Shape;2187;p97"/>
          <p:cNvSpPr txBox="1"/>
          <p:nvPr/>
        </p:nvSpPr>
        <p:spPr>
          <a:xfrm>
            <a:off x="6461832" y="3327540"/>
            <a:ext cx="2457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configuration is the </a:t>
            </a:r>
            <a:r>
              <a:rPr lang="en" sz="1200" b="1" i="1">
                <a:solidFill>
                  <a:srgbClr val="FF0000"/>
                </a:solidFill>
              </a:rPr>
              <a:t>goal</a:t>
            </a:r>
            <a:r>
              <a:rPr lang="en" sz="1200">
                <a:solidFill>
                  <a:srgbClr val="FF0000"/>
                </a:solidFill>
              </a:rPr>
              <a:t> </a:t>
            </a:r>
            <a:r>
              <a:rPr lang="en" sz="1200"/>
              <a:t>if it is a valid solution to the problem.</a:t>
            </a:r>
            <a:endParaRPr sz="1200"/>
          </a:p>
        </p:txBody>
      </p:sp>
      <p:grpSp>
        <p:nvGrpSpPr>
          <p:cNvPr id="2188" name="Google Shape;2188;p97"/>
          <p:cNvGrpSpPr/>
          <p:nvPr/>
        </p:nvGrpSpPr>
        <p:grpSpPr>
          <a:xfrm>
            <a:off x="4874968" y="3359640"/>
            <a:ext cx="1362603" cy="1348365"/>
            <a:chOff x="4874968" y="3359640"/>
            <a:chExt cx="1362603" cy="1348365"/>
          </a:xfrm>
        </p:grpSpPr>
        <p:grpSp>
          <p:nvGrpSpPr>
            <p:cNvPr id="2189" name="Google Shape;2189;p97"/>
            <p:cNvGrpSpPr/>
            <p:nvPr/>
          </p:nvGrpSpPr>
          <p:grpSpPr>
            <a:xfrm>
              <a:off x="5268810" y="3359640"/>
              <a:ext cx="968761" cy="675407"/>
              <a:chOff x="3294032" y="3359640"/>
              <a:chExt cx="968761" cy="675407"/>
            </a:xfrm>
          </p:grpSpPr>
          <p:pic>
            <p:nvPicPr>
              <p:cNvPr id="2190" name="Google Shape;2190;p97"/>
              <p:cNvPicPr preferRelativeResize="0"/>
              <p:nvPr/>
            </p:nvPicPr>
            <p:blipFill>
              <a:blip r:embed="rId3">
                <a:alphaModFix/>
              </a:blip>
              <a:stretch>
                <a:fillRect/>
              </a:stretch>
            </p:blipFill>
            <p:spPr>
              <a:xfrm>
                <a:off x="3294032" y="3359640"/>
                <a:ext cx="200339" cy="338501"/>
              </a:xfrm>
              <a:prstGeom prst="rect">
                <a:avLst/>
              </a:prstGeom>
              <a:noFill/>
              <a:ln>
                <a:noFill/>
              </a:ln>
            </p:spPr>
          </p:pic>
          <p:pic>
            <p:nvPicPr>
              <p:cNvPr id="2191" name="Google Shape;2191;p97"/>
              <p:cNvPicPr preferRelativeResize="0"/>
              <p:nvPr/>
            </p:nvPicPr>
            <p:blipFill>
              <a:blip r:embed="rId3">
                <a:alphaModFix/>
              </a:blip>
              <a:stretch>
                <a:fillRect/>
              </a:stretch>
            </p:blipFill>
            <p:spPr>
              <a:xfrm>
                <a:off x="4062453" y="3696547"/>
                <a:ext cx="200339" cy="338501"/>
              </a:xfrm>
              <a:prstGeom prst="rect">
                <a:avLst/>
              </a:prstGeom>
              <a:noFill/>
              <a:ln>
                <a:noFill/>
              </a:ln>
            </p:spPr>
          </p:pic>
        </p:grpSp>
        <p:pic>
          <p:nvPicPr>
            <p:cNvPr id="2192" name="Google Shape;2192;p97"/>
            <p:cNvPicPr preferRelativeResize="0"/>
            <p:nvPr/>
          </p:nvPicPr>
          <p:blipFill>
            <a:blip r:embed="rId3">
              <a:alphaModFix/>
            </a:blip>
            <a:stretch>
              <a:fillRect/>
            </a:stretch>
          </p:blipFill>
          <p:spPr>
            <a:xfrm>
              <a:off x="5630546" y="4369504"/>
              <a:ext cx="200339" cy="338501"/>
            </a:xfrm>
            <a:prstGeom prst="rect">
              <a:avLst/>
            </a:prstGeom>
            <a:noFill/>
            <a:ln>
              <a:noFill/>
            </a:ln>
          </p:spPr>
        </p:pic>
        <p:pic>
          <p:nvPicPr>
            <p:cNvPr id="2193" name="Google Shape;2193;p97"/>
            <p:cNvPicPr preferRelativeResize="0"/>
            <p:nvPr/>
          </p:nvPicPr>
          <p:blipFill rotWithShape="1">
            <a:blip r:embed="rId3">
              <a:alphaModFix/>
            </a:blip>
            <a:srcRect t="4060" b="-4060"/>
            <a:stretch/>
          </p:blipFill>
          <p:spPr>
            <a:xfrm>
              <a:off x="4874968" y="4045440"/>
              <a:ext cx="200339" cy="33850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67"/>
                                        </p:tgtEl>
                                        <p:attrNameLst>
                                          <p:attrName>style.visibility</p:attrName>
                                        </p:attrNameLst>
                                      </p:cBhvr>
                                      <p:to>
                                        <p:strVal val="visible"/>
                                      </p:to>
                                    </p:set>
                                    <p:animEffect transition="in" filter="fade">
                                      <p:cBhvr>
                                        <p:cTn id="7" dur="1000"/>
                                        <p:tgtEl>
                                          <p:spTgt spid="21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9"/>
                                        </p:tgtEl>
                                        <p:attrNameLst>
                                          <p:attrName>style.visibility</p:attrName>
                                        </p:attrNameLst>
                                      </p:cBhvr>
                                      <p:to>
                                        <p:strVal val="visible"/>
                                      </p:to>
                                    </p:set>
                                    <p:animEffect transition="in" filter="fade">
                                      <p:cBhvr>
                                        <p:cTn id="12" dur="1000"/>
                                        <p:tgtEl>
                                          <p:spTgt spid="216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168"/>
                                        </p:tgtEl>
                                        <p:attrNameLst>
                                          <p:attrName>style.visibility</p:attrName>
                                        </p:attrNameLst>
                                      </p:cBhvr>
                                      <p:to>
                                        <p:strVal val="visible"/>
                                      </p:to>
                                    </p:set>
                                    <p:animEffect transition="in" filter="fade">
                                      <p:cBhvr>
                                        <p:cTn id="16" dur="1000"/>
                                        <p:tgtEl>
                                          <p:spTgt spid="2168"/>
                                        </p:tgtEl>
                                      </p:cBhvr>
                                    </p:animEffect>
                                  </p:childTnLst>
                                </p:cTn>
                              </p:par>
                              <p:par>
                                <p:cTn id="17" presetID="10" presetClass="entr" presetSubtype="0" fill="hold" nodeType="withEffect">
                                  <p:stCondLst>
                                    <p:cond delay="0"/>
                                  </p:stCondLst>
                                  <p:childTnLst>
                                    <p:set>
                                      <p:cBhvr>
                                        <p:cTn id="18" dur="1" fill="hold">
                                          <p:stCondLst>
                                            <p:cond delay="0"/>
                                          </p:stCondLst>
                                        </p:cTn>
                                        <p:tgtEl>
                                          <p:spTgt spid="2170"/>
                                        </p:tgtEl>
                                        <p:attrNameLst>
                                          <p:attrName>style.visibility</p:attrName>
                                        </p:attrNameLst>
                                      </p:cBhvr>
                                      <p:to>
                                        <p:strVal val="visible"/>
                                      </p:to>
                                    </p:set>
                                    <p:animEffect transition="in" filter="fade">
                                      <p:cBhvr>
                                        <p:cTn id="19" dur="1000"/>
                                        <p:tgtEl>
                                          <p:spTgt spid="217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171"/>
                                        </p:tgtEl>
                                        <p:attrNameLst>
                                          <p:attrName>style.visibility</p:attrName>
                                        </p:attrNameLst>
                                      </p:cBhvr>
                                      <p:to>
                                        <p:strVal val="visible"/>
                                      </p:to>
                                    </p:set>
                                    <p:animEffect transition="in" filter="fade">
                                      <p:cBhvr>
                                        <p:cTn id="24" dur="1000"/>
                                        <p:tgtEl>
                                          <p:spTgt spid="217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73"/>
                                        </p:tgtEl>
                                        <p:attrNameLst>
                                          <p:attrName>style.visibility</p:attrName>
                                        </p:attrNameLst>
                                      </p:cBhvr>
                                      <p:to>
                                        <p:strVal val="visible"/>
                                      </p:to>
                                    </p:set>
                                    <p:animEffect transition="in" filter="fade">
                                      <p:cBhvr>
                                        <p:cTn id="29" dur="1000"/>
                                        <p:tgtEl>
                                          <p:spTgt spid="2173"/>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2172"/>
                                        </p:tgtEl>
                                        <p:attrNameLst>
                                          <p:attrName>style.visibility</p:attrName>
                                        </p:attrNameLst>
                                      </p:cBhvr>
                                      <p:to>
                                        <p:strVal val="visible"/>
                                      </p:to>
                                    </p:set>
                                    <p:animEffect transition="in" filter="fade">
                                      <p:cBhvr>
                                        <p:cTn id="33" dur="1000"/>
                                        <p:tgtEl>
                                          <p:spTgt spid="2172"/>
                                        </p:tgtEl>
                                      </p:cBhvr>
                                    </p:animEffect>
                                  </p:childTnLst>
                                </p:cTn>
                              </p:par>
                              <p:par>
                                <p:cTn id="34" presetID="10" presetClass="entr" presetSubtype="0" fill="hold" nodeType="withEffect">
                                  <p:stCondLst>
                                    <p:cond delay="0"/>
                                  </p:stCondLst>
                                  <p:childTnLst>
                                    <p:set>
                                      <p:cBhvr>
                                        <p:cTn id="35" dur="1" fill="hold">
                                          <p:stCondLst>
                                            <p:cond delay="0"/>
                                          </p:stCondLst>
                                        </p:cTn>
                                        <p:tgtEl>
                                          <p:spTgt spid="2174"/>
                                        </p:tgtEl>
                                        <p:attrNameLst>
                                          <p:attrName>style.visibility</p:attrName>
                                        </p:attrNameLst>
                                      </p:cBhvr>
                                      <p:to>
                                        <p:strVal val="visible"/>
                                      </p:to>
                                    </p:set>
                                    <p:animEffect transition="in" filter="fade">
                                      <p:cBhvr>
                                        <p:cTn id="36" dur="1000"/>
                                        <p:tgtEl>
                                          <p:spTgt spid="217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78"/>
                                        </p:tgtEl>
                                        <p:attrNameLst>
                                          <p:attrName>style.visibility</p:attrName>
                                        </p:attrNameLst>
                                      </p:cBhvr>
                                      <p:to>
                                        <p:strVal val="visible"/>
                                      </p:to>
                                    </p:set>
                                    <p:animEffect transition="in" filter="fade">
                                      <p:cBhvr>
                                        <p:cTn id="41" dur="1000"/>
                                        <p:tgtEl>
                                          <p:spTgt spid="217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79"/>
                                        </p:tgtEl>
                                        <p:attrNameLst>
                                          <p:attrName>style.visibility</p:attrName>
                                        </p:attrNameLst>
                                      </p:cBhvr>
                                      <p:to>
                                        <p:strVal val="visible"/>
                                      </p:to>
                                    </p:set>
                                    <p:animEffect transition="in" filter="fade">
                                      <p:cBhvr>
                                        <p:cTn id="46" dur="1000"/>
                                        <p:tgtEl>
                                          <p:spTgt spid="2179"/>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2177"/>
                                        </p:tgtEl>
                                        <p:attrNameLst>
                                          <p:attrName>style.visibility</p:attrName>
                                        </p:attrNameLst>
                                      </p:cBhvr>
                                      <p:to>
                                        <p:strVal val="visible"/>
                                      </p:to>
                                    </p:set>
                                    <p:animEffect transition="in" filter="fade">
                                      <p:cBhvr>
                                        <p:cTn id="50" dur="1000"/>
                                        <p:tgtEl>
                                          <p:spTgt spid="2177"/>
                                        </p:tgtEl>
                                      </p:cBhvr>
                                    </p:animEffect>
                                  </p:childTnLst>
                                </p:cTn>
                              </p:par>
                              <p:par>
                                <p:cTn id="51" presetID="10" presetClass="entr" presetSubtype="0" fill="hold" nodeType="withEffect">
                                  <p:stCondLst>
                                    <p:cond delay="0"/>
                                  </p:stCondLst>
                                  <p:childTnLst>
                                    <p:set>
                                      <p:cBhvr>
                                        <p:cTn id="52" dur="1" fill="hold">
                                          <p:stCondLst>
                                            <p:cond delay="0"/>
                                          </p:stCondLst>
                                        </p:cTn>
                                        <p:tgtEl>
                                          <p:spTgt spid="2180"/>
                                        </p:tgtEl>
                                        <p:attrNameLst>
                                          <p:attrName>style.visibility</p:attrName>
                                        </p:attrNameLst>
                                      </p:cBhvr>
                                      <p:to>
                                        <p:strVal val="visible"/>
                                      </p:to>
                                    </p:set>
                                    <p:animEffect transition="in" filter="fade">
                                      <p:cBhvr>
                                        <p:cTn id="53" dur="1000"/>
                                        <p:tgtEl>
                                          <p:spTgt spid="218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187"/>
                                        </p:tgtEl>
                                        <p:attrNameLst>
                                          <p:attrName>style.visibility</p:attrName>
                                        </p:attrNameLst>
                                      </p:cBhvr>
                                      <p:to>
                                        <p:strVal val="visible"/>
                                      </p:to>
                                    </p:set>
                                    <p:animEffect transition="in" filter="fade">
                                      <p:cBhvr>
                                        <p:cTn id="58" dur="1000"/>
                                        <p:tgtEl>
                                          <p:spTgt spid="218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164"/>
                                        </p:tgtEl>
                                        <p:attrNameLst>
                                          <p:attrName>style.visibility</p:attrName>
                                        </p:attrNameLst>
                                      </p:cBhvr>
                                      <p:to>
                                        <p:strVal val="visible"/>
                                      </p:to>
                                    </p:set>
                                    <p:animEffect transition="in" filter="fade">
                                      <p:cBhvr>
                                        <p:cTn id="63" dur="1000"/>
                                        <p:tgtEl>
                                          <p:spTgt spid="2164"/>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2186"/>
                                        </p:tgtEl>
                                        <p:attrNameLst>
                                          <p:attrName>style.visibility</p:attrName>
                                        </p:attrNameLst>
                                      </p:cBhvr>
                                      <p:to>
                                        <p:strVal val="visible"/>
                                      </p:to>
                                    </p:set>
                                    <p:animEffect transition="in" filter="fade">
                                      <p:cBhvr>
                                        <p:cTn id="67" dur="1000"/>
                                        <p:tgtEl>
                                          <p:spTgt spid="2186"/>
                                        </p:tgtEl>
                                      </p:cBhvr>
                                    </p:animEffect>
                                  </p:childTnLst>
                                </p:cTn>
                              </p:par>
                              <p:par>
                                <p:cTn id="68" presetID="10" presetClass="entr" presetSubtype="0" fill="hold" nodeType="withEffect">
                                  <p:stCondLst>
                                    <p:cond delay="0"/>
                                  </p:stCondLst>
                                  <p:childTnLst>
                                    <p:set>
                                      <p:cBhvr>
                                        <p:cTn id="69" dur="1" fill="hold">
                                          <p:stCondLst>
                                            <p:cond delay="0"/>
                                          </p:stCondLst>
                                        </p:cTn>
                                        <p:tgtEl>
                                          <p:spTgt spid="2188"/>
                                        </p:tgtEl>
                                        <p:attrNameLst>
                                          <p:attrName>style.visibility</p:attrName>
                                        </p:attrNameLst>
                                      </p:cBhvr>
                                      <p:to>
                                        <p:strVal val="visible"/>
                                      </p:to>
                                    </p:set>
                                    <p:animEffect transition="in" filter="fade">
                                      <p:cBhvr>
                                        <p:cTn id="70" dur="1000"/>
                                        <p:tgtEl>
                                          <p:spTgt spid="2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97"/>
        <p:cNvGrpSpPr/>
        <p:nvPr/>
      </p:nvGrpSpPr>
      <p:grpSpPr>
        <a:xfrm>
          <a:off x="0" y="0"/>
          <a:ext cx="0" cy="0"/>
          <a:chOff x="0" y="0"/>
          <a:chExt cx="0" cy="0"/>
        </a:xfrm>
      </p:grpSpPr>
      <p:sp>
        <p:nvSpPr>
          <p:cNvPr id="2198" name="Google Shape;2198;p98"/>
          <p:cNvSpPr txBox="1">
            <a:spLocks noGrp="1"/>
          </p:cNvSpPr>
          <p:nvPr>
            <p:ph type="title"/>
          </p:nvPr>
        </p:nvSpPr>
        <p:spPr>
          <a:xfrm>
            <a:off x="5112325" y="119925"/>
            <a:ext cx="38709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Configuration Interface</a:t>
            </a:r>
            <a:endParaRPr/>
          </a:p>
        </p:txBody>
      </p:sp>
      <p:sp>
        <p:nvSpPr>
          <p:cNvPr id="2199" name="Google Shape;2199;p9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80</a:t>
            </a:fld>
            <a:endParaRPr/>
          </a:p>
        </p:txBody>
      </p:sp>
      <p:sp>
        <p:nvSpPr>
          <p:cNvPr id="2200" name="Google Shape;2200;p98"/>
          <p:cNvSpPr txBox="1"/>
          <p:nvPr/>
        </p:nvSpPr>
        <p:spPr>
          <a:xfrm>
            <a:off x="4990373" y="1952600"/>
            <a:ext cx="4032900" cy="127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interface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Configuration&lt;C extends Configuration&lt;C&gt;&gt;</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isValid</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isGoal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Collection</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C</a:t>
            </a:r>
            <a:r>
              <a:rPr lang="en" sz="900">
                <a:latin typeface="Consolas"/>
                <a:ea typeface="Consolas"/>
                <a:cs typeface="Consolas"/>
                <a:sym typeface="Consolas"/>
              </a:rPr>
              <a:t>&gt; </a:t>
            </a:r>
            <a:r>
              <a:rPr lang="en" sz="900">
                <a:solidFill>
                  <a:srgbClr val="795E26"/>
                </a:solidFill>
                <a:latin typeface="Consolas"/>
                <a:ea typeface="Consolas"/>
                <a:cs typeface="Consolas"/>
                <a:sym typeface="Consolas"/>
              </a:rPr>
              <a:t>getSuccessors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2201" name="Google Shape;2201;p98"/>
          <p:cNvSpPr txBox="1">
            <a:spLocks noGrp="1"/>
          </p:cNvSpPr>
          <p:nvPr>
            <p:ph type="body" idx="1"/>
          </p:nvPr>
        </p:nvSpPr>
        <p:spPr>
          <a:xfrm>
            <a:off x="377475" y="119925"/>
            <a:ext cx="4367100" cy="48333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We will be using a </a:t>
            </a:r>
            <a:r>
              <a:rPr lang="en" b="1" i="1">
                <a:solidFill>
                  <a:srgbClr val="FF0000"/>
                </a:solidFill>
              </a:rPr>
              <a:t>backtracking algorithm</a:t>
            </a:r>
            <a:r>
              <a:rPr lang="en">
                <a:solidFill>
                  <a:srgbClr val="FF0000"/>
                </a:solidFill>
              </a:rPr>
              <a:t> </a:t>
            </a:r>
            <a:r>
              <a:rPr lang="en"/>
              <a:t>to attempt to find a solution to the </a:t>
            </a:r>
            <a:r>
              <a:rPr lang="en" b="1" i="1">
                <a:solidFill>
                  <a:srgbClr val="FF0000"/>
                </a:solidFill>
              </a:rPr>
              <a:t>N-Queens</a:t>
            </a:r>
            <a:r>
              <a:rPr lang="en"/>
              <a:t> problem on chessboards of various sizes.</a:t>
            </a:r>
            <a:endParaRPr/>
          </a:p>
          <a:p>
            <a:pPr marL="457200" lvl="0" indent="-311150" algn="l" rtl="0">
              <a:lnSpc>
                <a:spcPct val="100000"/>
              </a:lnSpc>
              <a:spcBef>
                <a:spcPts val="1000"/>
              </a:spcBef>
              <a:spcAft>
                <a:spcPts val="0"/>
              </a:spcAft>
              <a:buSzPts val="1300"/>
              <a:buChar char="●"/>
            </a:pPr>
            <a:r>
              <a:rPr lang="en"/>
              <a:t>The first step in utilizing this algorithm is to create an implementation of the </a:t>
            </a:r>
            <a:r>
              <a:rPr lang="en">
                <a:solidFill>
                  <a:srgbClr val="FF0000"/>
                </a:solidFill>
                <a:latin typeface="Courier New"/>
                <a:ea typeface="Courier New"/>
                <a:cs typeface="Courier New"/>
                <a:sym typeface="Courier New"/>
              </a:rPr>
              <a:t>Configuration</a:t>
            </a:r>
            <a:r>
              <a:rPr lang="en">
                <a:solidFill>
                  <a:srgbClr val="FF0000"/>
                </a:solidFill>
              </a:rPr>
              <a:t> </a:t>
            </a:r>
            <a:r>
              <a:rPr lang="en" b="1" i="1">
                <a:solidFill>
                  <a:srgbClr val="FF0000"/>
                </a:solidFill>
              </a:rPr>
              <a:t>interface</a:t>
            </a:r>
            <a:r>
              <a:rPr lang="en"/>
              <a:t>.</a:t>
            </a:r>
            <a:endParaRPr/>
          </a:p>
          <a:p>
            <a:pPr marL="914400" lvl="1" indent="-298450" algn="l" rtl="0">
              <a:lnSpc>
                <a:spcPct val="100000"/>
              </a:lnSpc>
              <a:spcBef>
                <a:spcPts val="0"/>
              </a:spcBef>
              <a:spcAft>
                <a:spcPts val="0"/>
              </a:spcAft>
              <a:buSzPts val="1100"/>
              <a:buChar char="○"/>
            </a:pPr>
            <a:r>
              <a:rPr lang="en"/>
              <a:t>Remember that a </a:t>
            </a:r>
            <a:r>
              <a:rPr lang="en" b="1" i="1">
                <a:solidFill>
                  <a:srgbClr val="FF0000"/>
                </a:solidFill>
              </a:rPr>
              <a:t>configuration</a:t>
            </a:r>
            <a:r>
              <a:rPr lang="en">
                <a:solidFill>
                  <a:srgbClr val="FF0000"/>
                </a:solidFill>
              </a:rPr>
              <a:t> </a:t>
            </a:r>
            <a:r>
              <a:rPr lang="en"/>
              <a:t>represents an attempted solution to a problem that includes the results of making </a:t>
            </a:r>
            <a:r>
              <a:rPr lang="en" b="1" i="1">
                <a:solidFill>
                  <a:srgbClr val="FF0000"/>
                </a:solidFill>
              </a:rPr>
              <a:t>zero or more</a:t>
            </a:r>
            <a:r>
              <a:rPr lang="en"/>
              <a:t> choices.</a:t>
            </a:r>
            <a:endParaRPr/>
          </a:p>
          <a:p>
            <a:pPr marL="457200" lvl="0" indent="-311150" algn="l" rtl="0">
              <a:lnSpc>
                <a:spcPct val="100000"/>
              </a:lnSpc>
              <a:spcBef>
                <a:spcPts val="1000"/>
              </a:spcBef>
              <a:spcAft>
                <a:spcPts val="0"/>
              </a:spcAft>
              <a:buSzPts val="1300"/>
              <a:buChar char="●"/>
            </a:pPr>
            <a:r>
              <a:rPr lang="en"/>
              <a:t>The </a:t>
            </a:r>
            <a:r>
              <a:rPr lang="en">
                <a:latin typeface="Courier New"/>
                <a:ea typeface="Courier New"/>
                <a:cs typeface="Courier New"/>
                <a:sym typeface="Courier New"/>
              </a:rPr>
              <a:t>Configuration</a:t>
            </a:r>
            <a:r>
              <a:rPr lang="en"/>
              <a:t> interface defines </a:t>
            </a:r>
            <a:r>
              <a:rPr lang="en" b="1" i="1">
                <a:solidFill>
                  <a:srgbClr val="FF0000"/>
                </a:solidFill>
              </a:rPr>
              <a:t>three</a:t>
            </a:r>
            <a:r>
              <a:rPr lang="en">
                <a:solidFill>
                  <a:srgbClr val="FF0000"/>
                </a:solidFill>
              </a:rPr>
              <a:t> </a:t>
            </a:r>
            <a:r>
              <a:rPr lang="en"/>
              <a:t>required methods, the implementations for which will vary based on the problem being solved.</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isValid()</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valid. Which is to say it does not break the rules of the problem.</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isGoal()</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a </a:t>
            </a:r>
            <a:r>
              <a:rPr lang="en" b="1" i="1">
                <a:solidFill>
                  <a:srgbClr val="FF0000"/>
                </a:solidFill>
              </a:rPr>
              <a:t>valid solution</a:t>
            </a:r>
            <a:r>
              <a:rPr lang="en" b="1" i="1"/>
              <a:t> </a:t>
            </a:r>
            <a:r>
              <a:rPr lang="en"/>
              <a:t>to the problem.</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getSuccessors()</a:t>
            </a:r>
            <a:r>
              <a:rPr lang="en"/>
              <a:t> returns a </a:t>
            </a:r>
            <a:r>
              <a:rPr lang="en" b="1" i="1">
                <a:solidFill>
                  <a:srgbClr val="FF0000"/>
                </a:solidFill>
              </a:rPr>
              <a:t>collection</a:t>
            </a:r>
            <a:r>
              <a:rPr lang="en">
                <a:solidFill>
                  <a:srgbClr val="FF0000"/>
                </a:solidFill>
              </a:rPr>
              <a:t> </a:t>
            </a:r>
            <a:r>
              <a:rPr lang="en"/>
              <a:t>of </a:t>
            </a:r>
            <a:r>
              <a:rPr lang="en" b="1" i="1">
                <a:solidFill>
                  <a:srgbClr val="FF0000"/>
                </a:solidFill>
              </a:rPr>
              <a:t>successors</a:t>
            </a:r>
            <a:r>
              <a:rPr lang="en"/>
              <a:t>, each of which represents one of the possible next choices.</a:t>
            </a:r>
            <a:endParaRPr/>
          </a:p>
          <a:p>
            <a:pPr marL="457200" lvl="0" indent="-311150" algn="l" rtl="0">
              <a:lnSpc>
                <a:spcPct val="100000"/>
              </a:lnSpc>
              <a:spcBef>
                <a:spcPts val="1000"/>
              </a:spcBef>
              <a:spcAft>
                <a:spcPts val="0"/>
              </a:spcAft>
              <a:buSzPts val="1300"/>
              <a:buChar char="●"/>
            </a:pPr>
            <a:r>
              <a:rPr lang="en"/>
              <a:t>The class that implements </a:t>
            </a:r>
            <a:r>
              <a:rPr lang="en">
                <a:latin typeface="Courier New"/>
                <a:ea typeface="Courier New"/>
                <a:cs typeface="Courier New"/>
                <a:sym typeface="Courier New"/>
              </a:rPr>
              <a:t>Configuration</a:t>
            </a:r>
            <a:r>
              <a:rPr lang="en"/>
              <a:t> must include the </a:t>
            </a:r>
            <a:r>
              <a:rPr lang="en" b="1" i="1">
                <a:solidFill>
                  <a:srgbClr val="FF0000"/>
                </a:solidFill>
              </a:rPr>
              <a:t>state</a:t>
            </a:r>
            <a:r>
              <a:rPr lang="en">
                <a:solidFill>
                  <a:srgbClr val="FF0000"/>
                </a:solidFill>
              </a:rPr>
              <a:t> </a:t>
            </a:r>
            <a:r>
              <a:rPr lang="en"/>
              <a:t>needed to implement each of the required methods.</a:t>
            </a:r>
            <a:endParaRPr/>
          </a:p>
        </p:txBody>
      </p:sp>
      <p:sp>
        <p:nvSpPr>
          <p:cNvPr id="2202" name="Google Shape;2202;p98"/>
          <p:cNvSpPr txBox="1">
            <a:spLocks noGrp="1"/>
          </p:cNvSpPr>
          <p:nvPr>
            <p:ph type="body" idx="3"/>
          </p:nvPr>
        </p:nvSpPr>
        <p:spPr>
          <a:xfrm>
            <a:off x="4990375" y="11178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At first glance, the </a:t>
            </a:r>
            <a:r>
              <a:rPr lang="en">
                <a:latin typeface="Courier New"/>
                <a:ea typeface="Courier New"/>
                <a:cs typeface="Courier New"/>
                <a:sym typeface="Courier New"/>
              </a:rPr>
              <a:t>Configuration</a:t>
            </a:r>
            <a:r>
              <a:rPr lang="en"/>
              <a:t> interface is deceptively simple. It only contains three methods, two of which return a </a:t>
            </a:r>
            <a:r>
              <a:rPr lang="en">
                <a:latin typeface="Courier New"/>
                <a:ea typeface="Courier New"/>
                <a:cs typeface="Courier New"/>
                <a:sym typeface="Courier New"/>
              </a:rPr>
              <a:t>boolean</a:t>
            </a:r>
            <a:r>
              <a:rPr lang="en"/>
              <a:t> value.</a:t>
            </a:r>
            <a:endParaRPr/>
          </a:p>
        </p:txBody>
      </p:sp>
      <p:sp>
        <p:nvSpPr>
          <p:cNvPr id="2203" name="Google Shape;2203;p98"/>
          <p:cNvSpPr txBox="1">
            <a:spLocks noGrp="1"/>
          </p:cNvSpPr>
          <p:nvPr>
            <p:ph type="body" idx="3"/>
          </p:nvPr>
        </p:nvSpPr>
        <p:spPr>
          <a:xfrm>
            <a:off x="4990375" y="33276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But, depending on the nature of the problem being solved, any one of them may be very challenging to implement.</a:t>
            </a:r>
            <a:endParaRPr/>
          </a:p>
        </p:txBody>
      </p:sp>
      <p:sp>
        <p:nvSpPr>
          <p:cNvPr id="2204" name="Google Shape;2204;p98"/>
          <p:cNvSpPr txBox="1">
            <a:spLocks noGrp="1"/>
          </p:cNvSpPr>
          <p:nvPr>
            <p:ph type="body" idx="3"/>
          </p:nvPr>
        </p:nvSpPr>
        <p:spPr>
          <a:xfrm>
            <a:off x="4990375" y="41658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first step in implementing a </a:t>
            </a:r>
            <a:r>
              <a:rPr lang="en">
                <a:latin typeface="Courier New"/>
                <a:ea typeface="Courier New"/>
                <a:cs typeface="Courier New"/>
                <a:sym typeface="Courier New"/>
              </a:rPr>
              <a:t>Configuration</a:t>
            </a:r>
            <a:r>
              <a:rPr lang="en"/>
              <a:t> that can be used to attempt to solve a problem using backtracking is to answer a few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02"/>
                                        </p:tgtEl>
                                        <p:attrNameLst>
                                          <p:attrName>style.visibility</p:attrName>
                                        </p:attrNameLst>
                                      </p:cBhvr>
                                      <p:to>
                                        <p:strVal val="visible"/>
                                      </p:to>
                                    </p:set>
                                    <p:animEffect transition="in" filter="fade">
                                      <p:cBhvr>
                                        <p:cTn id="39" dur="1000"/>
                                        <p:tgtEl>
                                          <p:spTgt spid="2202"/>
                                        </p:tgtEl>
                                      </p:cBhvr>
                                    </p:animEffect>
                                  </p:childTnLst>
                                </p:cTn>
                              </p:par>
                              <p:par>
                                <p:cTn id="40" presetID="10" presetClass="entr" presetSubtype="0" fill="hold" nodeType="withEffect">
                                  <p:stCondLst>
                                    <p:cond delay="0"/>
                                  </p:stCondLst>
                                  <p:childTnLst>
                                    <p:set>
                                      <p:cBhvr>
                                        <p:cTn id="41" dur="1" fill="hold">
                                          <p:stCondLst>
                                            <p:cond delay="0"/>
                                          </p:stCondLst>
                                        </p:cTn>
                                        <p:tgtEl>
                                          <p:spTgt spid="2200"/>
                                        </p:tgtEl>
                                        <p:attrNameLst>
                                          <p:attrName>style.visibility</p:attrName>
                                        </p:attrNameLst>
                                      </p:cBhvr>
                                      <p:to>
                                        <p:strVal val="visible"/>
                                      </p:to>
                                    </p:set>
                                    <p:animEffect transition="in" filter="fade">
                                      <p:cBhvr>
                                        <p:cTn id="42" dur="1000"/>
                                        <p:tgtEl>
                                          <p:spTgt spid="220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03"/>
                                        </p:tgtEl>
                                        <p:attrNameLst>
                                          <p:attrName>style.visibility</p:attrName>
                                        </p:attrNameLst>
                                      </p:cBhvr>
                                      <p:to>
                                        <p:strVal val="visible"/>
                                      </p:to>
                                    </p:set>
                                    <p:animEffect transition="in" filter="fade">
                                      <p:cBhvr>
                                        <p:cTn id="47" dur="1000"/>
                                        <p:tgtEl>
                                          <p:spTgt spid="220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04"/>
                                        </p:tgtEl>
                                        <p:attrNameLst>
                                          <p:attrName>style.visibility</p:attrName>
                                        </p:attrNameLst>
                                      </p:cBhvr>
                                      <p:to>
                                        <p:strVal val="visible"/>
                                      </p:to>
                                    </p:set>
                                    <p:animEffect transition="in" filter="fade">
                                      <p:cBhvr>
                                        <p:cTn id="52" dur="1000"/>
                                        <p:tgtEl>
                                          <p:spTgt spid="2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208"/>
        <p:cNvGrpSpPr/>
        <p:nvPr/>
      </p:nvGrpSpPr>
      <p:grpSpPr>
        <a:xfrm>
          <a:off x="0" y="0"/>
          <a:ext cx="0" cy="0"/>
          <a:chOff x="0" y="0"/>
          <a:chExt cx="0" cy="0"/>
        </a:xfrm>
      </p:grpSpPr>
      <p:sp>
        <p:nvSpPr>
          <p:cNvPr id="2209" name="Google Shape;2209;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81</a:t>
            </a:fld>
            <a:endParaRPr/>
          </a:p>
        </p:txBody>
      </p:sp>
      <p:sp>
        <p:nvSpPr>
          <p:cNvPr id="2210" name="Google Shape;2210;p9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1" name="Google Shape;2211;p99"/>
          <p:cNvSpPr txBox="1"/>
          <p:nvPr/>
        </p:nvSpPr>
        <p:spPr>
          <a:xfrm>
            <a:off x="2546875" y="1673300"/>
            <a:ext cx="4050300" cy="3263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6" name="Google Shape;2216;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82</a:t>
            </a:fld>
            <a:endParaRPr/>
          </a:p>
        </p:txBody>
      </p:sp>
      <p:sp>
        <p:nvSpPr>
          <p:cNvPr id="2217" name="Google Shape;2217;p10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8" name="Google Shape;2218;p100"/>
          <p:cNvSpPr txBox="1"/>
          <p:nvPr/>
        </p:nvSpPr>
        <p:spPr>
          <a:xfrm>
            <a:off x="2546875" y="1673300"/>
            <a:ext cx="4050300" cy="3263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
        <p:nvSpPr>
          <p:cNvPr id="2219" name="Google Shape;2219;p100"/>
          <p:cNvSpPr txBox="1"/>
          <p:nvPr/>
        </p:nvSpPr>
        <p:spPr>
          <a:xfrm>
            <a:off x="6723450" y="1414475"/>
            <a:ext cx="229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Configuration</a:t>
            </a:r>
            <a:r>
              <a:rPr lang="en" sz="1100">
                <a:latin typeface="Roboto"/>
                <a:ea typeface="Roboto"/>
                <a:cs typeface="Roboto"/>
                <a:sym typeface="Roboto"/>
              </a:rPr>
              <a:t> is </a:t>
            </a:r>
            <a:r>
              <a:rPr lang="en" sz="1100" b="1" i="1">
                <a:solidFill>
                  <a:srgbClr val="FF0000"/>
                </a:solidFill>
                <a:latin typeface="Roboto"/>
                <a:ea typeface="Roboto"/>
                <a:cs typeface="Roboto"/>
                <a:sym typeface="Roboto"/>
              </a:rPr>
              <a:t>generic</a:t>
            </a:r>
            <a:r>
              <a:rPr lang="en" sz="1100">
                <a:solidFill>
                  <a:srgbClr val="FF0000"/>
                </a:solidFill>
                <a:latin typeface="Roboto"/>
                <a:ea typeface="Roboto"/>
                <a:cs typeface="Roboto"/>
                <a:sym typeface="Roboto"/>
              </a:rPr>
              <a:t> </a:t>
            </a:r>
            <a:r>
              <a:rPr lang="en" sz="1100">
                <a:latin typeface="Roboto"/>
                <a:ea typeface="Roboto"/>
                <a:cs typeface="Roboto"/>
                <a:sym typeface="Roboto"/>
              </a:rPr>
              <a:t>and the implementing class specifies </a:t>
            </a:r>
            <a:r>
              <a:rPr lang="en" sz="1100" i="1">
                <a:latin typeface="Roboto"/>
                <a:ea typeface="Roboto"/>
                <a:cs typeface="Roboto"/>
                <a:sym typeface="Roboto"/>
              </a:rPr>
              <a:t>its own type</a:t>
            </a:r>
            <a:r>
              <a:rPr lang="en" sz="1100">
                <a:latin typeface="Roboto"/>
                <a:ea typeface="Roboto"/>
                <a:cs typeface="Roboto"/>
                <a:sym typeface="Roboto"/>
              </a:rPr>
              <a:t>.</a:t>
            </a:r>
            <a:endParaRPr sz="1100">
              <a:latin typeface="Roboto"/>
              <a:ea typeface="Roboto"/>
              <a:cs typeface="Roboto"/>
              <a:sym typeface="Roboto"/>
            </a:endParaRPr>
          </a:p>
        </p:txBody>
      </p:sp>
      <p:sp>
        <p:nvSpPr>
          <p:cNvPr id="2220" name="Google Shape;2220;p100"/>
          <p:cNvSpPr txBox="1"/>
          <p:nvPr/>
        </p:nvSpPr>
        <p:spPr>
          <a:xfrm>
            <a:off x="6723450" y="2217375"/>
            <a:ext cx="2297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This is similar to implementing </a:t>
            </a:r>
            <a:r>
              <a:rPr lang="en" sz="1100">
                <a:latin typeface="Courier New"/>
                <a:ea typeface="Courier New"/>
                <a:cs typeface="Courier New"/>
                <a:sym typeface="Courier New"/>
              </a:rPr>
              <a:t>Comparable</a:t>
            </a:r>
            <a:r>
              <a:rPr lang="en" sz="1100">
                <a:latin typeface="Roboto"/>
                <a:ea typeface="Roboto"/>
                <a:cs typeface="Roboto"/>
                <a:sym typeface="Roboto"/>
              </a:rPr>
              <a:t>.</a:t>
            </a:r>
            <a:endParaRPr sz="1100">
              <a:latin typeface="Roboto"/>
              <a:ea typeface="Roboto"/>
              <a:cs typeface="Roboto"/>
              <a:sym typeface="Roboto"/>
            </a:endParaRPr>
          </a:p>
        </p:txBody>
      </p:sp>
      <p:grpSp>
        <p:nvGrpSpPr>
          <p:cNvPr id="2221" name="Google Shape;2221;p100"/>
          <p:cNvGrpSpPr/>
          <p:nvPr/>
        </p:nvGrpSpPr>
        <p:grpSpPr>
          <a:xfrm>
            <a:off x="5553630" y="1760825"/>
            <a:ext cx="1169820" cy="346400"/>
            <a:chOff x="5553630" y="1760825"/>
            <a:chExt cx="1169820" cy="346400"/>
          </a:xfrm>
        </p:grpSpPr>
        <p:sp>
          <p:nvSpPr>
            <p:cNvPr id="2222" name="Google Shape;2222;p100"/>
            <p:cNvSpPr/>
            <p:nvPr/>
          </p:nvSpPr>
          <p:spPr>
            <a:xfrm>
              <a:off x="5553630" y="1883425"/>
              <a:ext cx="688200" cy="223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23" name="Google Shape;2223;p100"/>
            <p:cNvCxnSpPr>
              <a:stCxn id="2219" idx="1"/>
              <a:endCxn id="2222" idx="0"/>
            </p:cNvCxnSpPr>
            <p:nvPr/>
          </p:nvCxnSpPr>
          <p:spPr>
            <a:xfrm flipH="1">
              <a:off x="5897850" y="1760825"/>
              <a:ext cx="825600" cy="122700"/>
            </a:xfrm>
            <a:prstGeom prst="bentConnector2">
              <a:avLst/>
            </a:prstGeom>
            <a:noFill/>
            <a:ln w="19050" cap="flat" cmpd="sng">
              <a:solidFill>
                <a:srgbClr val="FF0000"/>
              </a:solidFill>
              <a:prstDash val="solid"/>
              <a:round/>
              <a:headEnd type="none" w="med" len="med"/>
              <a:tailEnd type="none" w="med" len="med"/>
            </a:ln>
          </p:spPr>
        </p:cxnSp>
      </p:grpSp>
      <p:sp>
        <p:nvSpPr>
          <p:cNvPr id="2224" name="Google Shape;2224;p100"/>
          <p:cNvSpPr txBox="1"/>
          <p:nvPr/>
        </p:nvSpPr>
        <p:spPr>
          <a:xfrm>
            <a:off x="122900" y="1414475"/>
            <a:ext cx="229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As is common when implementing an interface, the methods are initially stubbed out.</a:t>
            </a:r>
            <a:endParaRPr sz="1100">
              <a:latin typeface="Roboto"/>
              <a:ea typeface="Roboto"/>
              <a:cs typeface="Roboto"/>
              <a:sym typeface="Roboto"/>
            </a:endParaRPr>
          </a:p>
        </p:txBody>
      </p:sp>
      <p:sp>
        <p:nvSpPr>
          <p:cNvPr id="2225" name="Google Shape;2225;p100"/>
          <p:cNvSpPr txBox="1"/>
          <p:nvPr/>
        </p:nvSpPr>
        <p:spPr>
          <a:xfrm>
            <a:off x="122900" y="22355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getSuccessors()</a:t>
            </a:r>
            <a:r>
              <a:rPr lang="en" sz="1100">
                <a:latin typeface="Roboto"/>
                <a:ea typeface="Roboto"/>
                <a:cs typeface="Roboto"/>
                <a:sym typeface="Roboto"/>
              </a:rPr>
              <a:t> should return a list of "next steps" towards possible solutions. Initially, the list will be empty.</a:t>
            </a:r>
            <a:endParaRPr sz="1100">
              <a:latin typeface="Roboto"/>
              <a:ea typeface="Roboto"/>
              <a:cs typeface="Roboto"/>
              <a:sym typeface="Roboto"/>
            </a:endParaRPr>
          </a:p>
        </p:txBody>
      </p:sp>
      <p:sp>
        <p:nvSpPr>
          <p:cNvPr id="2226" name="Google Shape;2226;p100"/>
          <p:cNvSpPr txBox="1"/>
          <p:nvPr/>
        </p:nvSpPr>
        <p:spPr>
          <a:xfrm>
            <a:off x="6723500" y="31545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isValid()</a:t>
            </a:r>
            <a:r>
              <a:rPr lang="en" sz="1100">
                <a:latin typeface="Roboto"/>
                <a:ea typeface="Roboto"/>
                <a:cs typeface="Roboto"/>
                <a:sym typeface="Roboto"/>
              </a:rPr>
              <a:t> should return </a:t>
            </a:r>
            <a:r>
              <a:rPr lang="en" sz="1100">
                <a:latin typeface="Courier New"/>
                <a:ea typeface="Courier New"/>
                <a:cs typeface="Courier New"/>
                <a:sym typeface="Courier New"/>
              </a:rPr>
              <a:t>false</a:t>
            </a:r>
            <a:r>
              <a:rPr lang="en" sz="1100">
                <a:latin typeface="Roboto"/>
                <a:ea typeface="Roboto"/>
                <a:cs typeface="Roboto"/>
                <a:sym typeface="Roboto"/>
              </a:rPr>
              <a:t> if the configuration breaks the rules of the problem. Initially it will return </a:t>
            </a:r>
            <a:r>
              <a:rPr lang="en" sz="1100">
                <a:latin typeface="Courier New"/>
                <a:ea typeface="Courier New"/>
                <a:cs typeface="Courier New"/>
                <a:sym typeface="Courier New"/>
              </a:rPr>
              <a:t>true</a:t>
            </a:r>
            <a:r>
              <a:rPr lang="en" sz="1100">
                <a:latin typeface="Roboto"/>
                <a:ea typeface="Roboto"/>
                <a:cs typeface="Roboto"/>
                <a:sym typeface="Roboto"/>
              </a:rPr>
              <a:t>.</a:t>
            </a:r>
            <a:endParaRPr sz="1100">
              <a:latin typeface="Roboto"/>
              <a:ea typeface="Roboto"/>
              <a:cs typeface="Roboto"/>
              <a:sym typeface="Roboto"/>
            </a:endParaRPr>
          </a:p>
        </p:txBody>
      </p:sp>
      <p:sp>
        <p:nvSpPr>
          <p:cNvPr id="2227" name="Google Shape;2227;p100"/>
          <p:cNvSpPr txBox="1"/>
          <p:nvPr/>
        </p:nvSpPr>
        <p:spPr>
          <a:xfrm>
            <a:off x="122900" y="39318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isGoal()</a:t>
            </a:r>
            <a:r>
              <a:rPr lang="en" sz="1100">
                <a:latin typeface="Roboto"/>
                <a:ea typeface="Roboto"/>
                <a:cs typeface="Roboto"/>
                <a:sym typeface="Roboto"/>
              </a:rPr>
              <a:t> should return </a:t>
            </a:r>
            <a:r>
              <a:rPr lang="en" sz="1100">
                <a:latin typeface="Courier New"/>
                <a:ea typeface="Courier New"/>
                <a:cs typeface="Courier New"/>
                <a:sym typeface="Courier New"/>
              </a:rPr>
              <a:t>true</a:t>
            </a:r>
            <a:r>
              <a:rPr lang="en" sz="1100">
                <a:latin typeface="Roboto"/>
                <a:ea typeface="Roboto"/>
                <a:cs typeface="Roboto"/>
                <a:sym typeface="Roboto"/>
              </a:rPr>
              <a:t> if the configuration is a valid solution to the problem. Initially it will return </a:t>
            </a:r>
            <a:r>
              <a:rPr lang="en" sz="1100">
                <a:latin typeface="Courier New"/>
                <a:ea typeface="Courier New"/>
                <a:cs typeface="Courier New"/>
                <a:sym typeface="Courier New"/>
              </a:rPr>
              <a:t>false</a:t>
            </a:r>
            <a:r>
              <a:rPr lang="en" sz="1100">
                <a:latin typeface="Roboto"/>
                <a:ea typeface="Roboto"/>
                <a:cs typeface="Roboto"/>
                <a:sym typeface="Roboto"/>
              </a:rPr>
              <a:t>.</a:t>
            </a:r>
            <a:endParaRPr sz="1100">
              <a:latin typeface="Roboto"/>
              <a:ea typeface="Roboto"/>
              <a:cs typeface="Roboto"/>
              <a:sym typeface="Roboto"/>
            </a:endParaRPr>
          </a:p>
        </p:txBody>
      </p:sp>
      <p:grpSp>
        <p:nvGrpSpPr>
          <p:cNvPr id="2228" name="Google Shape;2228;p100"/>
          <p:cNvGrpSpPr/>
          <p:nvPr/>
        </p:nvGrpSpPr>
        <p:grpSpPr>
          <a:xfrm>
            <a:off x="2420600" y="2158025"/>
            <a:ext cx="4016300" cy="1017000"/>
            <a:chOff x="2420600" y="2158025"/>
            <a:chExt cx="4016300" cy="1017000"/>
          </a:xfrm>
        </p:grpSpPr>
        <p:sp>
          <p:nvSpPr>
            <p:cNvPr id="2229" name="Google Shape;2229;p100"/>
            <p:cNvSpPr/>
            <p:nvPr/>
          </p:nvSpPr>
          <p:spPr>
            <a:xfrm>
              <a:off x="2813800" y="2158025"/>
              <a:ext cx="3623100" cy="1017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0" name="Google Shape;2230;p100"/>
            <p:cNvCxnSpPr>
              <a:stCxn id="2225" idx="3"/>
              <a:endCxn id="2229" idx="1"/>
            </p:cNvCxnSpPr>
            <p:nvPr/>
          </p:nvCxnSpPr>
          <p:spPr>
            <a:xfrm>
              <a:off x="2420600" y="2666525"/>
              <a:ext cx="393300" cy="0"/>
            </a:xfrm>
            <a:prstGeom prst="straightConnector1">
              <a:avLst/>
            </a:prstGeom>
            <a:noFill/>
            <a:ln w="19050" cap="flat" cmpd="sng">
              <a:solidFill>
                <a:srgbClr val="FF0000"/>
              </a:solidFill>
              <a:prstDash val="solid"/>
              <a:round/>
              <a:headEnd type="none" w="med" len="med"/>
              <a:tailEnd type="none" w="med" len="med"/>
            </a:ln>
          </p:spPr>
        </p:cxnSp>
      </p:grpSp>
      <p:grpSp>
        <p:nvGrpSpPr>
          <p:cNvPr id="2231" name="Google Shape;2231;p100"/>
          <p:cNvGrpSpPr/>
          <p:nvPr/>
        </p:nvGrpSpPr>
        <p:grpSpPr>
          <a:xfrm>
            <a:off x="2420600" y="4016475"/>
            <a:ext cx="2306900" cy="692700"/>
            <a:chOff x="2420600" y="4016475"/>
            <a:chExt cx="2306900" cy="692700"/>
          </a:xfrm>
        </p:grpSpPr>
        <p:sp>
          <p:nvSpPr>
            <p:cNvPr id="2232" name="Google Shape;2232;p100"/>
            <p:cNvSpPr/>
            <p:nvPr/>
          </p:nvSpPr>
          <p:spPr>
            <a:xfrm>
              <a:off x="2813800" y="4016475"/>
              <a:ext cx="1913700" cy="69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3" name="Google Shape;2233;p100"/>
            <p:cNvCxnSpPr>
              <a:stCxn id="2227" idx="3"/>
              <a:endCxn id="2232" idx="1"/>
            </p:cNvCxnSpPr>
            <p:nvPr/>
          </p:nvCxnSpPr>
          <p:spPr>
            <a:xfrm>
              <a:off x="2420600" y="4362825"/>
              <a:ext cx="393300" cy="0"/>
            </a:xfrm>
            <a:prstGeom prst="straightConnector1">
              <a:avLst/>
            </a:prstGeom>
            <a:noFill/>
            <a:ln w="19050" cap="flat" cmpd="sng">
              <a:solidFill>
                <a:srgbClr val="FF0000"/>
              </a:solidFill>
              <a:prstDash val="solid"/>
              <a:round/>
              <a:headEnd type="none" w="med" len="med"/>
              <a:tailEnd type="none" w="med" len="med"/>
            </a:ln>
          </p:spPr>
        </p:cxnSp>
      </p:grpSp>
      <p:grpSp>
        <p:nvGrpSpPr>
          <p:cNvPr id="2234" name="Google Shape;2234;p100"/>
          <p:cNvGrpSpPr/>
          <p:nvPr/>
        </p:nvGrpSpPr>
        <p:grpSpPr>
          <a:xfrm>
            <a:off x="2813800" y="3239175"/>
            <a:ext cx="3909700" cy="692700"/>
            <a:chOff x="2813800" y="3239175"/>
            <a:chExt cx="3909700" cy="692700"/>
          </a:xfrm>
        </p:grpSpPr>
        <p:sp>
          <p:nvSpPr>
            <p:cNvPr id="2235" name="Google Shape;2235;p100"/>
            <p:cNvSpPr/>
            <p:nvPr/>
          </p:nvSpPr>
          <p:spPr>
            <a:xfrm>
              <a:off x="2813800" y="3239175"/>
              <a:ext cx="1913700" cy="69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6" name="Google Shape;2236;p100"/>
            <p:cNvCxnSpPr>
              <a:stCxn id="2226" idx="1"/>
              <a:endCxn id="2235" idx="3"/>
            </p:cNvCxnSpPr>
            <p:nvPr/>
          </p:nvCxnSpPr>
          <p:spPr>
            <a:xfrm rot="10800000">
              <a:off x="4727600" y="3585525"/>
              <a:ext cx="19959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2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22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22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2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2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26"/>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223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27"/>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2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101"/>
          <p:cNvSpPr txBox="1">
            <a:spLocks noGrp="1"/>
          </p:cNvSpPr>
          <p:nvPr>
            <p:ph type="body" idx="1"/>
          </p:nvPr>
        </p:nvSpPr>
        <p:spPr>
          <a:xfrm>
            <a:off x="4298325" y="23275"/>
            <a:ext cx="4794000" cy="4956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Before you can begin implementing an algorithm that uses backtracking to solve a problem, you must answer a few questions about your configuration implementation.</a:t>
            </a:r>
            <a:endParaRPr/>
          </a:p>
          <a:p>
            <a:pPr marL="457200" lvl="0" indent="-311150" algn="l" rtl="0">
              <a:spcBef>
                <a:spcPts val="1000"/>
              </a:spcBef>
              <a:spcAft>
                <a:spcPts val="0"/>
              </a:spcAft>
              <a:buSzPts val="1300"/>
              <a:buChar char="●"/>
            </a:pPr>
            <a:r>
              <a:rPr lang="en"/>
              <a:t>First, how will you represent the </a:t>
            </a:r>
            <a:r>
              <a:rPr lang="en" b="1" i="1">
                <a:solidFill>
                  <a:srgbClr val="FF0000"/>
                </a:solidFill>
              </a:rPr>
              <a:t>state</a:t>
            </a:r>
            <a:r>
              <a:rPr lang="en">
                <a:solidFill>
                  <a:srgbClr val="FF0000"/>
                </a:solidFill>
              </a:rPr>
              <a:t> </a:t>
            </a:r>
            <a:r>
              <a:rPr lang="en"/>
              <a:t>of a configuration?</a:t>
            </a:r>
            <a:endParaRPr/>
          </a:p>
          <a:p>
            <a:pPr marL="914400" lvl="1" indent="-298450" algn="l" rtl="0">
              <a:spcBef>
                <a:spcPts val="0"/>
              </a:spcBef>
              <a:spcAft>
                <a:spcPts val="0"/>
              </a:spcAft>
              <a:buSzPts val="1100"/>
              <a:buChar char="○"/>
            </a:pPr>
            <a:r>
              <a:rPr lang="en"/>
              <a:t>What data structures are needed?</a:t>
            </a:r>
            <a:endParaRPr/>
          </a:p>
          <a:p>
            <a:pPr marL="914400" lvl="1" indent="-298450" algn="l" rtl="0">
              <a:spcBef>
                <a:spcPts val="0"/>
              </a:spcBef>
              <a:spcAft>
                <a:spcPts val="0"/>
              </a:spcAft>
              <a:buSzPts val="1100"/>
              <a:buChar char="○"/>
            </a:pPr>
            <a:r>
              <a:rPr lang="en"/>
              <a:t>What other fields?</a:t>
            </a:r>
            <a:endParaRPr/>
          </a:p>
          <a:p>
            <a:pPr marL="914400" lvl="1" indent="-298450" algn="l" rtl="0">
              <a:spcBef>
                <a:spcPts val="0"/>
              </a:spcBef>
              <a:spcAft>
                <a:spcPts val="0"/>
              </a:spcAft>
              <a:buSzPts val="1100"/>
              <a:buChar char="○"/>
            </a:pPr>
            <a:r>
              <a:rPr lang="en"/>
              <a:t>How will you construct a new configuration?</a:t>
            </a:r>
            <a:endParaRPr/>
          </a:p>
          <a:p>
            <a:pPr marL="457200" lvl="0" indent="-311150" algn="l" rtl="0">
              <a:spcBef>
                <a:spcPts val="1000"/>
              </a:spcBef>
              <a:spcAft>
                <a:spcPts val="0"/>
              </a:spcAft>
              <a:buSzPts val="1300"/>
              <a:buChar char="●"/>
            </a:pPr>
            <a:r>
              <a:rPr lang="en"/>
              <a:t>Second, how will you determine whether or not your configuration is </a:t>
            </a:r>
            <a:r>
              <a:rPr lang="en" b="1" i="1">
                <a:solidFill>
                  <a:srgbClr val="FF0000"/>
                </a:solidFill>
              </a:rPr>
              <a:t>valid</a:t>
            </a:r>
            <a:r>
              <a:rPr lang="en"/>
              <a:t>?</a:t>
            </a:r>
            <a:endParaRPr/>
          </a:p>
          <a:p>
            <a:pPr marL="914400" lvl="1" indent="-298450" algn="l" rtl="0">
              <a:spcBef>
                <a:spcPts val="0"/>
              </a:spcBef>
              <a:spcAft>
                <a:spcPts val="0"/>
              </a:spcAft>
              <a:buSzPts val="1100"/>
              <a:buChar char="○"/>
            </a:pPr>
            <a:r>
              <a:rPr lang="en"/>
              <a:t>How do you know whether or not the configuration breaks the rules of the problem?</a:t>
            </a:r>
            <a:endParaRPr/>
          </a:p>
          <a:p>
            <a:pPr marL="914400" lvl="1" indent="-298450" algn="l" rtl="0">
              <a:spcBef>
                <a:spcPts val="0"/>
              </a:spcBef>
              <a:spcAft>
                <a:spcPts val="0"/>
              </a:spcAft>
              <a:buSzPts val="1100"/>
              <a:buChar char="○"/>
            </a:pPr>
            <a:r>
              <a:rPr lang="en"/>
              <a:t>Will this require additional fields or data structures?</a:t>
            </a:r>
            <a:endParaRPr/>
          </a:p>
          <a:p>
            <a:pPr marL="457200" lvl="0" indent="-311150" algn="l" rtl="0">
              <a:spcBef>
                <a:spcPts val="1000"/>
              </a:spcBef>
              <a:spcAft>
                <a:spcPts val="0"/>
              </a:spcAft>
              <a:buSzPts val="1300"/>
              <a:buChar char="●"/>
            </a:pPr>
            <a:r>
              <a:rPr lang="en"/>
              <a:t>Next, how will you determine whether or not the configuration is the </a:t>
            </a:r>
            <a:r>
              <a:rPr lang="en" b="1" i="1">
                <a:solidFill>
                  <a:srgbClr val="FF0000"/>
                </a:solidFill>
              </a:rPr>
              <a:t>goal</a:t>
            </a:r>
            <a:r>
              <a:rPr lang="en"/>
              <a:t>?</a:t>
            </a:r>
            <a:endParaRPr/>
          </a:p>
          <a:p>
            <a:pPr marL="914400" lvl="1" indent="-298450" algn="l" rtl="0">
              <a:spcBef>
                <a:spcPts val="0"/>
              </a:spcBef>
              <a:spcAft>
                <a:spcPts val="0"/>
              </a:spcAft>
              <a:buSzPts val="1100"/>
              <a:buChar char="○"/>
            </a:pPr>
            <a:r>
              <a:rPr lang="en"/>
              <a:t>Do you have a way to determine that it is a </a:t>
            </a:r>
            <a:r>
              <a:rPr lang="en" b="1" i="1">
                <a:solidFill>
                  <a:srgbClr val="FF0000"/>
                </a:solidFill>
              </a:rPr>
              <a:t>valid solution</a:t>
            </a:r>
            <a:r>
              <a:rPr lang="en"/>
              <a:t> to the problem?</a:t>
            </a:r>
            <a:endParaRPr/>
          </a:p>
          <a:p>
            <a:pPr marL="457200" lvl="0" indent="-311150" algn="l" rtl="0">
              <a:spcBef>
                <a:spcPts val="1000"/>
              </a:spcBef>
              <a:spcAft>
                <a:spcPts val="0"/>
              </a:spcAft>
              <a:buSzPts val="1300"/>
              <a:buChar char="●"/>
            </a:pPr>
            <a:r>
              <a:rPr lang="en"/>
              <a:t>Finally, how will you create </a:t>
            </a:r>
            <a:r>
              <a:rPr lang="en" b="1" i="1">
                <a:solidFill>
                  <a:srgbClr val="FF0000"/>
                </a:solidFill>
              </a:rPr>
              <a:t>successors</a:t>
            </a:r>
            <a:r>
              <a:rPr lang="en">
                <a:solidFill>
                  <a:srgbClr val="FF0000"/>
                </a:solidFill>
              </a:rPr>
              <a:t> </a:t>
            </a:r>
            <a:r>
              <a:rPr lang="en"/>
              <a:t>to your configuration?</a:t>
            </a:r>
            <a:endParaRPr/>
          </a:p>
          <a:p>
            <a:pPr marL="914400" lvl="1" indent="-298450" algn="l" rtl="0">
              <a:spcBef>
                <a:spcPts val="0"/>
              </a:spcBef>
              <a:spcAft>
                <a:spcPts val="0"/>
              </a:spcAft>
              <a:buSzPts val="1100"/>
              <a:buChar char="○"/>
            </a:pPr>
            <a:r>
              <a:rPr lang="en"/>
              <a:t>Each will represent </a:t>
            </a:r>
            <a:r>
              <a:rPr lang="en" b="1" i="1">
                <a:solidFill>
                  <a:srgbClr val="FF0000"/>
                </a:solidFill>
              </a:rPr>
              <a:t>one</a:t>
            </a:r>
            <a:r>
              <a:rPr lang="en">
                <a:solidFill>
                  <a:srgbClr val="FF0000"/>
                </a:solidFill>
              </a:rPr>
              <a:t> </a:t>
            </a:r>
            <a:r>
              <a:rPr lang="en"/>
              <a:t>of the possible </a:t>
            </a:r>
            <a:r>
              <a:rPr lang="en" b="1" i="1">
                <a:solidFill>
                  <a:srgbClr val="FF0000"/>
                </a:solidFill>
              </a:rPr>
              <a:t>next </a:t>
            </a:r>
            <a:r>
              <a:rPr lang="en"/>
              <a:t>choices. </a:t>
            </a:r>
            <a:endParaRPr/>
          </a:p>
        </p:txBody>
      </p:sp>
      <p:sp>
        <p:nvSpPr>
          <p:cNvPr id="2242" name="Google Shape;2242;p101"/>
          <p:cNvSpPr txBox="1">
            <a:spLocks noGrp="1"/>
          </p:cNvSpPr>
          <p:nvPr>
            <p:ph type="sldNum" idx="12"/>
          </p:nvPr>
        </p:nvSpPr>
        <p:spPr>
          <a:xfrm>
            <a:off x="8556416" y="470976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83</a:t>
            </a:fld>
            <a:endParaRPr/>
          </a:p>
        </p:txBody>
      </p:sp>
      <p:sp>
        <p:nvSpPr>
          <p:cNvPr id="2243" name="Google Shape;2243;p101"/>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 Few Questions</a:t>
            </a:r>
            <a:endParaRPr sz="2600"/>
          </a:p>
        </p:txBody>
      </p:sp>
      <p:sp>
        <p:nvSpPr>
          <p:cNvPr id="2244" name="Google Shape;2244;p101"/>
          <p:cNvSpPr txBox="1">
            <a:spLocks noGrp="1"/>
          </p:cNvSpPr>
          <p:nvPr>
            <p:ph type="body" idx="3"/>
          </p:nvPr>
        </p:nvSpPr>
        <p:spPr>
          <a:xfrm>
            <a:off x="315425" y="4089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Answering these questions </a:t>
            </a:r>
            <a:r>
              <a:rPr lang="en" b="1" i="1">
                <a:solidFill>
                  <a:srgbClr val="FF0000"/>
                </a:solidFill>
              </a:rPr>
              <a:t>before</a:t>
            </a:r>
            <a:r>
              <a:rPr lang="en">
                <a:solidFill>
                  <a:srgbClr val="FF0000"/>
                </a:solidFill>
              </a:rPr>
              <a:t> </a:t>
            </a:r>
            <a:r>
              <a:rPr lang="en"/>
              <a:t>you attempt to implement a configuration can help avoid wasting a lot of time on false starts.</a:t>
            </a:r>
            <a:endParaRPr/>
          </a:p>
        </p:txBody>
      </p:sp>
      <p:pic>
        <p:nvPicPr>
          <p:cNvPr id="2245" name="Google Shape;2245;p101"/>
          <p:cNvPicPr preferRelativeResize="0"/>
          <p:nvPr/>
        </p:nvPicPr>
        <p:blipFill>
          <a:blip r:embed="rId3">
            <a:alphaModFix/>
          </a:blip>
          <a:stretch>
            <a:fillRect/>
          </a:stretch>
        </p:blipFill>
        <p:spPr>
          <a:xfrm>
            <a:off x="2165549" y="1977738"/>
            <a:ext cx="1856375" cy="1990800"/>
          </a:xfrm>
          <a:prstGeom prst="rect">
            <a:avLst/>
          </a:prstGeom>
          <a:noFill/>
          <a:ln>
            <a:noFill/>
          </a:ln>
        </p:spPr>
      </p:pic>
      <p:sp>
        <p:nvSpPr>
          <p:cNvPr id="2246" name="Google Shape;2246;p101"/>
          <p:cNvSpPr/>
          <p:nvPr/>
        </p:nvSpPr>
        <p:spPr>
          <a:xfrm>
            <a:off x="404784" y="815960"/>
            <a:ext cx="2691900" cy="1046700"/>
          </a:xfrm>
          <a:prstGeom prst="wedgeRoundRectCallout">
            <a:avLst>
              <a:gd name="adj1" fmla="val 33525"/>
              <a:gd name="adj2" fmla="val 86987"/>
              <a:gd name="adj3" fmla="val 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Before I can begin implementing a </a:t>
            </a:r>
            <a:r>
              <a:rPr lang="en" b="1" i="1">
                <a:solidFill>
                  <a:srgbClr val="FF0000"/>
                </a:solidFill>
                <a:latin typeface="Roboto"/>
                <a:ea typeface="Roboto"/>
                <a:cs typeface="Roboto"/>
                <a:sym typeface="Roboto"/>
              </a:rPr>
              <a:t>configuration</a:t>
            </a:r>
            <a:r>
              <a:rPr lang="en">
                <a:latin typeface="Roboto"/>
                <a:ea typeface="Roboto"/>
                <a:cs typeface="Roboto"/>
                <a:sym typeface="Roboto"/>
              </a:rPr>
              <a:t>, I need to understand what information I need.</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graphicFrame>
        <p:nvGraphicFramePr>
          <p:cNvPr id="2251" name="Google Shape;2251;p102"/>
          <p:cNvGraphicFramePr/>
          <p:nvPr/>
        </p:nvGraphicFramePr>
        <p:xfrm>
          <a:off x="2118000" y="1814125"/>
          <a:ext cx="3000000" cy="3000000"/>
        </p:xfrm>
        <a:graphic>
          <a:graphicData uri="http://schemas.openxmlformats.org/drawingml/2006/table">
            <a:tbl>
              <a:tblPr>
                <a:noFill/>
                <a:tableStyleId>{89CCAE03-A2B2-4379-B0C2-E101A7E113D6}</a:tableStyleId>
              </a:tblPr>
              <a:tblGrid>
                <a:gridCol w="3280850">
                  <a:extLst>
                    <a:ext uri="{9D8B030D-6E8A-4147-A177-3AD203B41FA5}">
                      <a16:colId xmlns:a16="http://schemas.microsoft.com/office/drawing/2014/main" val="20000"/>
                    </a:ext>
                  </a:extLst>
                </a:gridCol>
                <a:gridCol w="3280850">
                  <a:extLst>
                    <a:ext uri="{9D8B030D-6E8A-4147-A177-3AD203B41FA5}">
                      <a16:colId xmlns:a16="http://schemas.microsoft.com/office/drawing/2014/main" val="20001"/>
                    </a:ext>
                  </a:extLst>
                </a:gridCol>
              </a:tblGrid>
              <a:tr h="1566375">
                <a:tc>
                  <a:txBody>
                    <a:bodyPr/>
                    <a:lstStyle/>
                    <a:p>
                      <a:pPr marL="0" lvl="0" indent="0" algn="l" rtl="0">
                        <a:spcBef>
                          <a:spcPts val="0"/>
                        </a:spcBef>
                        <a:spcAft>
                          <a:spcPts val="0"/>
                        </a:spcAft>
                        <a:buNone/>
                      </a:pPr>
                      <a:r>
                        <a:rPr lang="en" sz="1000"/>
                        <a:t>How will you represent the </a:t>
                      </a:r>
                      <a:r>
                        <a:rPr lang="en" sz="1000" b="1" i="1">
                          <a:solidFill>
                            <a:srgbClr val="FF0000"/>
                          </a:solidFill>
                        </a:rPr>
                        <a:t>state</a:t>
                      </a:r>
                      <a:r>
                        <a:rPr lang="en" sz="1000">
                          <a:solidFill>
                            <a:srgbClr val="FF0000"/>
                          </a:solidFill>
                        </a:rPr>
                        <a:t> </a:t>
                      </a:r>
                      <a:r>
                        <a:rPr lang="en" sz="1000"/>
                        <a:t>of a configuration? What fields and constructors will be needed?</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How will you determine if a configuration is </a:t>
                      </a:r>
                      <a:r>
                        <a:rPr lang="en" sz="1000" b="1" i="1">
                          <a:solidFill>
                            <a:srgbClr val="FF0000"/>
                          </a:solidFill>
                        </a:rPr>
                        <a:t>valid</a:t>
                      </a:r>
                      <a:r>
                        <a:rPr lang="en" sz="1000">
                          <a:solidFill>
                            <a:srgbClr val="FF0000"/>
                          </a:solidFill>
                        </a:rPr>
                        <a:t> </a:t>
                      </a:r>
                      <a:r>
                        <a:rPr lang="en" sz="1000"/>
                        <a:t>or not?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66375">
                <a:tc>
                  <a:txBody>
                    <a:bodyPr/>
                    <a:lstStyle/>
                    <a:p>
                      <a:pPr marL="0" lvl="0" indent="0" algn="l" rtl="0">
                        <a:spcBef>
                          <a:spcPts val="0"/>
                        </a:spcBef>
                        <a:spcAft>
                          <a:spcPts val="0"/>
                        </a:spcAft>
                        <a:buNone/>
                      </a:pPr>
                      <a:r>
                        <a:rPr lang="en" sz="1000"/>
                        <a:t>How will you determine whether or not a configuration is the </a:t>
                      </a:r>
                      <a:r>
                        <a:rPr lang="en" sz="1000" b="1" i="1">
                          <a:solidFill>
                            <a:srgbClr val="FF0000"/>
                          </a:solidFill>
                        </a:rPr>
                        <a:t>goal</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What do the </a:t>
                      </a:r>
                      <a:r>
                        <a:rPr lang="en" sz="1000" b="1" i="1">
                          <a:solidFill>
                            <a:srgbClr val="FF0000"/>
                          </a:solidFill>
                        </a:rPr>
                        <a:t>successors</a:t>
                      </a:r>
                      <a:r>
                        <a:rPr lang="en" sz="1000">
                          <a:solidFill>
                            <a:srgbClr val="FF0000"/>
                          </a:solidFill>
                        </a:rPr>
                        <a:t> </a:t>
                      </a:r>
                      <a:r>
                        <a:rPr lang="en" sz="1000"/>
                        <a:t>of each configuration represent? How will you create them?</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52" name="Google Shape;2252;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84</a:t>
            </a:fld>
            <a:endParaRPr/>
          </a:p>
        </p:txBody>
      </p:sp>
      <p:sp>
        <p:nvSpPr>
          <p:cNvPr id="2253" name="Google Shape;2253;p10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Few Questions</a:t>
            </a:r>
            <a:endParaRPr/>
          </a:p>
        </p:txBody>
      </p:sp>
      <p:sp>
        <p:nvSpPr>
          <p:cNvPr id="2254" name="Google Shape;2254;p10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55" name="Google Shape;2255;p10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13.27</a:t>
            </a:r>
            <a:endParaRPr/>
          </a:p>
        </p:txBody>
      </p:sp>
      <p:pic>
        <p:nvPicPr>
          <p:cNvPr id="2256" name="Google Shape;2256;p102"/>
          <p:cNvPicPr preferRelativeResize="0"/>
          <p:nvPr/>
        </p:nvPicPr>
        <p:blipFill>
          <a:blip r:embed="rId3">
            <a:alphaModFix/>
          </a:blip>
          <a:stretch>
            <a:fillRect/>
          </a:stretch>
        </p:blipFill>
        <p:spPr>
          <a:xfrm>
            <a:off x="117899" y="1822588"/>
            <a:ext cx="1856375" cy="19908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260"/>
        <p:cNvGrpSpPr/>
        <p:nvPr/>
      </p:nvGrpSpPr>
      <p:grpSpPr>
        <a:xfrm>
          <a:off x="0" y="0"/>
          <a:ext cx="0" cy="0"/>
          <a:chOff x="0" y="0"/>
          <a:chExt cx="0" cy="0"/>
        </a:xfrm>
      </p:grpSpPr>
      <p:graphicFrame>
        <p:nvGraphicFramePr>
          <p:cNvPr id="2261" name="Google Shape;2261;p103"/>
          <p:cNvGraphicFramePr/>
          <p:nvPr/>
        </p:nvGraphicFramePr>
        <p:xfrm>
          <a:off x="2118000" y="1814125"/>
          <a:ext cx="3000000" cy="3000000"/>
        </p:xfrm>
        <a:graphic>
          <a:graphicData uri="http://schemas.openxmlformats.org/drawingml/2006/table">
            <a:tbl>
              <a:tblPr>
                <a:noFill/>
                <a:tableStyleId>{89CCAE03-A2B2-4379-B0C2-E101A7E113D6}</a:tableStyleId>
              </a:tblPr>
              <a:tblGrid>
                <a:gridCol w="3280850">
                  <a:extLst>
                    <a:ext uri="{9D8B030D-6E8A-4147-A177-3AD203B41FA5}">
                      <a16:colId xmlns:a16="http://schemas.microsoft.com/office/drawing/2014/main" val="20000"/>
                    </a:ext>
                  </a:extLst>
                </a:gridCol>
                <a:gridCol w="3280850">
                  <a:extLst>
                    <a:ext uri="{9D8B030D-6E8A-4147-A177-3AD203B41FA5}">
                      <a16:colId xmlns:a16="http://schemas.microsoft.com/office/drawing/2014/main" val="20001"/>
                    </a:ext>
                  </a:extLst>
                </a:gridCol>
              </a:tblGrid>
              <a:tr h="1566375">
                <a:tc>
                  <a:txBody>
                    <a:bodyPr/>
                    <a:lstStyle/>
                    <a:p>
                      <a:pPr marL="0" lvl="0" indent="0" algn="l" rtl="0">
                        <a:spcBef>
                          <a:spcPts val="0"/>
                        </a:spcBef>
                        <a:spcAft>
                          <a:spcPts val="0"/>
                        </a:spcAft>
                        <a:buNone/>
                      </a:pPr>
                      <a:r>
                        <a:rPr lang="en" sz="1000"/>
                        <a:t>How will you represent the </a:t>
                      </a:r>
                      <a:r>
                        <a:rPr lang="en" sz="1000" b="1" i="1">
                          <a:solidFill>
                            <a:srgbClr val="FF0000"/>
                          </a:solidFill>
                        </a:rPr>
                        <a:t>state</a:t>
                      </a:r>
                      <a:r>
                        <a:rPr lang="en" sz="1000">
                          <a:solidFill>
                            <a:srgbClr val="FF0000"/>
                          </a:solidFill>
                        </a:rPr>
                        <a:t> </a:t>
                      </a:r>
                      <a:r>
                        <a:rPr lang="en" sz="1000"/>
                        <a:t>of a configuration? What fields and constructors will be needed?</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How will you determine if a configuration is </a:t>
                      </a:r>
                      <a:r>
                        <a:rPr lang="en" sz="1000" b="1" i="1">
                          <a:solidFill>
                            <a:srgbClr val="FF0000"/>
                          </a:solidFill>
                        </a:rPr>
                        <a:t>valid</a:t>
                      </a:r>
                      <a:r>
                        <a:rPr lang="en" sz="1000">
                          <a:solidFill>
                            <a:srgbClr val="FF0000"/>
                          </a:solidFill>
                        </a:rPr>
                        <a:t> </a:t>
                      </a:r>
                      <a:r>
                        <a:rPr lang="en" sz="1000"/>
                        <a:t>or not?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66375">
                <a:tc>
                  <a:txBody>
                    <a:bodyPr/>
                    <a:lstStyle/>
                    <a:p>
                      <a:pPr marL="0" lvl="0" indent="0" algn="l" rtl="0">
                        <a:spcBef>
                          <a:spcPts val="0"/>
                        </a:spcBef>
                        <a:spcAft>
                          <a:spcPts val="0"/>
                        </a:spcAft>
                        <a:buNone/>
                      </a:pPr>
                      <a:r>
                        <a:rPr lang="en" sz="1000"/>
                        <a:t>How will you determine whether or not a configuration is the </a:t>
                      </a:r>
                      <a:r>
                        <a:rPr lang="en" sz="1000" b="1" i="1">
                          <a:solidFill>
                            <a:srgbClr val="FF0000"/>
                          </a:solidFill>
                        </a:rPr>
                        <a:t>goal</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What do the </a:t>
                      </a:r>
                      <a:r>
                        <a:rPr lang="en" sz="1000" b="1" i="1">
                          <a:solidFill>
                            <a:srgbClr val="FF0000"/>
                          </a:solidFill>
                        </a:rPr>
                        <a:t>successors</a:t>
                      </a:r>
                      <a:r>
                        <a:rPr lang="en" sz="1000">
                          <a:solidFill>
                            <a:srgbClr val="FF0000"/>
                          </a:solidFill>
                        </a:rPr>
                        <a:t> </a:t>
                      </a:r>
                      <a:r>
                        <a:rPr lang="en" sz="1000"/>
                        <a:t>of each configuration represent? How will you create them?</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62" name="Google Shape;2262;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85</a:t>
            </a:fld>
            <a:endParaRPr/>
          </a:p>
        </p:txBody>
      </p:sp>
      <p:sp>
        <p:nvSpPr>
          <p:cNvPr id="2263" name="Google Shape;2263;p10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Few Questions</a:t>
            </a:r>
            <a:endParaRPr/>
          </a:p>
        </p:txBody>
      </p:sp>
      <p:sp>
        <p:nvSpPr>
          <p:cNvPr id="2264" name="Google Shape;2264;p10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65" name="Google Shape;2265;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13.27</a:t>
            </a:r>
            <a:endParaRPr/>
          </a:p>
        </p:txBody>
      </p:sp>
      <p:pic>
        <p:nvPicPr>
          <p:cNvPr id="2266" name="Google Shape;2266;p103"/>
          <p:cNvPicPr preferRelativeResize="0"/>
          <p:nvPr/>
        </p:nvPicPr>
        <p:blipFill>
          <a:blip r:embed="rId3">
            <a:alphaModFix/>
          </a:blip>
          <a:stretch>
            <a:fillRect/>
          </a:stretch>
        </p:blipFill>
        <p:spPr>
          <a:xfrm>
            <a:off x="117899" y="1822588"/>
            <a:ext cx="1856375" cy="1990800"/>
          </a:xfrm>
          <a:prstGeom prst="rect">
            <a:avLst/>
          </a:prstGeom>
          <a:noFill/>
          <a:ln>
            <a:noFill/>
          </a:ln>
        </p:spPr>
      </p:pic>
      <p:sp>
        <p:nvSpPr>
          <p:cNvPr id="2267" name="Google Shape;2267;p103"/>
          <p:cNvSpPr txBox="1"/>
          <p:nvPr/>
        </p:nvSpPr>
        <p:spPr>
          <a:xfrm>
            <a:off x="2193650" y="2307239"/>
            <a:ext cx="3094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queens that have been placed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number of queens placed?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last move made?</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Do we need a chessboard?!</a:t>
            </a:r>
            <a:endParaRPr>
              <a:solidFill>
                <a:srgbClr val="FF0000"/>
              </a:solidFill>
              <a:latin typeface="Shadows Into Light"/>
              <a:ea typeface="Shadows Into Light"/>
              <a:cs typeface="Shadows Into Light"/>
              <a:sym typeface="Shadows Into Light"/>
            </a:endParaRPr>
          </a:p>
        </p:txBody>
      </p:sp>
      <p:sp>
        <p:nvSpPr>
          <p:cNvPr id="2268" name="Google Shape;2268;p103"/>
          <p:cNvSpPr txBox="1"/>
          <p:nvPr/>
        </p:nvSpPr>
        <p:spPr>
          <a:xfrm>
            <a:off x="5470250" y="2329700"/>
            <a:ext cx="3094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Does the canAttack method return true for any pair of queens?</a:t>
            </a:r>
            <a:endParaRPr>
              <a:solidFill>
                <a:srgbClr val="FF0000"/>
              </a:solidFill>
              <a:latin typeface="Shadows Into Light"/>
              <a:ea typeface="Shadows Into Light"/>
              <a:cs typeface="Shadows Into Light"/>
              <a:sym typeface="Shadows Into Light"/>
            </a:endParaRPr>
          </a:p>
        </p:txBody>
      </p:sp>
      <p:sp>
        <p:nvSpPr>
          <p:cNvPr id="2269" name="Google Shape;2269;p103"/>
          <p:cNvSpPr txBox="1"/>
          <p:nvPr/>
        </p:nvSpPr>
        <p:spPr>
          <a:xfrm>
            <a:off x="2193650" y="4006100"/>
            <a:ext cx="3094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It is valid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N queens have been placed on the board</a:t>
            </a:r>
            <a:endParaRPr>
              <a:solidFill>
                <a:srgbClr val="FF0000"/>
              </a:solidFill>
              <a:latin typeface="Shadows Into Light"/>
              <a:ea typeface="Shadows Into Light"/>
              <a:cs typeface="Shadows Into Light"/>
              <a:sym typeface="Shadows Into Light"/>
            </a:endParaRPr>
          </a:p>
        </p:txBody>
      </p:sp>
      <p:sp>
        <p:nvSpPr>
          <p:cNvPr id="2270" name="Google Shape;2270;p103"/>
          <p:cNvSpPr txBox="1"/>
          <p:nvPr/>
        </p:nvSpPr>
        <p:spPr>
          <a:xfrm>
            <a:off x="5470250" y="3929900"/>
            <a:ext cx="3094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set of next possible moves</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Create one for every empty square on the board?</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67"/>
                                        </p:tgtEl>
                                        <p:attrNameLst>
                                          <p:attrName>style.visibility</p:attrName>
                                        </p:attrNameLst>
                                      </p:cBhvr>
                                      <p:to>
                                        <p:strVal val="visible"/>
                                      </p:to>
                                    </p:set>
                                    <p:animEffect transition="in" filter="fade">
                                      <p:cBhvr>
                                        <p:cTn id="7" dur="1000"/>
                                        <p:tgtEl>
                                          <p:spTgt spid="22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68"/>
                                        </p:tgtEl>
                                        <p:attrNameLst>
                                          <p:attrName>style.visibility</p:attrName>
                                        </p:attrNameLst>
                                      </p:cBhvr>
                                      <p:to>
                                        <p:strVal val="visible"/>
                                      </p:to>
                                    </p:set>
                                    <p:animEffect transition="in" filter="fade">
                                      <p:cBhvr>
                                        <p:cTn id="12" dur="1000"/>
                                        <p:tgtEl>
                                          <p:spTgt spid="2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69"/>
                                        </p:tgtEl>
                                        <p:attrNameLst>
                                          <p:attrName>style.visibility</p:attrName>
                                        </p:attrNameLst>
                                      </p:cBhvr>
                                      <p:to>
                                        <p:strVal val="visible"/>
                                      </p:to>
                                    </p:set>
                                    <p:animEffect transition="in" filter="fade">
                                      <p:cBhvr>
                                        <p:cTn id="17" dur="1000"/>
                                        <p:tgtEl>
                                          <p:spTgt spid="22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70"/>
                                        </p:tgtEl>
                                        <p:attrNameLst>
                                          <p:attrName>style.visibility</p:attrName>
                                        </p:attrNameLst>
                                      </p:cBhvr>
                                      <p:to>
                                        <p:strVal val="visible"/>
                                      </p:to>
                                    </p:set>
                                    <p:animEffect transition="in" filter="fade">
                                      <p:cBhvr>
                                        <p:cTn id="22" dur="1000"/>
                                        <p:tgtEl>
                                          <p:spTgt spid="2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274"/>
        <p:cNvGrpSpPr/>
        <p:nvPr/>
      </p:nvGrpSpPr>
      <p:grpSpPr>
        <a:xfrm>
          <a:off x="0" y="0"/>
          <a:ext cx="0" cy="0"/>
          <a:chOff x="0" y="0"/>
          <a:chExt cx="0" cy="0"/>
        </a:xfrm>
      </p:grpSpPr>
      <p:sp>
        <p:nvSpPr>
          <p:cNvPr id="2275" name="Google Shape;2275;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000"/>
              <a:t>Implementing a Configuration</a:t>
            </a:r>
            <a:endParaRPr sz="3000"/>
          </a:p>
        </p:txBody>
      </p:sp>
      <p:sp>
        <p:nvSpPr>
          <p:cNvPr id="2276" name="Google Shape;2276;p10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Implementing a solution to the N-Queens problem will require us to write an implementation of the </a:t>
            </a:r>
            <a:r>
              <a:rPr lang="en">
                <a:latin typeface="Courier New"/>
                <a:ea typeface="Courier New"/>
                <a:cs typeface="Courier New"/>
                <a:sym typeface="Courier New"/>
              </a:rPr>
              <a:t>Configuration</a:t>
            </a:r>
            <a:r>
              <a:rPr lang="en"/>
              <a:t> interface that can be used with the </a:t>
            </a:r>
            <a:r>
              <a:rPr lang="en">
                <a:latin typeface="Courier New"/>
                <a:ea typeface="Courier New"/>
                <a:cs typeface="Courier New"/>
                <a:sym typeface="Courier New"/>
              </a:rPr>
              <a:t>Backtracker</a:t>
            </a:r>
            <a:r>
              <a:rPr lang="en"/>
              <a:t>. Let's begin by creating a class and stubbing out the required functions.</a:t>
            </a:r>
            <a:endParaRPr/>
          </a:p>
        </p:txBody>
      </p:sp>
      <p:sp>
        <p:nvSpPr>
          <p:cNvPr id="2277" name="Google Shape;2277;p10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86</a:t>
            </a:fld>
            <a:endParaRPr/>
          </a:p>
        </p:txBody>
      </p:sp>
      <p:sp>
        <p:nvSpPr>
          <p:cNvPr id="2278" name="Google Shape;2278;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13.28</a:t>
            </a:r>
            <a:endParaRPr/>
          </a:p>
        </p:txBody>
      </p:sp>
      <p:sp>
        <p:nvSpPr>
          <p:cNvPr id="2279" name="Google Shape;2279;p104"/>
          <p:cNvSpPr txBox="1"/>
          <p:nvPr/>
        </p:nvSpPr>
        <p:spPr>
          <a:xfrm>
            <a:off x="228600" y="4115225"/>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For any given value of </a:t>
            </a:r>
            <a:r>
              <a:rPr lang="en" sz="1200" b="1" i="1">
                <a:solidFill>
                  <a:srgbClr val="FF0000"/>
                </a:solidFill>
              </a:rPr>
              <a:t>N&gt;3</a:t>
            </a:r>
            <a:r>
              <a:rPr lang="en" sz="1200"/>
              <a:t> there are multiple possible solutions.</a:t>
            </a:r>
            <a:endParaRPr sz="1200"/>
          </a:p>
        </p:txBody>
      </p:sp>
      <p:pic>
        <p:nvPicPr>
          <p:cNvPr id="2280" name="Google Shape;2280;p104"/>
          <p:cNvPicPr preferRelativeResize="0"/>
          <p:nvPr/>
        </p:nvPicPr>
        <p:blipFill>
          <a:blip r:embed="rId3">
            <a:alphaModFix/>
          </a:blip>
          <a:stretch>
            <a:fillRect/>
          </a:stretch>
        </p:blipFill>
        <p:spPr>
          <a:xfrm>
            <a:off x="228600" y="1849375"/>
            <a:ext cx="2438400" cy="2176939"/>
          </a:xfrm>
          <a:prstGeom prst="rect">
            <a:avLst/>
          </a:prstGeom>
          <a:noFill/>
          <a:ln>
            <a:noFill/>
          </a:ln>
        </p:spPr>
      </p:pic>
      <p:sp>
        <p:nvSpPr>
          <p:cNvPr id="2281" name="Google Shape;2281;p104"/>
          <p:cNvSpPr txBox="1">
            <a:spLocks noGrp="1"/>
          </p:cNvSpPr>
          <p:nvPr>
            <p:ph type="body" idx="2"/>
          </p:nvPr>
        </p:nvSpPr>
        <p:spPr>
          <a:xfrm>
            <a:off x="2782475" y="1731275"/>
            <a:ext cx="6104700" cy="32370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NQueens</a:t>
            </a:r>
            <a:r>
              <a:rPr lang="en" sz="1400"/>
              <a:t>" in the </a:t>
            </a:r>
            <a:r>
              <a:rPr lang="en" sz="1400">
                <a:latin typeface="Courier New"/>
                <a:ea typeface="Courier New"/>
                <a:cs typeface="Courier New"/>
                <a:sym typeface="Courier New"/>
              </a:rPr>
              <a:t>queens.model</a:t>
            </a:r>
            <a:r>
              <a:rPr lang="en" sz="1400"/>
              <a:t> package.</a:t>
            </a:r>
            <a:endParaRPr sz="1400"/>
          </a:p>
          <a:p>
            <a:pPr marL="914400" lvl="1" indent="-304800" algn="l" rtl="0">
              <a:spcBef>
                <a:spcPts val="0"/>
              </a:spcBef>
              <a:spcAft>
                <a:spcPts val="0"/>
              </a:spcAft>
              <a:buSzPts val="1200"/>
              <a:buChar char="○"/>
            </a:pPr>
            <a:r>
              <a:rPr lang="en" sz="1200" b="1" i="1">
                <a:solidFill>
                  <a:srgbClr val="FF0000"/>
                </a:solidFill>
              </a:rPr>
              <a:t>Implement</a:t>
            </a:r>
            <a:r>
              <a:rPr lang="en" sz="1200">
                <a:solidFill>
                  <a:srgbClr val="FF0000"/>
                </a:solidFill>
              </a:rPr>
              <a:t> </a:t>
            </a:r>
            <a:r>
              <a:rPr lang="en" sz="1200"/>
              <a:t>the </a:t>
            </a:r>
            <a:r>
              <a:rPr lang="en" sz="1200">
                <a:latin typeface="Courier New"/>
                <a:ea typeface="Courier New"/>
                <a:cs typeface="Courier New"/>
                <a:sym typeface="Courier New"/>
              </a:rPr>
              <a:t>Configuration</a:t>
            </a:r>
            <a:r>
              <a:rPr lang="en" sz="1200"/>
              <a:t> interface. You will find it in the </a:t>
            </a:r>
            <a:r>
              <a:rPr lang="en" sz="1200">
                <a:latin typeface="Courier New"/>
                <a:ea typeface="Courier New"/>
                <a:cs typeface="Courier New"/>
                <a:sym typeface="Courier New"/>
              </a:rPr>
              <a:t>backtracker</a:t>
            </a:r>
            <a:r>
              <a:rPr lang="en" sz="1200"/>
              <a:t> package. Remember that it is </a:t>
            </a:r>
            <a:r>
              <a:rPr lang="en" sz="1200" b="1" i="1">
                <a:solidFill>
                  <a:srgbClr val="FF0000"/>
                </a:solidFill>
              </a:rPr>
              <a:t>generic</a:t>
            </a:r>
            <a:r>
              <a:rPr lang="en" sz="1200"/>
              <a:t>. Your implementation should specify </a:t>
            </a:r>
            <a:r>
              <a:rPr lang="en" sz="1200" i="1" u="sng"/>
              <a:t>its own type</a:t>
            </a:r>
            <a:r>
              <a:rPr lang="en" sz="1200"/>
              <a:t> in place of the type parameter, similar to implementing </a:t>
            </a:r>
            <a:r>
              <a:rPr lang="en" sz="1200">
                <a:latin typeface="Courier New"/>
                <a:ea typeface="Courier New"/>
                <a:cs typeface="Courier New"/>
                <a:sym typeface="Courier New"/>
              </a:rPr>
              <a:t>Comparable</a:t>
            </a:r>
            <a:r>
              <a:rPr lang="en" sz="1200"/>
              <a:t>.</a:t>
            </a:r>
            <a:endParaRPr sz="1200"/>
          </a:p>
          <a:p>
            <a:pPr marL="914400" lvl="1" indent="-304800" algn="l" rtl="0">
              <a:spcBef>
                <a:spcPts val="0"/>
              </a:spcBef>
              <a:spcAft>
                <a:spcPts val="0"/>
              </a:spcAft>
              <a:buSzPts val="1200"/>
              <a:buChar char="○"/>
            </a:pPr>
            <a:r>
              <a:rPr lang="en" sz="1200" b="1" i="1">
                <a:solidFill>
                  <a:srgbClr val="FF0000"/>
                </a:solidFill>
              </a:rPr>
              <a:t>Stub</a:t>
            </a:r>
            <a:r>
              <a:rPr lang="en" sz="1200">
                <a:solidFill>
                  <a:srgbClr val="FF0000"/>
                </a:solidFill>
              </a:rPr>
              <a:t> </a:t>
            </a:r>
            <a:r>
              <a:rPr lang="en" sz="1200"/>
              <a:t>out the required methods.</a:t>
            </a:r>
            <a:endParaRPr sz="1200"/>
          </a:p>
          <a:p>
            <a:pPr marL="914400" lvl="1" indent="-304800" algn="l" rtl="0">
              <a:spcBef>
                <a:spcPts val="0"/>
              </a:spcBef>
              <a:spcAft>
                <a:spcPts val="0"/>
              </a:spcAft>
              <a:buSzPts val="1200"/>
              <a:buChar char="○"/>
            </a:pPr>
            <a:r>
              <a:rPr lang="en" sz="1200"/>
              <a:t>Add any </a:t>
            </a:r>
            <a:r>
              <a:rPr lang="en" sz="1200" b="1" i="1">
                <a:solidFill>
                  <a:srgbClr val="FF0000"/>
                </a:solidFill>
              </a:rPr>
              <a:t>fields</a:t>
            </a:r>
            <a:r>
              <a:rPr lang="en" sz="1200">
                <a:solidFill>
                  <a:srgbClr val="FF0000"/>
                </a:solidFill>
              </a:rPr>
              <a:t> </a:t>
            </a:r>
            <a:r>
              <a:rPr lang="en" sz="1200"/>
              <a:t>that you think that you will be needing.</a:t>
            </a:r>
            <a:endParaRPr sz="1200"/>
          </a:p>
          <a:p>
            <a:pPr marL="914400" lvl="1" indent="-304800" algn="l" rtl="0">
              <a:spcBef>
                <a:spcPts val="0"/>
              </a:spcBef>
              <a:spcAft>
                <a:spcPts val="0"/>
              </a:spcAft>
              <a:buSzPts val="1200"/>
              <a:buChar char="○"/>
            </a:pPr>
            <a:r>
              <a:rPr lang="en" sz="1200"/>
              <a:t>Add an initializing </a:t>
            </a:r>
            <a:r>
              <a:rPr lang="en" sz="1200" b="1" i="1">
                <a:solidFill>
                  <a:srgbClr val="FF0000"/>
                </a:solidFill>
              </a:rPr>
              <a:t>constructor</a:t>
            </a:r>
            <a:r>
              <a:rPr lang="en" sz="1200"/>
              <a:t>.</a:t>
            </a:r>
            <a:endParaRPr sz="1200"/>
          </a:p>
          <a:p>
            <a:pPr marL="914400" lvl="1" indent="-304800" algn="l" rtl="0">
              <a:spcBef>
                <a:spcPts val="0"/>
              </a:spcBef>
              <a:spcAft>
                <a:spcPts val="0"/>
              </a:spcAft>
              <a:buSzPts val="1200"/>
              <a:buChar char="○"/>
            </a:pPr>
            <a:r>
              <a:rPr lang="en" sz="1200"/>
              <a:t>Add a </a:t>
            </a:r>
            <a:r>
              <a:rPr lang="en" sz="1200">
                <a:solidFill>
                  <a:srgbClr val="FF0000"/>
                </a:solidFill>
                <a:latin typeface="Courier New"/>
                <a:ea typeface="Courier New"/>
                <a:cs typeface="Courier New"/>
                <a:sym typeface="Courier New"/>
              </a:rPr>
              <a:t>toString()</a:t>
            </a:r>
            <a:r>
              <a:rPr lang="en" sz="1200"/>
              <a:t> that prints the configuration to standard output.</a:t>
            </a:r>
            <a:endParaRPr sz="1200"/>
          </a:p>
          <a:p>
            <a:pPr marL="1371600" lvl="2" indent="-304800" algn="l" rtl="0">
              <a:spcBef>
                <a:spcPts val="0"/>
              </a:spcBef>
              <a:spcAft>
                <a:spcPts val="0"/>
              </a:spcAft>
              <a:buSzPts val="1200"/>
              <a:buChar char="■"/>
            </a:pPr>
            <a:r>
              <a:rPr lang="en" sz="1200"/>
              <a:t>You don't need to do anything fancy.</a:t>
            </a:r>
            <a:endParaRPr sz="1200"/>
          </a:p>
          <a:p>
            <a:pPr marL="457200" lvl="0" indent="-317500" algn="l" rtl="0">
              <a:spcBef>
                <a:spcPts val="0"/>
              </a:spcBef>
              <a:spcAft>
                <a:spcPts val="0"/>
              </a:spcAft>
              <a:buSzPts val="1400"/>
              <a:buChar char="●"/>
            </a:pPr>
            <a:r>
              <a:rPr lang="en" sz="1400"/>
              <a:t>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a:t>
            </a:r>
            <a:endParaRPr sz="1400"/>
          </a:p>
          <a:p>
            <a:pPr marL="914400" lvl="1" indent="-304800" algn="l" rtl="0">
              <a:spcBef>
                <a:spcPts val="0"/>
              </a:spcBef>
              <a:spcAft>
                <a:spcPts val="0"/>
              </a:spcAft>
              <a:buSzPts val="1200"/>
              <a:buChar char="○"/>
            </a:pPr>
            <a:r>
              <a:rPr lang="en" sz="1200" b="1" i="1">
                <a:solidFill>
                  <a:srgbClr val="FF0000"/>
                </a:solidFill>
              </a:rPr>
              <a:t>Create</a:t>
            </a:r>
            <a:r>
              <a:rPr lang="en" sz="1200"/>
              <a:t> an instance of your class representing an empty 4x4 chessboard.</a:t>
            </a:r>
            <a:endParaRPr sz="1200"/>
          </a:p>
          <a:p>
            <a:pPr marL="914400" lvl="1" indent="-304800" algn="l" rtl="0">
              <a:spcBef>
                <a:spcPts val="0"/>
              </a:spcBef>
              <a:spcAft>
                <a:spcPts val="0"/>
              </a:spcAft>
              <a:buSzPts val="1200"/>
              <a:buChar char="○"/>
            </a:pPr>
            <a:r>
              <a:rPr lang="en" sz="1200" b="1" i="1">
                <a:solidFill>
                  <a:srgbClr val="FF0000"/>
                </a:solidFill>
              </a:rPr>
              <a:t>Print</a:t>
            </a:r>
            <a:r>
              <a:rPr lang="en" sz="1200">
                <a:solidFill>
                  <a:srgbClr val="FF0000"/>
                </a:solidFill>
              </a:rPr>
              <a:t> </a:t>
            </a:r>
            <a:r>
              <a:rPr lang="en" sz="1200"/>
              <a:t>the configuration to standard output.</a:t>
            </a:r>
            <a:endParaRPr sz="12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285"/>
        <p:cNvGrpSpPr/>
        <p:nvPr/>
      </p:nvGrpSpPr>
      <p:grpSpPr>
        <a:xfrm>
          <a:off x="0" y="0"/>
          <a:ext cx="0" cy="0"/>
          <a:chOff x="0" y="0"/>
          <a:chExt cx="0" cy="0"/>
        </a:xfrm>
      </p:grpSpPr>
      <p:sp>
        <p:nvSpPr>
          <p:cNvPr id="2286" name="Google Shape;2286;p10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287" name="Google Shape;2287;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87</a:t>
            </a:fld>
            <a:endParaRPr/>
          </a:p>
        </p:txBody>
      </p:sp>
      <p:sp>
        <p:nvSpPr>
          <p:cNvPr id="2288" name="Google Shape;2288;p105"/>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configuration represents an attempt at a solution to the problem after 0 or more choices have been made.</a:t>
            </a:r>
            <a:endParaRPr sz="1200"/>
          </a:p>
        </p:txBody>
      </p:sp>
      <p:sp>
        <p:nvSpPr>
          <p:cNvPr id="2289" name="Google Shape;2289;p105"/>
          <p:cNvSpPr txBox="1"/>
          <p:nvPr/>
        </p:nvSpPr>
        <p:spPr>
          <a:xfrm>
            <a:off x="203025" y="23321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Let's take a look at an extremely simple version of the </a:t>
            </a:r>
            <a:r>
              <a:rPr lang="en" sz="1200" i="1"/>
              <a:t>N-Queens </a:t>
            </a:r>
            <a:r>
              <a:rPr lang="en" sz="1200"/>
              <a:t>problem: </a:t>
            </a:r>
            <a:r>
              <a:rPr lang="en" sz="1200" i="1"/>
              <a:t>"Can 2 queens be played on a 2x2 chessboard?"</a:t>
            </a:r>
            <a:endParaRPr sz="1200" i="1"/>
          </a:p>
        </p:txBody>
      </p:sp>
      <p:sp>
        <p:nvSpPr>
          <p:cNvPr id="2290" name="Google Shape;2290;p105"/>
          <p:cNvSpPr txBox="1"/>
          <p:nvPr/>
        </p:nvSpPr>
        <p:spPr>
          <a:xfrm>
            <a:off x="203025" y="31703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It's immediately obvious to humans that there is no solution to this problem, but a computer will need to use trial and error to figure that out.</a:t>
            </a:r>
            <a:endParaRPr sz="1200"/>
          </a:p>
        </p:txBody>
      </p:sp>
      <p:sp>
        <p:nvSpPr>
          <p:cNvPr id="2291" name="Google Shape;2291;p105"/>
          <p:cNvSpPr txBox="1"/>
          <p:nvPr/>
        </p:nvSpPr>
        <p:spPr>
          <a:xfrm>
            <a:off x="203025" y="40085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b="1" i="1">
                <a:solidFill>
                  <a:srgbClr val="FF0000"/>
                </a:solidFill>
              </a:rPr>
              <a:t>initial configuration</a:t>
            </a:r>
            <a:r>
              <a:rPr lang="en" sz="1200" b="1"/>
              <a:t> </a:t>
            </a:r>
            <a:r>
              <a:rPr lang="en" sz="1200"/>
              <a:t>represents a 2x2 chessboard on which </a:t>
            </a:r>
            <a:r>
              <a:rPr lang="en" sz="1200" b="1" i="1">
                <a:solidFill>
                  <a:srgbClr val="FF0000"/>
                </a:solidFill>
              </a:rPr>
              <a:t>no queens</a:t>
            </a:r>
            <a:r>
              <a:rPr lang="en" sz="1200"/>
              <a:t> have yet been played.</a:t>
            </a:r>
            <a:endParaRPr sz="1200"/>
          </a:p>
        </p:txBody>
      </p:sp>
      <p:graphicFrame>
        <p:nvGraphicFramePr>
          <p:cNvPr id="2292" name="Google Shape;2292;p105"/>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8"/>
                                        </p:tgtEl>
                                        <p:attrNameLst>
                                          <p:attrName>style.visibility</p:attrName>
                                        </p:attrNameLst>
                                      </p:cBhvr>
                                      <p:to>
                                        <p:strVal val="visible"/>
                                      </p:to>
                                    </p:set>
                                    <p:animEffect transition="in" filter="fade">
                                      <p:cBhvr>
                                        <p:cTn id="7" dur="1000"/>
                                        <p:tgtEl>
                                          <p:spTgt spid="22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9"/>
                                        </p:tgtEl>
                                        <p:attrNameLst>
                                          <p:attrName>style.visibility</p:attrName>
                                        </p:attrNameLst>
                                      </p:cBhvr>
                                      <p:to>
                                        <p:strVal val="visible"/>
                                      </p:to>
                                    </p:set>
                                    <p:animEffect transition="in" filter="fade">
                                      <p:cBhvr>
                                        <p:cTn id="12" dur="1000"/>
                                        <p:tgtEl>
                                          <p:spTgt spid="22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90"/>
                                        </p:tgtEl>
                                        <p:attrNameLst>
                                          <p:attrName>style.visibility</p:attrName>
                                        </p:attrNameLst>
                                      </p:cBhvr>
                                      <p:to>
                                        <p:strVal val="visible"/>
                                      </p:to>
                                    </p:set>
                                    <p:animEffect transition="in" filter="fade">
                                      <p:cBhvr>
                                        <p:cTn id="17" dur="1000"/>
                                        <p:tgtEl>
                                          <p:spTgt spid="229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91"/>
                                        </p:tgtEl>
                                        <p:attrNameLst>
                                          <p:attrName>style.visibility</p:attrName>
                                        </p:attrNameLst>
                                      </p:cBhvr>
                                      <p:to>
                                        <p:strVal val="visible"/>
                                      </p:to>
                                    </p:set>
                                    <p:animEffect transition="in" filter="fade">
                                      <p:cBhvr>
                                        <p:cTn id="22" dur="1000"/>
                                        <p:tgtEl>
                                          <p:spTgt spid="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296"/>
        <p:cNvGrpSpPr/>
        <p:nvPr/>
      </p:nvGrpSpPr>
      <p:grpSpPr>
        <a:xfrm>
          <a:off x="0" y="0"/>
          <a:ext cx="0" cy="0"/>
          <a:chOff x="0" y="0"/>
          <a:chExt cx="0" cy="0"/>
        </a:xfrm>
      </p:grpSpPr>
      <p:sp>
        <p:nvSpPr>
          <p:cNvPr id="2297" name="Google Shape;2297;p10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298" name="Google Shape;2298;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88</a:t>
            </a:fld>
            <a:endParaRPr/>
          </a:p>
        </p:txBody>
      </p:sp>
      <p:sp>
        <p:nvSpPr>
          <p:cNvPr id="2299" name="Google Shape;2299;p106"/>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successor</a:t>
            </a:r>
            <a:r>
              <a:rPr lang="en" sz="1200">
                <a:solidFill>
                  <a:srgbClr val="FF0000"/>
                </a:solidFill>
              </a:rPr>
              <a:t> </a:t>
            </a:r>
            <a:r>
              <a:rPr lang="en" sz="1200"/>
              <a:t>is a </a:t>
            </a:r>
            <a:r>
              <a:rPr lang="en" sz="1200" b="1" i="1">
                <a:solidFill>
                  <a:srgbClr val="FF0000"/>
                </a:solidFill>
              </a:rPr>
              <a:t>new</a:t>
            </a:r>
            <a:r>
              <a:rPr lang="en" sz="1200">
                <a:solidFill>
                  <a:srgbClr val="FF0000"/>
                </a:solidFill>
              </a:rPr>
              <a:t> </a:t>
            </a:r>
            <a:r>
              <a:rPr lang="en" sz="1200"/>
              <a:t>configuration that includes all of the choices made by its parent plus </a:t>
            </a:r>
            <a:r>
              <a:rPr lang="en" sz="1200" b="1" i="1">
                <a:solidFill>
                  <a:srgbClr val="FF0000"/>
                </a:solidFill>
              </a:rPr>
              <a:t>one</a:t>
            </a:r>
            <a:r>
              <a:rPr lang="en" sz="1200">
                <a:solidFill>
                  <a:srgbClr val="FF0000"/>
                </a:solidFill>
              </a:rPr>
              <a:t> </a:t>
            </a:r>
            <a:r>
              <a:rPr lang="en" sz="1200"/>
              <a:t>additional choice.</a:t>
            </a:r>
            <a:endParaRPr sz="1200"/>
          </a:p>
        </p:txBody>
      </p:sp>
      <p:sp>
        <p:nvSpPr>
          <p:cNvPr id="2300" name="Google Shape;2300;p106"/>
          <p:cNvSpPr txBox="1"/>
          <p:nvPr/>
        </p:nvSpPr>
        <p:spPr>
          <a:xfrm>
            <a:off x="203025" y="23321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a:t>
            </a:r>
            <a:r>
              <a:rPr lang="en" sz="1200" b="1" i="1">
                <a:solidFill>
                  <a:srgbClr val="FF0000"/>
                </a:solidFill>
              </a:rPr>
              <a:t>could</a:t>
            </a:r>
            <a:r>
              <a:rPr lang="en" sz="1200">
                <a:solidFill>
                  <a:srgbClr val="FF0000"/>
                </a:solidFill>
              </a:rPr>
              <a:t> </a:t>
            </a:r>
            <a:r>
              <a:rPr lang="en" sz="1200"/>
              <a:t>say that there are </a:t>
            </a:r>
            <a:r>
              <a:rPr lang="en" sz="1200" b="1" i="1">
                <a:solidFill>
                  <a:srgbClr val="FF0000"/>
                </a:solidFill>
              </a:rPr>
              <a:t>four</a:t>
            </a:r>
            <a:r>
              <a:rPr lang="en" sz="1200">
                <a:solidFill>
                  <a:srgbClr val="FF0000"/>
                </a:solidFill>
              </a:rPr>
              <a:t> </a:t>
            </a:r>
            <a:r>
              <a:rPr lang="en" sz="1200"/>
              <a:t>such potential choices that can be made on an empty chessboard. </a:t>
            </a:r>
            <a:endParaRPr sz="1200"/>
          </a:p>
        </p:txBody>
      </p:sp>
      <p:sp>
        <p:nvSpPr>
          <p:cNvPr id="2301" name="Google Shape;2301;p106"/>
          <p:cNvSpPr txBox="1"/>
          <p:nvPr/>
        </p:nvSpPr>
        <p:spPr>
          <a:xfrm>
            <a:off x="203025" y="31703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But for now, let's focus on choices in just the </a:t>
            </a:r>
            <a:r>
              <a:rPr lang="en" sz="1200" b="1" i="1">
                <a:solidFill>
                  <a:srgbClr val="FF0000"/>
                </a:solidFill>
              </a:rPr>
              <a:t>top row</a:t>
            </a:r>
            <a:r>
              <a:rPr lang="en" sz="1200"/>
              <a:t> on the board. On such a small board, there are only </a:t>
            </a:r>
            <a:r>
              <a:rPr lang="en" sz="1200" b="1" i="1">
                <a:solidFill>
                  <a:srgbClr val="FF0000"/>
                </a:solidFill>
              </a:rPr>
              <a:t>two</a:t>
            </a:r>
            <a:r>
              <a:rPr lang="en" sz="1200">
                <a:solidFill>
                  <a:srgbClr val="FF0000"/>
                </a:solidFill>
              </a:rPr>
              <a:t> </a:t>
            </a:r>
            <a:r>
              <a:rPr lang="en" sz="1200"/>
              <a:t>such choices.</a:t>
            </a:r>
            <a:endParaRPr sz="1200"/>
          </a:p>
        </p:txBody>
      </p:sp>
      <p:cxnSp>
        <p:nvCxnSpPr>
          <p:cNvPr id="2302" name="Google Shape;2302;p106"/>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03" name="Google Shape;2303;p106"/>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04" name="Google Shape;2304;p106"/>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05" name="Google Shape;2305;p106"/>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06" name="Google Shape;2306;p106"/>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07" name="Google Shape;2307;p106"/>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08" name="Google Shape;2308;p106"/>
          <p:cNvPicPr preferRelativeResize="0"/>
          <p:nvPr/>
        </p:nvPicPr>
        <p:blipFill>
          <a:blip r:embed="rId3">
            <a:alphaModFix/>
          </a:blip>
          <a:stretch>
            <a:fillRect/>
          </a:stretch>
        </p:blipFill>
        <p:spPr>
          <a:xfrm>
            <a:off x="7577213" y="2609938"/>
            <a:ext cx="248586" cy="393601"/>
          </a:xfrm>
          <a:prstGeom prst="rect">
            <a:avLst/>
          </a:prstGeom>
          <a:noFill/>
          <a:ln>
            <a:noFill/>
          </a:ln>
        </p:spPr>
      </p:pic>
      <p:sp>
        <p:nvSpPr>
          <p:cNvPr id="2309" name="Google Shape;2309;p106"/>
          <p:cNvSpPr txBox="1"/>
          <p:nvPr/>
        </p:nvSpPr>
        <p:spPr>
          <a:xfrm>
            <a:off x="203025" y="40085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of these choices is a </a:t>
            </a:r>
            <a:r>
              <a:rPr lang="en" sz="1200" b="1" i="1">
                <a:solidFill>
                  <a:srgbClr val="FF0000"/>
                </a:solidFill>
              </a:rPr>
              <a:t>successor</a:t>
            </a:r>
            <a:r>
              <a:rPr lang="en" sz="1200">
                <a:solidFill>
                  <a:srgbClr val="FF0000"/>
                </a:solidFill>
              </a:rPr>
              <a:t> </a:t>
            </a:r>
            <a:r>
              <a:rPr lang="en" sz="1200"/>
              <a:t>of the original configuration with </a:t>
            </a:r>
            <a:r>
              <a:rPr lang="en" sz="1200" b="1" i="1">
                <a:solidFill>
                  <a:srgbClr val="FF0000"/>
                </a:solidFill>
              </a:rPr>
              <a:t>one</a:t>
            </a:r>
            <a:r>
              <a:rPr lang="en" sz="1200">
                <a:solidFill>
                  <a:srgbClr val="FF0000"/>
                </a:solidFill>
              </a:rPr>
              <a:t> </a:t>
            </a:r>
            <a:r>
              <a:rPr lang="en" sz="1200"/>
              <a:t>additional choice made.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9"/>
                                        </p:tgtEl>
                                        <p:attrNameLst>
                                          <p:attrName>style.visibility</p:attrName>
                                        </p:attrNameLst>
                                      </p:cBhvr>
                                      <p:to>
                                        <p:strVal val="visible"/>
                                      </p:to>
                                    </p:set>
                                    <p:animEffect transition="in" filter="fade">
                                      <p:cBhvr>
                                        <p:cTn id="7" dur="1000"/>
                                        <p:tgtEl>
                                          <p:spTgt spid="22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00"/>
                                        </p:tgtEl>
                                        <p:attrNameLst>
                                          <p:attrName>style.visibility</p:attrName>
                                        </p:attrNameLst>
                                      </p:cBhvr>
                                      <p:to>
                                        <p:strVal val="visible"/>
                                      </p:to>
                                    </p:set>
                                    <p:animEffect transition="in" filter="fade">
                                      <p:cBhvr>
                                        <p:cTn id="12" dur="1000"/>
                                        <p:tgtEl>
                                          <p:spTgt spid="23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01"/>
                                        </p:tgtEl>
                                        <p:attrNameLst>
                                          <p:attrName>style.visibility</p:attrName>
                                        </p:attrNameLst>
                                      </p:cBhvr>
                                      <p:to>
                                        <p:strVal val="visible"/>
                                      </p:to>
                                    </p:set>
                                    <p:animEffect transition="in" filter="fade">
                                      <p:cBhvr>
                                        <p:cTn id="17" dur="1000"/>
                                        <p:tgtEl>
                                          <p:spTgt spid="2301"/>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302"/>
                                        </p:tgtEl>
                                        <p:attrNameLst>
                                          <p:attrName>style.visibility</p:attrName>
                                        </p:attrNameLst>
                                      </p:cBhvr>
                                      <p:to>
                                        <p:strVal val="visible"/>
                                      </p:to>
                                    </p:set>
                                    <p:animEffect transition="in" filter="fade">
                                      <p:cBhvr>
                                        <p:cTn id="21" dur="1000"/>
                                        <p:tgtEl>
                                          <p:spTgt spid="2302"/>
                                        </p:tgtEl>
                                      </p:cBhvr>
                                    </p:animEffect>
                                  </p:childTnLst>
                                </p:cTn>
                              </p:par>
                              <p:par>
                                <p:cTn id="22" presetID="10" presetClass="entr" presetSubtype="0" fill="hold" nodeType="withEffect">
                                  <p:stCondLst>
                                    <p:cond delay="0"/>
                                  </p:stCondLst>
                                  <p:childTnLst>
                                    <p:set>
                                      <p:cBhvr>
                                        <p:cTn id="23" dur="1" fill="hold">
                                          <p:stCondLst>
                                            <p:cond delay="0"/>
                                          </p:stCondLst>
                                        </p:cTn>
                                        <p:tgtEl>
                                          <p:spTgt spid="2303"/>
                                        </p:tgtEl>
                                        <p:attrNameLst>
                                          <p:attrName>style.visibility</p:attrName>
                                        </p:attrNameLst>
                                      </p:cBhvr>
                                      <p:to>
                                        <p:strVal val="visible"/>
                                      </p:to>
                                    </p:set>
                                    <p:animEffect transition="in" filter="fade">
                                      <p:cBhvr>
                                        <p:cTn id="24" dur="1000"/>
                                        <p:tgtEl>
                                          <p:spTgt spid="2303"/>
                                        </p:tgtEl>
                                      </p:cBhvr>
                                    </p:animEffect>
                                  </p:childTnLst>
                                </p:cTn>
                              </p:par>
                              <p:par>
                                <p:cTn id="25" presetID="10" presetClass="entr" presetSubtype="0" fill="hold" nodeType="withEffect">
                                  <p:stCondLst>
                                    <p:cond delay="0"/>
                                  </p:stCondLst>
                                  <p:childTnLst>
                                    <p:set>
                                      <p:cBhvr>
                                        <p:cTn id="26" dur="1" fill="hold">
                                          <p:stCondLst>
                                            <p:cond delay="0"/>
                                          </p:stCondLst>
                                        </p:cTn>
                                        <p:tgtEl>
                                          <p:spTgt spid="2305"/>
                                        </p:tgtEl>
                                        <p:attrNameLst>
                                          <p:attrName>style.visibility</p:attrName>
                                        </p:attrNameLst>
                                      </p:cBhvr>
                                      <p:to>
                                        <p:strVal val="visible"/>
                                      </p:to>
                                    </p:set>
                                    <p:animEffect transition="in" filter="fade">
                                      <p:cBhvr>
                                        <p:cTn id="27" dur="1000"/>
                                        <p:tgtEl>
                                          <p:spTgt spid="2305"/>
                                        </p:tgtEl>
                                      </p:cBhvr>
                                    </p:animEffect>
                                  </p:childTnLst>
                                </p:cTn>
                              </p:par>
                              <p:par>
                                <p:cTn id="28" presetID="10" presetClass="entr" presetSubtype="0" fill="hold" nodeType="withEffect">
                                  <p:stCondLst>
                                    <p:cond delay="0"/>
                                  </p:stCondLst>
                                  <p:childTnLst>
                                    <p:set>
                                      <p:cBhvr>
                                        <p:cTn id="29" dur="1" fill="hold">
                                          <p:stCondLst>
                                            <p:cond delay="0"/>
                                          </p:stCondLst>
                                        </p:cTn>
                                        <p:tgtEl>
                                          <p:spTgt spid="2306"/>
                                        </p:tgtEl>
                                        <p:attrNameLst>
                                          <p:attrName>style.visibility</p:attrName>
                                        </p:attrNameLst>
                                      </p:cBhvr>
                                      <p:to>
                                        <p:strVal val="visible"/>
                                      </p:to>
                                    </p:set>
                                    <p:animEffect transition="in" filter="fade">
                                      <p:cBhvr>
                                        <p:cTn id="30" dur="1000"/>
                                        <p:tgtEl>
                                          <p:spTgt spid="2306"/>
                                        </p:tgtEl>
                                      </p:cBhvr>
                                    </p:animEffect>
                                  </p:childTnLst>
                                </p:cTn>
                              </p:par>
                              <p:par>
                                <p:cTn id="31" presetID="10" presetClass="entr" presetSubtype="0" fill="hold" nodeType="withEffect">
                                  <p:stCondLst>
                                    <p:cond delay="0"/>
                                  </p:stCondLst>
                                  <p:childTnLst>
                                    <p:set>
                                      <p:cBhvr>
                                        <p:cTn id="32" dur="1" fill="hold">
                                          <p:stCondLst>
                                            <p:cond delay="0"/>
                                          </p:stCondLst>
                                        </p:cTn>
                                        <p:tgtEl>
                                          <p:spTgt spid="2307"/>
                                        </p:tgtEl>
                                        <p:attrNameLst>
                                          <p:attrName>style.visibility</p:attrName>
                                        </p:attrNameLst>
                                      </p:cBhvr>
                                      <p:to>
                                        <p:strVal val="visible"/>
                                      </p:to>
                                    </p:set>
                                    <p:animEffect transition="in" filter="fade">
                                      <p:cBhvr>
                                        <p:cTn id="33" dur="1000"/>
                                        <p:tgtEl>
                                          <p:spTgt spid="2307"/>
                                        </p:tgtEl>
                                      </p:cBhvr>
                                    </p:animEffect>
                                  </p:childTnLst>
                                </p:cTn>
                              </p:par>
                              <p:par>
                                <p:cTn id="34" presetID="10" presetClass="entr" presetSubtype="0" fill="hold" nodeType="withEffect">
                                  <p:stCondLst>
                                    <p:cond delay="0"/>
                                  </p:stCondLst>
                                  <p:childTnLst>
                                    <p:set>
                                      <p:cBhvr>
                                        <p:cTn id="35" dur="1" fill="hold">
                                          <p:stCondLst>
                                            <p:cond delay="0"/>
                                          </p:stCondLst>
                                        </p:cTn>
                                        <p:tgtEl>
                                          <p:spTgt spid="2308"/>
                                        </p:tgtEl>
                                        <p:attrNameLst>
                                          <p:attrName>style.visibility</p:attrName>
                                        </p:attrNameLst>
                                      </p:cBhvr>
                                      <p:to>
                                        <p:strVal val="visible"/>
                                      </p:to>
                                    </p:set>
                                    <p:animEffect transition="in" filter="fade">
                                      <p:cBhvr>
                                        <p:cTn id="36" dur="1000"/>
                                        <p:tgtEl>
                                          <p:spTgt spid="230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309"/>
                                        </p:tgtEl>
                                        <p:attrNameLst>
                                          <p:attrName>style.visibility</p:attrName>
                                        </p:attrNameLst>
                                      </p:cBhvr>
                                      <p:to>
                                        <p:strVal val="visible"/>
                                      </p:to>
                                    </p:set>
                                    <p:animEffect transition="in" filter="fade">
                                      <p:cBhvr>
                                        <p:cTn id="41" dur="1000"/>
                                        <p:tgtEl>
                                          <p:spTgt spid="2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313"/>
        <p:cNvGrpSpPr/>
        <p:nvPr/>
      </p:nvGrpSpPr>
      <p:grpSpPr>
        <a:xfrm>
          <a:off x="0" y="0"/>
          <a:ext cx="0" cy="0"/>
          <a:chOff x="0" y="0"/>
          <a:chExt cx="0" cy="0"/>
        </a:xfrm>
      </p:grpSpPr>
      <p:cxnSp>
        <p:nvCxnSpPr>
          <p:cNvPr id="2314" name="Google Shape;2314;p107"/>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15" name="Google Shape;2315;p107"/>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16" name="Google Shape;2316;p107"/>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7" name="Google Shape;2317;p107"/>
          <p:cNvGraphicFramePr/>
          <p:nvPr/>
        </p:nvGraphicFramePr>
        <p:xfrm>
          <a:off x="3986446"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8" name="Google Shape;2318;p107"/>
          <p:cNvGraphicFramePr/>
          <p:nvPr/>
        </p:nvGraphicFramePr>
        <p:xfrm>
          <a:off x="5413057"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9" name="Google Shape;2319;p107"/>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20" name="Google Shape;2320;p107"/>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21" name="Google Shape;2321;p107"/>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pSp>
        <p:nvGrpSpPr>
          <p:cNvPr id="2322" name="Google Shape;2322;p107"/>
          <p:cNvGrpSpPr/>
          <p:nvPr/>
        </p:nvGrpSpPr>
        <p:grpSpPr>
          <a:xfrm>
            <a:off x="5458072" y="3391870"/>
            <a:ext cx="667244" cy="1122467"/>
            <a:chOff x="5458072" y="3391870"/>
            <a:chExt cx="667244" cy="1122467"/>
          </a:xfrm>
        </p:grpSpPr>
        <p:pic>
          <p:nvPicPr>
            <p:cNvPr id="2323" name="Google Shape;2323;p107"/>
            <p:cNvPicPr preferRelativeResize="0"/>
            <p:nvPr/>
          </p:nvPicPr>
          <p:blipFill>
            <a:blip r:embed="rId3">
              <a:alphaModFix/>
            </a:blip>
            <a:stretch>
              <a:fillRect/>
            </a:stretch>
          </p:blipFill>
          <p:spPr>
            <a:xfrm>
              <a:off x="5892383" y="4120736"/>
              <a:ext cx="232933" cy="393601"/>
            </a:xfrm>
            <a:prstGeom prst="rect">
              <a:avLst/>
            </a:prstGeom>
            <a:noFill/>
            <a:ln>
              <a:noFill/>
            </a:ln>
          </p:spPr>
        </p:pic>
        <p:cxnSp>
          <p:nvCxnSpPr>
            <p:cNvPr id="2324" name="Google Shape;2324;p107"/>
            <p:cNvCxnSpPr/>
            <p:nvPr/>
          </p:nvCxnSpPr>
          <p:spPr>
            <a:xfrm>
              <a:off x="54580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25" name="Google Shape;2325;p107"/>
            <p:cNvPicPr preferRelativeResize="0"/>
            <p:nvPr/>
          </p:nvPicPr>
          <p:blipFill>
            <a:blip r:embed="rId3">
              <a:alphaModFix/>
            </a:blip>
            <a:stretch>
              <a:fillRect/>
            </a:stretch>
          </p:blipFill>
          <p:spPr>
            <a:xfrm>
              <a:off x="5511944" y="3718547"/>
              <a:ext cx="232933" cy="393601"/>
            </a:xfrm>
            <a:prstGeom prst="rect">
              <a:avLst/>
            </a:prstGeom>
            <a:noFill/>
            <a:ln>
              <a:noFill/>
            </a:ln>
          </p:spPr>
        </p:pic>
      </p:grpSp>
      <p:grpSp>
        <p:nvGrpSpPr>
          <p:cNvPr id="2326" name="Google Shape;2326;p107"/>
          <p:cNvGrpSpPr/>
          <p:nvPr/>
        </p:nvGrpSpPr>
        <p:grpSpPr>
          <a:xfrm>
            <a:off x="4077896" y="3391870"/>
            <a:ext cx="622976" cy="1121907"/>
            <a:chOff x="4077896" y="3391870"/>
            <a:chExt cx="622976" cy="1121907"/>
          </a:xfrm>
        </p:grpSpPr>
        <p:pic>
          <p:nvPicPr>
            <p:cNvPr id="2327" name="Google Shape;2327;p107"/>
            <p:cNvPicPr preferRelativeResize="0"/>
            <p:nvPr/>
          </p:nvPicPr>
          <p:blipFill>
            <a:blip r:embed="rId3">
              <a:alphaModFix/>
            </a:blip>
            <a:stretch>
              <a:fillRect/>
            </a:stretch>
          </p:blipFill>
          <p:spPr>
            <a:xfrm>
              <a:off x="4077896" y="3718547"/>
              <a:ext cx="232933" cy="393601"/>
            </a:xfrm>
            <a:prstGeom prst="rect">
              <a:avLst/>
            </a:prstGeom>
            <a:noFill/>
            <a:ln>
              <a:noFill/>
            </a:ln>
          </p:spPr>
        </p:pic>
        <p:cxnSp>
          <p:nvCxnSpPr>
            <p:cNvPr id="2328" name="Google Shape;2328;p107"/>
            <p:cNvCxnSpPr/>
            <p:nvPr/>
          </p:nvCxnSpPr>
          <p:spPr>
            <a:xfrm flipH="1">
              <a:off x="43912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29" name="Google Shape;2329;p107"/>
            <p:cNvPicPr preferRelativeResize="0"/>
            <p:nvPr/>
          </p:nvPicPr>
          <p:blipFill>
            <a:blip r:embed="rId3">
              <a:alphaModFix/>
            </a:blip>
            <a:stretch>
              <a:fillRect/>
            </a:stretch>
          </p:blipFill>
          <p:spPr>
            <a:xfrm>
              <a:off x="4077896" y="4120176"/>
              <a:ext cx="232933" cy="393601"/>
            </a:xfrm>
            <a:prstGeom prst="rect">
              <a:avLst/>
            </a:prstGeom>
            <a:noFill/>
            <a:ln>
              <a:noFill/>
            </a:ln>
          </p:spPr>
        </p:pic>
      </p:grpSp>
      <p:sp>
        <p:nvSpPr>
          <p:cNvPr id="2330" name="Google Shape;2330;p10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331" name="Google Shape;2331;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89</a:t>
            </a:fld>
            <a:endParaRPr/>
          </a:p>
        </p:txBody>
      </p:sp>
      <p:sp>
        <p:nvSpPr>
          <p:cNvPr id="2332" name="Google Shape;2332;p107"/>
          <p:cNvSpPr txBox="1"/>
          <p:nvPr/>
        </p:nvSpPr>
        <p:spPr>
          <a:xfrm>
            <a:off x="203025" y="1417750"/>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b="1" i="1">
                <a:solidFill>
                  <a:srgbClr val="FF0000"/>
                </a:solidFill>
              </a:rPr>
              <a:t>goal</a:t>
            </a:r>
            <a:r>
              <a:rPr lang="en" sz="1200">
                <a:solidFill>
                  <a:srgbClr val="FF0000"/>
                </a:solidFill>
              </a:rPr>
              <a:t> </a:t>
            </a:r>
            <a:r>
              <a:rPr lang="en" sz="1200"/>
              <a:t>of this problem is to see if there is a way to play </a:t>
            </a:r>
            <a:r>
              <a:rPr lang="en" sz="1200" b="1" i="1">
                <a:solidFill>
                  <a:srgbClr val="FF0000"/>
                </a:solidFill>
              </a:rPr>
              <a:t>two</a:t>
            </a:r>
            <a:r>
              <a:rPr lang="en" sz="1200">
                <a:solidFill>
                  <a:srgbClr val="FF0000"/>
                </a:solidFill>
              </a:rPr>
              <a:t> </a:t>
            </a:r>
            <a:r>
              <a:rPr lang="en" sz="1200"/>
              <a:t>queens on the </a:t>
            </a:r>
            <a:r>
              <a:rPr lang="en" sz="1200" b="1" i="1">
                <a:solidFill>
                  <a:srgbClr val="FF0000"/>
                </a:solidFill>
              </a:rPr>
              <a:t>2x2</a:t>
            </a:r>
            <a:r>
              <a:rPr lang="en" sz="1200"/>
              <a:t> board.</a:t>
            </a:r>
            <a:endParaRPr sz="1200"/>
          </a:p>
        </p:txBody>
      </p:sp>
      <p:sp>
        <p:nvSpPr>
          <p:cNvPr id="2333" name="Google Shape;2333;p107"/>
          <p:cNvSpPr txBox="1"/>
          <p:nvPr/>
        </p:nvSpPr>
        <p:spPr>
          <a:xfrm>
            <a:off x="203025" y="2076045"/>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Neither successor is the goal, but neither is </a:t>
            </a:r>
            <a:r>
              <a:rPr lang="en" sz="1200" b="1" i="1">
                <a:solidFill>
                  <a:srgbClr val="FF0000"/>
                </a:solidFill>
              </a:rPr>
              <a:t>invalid</a:t>
            </a:r>
            <a:r>
              <a:rPr lang="en" sz="1200"/>
              <a:t>, and so the </a:t>
            </a:r>
            <a:r>
              <a:rPr lang="en" sz="1200" b="1" i="1">
                <a:solidFill>
                  <a:srgbClr val="FF0000"/>
                </a:solidFill>
              </a:rPr>
              <a:t>backtracking algorithm</a:t>
            </a:r>
            <a:r>
              <a:rPr lang="en" sz="1200">
                <a:solidFill>
                  <a:srgbClr val="FF0000"/>
                </a:solidFill>
              </a:rPr>
              <a:t> </a:t>
            </a:r>
            <a:r>
              <a:rPr lang="en" sz="1200"/>
              <a:t>will choose </a:t>
            </a:r>
            <a:r>
              <a:rPr lang="en" sz="1200" b="1" i="1">
                <a:solidFill>
                  <a:srgbClr val="FF0000"/>
                </a:solidFill>
              </a:rPr>
              <a:t>one</a:t>
            </a:r>
            <a:r>
              <a:rPr lang="en" sz="1200">
                <a:solidFill>
                  <a:srgbClr val="FF0000"/>
                </a:solidFill>
              </a:rPr>
              <a:t> </a:t>
            </a:r>
            <a:r>
              <a:rPr lang="en" sz="1200"/>
              <a:t>and ask it for </a:t>
            </a:r>
            <a:r>
              <a:rPr lang="en" sz="1200" b="1" i="1">
                <a:solidFill>
                  <a:srgbClr val="FF0000"/>
                </a:solidFill>
              </a:rPr>
              <a:t>its successors</a:t>
            </a:r>
            <a:r>
              <a:rPr lang="en" sz="1200"/>
              <a:t>.</a:t>
            </a:r>
            <a:endParaRPr sz="1200"/>
          </a:p>
        </p:txBody>
      </p:sp>
      <p:sp>
        <p:nvSpPr>
          <p:cNvPr id="2334" name="Google Shape;2334;p107"/>
          <p:cNvSpPr txBox="1"/>
          <p:nvPr/>
        </p:nvSpPr>
        <p:spPr>
          <a:xfrm>
            <a:off x="203025" y="2919143"/>
            <a:ext cx="3400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will avoid wasting time by trying to play another queen in the top row. Instead, we will create a </a:t>
            </a:r>
            <a:r>
              <a:rPr lang="en" sz="1200" b="1" i="1">
                <a:solidFill>
                  <a:srgbClr val="FF0000"/>
                </a:solidFill>
              </a:rPr>
              <a:t>successor</a:t>
            </a:r>
            <a:r>
              <a:rPr lang="en" sz="1200">
                <a:solidFill>
                  <a:srgbClr val="FF0000"/>
                </a:solidFill>
              </a:rPr>
              <a:t> </a:t>
            </a:r>
            <a:r>
              <a:rPr lang="en" sz="1200"/>
              <a:t>for each of the possible moves in the </a:t>
            </a:r>
            <a:r>
              <a:rPr lang="en" sz="1200" b="1" i="1">
                <a:solidFill>
                  <a:srgbClr val="FF0000"/>
                </a:solidFill>
              </a:rPr>
              <a:t>bottom row</a:t>
            </a:r>
            <a:r>
              <a:rPr lang="en" sz="1200"/>
              <a:t>.</a:t>
            </a:r>
            <a:endParaRPr sz="1200"/>
          </a:p>
        </p:txBody>
      </p:sp>
      <p:sp>
        <p:nvSpPr>
          <p:cNvPr id="2335" name="Google Shape;2335;p107"/>
          <p:cNvSpPr txBox="1"/>
          <p:nvPr/>
        </p:nvSpPr>
        <p:spPr>
          <a:xfrm>
            <a:off x="203025" y="3946743"/>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Both of these are </a:t>
            </a:r>
            <a:r>
              <a:rPr lang="en" sz="1200" b="1" i="1">
                <a:solidFill>
                  <a:srgbClr val="FF0000"/>
                </a:solidFill>
              </a:rPr>
              <a:t>invalid</a:t>
            </a:r>
            <a:r>
              <a:rPr lang="en" sz="1200">
                <a:solidFill>
                  <a:srgbClr val="FF0000"/>
                </a:solidFill>
              </a:rPr>
              <a:t> </a:t>
            </a:r>
            <a:r>
              <a:rPr lang="en" sz="1200"/>
              <a:t>configurations with illegal moves. These are </a:t>
            </a:r>
            <a:r>
              <a:rPr lang="en" sz="1200" b="1" i="1">
                <a:solidFill>
                  <a:srgbClr val="FF0000"/>
                </a:solidFill>
              </a:rPr>
              <a:t>dead ends</a:t>
            </a:r>
            <a:r>
              <a:rPr lang="en" sz="1200"/>
              <a:t>.</a:t>
            </a:r>
            <a:endParaRPr sz="1200"/>
          </a:p>
        </p:txBody>
      </p:sp>
      <p:grpSp>
        <p:nvGrpSpPr>
          <p:cNvPr id="2336" name="Google Shape;2336;p107"/>
          <p:cNvGrpSpPr/>
          <p:nvPr/>
        </p:nvGrpSpPr>
        <p:grpSpPr>
          <a:xfrm>
            <a:off x="3873608" y="3624136"/>
            <a:ext cx="2424347" cy="990300"/>
            <a:chOff x="3873608" y="3624136"/>
            <a:chExt cx="2424347" cy="990300"/>
          </a:xfrm>
        </p:grpSpPr>
        <p:sp>
          <p:nvSpPr>
            <p:cNvPr id="2337" name="Google Shape;2337;p107"/>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107"/>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39" name="Google Shape;2339;p107"/>
          <p:cNvPicPr preferRelativeResize="0"/>
          <p:nvPr/>
        </p:nvPicPr>
        <p:blipFill>
          <a:blip r:embed="rId3">
            <a:alphaModFix/>
          </a:blip>
          <a:stretch>
            <a:fillRect/>
          </a:stretch>
        </p:blipFill>
        <p:spPr>
          <a:xfrm>
            <a:off x="7577213" y="2609938"/>
            <a:ext cx="248586" cy="393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32"/>
                                        </p:tgtEl>
                                        <p:attrNameLst>
                                          <p:attrName>style.visibility</p:attrName>
                                        </p:attrNameLst>
                                      </p:cBhvr>
                                      <p:to>
                                        <p:strVal val="visible"/>
                                      </p:to>
                                    </p:set>
                                    <p:animEffect transition="in" filter="fade">
                                      <p:cBhvr>
                                        <p:cTn id="7" dur="1000"/>
                                        <p:tgtEl>
                                          <p:spTgt spid="23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33"/>
                                        </p:tgtEl>
                                        <p:attrNameLst>
                                          <p:attrName>style.visibility</p:attrName>
                                        </p:attrNameLst>
                                      </p:cBhvr>
                                      <p:to>
                                        <p:strVal val="visible"/>
                                      </p:to>
                                    </p:set>
                                    <p:animEffect transition="in" filter="fade">
                                      <p:cBhvr>
                                        <p:cTn id="12" dur="1000"/>
                                        <p:tgtEl>
                                          <p:spTgt spid="23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34"/>
                                        </p:tgtEl>
                                        <p:attrNameLst>
                                          <p:attrName>style.visibility</p:attrName>
                                        </p:attrNameLst>
                                      </p:cBhvr>
                                      <p:to>
                                        <p:strVal val="visible"/>
                                      </p:to>
                                    </p:set>
                                    <p:animEffect transition="in" filter="fade">
                                      <p:cBhvr>
                                        <p:cTn id="17" dur="1000"/>
                                        <p:tgtEl>
                                          <p:spTgt spid="2334"/>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317"/>
                                        </p:tgtEl>
                                        <p:attrNameLst>
                                          <p:attrName>style.visibility</p:attrName>
                                        </p:attrNameLst>
                                      </p:cBhvr>
                                      <p:to>
                                        <p:strVal val="visible"/>
                                      </p:to>
                                    </p:set>
                                    <p:animEffect transition="in" filter="fade">
                                      <p:cBhvr>
                                        <p:cTn id="21" dur="1000"/>
                                        <p:tgtEl>
                                          <p:spTgt spid="2317"/>
                                        </p:tgtEl>
                                      </p:cBhvr>
                                    </p:animEffect>
                                  </p:childTnLst>
                                </p:cTn>
                              </p:par>
                              <p:par>
                                <p:cTn id="22" presetID="10" presetClass="entr" presetSubtype="0" fill="hold" nodeType="withEffect">
                                  <p:stCondLst>
                                    <p:cond delay="0"/>
                                  </p:stCondLst>
                                  <p:childTnLst>
                                    <p:set>
                                      <p:cBhvr>
                                        <p:cTn id="23" dur="1" fill="hold">
                                          <p:stCondLst>
                                            <p:cond delay="0"/>
                                          </p:stCondLst>
                                        </p:cTn>
                                        <p:tgtEl>
                                          <p:spTgt spid="2326"/>
                                        </p:tgtEl>
                                        <p:attrNameLst>
                                          <p:attrName>style.visibility</p:attrName>
                                        </p:attrNameLst>
                                      </p:cBhvr>
                                      <p:to>
                                        <p:strVal val="visible"/>
                                      </p:to>
                                    </p:set>
                                    <p:animEffect transition="in" filter="fade">
                                      <p:cBhvr>
                                        <p:cTn id="24" dur="1000"/>
                                        <p:tgtEl>
                                          <p:spTgt spid="2326"/>
                                        </p:tgtEl>
                                      </p:cBhvr>
                                    </p:animEffect>
                                  </p:childTnLst>
                                </p:cTn>
                              </p:par>
                              <p:par>
                                <p:cTn id="25" presetID="10" presetClass="entr" presetSubtype="0" fill="hold" nodeType="withEffect">
                                  <p:stCondLst>
                                    <p:cond delay="0"/>
                                  </p:stCondLst>
                                  <p:childTnLst>
                                    <p:set>
                                      <p:cBhvr>
                                        <p:cTn id="26" dur="1" fill="hold">
                                          <p:stCondLst>
                                            <p:cond delay="0"/>
                                          </p:stCondLst>
                                        </p:cTn>
                                        <p:tgtEl>
                                          <p:spTgt spid="2318"/>
                                        </p:tgtEl>
                                        <p:attrNameLst>
                                          <p:attrName>style.visibility</p:attrName>
                                        </p:attrNameLst>
                                      </p:cBhvr>
                                      <p:to>
                                        <p:strVal val="visible"/>
                                      </p:to>
                                    </p:set>
                                    <p:animEffect transition="in" filter="fade">
                                      <p:cBhvr>
                                        <p:cTn id="27" dur="1000"/>
                                        <p:tgtEl>
                                          <p:spTgt spid="2318"/>
                                        </p:tgtEl>
                                      </p:cBhvr>
                                    </p:animEffect>
                                  </p:childTnLst>
                                </p:cTn>
                              </p:par>
                              <p:par>
                                <p:cTn id="28" presetID="10" presetClass="entr" presetSubtype="0" fill="hold" nodeType="withEffect">
                                  <p:stCondLst>
                                    <p:cond delay="0"/>
                                  </p:stCondLst>
                                  <p:childTnLst>
                                    <p:set>
                                      <p:cBhvr>
                                        <p:cTn id="29" dur="1" fill="hold">
                                          <p:stCondLst>
                                            <p:cond delay="0"/>
                                          </p:stCondLst>
                                        </p:cTn>
                                        <p:tgtEl>
                                          <p:spTgt spid="2322"/>
                                        </p:tgtEl>
                                        <p:attrNameLst>
                                          <p:attrName>style.visibility</p:attrName>
                                        </p:attrNameLst>
                                      </p:cBhvr>
                                      <p:to>
                                        <p:strVal val="visible"/>
                                      </p:to>
                                    </p:set>
                                    <p:animEffect transition="in" filter="fade">
                                      <p:cBhvr>
                                        <p:cTn id="30" dur="1000"/>
                                        <p:tgtEl>
                                          <p:spTgt spid="23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35"/>
                                        </p:tgtEl>
                                        <p:attrNameLst>
                                          <p:attrName>style.visibility</p:attrName>
                                        </p:attrNameLst>
                                      </p:cBhvr>
                                      <p:to>
                                        <p:strVal val="visible"/>
                                      </p:to>
                                    </p:set>
                                    <p:animEffect transition="in" filter="fade">
                                      <p:cBhvr>
                                        <p:cTn id="35" dur="1000"/>
                                        <p:tgtEl>
                                          <p:spTgt spid="233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336"/>
                                        </p:tgtEl>
                                        <p:attrNameLst>
                                          <p:attrName>style.visibility</p:attrName>
                                        </p:attrNameLst>
                                      </p:cBhvr>
                                      <p:to>
                                        <p:strVal val="visible"/>
                                      </p:to>
                                    </p:set>
                                    <p:animEffect transition="in" filter="fade">
                                      <p:cBhvr>
                                        <p:cTn id="39" dur="1000"/>
                                        <p:tgtEl>
                                          <p:spTgt spid="2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cxnSp>
        <p:nvCxnSpPr>
          <p:cNvPr id="2344" name="Google Shape;2344;p108"/>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45" name="Google Shape;2345;p108"/>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46" name="Google Shape;2346;p108"/>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47" name="Google Shape;2347;p108"/>
          <p:cNvGraphicFramePr/>
          <p:nvPr/>
        </p:nvGraphicFramePr>
        <p:xfrm>
          <a:off x="3986446"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48" name="Google Shape;2348;p108"/>
          <p:cNvGraphicFramePr/>
          <p:nvPr/>
        </p:nvGraphicFramePr>
        <p:xfrm>
          <a:off x="5413057"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pSp>
        <p:nvGrpSpPr>
          <p:cNvPr id="2349" name="Google Shape;2349;p108"/>
          <p:cNvGrpSpPr/>
          <p:nvPr/>
        </p:nvGrpSpPr>
        <p:grpSpPr>
          <a:xfrm>
            <a:off x="4077896" y="3391870"/>
            <a:ext cx="622976" cy="720278"/>
            <a:chOff x="5393925" y="2276375"/>
            <a:chExt cx="622976" cy="720278"/>
          </a:xfrm>
        </p:grpSpPr>
        <p:pic>
          <p:nvPicPr>
            <p:cNvPr id="2350" name="Google Shape;2350;p108"/>
            <p:cNvPicPr preferRelativeResize="0"/>
            <p:nvPr/>
          </p:nvPicPr>
          <p:blipFill>
            <a:blip r:embed="rId3">
              <a:alphaModFix/>
            </a:blip>
            <a:stretch>
              <a:fillRect/>
            </a:stretch>
          </p:blipFill>
          <p:spPr>
            <a:xfrm>
              <a:off x="5393925" y="2603052"/>
              <a:ext cx="232933" cy="393601"/>
            </a:xfrm>
            <a:prstGeom prst="rect">
              <a:avLst/>
            </a:prstGeom>
            <a:noFill/>
            <a:ln>
              <a:noFill/>
            </a:ln>
          </p:spPr>
        </p:pic>
        <p:cxnSp>
          <p:nvCxnSpPr>
            <p:cNvPr id="2351" name="Google Shape;2351;p108"/>
            <p:cNvCxnSpPr/>
            <p:nvPr/>
          </p:nvCxnSpPr>
          <p:spPr>
            <a:xfrm flipH="1">
              <a:off x="5707301" y="2276375"/>
              <a:ext cx="309600" cy="323400"/>
            </a:xfrm>
            <a:prstGeom prst="straightConnector1">
              <a:avLst/>
            </a:prstGeom>
            <a:noFill/>
            <a:ln w="28575" cap="flat" cmpd="sng">
              <a:solidFill>
                <a:srgbClr val="000000"/>
              </a:solidFill>
              <a:prstDash val="solid"/>
              <a:round/>
              <a:headEnd type="none" w="med" len="med"/>
              <a:tailEnd type="none" w="med" len="med"/>
            </a:ln>
          </p:spPr>
        </p:cxnSp>
      </p:grpSp>
      <p:grpSp>
        <p:nvGrpSpPr>
          <p:cNvPr id="2352" name="Google Shape;2352;p108"/>
          <p:cNvGrpSpPr/>
          <p:nvPr/>
        </p:nvGrpSpPr>
        <p:grpSpPr>
          <a:xfrm>
            <a:off x="5458072" y="3391870"/>
            <a:ext cx="667244" cy="1122467"/>
            <a:chOff x="6774101" y="2276375"/>
            <a:chExt cx="667244" cy="1122467"/>
          </a:xfrm>
        </p:grpSpPr>
        <p:pic>
          <p:nvPicPr>
            <p:cNvPr id="2353" name="Google Shape;2353;p108"/>
            <p:cNvPicPr preferRelativeResize="0"/>
            <p:nvPr/>
          </p:nvPicPr>
          <p:blipFill>
            <a:blip r:embed="rId3">
              <a:alphaModFix/>
            </a:blip>
            <a:stretch>
              <a:fillRect/>
            </a:stretch>
          </p:blipFill>
          <p:spPr>
            <a:xfrm>
              <a:off x="7208412" y="3005242"/>
              <a:ext cx="232933" cy="393601"/>
            </a:xfrm>
            <a:prstGeom prst="rect">
              <a:avLst/>
            </a:prstGeom>
            <a:noFill/>
            <a:ln>
              <a:noFill/>
            </a:ln>
          </p:spPr>
        </p:pic>
        <p:cxnSp>
          <p:nvCxnSpPr>
            <p:cNvPr id="2354" name="Google Shape;2354;p108"/>
            <p:cNvCxnSpPr/>
            <p:nvPr/>
          </p:nvCxnSpPr>
          <p:spPr>
            <a:xfrm>
              <a:off x="6774101" y="2276375"/>
              <a:ext cx="309600" cy="323400"/>
            </a:xfrm>
            <a:prstGeom prst="straightConnector1">
              <a:avLst/>
            </a:prstGeom>
            <a:noFill/>
            <a:ln w="28575" cap="flat" cmpd="sng">
              <a:solidFill>
                <a:srgbClr val="000000"/>
              </a:solidFill>
              <a:prstDash val="solid"/>
              <a:round/>
              <a:headEnd type="none" w="med" len="med"/>
              <a:tailEnd type="none" w="med" len="med"/>
            </a:ln>
          </p:spPr>
        </p:cxnSp>
      </p:grpSp>
      <p:graphicFrame>
        <p:nvGraphicFramePr>
          <p:cNvPr id="2355" name="Google Shape;2355;p108"/>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56" name="Google Shape;2356;p108"/>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57" name="Google Shape;2357;p108"/>
          <p:cNvGraphicFramePr/>
          <p:nvPr/>
        </p:nvGraphicFramePr>
        <p:xfrm>
          <a:off x="6424846"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58" name="Google Shape;2358;p108"/>
          <p:cNvGraphicFramePr/>
          <p:nvPr/>
        </p:nvGraphicFramePr>
        <p:xfrm>
          <a:off x="7851457" y="3718645"/>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59" name="Google Shape;2359;p108"/>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60" name="Google Shape;2360;p108"/>
          <p:cNvPicPr preferRelativeResize="0"/>
          <p:nvPr/>
        </p:nvPicPr>
        <p:blipFill>
          <a:blip r:embed="rId3">
            <a:alphaModFix/>
          </a:blip>
          <a:stretch>
            <a:fillRect/>
          </a:stretch>
        </p:blipFill>
        <p:spPr>
          <a:xfrm>
            <a:off x="7577660" y="2609491"/>
            <a:ext cx="248586" cy="393601"/>
          </a:xfrm>
          <a:prstGeom prst="rect">
            <a:avLst/>
          </a:prstGeom>
          <a:noFill/>
          <a:ln>
            <a:noFill/>
          </a:ln>
        </p:spPr>
      </p:pic>
      <p:pic>
        <p:nvPicPr>
          <p:cNvPr id="2361" name="Google Shape;2361;p108"/>
          <p:cNvPicPr preferRelativeResize="0"/>
          <p:nvPr/>
        </p:nvPicPr>
        <p:blipFill>
          <a:blip r:embed="rId3">
            <a:alphaModFix/>
          </a:blip>
          <a:stretch>
            <a:fillRect/>
          </a:stretch>
        </p:blipFill>
        <p:spPr>
          <a:xfrm>
            <a:off x="5511944" y="3718547"/>
            <a:ext cx="232933" cy="393601"/>
          </a:xfrm>
          <a:prstGeom prst="rect">
            <a:avLst/>
          </a:prstGeom>
          <a:noFill/>
          <a:ln>
            <a:noFill/>
          </a:ln>
        </p:spPr>
      </p:pic>
      <p:pic>
        <p:nvPicPr>
          <p:cNvPr id="2362" name="Google Shape;2362;p108"/>
          <p:cNvPicPr preferRelativeResize="0"/>
          <p:nvPr/>
        </p:nvPicPr>
        <p:blipFill>
          <a:blip r:embed="rId3">
            <a:alphaModFix/>
          </a:blip>
          <a:stretch>
            <a:fillRect/>
          </a:stretch>
        </p:blipFill>
        <p:spPr>
          <a:xfrm>
            <a:off x="4077896" y="4120176"/>
            <a:ext cx="232933" cy="393601"/>
          </a:xfrm>
          <a:prstGeom prst="rect">
            <a:avLst/>
          </a:prstGeom>
          <a:noFill/>
          <a:ln>
            <a:noFill/>
          </a:ln>
        </p:spPr>
      </p:pic>
      <p:grpSp>
        <p:nvGrpSpPr>
          <p:cNvPr id="2363" name="Google Shape;2363;p108"/>
          <p:cNvGrpSpPr/>
          <p:nvPr/>
        </p:nvGrpSpPr>
        <p:grpSpPr>
          <a:xfrm>
            <a:off x="6509420" y="3391870"/>
            <a:ext cx="629852" cy="1121907"/>
            <a:chOff x="6509420" y="3391870"/>
            <a:chExt cx="629852" cy="1121907"/>
          </a:xfrm>
        </p:grpSpPr>
        <p:pic>
          <p:nvPicPr>
            <p:cNvPr id="2364" name="Google Shape;2364;p108"/>
            <p:cNvPicPr preferRelativeResize="0"/>
            <p:nvPr/>
          </p:nvPicPr>
          <p:blipFill>
            <a:blip r:embed="rId3">
              <a:alphaModFix/>
            </a:blip>
            <a:stretch>
              <a:fillRect/>
            </a:stretch>
          </p:blipFill>
          <p:spPr>
            <a:xfrm>
              <a:off x="6897296" y="3718547"/>
              <a:ext cx="232933" cy="393601"/>
            </a:xfrm>
            <a:prstGeom prst="rect">
              <a:avLst/>
            </a:prstGeom>
            <a:noFill/>
            <a:ln>
              <a:noFill/>
            </a:ln>
          </p:spPr>
        </p:pic>
        <p:cxnSp>
          <p:nvCxnSpPr>
            <p:cNvPr id="2365" name="Google Shape;2365;p108"/>
            <p:cNvCxnSpPr/>
            <p:nvPr/>
          </p:nvCxnSpPr>
          <p:spPr>
            <a:xfrm flipH="1">
              <a:off x="68296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66" name="Google Shape;2366;p108"/>
            <p:cNvPicPr preferRelativeResize="0"/>
            <p:nvPr/>
          </p:nvPicPr>
          <p:blipFill>
            <a:blip r:embed="rId3">
              <a:alphaModFix/>
            </a:blip>
            <a:stretch>
              <a:fillRect/>
            </a:stretch>
          </p:blipFill>
          <p:spPr>
            <a:xfrm>
              <a:off x="6509420" y="4120176"/>
              <a:ext cx="232933" cy="393601"/>
            </a:xfrm>
            <a:prstGeom prst="rect">
              <a:avLst/>
            </a:prstGeom>
            <a:noFill/>
            <a:ln>
              <a:noFill/>
            </a:ln>
          </p:spPr>
        </p:pic>
      </p:grpSp>
      <p:grpSp>
        <p:nvGrpSpPr>
          <p:cNvPr id="2367" name="Google Shape;2367;p108"/>
          <p:cNvGrpSpPr/>
          <p:nvPr/>
        </p:nvGrpSpPr>
        <p:grpSpPr>
          <a:xfrm>
            <a:off x="7896472" y="3391870"/>
            <a:ext cx="667804" cy="1121907"/>
            <a:chOff x="7896472" y="3391870"/>
            <a:chExt cx="667804" cy="1121907"/>
          </a:xfrm>
        </p:grpSpPr>
        <p:pic>
          <p:nvPicPr>
            <p:cNvPr id="2368" name="Google Shape;2368;p108"/>
            <p:cNvPicPr preferRelativeResize="0"/>
            <p:nvPr/>
          </p:nvPicPr>
          <p:blipFill>
            <a:blip r:embed="rId3">
              <a:alphaModFix/>
            </a:blip>
            <a:stretch>
              <a:fillRect/>
            </a:stretch>
          </p:blipFill>
          <p:spPr>
            <a:xfrm>
              <a:off x="8330783" y="3718547"/>
              <a:ext cx="232933" cy="393601"/>
            </a:xfrm>
            <a:prstGeom prst="rect">
              <a:avLst/>
            </a:prstGeom>
            <a:noFill/>
            <a:ln>
              <a:noFill/>
            </a:ln>
          </p:spPr>
        </p:pic>
        <p:cxnSp>
          <p:nvCxnSpPr>
            <p:cNvPr id="2369" name="Google Shape;2369;p108"/>
            <p:cNvCxnSpPr/>
            <p:nvPr/>
          </p:nvCxnSpPr>
          <p:spPr>
            <a:xfrm>
              <a:off x="78964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70" name="Google Shape;2370;p108"/>
            <p:cNvPicPr preferRelativeResize="0"/>
            <p:nvPr/>
          </p:nvPicPr>
          <p:blipFill>
            <a:blip r:embed="rId3">
              <a:alphaModFix/>
            </a:blip>
            <a:stretch>
              <a:fillRect/>
            </a:stretch>
          </p:blipFill>
          <p:spPr>
            <a:xfrm>
              <a:off x="8331344" y="4120176"/>
              <a:ext cx="232933" cy="393601"/>
            </a:xfrm>
            <a:prstGeom prst="rect">
              <a:avLst/>
            </a:prstGeom>
            <a:noFill/>
            <a:ln>
              <a:noFill/>
            </a:ln>
          </p:spPr>
        </p:pic>
      </p:grpSp>
      <p:sp>
        <p:nvSpPr>
          <p:cNvPr id="2371" name="Google Shape;2371;p10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372" name="Google Shape;2372;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90</a:t>
            </a:fld>
            <a:endParaRPr/>
          </a:p>
        </p:txBody>
      </p:sp>
      <p:sp>
        <p:nvSpPr>
          <p:cNvPr id="2373" name="Google Shape;2373;p108"/>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the algorithm will </a:t>
            </a:r>
            <a:r>
              <a:rPr lang="en" sz="1200" b="1" i="1">
                <a:solidFill>
                  <a:srgbClr val="FF0000"/>
                </a:solidFill>
              </a:rPr>
              <a:t>backtrack</a:t>
            </a:r>
            <a:r>
              <a:rPr lang="en" sz="1200">
                <a:solidFill>
                  <a:srgbClr val="FF0000"/>
                </a:solidFill>
              </a:rPr>
              <a:t> </a:t>
            </a:r>
            <a:r>
              <a:rPr lang="en" sz="1200"/>
              <a:t>to a previous, valid configuration and use</a:t>
            </a:r>
            <a:r>
              <a:rPr lang="en" sz="1200">
                <a:solidFill>
                  <a:srgbClr val="FF0000"/>
                </a:solidFill>
              </a:rPr>
              <a:t> </a:t>
            </a:r>
            <a:r>
              <a:rPr lang="en" sz="1200" b="1" i="1">
                <a:solidFill>
                  <a:srgbClr val="FF0000"/>
                </a:solidFill>
              </a:rPr>
              <a:t>it</a:t>
            </a:r>
            <a:r>
              <a:rPr lang="en" sz="1200"/>
              <a:t> to create another collection of successors.</a:t>
            </a:r>
            <a:endParaRPr sz="1200"/>
          </a:p>
        </p:txBody>
      </p:sp>
      <p:sp>
        <p:nvSpPr>
          <p:cNvPr id="2374" name="Google Shape;2374;p108"/>
          <p:cNvSpPr txBox="1"/>
          <p:nvPr/>
        </p:nvSpPr>
        <p:spPr>
          <a:xfrm>
            <a:off x="203025" y="2339587"/>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again, each successor contains the same state as its parent configuration plus </a:t>
            </a:r>
            <a:r>
              <a:rPr lang="en" sz="1200" b="1" i="1">
                <a:solidFill>
                  <a:srgbClr val="FF0000"/>
                </a:solidFill>
              </a:rPr>
              <a:t>one</a:t>
            </a:r>
            <a:r>
              <a:rPr lang="en" sz="1200">
                <a:solidFill>
                  <a:srgbClr val="FF0000"/>
                </a:solidFill>
              </a:rPr>
              <a:t> </a:t>
            </a:r>
            <a:r>
              <a:rPr lang="en" sz="1200"/>
              <a:t>additional move in the second row.</a:t>
            </a:r>
            <a:endParaRPr sz="1200"/>
          </a:p>
        </p:txBody>
      </p:sp>
      <p:grpSp>
        <p:nvGrpSpPr>
          <p:cNvPr id="2375" name="Google Shape;2375;p108"/>
          <p:cNvGrpSpPr/>
          <p:nvPr/>
        </p:nvGrpSpPr>
        <p:grpSpPr>
          <a:xfrm>
            <a:off x="3873608" y="3624136"/>
            <a:ext cx="2424347" cy="990300"/>
            <a:chOff x="3873608" y="3624136"/>
            <a:chExt cx="2424347" cy="990300"/>
          </a:xfrm>
        </p:grpSpPr>
        <p:sp>
          <p:nvSpPr>
            <p:cNvPr id="2376" name="Google Shape;2376;p108"/>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108"/>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8" name="Google Shape;2378;p108"/>
          <p:cNvSpPr txBox="1"/>
          <p:nvPr/>
        </p:nvSpPr>
        <p:spPr>
          <a:xfrm>
            <a:off x="203025" y="3185195"/>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Also once again, both configurations are </a:t>
            </a:r>
            <a:r>
              <a:rPr lang="en" sz="1200" b="1" i="1">
                <a:solidFill>
                  <a:srgbClr val="FF0000"/>
                </a:solidFill>
              </a:rPr>
              <a:t>invalid</a:t>
            </a:r>
            <a:r>
              <a:rPr lang="en" sz="1200"/>
              <a:t>.</a:t>
            </a:r>
            <a:endParaRPr sz="1200"/>
          </a:p>
        </p:txBody>
      </p:sp>
      <p:grpSp>
        <p:nvGrpSpPr>
          <p:cNvPr id="2379" name="Google Shape;2379;p108"/>
          <p:cNvGrpSpPr/>
          <p:nvPr/>
        </p:nvGrpSpPr>
        <p:grpSpPr>
          <a:xfrm>
            <a:off x="6312008" y="3624136"/>
            <a:ext cx="2424347" cy="990300"/>
            <a:chOff x="3873608" y="3624136"/>
            <a:chExt cx="2424347" cy="990300"/>
          </a:xfrm>
        </p:grpSpPr>
        <p:sp>
          <p:nvSpPr>
            <p:cNvPr id="2380" name="Google Shape;2380;p108"/>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108"/>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2" name="Google Shape;2382;p108"/>
          <p:cNvSpPr txBox="1"/>
          <p:nvPr/>
        </p:nvSpPr>
        <p:spPr>
          <a:xfrm>
            <a:off x="203025" y="384602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the algorithm has exhausted all possible configurations without finding a </a:t>
            </a:r>
            <a:r>
              <a:rPr lang="en" sz="1200" b="1" i="1">
                <a:solidFill>
                  <a:srgbClr val="FF0000"/>
                </a:solidFill>
              </a:rPr>
              <a:t>goal</a:t>
            </a:r>
            <a:r>
              <a:rPr lang="en" sz="1200"/>
              <a:t>. There is no solution to this problem.</a:t>
            </a:r>
            <a:endParaRPr sz="1200"/>
          </a:p>
        </p:txBody>
      </p:sp>
      <p:sp>
        <p:nvSpPr>
          <p:cNvPr id="2383" name="Google Shape;2383;p108"/>
          <p:cNvSpPr/>
          <p:nvPr/>
        </p:nvSpPr>
        <p:spPr>
          <a:xfrm>
            <a:off x="6003150" y="2785225"/>
            <a:ext cx="1058950" cy="873275"/>
          </a:xfrm>
          <a:custGeom>
            <a:avLst/>
            <a:gdLst/>
            <a:ahLst/>
            <a:cxnLst/>
            <a:rect l="l" t="t" r="r" b="b"/>
            <a:pathLst>
              <a:path w="42358" h="34931" extrusionOk="0">
                <a:moveTo>
                  <a:pt x="0" y="34931"/>
                </a:moveTo>
                <a:cubicBezTo>
                  <a:pt x="2659" y="32822"/>
                  <a:pt x="15632" y="26634"/>
                  <a:pt x="15953" y="22279"/>
                </a:cubicBezTo>
                <a:cubicBezTo>
                  <a:pt x="16274" y="17924"/>
                  <a:pt x="-2476" y="12514"/>
                  <a:pt x="1925" y="8801"/>
                </a:cubicBezTo>
                <a:cubicBezTo>
                  <a:pt x="6326" y="5088"/>
                  <a:pt x="35619" y="1467"/>
                  <a:pt x="42358" y="0"/>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3"/>
                                        </p:tgtEl>
                                        <p:attrNameLst>
                                          <p:attrName>style.visibility</p:attrName>
                                        </p:attrNameLst>
                                      </p:cBhvr>
                                      <p:to>
                                        <p:strVal val="visible"/>
                                      </p:to>
                                    </p:set>
                                    <p:animEffect transition="in" filter="fade">
                                      <p:cBhvr>
                                        <p:cTn id="7" dur="1000"/>
                                        <p:tgtEl>
                                          <p:spTgt spid="237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83"/>
                                        </p:tgtEl>
                                        <p:attrNameLst>
                                          <p:attrName>style.visibility</p:attrName>
                                        </p:attrNameLst>
                                      </p:cBhvr>
                                      <p:to>
                                        <p:strVal val="visible"/>
                                      </p:to>
                                    </p:set>
                                    <p:animEffect transition="in" filter="fade">
                                      <p:cBhvr>
                                        <p:cTn id="11" dur="1000"/>
                                        <p:tgtEl>
                                          <p:spTgt spid="238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357"/>
                                        </p:tgtEl>
                                        <p:attrNameLst>
                                          <p:attrName>style.visibility</p:attrName>
                                        </p:attrNameLst>
                                      </p:cBhvr>
                                      <p:to>
                                        <p:strVal val="visible"/>
                                      </p:to>
                                    </p:set>
                                    <p:animEffect transition="in" filter="fade">
                                      <p:cBhvr>
                                        <p:cTn id="15" dur="1000"/>
                                        <p:tgtEl>
                                          <p:spTgt spid="2357"/>
                                        </p:tgtEl>
                                      </p:cBhvr>
                                    </p:animEffect>
                                  </p:childTnLst>
                                </p:cTn>
                              </p:par>
                              <p:par>
                                <p:cTn id="16" presetID="10" presetClass="entr" presetSubtype="0" fill="hold" nodeType="withEffect">
                                  <p:stCondLst>
                                    <p:cond delay="0"/>
                                  </p:stCondLst>
                                  <p:childTnLst>
                                    <p:set>
                                      <p:cBhvr>
                                        <p:cTn id="17" dur="1" fill="hold">
                                          <p:stCondLst>
                                            <p:cond delay="0"/>
                                          </p:stCondLst>
                                        </p:cTn>
                                        <p:tgtEl>
                                          <p:spTgt spid="2358"/>
                                        </p:tgtEl>
                                        <p:attrNameLst>
                                          <p:attrName>style.visibility</p:attrName>
                                        </p:attrNameLst>
                                      </p:cBhvr>
                                      <p:to>
                                        <p:strVal val="visible"/>
                                      </p:to>
                                    </p:set>
                                    <p:animEffect transition="in" filter="fade">
                                      <p:cBhvr>
                                        <p:cTn id="18" dur="1000"/>
                                        <p:tgtEl>
                                          <p:spTgt spid="2358"/>
                                        </p:tgtEl>
                                      </p:cBhvr>
                                    </p:animEffect>
                                  </p:childTnLst>
                                </p:cTn>
                              </p:par>
                              <p:par>
                                <p:cTn id="19" presetID="10" presetClass="entr" presetSubtype="0" fill="hold" nodeType="withEffect">
                                  <p:stCondLst>
                                    <p:cond delay="0"/>
                                  </p:stCondLst>
                                  <p:childTnLst>
                                    <p:set>
                                      <p:cBhvr>
                                        <p:cTn id="20" dur="1" fill="hold">
                                          <p:stCondLst>
                                            <p:cond delay="0"/>
                                          </p:stCondLst>
                                        </p:cTn>
                                        <p:tgtEl>
                                          <p:spTgt spid="2363"/>
                                        </p:tgtEl>
                                        <p:attrNameLst>
                                          <p:attrName>style.visibility</p:attrName>
                                        </p:attrNameLst>
                                      </p:cBhvr>
                                      <p:to>
                                        <p:strVal val="visible"/>
                                      </p:to>
                                    </p:set>
                                    <p:animEffect transition="in" filter="fade">
                                      <p:cBhvr>
                                        <p:cTn id="21" dur="1000"/>
                                        <p:tgtEl>
                                          <p:spTgt spid="2363"/>
                                        </p:tgtEl>
                                      </p:cBhvr>
                                    </p:animEffect>
                                  </p:childTnLst>
                                </p:cTn>
                              </p:par>
                              <p:par>
                                <p:cTn id="22" presetID="10" presetClass="entr" presetSubtype="0" fill="hold" nodeType="withEffect">
                                  <p:stCondLst>
                                    <p:cond delay="0"/>
                                  </p:stCondLst>
                                  <p:childTnLst>
                                    <p:set>
                                      <p:cBhvr>
                                        <p:cTn id="23" dur="1" fill="hold">
                                          <p:stCondLst>
                                            <p:cond delay="0"/>
                                          </p:stCondLst>
                                        </p:cTn>
                                        <p:tgtEl>
                                          <p:spTgt spid="2367"/>
                                        </p:tgtEl>
                                        <p:attrNameLst>
                                          <p:attrName>style.visibility</p:attrName>
                                        </p:attrNameLst>
                                      </p:cBhvr>
                                      <p:to>
                                        <p:strVal val="visible"/>
                                      </p:to>
                                    </p:set>
                                    <p:animEffect transition="in" filter="fade">
                                      <p:cBhvr>
                                        <p:cTn id="24" dur="1000"/>
                                        <p:tgtEl>
                                          <p:spTgt spid="236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74"/>
                                        </p:tgtEl>
                                        <p:attrNameLst>
                                          <p:attrName>style.visibility</p:attrName>
                                        </p:attrNameLst>
                                      </p:cBhvr>
                                      <p:to>
                                        <p:strVal val="visible"/>
                                      </p:to>
                                    </p:set>
                                    <p:animEffect transition="in" filter="fade">
                                      <p:cBhvr>
                                        <p:cTn id="29" dur="1000"/>
                                        <p:tgtEl>
                                          <p:spTgt spid="237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78"/>
                                        </p:tgtEl>
                                        <p:attrNameLst>
                                          <p:attrName>style.visibility</p:attrName>
                                        </p:attrNameLst>
                                      </p:cBhvr>
                                      <p:to>
                                        <p:strVal val="visible"/>
                                      </p:to>
                                    </p:set>
                                    <p:animEffect transition="in" filter="fade">
                                      <p:cBhvr>
                                        <p:cTn id="34" dur="1000"/>
                                        <p:tgtEl>
                                          <p:spTgt spid="2378"/>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2379"/>
                                        </p:tgtEl>
                                        <p:attrNameLst>
                                          <p:attrName>style.visibility</p:attrName>
                                        </p:attrNameLst>
                                      </p:cBhvr>
                                      <p:to>
                                        <p:strVal val="visible"/>
                                      </p:to>
                                    </p:set>
                                    <p:animEffect transition="in" filter="fade">
                                      <p:cBhvr>
                                        <p:cTn id="38" dur="1000"/>
                                        <p:tgtEl>
                                          <p:spTgt spid="237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82"/>
                                        </p:tgtEl>
                                        <p:attrNameLst>
                                          <p:attrName>style.visibility</p:attrName>
                                        </p:attrNameLst>
                                      </p:cBhvr>
                                      <p:to>
                                        <p:strVal val="visible"/>
                                      </p:to>
                                    </p:set>
                                    <p:animEffect transition="in" filter="fade">
                                      <p:cBhvr>
                                        <p:cTn id="43" dur="1000"/>
                                        <p:tgtEl>
                                          <p:spTgt spid="2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387"/>
        <p:cNvGrpSpPr/>
        <p:nvPr/>
      </p:nvGrpSpPr>
      <p:grpSpPr>
        <a:xfrm>
          <a:off x="0" y="0"/>
          <a:ext cx="0" cy="0"/>
          <a:chOff x="0" y="0"/>
          <a:chExt cx="0" cy="0"/>
        </a:xfrm>
      </p:grpSpPr>
      <p:sp>
        <p:nvSpPr>
          <p:cNvPr id="2388" name="Google Shape;2388;p109"/>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Deep Copies</a:t>
            </a:r>
            <a:endParaRPr/>
          </a:p>
        </p:txBody>
      </p:sp>
      <p:sp>
        <p:nvSpPr>
          <p:cNvPr id="2389" name="Google Shape;2389;p10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91</a:t>
            </a:fld>
            <a:endParaRPr/>
          </a:p>
        </p:txBody>
      </p:sp>
      <p:sp>
        <p:nvSpPr>
          <p:cNvPr id="2390" name="Google Shape;2390;p109"/>
          <p:cNvSpPr txBox="1">
            <a:spLocks noGrp="1"/>
          </p:cNvSpPr>
          <p:nvPr>
            <p:ph type="body" idx="1"/>
          </p:nvPr>
        </p:nvSpPr>
        <p:spPr>
          <a:xfrm>
            <a:off x="430401" y="66999"/>
            <a:ext cx="4305900" cy="49923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Each configuration needs to store the queens that have already been placed on the board in some kind of </a:t>
            </a:r>
            <a:r>
              <a:rPr lang="en" b="1" i="1">
                <a:solidFill>
                  <a:srgbClr val="FF0000"/>
                </a:solidFill>
              </a:rPr>
              <a:t>data structure</a:t>
            </a:r>
            <a:r>
              <a:rPr lang="en"/>
              <a:t>.</a:t>
            </a:r>
            <a:endParaRPr/>
          </a:p>
          <a:p>
            <a:pPr marL="457200" lvl="0" indent="-311150" algn="l" rtl="0">
              <a:lnSpc>
                <a:spcPct val="100000"/>
              </a:lnSpc>
              <a:spcBef>
                <a:spcPts val="1000"/>
              </a:spcBef>
              <a:spcAft>
                <a:spcPts val="0"/>
              </a:spcAft>
              <a:buSzPts val="1300"/>
              <a:buChar char="●"/>
            </a:pPr>
            <a:r>
              <a:rPr lang="en"/>
              <a:t>As you should know by now, all data structures (including </a:t>
            </a:r>
            <a:r>
              <a:rPr lang="en" b="1" i="1">
                <a:solidFill>
                  <a:srgbClr val="FF0000"/>
                </a:solidFill>
              </a:rPr>
              <a:t>arrays</a:t>
            </a:r>
            <a:r>
              <a:rPr lang="en"/>
              <a:t>) are </a:t>
            </a:r>
            <a:r>
              <a:rPr lang="en" b="1" i="1">
                <a:solidFill>
                  <a:srgbClr val="FF0000"/>
                </a:solidFill>
              </a:rPr>
              <a:t>reference types</a:t>
            </a:r>
            <a:r>
              <a:rPr lang="en"/>
              <a:t>.</a:t>
            </a:r>
            <a:endParaRPr/>
          </a:p>
          <a:p>
            <a:pPr marL="914400" lvl="1" indent="-298450" algn="l" rtl="0">
              <a:lnSpc>
                <a:spcPct val="100000"/>
              </a:lnSpc>
              <a:spcBef>
                <a:spcPts val="0"/>
              </a:spcBef>
              <a:spcAft>
                <a:spcPts val="0"/>
              </a:spcAft>
              <a:buSzPts val="1100"/>
              <a:buChar char="○"/>
            </a:pPr>
            <a:r>
              <a:rPr lang="en"/>
              <a:t>If a function declares a parameter of an array type, a </a:t>
            </a:r>
            <a:r>
              <a:rPr lang="en" b="1" i="1">
                <a:solidFill>
                  <a:srgbClr val="FF0000"/>
                </a:solidFill>
              </a:rPr>
              <a:t>reference</a:t>
            </a:r>
            <a:r>
              <a:rPr lang="en">
                <a:solidFill>
                  <a:srgbClr val="FF0000"/>
                </a:solidFill>
              </a:rPr>
              <a:t> </a:t>
            </a:r>
            <a:r>
              <a:rPr lang="en"/>
              <a:t>to the array is passed into the function.</a:t>
            </a:r>
            <a:endParaRPr/>
          </a:p>
          <a:p>
            <a:pPr marL="914400" lvl="1" indent="-298450" algn="l" rtl="0">
              <a:lnSpc>
                <a:spcPct val="100000"/>
              </a:lnSpc>
              <a:spcBef>
                <a:spcPts val="0"/>
              </a:spcBef>
              <a:spcAft>
                <a:spcPts val="0"/>
              </a:spcAft>
              <a:buSzPts val="1100"/>
              <a:buChar char="○"/>
            </a:pPr>
            <a:r>
              <a:rPr lang="en"/>
              <a:t>Any changes made inside the function </a:t>
            </a:r>
            <a:r>
              <a:rPr lang="en" b="1" i="1">
                <a:solidFill>
                  <a:srgbClr val="FF0000"/>
                </a:solidFill>
              </a:rPr>
              <a:t>persist</a:t>
            </a:r>
            <a:r>
              <a:rPr lang="en"/>
              <a:t>!</a:t>
            </a:r>
            <a:endParaRPr/>
          </a:p>
          <a:p>
            <a:pPr marL="914400" lvl="1" indent="-298450" algn="l" rtl="0">
              <a:lnSpc>
                <a:spcPct val="100000"/>
              </a:lnSpc>
              <a:spcBef>
                <a:spcPts val="0"/>
              </a:spcBef>
              <a:spcAft>
                <a:spcPts val="0"/>
              </a:spcAft>
              <a:buSzPts val="1100"/>
              <a:buChar char="○"/>
            </a:pPr>
            <a:r>
              <a:rPr lang="en"/>
              <a:t>This includes </a:t>
            </a:r>
            <a:r>
              <a:rPr lang="en" b="1" i="1">
                <a:solidFill>
                  <a:srgbClr val="FF0000"/>
                </a:solidFill>
              </a:rPr>
              <a:t>constructors</a:t>
            </a:r>
            <a:r>
              <a:rPr lang="en" b="1" i="1"/>
              <a:t>!</a:t>
            </a:r>
            <a:endParaRPr/>
          </a:p>
          <a:p>
            <a:pPr marL="457200" lvl="0" indent="-311150" algn="l" rtl="0">
              <a:lnSpc>
                <a:spcPct val="100000"/>
              </a:lnSpc>
              <a:spcBef>
                <a:spcPts val="1000"/>
              </a:spcBef>
              <a:spcAft>
                <a:spcPts val="0"/>
              </a:spcAft>
              <a:buSzPts val="1300"/>
              <a:buChar char="●"/>
            </a:pPr>
            <a:r>
              <a:rPr lang="en"/>
              <a:t>This means that if a configuration simply passes its array of queens into each of its successors through the constructor, they will all share </a:t>
            </a:r>
            <a:r>
              <a:rPr lang="en" b="1" i="1">
                <a:solidFill>
                  <a:srgbClr val="FF0000"/>
                </a:solidFill>
              </a:rPr>
              <a:t>the same array</a:t>
            </a:r>
            <a:r>
              <a:rPr lang="en"/>
              <a:t>.</a:t>
            </a:r>
            <a:endParaRPr/>
          </a:p>
          <a:p>
            <a:pPr marL="914400" lvl="1" indent="-298450" algn="l" rtl="0">
              <a:lnSpc>
                <a:spcPct val="100000"/>
              </a:lnSpc>
              <a:spcBef>
                <a:spcPts val="0"/>
              </a:spcBef>
              <a:spcAft>
                <a:spcPts val="0"/>
              </a:spcAft>
              <a:buSzPts val="1100"/>
              <a:buChar char="○"/>
            </a:pPr>
            <a:r>
              <a:rPr lang="en"/>
              <a:t>Any new moves made will overwrite each other, or add additional (potentially invalid!) queens to the board.</a:t>
            </a:r>
            <a:endParaRPr/>
          </a:p>
          <a:p>
            <a:pPr marL="457200" lvl="0" indent="-311150" algn="l" rtl="0">
              <a:lnSpc>
                <a:spcPct val="100000"/>
              </a:lnSpc>
              <a:spcBef>
                <a:spcPts val="1000"/>
              </a:spcBef>
              <a:spcAft>
                <a:spcPts val="0"/>
              </a:spcAft>
              <a:buSzPts val="1300"/>
              <a:buChar char="●"/>
            </a:pPr>
            <a:r>
              <a:rPr lang="en"/>
              <a:t>In order to avoid this problem, a </a:t>
            </a:r>
            <a:r>
              <a:rPr lang="en" b="1" i="1">
                <a:solidFill>
                  <a:srgbClr val="FF0000"/>
                </a:solidFill>
              </a:rPr>
              <a:t>deep copy</a:t>
            </a:r>
            <a:r>
              <a:rPr lang="en">
                <a:solidFill>
                  <a:srgbClr val="FF0000"/>
                </a:solidFill>
              </a:rPr>
              <a:t> </a:t>
            </a:r>
            <a:r>
              <a:rPr lang="en"/>
              <a:t>of the data structure must be made.</a:t>
            </a:r>
            <a:endParaRPr/>
          </a:p>
          <a:p>
            <a:pPr marL="914400" lvl="1" indent="-298450" algn="l" rtl="0">
              <a:lnSpc>
                <a:spcPct val="100000"/>
              </a:lnSpc>
              <a:spcBef>
                <a:spcPts val="0"/>
              </a:spcBef>
              <a:spcAft>
                <a:spcPts val="0"/>
              </a:spcAft>
              <a:buSzPts val="1100"/>
              <a:buChar char="○"/>
            </a:pPr>
            <a:r>
              <a:rPr lang="en"/>
              <a:t>This includes making a new array of the required size and copying all of the elements into the new array before giving the </a:t>
            </a:r>
            <a:r>
              <a:rPr lang="en" b="1" i="1">
                <a:solidFill>
                  <a:srgbClr val="FF0000"/>
                </a:solidFill>
              </a:rPr>
              <a:t>copy</a:t>
            </a:r>
            <a:r>
              <a:rPr lang="en">
                <a:solidFill>
                  <a:srgbClr val="FF0000"/>
                </a:solidFill>
              </a:rPr>
              <a:t> </a:t>
            </a:r>
            <a:r>
              <a:rPr lang="en"/>
              <a:t>to a successor.</a:t>
            </a:r>
            <a:endParaRPr/>
          </a:p>
          <a:p>
            <a:pPr marL="457200" lvl="0" indent="-311150" algn="l" rtl="0">
              <a:lnSpc>
                <a:spcPct val="100000"/>
              </a:lnSpc>
              <a:spcBef>
                <a:spcPts val="1000"/>
              </a:spcBef>
              <a:spcAft>
                <a:spcPts val="0"/>
              </a:spcAft>
              <a:buSzPts val="1300"/>
              <a:buChar char="●"/>
            </a:pPr>
            <a:r>
              <a:rPr lang="en"/>
              <a:t>The same will need to be done with </a:t>
            </a:r>
            <a:r>
              <a:rPr lang="en" b="1" i="1">
                <a:solidFill>
                  <a:srgbClr val="FF0000"/>
                </a:solidFill>
              </a:rPr>
              <a:t>any mutable reference type</a:t>
            </a:r>
            <a:r>
              <a:rPr lang="en"/>
              <a:t> that is used by a configuration.</a:t>
            </a:r>
            <a:endParaRPr/>
          </a:p>
        </p:txBody>
      </p:sp>
      <p:sp>
        <p:nvSpPr>
          <p:cNvPr id="2391" name="Google Shape;2391;p109"/>
          <p:cNvSpPr txBox="1">
            <a:spLocks noGrp="1"/>
          </p:cNvSpPr>
          <p:nvPr>
            <p:ph type="body" idx="3"/>
          </p:nvPr>
        </p:nvSpPr>
        <p:spPr>
          <a:xfrm>
            <a:off x="5192225" y="7580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Data structures like arrays are </a:t>
            </a:r>
            <a:r>
              <a:rPr lang="en" b="1" i="1">
                <a:solidFill>
                  <a:srgbClr val="FF0000"/>
                </a:solidFill>
              </a:rPr>
              <a:t>reference types</a:t>
            </a:r>
            <a:r>
              <a:rPr lang="en"/>
              <a:t>. When used as an argument to a function, a </a:t>
            </a:r>
            <a:r>
              <a:rPr lang="en" b="1" i="1">
                <a:solidFill>
                  <a:srgbClr val="FF0000"/>
                </a:solidFill>
              </a:rPr>
              <a:t>reference</a:t>
            </a:r>
            <a:r>
              <a:rPr lang="en">
                <a:solidFill>
                  <a:srgbClr val="FF0000"/>
                </a:solidFill>
              </a:rPr>
              <a:t> </a:t>
            </a:r>
            <a:r>
              <a:rPr lang="en"/>
              <a:t>to the real object in memory is passed in.</a:t>
            </a:r>
            <a:endParaRPr/>
          </a:p>
        </p:txBody>
      </p:sp>
      <p:graphicFrame>
        <p:nvGraphicFramePr>
          <p:cNvPr id="2392" name="Google Shape;2392;p109"/>
          <p:cNvGraphicFramePr/>
          <p:nvPr/>
        </p:nvGraphicFramePr>
        <p:xfrm>
          <a:off x="5223975" y="1650475"/>
          <a:ext cx="3000000" cy="3000000"/>
        </p:xfrm>
        <a:graphic>
          <a:graphicData uri="http://schemas.openxmlformats.org/drawingml/2006/table">
            <a:tbl>
              <a:tblPr>
                <a:noFill/>
                <a:tableStyleId>{89CCAE03-A2B2-4379-B0C2-E101A7E113D6}</a:tableStyleId>
              </a:tblPr>
              <a:tblGrid>
                <a:gridCol w="455375">
                  <a:extLst>
                    <a:ext uri="{9D8B030D-6E8A-4147-A177-3AD203B41FA5}">
                      <a16:colId xmlns:a16="http://schemas.microsoft.com/office/drawing/2014/main" val="20000"/>
                    </a:ext>
                  </a:extLst>
                </a:gridCol>
                <a:gridCol w="455375">
                  <a:extLst>
                    <a:ext uri="{9D8B030D-6E8A-4147-A177-3AD203B41FA5}">
                      <a16:colId xmlns:a16="http://schemas.microsoft.com/office/drawing/2014/main" val="20001"/>
                    </a:ext>
                  </a:extLst>
                </a:gridCol>
                <a:gridCol w="455375">
                  <a:extLst>
                    <a:ext uri="{9D8B030D-6E8A-4147-A177-3AD203B41FA5}">
                      <a16:colId xmlns:a16="http://schemas.microsoft.com/office/drawing/2014/main" val="20002"/>
                    </a:ext>
                  </a:extLst>
                </a:gridCol>
                <a:gridCol w="455375">
                  <a:extLst>
                    <a:ext uri="{9D8B030D-6E8A-4147-A177-3AD203B41FA5}">
                      <a16:colId xmlns:a16="http://schemas.microsoft.com/office/drawing/2014/main" val="20003"/>
                    </a:ext>
                  </a:extLst>
                </a:gridCol>
                <a:gridCol w="455375">
                  <a:extLst>
                    <a:ext uri="{9D8B030D-6E8A-4147-A177-3AD203B41FA5}">
                      <a16:colId xmlns:a16="http://schemas.microsoft.com/office/drawing/2014/main" val="20004"/>
                    </a:ext>
                  </a:extLst>
                </a:gridCol>
                <a:gridCol w="455375">
                  <a:extLst>
                    <a:ext uri="{9D8B030D-6E8A-4147-A177-3AD203B41FA5}">
                      <a16:colId xmlns:a16="http://schemas.microsoft.com/office/drawing/2014/main" val="20005"/>
                    </a:ext>
                  </a:extLst>
                </a:gridCol>
                <a:gridCol w="455375">
                  <a:extLst>
                    <a:ext uri="{9D8B030D-6E8A-4147-A177-3AD203B41FA5}">
                      <a16:colId xmlns:a16="http://schemas.microsoft.com/office/drawing/2014/main" val="20006"/>
                    </a:ext>
                  </a:extLst>
                </a:gridCol>
                <a:gridCol w="455375">
                  <a:extLst>
                    <a:ext uri="{9D8B030D-6E8A-4147-A177-3AD203B41FA5}">
                      <a16:colId xmlns:a16="http://schemas.microsoft.com/office/drawing/2014/main" val="20007"/>
                    </a:ext>
                  </a:extLst>
                </a:gridCol>
              </a:tblGrid>
              <a:tr h="671250">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0</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4</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6</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7</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393" name="Google Shape;2393;p109"/>
          <p:cNvPicPr preferRelativeResize="0"/>
          <p:nvPr/>
        </p:nvPicPr>
        <p:blipFill>
          <a:blip r:embed="rId3">
            <a:alphaModFix/>
          </a:blip>
          <a:stretch>
            <a:fillRect/>
          </a:stretch>
        </p:blipFill>
        <p:spPr>
          <a:xfrm>
            <a:off x="5739541" y="1760260"/>
            <a:ext cx="299286" cy="473850"/>
          </a:xfrm>
          <a:prstGeom prst="rect">
            <a:avLst/>
          </a:prstGeom>
          <a:noFill/>
          <a:ln>
            <a:noFill/>
          </a:ln>
        </p:spPr>
      </p:pic>
      <p:sp>
        <p:nvSpPr>
          <p:cNvPr id="2394" name="Google Shape;2394;p109"/>
          <p:cNvSpPr txBox="1">
            <a:spLocks noGrp="1"/>
          </p:cNvSpPr>
          <p:nvPr>
            <p:ph type="body" idx="3"/>
          </p:nvPr>
        </p:nvSpPr>
        <p:spPr>
          <a:xfrm>
            <a:off x="5192225" y="2746101"/>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This means that any changes made to the reference will be made to the </a:t>
            </a:r>
            <a:r>
              <a:rPr lang="en" b="1" i="1">
                <a:solidFill>
                  <a:srgbClr val="FF0000"/>
                </a:solidFill>
              </a:rPr>
              <a:t>single</a:t>
            </a:r>
            <a:r>
              <a:rPr lang="en"/>
              <a:t>, </a:t>
            </a:r>
            <a:r>
              <a:rPr lang="en" b="1" i="1">
                <a:solidFill>
                  <a:srgbClr val="FF0000"/>
                </a:solidFill>
              </a:rPr>
              <a:t>shared copy</a:t>
            </a:r>
            <a:r>
              <a:rPr lang="en"/>
              <a:t>.</a:t>
            </a:r>
            <a:endParaRPr/>
          </a:p>
        </p:txBody>
      </p:sp>
      <p:sp>
        <p:nvSpPr>
          <p:cNvPr id="2395" name="Google Shape;2395;p109"/>
          <p:cNvSpPr txBox="1">
            <a:spLocks noGrp="1"/>
          </p:cNvSpPr>
          <p:nvPr>
            <p:ph type="body" idx="3"/>
          </p:nvPr>
        </p:nvSpPr>
        <p:spPr>
          <a:xfrm>
            <a:off x="5192225" y="33962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 the N-Queens problem, this means that successor configurations will add queens to the </a:t>
            </a:r>
            <a:r>
              <a:rPr lang="en" b="1" i="1">
                <a:solidFill>
                  <a:srgbClr val="FF0000"/>
                </a:solidFill>
              </a:rPr>
              <a:t>same</a:t>
            </a:r>
            <a:r>
              <a:rPr lang="en">
                <a:solidFill>
                  <a:srgbClr val="FF0000"/>
                </a:solidFill>
              </a:rPr>
              <a:t> </a:t>
            </a:r>
            <a:r>
              <a:rPr lang="en"/>
              <a:t>array that is used by the parent and even </a:t>
            </a:r>
            <a:r>
              <a:rPr lang="en" b="1" i="1">
                <a:solidFill>
                  <a:srgbClr val="FF0000"/>
                </a:solidFill>
              </a:rPr>
              <a:t>overwrite</a:t>
            </a:r>
            <a:r>
              <a:rPr lang="en">
                <a:solidFill>
                  <a:srgbClr val="FF0000"/>
                </a:solidFill>
              </a:rPr>
              <a:t> </a:t>
            </a:r>
            <a:r>
              <a:rPr lang="en"/>
              <a:t>each other's queens!!</a:t>
            </a:r>
            <a:endParaRPr/>
          </a:p>
        </p:txBody>
      </p:sp>
      <p:pic>
        <p:nvPicPr>
          <p:cNvPr id="2396" name="Google Shape;2396;p109"/>
          <p:cNvPicPr preferRelativeResize="0"/>
          <p:nvPr/>
        </p:nvPicPr>
        <p:blipFill>
          <a:blip r:embed="rId4">
            <a:alphaModFix/>
          </a:blip>
          <a:stretch>
            <a:fillRect/>
          </a:stretch>
        </p:blipFill>
        <p:spPr>
          <a:xfrm>
            <a:off x="6213044" y="1759125"/>
            <a:ext cx="286204" cy="473849"/>
          </a:xfrm>
          <a:prstGeom prst="rect">
            <a:avLst/>
          </a:prstGeom>
          <a:noFill/>
          <a:ln>
            <a:noFill/>
          </a:ln>
        </p:spPr>
      </p:pic>
      <p:pic>
        <p:nvPicPr>
          <p:cNvPr id="2397" name="Google Shape;2397;p109"/>
          <p:cNvPicPr preferRelativeResize="0"/>
          <p:nvPr/>
        </p:nvPicPr>
        <p:blipFill>
          <a:blip r:embed="rId3">
            <a:alphaModFix/>
          </a:blip>
          <a:stretch>
            <a:fillRect/>
          </a:stretch>
        </p:blipFill>
        <p:spPr>
          <a:xfrm>
            <a:off x="5310406" y="1760260"/>
            <a:ext cx="299286" cy="473850"/>
          </a:xfrm>
          <a:prstGeom prst="rect">
            <a:avLst/>
          </a:prstGeom>
          <a:noFill/>
          <a:ln>
            <a:noFill/>
          </a:ln>
        </p:spPr>
      </p:pic>
      <p:sp>
        <p:nvSpPr>
          <p:cNvPr id="2398" name="Google Shape;2398;p109"/>
          <p:cNvSpPr txBox="1">
            <a:spLocks noGrp="1"/>
          </p:cNvSpPr>
          <p:nvPr>
            <p:ph type="body" idx="3"/>
          </p:nvPr>
        </p:nvSpPr>
        <p:spPr>
          <a:xfrm>
            <a:off x="5192225" y="4421792"/>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a:t>
            </a:r>
            <a:r>
              <a:rPr lang="en" b="1" i="1">
                <a:solidFill>
                  <a:srgbClr val="FF0000"/>
                </a:solidFill>
              </a:rPr>
              <a:t>deep copy</a:t>
            </a:r>
            <a:r>
              <a:rPr lang="en">
                <a:solidFill>
                  <a:srgbClr val="FF0000"/>
                </a:solidFill>
              </a:rPr>
              <a:t> </a:t>
            </a:r>
            <a:r>
              <a:rPr lang="en"/>
              <a:t>of the array must be made for each successor to prevent this from happening.</a:t>
            </a:r>
            <a:endParaRPr/>
          </a:p>
        </p:txBody>
      </p:sp>
      <p:pic>
        <p:nvPicPr>
          <p:cNvPr id="2399" name="Google Shape;2399;p109"/>
          <p:cNvPicPr preferRelativeResize="0"/>
          <p:nvPr/>
        </p:nvPicPr>
        <p:blipFill>
          <a:blip r:embed="rId4">
            <a:alphaModFix/>
          </a:blip>
          <a:stretch>
            <a:fillRect/>
          </a:stretch>
        </p:blipFill>
        <p:spPr>
          <a:xfrm>
            <a:off x="6670244" y="1759125"/>
            <a:ext cx="286204" cy="473849"/>
          </a:xfrm>
          <a:prstGeom prst="rect">
            <a:avLst/>
          </a:prstGeom>
          <a:noFill/>
          <a:ln>
            <a:noFill/>
          </a:ln>
        </p:spPr>
      </p:pic>
      <p:pic>
        <p:nvPicPr>
          <p:cNvPr id="2400" name="Google Shape;2400;p109"/>
          <p:cNvPicPr preferRelativeResize="0"/>
          <p:nvPr/>
        </p:nvPicPr>
        <p:blipFill>
          <a:blip r:embed="rId4">
            <a:alphaModFix/>
          </a:blip>
          <a:stretch>
            <a:fillRect/>
          </a:stretch>
        </p:blipFill>
        <p:spPr>
          <a:xfrm rot="949095">
            <a:off x="6213044" y="1759125"/>
            <a:ext cx="286204" cy="473850"/>
          </a:xfrm>
          <a:prstGeom prst="rect">
            <a:avLst/>
          </a:prstGeom>
          <a:noFill/>
          <a:ln>
            <a:noFill/>
          </a:ln>
        </p:spPr>
      </p:pic>
      <p:pic>
        <p:nvPicPr>
          <p:cNvPr id="2401" name="Google Shape;2401;p109"/>
          <p:cNvPicPr preferRelativeResize="0"/>
          <p:nvPr/>
        </p:nvPicPr>
        <p:blipFill>
          <a:blip r:embed="rId4">
            <a:alphaModFix/>
          </a:blip>
          <a:stretch>
            <a:fillRect/>
          </a:stretch>
        </p:blipFill>
        <p:spPr>
          <a:xfrm>
            <a:off x="7127444" y="1759125"/>
            <a:ext cx="286204" cy="473849"/>
          </a:xfrm>
          <a:prstGeom prst="rect">
            <a:avLst/>
          </a:prstGeom>
          <a:noFill/>
          <a:ln>
            <a:noFill/>
          </a:ln>
        </p:spPr>
      </p:pic>
      <p:pic>
        <p:nvPicPr>
          <p:cNvPr id="2402" name="Google Shape;2402;p109"/>
          <p:cNvPicPr preferRelativeResize="0"/>
          <p:nvPr/>
        </p:nvPicPr>
        <p:blipFill>
          <a:blip r:embed="rId4">
            <a:alphaModFix/>
          </a:blip>
          <a:stretch>
            <a:fillRect/>
          </a:stretch>
        </p:blipFill>
        <p:spPr>
          <a:xfrm rot="-1062462">
            <a:off x="7127444" y="1759125"/>
            <a:ext cx="286204" cy="4738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91"/>
                                        </p:tgtEl>
                                        <p:attrNameLst>
                                          <p:attrName>style.visibility</p:attrName>
                                        </p:attrNameLst>
                                      </p:cBhvr>
                                      <p:to>
                                        <p:strVal val="visible"/>
                                      </p:to>
                                    </p:set>
                                    <p:animEffect transition="in" filter="fade">
                                      <p:cBhvr>
                                        <p:cTn id="47" dur="1000"/>
                                        <p:tgtEl>
                                          <p:spTgt spid="2391"/>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2392"/>
                                        </p:tgtEl>
                                        <p:attrNameLst>
                                          <p:attrName>style.visibility</p:attrName>
                                        </p:attrNameLst>
                                      </p:cBhvr>
                                      <p:to>
                                        <p:strVal val="visible"/>
                                      </p:to>
                                    </p:set>
                                    <p:animEffect transition="in" filter="fade">
                                      <p:cBhvr>
                                        <p:cTn id="51" dur="1000"/>
                                        <p:tgtEl>
                                          <p:spTgt spid="2392"/>
                                        </p:tgtEl>
                                      </p:cBhvr>
                                    </p:animEffect>
                                  </p:childTnLst>
                                </p:cTn>
                              </p:par>
                              <p:par>
                                <p:cTn id="52" presetID="10" presetClass="entr" presetSubtype="0" fill="hold" nodeType="withEffect">
                                  <p:stCondLst>
                                    <p:cond delay="0"/>
                                  </p:stCondLst>
                                  <p:childTnLst>
                                    <p:set>
                                      <p:cBhvr>
                                        <p:cTn id="53" dur="1" fill="hold">
                                          <p:stCondLst>
                                            <p:cond delay="0"/>
                                          </p:stCondLst>
                                        </p:cTn>
                                        <p:tgtEl>
                                          <p:spTgt spid="2397"/>
                                        </p:tgtEl>
                                        <p:attrNameLst>
                                          <p:attrName>style.visibility</p:attrName>
                                        </p:attrNameLst>
                                      </p:cBhvr>
                                      <p:to>
                                        <p:strVal val="visible"/>
                                      </p:to>
                                    </p:set>
                                    <p:animEffect transition="in" filter="fade">
                                      <p:cBhvr>
                                        <p:cTn id="54" dur="1000"/>
                                        <p:tgtEl>
                                          <p:spTgt spid="2397"/>
                                        </p:tgtEl>
                                      </p:cBhvr>
                                    </p:animEffect>
                                  </p:childTnLst>
                                </p:cTn>
                              </p:par>
                              <p:par>
                                <p:cTn id="55" presetID="10" presetClass="entr" presetSubtype="0" fill="hold" nodeType="withEffect">
                                  <p:stCondLst>
                                    <p:cond delay="0"/>
                                  </p:stCondLst>
                                  <p:childTnLst>
                                    <p:set>
                                      <p:cBhvr>
                                        <p:cTn id="56" dur="1" fill="hold">
                                          <p:stCondLst>
                                            <p:cond delay="0"/>
                                          </p:stCondLst>
                                        </p:cTn>
                                        <p:tgtEl>
                                          <p:spTgt spid="2393"/>
                                        </p:tgtEl>
                                        <p:attrNameLst>
                                          <p:attrName>style.visibility</p:attrName>
                                        </p:attrNameLst>
                                      </p:cBhvr>
                                      <p:to>
                                        <p:strVal val="visible"/>
                                      </p:to>
                                    </p:set>
                                    <p:animEffect transition="in" filter="fade">
                                      <p:cBhvr>
                                        <p:cTn id="57" dur="1000"/>
                                        <p:tgtEl>
                                          <p:spTgt spid="239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394"/>
                                        </p:tgtEl>
                                        <p:attrNameLst>
                                          <p:attrName>style.visibility</p:attrName>
                                        </p:attrNameLst>
                                      </p:cBhvr>
                                      <p:to>
                                        <p:strVal val="visible"/>
                                      </p:to>
                                    </p:set>
                                    <p:animEffect transition="in" filter="fade">
                                      <p:cBhvr>
                                        <p:cTn id="62" dur="1000"/>
                                        <p:tgtEl>
                                          <p:spTgt spid="239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395"/>
                                        </p:tgtEl>
                                        <p:attrNameLst>
                                          <p:attrName>style.visibility</p:attrName>
                                        </p:attrNameLst>
                                      </p:cBhvr>
                                      <p:to>
                                        <p:strVal val="visible"/>
                                      </p:to>
                                    </p:set>
                                    <p:animEffect transition="in" filter="fade">
                                      <p:cBhvr>
                                        <p:cTn id="67" dur="1000"/>
                                        <p:tgtEl>
                                          <p:spTgt spid="2395"/>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2396"/>
                                        </p:tgtEl>
                                        <p:attrNameLst>
                                          <p:attrName>style.visibility</p:attrName>
                                        </p:attrNameLst>
                                      </p:cBhvr>
                                      <p:to>
                                        <p:strVal val="visible"/>
                                      </p:to>
                                    </p:set>
                                    <p:animEffect transition="in" filter="fade">
                                      <p:cBhvr>
                                        <p:cTn id="71" dur="1000"/>
                                        <p:tgtEl>
                                          <p:spTgt spid="2396"/>
                                        </p:tgtEl>
                                      </p:cBhvr>
                                    </p:animEffect>
                                  </p:childTnLst>
                                </p:cTn>
                              </p:par>
                            </p:childTnLst>
                          </p:cTn>
                        </p:par>
                        <p:par>
                          <p:cTn id="72" fill="hold">
                            <p:stCondLst>
                              <p:cond delay="2000"/>
                            </p:stCondLst>
                            <p:childTnLst>
                              <p:par>
                                <p:cTn id="73" presetID="10" presetClass="entr" presetSubtype="0" fill="hold" nodeType="afterEffect">
                                  <p:stCondLst>
                                    <p:cond delay="0"/>
                                  </p:stCondLst>
                                  <p:childTnLst>
                                    <p:set>
                                      <p:cBhvr>
                                        <p:cTn id="74" dur="1" fill="hold">
                                          <p:stCondLst>
                                            <p:cond delay="0"/>
                                          </p:stCondLst>
                                        </p:cTn>
                                        <p:tgtEl>
                                          <p:spTgt spid="2399"/>
                                        </p:tgtEl>
                                        <p:attrNameLst>
                                          <p:attrName>style.visibility</p:attrName>
                                        </p:attrNameLst>
                                      </p:cBhvr>
                                      <p:to>
                                        <p:strVal val="visible"/>
                                      </p:to>
                                    </p:set>
                                    <p:animEffect transition="in" filter="fade">
                                      <p:cBhvr>
                                        <p:cTn id="75" dur="1000"/>
                                        <p:tgtEl>
                                          <p:spTgt spid="2399"/>
                                        </p:tgtEl>
                                      </p:cBhvr>
                                    </p:animEffect>
                                  </p:childTnLst>
                                </p:cTn>
                              </p:par>
                            </p:childTnLst>
                          </p:cTn>
                        </p:par>
                        <p:par>
                          <p:cTn id="76" fill="hold">
                            <p:stCondLst>
                              <p:cond delay="3000"/>
                            </p:stCondLst>
                            <p:childTnLst>
                              <p:par>
                                <p:cTn id="77" presetID="10" presetClass="entr" presetSubtype="0" fill="hold" nodeType="afterEffect">
                                  <p:stCondLst>
                                    <p:cond delay="0"/>
                                  </p:stCondLst>
                                  <p:childTnLst>
                                    <p:set>
                                      <p:cBhvr>
                                        <p:cTn id="78" dur="1" fill="hold">
                                          <p:stCondLst>
                                            <p:cond delay="0"/>
                                          </p:stCondLst>
                                        </p:cTn>
                                        <p:tgtEl>
                                          <p:spTgt spid="2401"/>
                                        </p:tgtEl>
                                        <p:attrNameLst>
                                          <p:attrName>style.visibility</p:attrName>
                                        </p:attrNameLst>
                                      </p:cBhvr>
                                      <p:to>
                                        <p:strVal val="visible"/>
                                      </p:to>
                                    </p:set>
                                    <p:animEffect transition="in" filter="fade">
                                      <p:cBhvr>
                                        <p:cTn id="79" dur="1000"/>
                                        <p:tgtEl>
                                          <p:spTgt spid="2401"/>
                                        </p:tgtEl>
                                      </p:cBhvr>
                                    </p:animEffect>
                                  </p:childTnLst>
                                </p:cTn>
                              </p:par>
                            </p:childTnLst>
                          </p:cTn>
                        </p:par>
                        <p:par>
                          <p:cTn id="80" fill="hold">
                            <p:stCondLst>
                              <p:cond delay="4000"/>
                            </p:stCondLst>
                            <p:childTnLst>
                              <p:par>
                                <p:cTn id="81" presetID="10" presetClass="entr" presetSubtype="0" fill="hold" nodeType="afterEffect">
                                  <p:stCondLst>
                                    <p:cond delay="0"/>
                                  </p:stCondLst>
                                  <p:childTnLst>
                                    <p:set>
                                      <p:cBhvr>
                                        <p:cTn id="82" dur="1" fill="hold">
                                          <p:stCondLst>
                                            <p:cond delay="0"/>
                                          </p:stCondLst>
                                        </p:cTn>
                                        <p:tgtEl>
                                          <p:spTgt spid="2400"/>
                                        </p:tgtEl>
                                        <p:attrNameLst>
                                          <p:attrName>style.visibility</p:attrName>
                                        </p:attrNameLst>
                                      </p:cBhvr>
                                      <p:to>
                                        <p:strVal val="visible"/>
                                      </p:to>
                                    </p:set>
                                    <p:animEffect transition="in" filter="fade">
                                      <p:cBhvr>
                                        <p:cTn id="83" dur="1000"/>
                                        <p:tgtEl>
                                          <p:spTgt spid="2400"/>
                                        </p:tgtEl>
                                      </p:cBhvr>
                                    </p:animEffect>
                                  </p:childTnLst>
                                </p:cTn>
                              </p:par>
                            </p:childTnLst>
                          </p:cTn>
                        </p:par>
                        <p:par>
                          <p:cTn id="84" fill="hold">
                            <p:stCondLst>
                              <p:cond delay="5000"/>
                            </p:stCondLst>
                            <p:childTnLst>
                              <p:par>
                                <p:cTn id="85" presetID="10" presetClass="entr" presetSubtype="0" fill="hold" nodeType="afterEffect">
                                  <p:stCondLst>
                                    <p:cond delay="0"/>
                                  </p:stCondLst>
                                  <p:childTnLst>
                                    <p:set>
                                      <p:cBhvr>
                                        <p:cTn id="86" dur="1" fill="hold">
                                          <p:stCondLst>
                                            <p:cond delay="0"/>
                                          </p:stCondLst>
                                        </p:cTn>
                                        <p:tgtEl>
                                          <p:spTgt spid="2402"/>
                                        </p:tgtEl>
                                        <p:attrNameLst>
                                          <p:attrName>style.visibility</p:attrName>
                                        </p:attrNameLst>
                                      </p:cBhvr>
                                      <p:to>
                                        <p:strVal val="visible"/>
                                      </p:to>
                                    </p:set>
                                    <p:animEffect transition="in" filter="fade">
                                      <p:cBhvr>
                                        <p:cTn id="87" dur="1000"/>
                                        <p:tgtEl>
                                          <p:spTgt spid="240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398"/>
                                        </p:tgtEl>
                                        <p:attrNameLst>
                                          <p:attrName>style.visibility</p:attrName>
                                        </p:attrNameLst>
                                      </p:cBhvr>
                                      <p:to>
                                        <p:strVal val="visible"/>
                                      </p:to>
                                    </p:set>
                                    <p:animEffect transition="in" filter="fade">
                                      <p:cBhvr>
                                        <p:cTn id="92" dur="1000"/>
                                        <p:tgtEl>
                                          <p:spTgt spid="2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406"/>
        <p:cNvGrpSpPr/>
        <p:nvPr/>
      </p:nvGrpSpPr>
      <p:grpSpPr>
        <a:xfrm>
          <a:off x="0" y="0"/>
          <a:ext cx="0" cy="0"/>
          <a:chOff x="0" y="0"/>
          <a:chExt cx="0" cy="0"/>
        </a:xfrm>
      </p:grpSpPr>
      <p:sp>
        <p:nvSpPr>
          <p:cNvPr id="2407" name="Google Shape;2407;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92</a:t>
            </a:fld>
            <a:endParaRPr/>
          </a:p>
        </p:txBody>
      </p:sp>
      <p:pic>
        <p:nvPicPr>
          <p:cNvPr id="2408" name="Google Shape;2408;p110"/>
          <p:cNvPicPr preferRelativeResize="0"/>
          <p:nvPr/>
        </p:nvPicPr>
        <p:blipFill>
          <a:blip r:embed="rId3">
            <a:alphaModFix/>
          </a:blip>
          <a:stretch>
            <a:fillRect/>
          </a:stretch>
        </p:blipFill>
        <p:spPr>
          <a:xfrm>
            <a:off x="3185375" y="97525"/>
            <a:ext cx="4505174" cy="4928748"/>
          </a:xfrm>
          <a:prstGeom prst="rect">
            <a:avLst/>
          </a:prstGeom>
          <a:noFill/>
          <a:ln>
            <a:noFill/>
          </a:ln>
        </p:spPr>
      </p:pic>
      <p:sp>
        <p:nvSpPr>
          <p:cNvPr id="2409" name="Google Shape;2409;p110"/>
          <p:cNvSpPr txBox="1"/>
          <p:nvPr/>
        </p:nvSpPr>
        <p:spPr>
          <a:xfrm>
            <a:off x="5407475" y="1068700"/>
            <a:ext cx="2161800" cy="124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rgbClr val="FFFFFF"/>
                </a:solidFill>
                <a:latin typeface="Handlee"/>
                <a:ea typeface="Handlee"/>
                <a:cs typeface="Handlee"/>
                <a:sym typeface="Handlee"/>
              </a:rPr>
              <a:t>MAKE DEEP COPIES OF:</a:t>
            </a:r>
            <a:endParaRPr sz="1300" u="sng">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Arrays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Data Structures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Mutable classes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Everything!</a:t>
            </a:r>
            <a:endParaRPr>
              <a:solidFill>
                <a:srgbClr val="FFFFFF"/>
              </a:solidFill>
              <a:latin typeface="Handlee"/>
              <a:ea typeface="Handlee"/>
              <a:cs typeface="Handlee"/>
              <a:sym typeface="Handlee"/>
            </a:endParaRPr>
          </a:p>
        </p:txBody>
      </p:sp>
      <p:sp>
        <p:nvSpPr>
          <p:cNvPr id="2410" name="Google Shape;2410;p110"/>
          <p:cNvSpPr/>
          <p:nvPr/>
        </p:nvSpPr>
        <p:spPr>
          <a:xfrm>
            <a:off x="502950" y="281650"/>
            <a:ext cx="2535000" cy="1231500"/>
          </a:xfrm>
          <a:prstGeom prst="wedgeRoundRectCallout">
            <a:avLst>
              <a:gd name="adj1" fmla="val 70714"/>
              <a:gd name="adj2" fmla="val 3598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The most </a:t>
            </a:r>
            <a:r>
              <a:rPr lang="en" sz="1300" b="1" i="1">
                <a:solidFill>
                  <a:srgbClr val="FF0000"/>
                </a:solidFill>
              </a:rPr>
              <a:t>common error</a:t>
            </a:r>
            <a:r>
              <a:rPr lang="en" sz="1300"/>
              <a:t> that students make when implementing a backtracking configuration is </a:t>
            </a:r>
            <a:r>
              <a:rPr lang="en" sz="1300" b="1" i="1">
                <a:solidFill>
                  <a:srgbClr val="FF0000"/>
                </a:solidFill>
              </a:rPr>
              <a:t>forgetting to make deep copies</a:t>
            </a:r>
            <a:r>
              <a:rPr lang="en" sz="1300"/>
              <a:t>!</a:t>
            </a:r>
            <a:endParaRPr sz="1300"/>
          </a:p>
        </p:txBody>
      </p:sp>
      <p:sp>
        <p:nvSpPr>
          <p:cNvPr id="2411" name="Google Shape;2411;p110"/>
          <p:cNvSpPr/>
          <p:nvPr/>
        </p:nvSpPr>
        <p:spPr>
          <a:xfrm>
            <a:off x="502950" y="1633475"/>
            <a:ext cx="2535000" cy="1231500"/>
          </a:xfrm>
          <a:prstGeom prst="wedgeRoundRectCallout">
            <a:avLst>
              <a:gd name="adj1" fmla="val 71827"/>
              <a:gd name="adj2" fmla="val -5717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If your configuration makes changes to some mutable value, e.g. adding queens to an array, it </a:t>
            </a:r>
            <a:r>
              <a:rPr lang="en" sz="1300" b="1" i="1" u="sng">
                <a:solidFill>
                  <a:srgbClr val="FF0000"/>
                </a:solidFill>
              </a:rPr>
              <a:t>must</a:t>
            </a:r>
            <a:r>
              <a:rPr lang="en" sz="1300"/>
              <a:t> have its own copy!</a:t>
            </a:r>
            <a:endParaRPr sz="1300"/>
          </a:p>
        </p:txBody>
      </p:sp>
      <p:sp>
        <p:nvSpPr>
          <p:cNvPr id="2412" name="Google Shape;2412;p110"/>
          <p:cNvSpPr/>
          <p:nvPr/>
        </p:nvSpPr>
        <p:spPr>
          <a:xfrm>
            <a:off x="502950" y="2985300"/>
            <a:ext cx="2535000" cy="831900"/>
          </a:xfrm>
          <a:prstGeom prst="wedgeRoundRectCallout">
            <a:avLst>
              <a:gd name="adj1" fmla="val 63199"/>
              <a:gd name="adj2" fmla="val -592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Otherwise, two different configurations will </a:t>
            </a:r>
            <a:r>
              <a:rPr lang="en" sz="1300" b="1" i="1">
                <a:solidFill>
                  <a:srgbClr val="FF0000"/>
                </a:solidFill>
              </a:rPr>
              <a:t>change each other's data</a:t>
            </a:r>
            <a:r>
              <a:rPr lang="en" sz="1300"/>
              <a:t>!</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0"/>
                                        </p:tgtEl>
                                        <p:attrNameLst>
                                          <p:attrName>style.visibility</p:attrName>
                                        </p:attrNameLst>
                                      </p:cBhvr>
                                      <p:to>
                                        <p:strVal val="visible"/>
                                      </p:to>
                                    </p:set>
                                    <p:animEffect transition="in" filter="fade">
                                      <p:cBhvr>
                                        <p:cTn id="7" dur="1000"/>
                                        <p:tgtEl>
                                          <p:spTgt spid="2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1"/>
                                        </p:tgtEl>
                                        <p:attrNameLst>
                                          <p:attrName>style.visibility</p:attrName>
                                        </p:attrNameLst>
                                      </p:cBhvr>
                                      <p:to>
                                        <p:strVal val="visible"/>
                                      </p:to>
                                    </p:set>
                                    <p:animEffect transition="in" filter="fade">
                                      <p:cBhvr>
                                        <p:cTn id="12" dur="1000"/>
                                        <p:tgtEl>
                                          <p:spTgt spid="24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2"/>
                                        </p:tgtEl>
                                        <p:attrNameLst>
                                          <p:attrName>style.visibility</p:attrName>
                                        </p:attrNameLst>
                                      </p:cBhvr>
                                      <p:to>
                                        <p:strVal val="visible"/>
                                      </p:to>
                                    </p:set>
                                    <p:animEffect transition="in" filter="fade">
                                      <p:cBhvr>
                                        <p:cTn id="17" dur="1000"/>
                                        <p:tgtEl>
                                          <p:spTgt spid="2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416"/>
        <p:cNvGrpSpPr/>
        <p:nvPr/>
      </p:nvGrpSpPr>
      <p:grpSpPr>
        <a:xfrm>
          <a:off x="0" y="0"/>
          <a:ext cx="0" cy="0"/>
          <a:chOff x="0" y="0"/>
          <a:chExt cx="0" cy="0"/>
        </a:xfrm>
      </p:grpSpPr>
      <p:sp>
        <p:nvSpPr>
          <p:cNvPr id="2417" name="Google Shape;2417;p11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Lines of Succession</a:t>
            </a:r>
            <a:endParaRPr/>
          </a:p>
        </p:txBody>
      </p:sp>
      <p:sp>
        <p:nvSpPr>
          <p:cNvPr id="2418" name="Google Shape;2418;p11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 successor to an </a:t>
            </a:r>
            <a:r>
              <a:rPr lang="en">
                <a:latin typeface="Courier New"/>
                <a:ea typeface="Courier New"/>
                <a:cs typeface="Courier New"/>
                <a:sym typeface="Courier New"/>
              </a:rPr>
              <a:t>NQueens</a:t>
            </a:r>
            <a:r>
              <a:rPr lang="en"/>
              <a:t> configuration includes one of the next possible moves that can be made on the chessboard. For now, we will just focus on playing one queen in each of the available squares in the next row.</a:t>
            </a:r>
            <a:endParaRPr/>
          </a:p>
        </p:txBody>
      </p:sp>
      <p:sp>
        <p:nvSpPr>
          <p:cNvPr id="2419" name="Google Shape;2419;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93</a:t>
            </a:fld>
            <a:endParaRPr/>
          </a:p>
        </p:txBody>
      </p:sp>
      <p:sp>
        <p:nvSpPr>
          <p:cNvPr id="2420" name="Google Shape;2420;p11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13.29</a:t>
            </a:r>
            <a:endParaRPr/>
          </a:p>
        </p:txBody>
      </p:sp>
      <p:sp>
        <p:nvSpPr>
          <p:cNvPr id="2421" name="Google Shape;2421;p111"/>
          <p:cNvSpPr txBox="1"/>
          <p:nvPr/>
        </p:nvSpPr>
        <p:spPr>
          <a:xfrm>
            <a:off x="194218" y="3401920"/>
            <a:ext cx="24384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should be one possible move for each successor in the next row.</a:t>
            </a:r>
            <a:endParaRPr sz="1200"/>
          </a:p>
        </p:txBody>
      </p:sp>
      <p:pic>
        <p:nvPicPr>
          <p:cNvPr id="2422" name="Google Shape;2422;p111"/>
          <p:cNvPicPr preferRelativeResize="0"/>
          <p:nvPr/>
        </p:nvPicPr>
        <p:blipFill>
          <a:blip r:embed="rId3">
            <a:alphaModFix/>
          </a:blip>
          <a:stretch>
            <a:fillRect/>
          </a:stretch>
        </p:blipFill>
        <p:spPr>
          <a:xfrm>
            <a:off x="165224" y="1802246"/>
            <a:ext cx="2501775" cy="1546003"/>
          </a:xfrm>
          <a:prstGeom prst="rect">
            <a:avLst/>
          </a:prstGeom>
          <a:noFill/>
          <a:ln>
            <a:noFill/>
          </a:ln>
        </p:spPr>
      </p:pic>
      <p:sp>
        <p:nvSpPr>
          <p:cNvPr id="2423" name="Google Shape;2423;p111"/>
          <p:cNvSpPr txBox="1"/>
          <p:nvPr/>
        </p:nvSpPr>
        <p:spPr>
          <a:xfrm>
            <a:off x="194218" y="4240120"/>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board is empty, the "next" row is the first row.</a:t>
            </a:r>
            <a:endParaRPr sz="1200"/>
          </a:p>
        </p:txBody>
      </p:sp>
      <p:sp>
        <p:nvSpPr>
          <p:cNvPr id="2424" name="Google Shape;2424;p111"/>
          <p:cNvSpPr txBox="1">
            <a:spLocks noGrp="1"/>
          </p:cNvSpPr>
          <p:nvPr>
            <p:ph type="body" idx="2"/>
          </p:nvPr>
        </p:nvSpPr>
        <p:spPr>
          <a:xfrm>
            <a:off x="2815075" y="1797725"/>
            <a:ext cx="6049500" cy="302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latin typeface="Courier New"/>
                <a:ea typeface="Courier New"/>
                <a:cs typeface="Courier New"/>
                <a:sym typeface="Courier New"/>
              </a:rPr>
              <a:t>NQueens</a:t>
            </a:r>
            <a:r>
              <a:rPr lang="en" sz="1400"/>
              <a:t> class and implement the </a:t>
            </a:r>
            <a:r>
              <a:rPr lang="en" sz="1400">
                <a:solidFill>
                  <a:srgbClr val="FF0000"/>
                </a:solidFill>
                <a:latin typeface="Courier New"/>
                <a:ea typeface="Courier New"/>
                <a:cs typeface="Courier New"/>
                <a:sym typeface="Courier New"/>
              </a:rPr>
              <a:t>getSuccessors()</a:t>
            </a:r>
            <a:r>
              <a:rPr lang="en" sz="1400">
                <a:solidFill>
                  <a:srgbClr val="FF0000"/>
                </a:solidFill>
              </a:rPr>
              <a:t> </a:t>
            </a:r>
            <a:r>
              <a:rPr lang="en" sz="1400"/>
              <a:t>method.</a:t>
            </a:r>
            <a:endParaRPr sz="1400"/>
          </a:p>
          <a:p>
            <a:pPr marL="914400" lvl="1" indent="-304800" algn="l" rtl="0">
              <a:spcBef>
                <a:spcPts val="0"/>
              </a:spcBef>
              <a:spcAft>
                <a:spcPts val="0"/>
              </a:spcAft>
              <a:buSzPts val="1200"/>
              <a:buChar char="○"/>
            </a:pPr>
            <a:r>
              <a:rPr lang="en" sz="1200" b="1" i="1">
                <a:solidFill>
                  <a:srgbClr val="FF0000"/>
                </a:solidFill>
              </a:rPr>
              <a:t>Don't waste time</a:t>
            </a:r>
            <a:r>
              <a:rPr lang="en" sz="1200"/>
              <a:t> trying to place queens in the </a:t>
            </a:r>
            <a:r>
              <a:rPr lang="en" sz="1200" b="1" i="1">
                <a:solidFill>
                  <a:srgbClr val="FF0000"/>
                </a:solidFill>
              </a:rPr>
              <a:t>same row</a:t>
            </a:r>
            <a:r>
              <a:rPr lang="en" sz="1200">
                <a:solidFill>
                  <a:srgbClr val="FF0000"/>
                </a:solidFill>
              </a:rPr>
              <a:t> </a:t>
            </a:r>
            <a:r>
              <a:rPr lang="en" sz="1200"/>
              <a:t>as the last queen that was played.</a:t>
            </a:r>
            <a:endParaRPr sz="1200"/>
          </a:p>
          <a:p>
            <a:pPr marL="1371600" lvl="2" indent="-304800" algn="l" rtl="0">
              <a:spcBef>
                <a:spcPts val="0"/>
              </a:spcBef>
              <a:spcAft>
                <a:spcPts val="0"/>
              </a:spcAft>
              <a:buSzPts val="1200"/>
              <a:buChar char="■"/>
            </a:pPr>
            <a:r>
              <a:rPr lang="en" sz="1200"/>
              <a:t>What if no queen has been played yet?</a:t>
            </a:r>
            <a:endParaRPr sz="1200"/>
          </a:p>
          <a:p>
            <a:pPr marL="914400" lvl="1" indent="-304800" algn="l" rtl="0">
              <a:spcBef>
                <a:spcPts val="0"/>
              </a:spcBef>
              <a:spcAft>
                <a:spcPts val="0"/>
              </a:spcAft>
              <a:buSzPts val="1200"/>
              <a:buChar char="○"/>
            </a:pPr>
            <a:r>
              <a:rPr lang="en" sz="1200"/>
              <a:t>Generate a successor for each possible move in the </a:t>
            </a:r>
            <a:r>
              <a:rPr lang="en" sz="1200" b="1" i="1">
                <a:solidFill>
                  <a:srgbClr val="FF0000"/>
                </a:solidFill>
              </a:rPr>
              <a:t>next</a:t>
            </a:r>
            <a:r>
              <a:rPr lang="en" sz="1200">
                <a:solidFill>
                  <a:srgbClr val="FF0000"/>
                </a:solidFill>
              </a:rPr>
              <a:t> </a:t>
            </a:r>
            <a:r>
              <a:rPr lang="en" sz="1200"/>
              <a:t>row.</a:t>
            </a:r>
            <a:endParaRPr sz="1200"/>
          </a:p>
          <a:p>
            <a:pPr marL="1371600" lvl="2" indent="-304800" algn="l" rtl="0">
              <a:spcBef>
                <a:spcPts val="0"/>
              </a:spcBef>
              <a:spcAft>
                <a:spcPts val="0"/>
              </a:spcAft>
              <a:buSzPts val="1200"/>
              <a:buChar char="■"/>
            </a:pPr>
            <a:r>
              <a:rPr lang="en" sz="1200"/>
              <a:t>This means that you should make </a:t>
            </a:r>
            <a:r>
              <a:rPr lang="en" sz="1200" b="1" i="1">
                <a:solidFill>
                  <a:srgbClr val="FF0000"/>
                </a:solidFill>
              </a:rPr>
              <a:t>N</a:t>
            </a:r>
            <a:r>
              <a:rPr lang="en" sz="1200"/>
              <a:t> successors.</a:t>
            </a:r>
            <a:endParaRPr sz="1200"/>
          </a:p>
          <a:p>
            <a:pPr marL="914400" lvl="1" indent="-304800" algn="l" rtl="0">
              <a:spcBef>
                <a:spcPts val="0"/>
              </a:spcBef>
              <a:spcAft>
                <a:spcPts val="0"/>
              </a:spcAft>
              <a:buSzPts val="1200"/>
              <a:buChar char="○"/>
            </a:pPr>
            <a:r>
              <a:rPr lang="en" sz="1200" b="1" i="1">
                <a:solidFill>
                  <a:srgbClr val="FF0000"/>
                </a:solidFill>
              </a:rPr>
              <a:t>Hint</a:t>
            </a:r>
            <a:r>
              <a:rPr lang="en" sz="1200"/>
              <a:t>: Use the </a:t>
            </a:r>
            <a:r>
              <a:rPr lang="en" sz="1200">
                <a:solidFill>
                  <a:srgbClr val="FF0000"/>
                </a:solidFill>
                <a:latin typeface="Courier New"/>
                <a:ea typeface="Courier New"/>
                <a:cs typeface="Courier New"/>
                <a:sym typeface="Courier New"/>
              </a:rPr>
              <a:t>Arrays.copyOf()</a:t>
            </a:r>
            <a:r>
              <a:rPr lang="en" sz="1200"/>
              <a:t> method to make a </a:t>
            </a:r>
            <a:r>
              <a:rPr lang="en" sz="1200" b="1" i="1">
                <a:solidFill>
                  <a:srgbClr val="FF0000"/>
                </a:solidFill>
              </a:rPr>
              <a:t>deep copy</a:t>
            </a:r>
            <a:r>
              <a:rPr lang="en" sz="1200"/>
              <a:t> of your array of queens with room enough for </a:t>
            </a:r>
            <a:r>
              <a:rPr lang="en" sz="1200" b="1" i="1">
                <a:solidFill>
                  <a:srgbClr val="FF0000"/>
                </a:solidFill>
              </a:rPr>
              <a:t>one more queen</a:t>
            </a:r>
            <a:r>
              <a:rPr lang="en" sz="1200"/>
              <a:t>.</a:t>
            </a:r>
            <a:endParaRPr sz="1200"/>
          </a:p>
          <a:p>
            <a:pPr marL="914400" lvl="1" indent="-304800" algn="l" rtl="0">
              <a:spcBef>
                <a:spcPts val="0"/>
              </a:spcBef>
              <a:spcAft>
                <a:spcPts val="0"/>
              </a:spcAft>
              <a:buSzPts val="1200"/>
              <a:buChar char="○"/>
            </a:pPr>
            <a:r>
              <a:rPr lang="en" sz="1200"/>
              <a:t>Be sure to make sure that you are not already in the last row!</a:t>
            </a:r>
            <a:endParaRPr sz="1200"/>
          </a:p>
          <a:p>
            <a:pPr marL="457200" lvl="0" indent="-317500" algn="l" rtl="0">
              <a:spcBef>
                <a:spcPts val="0"/>
              </a:spcBef>
              <a:spcAft>
                <a:spcPts val="0"/>
              </a:spcAft>
              <a:buSzPts val="1400"/>
              <a:buChar char="●"/>
            </a:pPr>
            <a:r>
              <a:rPr lang="en" sz="1400" b="1" i="1">
                <a:solidFill>
                  <a:srgbClr val="FF0000"/>
                </a:solidFill>
              </a:rPr>
              <a:t>Test </a:t>
            </a:r>
            <a:r>
              <a:rPr lang="en" sz="1400"/>
              <a:t>your </a:t>
            </a:r>
            <a:r>
              <a:rPr lang="en" sz="1400">
                <a:latin typeface="Courier New"/>
                <a:ea typeface="Courier New"/>
                <a:cs typeface="Courier New"/>
                <a:sym typeface="Courier New"/>
              </a:rPr>
              <a:t>getSuccessors()</a:t>
            </a:r>
            <a:r>
              <a:rPr lang="en" sz="1400"/>
              <a:t> function from </a:t>
            </a:r>
            <a:r>
              <a:rPr lang="en" sz="1400">
                <a:latin typeface="Courier New"/>
                <a:ea typeface="Courier New"/>
                <a:cs typeface="Courier New"/>
                <a:sym typeface="Courier New"/>
              </a:rPr>
              <a:t>main</a:t>
            </a:r>
            <a:r>
              <a:rPr lang="en" sz="1400"/>
              <a:t>.</a:t>
            </a:r>
            <a:endParaRPr sz="1400"/>
          </a:p>
          <a:p>
            <a:pPr marL="914400" lvl="1" indent="-304800" algn="l" rtl="0">
              <a:spcBef>
                <a:spcPts val="0"/>
              </a:spcBef>
              <a:spcAft>
                <a:spcPts val="0"/>
              </a:spcAft>
              <a:buSzPts val="1200"/>
              <a:buChar char="○"/>
            </a:pPr>
            <a:r>
              <a:rPr lang="en" sz="1200"/>
              <a:t>There should be </a:t>
            </a:r>
            <a:r>
              <a:rPr lang="en" sz="1200" b="1" i="1">
                <a:solidFill>
                  <a:srgbClr val="FF0000"/>
                </a:solidFill>
              </a:rPr>
              <a:t>four</a:t>
            </a:r>
            <a:r>
              <a:rPr lang="en" sz="1200"/>
              <a:t> successors on a 4x4 board, all in the top row. Print each of the successors.</a:t>
            </a:r>
            <a:endParaRPr sz="12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112"/>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Pruning</a:t>
            </a:r>
            <a:endParaRPr/>
          </a:p>
        </p:txBody>
      </p:sp>
      <p:sp>
        <p:nvSpPr>
          <p:cNvPr id="2430" name="Google Shape;2430;p11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94</a:t>
            </a:fld>
            <a:endParaRPr/>
          </a:p>
        </p:txBody>
      </p:sp>
      <p:sp>
        <p:nvSpPr>
          <p:cNvPr id="2431" name="Google Shape;2431;p112"/>
          <p:cNvSpPr txBox="1">
            <a:spLocks noGrp="1"/>
          </p:cNvSpPr>
          <p:nvPr>
            <p:ph type="body" idx="1"/>
          </p:nvPr>
        </p:nvSpPr>
        <p:spPr>
          <a:xfrm>
            <a:off x="4437825" y="52275"/>
            <a:ext cx="4638900" cy="50691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The 2-Queens problem is a fairly trivial instance of N-Queens that very quickly runs out of moves.</a:t>
            </a:r>
            <a:endParaRPr/>
          </a:p>
          <a:p>
            <a:pPr marL="914400" lvl="1" indent="-298450" algn="l" rtl="0">
              <a:lnSpc>
                <a:spcPct val="100000"/>
              </a:lnSpc>
              <a:spcBef>
                <a:spcPts val="0"/>
              </a:spcBef>
              <a:spcAft>
                <a:spcPts val="0"/>
              </a:spcAft>
              <a:buSzPts val="1100"/>
              <a:buChar char="○"/>
            </a:pPr>
            <a:r>
              <a:rPr lang="en"/>
              <a:t>It just so happens that the </a:t>
            </a:r>
            <a:r>
              <a:rPr lang="en" b="1" i="1">
                <a:solidFill>
                  <a:srgbClr val="FF0000"/>
                </a:solidFill>
              </a:rPr>
              <a:t>last moves</a:t>
            </a:r>
            <a:r>
              <a:rPr lang="en"/>
              <a:t> made always result in invalid configurations.</a:t>
            </a:r>
            <a:endParaRPr/>
          </a:p>
          <a:p>
            <a:pPr marL="457200" lvl="0" indent="-311150" algn="l" rtl="0">
              <a:lnSpc>
                <a:spcPct val="100000"/>
              </a:lnSpc>
              <a:spcBef>
                <a:spcPts val="1000"/>
              </a:spcBef>
              <a:spcAft>
                <a:spcPts val="0"/>
              </a:spcAft>
              <a:buSzPts val="1300"/>
              <a:buChar char="●"/>
            </a:pPr>
            <a:r>
              <a:rPr lang="en"/>
              <a:t>Consider a larger chessboard where there are </a:t>
            </a:r>
            <a:r>
              <a:rPr lang="en" b="1" i="1">
                <a:solidFill>
                  <a:srgbClr val="FF0000"/>
                </a:solidFill>
              </a:rPr>
              <a:t>many more</a:t>
            </a:r>
            <a:r>
              <a:rPr lang="en"/>
              <a:t> possible choices that can be made at each iteration.</a:t>
            </a:r>
            <a:endParaRPr/>
          </a:p>
          <a:p>
            <a:pPr marL="914400" lvl="1" indent="-298450" algn="l" rtl="0">
              <a:lnSpc>
                <a:spcPct val="100000"/>
              </a:lnSpc>
              <a:spcBef>
                <a:spcPts val="0"/>
              </a:spcBef>
              <a:spcAft>
                <a:spcPts val="0"/>
              </a:spcAft>
              <a:buSzPts val="1100"/>
              <a:buChar char="○"/>
            </a:pPr>
            <a:r>
              <a:rPr lang="en"/>
              <a:t>Your configuration may create an </a:t>
            </a:r>
            <a:r>
              <a:rPr lang="en" b="1" i="1">
                <a:solidFill>
                  <a:srgbClr val="FF0000"/>
                </a:solidFill>
              </a:rPr>
              <a:t>invalid successor</a:t>
            </a:r>
            <a:r>
              <a:rPr lang="en"/>
              <a:t> long before the number of possible choices is exhausted.</a:t>
            </a:r>
            <a:endParaRPr/>
          </a:p>
          <a:p>
            <a:pPr marL="914400" lvl="1" indent="-298450" algn="l" rtl="0">
              <a:lnSpc>
                <a:spcPct val="100000"/>
              </a:lnSpc>
              <a:spcBef>
                <a:spcPts val="0"/>
              </a:spcBef>
              <a:spcAft>
                <a:spcPts val="0"/>
              </a:spcAft>
              <a:buSzPts val="1100"/>
              <a:buChar char="○"/>
            </a:pPr>
            <a:r>
              <a:rPr lang="en"/>
              <a:t>Is there any way for an </a:t>
            </a:r>
            <a:r>
              <a:rPr lang="en" b="1" i="1">
                <a:solidFill>
                  <a:srgbClr val="FF0000"/>
                </a:solidFill>
              </a:rPr>
              <a:t>invalid configuration</a:t>
            </a:r>
            <a:r>
              <a:rPr lang="en"/>
              <a:t> to lead to a </a:t>
            </a:r>
            <a:r>
              <a:rPr lang="en" b="1" i="1">
                <a:solidFill>
                  <a:srgbClr val="FF0000"/>
                </a:solidFill>
              </a:rPr>
              <a:t>valid solution</a:t>
            </a:r>
            <a:r>
              <a:rPr lang="en"/>
              <a:t>?</a:t>
            </a:r>
            <a:endParaRPr/>
          </a:p>
          <a:p>
            <a:pPr marL="457200" lvl="0" indent="-311150" algn="l" rtl="0">
              <a:lnSpc>
                <a:spcPct val="100000"/>
              </a:lnSpc>
              <a:spcBef>
                <a:spcPts val="1000"/>
              </a:spcBef>
              <a:spcAft>
                <a:spcPts val="0"/>
              </a:spcAft>
              <a:buSzPts val="1300"/>
              <a:buChar char="●"/>
            </a:pPr>
            <a:r>
              <a:rPr lang="en"/>
              <a:t>Depending on the number of possible choices that have to be tested, a backtracking algorithm can be </a:t>
            </a:r>
            <a:r>
              <a:rPr lang="en" b="1" i="1">
                <a:solidFill>
                  <a:srgbClr val="FF0000"/>
                </a:solidFill>
              </a:rPr>
              <a:t>extremely computationally intensive</a:t>
            </a:r>
            <a:r>
              <a:rPr lang="en"/>
              <a:t>. </a:t>
            </a:r>
            <a:endParaRPr/>
          </a:p>
          <a:p>
            <a:pPr marL="914400" lvl="1" indent="-298450" algn="l" rtl="0">
              <a:lnSpc>
                <a:spcPct val="100000"/>
              </a:lnSpc>
              <a:spcBef>
                <a:spcPts val="0"/>
              </a:spcBef>
              <a:spcAft>
                <a:spcPts val="0"/>
              </a:spcAft>
              <a:buSzPts val="1100"/>
              <a:buChar char="○"/>
            </a:pPr>
            <a:r>
              <a:rPr lang="en"/>
              <a:t>You should try to </a:t>
            </a:r>
            <a:r>
              <a:rPr lang="en" b="1" i="1">
                <a:solidFill>
                  <a:srgbClr val="FF0000"/>
                </a:solidFill>
              </a:rPr>
              <a:t>optimize</a:t>
            </a:r>
            <a:r>
              <a:rPr lang="en">
                <a:solidFill>
                  <a:srgbClr val="FF0000"/>
                </a:solidFill>
              </a:rPr>
              <a:t> </a:t>
            </a:r>
            <a:r>
              <a:rPr lang="en"/>
              <a:t>in any way you can to reduce the amount of time that it takes to find a solution.</a:t>
            </a:r>
            <a:endParaRPr/>
          </a:p>
          <a:p>
            <a:pPr marL="457200" lvl="0" indent="-311150" algn="l" rtl="0">
              <a:lnSpc>
                <a:spcPct val="100000"/>
              </a:lnSpc>
              <a:spcBef>
                <a:spcPts val="1000"/>
              </a:spcBef>
              <a:spcAft>
                <a:spcPts val="0"/>
              </a:spcAft>
              <a:buSzPts val="1300"/>
              <a:buChar char="●"/>
            </a:pPr>
            <a:r>
              <a:rPr lang="en"/>
              <a:t>One optimization technique is called </a:t>
            </a:r>
            <a:r>
              <a:rPr lang="en" b="1" i="1">
                <a:solidFill>
                  <a:srgbClr val="FF0000"/>
                </a:solidFill>
              </a:rPr>
              <a:t>pruning</a:t>
            </a:r>
            <a:r>
              <a:rPr lang="en"/>
              <a:t>.</a:t>
            </a:r>
            <a:endParaRPr/>
          </a:p>
          <a:p>
            <a:pPr marL="914400" lvl="1" indent="-298450" algn="l" rtl="0">
              <a:lnSpc>
                <a:spcPct val="100000"/>
              </a:lnSpc>
              <a:spcBef>
                <a:spcPts val="0"/>
              </a:spcBef>
              <a:spcAft>
                <a:spcPts val="0"/>
              </a:spcAft>
              <a:buSzPts val="1100"/>
              <a:buChar char="○"/>
            </a:pPr>
            <a:r>
              <a:rPr lang="en"/>
              <a:t>If a configuration is </a:t>
            </a:r>
            <a:r>
              <a:rPr lang="en" b="1" i="1">
                <a:solidFill>
                  <a:srgbClr val="FF0000"/>
                </a:solidFill>
              </a:rPr>
              <a:t>invalid</a:t>
            </a:r>
            <a:r>
              <a:rPr lang="en"/>
              <a:t>, no additional successor configurations are tried from that point.</a:t>
            </a:r>
            <a:endParaRPr/>
          </a:p>
          <a:p>
            <a:pPr marL="914400" lvl="1" indent="-298450" algn="l" rtl="0">
              <a:lnSpc>
                <a:spcPct val="100000"/>
              </a:lnSpc>
              <a:spcBef>
                <a:spcPts val="0"/>
              </a:spcBef>
              <a:spcAft>
                <a:spcPts val="0"/>
              </a:spcAft>
              <a:buSzPts val="1100"/>
              <a:buChar char="○"/>
            </a:pPr>
            <a:r>
              <a:rPr lang="en"/>
              <a:t>This branch of the search tree is </a:t>
            </a:r>
            <a:r>
              <a:rPr lang="en" b="1" i="1">
                <a:solidFill>
                  <a:srgbClr val="FF0000"/>
                </a:solidFill>
              </a:rPr>
              <a:t>abandoned</a:t>
            </a:r>
            <a:r>
              <a:rPr lang="en"/>
              <a:t>.</a:t>
            </a:r>
            <a:endParaRPr/>
          </a:p>
          <a:p>
            <a:pPr marL="457200" lvl="0" indent="-311150" algn="l" rtl="0">
              <a:lnSpc>
                <a:spcPct val="100000"/>
              </a:lnSpc>
              <a:spcBef>
                <a:spcPts val="1000"/>
              </a:spcBef>
              <a:spcAft>
                <a:spcPts val="0"/>
              </a:spcAft>
              <a:buSzPts val="1300"/>
              <a:buChar char="●"/>
            </a:pPr>
            <a:r>
              <a:rPr lang="en"/>
              <a:t>Pruning is built into the backtracker.</a:t>
            </a:r>
            <a:endParaRPr/>
          </a:p>
          <a:p>
            <a:pPr marL="914400" lvl="1" indent="-298450" algn="l" rtl="0">
              <a:lnSpc>
                <a:spcPct val="100000"/>
              </a:lnSpc>
              <a:spcBef>
                <a:spcPts val="0"/>
              </a:spcBef>
              <a:spcAft>
                <a:spcPts val="0"/>
              </a:spcAft>
              <a:buSzPts val="1100"/>
              <a:buChar char="○"/>
            </a:pPr>
            <a:r>
              <a:rPr lang="en"/>
              <a:t>If the </a:t>
            </a:r>
            <a:r>
              <a:rPr lang="en">
                <a:solidFill>
                  <a:srgbClr val="FF0000"/>
                </a:solidFill>
                <a:latin typeface="Courier New"/>
                <a:ea typeface="Courier New"/>
                <a:cs typeface="Courier New"/>
                <a:sym typeface="Courier New"/>
              </a:rPr>
              <a:t>isValid()</a:t>
            </a:r>
            <a:r>
              <a:rPr lang="en"/>
              <a:t> method returns </a:t>
            </a:r>
            <a:r>
              <a:rPr lang="en">
                <a:solidFill>
                  <a:srgbClr val="FF0000"/>
                </a:solidFill>
                <a:latin typeface="Courier New"/>
                <a:ea typeface="Courier New"/>
                <a:cs typeface="Courier New"/>
                <a:sym typeface="Courier New"/>
              </a:rPr>
              <a:t>false</a:t>
            </a:r>
            <a:r>
              <a:rPr lang="en"/>
              <a:t>, that configuration and all of its potential successors are </a:t>
            </a:r>
            <a:r>
              <a:rPr lang="en" b="1" i="1">
                <a:solidFill>
                  <a:srgbClr val="FF0000"/>
                </a:solidFill>
              </a:rPr>
              <a:t>pruned</a:t>
            </a:r>
            <a:r>
              <a:rPr lang="en"/>
              <a:t>.</a:t>
            </a:r>
            <a:endParaRPr/>
          </a:p>
        </p:txBody>
      </p:sp>
      <p:sp>
        <p:nvSpPr>
          <p:cNvPr id="2432" name="Google Shape;2432;p112"/>
          <p:cNvSpPr txBox="1">
            <a:spLocks noGrp="1"/>
          </p:cNvSpPr>
          <p:nvPr>
            <p:ph type="body" idx="3"/>
          </p:nvPr>
        </p:nvSpPr>
        <p:spPr>
          <a:xfrm>
            <a:off x="311725" y="7580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On larger boards it is not only </a:t>
            </a:r>
            <a:r>
              <a:rPr lang="en" b="1" i="1">
                <a:solidFill>
                  <a:srgbClr val="FF0000"/>
                </a:solidFill>
              </a:rPr>
              <a:t>possible</a:t>
            </a:r>
            <a:r>
              <a:rPr lang="en"/>
              <a:t>, but </a:t>
            </a:r>
            <a:r>
              <a:rPr lang="en" b="1" i="1">
                <a:solidFill>
                  <a:srgbClr val="FF0000"/>
                </a:solidFill>
              </a:rPr>
              <a:t>very likely</a:t>
            </a:r>
            <a:r>
              <a:rPr lang="en">
                <a:solidFill>
                  <a:srgbClr val="FF0000"/>
                </a:solidFill>
              </a:rPr>
              <a:t> </a:t>
            </a:r>
            <a:r>
              <a:rPr lang="en"/>
              <a:t>that your algorithm will create an </a:t>
            </a:r>
            <a:r>
              <a:rPr lang="en" b="1" i="1">
                <a:solidFill>
                  <a:srgbClr val="FF0000"/>
                </a:solidFill>
              </a:rPr>
              <a:t>invalid </a:t>
            </a:r>
            <a:r>
              <a:rPr lang="en"/>
              <a:t>successor long before making every possible move.</a:t>
            </a:r>
            <a:endParaRPr/>
          </a:p>
        </p:txBody>
      </p:sp>
      <p:graphicFrame>
        <p:nvGraphicFramePr>
          <p:cNvPr id="2433" name="Google Shape;2433;p112"/>
          <p:cNvGraphicFramePr/>
          <p:nvPr/>
        </p:nvGraphicFramePr>
        <p:xfrm>
          <a:off x="1272875" y="1634552"/>
          <a:ext cx="3000000" cy="3000000"/>
        </p:xfrm>
        <a:graphic>
          <a:graphicData uri="http://schemas.openxmlformats.org/drawingml/2006/table">
            <a:tbl>
              <a:tblPr>
                <a:noFill/>
                <a:tableStyleId>{89CCAE03-A2B2-4379-B0C2-E101A7E113D6}</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grpSp>
        <p:nvGrpSpPr>
          <p:cNvPr id="2434" name="Google Shape;2434;p112"/>
          <p:cNvGrpSpPr/>
          <p:nvPr/>
        </p:nvGrpSpPr>
        <p:grpSpPr>
          <a:xfrm>
            <a:off x="1356470" y="1634546"/>
            <a:ext cx="220058" cy="1000836"/>
            <a:chOff x="2880470" y="3359640"/>
            <a:chExt cx="220058" cy="1000836"/>
          </a:xfrm>
        </p:grpSpPr>
        <p:pic>
          <p:nvPicPr>
            <p:cNvPr id="2435" name="Google Shape;2435;p112"/>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436" name="Google Shape;2436;p112"/>
            <p:cNvPicPr preferRelativeResize="0"/>
            <p:nvPr/>
          </p:nvPicPr>
          <p:blipFill>
            <a:blip r:embed="rId3">
              <a:alphaModFix/>
            </a:blip>
            <a:stretch>
              <a:fillRect/>
            </a:stretch>
          </p:blipFill>
          <p:spPr>
            <a:xfrm>
              <a:off x="2880470" y="4021976"/>
              <a:ext cx="200339" cy="338501"/>
            </a:xfrm>
            <a:prstGeom prst="rect">
              <a:avLst/>
            </a:prstGeom>
            <a:noFill/>
            <a:ln>
              <a:noFill/>
            </a:ln>
          </p:spPr>
        </p:pic>
      </p:grpSp>
      <p:sp>
        <p:nvSpPr>
          <p:cNvPr id="2437" name="Google Shape;2437;p112"/>
          <p:cNvSpPr txBox="1">
            <a:spLocks noGrp="1"/>
          </p:cNvSpPr>
          <p:nvPr>
            <p:ph type="body" idx="3"/>
          </p:nvPr>
        </p:nvSpPr>
        <p:spPr>
          <a:xfrm>
            <a:off x="311725" y="31202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 is </a:t>
            </a:r>
            <a:r>
              <a:rPr lang="en" b="1" i="1">
                <a:solidFill>
                  <a:srgbClr val="FF0000"/>
                </a:solidFill>
              </a:rPr>
              <a:t>impossible</a:t>
            </a:r>
            <a:r>
              <a:rPr lang="en">
                <a:solidFill>
                  <a:srgbClr val="FF0000"/>
                </a:solidFill>
              </a:rPr>
              <a:t> </a:t>
            </a:r>
            <a:r>
              <a:rPr lang="en"/>
              <a:t>for a valid solution to be reached after a single bad placement of a queen. And so there is no sense in wasting time continuing to create successors after this point.</a:t>
            </a:r>
            <a:endParaRPr/>
          </a:p>
        </p:txBody>
      </p:sp>
      <p:sp>
        <p:nvSpPr>
          <p:cNvPr id="2438" name="Google Shape;2438;p112"/>
          <p:cNvSpPr txBox="1">
            <a:spLocks noGrp="1"/>
          </p:cNvSpPr>
          <p:nvPr>
            <p:ph type="body" idx="3"/>
          </p:nvPr>
        </p:nvSpPr>
        <p:spPr>
          <a:xfrm>
            <a:off x="311725" y="4166396"/>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backtracking algorithm that we will be using will automatically </a:t>
            </a:r>
            <a:r>
              <a:rPr lang="en" b="1" i="1">
                <a:solidFill>
                  <a:srgbClr val="FF0000"/>
                </a:solidFill>
              </a:rPr>
              <a:t>prune</a:t>
            </a:r>
            <a:r>
              <a:rPr lang="en">
                <a:solidFill>
                  <a:srgbClr val="FF0000"/>
                </a:solidFill>
              </a:rPr>
              <a:t> </a:t>
            </a:r>
            <a:r>
              <a:rPr lang="en"/>
              <a:t>the search tree whenever it finds an </a:t>
            </a:r>
            <a:r>
              <a:rPr lang="en" b="1" i="1">
                <a:solidFill>
                  <a:srgbClr val="FF0000"/>
                </a:solidFill>
              </a:rPr>
              <a:t>invalid configuration</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1">
                                            <p:txEl>
                                              <p:pRg st="0" end="0"/>
                                            </p:txEl>
                                          </p:spTgt>
                                        </p:tgtEl>
                                        <p:attrNameLst>
                                          <p:attrName>style.visibility</p:attrName>
                                        </p:attrNameLst>
                                      </p:cBhvr>
                                      <p:to>
                                        <p:strVal val="visible"/>
                                      </p:to>
                                    </p:set>
                                    <p:animEffect transition="in" filter="fade">
                                      <p:cBhvr>
                                        <p:cTn id="7" dur="1000"/>
                                        <p:tgtEl>
                                          <p:spTgt spid="24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31">
                                            <p:txEl>
                                              <p:pRg st="1" end="1"/>
                                            </p:txEl>
                                          </p:spTgt>
                                        </p:tgtEl>
                                        <p:attrNameLst>
                                          <p:attrName>style.visibility</p:attrName>
                                        </p:attrNameLst>
                                      </p:cBhvr>
                                      <p:to>
                                        <p:strVal val="visible"/>
                                      </p:to>
                                    </p:set>
                                    <p:animEffect transition="in" filter="fade">
                                      <p:cBhvr>
                                        <p:cTn id="12" dur="1000"/>
                                        <p:tgtEl>
                                          <p:spTgt spid="24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31">
                                            <p:txEl>
                                              <p:pRg st="2" end="2"/>
                                            </p:txEl>
                                          </p:spTgt>
                                        </p:tgtEl>
                                        <p:attrNameLst>
                                          <p:attrName>style.visibility</p:attrName>
                                        </p:attrNameLst>
                                      </p:cBhvr>
                                      <p:to>
                                        <p:strVal val="visible"/>
                                      </p:to>
                                    </p:set>
                                    <p:animEffect transition="in" filter="fade">
                                      <p:cBhvr>
                                        <p:cTn id="17" dur="1000"/>
                                        <p:tgtEl>
                                          <p:spTgt spid="24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31">
                                            <p:txEl>
                                              <p:pRg st="3" end="3"/>
                                            </p:txEl>
                                          </p:spTgt>
                                        </p:tgtEl>
                                        <p:attrNameLst>
                                          <p:attrName>style.visibility</p:attrName>
                                        </p:attrNameLst>
                                      </p:cBhvr>
                                      <p:to>
                                        <p:strVal val="visible"/>
                                      </p:to>
                                    </p:set>
                                    <p:animEffect transition="in" filter="fade">
                                      <p:cBhvr>
                                        <p:cTn id="22" dur="1000"/>
                                        <p:tgtEl>
                                          <p:spTgt spid="24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31">
                                            <p:txEl>
                                              <p:pRg st="4" end="4"/>
                                            </p:txEl>
                                          </p:spTgt>
                                        </p:tgtEl>
                                        <p:attrNameLst>
                                          <p:attrName>style.visibility</p:attrName>
                                        </p:attrNameLst>
                                      </p:cBhvr>
                                      <p:to>
                                        <p:strVal val="visible"/>
                                      </p:to>
                                    </p:set>
                                    <p:animEffect transition="in" filter="fade">
                                      <p:cBhvr>
                                        <p:cTn id="27" dur="1000"/>
                                        <p:tgtEl>
                                          <p:spTgt spid="24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31">
                                            <p:txEl>
                                              <p:pRg st="5" end="5"/>
                                            </p:txEl>
                                          </p:spTgt>
                                        </p:tgtEl>
                                        <p:attrNameLst>
                                          <p:attrName>style.visibility</p:attrName>
                                        </p:attrNameLst>
                                      </p:cBhvr>
                                      <p:to>
                                        <p:strVal val="visible"/>
                                      </p:to>
                                    </p:set>
                                    <p:animEffect transition="in" filter="fade">
                                      <p:cBhvr>
                                        <p:cTn id="32" dur="1000"/>
                                        <p:tgtEl>
                                          <p:spTgt spid="24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31">
                                            <p:txEl>
                                              <p:pRg st="6" end="6"/>
                                            </p:txEl>
                                          </p:spTgt>
                                        </p:tgtEl>
                                        <p:attrNameLst>
                                          <p:attrName>style.visibility</p:attrName>
                                        </p:attrNameLst>
                                      </p:cBhvr>
                                      <p:to>
                                        <p:strVal val="visible"/>
                                      </p:to>
                                    </p:set>
                                    <p:animEffect transition="in" filter="fade">
                                      <p:cBhvr>
                                        <p:cTn id="37" dur="1000"/>
                                        <p:tgtEl>
                                          <p:spTgt spid="24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31">
                                            <p:txEl>
                                              <p:pRg st="7" end="7"/>
                                            </p:txEl>
                                          </p:spTgt>
                                        </p:tgtEl>
                                        <p:attrNameLst>
                                          <p:attrName>style.visibility</p:attrName>
                                        </p:attrNameLst>
                                      </p:cBhvr>
                                      <p:to>
                                        <p:strVal val="visible"/>
                                      </p:to>
                                    </p:set>
                                    <p:animEffect transition="in" filter="fade">
                                      <p:cBhvr>
                                        <p:cTn id="42" dur="1000"/>
                                        <p:tgtEl>
                                          <p:spTgt spid="24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31">
                                            <p:txEl>
                                              <p:pRg st="8" end="8"/>
                                            </p:txEl>
                                          </p:spTgt>
                                        </p:tgtEl>
                                        <p:attrNameLst>
                                          <p:attrName>style.visibility</p:attrName>
                                        </p:attrNameLst>
                                      </p:cBhvr>
                                      <p:to>
                                        <p:strVal val="visible"/>
                                      </p:to>
                                    </p:set>
                                    <p:animEffect transition="in" filter="fade">
                                      <p:cBhvr>
                                        <p:cTn id="47" dur="1000"/>
                                        <p:tgtEl>
                                          <p:spTgt spid="24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431">
                                            <p:txEl>
                                              <p:pRg st="9" end="9"/>
                                            </p:txEl>
                                          </p:spTgt>
                                        </p:tgtEl>
                                        <p:attrNameLst>
                                          <p:attrName>style.visibility</p:attrName>
                                        </p:attrNameLst>
                                      </p:cBhvr>
                                      <p:to>
                                        <p:strVal val="visible"/>
                                      </p:to>
                                    </p:set>
                                    <p:animEffect transition="in" filter="fade">
                                      <p:cBhvr>
                                        <p:cTn id="52" dur="1000"/>
                                        <p:tgtEl>
                                          <p:spTgt spid="24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31">
                                            <p:txEl>
                                              <p:pRg st="10" end="10"/>
                                            </p:txEl>
                                          </p:spTgt>
                                        </p:tgtEl>
                                        <p:attrNameLst>
                                          <p:attrName>style.visibility</p:attrName>
                                        </p:attrNameLst>
                                      </p:cBhvr>
                                      <p:to>
                                        <p:strVal val="visible"/>
                                      </p:to>
                                    </p:set>
                                    <p:animEffect transition="in" filter="fade">
                                      <p:cBhvr>
                                        <p:cTn id="57" dur="1000"/>
                                        <p:tgtEl>
                                          <p:spTgt spid="243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31">
                                            <p:txEl>
                                              <p:pRg st="11" end="11"/>
                                            </p:txEl>
                                          </p:spTgt>
                                        </p:tgtEl>
                                        <p:attrNameLst>
                                          <p:attrName>style.visibility</p:attrName>
                                        </p:attrNameLst>
                                      </p:cBhvr>
                                      <p:to>
                                        <p:strVal val="visible"/>
                                      </p:to>
                                    </p:set>
                                    <p:animEffect transition="in" filter="fade">
                                      <p:cBhvr>
                                        <p:cTn id="62" dur="1000"/>
                                        <p:tgtEl>
                                          <p:spTgt spid="243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32"/>
                                        </p:tgtEl>
                                        <p:attrNameLst>
                                          <p:attrName>style.visibility</p:attrName>
                                        </p:attrNameLst>
                                      </p:cBhvr>
                                      <p:to>
                                        <p:strVal val="visible"/>
                                      </p:to>
                                    </p:set>
                                    <p:animEffect transition="in" filter="fade">
                                      <p:cBhvr>
                                        <p:cTn id="67" dur="1000"/>
                                        <p:tgtEl>
                                          <p:spTgt spid="2432"/>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2433"/>
                                        </p:tgtEl>
                                        <p:attrNameLst>
                                          <p:attrName>style.visibility</p:attrName>
                                        </p:attrNameLst>
                                      </p:cBhvr>
                                      <p:to>
                                        <p:strVal val="visible"/>
                                      </p:to>
                                    </p:set>
                                    <p:animEffect transition="in" filter="fade">
                                      <p:cBhvr>
                                        <p:cTn id="71" dur="1000"/>
                                        <p:tgtEl>
                                          <p:spTgt spid="2433"/>
                                        </p:tgtEl>
                                      </p:cBhvr>
                                    </p:animEffect>
                                  </p:childTnLst>
                                </p:cTn>
                              </p:par>
                              <p:par>
                                <p:cTn id="72" presetID="10" presetClass="entr" presetSubtype="0" fill="hold" nodeType="withEffect">
                                  <p:stCondLst>
                                    <p:cond delay="0"/>
                                  </p:stCondLst>
                                  <p:childTnLst>
                                    <p:set>
                                      <p:cBhvr>
                                        <p:cTn id="73" dur="1" fill="hold">
                                          <p:stCondLst>
                                            <p:cond delay="0"/>
                                          </p:stCondLst>
                                        </p:cTn>
                                        <p:tgtEl>
                                          <p:spTgt spid="2434"/>
                                        </p:tgtEl>
                                        <p:attrNameLst>
                                          <p:attrName>style.visibility</p:attrName>
                                        </p:attrNameLst>
                                      </p:cBhvr>
                                      <p:to>
                                        <p:strVal val="visible"/>
                                      </p:to>
                                    </p:set>
                                    <p:animEffect transition="in" filter="fade">
                                      <p:cBhvr>
                                        <p:cTn id="74" dur="1000"/>
                                        <p:tgtEl>
                                          <p:spTgt spid="243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437"/>
                                        </p:tgtEl>
                                        <p:attrNameLst>
                                          <p:attrName>style.visibility</p:attrName>
                                        </p:attrNameLst>
                                      </p:cBhvr>
                                      <p:to>
                                        <p:strVal val="visible"/>
                                      </p:to>
                                    </p:set>
                                    <p:animEffect transition="in" filter="fade">
                                      <p:cBhvr>
                                        <p:cTn id="79" dur="1000"/>
                                        <p:tgtEl>
                                          <p:spTgt spid="243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438"/>
                                        </p:tgtEl>
                                        <p:attrNameLst>
                                          <p:attrName>style.visibility</p:attrName>
                                        </p:attrNameLst>
                                      </p:cBhvr>
                                      <p:to>
                                        <p:strVal val="visible"/>
                                      </p:to>
                                    </p:set>
                                    <p:animEffect transition="in" filter="fade">
                                      <p:cBhvr>
                                        <p:cTn id="84" dur="1000"/>
                                        <p:tgtEl>
                                          <p:spTgt spid="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442"/>
        <p:cNvGrpSpPr/>
        <p:nvPr/>
      </p:nvGrpSpPr>
      <p:grpSpPr>
        <a:xfrm>
          <a:off x="0" y="0"/>
          <a:ext cx="0" cy="0"/>
          <a:chOff x="0" y="0"/>
          <a:chExt cx="0" cy="0"/>
        </a:xfrm>
      </p:grpSpPr>
      <p:sp>
        <p:nvSpPr>
          <p:cNvPr id="2443" name="Google Shape;2443;p11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Validating a Configuration</a:t>
            </a:r>
            <a:endParaRPr/>
          </a:p>
        </p:txBody>
      </p:sp>
      <p:sp>
        <p:nvSpPr>
          <p:cNvPr id="2444" name="Google Shape;2444;p11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An N-Queens configuration is valid if no two queens have been played that can attack each other. Assuming that all previous configurations have been valid, which queen(s) do we need to look at closely? Which can we ignore?</a:t>
            </a:r>
            <a:endParaRPr/>
          </a:p>
        </p:txBody>
      </p:sp>
      <p:sp>
        <p:nvSpPr>
          <p:cNvPr id="2445" name="Google Shape;2445;p1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95</a:t>
            </a:fld>
            <a:endParaRPr/>
          </a:p>
        </p:txBody>
      </p:sp>
      <p:sp>
        <p:nvSpPr>
          <p:cNvPr id="2446" name="Google Shape;2446;p11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13.30</a:t>
            </a:r>
            <a:endParaRPr/>
          </a:p>
        </p:txBody>
      </p:sp>
      <p:sp>
        <p:nvSpPr>
          <p:cNvPr id="2447" name="Google Shape;2447;p113"/>
          <p:cNvSpPr txBox="1"/>
          <p:nvPr/>
        </p:nvSpPr>
        <p:spPr>
          <a:xfrm>
            <a:off x="193575" y="3330201"/>
            <a:ext cx="24384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solidFill>
                  <a:srgbClr val="FF0000"/>
                </a:solidFill>
                <a:latin typeface="Courier New"/>
                <a:ea typeface="Courier New"/>
                <a:cs typeface="Courier New"/>
                <a:sym typeface="Courier New"/>
              </a:rPr>
              <a:t>isValid()</a:t>
            </a:r>
            <a:r>
              <a:rPr lang="en" sz="1200"/>
              <a:t> method is </a:t>
            </a:r>
            <a:r>
              <a:rPr lang="en" sz="1200" b="1" i="1">
                <a:solidFill>
                  <a:srgbClr val="FF0000"/>
                </a:solidFill>
              </a:rPr>
              <a:t>only</a:t>
            </a:r>
            <a:r>
              <a:rPr lang="en" sz="1200">
                <a:solidFill>
                  <a:srgbClr val="FF0000"/>
                </a:solidFill>
              </a:rPr>
              <a:t> </a:t>
            </a:r>
            <a:r>
              <a:rPr lang="en" sz="1200"/>
              <a:t>concerned with whether or not any two queens can attack each other.</a:t>
            </a:r>
            <a:endParaRPr sz="1200"/>
          </a:p>
        </p:txBody>
      </p:sp>
      <p:pic>
        <p:nvPicPr>
          <p:cNvPr id="2448" name="Google Shape;2448;p113"/>
          <p:cNvPicPr preferRelativeResize="0"/>
          <p:nvPr/>
        </p:nvPicPr>
        <p:blipFill>
          <a:blip r:embed="rId3">
            <a:alphaModFix/>
          </a:blip>
          <a:stretch>
            <a:fillRect/>
          </a:stretch>
        </p:blipFill>
        <p:spPr>
          <a:xfrm>
            <a:off x="533400" y="1696975"/>
            <a:ext cx="1758750" cy="1570175"/>
          </a:xfrm>
          <a:prstGeom prst="rect">
            <a:avLst/>
          </a:prstGeom>
          <a:noFill/>
          <a:ln>
            <a:noFill/>
          </a:ln>
        </p:spPr>
      </p:pic>
      <p:sp>
        <p:nvSpPr>
          <p:cNvPr id="2449" name="Google Shape;2449;p113"/>
          <p:cNvSpPr txBox="1"/>
          <p:nvPr/>
        </p:nvSpPr>
        <p:spPr>
          <a:xfrm>
            <a:off x="193575" y="4362620"/>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But does it have to check them </a:t>
            </a:r>
            <a:r>
              <a:rPr lang="en" sz="1200" b="1" i="1">
                <a:solidFill>
                  <a:srgbClr val="FF0000"/>
                </a:solidFill>
              </a:rPr>
              <a:t>all</a:t>
            </a:r>
            <a:r>
              <a:rPr lang="en" sz="1200"/>
              <a:t>?</a:t>
            </a:r>
            <a:endParaRPr sz="1200"/>
          </a:p>
        </p:txBody>
      </p:sp>
      <p:sp>
        <p:nvSpPr>
          <p:cNvPr id="2450" name="Google Shape;2450;p113"/>
          <p:cNvSpPr txBox="1">
            <a:spLocks noGrp="1"/>
          </p:cNvSpPr>
          <p:nvPr>
            <p:ph type="body" idx="2"/>
          </p:nvPr>
        </p:nvSpPr>
        <p:spPr>
          <a:xfrm>
            <a:off x="2800100" y="1729125"/>
            <a:ext cx="6133500" cy="25197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Open the </a:t>
            </a:r>
            <a:r>
              <a:rPr lang="en" sz="1800">
                <a:latin typeface="Courier New"/>
                <a:ea typeface="Courier New"/>
                <a:cs typeface="Courier New"/>
                <a:sym typeface="Courier New"/>
              </a:rPr>
              <a:t>NQueens</a:t>
            </a:r>
            <a:r>
              <a:rPr lang="en" sz="1800"/>
              <a:t> class and implement the </a:t>
            </a:r>
            <a:r>
              <a:rPr lang="en" sz="1800">
                <a:solidFill>
                  <a:srgbClr val="FF0000"/>
                </a:solidFill>
                <a:latin typeface="Courier New"/>
                <a:ea typeface="Courier New"/>
                <a:cs typeface="Courier New"/>
                <a:sym typeface="Courier New"/>
              </a:rPr>
              <a:t>isValid()</a:t>
            </a:r>
            <a:r>
              <a:rPr lang="en" sz="1800"/>
              <a:t> method.</a:t>
            </a:r>
            <a:endParaRPr sz="1800"/>
          </a:p>
          <a:p>
            <a:pPr marL="914400" lvl="1" indent="-330200" algn="l" rtl="0">
              <a:spcBef>
                <a:spcPts val="0"/>
              </a:spcBef>
              <a:spcAft>
                <a:spcPts val="0"/>
              </a:spcAft>
              <a:buSzPts val="1600"/>
              <a:buChar char="○"/>
            </a:pPr>
            <a:r>
              <a:rPr lang="en" sz="1600"/>
              <a:t>You should </a:t>
            </a:r>
            <a:r>
              <a:rPr lang="en" sz="1600" b="1" i="1">
                <a:solidFill>
                  <a:srgbClr val="FF0000"/>
                </a:solidFill>
              </a:rPr>
              <a:t>return </a:t>
            </a:r>
            <a:r>
              <a:rPr lang="en" sz="1600">
                <a:solidFill>
                  <a:srgbClr val="FF0000"/>
                </a:solidFill>
                <a:latin typeface="Courier New"/>
                <a:ea typeface="Courier New"/>
                <a:cs typeface="Courier New"/>
                <a:sym typeface="Courier New"/>
              </a:rPr>
              <a:t>true</a:t>
            </a:r>
            <a:r>
              <a:rPr lang="en" sz="1600">
                <a:solidFill>
                  <a:srgbClr val="FF0000"/>
                </a:solidFill>
              </a:rPr>
              <a:t> </a:t>
            </a:r>
            <a:r>
              <a:rPr lang="en" sz="1600"/>
              <a:t>if none of the queens played (so far) can attack each other.</a:t>
            </a:r>
            <a:endParaRPr sz="1600"/>
          </a:p>
          <a:p>
            <a:pPr marL="914400" lvl="1" indent="-330200" algn="l" rtl="0">
              <a:spcBef>
                <a:spcPts val="0"/>
              </a:spcBef>
              <a:spcAft>
                <a:spcPts val="0"/>
              </a:spcAft>
              <a:buSzPts val="1600"/>
              <a:buChar char="○"/>
            </a:pPr>
            <a:r>
              <a:rPr lang="en" sz="1600"/>
              <a:t>Do you need to compare </a:t>
            </a:r>
            <a:r>
              <a:rPr lang="en" sz="1600" b="1" i="1">
                <a:solidFill>
                  <a:srgbClr val="FF0000"/>
                </a:solidFill>
              </a:rPr>
              <a:t>every</a:t>
            </a:r>
            <a:r>
              <a:rPr lang="en" sz="1600">
                <a:solidFill>
                  <a:srgbClr val="FF0000"/>
                </a:solidFill>
              </a:rPr>
              <a:t> </a:t>
            </a:r>
            <a:r>
              <a:rPr lang="en" sz="1600"/>
              <a:t>pair of queens?</a:t>
            </a:r>
            <a:endParaRPr sz="1600"/>
          </a:p>
          <a:p>
            <a:pPr marL="457200" lvl="0" indent="-342900" algn="l" rtl="0">
              <a:spcBef>
                <a:spcPts val="0"/>
              </a:spcBef>
              <a:spcAft>
                <a:spcPts val="0"/>
              </a:spcAft>
              <a:buSzPts val="1800"/>
              <a:buChar char="●"/>
            </a:pPr>
            <a:r>
              <a:rPr lang="en" sz="1800"/>
              <a:t>Test your method by calling it from </a:t>
            </a:r>
            <a:r>
              <a:rPr lang="en" sz="1800">
                <a:latin typeface="Courier New"/>
                <a:ea typeface="Courier New"/>
                <a:cs typeface="Courier New"/>
                <a:sym typeface="Courier New"/>
              </a:rPr>
              <a:t>main</a:t>
            </a:r>
            <a:r>
              <a:rPr lang="en" sz="1800"/>
              <a:t>.</a:t>
            </a:r>
            <a:endParaRPr sz="1800"/>
          </a:p>
          <a:p>
            <a:pPr marL="914400" lvl="1" indent="-330200" algn="l" rtl="0">
              <a:spcBef>
                <a:spcPts val="0"/>
              </a:spcBef>
              <a:spcAft>
                <a:spcPts val="0"/>
              </a:spcAft>
              <a:buSzPts val="1600"/>
              <a:buChar char="○"/>
            </a:pPr>
            <a:r>
              <a:rPr lang="en" sz="1600"/>
              <a:t>It should return </a:t>
            </a:r>
            <a:r>
              <a:rPr lang="en" sz="1600">
                <a:latin typeface="Courier New"/>
                <a:ea typeface="Courier New"/>
                <a:cs typeface="Courier New"/>
                <a:sym typeface="Courier New"/>
              </a:rPr>
              <a:t>true</a:t>
            </a:r>
            <a:r>
              <a:rPr lang="en" sz="1600"/>
              <a:t> for an empty board. This is fine for now.</a:t>
            </a:r>
            <a:endParaRPr sz="16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454"/>
        <p:cNvGrpSpPr/>
        <p:nvPr/>
      </p:nvGrpSpPr>
      <p:grpSpPr>
        <a:xfrm>
          <a:off x="0" y="0"/>
          <a:ext cx="0" cy="0"/>
          <a:chOff x="0" y="0"/>
          <a:chExt cx="0" cy="0"/>
        </a:xfrm>
      </p:grpSpPr>
      <p:sp>
        <p:nvSpPr>
          <p:cNvPr id="2455" name="Google Shape;2455;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Gooooooooooooal!</a:t>
            </a:r>
            <a:endParaRPr/>
          </a:p>
        </p:txBody>
      </p:sp>
      <p:sp>
        <p:nvSpPr>
          <p:cNvPr id="2456" name="Google Shape;2456;p11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An N-Queens configuration is the goal if it is valid (no two queens can attack each other) and all N-Queens have been placed on the chessboard. Implement this functionality in your N-Queens configuration now.</a:t>
            </a:r>
            <a:endParaRPr/>
          </a:p>
        </p:txBody>
      </p:sp>
      <p:sp>
        <p:nvSpPr>
          <p:cNvPr id="2457" name="Google Shape;2457;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96</a:t>
            </a:fld>
            <a:endParaRPr/>
          </a:p>
        </p:txBody>
      </p:sp>
      <p:sp>
        <p:nvSpPr>
          <p:cNvPr id="2458" name="Google Shape;2458;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13.31</a:t>
            </a:r>
            <a:endParaRPr/>
          </a:p>
        </p:txBody>
      </p:sp>
      <p:sp>
        <p:nvSpPr>
          <p:cNvPr id="2459" name="Google Shape;2459;p114"/>
          <p:cNvSpPr txBox="1"/>
          <p:nvPr/>
        </p:nvSpPr>
        <p:spPr>
          <a:xfrm>
            <a:off x="228600" y="3886625"/>
            <a:ext cx="24384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For any board larger than 3x3 there are multiple possible solutions. The one that the backtracker finds depends on the order in which moves are made.</a:t>
            </a:r>
            <a:endParaRPr sz="1200"/>
          </a:p>
        </p:txBody>
      </p:sp>
      <p:pic>
        <p:nvPicPr>
          <p:cNvPr id="2460" name="Google Shape;2460;p114"/>
          <p:cNvPicPr preferRelativeResize="0"/>
          <p:nvPr/>
        </p:nvPicPr>
        <p:blipFill>
          <a:blip r:embed="rId3">
            <a:alphaModFix/>
          </a:blip>
          <a:stretch>
            <a:fillRect/>
          </a:stretch>
        </p:blipFill>
        <p:spPr>
          <a:xfrm>
            <a:off x="228600" y="1620775"/>
            <a:ext cx="2438400" cy="2176939"/>
          </a:xfrm>
          <a:prstGeom prst="rect">
            <a:avLst/>
          </a:prstGeom>
          <a:noFill/>
          <a:ln>
            <a:noFill/>
          </a:ln>
        </p:spPr>
      </p:pic>
      <p:sp>
        <p:nvSpPr>
          <p:cNvPr id="2461" name="Google Shape;2461;p114"/>
          <p:cNvSpPr txBox="1">
            <a:spLocks noGrp="1"/>
          </p:cNvSpPr>
          <p:nvPr>
            <p:ph type="body" idx="2"/>
          </p:nvPr>
        </p:nvSpPr>
        <p:spPr>
          <a:xfrm>
            <a:off x="2815075" y="1692525"/>
            <a:ext cx="6161700" cy="2115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NQueens</a:t>
            </a:r>
            <a:r>
              <a:rPr lang="en" sz="1700"/>
              <a:t> class and implement the </a:t>
            </a:r>
            <a:r>
              <a:rPr lang="en" sz="1700">
                <a:latin typeface="Courier New"/>
                <a:ea typeface="Courier New"/>
                <a:cs typeface="Courier New"/>
                <a:sym typeface="Courier New"/>
              </a:rPr>
              <a:t>isGoal()</a:t>
            </a:r>
            <a:r>
              <a:rPr lang="en" sz="1700"/>
              <a:t> method.</a:t>
            </a:r>
            <a:endParaRPr sz="1700"/>
          </a:p>
          <a:p>
            <a:pPr marL="914400" lvl="1" indent="-323850" algn="l" rtl="0">
              <a:spcBef>
                <a:spcPts val="0"/>
              </a:spcBef>
              <a:spcAft>
                <a:spcPts val="0"/>
              </a:spcAft>
              <a:buSzPts val="1500"/>
              <a:buChar char="○"/>
            </a:pPr>
            <a:r>
              <a:rPr lang="en" sz="1500"/>
              <a:t>If the configuration is </a:t>
            </a:r>
            <a:r>
              <a:rPr lang="en" sz="1500" b="1" i="1">
                <a:solidFill>
                  <a:srgbClr val="FF0000"/>
                </a:solidFill>
              </a:rPr>
              <a:t>valid</a:t>
            </a:r>
            <a:r>
              <a:rPr lang="en" sz="1500"/>
              <a:t>, and </a:t>
            </a:r>
            <a:r>
              <a:rPr lang="en" sz="1500" b="1" i="1">
                <a:solidFill>
                  <a:srgbClr val="FF0000"/>
                </a:solidFill>
              </a:rPr>
              <a:t>N</a:t>
            </a:r>
            <a:r>
              <a:rPr lang="en" sz="1500" b="1" i="1"/>
              <a:t> </a:t>
            </a:r>
            <a:r>
              <a:rPr lang="en" sz="1500" b="1" i="1">
                <a:solidFill>
                  <a:srgbClr val="FF0000"/>
                </a:solidFill>
              </a:rPr>
              <a:t>queens</a:t>
            </a:r>
            <a:r>
              <a:rPr lang="en" sz="1500">
                <a:solidFill>
                  <a:srgbClr val="FF0000"/>
                </a:solidFill>
              </a:rPr>
              <a:t> </a:t>
            </a:r>
            <a:r>
              <a:rPr lang="en" sz="1500"/>
              <a:t>have been placed on the chessboard, return </a:t>
            </a:r>
            <a:r>
              <a:rPr lang="en" sz="1500">
                <a:solidFill>
                  <a:srgbClr val="FF0000"/>
                </a:solidFill>
                <a:latin typeface="Courier New"/>
                <a:ea typeface="Courier New"/>
                <a:cs typeface="Courier New"/>
                <a:sym typeface="Courier New"/>
              </a:rPr>
              <a:t>true</a:t>
            </a:r>
            <a:r>
              <a:rPr lang="en" sz="1500"/>
              <a:t>.</a:t>
            </a:r>
            <a:endParaRPr sz="1500"/>
          </a:p>
          <a:p>
            <a:pPr marL="914400" lvl="1" indent="-323850" algn="l" rtl="0">
              <a:spcBef>
                <a:spcPts val="0"/>
              </a:spcBef>
              <a:spcAft>
                <a:spcPts val="0"/>
              </a:spcAft>
              <a:buSzPts val="1500"/>
              <a:buChar char="○"/>
            </a:pPr>
            <a:r>
              <a:rPr lang="en" sz="1500"/>
              <a:t>Otherwise, return </a:t>
            </a:r>
            <a:r>
              <a:rPr lang="en" sz="1500">
                <a:solidFill>
                  <a:srgbClr val="FF0000"/>
                </a:solidFill>
                <a:latin typeface="Courier New"/>
                <a:ea typeface="Courier New"/>
                <a:cs typeface="Courier New"/>
                <a:sym typeface="Courier New"/>
              </a:rPr>
              <a:t>false</a:t>
            </a:r>
            <a:r>
              <a:rPr lang="en" sz="1500"/>
              <a:t>.</a:t>
            </a:r>
            <a:endParaRPr sz="1500"/>
          </a:p>
          <a:p>
            <a:pPr marL="457200" lvl="0" indent="-336550" algn="l" rtl="0">
              <a:spcBef>
                <a:spcPts val="0"/>
              </a:spcBef>
              <a:spcAft>
                <a:spcPts val="0"/>
              </a:spcAft>
              <a:buSzPts val="1700"/>
              <a:buChar char="●"/>
            </a:pPr>
            <a:r>
              <a:rPr lang="en" sz="1700" b="1" i="1">
                <a:solidFill>
                  <a:srgbClr val="FF0000"/>
                </a:solidFill>
              </a:rPr>
              <a:t>Test </a:t>
            </a:r>
            <a:r>
              <a:rPr lang="en" sz="1700"/>
              <a:t>your </a:t>
            </a:r>
            <a:r>
              <a:rPr lang="en" sz="1700">
                <a:latin typeface="Courier New"/>
                <a:ea typeface="Courier New"/>
                <a:cs typeface="Courier New"/>
                <a:sym typeface="Courier New"/>
              </a:rPr>
              <a:t>isGoal()</a:t>
            </a:r>
            <a:r>
              <a:rPr lang="en" sz="1700"/>
              <a:t> function from </a:t>
            </a:r>
            <a:r>
              <a:rPr lang="en" sz="1700">
                <a:latin typeface="Courier New"/>
                <a:ea typeface="Courier New"/>
                <a:cs typeface="Courier New"/>
                <a:sym typeface="Courier New"/>
              </a:rPr>
              <a:t>main</a:t>
            </a:r>
            <a:r>
              <a:rPr lang="en" sz="1700"/>
              <a:t>.</a:t>
            </a:r>
            <a:endParaRPr sz="1700"/>
          </a:p>
          <a:p>
            <a:pPr marL="914400" lvl="1" indent="-323850" algn="l" rtl="0">
              <a:spcBef>
                <a:spcPts val="0"/>
              </a:spcBef>
              <a:spcAft>
                <a:spcPts val="0"/>
              </a:spcAft>
              <a:buSzPts val="1500"/>
              <a:buChar char="○"/>
            </a:pPr>
            <a:r>
              <a:rPr lang="en" sz="1500"/>
              <a:t>It should return </a:t>
            </a:r>
            <a:r>
              <a:rPr lang="en" sz="1500">
                <a:solidFill>
                  <a:srgbClr val="FF0000"/>
                </a:solidFill>
                <a:latin typeface="Courier New"/>
                <a:ea typeface="Courier New"/>
                <a:cs typeface="Courier New"/>
                <a:sym typeface="Courier New"/>
              </a:rPr>
              <a:t>false</a:t>
            </a:r>
            <a:r>
              <a:rPr lang="en" sz="1500"/>
              <a:t>. This is good enough for now.</a:t>
            </a:r>
            <a:endParaRPr sz="15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465"/>
        <p:cNvGrpSpPr/>
        <p:nvPr/>
      </p:nvGrpSpPr>
      <p:grpSpPr>
        <a:xfrm>
          <a:off x="0" y="0"/>
          <a:ext cx="0" cy="0"/>
          <a:chOff x="0" y="0"/>
          <a:chExt cx="0" cy="0"/>
        </a:xfrm>
      </p:grpSpPr>
      <p:sp>
        <p:nvSpPr>
          <p:cNvPr id="2466" name="Google Shape;2466;p115"/>
          <p:cNvSpPr txBox="1">
            <a:spLocks noGrp="1"/>
          </p:cNvSpPr>
          <p:nvPr>
            <p:ph type="title"/>
          </p:nvPr>
        </p:nvSpPr>
        <p:spPr>
          <a:xfrm>
            <a:off x="5188525" y="43725"/>
            <a:ext cx="37065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200"/>
              <a:t>The Backtracking Algorithm </a:t>
            </a:r>
            <a:endParaRPr sz="2200"/>
          </a:p>
        </p:txBody>
      </p:sp>
      <p:sp>
        <p:nvSpPr>
          <p:cNvPr id="2467" name="Google Shape;2467;p115"/>
          <p:cNvSpPr txBox="1">
            <a:spLocks noGrp="1"/>
          </p:cNvSpPr>
          <p:nvPr>
            <p:ph type="body" idx="1"/>
          </p:nvPr>
        </p:nvSpPr>
        <p:spPr>
          <a:xfrm>
            <a:off x="147400" y="-32475"/>
            <a:ext cx="4694700" cy="5146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Now that we have an implementation of the </a:t>
            </a:r>
            <a:r>
              <a:rPr lang="en">
                <a:latin typeface="Courier New"/>
                <a:ea typeface="Courier New"/>
                <a:cs typeface="Courier New"/>
                <a:sym typeface="Courier New"/>
              </a:rPr>
              <a:t>Configuration</a:t>
            </a:r>
            <a:r>
              <a:rPr lang="en"/>
              <a:t> interface, it can be executed using a simple, generic </a:t>
            </a:r>
            <a:r>
              <a:rPr lang="en" b="1" i="1">
                <a:solidFill>
                  <a:srgbClr val="FF0000"/>
                </a:solidFill>
              </a:rPr>
              <a:t>backtracking algorithm</a:t>
            </a:r>
            <a:r>
              <a:rPr lang="en">
                <a:solidFill>
                  <a:srgbClr val="FF0000"/>
                </a:solidFill>
              </a:rPr>
              <a:t> </a:t>
            </a:r>
            <a:r>
              <a:rPr lang="en"/>
              <a:t>to solve the problem.</a:t>
            </a:r>
            <a:endParaRPr/>
          </a:p>
          <a:p>
            <a:pPr marL="457200" lvl="0" indent="-311150" algn="l" rtl="0">
              <a:spcBef>
                <a:spcPts val="1000"/>
              </a:spcBef>
              <a:spcAft>
                <a:spcPts val="0"/>
              </a:spcAft>
              <a:buSzPts val="1300"/>
              <a:buChar char="●"/>
            </a:pPr>
            <a:r>
              <a:rPr lang="en"/>
              <a:t>Call the </a:t>
            </a:r>
            <a:r>
              <a:rPr lang="en" b="1" i="1">
                <a:solidFill>
                  <a:srgbClr val="FF0000"/>
                </a:solidFill>
              </a:rPr>
              <a:t>solve</a:t>
            </a:r>
            <a:r>
              <a:rPr lang="en">
                <a:solidFill>
                  <a:srgbClr val="FF0000"/>
                </a:solidFill>
              </a:rPr>
              <a:t> </a:t>
            </a:r>
            <a:r>
              <a:rPr lang="en"/>
              <a:t>method with a </a:t>
            </a:r>
            <a:r>
              <a:rPr lang="en" b="1" i="1">
                <a:solidFill>
                  <a:srgbClr val="FF0000"/>
                </a:solidFill>
              </a:rPr>
              <a:t>configuration C</a:t>
            </a:r>
            <a:r>
              <a:rPr lang="en"/>
              <a:t>:</a:t>
            </a:r>
            <a:endParaRPr/>
          </a:p>
          <a:p>
            <a:pPr marL="914400" lvl="1" indent="-298450" algn="l" rtl="0">
              <a:spcBef>
                <a:spcPts val="0"/>
              </a:spcBef>
              <a:spcAft>
                <a:spcPts val="0"/>
              </a:spcAft>
              <a:buSzPts val="1100"/>
              <a:buChar char="○"/>
            </a:pPr>
            <a:r>
              <a:rPr lang="en"/>
              <a:t>If</a:t>
            </a:r>
            <a:r>
              <a:rPr lang="en">
                <a:solidFill>
                  <a:srgbClr val="FF0000"/>
                </a:solidFill>
              </a:rPr>
              <a:t> </a:t>
            </a:r>
            <a:r>
              <a:rPr lang="en" b="1" i="1">
                <a:solidFill>
                  <a:srgbClr val="FF0000"/>
                </a:solidFill>
              </a:rPr>
              <a:t>C </a:t>
            </a:r>
            <a:r>
              <a:rPr lang="en"/>
              <a:t>is the </a:t>
            </a:r>
            <a:r>
              <a:rPr lang="en" b="1" i="1">
                <a:solidFill>
                  <a:srgbClr val="FF0000"/>
                </a:solidFill>
              </a:rPr>
              <a:t>goal</a:t>
            </a:r>
            <a:r>
              <a:rPr lang="en"/>
              <a:t>, then return</a:t>
            </a:r>
            <a:r>
              <a:rPr lang="en">
                <a:solidFill>
                  <a:srgbClr val="FF0000"/>
                </a:solidFill>
              </a:rPr>
              <a:t> </a:t>
            </a:r>
            <a:r>
              <a:rPr lang="en" b="1" i="1">
                <a:solidFill>
                  <a:srgbClr val="FF0000"/>
                </a:solidFill>
              </a:rPr>
              <a:t>C</a:t>
            </a:r>
            <a:r>
              <a:rPr lang="en"/>
              <a:t>. Problem solved!</a:t>
            </a:r>
            <a:endParaRPr/>
          </a:p>
          <a:p>
            <a:pPr marL="914400" lvl="1" indent="-298450" algn="l" rtl="0">
              <a:spcBef>
                <a:spcPts val="0"/>
              </a:spcBef>
              <a:spcAft>
                <a:spcPts val="0"/>
              </a:spcAft>
              <a:buSzPts val="1100"/>
              <a:buChar char="○"/>
            </a:pPr>
            <a:r>
              <a:rPr lang="en"/>
              <a:t>Otherwise, for each of </a:t>
            </a:r>
            <a:r>
              <a:rPr lang="en" b="1" i="1">
                <a:solidFill>
                  <a:srgbClr val="FF0000"/>
                </a:solidFill>
              </a:rPr>
              <a:t>C</a:t>
            </a:r>
            <a:r>
              <a:rPr lang="en"/>
              <a:t>'s successors </a:t>
            </a:r>
            <a:r>
              <a:rPr lang="en" b="1" i="1">
                <a:solidFill>
                  <a:srgbClr val="FF0000"/>
                </a:solidFill>
              </a:rPr>
              <a:t>S</a:t>
            </a:r>
            <a:r>
              <a:rPr lang="en"/>
              <a:t>:</a:t>
            </a:r>
            <a:endParaRPr/>
          </a:p>
          <a:p>
            <a:pPr marL="1371600" lvl="2" indent="-298450" algn="l" rtl="0">
              <a:spcBef>
                <a:spcPts val="0"/>
              </a:spcBef>
              <a:spcAft>
                <a:spcPts val="0"/>
              </a:spcAft>
              <a:buSzPts val="1100"/>
              <a:buChar char="■"/>
            </a:pPr>
            <a:r>
              <a:rPr lang="en"/>
              <a:t>If </a:t>
            </a:r>
            <a:r>
              <a:rPr lang="en" b="1" i="1">
                <a:solidFill>
                  <a:srgbClr val="FF0000"/>
                </a:solidFill>
              </a:rPr>
              <a:t>S</a:t>
            </a:r>
            <a:r>
              <a:rPr lang="en"/>
              <a:t> is </a:t>
            </a:r>
            <a:r>
              <a:rPr lang="en" b="1" i="1">
                <a:solidFill>
                  <a:srgbClr val="FF0000"/>
                </a:solidFill>
              </a:rPr>
              <a:t>valid</a:t>
            </a:r>
            <a:r>
              <a:rPr lang="en"/>
              <a:t>, recursively call </a:t>
            </a:r>
            <a:r>
              <a:rPr lang="en" b="1" i="1">
                <a:solidFill>
                  <a:srgbClr val="FF0000"/>
                </a:solidFill>
              </a:rPr>
              <a:t>solve</a:t>
            </a:r>
            <a:r>
              <a:rPr lang="en"/>
              <a:t> with </a:t>
            </a:r>
            <a:r>
              <a:rPr lang="en" b="1" i="1">
                <a:solidFill>
                  <a:srgbClr val="FF0000"/>
                </a:solidFill>
              </a:rPr>
              <a:t>S</a:t>
            </a:r>
            <a:endParaRPr>
              <a:solidFill>
                <a:srgbClr val="FF0000"/>
              </a:solidFill>
            </a:endParaRPr>
          </a:p>
          <a:p>
            <a:pPr marL="1371600" lvl="2" indent="-298450" algn="l" rtl="0">
              <a:spcBef>
                <a:spcPts val="0"/>
              </a:spcBef>
              <a:spcAft>
                <a:spcPts val="0"/>
              </a:spcAft>
              <a:buSzPts val="1100"/>
              <a:buChar char="■"/>
            </a:pPr>
            <a:r>
              <a:rPr lang="en"/>
              <a:t>If a </a:t>
            </a:r>
            <a:r>
              <a:rPr lang="en" b="1" i="1">
                <a:solidFill>
                  <a:srgbClr val="FF0000"/>
                </a:solidFill>
              </a:rPr>
              <a:t>non-</a:t>
            </a:r>
            <a:r>
              <a:rPr lang="en">
                <a:solidFill>
                  <a:srgbClr val="FF0000"/>
                </a:solidFill>
                <a:latin typeface="Courier New"/>
                <a:ea typeface="Courier New"/>
                <a:cs typeface="Courier New"/>
                <a:sym typeface="Courier New"/>
              </a:rPr>
              <a:t>null</a:t>
            </a:r>
            <a:r>
              <a:rPr lang="en" b="1" i="1"/>
              <a:t> </a:t>
            </a:r>
            <a:r>
              <a:rPr lang="en" b="1" i="1">
                <a:solidFill>
                  <a:srgbClr val="FF0000"/>
                </a:solidFill>
              </a:rPr>
              <a:t>solution</a:t>
            </a:r>
            <a:r>
              <a:rPr lang="en"/>
              <a:t> is returned, problem solved! Return the solution configuration!</a:t>
            </a:r>
            <a:endParaRPr/>
          </a:p>
          <a:p>
            <a:pPr marL="914400" lvl="1" indent="-298450" algn="l" rtl="0">
              <a:spcBef>
                <a:spcPts val="0"/>
              </a:spcBef>
              <a:spcAft>
                <a:spcPts val="0"/>
              </a:spcAft>
              <a:buSzPts val="1100"/>
              <a:buChar char="○"/>
            </a:pPr>
            <a:r>
              <a:rPr lang="en"/>
              <a:t>If none of </a:t>
            </a:r>
            <a:r>
              <a:rPr lang="en" b="1" i="1">
                <a:solidFill>
                  <a:srgbClr val="FF0000"/>
                </a:solidFill>
              </a:rPr>
              <a:t>C</a:t>
            </a:r>
            <a:r>
              <a:rPr lang="en"/>
              <a:t>'s successors returns a non-null solution, then there is no solution from </a:t>
            </a:r>
            <a:r>
              <a:rPr lang="en" b="1" i="1">
                <a:solidFill>
                  <a:srgbClr val="FF0000"/>
                </a:solidFill>
              </a:rPr>
              <a:t>C</a:t>
            </a:r>
            <a:r>
              <a:rPr lang="en"/>
              <a:t>. Return </a:t>
            </a:r>
            <a:r>
              <a:rPr lang="en">
                <a:solidFill>
                  <a:srgbClr val="FF0000"/>
                </a:solidFill>
                <a:latin typeface="Courier New"/>
                <a:ea typeface="Courier New"/>
                <a:cs typeface="Courier New"/>
                <a:sym typeface="Courier New"/>
              </a:rPr>
              <a:t>null</a:t>
            </a:r>
            <a:r>
              <a:rPr lang="en"/>
              <a:t>.</a:t>
            </a:r>
            <a:endParaRPr/>
          </a:p>
          <a:p>
            <a:pPr marL="457200" lvl="0" indent="-311150" algn="l" rtl="0">
              <a:spcBef>
                <a:spcPts val="1000"/>
              </a:spcBef>
              <a:spcAft>
                <a:spcPts val="0"/>
              </a:spcAft>
              <a:buSzPts val="1300"/>
              <a:buChar char="●"/>
            </a:pPr>
            <a:r>
              <a:rPr lang="en"/>
              <a:t>The </a:t>
            </a:r>
            <a:r>
              <a:rPr lang="en" b="1" i="1">
                <a:solidFill>
                  <a:srgbClr val="FF0000"/>
                </a:solidFill>
              </a:rPr>
              <a:t>backtracking</a:t>
            </a:r>
            <a:r>
              <a:rPr lang="en"/>
              <a:t> occurs whenever one of </a:t>
            </a:r>
            <a:r>
              <a:rPr lang="en" b="1" i="1">
                <a:solidFill>
                  <a:srgbClr val="FF0000"/>
                </a:solidFill>
              </a:rPr>
              <a:t>C</a:t>
            </a:r>
            <a:r>
              <a:rPr lang="en"/>
              <a:t>'s successors fails to return a solution.</a:t>
            </a:r>
            <a:endParaRPr/>
          </a:p>
          <a:p>
            <a:pPr marL="914400" lvl="1" indent="-298450" algn="l" rtl="0">
              <a:spcBef>
                <a:spcPts val="0"/>
              </a:spcBef>
              <a:spcAft>
                <a:spcPts val="0"/>
              </a:spcAft>
              <a:buSzPts val="1100"/>
              <a:buChar char="○"/>
            </a:pPr>
            <a:r>
              <a:rPr lang="en"/>
              <a:t>The algorithm </a:t>
            </a:r>
            <a:r>
              <a:rPr lang="en" b="1" i="1">
                <a:solidFill>
                  <a:srgbClr val="FF0000"/>
                </a:solidFill>
              </a:rPr>
              <a:t>backtracks</a:t>
            </a:r>
            <a:r>
              <a:rPr lang="en"/>
              <a:t> to </a:t>
            </a:r>
            <a:r>
              <a:rPr lang="en" b="1" i="1">
                <a:solidFill>
                  <a:srgbClr val="FF0000"/>
                </a:solidFill>
              </a:rPr>
              <a:t>C</a:t>
            </a:r>
            <a:r>
              <a:rPr lang="en"/>
              <a:t> and then moves on to its next successor.</a:t>
            </a:r>
            <a:endParaRPr/>
          </a:p>
          <a:p>
            <a:pPr marL="457200" lvl="0" indent="-311150" algn="l" rtl="0">
              <a:spcBef>
                <a:spcPts val="1000"/>
              </a:spcBef>
              <a:spcAft>
                <a:spcPts val="0"/>
              </a:spcAft>
              <a:buSzPts val="1300"/>
              <a:buChar char="●"/>
            </a:pPr>
            <a:r>
              <a:rPr lang="en"/>
              <a:t>An implementation of this algorithm has been provided to you in the </a:t>
            </a:r>
            <a:r>
              <a:rPr lang="en">
                <a:solidFill>
                  <a:srgbClr val="FF0000"/>
                </a:solidFill>
                <a:latin typeface="Courier New"/>
                <a:ea typeface="Courier New"/>
                <a:cs typeface="Courier New"/>
                <a:sym typeface="Courier New"/>
              </a:rPr>
              <a:t>Backtracker</a:t>
            </a:r>
            <a:r>
              <a:rPr lang="en"/>
              <a:t> class.</a:t>
            </a:r>
            <a:endParaRPr/>
          </a:p>
          <a:p>
            <a:pPr marL="914400" lvl="1" indent="-298450" algn="l" rtl="0">
              <a:spcBef>
                <a:spcPts val="0"/>
              </a:spcBef>
              <a:spcAft>
                <a:spcPts val="0"/>
              </a:spcAft>
              <a:buSzPts val="1100"/>
              <a:buChar char="○"/>
            </a:pPr>
            <a:r>
              <a:rPr lang="en"/>
              <a:t>You can create a Backtracker with or without </a:t>
            </a:r>
            <a:r>
              <a:rPr lang="en" b="1" i="1">
                <a:solidFill>
                  <a:srgbClr val="FF0000"/>
                </a:solidFill>
              </a:rPr>
              <a:t>debugging enabled</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solve()</a:t>
            </a:r>
            <a:r>
              <a:rPr lang="en"/>
              <a:t> method will work with </a:t>
            </a:r>
            <a:r>
              <a:rPr lang="en" b="1" i="1">
                <a:solidFill>
                  <a:srgbClr val="FF0000"/>
                </a:solidFill>
              </a:rPr>
              <a:t>any</a:t>
            </a:r>
            <a:r>
              <a:rPr lang="en"/>
              <a:t> class that implements</a:t>
            </a:r>
            <a:r>
              <a:rPr lang="en" b="1" i="1"/>
              <a:t> </a:t>
            </a:r>
            <a:r>
              <a:rPr lang="en">
                <a:latin typeface="Courier New"/>
                <a:ea typeface="Courier New"/>
                <a:cs typeface="Courier New"/>
                <a:sym typeface="Courier New"/>
              </a:rPr>
              <a:t>Configuration</a:t>
            </a:r>
            <a:r>
              <a:rPr lang="en"/>
              <a:t>.</a:t>
            </a:r>
            <a:endParaRPr/>
          </a:p>
        </p:txBody>
      </p:sp>
      <p:sp>
        <p:nvSpPr>
          <p:cNvPr id="2468" name="Google Shape;2468;p115"/>
          <p:cNvSpPr txBox="1">
            <a:spLocks noGrp="1"/>
          </p:cNvSpPr>
          <p:nvPr>
            <p:ph type="body" idx="2"/>
          </p:nvPr>
        </p:nvSpPr>
        <p:spPr>
          <a:xfrm>
            <a:off x="5192225" y="905175"/>
            <a:ext cx="3706500" cy="2647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isGoal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else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getSuccessors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isValid</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2469" name="Google Shape;2469;p11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97</a:t>
            </a:fld>
            <a:endParaRPr/>
          </a:p>
        </p:txBody>
      </p:sp>
      <p:sp>
        <p:nvSpPr>
          <p:cNvPr id="2470" name="Google Shape;2470;p115"/>
          <p:cNvSpPr txBox="1">
            <a:spLocks noGrp="1"/>
          </p:cNvSpPr>
          <p:nvPr>
            <p:ph type="body" idx="3"/>
          </p:nvPr>
        </p:nvSpPr>
        <p:spPr>
          <a:xfrm>
            <a:off x="5188525" y="4468975"/>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Configuration</a:t>
            </a:r>
            <a:r>
              <a:rPr lang="en"/>
              <a:t> returned may be </a:t>
            </a:r>
            <a:r>
              <a:rPr lang="en">
                <a:latin typeface="Courier New"/>
                <a:ea typeface="Courier New"/>
                <a:cs typeface="Courier New"/>
                <a:sym typeface="Courier New"/>
              </a:rPr>
              <a:t>null</a:t>
            </a:r>
            <a:r>
              <a:rPr lang="en"/>
              <a:t> if no solution is found.</a:t>
            </a:r>
            <a:endParaRPr/>
          </a:p>
        </p:txBody>
      </p:sp>
      <p:sp>
        <p:nvSpPr>
          <p:cNvPr id="2471" name="Google Shape;2471;p115"/>
          <p:cNvSpPr txBox="1">
            <a:spLocks noGrp="1"/>
          </p:cNvSpPr>
          <p:nvPr>
            <p:ph type="body" idx="3"/>
          </p:nvPr>
        </p:nvSpPr>
        <p:spPr>
          <a:xfrm>
            <a:off x="5192225" y="361947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Note that the </a:t>
            </a:r>
            <a:r>
              <a:rPr lang="en">
                <a:latin typeface="Courier New"/>
                <a:ea typeface="Courier New"/>
                <a:cs typeface="Courier New"/>
                <a:sym typeface="Courier New"/>
              </a:rPr>
              <a:t>Backtracker</a:t>
            </a:r>
            <a:r>
              <a:rPr lang="en"/>
              <a:t> is also generic and declares a type parameter </a:t>
            </a:r>
            <a:r>
              <a:rPr lang="en" b="1" i="1">
                <a:solidFill>
                  <a:srgbClr val="FF0000"/>
                </a:solidFill>
              </a:rPr>
              <a:t>C</a:t>
            </a:r>
            <a:r>
              <a:rPr lang="en"/>
              <a:t>. This must be replaced with a real class that implements </a:t>
            </a:r>
            <a:r>
              <a:rPr lang="en">
                <a:latin typeface="Courier New"/>
                <a:ea typeface="Courier New"/>
                <a:cs typeface="Courier New"/>
                <a:sym typeface="Courier New"/>
              </a:rPr>
              <a:t>Configuration</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6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6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6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71"/>
                                        </p:tgtEl>
                                        <p:attrNameLst>
                                          <p:attrName>style.visibility</p:attrName>
                                        </p:attrNameLst>
                                      </p:cBhvr>
                                      <p:to>
                                        <p:strVal val="visible"/>
                                      </p:to>
                                    </p:set>
                                  </p:childTnLst>
                                </p:cTn>
                              </p:par>
                              <p:par>
                                <p:cTn id="55" presetID="10" presetClass="entr" presetSubtype="0" fill="hold" nodeType="withEffect">
                                  <p:stCondLst>
                                    <p:cond delay="0"/>
                                  </p:stCondLst>
                                  <p:childTnLst>
                                    <p:set>
                                      <p:cBhvr>
                                        <p:cTn id="56" dur="1" fill="hold">
                                          <p:stCondLst>
                                            <p:cond delay="0"/>
                                          </p:stCondLst>
                                        </p:cTn>
                                        <p:tgtEl>
                                          <p:spTgt spid="2468"/>
                                        </p:tgtEl>
                                        <p:attrNameLst>
                                          <p:attrName>style.visibility</p:attrName>
                                        </p:attrNameLst>
                                      </p:cBhvr>
                                      <p:to>
                                        <p:strVal val="visible"/>
                                      </p:to>
                                    </p:set>
                                    <p:animEffect transition="in" filter="fade">
                                      <p:cBhvr>
                                        <p:cTn id="57" dur="1000"/>
                                        <p:tgtEl>
                                          <p:spTgt spid="246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70"/>
                                        </p:tgtEl>
                                        <p:attrNameLst>
                                          <p:attrName>style.visibility</p:attrName>
                                        </p:attrNameLst>
                                      </p:cBhvr>
                                      <p:to>
                                        <p:strVal val="visible"/>
                                      </p:to>
                                    </p:set>
                                    <p:animEffect transition="in" filter="fade">
                                      <p:cBhvr>
                                        <p:cTn id="62" dur="1000"/>
                                        <p:tgtEl>
                                          <p:spTgt spid="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475"/>
        <p:cNvGrpSpPr/>
        <p:nvPr/>
      </p:nvGrpSpPr>
      <p:grpSpPr>
        <a:xfrm>
          <a:off x="0" y="0"/>
          <a:ext cx="0" cy="0"/>
          <a:chOff x="0" y="0"/>
          <a:chExt cx="0" cy="0"/>
        </a:xfrm>
      </p:grpSpPr>
      <p:sp>
        <p:nvSpPr>
          <p:cNvPr id="2476" name="Google Shape;2476;p11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Plug in the Backtracker</a:t>
            </a:r>
            <a:endParaRPr/>
          </a:p>
        </p:txBody>
      </p:sp>
      <p:sp>
        <p:nvSpPr>
          <p:cNvPr id="2477" name="Google Shape;2477;p11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"solve" method in the NQueens GUI has been commented out. If your backtracking configuration is ready, you can uncomment the code and try it out!</a:t>
            </a:r>
            <a:endParaRPr/>
          </a:p>
        </p:txBody>
      </p:sp>
      <p:sp>
        <p:nvSpPr>
          <p:cNvPr id="2478" name="Google Shape;2478;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98</a:t>
            </a:fld>
            <a:endParaRPr/>
          </a:p>
        </p:txBody>
      </p:sp>
      <p:sp>
        <p:nvSpPr>
          <p:cNvPr id="2479" name="Google Shape;2479;p11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13.32</a:t>
            </a:r>
            <a:endParaRPr/>
          </a:p>
        </p:txBody>
      </p:sp>
      <p:pic>
        <p:nvPicPr>
          <p:cNvPr id="2480" name="Google Shape;2480;p116"/>
          <p:cNvPicPr preferRelativeResize="0"/>
          <p:nvPr/>
        </p:nvPicPr>
        <p:blipFill>
          <a:blip r:embed="rId3">
            <a:alphaModFix/>
          </a:blip>
          <a:stretch>
            <a:fillRect/>
          </a:stretch>
        </p:blipFill>
        <p:spPr>
          <a:xfrm>
            <a:off x="226175" y="1589200"/>
            <a:ext cx="2150175" cy="2857827"/>
          </a:xfrm>
          <a:prstGeom prst="rect">
            <a:avLst/>
          </a:prstGeom>
          <a:noFill/>
          <a:ln>
            <a:noFill/>
          </a:ln>
        </p:spPr>
      </p:pic>
      <p:sp>
        <p:nvSpPr>
          <p:cNvPr id="2481" name="Google Shape;2481;p116"/>
          <p:cNvSpPr txBox="1">
            <a:spLocks noGrp="1"/>
          </p:cNvSpPr>
          <p:nvPr>
            <p:ph type="body" idx="2"/>
          </p:nvPr>
        </p:nvSpPr>
        <p:spPr>
          <a:xfrm>
            <a:off x="2747700" y="1445925"/>
            <a:ext cx="6111000" cy="3451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NQueens</a:t>
            </a:r>
            <a:r>
              <a:rPr lang="en"/>
              <a:t> class and implement a </a:t>
            </a:r>
            <a:r>
              <a:rPr lang="en">
                <a:latin typeface="Courier New"/>
                <a:ea typeface="Courier New"/>
                <a:cs typeface="Courier New"/>
                <a:sym typeface="Courier New"/>
              </a:rPr>
              <a:t>getQueens()</a:t>
            </a:r>
            <a:r>
              <a:rPr lang="en"/>
              <a:t> method that returns the array of queens.</a:t>
            </a:r>
            <a:endParaRPr/>
          </a:p>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NQueensGUI</a:t>
            </a:r>
            <a:r>
              <a:rPr lang="en"/>
              <a:t> class and navigate to the </a:t>
            </a:r>
            <a:r>
              <a:rPr lang="en">
                <a:latin typeface="Courier New"/>
                <a:ea typeface="Courier New"/>
                <a:cs typeface="Courier New"/>
                <a:sym typeface="Courier New"/>
              </a:rPr>
              <a:t>solve</a:t>
            </a:r>
            <a:r>
              <a:rPr lang="en"/>
              <a:t> method at the top of the class.</a:t>
            </a:r>
            <a:endParaRPr/>
          </a:p>
          <a:p>
            <a:pPr marL="914400" lvl="1" indent="-298450" algn="l" rtl="0">
              <a:spcBef>
                <a:spcPts val="0"/>
              </a:spcBef>
              <a:spcAft>
                <a:spcPts val="0"/>
              </a:spcAft>
              <a:buSzPts val="1100"/>
              <a:buChar char="○"/>
            </a:pPr>
            <a:r>
              <a:rPr lang="en" b="1" i="1">
                <a:solidFill>
                  <a:srgbClr val="FF0000"/>
                </a:solidFill>
              </a:rPr>
              <a:t>Uncomment </a:t>
            </a:r>
            <a:r>
              <a:rPr lang="en"/>
              <a:t>the code there.</a:t>
            </a:r>
            <a:endParaRPr/>
          </a:p>
          <a:p>
            <a:pPr marL="914400" lvl="1" indent="-298450" algn="l" rtl="0">
              <a:spcBef>
                <a:spcPts val="0"/>
              </a:spcBef>
              <a:spcAft>
                <a:spcPts val="0"/>
              </a:spcAft>
              <a:buSzPts val="1100"/>
              <a:buChar char="○"/>
            </a:pPr>
            <a:r>
              <a:rPr lang="en"/>
              <a:t>You will need to import the classes required to use the backtracker and your configuration.</a:t>
            </a:r>
            <a:endParaRPr/>
          </a:p>
          <a:p>
            <a:pPr marL="914400" lvl="1" indent="-298450" algn="l" rtl="0">
              <a:spcBef>
                <a:spcPts val="0"/>
              </a:spcBef>
              <a:spcAft>
                <a:spcPts val="0"/>
              </a:spcAft>
              <a:buSzPts val="1100"/>
              <a:buChar char="○"/>
            </a:pPr>
            <a:r>
              <a:rPr lang="en"/>
              <a:t>Take a few moments to examine the code, and ask any questions that you may have!</a:t>
            </a:r>
            <a:endParaRPr/>
          </a:p>
          <a:p>
            <a:pPr marL="457200" lvl="0" indent="-311150" algn="l" rtl="0">
              <a:spcBef>
                <a:spcPts val="0"/>
              </a:spcBef>
              <a:spcAft>
                <a:spcPts val="0"/>
              </a:spcAft>
              <a:buSzPts val="1300"/>
              <a:buChar char="●"/>
            </a:pPr>
            <a:r>
              <a:rPr lang="en"/>
              <a:t>Run the application and try it out!</a:t>
            </a:r>
            <a:endParaRPr/>
          </a:p>
          <a:p>
            <a:pPr marL="914400" lvl="1" indent="-298450" algn="l" rtl="0">
              <a:spcBef>
                <a:spcPts val="0"/>
              </a:spcBef>
              <a:spcAft>
                <a:spcPts val="0"/>
              </a:spcAft>
              <a:buSzPts val="1100"/>
              <a:buChar char="○"/>
            </a:pPr>
            <a:r>
              <a:rPr lang="en"/>
              <a:t>Press solve right away.</a:t>
            </a:r>
            <a:endParaRPr/>
          </a:p>
          <a:p>
            <a:pPr marL="914400" lvl="1" indent="-298450" algn="l" rtl="0">
              <a:spcBef>
                <a:spcPts val="0"/>
              </a:spcBef>
              <a:spcAft>
                <a:spcPts val="0"/>
              </a:spcAft>
              <a:buSzPts val="1100"/>
              <a:buChar char="○"/>
            </a:pPr>
            <a:r>
              <a:rPr lang="en"/>
              <a:t>Try placing a few queens first. You will need to place them top-to-bottom starting with the first row.</a:t>
            </a:r>
            <a:endParaRPr/>
          </a:p>
          <a:p>
            <a:pPr marL="914400" lvl="1" indent="-298450" algn="l" rtl="0">
              <a:spcBef>
                <a:spcPts val="0"/>
              </a:spcBef>
              <a:spcAft>
                <a:spcPts val="0"/>
              </a:spcAft>
              <a:buSzPts val="1100"/>
              <a:buChar char="○"/>
            </a:pPr>
            <a:r>
              <a:rPr lang="en"/>
              <a:t>Can you find a set of moves that is unsolvable?</a:t>
            </a:r>
            <a:endParaRPr/>
          </a:p>
          <a:p>
            <a:pPr marL="914400" lvl="1" indent="-298450" algn="l" rtl="0">
              <a:spcBef>
                <a:spcPts val="0"/>
              </a:spcBef>
              <a:spcAft>
                <a:spcPts val="0"/>
              </a:spcAft>
              <a:buSzPts val="1100"/>
              <a:buChar char="○"/>
            </a:pPr>
            <a:r>
              <a:rPr lang="en"/>
              <a:t>Try running with different board sizes. How long does it take to solve for 16 queens? 20?</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485"/>
        <p:cNvGrpSpPr/>
        <p:nvPr/>
      </p:nvGrpSpPr>
      <p:grpSpPr>
        <a:xfrm>
          <a:off x="0" y="0"/>
          <a:ext cx="0" cy="0"/>
          <a:chOff x="0" y="0"/>
          <a:chExt cx="0" cy="0"/>
        </a:xfrm>
      </p:grpSpPr>
      <p:sp>
        <p:nvSpPr>
          <p:cNvPr id="2486" name="Google Shape;2486;p11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2487" name="Google Shape;2487;p11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2488" name="Google Shape;2488;p11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489" name="Google Shape;2489;p11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2490" name="Google Shape;2490;p117"/>
          <p:cNvSpPr/>
          <p:nvPr/>
        </p:nvSpPr>
        <p:spPr>
          <a:xfrm>
            <a:off x="7046275" y="24635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2491" name="Google Shape;2491;p11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492" name="Google Shape;2492;p11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493" name="Google Shape;2493;p11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Algorithms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Pseudocode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Greedy Algorithms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Graphs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Edges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Traveling Salesman</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Dijkstra's Algorithm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Backtracking</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Configurations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Backtracker</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N-Queens Problem</a:t>
            </a:r>
            <a:endParaRPr sz="1600">
              <a:solidFill>
                <a:srgbClr val="FF0000"/>
              </a:solidFill>
              <a:latin typeface="Shadows Into Light"/>
              <a:ea typeface="Shadows Into Light"/>
              <a:cs typeface="Shadows Into Light"/>
              <a:sym typeface="Shadows Into Light"/>
            </a:endParaRPr>
          </a:p>
        </p:txBody>
      </p:sp>
      <p:sp>
        <p:nvSpPr>
          <p:cNvPr id="2494" name="Google Shape;2494;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99</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15885</Words>
  <Application>Microsoft Office PowerPoint</Application>
  <PresentationFormat>On-screen Show (16:9)</PresentationFormat>
  <Paragraphs>2326</Paragraphs>
  <Slides>99</Slides>
  <Notes>99</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99</vt:i4>
      </vt:variant>
    </vt:vector>
  </HeadingPairs>
  <TitlesOfParts>
    <vt:vector size="109" baseType="lpstr">
      <vt:lpstr>Merriweather</vt:lpstr>
      <vt:lpstr>Wingdings</vt:lpstr>
      <vt:lpstr>Handlee</vt:lpstr>
      <vt:lpstr>Roboto</vt:lpstr>
      <vt:lpstr>Arial</vt:lpstr>
      <vt:lpstr>Consolas</vt:lpstr>
      <vt:lpstr>Shadows Into Light</vt:lpstr>
      <vt:lpstr>Source Code Pro</vt:lpstr>
      <vt:lpstr>Courier New</vt:lpstr>
      <vt:lpstr>Paradigm</vt:lpstr>
      <vt:lpstr>GCIS-124 Software Development &amp; Problem Solving</vt:lpstr>
      <vt:lpstr>Next Week: Team Project</vt:lpstr>
      <vt:lpstr>Overview of the Week</vt:lpstr>
      <vt:lpstr>Algorithms</vt:lpstr>
      <vt:lpstr>An Algorithmic Approach to Problem Solving</vt:lpstr>
      <vt:lpstr>Euclidean Pseudocode</vt:lpstr>
      <vt:lpstr>Greedy Algorithms</vt:lpstr>
      <vt:lpstr>Making Change</vt:lpstr>
      <vt:lpstr>Making Change</vt:lpstr>
      <vt:lpstr>Implementing Change</vt:lpstr>
      <vt:lpstr>The Knapsack Problem</vt:lpstr>
      <vt:lpstr>The Illustrated Knapsack Problem</vt:lpstr>
      <vt:lpstr>Knapsacks and Items</vt:lpstr>
      <vt:lpstr>Packing the Knapsack</vt:lpstr>
      <vt:lpstr>Knacking the Packsack</vt:lpstr>
      <vt:lpstr>The Traveling Salesman Problem</vt:lpstr>
      <vt:lpstr>A Weighted Graph</vt:lpstr>
      <vt:lpstr>A Weighted Graph</vt:lpstr>
      <vt:lpstr>A Weighted Graph</vt:lpstr>
      <vt:lpstr>A Weighted Graph</vt:lpstr>
      <vt:lpstr>A Weighted Vertex</vt:lpstr>
      <vt:lpstr>A Weighted Adjacency Graph</vt:lpstr>
      <vt:lpstr>Building a Map</vt:lpstr>
      <vt:lpstr>Nearest Neighbor</vt:lpstr>
      <vt:lpstr>A Weighted Path</vt:lpstr>
      <vt:lpstr>Sorting Neighbors (Information Expert)</vt:lpstr>
      <vt:lpstr>Sorting Neighbors</vt:lpstr>
      <vt:lpstr>Nearest Neighbor, Part 1</vt:lpstr>
      <vt:lpstr>Nearest Neighbor, Part 2</vt:lpstr>
      <vt:lpstr>Traveling Neighbors</vt:lpstr>
      <vt:lpstr>Review: Graphs &amp; Searches </vt:lpstr>
      <vt:lpstr>What does "Shortest" Mean?</vt:lpstr>
      <vt:lpstr>Dijkstra's Algorithm</vt:lpstr>
      <vt:lpstr>Dijkstra in a Nutshell</vt:lpstr>
      <vt:lpstr>An Illustrated Example</vt:lpstr>
      <vt:lpstr>Search Fight!</vt:lpstr>
      <vt:lpstr>A Path Tuple</vt:lpstr>
      <vt:lpstr>The Path Tuple</vt:lpstr>
      <vt:lpstr>A Priority Queue </vt:lpstr>
      <vt:lpstr>Unfortunately...Java's Priority Queue Won't Work</vt:lpstr>
      <vt:lpstr>The Tuple Queue</vt:lpstr>
      <vt:lpstr>Step 1: Setup</vt:lpstr>
      <vt:lpstr>Step 1: Setup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3: Building the Path</vt:lpstr>
      <vt:lpstr>Step 3: Building the Path</vt:lpstr>
      <vt:lpstr>Step 3: Building the Path</vt:lpstr>
      <vt:lpstr>Step 3: Build the Path</vt:lpstr>
      <vt:lpstr>Traveling Dijkstra</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The 8-Queens Problem </vt:lpstr>
      <vt:lpstr>Queen Fight!</vt:lpstr>
      <vt:lpstr>An Illustrated Example</vt:lpstr>
      <vt:lpstr>An Illustrated Example</vt:lpstr>
      <vt:lpstr>An Illustrated Example</vt:lpstr>
      <vt:lpstr>An Illustrated Example</vt:lpstr>
      <vt:lpstr>An Illustrated Example</vt:lpstr>
      <vt:lpstr>An Illustrated Example</vt:lpstr>
      <vt:lpstr>An Illustrated Example</vt:lpstr>
      <vt:lpstr>The N Queens Problem</vt:lpstr>
      <vt:lpstr>An Illustrated Example</vt:lpstr>
      <vt:lpstr>It's Good to be the Queen</vt:lpstr>
      <vt:lpstr>Backtracking Vocabulary</vt:lpstr>
      <vt:lpstr>The Configuration Interface</vt:lpstr>
      <vt:lpstr>A Closer Look at Implementing Configuration</vt:lpstr>
      <vt:lpstr>A Closer Look at Implementing Configuration</vt:lpstr>
      <vt:lpstr>A Few Questions</vt:lpstr>
      <vt:lpstr>A Few Questions</vt:lpstr>
      <vt:lpstr>A Few Questions</vt:lpstr>
      <vt:lpstr>Implementing a Configuration</vt:lpstr>
      <vt:lpstr>What is a Successor, Anyway?</vt:lpstr>
      <vt:lpstr>What is a Successor, Anyway?</vt:lpstr>
      <vt:lpstr>What is a Successor, Anyway?</vt:lpstr>
      <vt:lpstr>What is a Successor, Anyway?</vt:lpstr>
      <vt:lpstr>Deep Copies</vt:lpstr>
      <vt:lpstr>PowerPoint Presentation</vt:lpstr>
      <vt:lpstr>Lines of Succession</vt:lpstr>
      <vt:lpstr>Pruning</vt:lpstr>
      <vt:lpstr>Validating a Configuration</vt:lpstr>
      <vt:lpstr>Gooooooooooooal!</vt:lpstr>
      <vt:lpstr>The Backtracking Algorithm </vt:lpstr>
      <vt:lpstr>Plug in the Backtracker</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35</cp:revision>
  <dcterms:modified xsi:type="dcterms:W3CDTF">2026-04-16T20:40:10Z</dcterms:modified>
</cp:coreProperties>
</file>